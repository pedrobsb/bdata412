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246"/>
  </p:notesMasterIdLst>
  <p:sldIdLst>
    <p:sldId id="1036" r:id="rId87"/>
    <p:sldId id="432" r:id="rId6"/>
    <p:sldId id="546" r:id="rId7"/>
    <p:sldId id="547" r:id="rId8"/>
    <p:sldId id="548" r:id="rId9"/>
    <p:sldId id="549" r:id="rId10"/>
    <p:sldId id="433" r:id="rId11"/>
    <p:sldId id="550" r:id="rId12"/>
    <p:sldId id="1035" r:id="rId13"/>
    <p:sldId id="435" r:id="rId14"/>
    <p:sldId id="527" r:id="rId15"/>
    <p:sldId id="592" r:id="rId16"/>
    <p:sldId id="593" r:id="rId17"/>
    <p:sldId id="573" r:id="rId18"/>
    <p:sldId id="574" r:id="rId19"/>
    <p:sldId id="575" r:id="rId20"/>
    <p:sldId id="572" r:id="rId21"/>
    <p:sldId id="577" r:id="rId22"/>
    <p:sldId id="578" r:id="rId23"/>
    <p:sldId id="579" r:id="rId24"/>
    <p:sldId id="580" r:id="rId25"/>
    <p:sldId id="581" r:id="rId26"/>
    <p:sldId id="582" r:id="rId27"/>
    <p:sldId id="583" r:id="rId28"/>
    <p:sldId id="584" r:id="rId29"/>
    <p:sldId id="585" r:id="rId30"/>
    <p:sldId id="586" r:id="rId31"/>
    <p:sldId id="587" r:id="rId32"/>
    <p:sldId id="588" r:id="rId33"/>
    <p:sldId id="589" r:id="rId34"/>
    <p:sldId id="590" r:id="rId35"/>
    <p:sldId id="591" r:id="rId36"/>
    <p:sldId id="526" r:id="rId37"/>
    <p:sldId id="529" r:id="rId38"/>
    <p:sldId id="438" r:id="rId39"/>
    <p:sldId id="439" r:id="rId40"/>
    <p:sldId id="525" r:id="rId41"/>
    <p:sldId id="513" r:id="rId42"/>
    <p:sldId id="604" r:id="rId43"/>
    <p:sldId id="605" r:id="rId44"/>
    <p:sldId id="606" r:id="rId45"/>
    <p:sldId id="615" r:id="rId46"/>
    <p:sldId id="616" r:id="rId47"/>
    <p:sldId id="617" r:id="rId48"/>
    <p:sldId id="618" r:id="rId49"/>
    <p:sldId id="608" r:id="rId50"/>
    <p:sldId id="610" r:id="rId51"/>
    <p:sldId id="611" r:id="rId52"/>
    <p:sldId id="514" r:id="rId53"/>
    <p:sldId id="515" r:id="rId54"/>
    <p:sldId id="623" r:id="rId55"/>
    <p:sldId id="624" r:id="rId56"/>
    <p:sldId id="625" r:id="rId57"/>
    <p:sldId id="626" r:id="rId58"/>
    <p:sldId id="628" r:id="rId59"/>
    <p:sldId id="629" r:id="rId60"/>
    <p:sldId id="634" r:id="rId61"/>
    <p:sldId id="635" r:id="rId62"/>
    <p:sldId id="636" r:id="rId63"/>
    <p:sldId id="637" r:id="rId64"/>
    <p:sldId id="638" r:id="rId65"/>
    <p:sldId id="643" r:id="rId66"/>
    <p:sldId id="644" r:id="rId67"/>
    <p:sldId id="645" r:id="rId68"/>
    <p:sldId id="646" r:id="rId69"/>
    <p:sldId id="647" r:id="rId70"/>
    <p:sldId id="651" r:id="rId71"/>
    <p:sldId id="652" r:id="rId72"/>
    <p:sldId id="653" r:id="rId73"/>
    <p:sldId id="654" r:id="rId74"/>
    <p:sldId id="658" r:id="rId75"/>
    <p:sldId id="659" r:id="rId76"/>
    <p:sldId id="661" r:id="rId77"/>
    <p:sldId id="663" r:id="rId78"/>
    <p:sldId id="667" r:id="rId79"/>
    <p:sldId id="668" r:id="rId80"/>
    <p:sldId id="669" r:id="rId81"/>
    <p:sldId id="670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3"/>
    <p:restoredTop sz="93836"/>
  </p:normalViewPr>
  <p:slideViewPr>
    <p:cSldViewPr snapToGrid="0" snapToObjects="1">
      <p:cViewPr varScale="1">
        <p:scale>
          <a:sx n="91" d="100"/>
          <a:sy n="91" d="100"/>
        </p:scale>
        <p:origin x="19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7" Type="http://schemas.openxmlformats.org/officeDocument/2006/relationships/slide" Target="slides/slide78.xml"/><Relationship Id="rId246" Type="http://schemas.openxmlformats.org/officeDocument/2006/relationships/notesMaster" Target="notesMasters/notesMaster1.xml"/><Relationship Id="rId247" Type="http://schemas.openxmlformats.org/officeDocument/2006/relationships/presProps" Target="presProps.xml"/><Relationship Id="rId248" Type="http://schemas.openxmlformats.org/officeDocument/2006/relationships/viewProps" Target="viewProps.xml"/><Relationship Id="rId249" Type="http://schemas.openxmlformats.org/officeDocument/2006/relationships/theme" Target="theme/theme1.xml"/><Relationship Id="rId25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4B2E83"/>
                </a:solidFill>
              </a:defRPr>
            </a:pPr>
            <a:r>
              <a:rPr lang="en-US" sz="1600" b="1">
                <a:solidFill>
                  <a:srgbClr val="4B2E83"/>
                </a:solidFill>
              </a:rPr>
              <a:t>Scree Plot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Eigenvalue</c:v>
          </c:tx>
          <c:spPr>
            <a:ln w="28575">
              <a:solidFill>
                <a:srgbClr val="00A7B5"/>
              </a:solidFill>
            </a:ln>
          </c:spPr>
          <c:marker>
            <c:symbol val="circle"/>
            <c:size val="7"/>
            <c:spPr>
              <a:solidFill>
                <a:srgbClr val="4B2E83"/>
              </a:solidFill>
            </c:spPr>
          </c:marker>
          <c:cat>
            <c:strLit>
              <c:ptCount val="7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  <c:pt idx="6">
                <c:v>PC7</c:v>
              </c:pt>
            </c:strLit>
          </c:cat>
          <c:val>
            <c:numLit>
              <c:formatCode>General</c:formatCode>
              <c:ptCount val="7"/>
              <c:pt idx="0">
                <c:v>3.4</c:v>
              </c:pt>
              <c:pt idx="1">
                <c:v>1.8</c:v>
              </c:pt>
              <c:pt idx="2">
                <c:v>1.1000000000000001</c:v>
              </c:pt>
              <c:pt idx="3">
                <c:v>0.5</c:v>
              </c:pt>
              <c:pt idx="4">
                <c:v>0.35</c:v>
              </c:pt>
              <c:pt idx="5">
                <c:v>0.2</c:v>
              </c:pt>
              <c:pt idx="6">
                <c:v>0.1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B27-BF45-AD60-3DB208CBB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Eigenvalue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4B2E83"/>
                </a:solidFill>
              </a:defRPr>
            </a:pPr>
            <a:r>
              <a:rPr lang="en-US" sz="1600" b="1">
                <a:solidFill>
                  <a:srgbClr val="4B2E83"/>
                </a:solidFill>
              </a:rPr>
              <a:t>Original data in (x₁, x₂) space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Observations</c:v>
          </c:tx>
          <c:spPr>
            <a:ln w="1905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>
                <a:noFill/>
              </a:ln>
            </c:spPr>
          </c:marker>
          <c:xVal>
            <c:numLit>
              <c:formatCode>General</c:formatCode>
              <c:ptCount val="5"/>
              <c:pt idx="0">
                <c:v>3</c:v>
              </c:pt>
              <c:pt idx="1">
                <c:v>4</c:v>
              </c:pt>
              <c:pt idx="2">
                <c:v>5</c:v>
              </c:pt>
              <c:pt idx="3">
                <c:v>6</c:v>
              </c:pt>
              <c:pt idx="4">
                <c:v>7</c:v>
              </c:pt>
            </c:numLit>
          </c:xVal>
          <c:yVal>
            <c:numLit>
              <c:formatCode>General</c:formatCode>
              <c:ptCount val="5"/>
              <c:pt idx="0">
                <c:v>4</c:v>
              </c:pt>
              <c:pt idx="1">
                <c:v>3</c:v>
              </c:pt>
              <c:pt idx="2">
                <c:v>5</c:v>
              </c:pt>
              <c:pt idx="3">
                <c:v>7</c:v>
              </c:pt>
              <c:pt idx="4">
                <c:v>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D67E-E246-BF94-D1E0100B0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scatterChart>
      <c:valAx>
        <c:axId val="111"/>
        <c:scaling>
          <c:orientation val="minMax"/>
          <c:max val="8"/>
          <c:min val="2"/>
        </c:scaling>
        <c:delete val="0"/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 b="1"/>
                  <a:t>x₁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crossBetween val="midCat"/>
      </c:valAx>
      <c:valAx>
        <c:axId val="222"/>
        <c:scaling>
          <c:orientation val="minMax"/>
          <c:max val="8"/>
          <c:min val="2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400" b="1"/>
                </a:pPr>
                <a:r>
                  <a:rPr lang="en-US" sz="1400" b="1"/>
                  <a:t>x₂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midCat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4B2E83"/>
                </a:solidFill>
              </a:defRPr>
            </a:pPr>
            <a:r>
              <a:rPr lang="en-US" sz="1600" b="1">
                <a:solidFill>
                  <a:srgbClr val="4B2E83"/>
                </a:solidFill>
              </a:rPr>
              <a:t>Variance explained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Variance %</c:v>
          </c:tx>
          <c:invertIfNegative val="1"/>
          <c:dPt>
            <c:idx val="0"/>
            <c:invertIfNegative val="1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1-3F1E-2442-BB10-5E9CBAD7CB3B}"/>
              </c:ext>
            </c:extLst>
          </c:dPt>
          <c:dPt>
            <c:idx val="1"/>
            <c:invertIfNegative val="1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3-3F1E-2442-BB10-5E9CBAD7CB3B}"/>
              </c:ext>
            </c:extLst>
          </c:dPt>
          <c:dLbls>
            <c:numFmt formatCode="0&quot;%&quot;" sourceLinked="0"/>
            <c:spPr>
              <a:noFill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PC1</c:v>
              </c:pt>
              <c:pt idx="1">
                <c:v>PC2</c:v>
              </c:pt>
            </c:strLit>
          </c:cat>
          <c:val>
            <c:numLit>
              <c:formatCode>General</c:formatCode>
              <c:ptCount val="2"/>
              <c:pt idx="0">
                <c:v>90</c:v>
              </c:pt>
              <c:pt idx="1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4-3F1E-2442-BB10-5E9CBAD7CB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500" b="1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Variance Explained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Variance</c:v>
          </c:tx>
          <c:invertIfNegative val="1"/>
          <c:dPt>
            <c:idx val="0"/>
            <c:invertIfNegative val="1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1-A543-324F-8542-3BA2E53081E3}"/>
              </c:ext>
            </c:extLst>
          </c:dPt>
          <c:dPt>
            <c:idx val="1"/>
            <c:invertIfNegative val="1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3-A543-324F-8542-3BA2E53081E3}"/>
              </c:ext>
            </c:extLst>
          </c:dPt>
          <c:dLbls>
            <c:numFmt formatCode="0.0&quot;%&quot;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PC1</c:v>
              </c:pt>
              <c:pt idx="1">
                <c:v>PC2</c:v>
              </c:pt>
            </c:strLit>
          </c:cat>
          <c:val>
            <c:numLit>
              <c:formatCode>General</c:formatCode>
              <c:ptCount val="2"/>
              <c:pt idx="0">
                <c:v>96.9</c:v>
              </c:pt>
              <c:pt idx="1">
                <c:v>3.1</c:v>
              </c:pt>
            </c:numLit>
          </c:val>
          <c:extLst>
            <c:ext xmlns:c16="http://schemas.microsoft.com/office/drawing/2014/chart" uri="{C3380CC4-5D6E-409C-BE32-E72D297353CC}">
              <c16:uniqueId val="{00000004-A543-324F-8542-3BA2E5308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 b="1"/>
              <a:t>Cumulative Variance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Cumulative %</c:v>
          </c:tx>
          <c:invertIfNegative val="1"/>
          <c:dPt>
            <c:idx val="0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1-D9B9-C84D-9688-32570F9A4733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3-D9B9-C84D-9688-32570F9A4733}"/>
              </c:ext>
            </c:extLst>
          </c:dPt>
          <c:dPt>
            <c:idx val="2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5-D9B9-C84D-9688-32570F9A4733}"/>
              </c:ext>
            </c:extLst>
          </c:dPt>
          <c:dPt>
            <c:idx val="3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7-D9B9-C84D-9688-32570F9A4733}"/>
              </c:ext>
            </c:extLst>
          </c:dPt>
          <c:dPt>
            <c:idx val="4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9-D9B9-C84D-9688-32570F9A4733}"/>
              </c:ext>
            </c:extLst>
          </c:dPt>
          <c:dPt>
            <c:idx val="5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B-D9B9-C84D-9688-32570F9A473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</c:strLit>
          </c:cat>
          <c:val>
            <c:numLit>
              <c:formatCode>General</c:formatCode>
              <c:ptCount val="6"/>
              <c:pt idx="0">
                <c:v>51.7</c:v>
              </c:pt>
              <c:pt idx="1">
                <c:v>75</c:v>
              </c:pt>
              <c:pt idx="2">
                <c:v>86.7</c:v>
              </c:pt>
              <c:pt idx="3">
                <c:v>93.3</c:v>
              </c:pt>
              <c:pt idx="4">
                <c:v>97.5</c:v>
              </c:pt>
              <c:pt idx="5">
                <c:v>100</c:v>
              </c:pt>
            </c:numLit>
          </c:val>
          <c:extLst>
            <c:ext xmlns:c16="http://schemas.microsoft.com/office/drawing/2014/chart" uri="{C3380CC4-5D6E-409C-BE32-E72D297353CC}">
              <c16:uniqueId val="{0000000C-D9B9-C84D-9688-32570F9A47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 b="1"/>
              <a:t>Scree Plot (eigenvalues)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Eigenvalue</c:v>
          </c:tx>
          <c:spPr>
            <a:ln w="28575">
              <a:solidFill>
                <a:srgbClr val="4B2E83"/>
              </a:solidFill>
            </a:ln>
          </c:spPr>
          <c:marker>
            <c:symbol val="circle"/>
            <c:size val="7"/>
            <c:spPr>
              <a:solidFill>
                <a:srgbClr val="4B2E83"/>
              </a:solidFill>
              <a:ln>
                <a:solidFill>
                  <a:srgbClr val="4B2E83"/>
                </a:solidFill>
              </a:ln>
            </c:spPr>
          </c:marker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</c:strLit>
          </c:cat>
          <c:val>
            <c:numLit>
              <c:formatCode>General</c:formatCode>
              <c:ptCount val="6"/>
              <c:pt idx="0">
                <c:v>3.1</c:v>
              </c:pt>
              <c:pt idx="1">
                <c:v>1.4</c:v>
              </c:pt>
              <c:pt idx="2">
                <c:v>0.7</c:v>
              </c:pt>
              <c:pt idx="3">
                <c:v>0.4</c:v>
              </c:pt>
              <c:pt idx="4">
                <c:v>0.25</c:v>
              </c:pt>
              <c:pt idx="5">
                <c:v>0.15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A6D-524B-83A3-4E5B75FA61F5}"/>
            </c:ext>
          </c:extLst>
        </c:ser>
        <c:ser>
          <c:idx val="1"/>
          <c:order val="1"/>
          <c:tx>
            <c:v>λ = 1 (Kaiser)</c:v>
          </c:tx>
          <c:spPr>
            <a:ln w="19050">
              <a:solidFill>
                <a:srgbClr val="B7A57A"/>
              </a:solidFill>
              <a:prstDash val="dash"/>
            </a:ln>
          </c:spPr>
          <c:marker>
            <c:symbol val="none"/>
          </c:marker>
          <c:cat>
            <c:strLit>
              <c:ptCount val="6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</c:str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A6D-524B-83A3-4E5B75FA6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3"/>
        <c:axId val="444"/>
      </c:lineChart>
      <c:catAx>
        <c:axId val="33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444"/>
        <c:crosses val="autoZero"/>
        <c:auto val="1"/>
        <c:lblAlgn val="ctr"/>
        <c:lblOffset val="100"/>
        <c:noMultiLvlLbl val="1"/>
      </c:catAx>
      <c:valAx>
        <c:axId val="444"/>
        <c:scaling>
          <c:orientation val="minMax"/>
          <c:max val="3.5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333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zero"/>
    <c:showDLblsOverMax val="1"/>
  </c:chart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39" r:id="rId3"/>
    <p:sldLayoutId id="2147483740" r:id="rId4"/>
    <p:sldLayoutId id="2147483741" r:id="rId5"/>
    <p:sldLayoutId id="214748374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51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6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57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51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0.png"/><Relationship Id="rId3" Type="http://schemas.openxmlformats.org/officeDocument/2006/relationships/image" Target="../media/image110.png"/><Relationship Id="rId4" Type="http://schemas.openxmlformats.org/officeDocument/2006/relationships/image" Target="../media/image120.png"/><Relationship Id="rId5" Type="http://schemas.openxmlformats.org/officeDocument/2006/relationships/image" Target="../media/image130.png"/><Relationship Id="rId6" Type="http://schemas.openxmlformats.org/officeDocument/2006/relationships/chart" Target="../charts/char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0.png"/><Relationship Id="rId3" Type="http://schemas.openxmlformats.org/officeDocument/2006/relationships/image" Target="../media/image150.png"/><Relationship Id="rId4" Type="http://schemas.openxmlformats.org/officeDocument/2006/relationships/image" Target="../media/image160.png"/><Relationship Id="rId5" Type="http://schemas.openxmlformats.org/officeDocument/2006/relationships/image" Target="../media/image170.png"/><Relationship Id="rId6" Type="http://schemas.openxmlformats.org/officeDocument/2006/relationships/image" Target="../media/image180.png"/><Relationship Id="rId7" Type="http://schemas.openxmlformats.org/officeDocument/2006/relationships/image" Target="../media/image19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1.png"/><Relationship Id="rId3" Type="http://schemas.openxmlformats.org/officeDocument/2006/relationships/chart" Target="../charts/char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9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9.png"/><Relationship Id="rId3" Type="http://schemas.openxmlformats.org/officeDocument/2006/relationships/image" Target="../media/image1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2.png"/><Relationship Id="rId3" Type="http://schemas.openxmlformats.org/officeDocument/2006/relationships/chart" Target="../charts/char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0.png"/><Relationship Id="rId3" Type="http://schemas.openxmlformats.org/officeDocument/2006/relationships/image" Target="../media/image2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40.png"/><Relationship Id="rId5" Type="http://schemas.openxmlformats.org/officeDocument/2006/relationships/image" Target="../media/image250.png"/><Relationship Id="rId6" Type="http://schemas.openxmlformats.org/officeDocument/2006/relationships/image" Target="../media/image26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9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6.png"/><Relationship Id="rId3" Type="http://schemas.openxmlformats.org/officeDocument/2006/relationships/chart" Target="../charts/char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9.png"/><Relationship Id="rId3" Type="http://schemas.openxmlformats.org/officeDocument/2006/relationships/image" Target="../media/image14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4.png"/><Relationship Id="rId3" Type="http://schemas.openxmlformats.org/officeDocument/2006/relationships/image" Target="../media/image15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24C6A4-3588-404F-B036-83F107B008A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79E48-40D4-0247-ADDE-B678E9E350CC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Course Roadmap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D78A7-EE2D-B347-ACDB-F37917FC1629}"/>
              </a:ext>
            </a:extLst>
          </p:cNvPr>
          <p:cNvSpPr txBox="1"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Four classical-to-modern techniques, one unifying goal: represent complex data as low-dimensional vectors that preserve the structure that matters.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21E54A-B33C-D04E-9579-F1F921F05B58}"/>
              </a:ext>
            </a:extLst>
          </p:cNvPr>
          <p:cNvSpPr/>
          <p:nvPr/>
        </p:nvSpPr>
        <p:spPr>
          <a:xfrm>
            <a:off x="762000" y="24130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C98F7B-0017-E545-9D27-E559D40CDD02}"/>
              </a:ext>
            </a:extLst>
          </p:cNvPr>
          <p:cNvSpPr/>
          <p:nvPr/>
        </p:nvSpPr>
        <p:spPr>
          <a:xfrm>
            <a:off x="990600" y="2641600"/>
            <a:ext cx="609600" cy="609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C867E-A7A4-3440-950B-8361C9897408}"/>
              </a:ext>
            </a:extLst>
          </p:cNvPr>
          <p:cNvSpPr txBox="1"/>
          <p:nvPr/>
        </p:nvSpPr>
        <p:spPr>
          <a:xfrm>
            <a:off x="1778000" y="26670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4B2E83"/>
                </a:solidFill>
              </a:rPr>
              <a:t>Principal Component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1B958-9420-8045-A4D4-704DDBAE15F9}"/>
              </a:ext>
            </a:extLst>
          </p:cNvPr>
          <p:cNvSpPr txBox="1"/>
          <p:nvPr/>
        </p:nvSpPr>
        <p:spPr>
          <a:xfrm>
            <a:off x="1778000" y="30988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 projection maximizing variance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B80E6D0-82DA-6F44-993B-8775384914AD}"/>
              </a:ext>
            </a:extLst>
          </p:cNvPr>
          <p:cNvSpPr/>
          <p:nvPr/>
        </p:nvSpPr>
        <p:spPr>
          <a:xfrm>
            <a:off x="6286500" y="24130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23C5ED-6028-DF41-88CE-E0295A663D65}"/>
              </a:ext>
            </a:extLst>
          </p:cNvPr>
          <p:cNvSpPr/>
          <p:nvPr/>
        </p:nvSpPr>
        <p:spPr>
          <a:xfrm>
            <a:off x="6515100" y="2641600"/>
            <a:ext cx="609600" cy="609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75D36-6796-D142-ADCA-891307543013}"/>
              </a:ext>
            </a:extLst>
          </p:cNvPr>
          <p:cNvSpPr txBox="1"/>
          <p:nvPr/>
        </p:nvSpPr>
        <p:spPr>
          <a:xfrm>
            <a:off x="7302500" y="26670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00A7B5"/>
                </a:solidFill>
              </a:rPr>
              <a:t>Correspondence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3FEAF8-DE7D-7143-A22B-67E85D7000C9}"/>
              </a:ext>
            </a:extLst>
          </p:cNvPr>
          <p:cNvSpPr txBox="1"/>
          <p:nvPr/>
        </p:nvSpPr>
        <p:spPr>
          <a:xfrm>
            <a:off x="7302500" y="30988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PCA for categorical / contingency data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A592F8B-3710-E248-A07F-878AA26E81CA}"/>
              </a:ext>
            </a:extLst>
          </p:cNvPr>
          <p:cNvSpPr/>
          <p:nvPr/>
        </p:nvSpPr>
        <p:spPr>
          <a:xfrm>
            <a:off x="762000" y="42418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9C585E9-0975-8743-A935-262821D15D61}"/>
              </a:ext>
            </a:extLst>
          </p:cNvPr>
          <p:cNvSpPr/>
          <p:nvPr/>
        </p:nvSpPr>
        <p:spPr>
          <a:xfrm>
            <a:off x="990600" y="4470400"/>
            <a:ext cx="609600" cy="609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D9072A-5A48-4248-858B-826C42AFCD92}"/>
              </a:ext>
            </a:extLst>
          </p:cNvPr>
          <p:cNvSpPr txBox="1"/>
          <p:nvPr/>
        </p:nvSpPr>
        <p:spPr>
          <a:xfrm>
            <a:off x="1778000" y="44958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7AB648"/>
                </a:solidFill>
              </a:rPr>
              <a:t>Multidimensional Scaling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65EFC8-76B6-324E-8DB8-2E690702AE3E}"/>
              </a:ext>
            </a:extLst>
          </p:cNvPr>
          <p:cNvSpPr txBox="1"/>
          <p:nvPr/>
        </p:nvSpPr>
        <p:spPr>
          <a:xfrm>
            <a:off x="1778000" y="49276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Embedding from distances alone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2B46010-94EA-4B47-A7EE-BE9C07516A1E}"/>
              </a:ext>
            </a:extLst>
          </p:cNvPr>
          <p:cNvSpPr/>
          <p:nvPr/>
        </p:nvSpPr>
        <p:spPr>
          <a:xfrm>
            <a:off x="6286500" y="42418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00DDEFE-6B0D-624C-BB4C-616B22AFE255}"/>
              </a:ext>
            </a:extLst>
          </p:cNvPr>
          <p:cNvSpPr/>
          <p:nvPr/>
        </p:nvSpPr>
        <p:spPr>
          <a:xfrm>
            <a:off x="6515100" y="4470400"/>
            <a:ext cx="609600" cy="609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35C720-FACB-2C49-889F-36A67D84FE5C}"/>
              </a:ext>
            </a:extLst>
          </p:cNvPr>
          <p:cNvSpPr txBox="1"/>
          <p:nvPr/>
        </p:nvSpPr>
        <p:spPr>
          <a:xfrm>
            <a:off x="7302500" y="44958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D1578A"/>
                </a:solidFill>
              </a:rPr>
              <a:t>Autoencoders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6E4A01-323F-E84C-92C7-47BDE33C9FB7}"/>
              </a:ext>
            </a:extLst>
          </p:cNvPr>
          <p:cNvSpPr txBox="1"/>
          <p:nvPr/>
        </p:nvSpPr>
        <p:spPr>
          <a:xfrm>
            <a:off x="7302500" y="49276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Nonlinear neural compression &amp; embeddings</a:t>
            </a:r>
          </a:p>
        </p:txBody>
      </p:sp>
    </p:spTree>
    <p:extLst>
      <p:ext uri="{BB962C8B-B14F-4D97-AF65-F5344CB8AC3E}">
        <p14:creationId xmlns:p14="http://schemas.microsoft.com/office/powerpoint/2010/main" val="3727557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42764E-DA90-D546-A99D-842B5985A111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4C42D-4937-2144-971A-36B9B763F84C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Principal Component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429E2-5537-3949-9B79-B3E77E9E9009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Linear projection that maximizes variance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4F9EE6-3F77-2F41-98CA-1253B671BA28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FE548-000C-C64A-A99A-8058595A10D0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F534C-E72F-274A-842C-DA616192EA22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Find new axes — the principal components — that point in the directions of greatest variance in the data. The first captures the most spread; each next captures the most that remains while staying perpendicular to the others. Keeping the top few axes preserves the dominant structure and discards noise.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9A84FE-752D-7F4D-85D3-9538685C35F8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F9AB4-2BA9-F248-95E3-E23AE140E1F2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8613E-7DFB-884A-81DA-65598D5AA2CD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Center and standardize the features
•  Compute the covariance matrix, then its eigenvectors (or use SVD)
•  Rank components by explained variance (scree plot)
•  Keep the top-k and project the data onto them
•  Use for: visualization, denoising, preprocessing</a:t>
            </a:r>
          </a:p>
        </p:txBody>
      </p:sp>
    </p:spTree>
    <p:extLst>
      <p:ext uri="{BB962C8B-B14F-4D97-AF65-F5344CB8AC3E}">
        <p14:creationId xmlns:p14="http://schemas.microsoft.com/office/powerpoint/2010/main" val="46680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ECA917-B270-9044-B250-B443A75286A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C8D5E-5AFE-1C42-8896-560F377F558C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00A7B5"/>
                </a:solidFill>
              </a:rPr>
              <a:t>Correspondence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DF2FB-8F0E-A64B-A159-90C6DEF10A10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PCA's cousin for categorical / contingency data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6A6C7D2-163F-C64A-A26F-4E6D32BDD672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7D696A-9A2D-494D-AA93-46ABFED31725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EEFAE-7F92-034A-83A6-921E73630380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Take a contingency table — counts of how categories co-occur — and measure how far it strays from independence (chi-square distances). CA places both the rows and the columns in one shared low-dimensional space, so categories that tend to occur together land near each other and associations become visible at a glance.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44039F-AD44-FD44-AA84-12D79052CFCC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51A1C0-2DD6-E24A-ADFF-8DE68FF128BB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2C7E3F-4DBF-1641-8DFD-C219A2DA5454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Start from a contingency table of category counts
•  Convert counts to row and column profiles (relative frequencies)
•  Decompose the standardized residuals via SVD
•  Plot rows and columns together on the first 2 axes (biplot)
•  Read nearby points as associated; check inertia per axis</a:t>
            </a:r>
          </a:p>
        </p:txBody>
      </p:sp>
    </p:spTree>
    <p:extLst>
      <p:ext uri="{BB962C8B-B14F-4D97-AF65-F5344CB8AC3E}">
        <p14:creationId xmlns:p14="http://schemas.microsoft.com/office/powerpoint/2010/main" val="1054983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E926C9-1C49-9B44-8AE0-D60566FA653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7E1C7-DF3F-114A-BEA6-1BBA993E7CF5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7AB648"/>
                </a:solidFill>
              </a:rPr>
              <a:t>Multidimensional 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28BA-83F6-AC49-9554-C422BEA8D017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Build an embedding from distances alone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036F1A-87BB-914B-8B7A-20A282629BCD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0EFA4-B3D8-7E41-9281-48088C5B93A2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2C886-7DD6-0240-A5F6-BEBF3F9E4E09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Suppose you only know the pairwise distances between objects, not their coordinates. MDS searches for positions in a low-dimensional space so that the distances between the placed points match the given dissimilarities as closely as possible — in effect turning a distance matrix back into a map you can plot.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4D153F1-1832-384B-A58B-E42DFCEBE7B1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693E8-BB5D-0F44-AA6B-36CC5AA0DD70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6D4A0-35F6-F54D-B513-7E1A4639821B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Assemble a pairwise distance / dissimilarity matrix
•  Choose classical (metric) or non-metric MDS
•  Metric: eigendecompose the double-centered matrix
•  Non-metric: preserve rank order, minimize stress
•  Embed in 2–3D; judge fit with stress / Shepard plot</a:t>
            </a:r>
          </a:p>
        </p:txBody>
      </p:sp>
    </p:spTree>
    <p:extLst>
      <p:ext uri="{BB962C8B-B14F-4D97-AF65-F5344CB8AC3E}">
        <p14:creationId xmlns:p14="http://schemas.microsoft.com/office/powerpoint/2010/main" val="3857201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31DAB3-5DA8-7440-BB6C-DB5168EE0D8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ABFC0-C1C7-C34F-83CE-8A58E7339760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D1578A"/>
                </a:solidFill>
              </a:rPr>
              <a:t>Autoencoders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445F12-B62D-D840-B979-6C61A01AF485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Nonlinear neural compression &amp; embeddings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C43FCA-AC76-9D4F-AE20-3E903717CD39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AFF41-7098-C546-AED0-118A816914FD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C2C2B-BF67-E540-A6BA-A21103848DBF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A neural network trained to reproduce its own input through a narrow bottleneck. The encoder squeezes the input into a small latent code; the decoder rebuilds the input from it. To reconstruct well through so few numbers, the network is forced to learn a compact, nonlinear representation of the structure that matters.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BDED33-C359-8F41-A8E5-6E965CA7A2F0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E5DFD-210C-0E4F-A643-F23164071A36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F7551-A4EF-2942-B056-7CCAE799BBCF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Define encoder → bottleneck → decoder layers
•  Train to minimize reconstruction loss (e.g. MSE) on unlabeled data
•  Use the bottleneck activations as learned embeddings
•  Variants: denoising, sparse, variational (VAE)
•  Use for nonlinear reduction, anomaly detection, generation</a:t>
            </a:r>
          </a:p>
        </p:txBody>
      </p:sp>
    </p:spTree>
    <p:extLst>
      <p:ext uri="{BB962C8B-B14F-4D97-AF65-F5344CB8AC3E}">
        <p14:creationId xmlns:p14="http://schemas.microsoft.com/office/powerpoint/2010/main" val="114267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5BACBC-E61A-674D-914F-0F92CF6A0BC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7F1E9-C061-7248-9164-0653B413600E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Turning Anything into Meaningful Vectors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B1067-7E10-EB4C-A3D1-0D3B8AF1480F}"/>
              </a:ext>
            </a:extLst>
          </p:cNvPr>
          <p:cNvSpPr txBox="1"/>
          <p:nvPr/>
        </p:nvSpPr>
        <p:spPr>
          <a:xfrm>
            <a:off x="762000" y="1587500"/>
            <a:ext cx="1066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Text, images, users, products, documents, genes — almost any object can be encoded as a point in a vector space. Once data lives in ℝᵈ, geometry does the work: similarity becomes distance, structure becomes shape, and learning becomes optimization.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13C16C9-2861-D249-8CE5-6D2F459C5E67}"/>
              </a:ext>
            </a:extLst>
          </p:cNvPr>
          <p:cNvSpPr/>
          <p:nvPr/>
        </p:nvSpPr>
        <p:spPr>
          <a:xfrm>
            <a:off x="762000" y="381000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4E312-BFF9-424F-9427-C9257AE09F72}"/>
              </a:ext>
            </a:extLst>
          </p:cNvPr>
          <p:cNvSpPr txBox="1"/>
          <p:nvPr/>
        </p:nvSpPr>
        <p:spPr>
          <a:xfrm>
            <a:off x="914400" y="398780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B7A57A"/>
                </a:solidFill>
              </a:rPr>
              <a:t>Raw object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2F0A2-FD04-0947-9622-3D94C6DF381E}"/>
              </a:ext>
            </a:extLst>
          </p:cNvPr>
          <p:cNvSpPr txBox="1"/>
          <p:nvPr/>
        </p:nvSpPr>
        <p:spPr>
          <a:xfrm>
            <a:off x="914400" y="452120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Text, image, table row, graph node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7C021AE-4C8C-354E-AF9E-3C2770DE47FA}"/>
              </a:ext>
            </a:extLst>
          </p:cNvPr>
          <p:cNvSpPr/>
          <p:nvPr/>
        </p:nvSpPr>
        <p:spPr>
          <a:xfrm>
            <a:off x="3162300" y="4394200"/>
            <a:ext cx="406400" cy="355600"/>
          </a:xfrm>
          <a:prstGeom prst="rightArrow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E82B449-AD2E-4547-9795-A0490EDBD8E9}"/>
              </a:ext>
            </a:extLst>
          </p:cNvPr>
          <p:cNvSpPr/>
          <p:nvPr/>
        </p:nvSpPr>
        <p:spPr>
          <a:xfrm>
            <a:off x="3492500" y="381000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108A6D-01BD-514B-A663-9986DA974428}"/>
              </a:ext>
            </a:extLst>
          </p:cNvPr>
          <p:cNvSpPr txBox="1"/>
          <p:nvPr/>
        </p:nvSpPr>
        <p:spPr>
          <a:xfrm>
            <a:off x="3644900" y="398780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Encoding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1FAE2E-8896-664D-8CA5-5239DBCD5857}"/>
              </a:ext>
            </a:extLst>
          </p:cNvPr>
          <p:cNvSpPr txBox="1"/>
          <p:nvPr/>
        </p:nvSpPr>
        <p:spPr>
          <a:xfrm>
            <a:off x="3644900" y="452120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Counts, pixels, features, similarities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A9589025-0BE7-C64F-B7B5-B123197E7797}"/>
              </a:ext>
            </a:extLst>
          </p:cNvPr>
          <p:cNvSpPr/>
          <p:nvPr/>
        </p:nvSpPr>
        <p:spPr>
          <a:xfrm>
            <a:off x="5892800" y="4394200"/>
            <a:ext cx="406400" cy="355600"/>
          </a:xfrm>
          <a:prstGeom prst="rightArrow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16F0B96-F601-B049-A774-D11FF404A35A}"/>
              </a:ext>
            </a:extLst>
          </p:cNvPr>
          <p:cNvSpPr/>
          <p:nvPr/>
        </p:nvSpPr>
        <p:spPr>
          <a:xfrm>
            <a:off x="6223000" y="381000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089F6-2886-BF49-905B-68E08265B830}"/>
              </a:ext>
            </a:extLst>
          </p:cNvPr>
          <p:cNvSpPr txBox="1"/>
          <p:nvPr/>
        </p:nvSpPr>
        <p:spPr>
          <a:xfrm>
            <a:off x="6375400" y="398780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Vector x ∈ ℝᵈ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1BCCF-9EBC-224F-944C-FF5946780789}"/>
              </a:ext>
            </a:extLst>
          </p:cNvPr>
          <p:cNvSpPr txBox="1"/>
          <p:nvPr/>
        </p:nvSpPr>
        <p:spPr>
          <a:xfrm>
            <a:off x="6375400" y="452120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Coordinates in a space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9CA9E0FD-A070-EB43-BA1A-525A49742EFA}"/>
              </a:ext>
            </a:extLst>
          </p:cNvPr>
          <p:cNvSpPr/>
          <p:nvPr/>
        </p:nvSpPr>
        <p:spPr>
          <a:xfrm>
            <a:off x="8623300" y="4394200"/>
            <a:ext cx="406400" cy="355600"/>
          </a:xfrm>
          <a:prstGeom prst="rightArrow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F049FAE-68E8-9447-9D63-DB98855076E9}"/>
              </a:ext>
            </a:extLst>
          </p:cNvPr>
          <p:cNvSpPr/>
          <p:nvPr/>
        </p:nvSpPr>
        <p:spPr>
          <a:xfrm>
            <a:off x="8953500" y="381000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FE3AB4-28BF-264B-BB17-19F2807C41CC}"/>
              </a:ext>
            </a:extLst>
          </p:cNvPr>
          <p:cNvSpPr txBox="1"/>
          <p:nvPr/>
        </p:nvSpPr>
        <p:spPr>
          <a:xfrm>
            <a:off x="9105900" y="398780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Embedding z ∈ ℝᵏ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DA344A-C33D-2E44-A7DC-44E6DB16D7B1}"/>
              </a:ext>
            </a:extLst>
          </p:cNvPr>
          <p:cNvSpPr txBox="1"/>
          <p:nvPr/>
        </p:nvSpPr>
        <p:spPr>
          <a:xfrm>
            <a:off x="9105900" y="452120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Compressed, meaningful (k ≪ 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242712-5F2A-784D-898A-2FC62D28209D}"/>
              </a:ext>
            </a:extLst>
          </p:cNvPr>
          <p:cNvSpPr txBox="1"/>
          <p:nvPr/>
        </p:nvSpPr>
        <p:spPr>
          <a:xfrm>
            <a:off x="762000" y="5651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This deck: four ways to learn the map  x ↦ z  — linear (PCA, CA, MDS) and nonlinear (autoencoders).</a:t>
            </a:r>
          </a:p>
        </p:txBody>
      </p:sp>
    </p:spTree>
    <p:extLst>
      <p:ext uri="{BB962C8B-B14F-4D97-AF65-F5344CB8AC3E}">
        <p14:creationId xmlns:p14="http://schemas.microsoft.com/office/powerpoint/2010/main" val="1401231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762721-32D7-9D40-902E-046733CDDF3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ECAB5-7E2C-0D42-86E6-E4C299571388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Why This Toolkit Enables Advanced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0183A-4A0F-9945-AC00-994C2FEFB71D}"/>
              </a:ext>
            </a:extLst>
          </p:cNvPr>
          <p:cNvSpPr txBox="1"/>
          <p:nvPr/>
        </p:nvSpPr>
        <p:spPr>
          <a:xfrm>
            <a:off x="762000" y="13462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Once objects become vectors, dimensionality reduction and clustering reveal structure that is invisible in raw high-dimensional data.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2FC4E3-E91D-7640-A72D-0DE4176D4AA3}"/>
              </a:ext>
            </a:extLst>
          </p:cNvPr>
          <p:cNvSpPr/>
          <p:nvPr/>
        </p:nvSpPr>
        <p:spPr>
          <a:xfrm>
            <a:off x="762000" y="2133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AC1B7B-B22C-2348-B84F-B92A2E949A8C}"/>
              </a:ext>
            </a:extLst>
          </p:cNvPr>
          <p:cNvSpPr/>
          <p:nvPr/>
        </p:nvSpPr>
        <p:spPr>
          <a:xfrm>
            <a:off x="990600" y="2362200"/>
            <a:ext cx="609600" cy="609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6A0A7-71AF-9848-BD70-DA690046CE3B}"/>
              </a:ext>
            </a:extLst>
          </p:cNvPr>
          <p:cNvSpPr txBox="1"/>
          <p:nvPr/>
        </p:nvSpPr>
        <p:spPr>
          <a:xfrm>
            <a:off x="1803400" y="2387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4B2E83"/>
                </a:solidFill>
              </a:rPr>
              <a:t>Data Reduction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28D9D-4920-2E4E-931D-7EBF01CF7726}"/>
              </a:ext>
            </a:extLst>
          </p:cNvPr>
          <p:cNvSpPr txBox="1"/>
          <p:nvPr/>
        </p:nvSpPr>
        <p:spPr>
          <a:xfrm>
            <a:off x="1803400" y="2844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PCA, CA and MDS collapse dozens or thousands of dimensions into 2–3, so an entire dataset fits on one screen while keeping its dominant structure.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89922A-2F5D-7F4F-AD67-CCB8B4D04543}"/>
              </a:ext>
            </a:extLst>
          </p:cNvPr>
          <p:cNvSpPr/>
          <p:nvPr/>
        </p:nvSpPr>
        <p:spPr>
          <a:xfrm>
            <a:off x="6286500" y="2133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90AE96-2A0E-FB46-9D12-834723B83F6B}"/>
              </a:ext>
            </a:extLst>
          </p:cNvPr>
          <p:cNvSpPr/>
          <p:nvPr/>
        </p:nvSpPr>
        <p:spPr>
          <a:xfrm>
            <a:off x="6515100" y="2362200"/>
            <a:ext cx="609600" cy="609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5B78C-B2E7-BB42-AA62-D676AE8A5215}"/>
              </a:ext>
            </a:extLst>
          </p:cNvPr>
          <p:cNvSpPr txBox="1"/>
          <p:nvPr/>
        </p:nvSpPr>
        <p:spPr>
          <a:xfrm>
            <a:off x="7327900" y="2387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D1578A"/>
                </a:solidFill>
              </a:rPr>
              <a:t>Nonlinearity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1340E7-500E-AA4A-9834-96BABFA9243D}"/>
              </a:ext>
            </a:extLst>
          </p:cNvPr>
          <p:cNvSpPr txBox="1"/>
          <p:nvPr/>
        </p:nvSpPr>
        <p:spPr>
          <a:xfrm>
            <a:off x="7327900" y="2844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Autoencoders and distance-based methods unfold curved manifolds that flat linear projections distort — exposing structure PCA alone would miss.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1F458D8-664F-494F-A246-3A62DD456DFE}"/>
              </a:ext>
            </a:extLst>
          </p:cNvPr>
          <p:cNvSpPr/>
          <p:nvPr/>
        </p:nvSpPr>
        <p:spPr>
          <a:xfrm>
            <a:off x="762000" y="4038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13DB850-F78D-4140-BA17-87BB04E76056}"/>
              </a:ext>
            </a:extLst>
          </p:cNvPr>
          <p:cNvSpPr/>
          <p:nvPr/>
        </p:nvSpPr>
        <p:spPr>
          <a:xfrm>
            <a:off x="990600" y="4267200"/>
            <a:ext cx="609600" cy="609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2BEE31-8CA4-364E-B803-79D4C72C6D13}"/>
              </a:ext>
            </a:extLst>
          </p:cNvPr>
          <p:cNvSpPr txBox="1"/>
          <p:nvPr/>
        </p:nvSpPr>
        <p:spPr>
          <a:xfrm>
            <a:off x="1803400" y="4292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7AB648"/>
                </a:solidFill>
              </a:rPr>
              <a:t>Clustering = Segments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395E62-7F2D-9A41-AE36-BAFB5C6E53B8}"/>
              </a:ext>
            </a:extLst>
          </p:cNvPr>
          <p:cNvSpPr txBox="1"/>
          <p:nvPr/>
        </p:nvSpPr>
        <p:spPr>
          <a:xfrm>
            <a:off x="1803400" y="4749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in the reduced space, then color the embedding by cluster: geometry becomes named groups you can interpret, compare and label.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3D8E8DF-74C2-7043-80A0-752D041F9D9C}"/>
              </a:ext>
            </a:extLst>
          </p:cNvPr>
          <p:cNvSpPr/>
          <p:nvPr/>
        </p:nvSpPr>
        <p:spPr>
          <a:xfrm>
            <a:off x="6286500" y="4038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123F9BD-1604-3149-9D7C-4FD0886D145E}"/>
              </a:ext>
            </a:extLst>
          </p:cNvPr>
          <p:cNvSpPr/>
          <p:nvPr/>
        </p:nvSpPr>
        <p:spPr>
          <a:xfrm>
            <a:off x="6515100" y="4267200"/>
            <a:ext cx="609600" cy="609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3222B-A57B-114C-8444-93048F4C354E}"/>
              </a:ext>
            </a:extLst>
          </p:cNvPr>
          <p:cNvSpPr txBox="1"/>
          <p:nvPr/>
        </p:nvSpPr>
        <p:spPr>
          <a:xfrm>
            <a:off x="7327900" y="4292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0A7B5"/>
                </a:solidFill>
              </a:rPr>
              <a:t>Patterns &amp; Outliers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EB30C1-5CFB-E248-AF3F-BEF0EC01C750}"/>
              </a:ext>
            </a:extLst>
          </p:cNvPr>
          <p:cNvSpPr txBox="1"/>
          <p:nvPr/>
        </p:nvSpPr>
        <p:spPr>
          <a:xfrm>
            <a:off x="7327900" y="4749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In the embedding, similarity becomes proximity — neighborhoods, gradients and anomalies become visible to the eye, guiding analysis and QA.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FBDEBA-044C-854D-96F6-11E3EF53E5C8}"/>
              </a:ext>
            </a:extLst>
          </p:cNvPr>
          <p:cNvSpPr txBox="1"/>
          <p:nvPr/>
        </p:nvSpPr>
        <p:spPr>
          <a:xfrm>
            <a:off x="762000" y="6070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Reduce → embed → cluster → visualize: the pipeline behind modern exploratory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2417837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3239B7-CED6-5E44-85EF-BA007DFA8BF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E9EC8-1DCD-B345-9FAB-B37FEFAEA70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The Common Thread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2471B-B07C-BA43-B8F3-646A0F0EA1EA}"/>
              </a:ext>
            </a:extLst>
          </p:cNvPr>
          <p:cNvSpPr txBox="1"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All four methods solve one problem: find a low-dimensional representation Z ∈ ℝⁿˣᵏ of data X ∈ ℝⁿˣᵖ that preserves a chosen notion of structure.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FC93E1-0340-0F40-844D-500685443B14}"/>
              </a:ext>
            </a:extLst>
          </p:cNvPr>
          <p:cNvSpPr/>
          <p:nvPr/>
        </p:nvSpPr>
        <p:spPr>
          <a:xfrm>
            <a:off x="762000" y="2349500"/>
            <a:ext cx="2286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4E4AAE-ABDE-D147-86DD-C4FDE447AC8F}"/>
              </a:ext>
            </a:extLst>
          </p:cNvPr>
          <p:cNvSpPr/>
          <p:nvPr/>
        </p:nvSpPr>
        <p:spPr>
          <a:xfrm>
            <a:off x="3048000" y="2349500"/>
            <a:ext cx="2667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Preserves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72E281-B6D7-8F47-A415-E0EB0A398C59}"/>
              </a:ext>
            </a:extLst>
          </p:cNvPr>
          <p:cNvSpPr/>
          <p:nvPr/>
        </p:nvSpPr>
        <p:spPr>
          <a:xfrm>
            <a:off x="5715000" y="2349500"/>
            <a:ext cx="1397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CDDAD5-0F32-C94B-98AF-36DEFC7D799A}"/>
              </a:ext>
            </a:extLst>
          </p:cNvPr>
          <p:cNvSpPr/>
          <p:nvPr/>
        </p:nvSpPr>
        <p:spPr>
          <a:xfrm>
            <a:off x="7112000" y="2349500"/>
            <a:ext cx="4064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Core operation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3C9753-6D67-8D4B-82B3-5C7197BBFA1E}"/>
              </a:ext>
            </a:extLst>
          </p:cNvPr>
          <p:cNvSpPr/>
          <p:nvPr/>
        </p:nvSpPr>
        <p:spPr>
          <a:xfrm>
            <a:off x="762000" y="3086100"/>
            <a:ext cx="2286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PCA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F43784-90ED-874A-AE44-644558579853}"/>
              </a:ext>
            </a:extLst>
          </p:cNvPr>
          <p:cNvSpPr/>
          <p:nvPr/>
        </p:nvSpPr>
        <p:spPr>
          <a:xfrm>
            <a:off x="3048000" y="3086100"/>
            <a:ext cx="266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Variance / covariance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448EA0-34DC-1F40-85DC-E157969B8FB6}"/>
              </a:ext>
            </a:extLst>
          </p:cNvPr>
          <p:cNvSpPr/>
          <p:nvPr/>
        </p:nvSpPr>
        <p:spPr>
          <a:xfrm>
            <a:off x="5715000" y="3086100"/>
            <a:ext cx="139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4B6CF1-8873-8B41-9A1B-2752C8AB90E9}"/>
                  </a:ext>
                </a:extLst>
              </p:cNvPr>
              <p:cNvSpPr/>
              <p:nvPr/>
            </p:nvSpPr>
            <p:spPr>
              <a:xfrm>
                <a:off x="7112000" y="3086100"/>
                <a:ext cx="4064000" cy="736600"/>
              </a:xfrm>
              <a:prstGeom prst="rect">
                <a:avLst/>
              </a:prstGeom>
              <a:solidFill>
                <a:srgbClr val="F5F0EB"/>
              </a:solid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square" rtlCol="0" anchor="ctr" anchorCtr="0"/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Eigen-decomposition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4B6CF1-8873-8B41-9A1B-2752C8AB9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3086100"/>
                <a:ext cx="4064000" cy="736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248EBAB1-CE37-8244-9D07-2F0531FC57B8}"/>
              </a:ext>
            </a:extLst>
          </p:cNvPr>
          <p:cNvSpPr/>
          <p:nvPr/>
        </p:nvSpPr>
        <p:spPr>
          <a:xfrm>
            <a:off x="762000" y="3822700"/>
            <a:ext cx="2286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Correspondence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94C524-CD2A-BE4D-8108-C2750C911ADA}"/>
              </a:ext>
            </a:extLst>
          </p:cNvPr>
          <p:cNvSpPr/>
          <p:nvPr/>
        </p:nvSpPr>
        <p:spPr>
          <a:xfrm>
            <a:off x="3048000" y="3822700"/>
            <a:ext cx="266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l-GR" sz="1400">
                <a:solidFill>
                  <a:srgbClr val="333333"/>
                </a:solidFill>
              </a:rPr>
              <a:t>χ² </a:t>
            </a:r>
            <a:r>
              <a:rPr lang="en-US" sz="1400">
                <a:solidFill>
                  <a:srgbClr val="333333"/>
                </a:solidFill>
              </a:rPr>
              <a:t>association in tables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181817-C286-F84F-A085-7EF8EB45FAD1}"/>
              </a:ext>
            </a:extLst>
          </p:cNvPr>
          <p:cNvSpPr/>
          <p:nvPr/>
        </p:nvSpPr>
        <p:spPr>
          <a:xfrm>
            <a:off x="5715000" y="3822700"/>
            <a:ext cx="139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D307FD-D83B-9849-977B-57DD565E967E}"/>
              </a:ext>
            </a:extLst>
          </p:cNvPr>
          <p:cNvSpPr/>
          <p:nvPr/>
        </p:nvSpPr>
        <p:spPr>
          <a:xfrm>
            <a:off x="7112000" y="3822700"/>
            <a:ext cx="4064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SVD of standardized residuals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119A3-4E7E-494E-A808-39DC8C667FB3}"/>
              </a:ext>
            </a:extLst>
          </p:cNvPr>
          <p:cNvSpPr/>
          <p:nvPr/>
        </p:nvSpPr>
        <p:spPr>
          <a:xfrm>
            <a:off x="762000" y="4559300"/>
            <a:ext cx="2286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7AB648"/>
                </a:solidFill>
              </a:rPr>
              <a:t>MDS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B612B1-485C-7742-85D3-EE7238111E7D}"/>
              </a:ext>
            </a:extLst>
          </p:cNvPr>
          <p:cNvSpPr/>
          <p:nvPr/>
        </p:nvSpPr>
        <p:spPr>
          <a:xfrm>
            <a:off x="3048000" y="4559300"/>
            <a:ext cx="266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Pairwise distances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4D7B0D-B378-D049-B09D-692913322F97}"/>
              </a:ext>
            </a:extLst>
          </p:cNvPr>
          <p:cNvSpPr/>
          <p:nvPr/>
        </p:nvSpPr>
        <p:spPr>
          <a:xfrm>
            <a:off x="5715000" y="4559300"/>
            <a:ext cx="139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 (classical)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E81E63B-C6E8-C740-B1B5-1BF1405618FE}"/>
                  </a:ext>
                </a:extLst>
              </p:cNvPr>
              <p:cNvSpPr/>
              <p:nvPr/>
            </p:nvSpPr>
            <p:spPr>
              <a:xfrm>
                <a:off x="7112000" y="4559300"/>
                <a:ext cx="4064000" cy="736600"/>
              </a:xfrm>
              <a:prstGeom prst="rect">
                <a:avLst/>
              </a:prstGeom>
              <a:solidFill>
                <a:srgbClr val="F5F0EB"/>
              </a:solid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square" rtlCol="0" anchor="ctr" anchorCtr="0"/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Eigen-decomp of </a:t>
                </a:r>
                <a14:m>
                  <m:oMath xmlns:m="http://schemas.openxmlformats.org/officeDocument/2006/math"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E81E63B-C6E8-C740-B1B5-1BF1405618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4559300"/>
                <a:ext cx="4064000" cy="736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66D0E73-7822-EF45-9D18-631C1037BD8F}"/>
              </a:ext>
            </a:extLst>
          </p:cNvPr>
          <p:cNvSpPr/>
          <p:nvPr/>
        </p:nvSpPr>
        <p:spPr>
          <a:xfrm>
            <a:off x="762000" y="5295900"/>
            <a:ext cx="2286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D1578A"/>
                </a:solidFill>
              </a:rPr>
              <a:t>Autoencoders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BA3C87-D919-A342-89F1-48C7780CDF27}"/>
              </a:ext>
            </a:extLst>
          </p:cNvPr>
          <p:cNvSpPr/>
          <p:nvPr/>
        </p:nvSpPr>
        <p:spPr>
          <a:xfrm>
            <a:off x="3048000" y="5295900"/>
            <a:ext cx="266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Reconstruction error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56B541-F4D3-FC42-9BFD-79442792A801}"/>
              </a:ext>
            </a:extLst>
          </p:cNvPr>
          <p:cNvSpPr/>
          <p:nvPr/>
        </p:nvSpPr>
        <p:spPr>
          <a:xfrm>
            <a:off x="5715000" y="5295900"/>
            <a:ext cx="139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Nonlinear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037D85-61EC-824C-AA08-13DCC3E7F237}"/>
                  </a:ext>
                </a:extLst>
              </p:cNvPr>
              <p:cNvSpPr/>
              <p:nvPr/>
            </p:nvSpPr>
            <p:spPr>
              <a:xfrm>
                <a:off x="7112000" y="5295900"/>
                <a:ext cx="4064000" cy="7366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square" rtlCol="0" anchor="ctr" anchorCtr="0"/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Gradient descent on </a:t>
                </a:r>
                <a14:m>
                  <m:oMath xmlns:m="http://schemas.openxmlformats.org/officeDocument/2006/math"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‖</m:t>
                    </m:r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  <m:sup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037D85-61EC-824C-AA08-13DCC3E7F2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5295900"/>
                <a:ext cx="4064000" cy="736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499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1772A6-9B62-4B4E-9149-A1C7304703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C3066-1022-114C-8AD8-3E58AEDD4EFC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A841D-2ED6-AA4E-A2DF-6D8FD96BA000}"/>
              </a:ext>
            </a:extLst>
          </p:cNvPr>
          <p:cNvSpPr txBox="1"/>
          <p:nvPr/>
        </p:nvSpPr>
        <p:spPr>
          <a:xfrm>
            <a:off x="15240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5A651-66C4-3B47-8132-53E359C6A753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93D73-202A-D14B-A935-8924F99DDD13}"/>
              </a:ext>
            </a:extLst>
          </p:cNvPr>
          <p:cNvSpPr txBox="1"/>
          <p:nvPr/>
        </p:nvSpPr>
        <p:spPr>
          <a:xfrm>
            <a:off x="1498600" y="3492500"/>
            <a:ext cx="7874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Principal Component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EEE0-F213-E24C-A078-3069ED6B44E6}"/>
              </a:ext>
            </a:extLst>
          </p:cNvPr>
          <p:cNvSpPr txBox="1"/>
          <p:nvPr/>
        </p:nvSpPr>
        <p:spPr>
          <a:xfrm>
            <a:off x="1524000" y="5334000"/>
            <a:ext cx="787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Linear projection that maximizes retained variance</a:t>
            </a:r>
          </a:p>
        </p:txBody>
      </p:sp>
    </p:spTree>
    <p:extLst>
      <p:ext uri="{BB962C8B-B14F-4D97-AF65-F5344CB8AC3E}">
        <p14:creationId xmlns:p14="http://schemas.microsoft.com/office/powerpoint/2010/main" val="399384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963748-25C3-034F-9A90-0AD5FCAD1AB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8ABFF-8B81-D44C-B36C-E2BFDA2A6DC7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B8435-9F3D-FD43-BC19-0D33DD8DFED5}"/>
              </a:ext>
            </a:extLst>
          </p:cNvPr>
          <p:cNvSpPr txBox="1"/>
          <p:nvPr/>
        </p:nvSpPr>
        <p:spPr>
          <a:xfrm>
            <a:off x="762000" y="1498600"/>
            <a:ext cx="10668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PCA finds a new orthogonal coordinate system for the data in which the first axis captures the most variance, the second captures the most of what remains, and so 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344C1-2071-A640-AE9F-E96580404E1A}"/>
              </a:ext>
            </a:extLst>
          </p:cNvPr>
          <p:cNvSpPr txBox="1"/>
          <p:nvPr/>
        </p:nvSpPr>
        <p:spPr>
          <a:xfrm>
            <a:off x="762000" y="2349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Three equivalent views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E9C47-B8BE-2948-B6E9-C81C62789895}"/>
              </a:ext>
            </a:extLst>
          </p:cNvPr>
          <p:cNvSpPr txBox="1"/>
          <p:nvPr/>
        </p:nvSpPr>
        <p:spPr>
          <a:xfrm>
            <a:off x="762000" y="2730500"/>
            <a:ext cx="5334000" cy="330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• Variance view: directions of maximum spread in the cloud of points.
• Reconstruction view: the k-dim subspace minimizing squared projection error (best-fitting hyperplane).
• Decorrelation view: a rotation that makes the new coordinates mutually uncorrelated.
All three give the same answer: the eigenvectors of the covariance matrix, ordered by eigenvalue.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CF629E-9B80-F14F-9A88-28899F10184E}"/>
              </a:ext>
            </a:extLst>
          </p:cNvPr>
          <p:cNvSpPr txBox="1"/>
          <p:nvPr/>
        </p:nvSpPr>
        <p:spPr>
          <a:xfrm>
            <a:off x="6477000" y="2349500"/>
            <a:ext cx="495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Why we do it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4298E52-7E0B-C243-B563-21A62722677E}"/>
              </a:ext>
            </a:extLst>
          </p:cNvPr>
          <p:cNvSpPr/>
          <p:nvPr/>
        </p:nvSpPr>
        <p:spPr>
          <a:xfrm>
            <a:off x="6477000" y="27305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E0C3C-CE50-C542-803A-BB3F81ACEE22}"/>
              </a:ext>
            </a:extLst>
          </p:cNvPr>
          <p:cNvSpPr txBox="1"/>
          <p:nvPr/>
        </p:nvSpPr>
        <p:spPr>
          <a:xfrm>
            <a:off x="6654800" y="28321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Compression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6E4530-9A6B-1244-AF61-EB9EE13773B2}"/>
                  </a:ext>
                </a:extLst>
              </p:cNvPr>
              <p:cNvSpPr txBox="1"/>
              <p:nvPr/>
            </p:nvSpPr>
            <p:spPr>
              <a:xfrm>
                <a:off x="6654800" y="3111500"/>
                <a:ext cx="4572000" cy="3629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  <m:r>
                      <a:rPr>
                        <a:latin typeface="Cambria Math" panose="02040503050406030204" pitchFamily="18" charset="0"/>
                      </a:rPr>
                      <m:t>≪</m:t>
                    </m:r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coordinates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6E4530-9A6B-1244-AF61-EB9EE1377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800" y="3111500"/>
                <a:ext cx="4572000" cy="362984"/>
              </a:xfrm>
              <a:prstGeom prst="rect">
                <a:avLst/>
              </a:prstGeom>
              <a:blipFill>
                <a:blip r:embed="rId2"/>
                <a:stretch>
                  <a:fillRect l="-27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7C4F586-D309-BA4A-A13D-895338AA973A}"/>
              </a:ext>
            </a:extLst>
          </p:cNvPr>
          <p:cNvSpPr/>
          <p:nvPr/>
        </p:nvSpPr>
        <p:spPr>
          <a:xfrm>
            <a:off x="6477000" y="35433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2D6C61-05EF-784A-A4D3-A306A780B7B8}"/>
              </a:ext>
            </a:extLst>
          </p:cNvPr>
          <p:cNvSpPr txBox="1"/>
          <p:nvPr/>
        </p:nvSpPr>
        <p:spPr>
          <a:xfrm>
            <a:off x="6654800" y="36449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De-noising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A190D-921F-B54A-A253-5D9B42A9571C}"/>
              </a:ext>
            </a:extLst>
          </p:cNvPr>
          <p:cNvSpPr txBox="1"/>
          <p:nvPr/>
        </p:nvSpPr>
        <p:spPr>
          <a:xfrm>
            <a:off x="6654800" y="3924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Drop low-variance directions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5D86596-616E-B54F-9BB1-E129BBA30665}"/>
              </a:ext>
            </a:extLst>
          </p:cNvPr>
          <p:cNvSpPr/>
          <p:nvPr/>
        </p:nvSpPr>
        <p:spPr>
          <a:xfrm>
            <a:off x="6477000" y="43561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207473-3FE7-4B49-98D3-39F3468588FA}"/>
              </a:ext>
            </a:extLst>
          </p:cNvPr>
          <p:cNvSpPr txBox="1"/>
          <p:nvPr/>
        </p:nvSpPr>
        <p:spPr>
          <a:xfrm>
            <a:off x="6654800" y="44577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Visualization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0A1B2-AB6A-5840-A9C1-204404354AF2}"/>
              </a:ext>
            </a:extLst>
          </p:cNvPr>
          <p:cNvSpPr txBox="1"/>
          <p:nvPr/>
        </p:nvSpPr>
        <p:spPr>
          <a:xfrm>
            <a:off x="6654800" y="47371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Plot on PC1–PC2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5346281-A9D7-BF41-A0DD-72432AA991B7}"/>
              </a:ext>
            </a:extLst>
          </p:cNvPr>
          <p:cNvSpPr/>
          <p:nvPr/>
        </p:nvSpPr>
        <p:spPr>
          <a:xfrm>
            <a:off x="6477000" y="51689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1402DB-756D-6947-AB8A-4C062DE48D1A}"/>
              </a:ext>
            </a:extLst>
          </p:cNvPr>
          <p:cNvSpPr txBox="1"/>
          <p:nvPr/>
        </p:nvSpPr>
        <p:spPr>
          <a:xfrm>
            <a:off x="6654800" y="52705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Decorrelation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FF006B-AA29-6A46-8221-B9CD398FB8A9}"/>
              </a:ext>
            </a:extLst>
          </p:cNvPr>
          <p:cNvSpPr txBox="1"/>
          <p:nvPr/>
        </p:nvSpPr>
        <p:spPr>
          <a:xfrm>
            <a:off x="6654800" y="55499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Inputs for downstream models</a:t>
            </a:r>
          </a:p>
        </p:txBody>
      </p:sp>
    </p:spTree>
    <p:extLst>
      <p:ext uri="{BB962C8B-B14F-4D97-AF65-F5344CB8AC3E}">
        <p14:creationId xmlns:p14="http://schemas.microsoft.com/office/powerpoint/2010/main" val="2452366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09C94-9370-3840-922C-0EEE98D9D34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964A9-69FE-654B-AA6B-9FE0CF4E7FFF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Eigenvectors &amp; Eigenvalues — The Intuition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8A2AA-0612-9947-AD63-79B7C883FF8A}"/>
              </a:ext>
            </a:extLst>
          </p:cNvPr>
          <p:cNvSpPr txBox="1"/>
          <p:nvPr/>
        </p:nvSpPr>
        <p:spPr>
          <a:xfrm>
            <a:off x="762000" y="13208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Applying a matrix usually rotates a vector. A few special vectors keep their direction — they only get scaled. Those are the eigenvectors.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159D55E-A6B7-D448-A9BB-B47BE34F5BB5}"/>
              </a:ext>
            </a:extLst>
          </p:cNvPr>
          <p:cNvSpPr/>
          <p:nvPr/>
        </p:nvSpPr>
        <p:spPr>
          <a:xfrm>
            <a:off x="762000" y="2133600"/>
            <a:ext cx="4826000" cy="10668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AB9CDC-9532-3B46-8CBC-9772E52027B6}"/>
                  </a:ext>
                </a:extLst>
              </p:cNvPr>
              <p:cNvSpPr txBox="1"/>
              <p:nvPr/>
            </p:nvSpPr>
            <p:spPr>
              <a:xfrm>
                <a:off x="914400" y="2311400"/>
                <a:ext cx="4521200" cy="711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>
                          <a:solidFill>
                            <a:srgbClr val="4B2E8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4000" b="0" i="0">
                          <a:solidFill>
                            <a:srgbClr val="4B2E8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4000" b="1" i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4000" b="0" i="0">
                          <a:solidFill>
                            <a:srgbClr val="4B2E8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4000" b="0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4000" b="0" i="0">
                          <a:solidFill>
                            <a:srgbClr val="4B2E8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4000" b="1" i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AB9CDC-9532-3B46-8CBC-9772E5202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311400"/>
                <a:ext cx="4521200" cy="711200"/>
              </a:xfrm>
              <a:prstGeom prst="rect">
                <a:avLst/>
              </a:prstGeom>
              <a:blipFill>
                <a:blip r:embed="rId2"/>
                <a:stretch>
                  <a:fillRect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8DBF158-F668-6D42-800C-09FC44E46466}"/>
              </a:ext>
            </a:extLst>
          </p:cNvPr>
          <p:cNvSpPr txBox="1"/>
          <p:nvPr/>
        </p:nvSpPr>
        <p:spPr>
          <a:xfrm>
            <a:off x="762000" y="3429000"/>
            <a:ext cx="4826000" cy="2540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•  v  — the eigenvector: its direction is preserved
•  </a:t>
            </a:r>
            <a:r>
              <a:rPr lang="el-GR" sz="1600">
                <a:solidFill>
                  <a:srgbClr val="333333"/>
                </a:solidFill>
              </a:rPr>
              <a:t>λ  — </a:t>
            </a:r>
            <a:r>
              <a:rPr lang="en-US" sz="1600">
                <a:solidFill>
                  <a:srgbClr val="333333"/>
                </a:solidFill>
              </a:rPr>
              <a:t>the eigenvalue: the factor v is stretched by
•  Most vectors change direction; eigenvectors do not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16F7A3-1462-7A46-A126-CBCA68CB8304}"/>
              </a:ext>
            </a:extLst>
          </p:cNvPr>
          <p:cNvSpPr/>
          <p:nvPr/>
        </p:nvSpPr>
        <p:spPr>
          <a:xfrm>
            <a:off x="5969000" y="5067300"/>
            <a:ext cx="4191000" cy="254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611FB-6F97-5943-B38E-30DFB315B103}"/>
              </a:ext>
            </a:extLst>
          </p:cNvPr>
          <p:cNvSpPr/>
          <p:nvPr/>
        </p:nvSpPr>
        <p:spPr>
          <a:xfrm>
            <a:off x="8115300" y="2159000"/>
            <a:ext cx="25400" cy="31750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0D0CBA3-503A-AC49-9547-90F67BB5BF12}"/>
              </a:ext>
            </a:extLst>
          </p:cNvPr>
          <p:cNvSpPr/>
          <p:nvPr/>
        </p:nvSpPr>
        <p:spPr>
          <a:xfrm rot="-2400000">
            <a:off x="7875444" y="4284510"/>
            <a:ext cx="2159000" cy="203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AF80B4F-5BB6-0A49-965A-EBF523D2B6FC}"/>
              </a:ext>
            </a:extLst>
          </p:cNvPr>
          <p:cNvSpPr/>
          <p:nvPr/>
        </p:nvSpPr>
        <p:spPr>
          <a:xfrm rot="-2400000">
            <a:off x="7994294" y="4623746"/>
            <a:ext cx="1143000" cy="177800"/>
          </a:xfrm>
          <a:prstGeom prst="rightArrow">
            <a:avLst/>
          </a:prstGeom>
          <a:solidFill>
            <a:srgbClr val="7A5B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EF97B3C-46FD-CC45-B341-B2B136B3ADB5}"/>
              </a:ext>
            </a:extLst>
          </p:cNvPr>
          <p:cNvSpPr/>
          <p:nvPr/>
        </p:nvSpPr>
        <p:spPr>
          <a:xfrm rot="-900000">
            <a:off x="8102035" y="4800229"/>
            <a:ext cx="1524000" cy="165100"/>
          </a:xfrm>
          <a:prstGeom prst="rightArrow">
            <a:avLst/>
          </a:prstGeom>
          <a:solidFill>
            <a:srgbClr val="9A9A9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F714F47-C8BD-3040-BA69-55D061C0A688}"/>
              </a:ext>
            </a:extLst>
          </p:cNvPr>
          <p:cNvSpPr/>
          <p:nvPr/>
        </p:nvSpPr>
        <p:spPr>
          <a:xfrm rot="-4200000">
            <a:off x="7626619" y="4281404"/>
            <a:ext cx="1524000" cy="165100"/>
          </a:xfrm>
          <a:prstGeom prst="rightArrow">
            <a:avLst/>
          </a:prstGeom>
          <a:solidFill>
            <a:srgbClr val="C8C8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8D0C5D-3BAD-1844-99F2-6007295E8136}"/>
                  </a:ext>
                </a:extLst>
              </p:cNvPr>
              <p:cNvSpPr txBox="1"/>
              <p:nvPr/>
            </p:nvSpPr>
            <p:spPr>
              <a:xfrm>
                <a:off x="9779000" y="31750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600" b="1" i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8D0C5D-3BAD-1844-99F2-6007295E8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0" y="3175000"/>
                <a:ext cx="1143000" cy="304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879A6F-60F6-2043-9C6E-ECE398EA8398}"/>
                  </a:ext>
                </a:extLst>
              </p:cNvPr>
              <p:cNvSpPr txBox="1"/>
              <p:nvPr/>
            </p:nvSpPr>
            <p:spPr>
              <a:xfrm>
                <a:off x="8890000" y="40894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7A5BB0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879A6F-60F6-2043-9C6E-ECE398EA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4089400"/>
                <a:ext cx="1143000" cy="304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25D35B-278B-F74F-99C3-4343970CE4BC}"/>
                  </a:ext>
                </a:extLst>
              </p:cNvPr>
              <p:cNvSpPr txBox="1"/>
              <p:nvPr/>
            </p:nvSpPr>
            <p:spPr>
              <a:xfrm>
                <a:off x="9626600" y="45212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9A9A9A"/>
                          </a:solidFill>
                          <a:latin typeface="Cambria Math"/>
                        </a:rPr>
                        <m:t>𝑤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25D35B-278B-F74F-99C3-4343970CE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6600" y="4521200"/>
                <a:ext cx="1143000" cy="304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1D7091-0789-A84D-8184-4C8AFBE8EEE8}"/>
                  </a:ext>
                </a:extLst>
              </p:cNvPr>
              <p:cNvSpPr txBox="1"/>
              <p:nvPr/>
            </p:nvSpPr>
            <p:spPr>
              <a:xfrm>
                <a:off x="8432800" y="34544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A0A0A0"/>
                          </a:solidFill>
                          <a:latin typeface="Cambria Math"/>
                        </a:rPr>
                        <m:t>𝐴𝑤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1D7091-0789-A84D-8184-4C8AFBE8E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800" y="3454400"/>
                <a:ext cx="1143000" cy="304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FF87C52-9B5A-524E-B3E2-99EB1B27E7BF}"/>
              </a:ext>
            </a:extLst>
          </p:cNvPr>
          <p:cNvSpPr txBox="1"/>
          <p:nvPr/>
        </p:nvSpPr>
        <p:spPr>
          <a:xfrm>
            <a:off x="7061200" y="5207000"/>
            <a:ext cx="3098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4B2E83"/>
                </a:solidFill>
              </a:rPr>
              <a:t>same line → eigenvector</a:t>
            </a:r>
          </a:p>
        </p:txBody>
      </p:sp>
    </p:spTree>
    <p:extLst>
      <p:ext uri="{BB962C8B-B14F-4D97-AF65-F5344CB8AC3E}">
        <p14:creationId xmlns:p14="http://schemas.microsoft.com/office/powerpoint/2010/main" val="69749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93DB08-C37B-2B4E-95E7-3A29E2FF719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4C6D1-3CD2-8743-9335-9E744E1CAF31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What the Eigenvalue Tells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BC209-3EC0-EB4B-B465-A1E09584B349}"/>
              </a:ext>
            </a:extLst>
          </p:cNvPr>
          <p:cNvSpPr txBox="1"/>
          <p:nvPr/>
        </p:nvSpPr>
        <p:spPr>
          <a:xfrm>
            <a:off x="762000" y="13208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is the signed scale factor along an eigenvector — it stretches, shrinks, flips, or leaves the vector unchanged. (Grey = original v, purple = Av.)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C7D790-FE9A-584A-8A98-A789D3371DFD}"/>
              </a:ext>
            </a:extLst>
          </p:cNvPr>
          <p:cNvSpPr/>
          <p:nvPr/>
        </p:nvSpPr>
        <p:spPr>
          <a:xfrm>
            <a:off x="7620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33E03F-E8B3-D540-A78A-EA498E384BF8}"/>
                  </a:ext>
                </a:extLst>
              </p:cNvPr>
              <p:cNvSpPr txBox="1"/>
              <p:nvPr/>
            </p:nvSpPr>
            <p:spPr>
              <a:xfrm>
                <a:off x="9144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1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 &gt; 1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2000" b="1">
                        <a:solidFill>
                          <a:srgbClr val="4B2E83"/>
                        </a:solidFill>
                      </a:rPr>
                      <a:t>λ &gt; 1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33E03F-E8B3-D540-A78A-EA498E384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311400"/>
                <a:ext cx="2247900" cy="381000"/>
              </a:xfrm>
              <a:prstGeom prst="rect">
                <a:avLst/>
              </a:prstGeom>
              <a:blipFill>
                <a:blip r:embed="rId2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54B8F7F-6EB4-194C-9D49-271E61D510E8}"/>
              </a:ext>
            </a:extLst>
          </p:cNvPr>
          <p:cNvSpPr txBox="1"/>
          <p:nvPr/>
        </p:nvSpPr>
        <p:spPr>
          <a:xfrm>
            <a:off x="9144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Stretch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B218B3-C612-0C43-896D-7377D07667D7}"/>
              </a:ext>
            </a:extLst>
          </p:cNvPr>
          <p:cNvSpPr/>
          <p:nvPr/>
        </p:nvSpPr>
        <p:spPr>
          <a:xfrm>
            <a:off x="16065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229CA3C-F99C-6644-9BA0-84204CE589EC}"/>
              </a:ext>
            </a:extLst>
          </p:cNvPr>
          <p:cNvSpPr/>
          <p:nvPr/>
        </p:nvSpPr>
        <p:spPr>
          <a:xfrm rot="-2280000">
            <a:off x="1592735" y="4536746"/>
            <a:ext cx="6096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582BFF3C-0C94-5D47-8418-C432A3824713}"/>
              </a:ext>
            </a:extLst>
          </p:cNvPr>
          <p:cNvSpPr/>
          <p:nvPr/>
        </p:nvSpPr>
        <p:spPr>
          <a:xfrm rot="-2280000">
            <a:off x="1517352" y="4317817"/>
            <a:ext cx="13208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417215-CBC9-234F-B63D-B1B340B597D7}"/>
              </a:ext>
            </a:extLst>
          </p:cNvPr>
          <p:cNvSpPr/>
          <p:nvPr/>
        </p:nvSpPr>
        <p:spPr>
          <a:xfrm>
            <a:off x="34671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9F3E4D-4339-3E47-B3AA-493C0DBAF99F}"/>
                  </a:ext>
                </a:extLst>
              </p:cNvPr>
              <p:cNvSpPr txBox="1"/>
              <p:nvPr/>
            </p:nvSpPr>
            <p:spPr>
              <a:xfrm>
                <a:off x="36195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0 &lt; </m:t>
                          </m:r>
                          <m:r>
                            <a:rPr lang="en-US" sz="20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1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 &lt; 1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2000" b="1">
                        <a:solidFill>
                          <a:srgbClr val="4B2E83"/>
                        </a:solidFill>
                      </a:rPr>
                      <a:t>0 &lt; λ &lt; 1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9F3E4D-4339-3E47-B3AA-493C0DBAF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0" y="2311400"/>
                <a:ext cx="2247900" cy="381000"/>
              </a:xfrm>
              <a:prstGeom prst="rect">
                <a:avLst/>
              </a:prstGeom>
              <a:blipFill>
                <a:blip r:embed="rId3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7CD0FC3-20F0-F544-A03D-9610F5071B63}"/>
              </a:ext>
            </a:extLst>
          </p:cNvPr>
          <p:cNvSpPr txBox="1"/>
          <p:nvPr/>
        </p:nvSpPr>
        <p:spPr>
          <a:xfrm>
            <a:off x="36195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Shrink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643C9A-9CE4-EF48-A88D-302D86C3A6AC}"/>
              </a:ext>
            </a:extLst>
          </p:cNvPr>
          <p:cNvSpPr/>
          <p:nvPr/>
        </p:nvSpPr>
        <p:spPr>
          <a:xfrm>
            <a:off x="43116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95AC1FFB-670B-AB44-9E54-FF92917ACE63}"/>
              </a:ext>
            </a:extLst>
          </p:cNvPr>
          <p:cNvSpPr/>
          <p:nvPr/>
        </p:nvSpPr>
        <p:spPr>
          <a:xfrm rot="-2280000">
            <a:off x="4222452" y="4317817"/>
            <a:ext cx="13208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3215EC0B-6A41-504C-B243-05FDC1474AF6}"/>
              </a:ext>
            </a:extLst>
          </p:cNvPr>
          <p:cNvSpPr/>
          <p:nvPr/>
        </p:nvSpPr>
        <p:spPr>
          <a:xfrm rot="-2280000">
            <a:off x="4292451" y="4521108"/>
            <a:ext cx="6604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2BF3304-7B23-C548-AB06-764BD1E76FFA}"/>
              </a:ext>
            </a:extLst>
          </p:cNvPr>
          <p:cNvSpPr/>
          <p:nvPr/>
        </p:nvSpPr>
        <p:spPr>
          <a:xfrm>
            <a:off x="61722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4C4077-4F0F-9E42-8E9B-786C8012F660}"/>
                  </a:ext>
                </a:extLst>
              </p:cNvPr>
              <p:cNvSpPr txBox="1"/>
              <p:nvPr/>
            </p:nvSpPr>
            <p:spPr>
              <a:xfrm>
                <a:off x="63246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1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 &lt;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2000" b="1">
                        <a:solidFill>
                          <a:srgbClr val="4B2E83"/>
                        </a:solidFill>
                      </a:rPr>
                      <a:t>λ &lt; 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4C4077-4F0F-9E42-8E9B-786C8012F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311400"/>
                <a:ext cx="2247900" cy="381000"/>
              </a:xfrm>
              <a:prstGeom prst="rect">
                <a:avLst/>
              </a:prstGeom>
              <a:blipFill>
                <a:blip r:embed="rId4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193FAC1-FE41-FB41-B599-84B9A1A480A8}"/>
              </a:ext>
            </a:extLst>
          </p:cNvPr>
          <p:cNvSpPr txBox="1"/>
          <p:nvPr/>
        </p:nvSpPr>
        <p:spPr>
          <a:xfrm>
            <a:off x="63246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Flip &amp; scale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8F611A-E4E8-3544-8855-8D8CE43644C1}"/>
              </a:ext>
            </a:extLst>
          </p:cNvPr>
          <p:cNvSpPr/>
          <p:nvPr/>
        </p:nvSpPr>
        <p:spPr>
          <a:xfrm>
            <a:off x="70167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20EFF390-885D-9144-8ACA-6D0B42606D2D}"/>
              </a:ext>
            </a:extLst>
          </p:cNvPr>
          <p:cNvSpPr/>
          <p:nvPr/>
        </p:nvSpPr>
        <p:spPr>
          <a:xfrm rot="-2280000">
            <a:off x="6954474" y="4396006"/>
            <a:ext cx="10668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4DE0626-74FF-4147-A873-95188BDDC303}"/>
              </a:ext>
            </a:extLst>
          </p:cNvPr>
          <p:cNvSpPr/>
          <p:nvPr/>
        </p:nvSpPr>
        <p:spPr>
          <a:xfrm rot="-13080000">
            <a:off x="6113825" y="5052793"/>
            <a:ext cx="10668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FA61725-7CC9-2249-9615-A03FEE7BE310}"/>
              </a:ext>
            </a:extLst>
          </p:cNvPr>
          <p:cNvSpPr/>
          <p:nvPr/>
        </p:nvSpPr>
        <p:spPr>
          <a:xfrm>
            <a:off x="88773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35EB11E-F00E-7643-BAF5-FD201BD79CB0}"/>
                  </a:ext>
                </a:extLst>
              </p:cNvPr>
              <p:cNvSpPr txBox="1"/>
              <p:nvPr/>
            </p:nvSpPr>
            <p:spPr>
              <a:xfrm>
                <a:off x="90297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1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 = 1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2000" b="1">
                        <a:solidFill>
                          <a:srgbClr val="4B2E83"/>
                        </a:solidFill>
                      </a:rPr>
                      <a:t>λ = 1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35EB11E-F00E-7643-BAF5-FD201BD79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700" y="2311400"/>
                <a:ext cx="2247900" cy="381000"/>
              </a:xfrm>
              <a:prstGeom prst="rect">
                <a:avLst/>
              </a:prstGeom>
              <a:blipFill>
                <a:blip r:embed="rId5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6D66C8F4-F16E-D349-BB72-F88B0F2604CB}"/>
              </a:ext>
            </a:extLst>
          </p:cNvPr>
          <p:cNvSpPr txBox="1"/>
          <p:nvPr/>
        </p:nvSpPr>
        <p:spPr>
          <a:xfrm>
            <a:off x="90297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Unchanged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F5B0CD-2C66-A14D-BD91-A91B3226E1CB}"/>
              </a:ext>
            </a:extLst>
          </p:cNvPr>
          <p:cNvSpPr/>
          <p:nvPr/>
        </p:nvSpPr>
        <p:spPr>
          <a:xfrm>
            <a:off x="97218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1F45A524-DBD6-2F43-8DAA-DF21933346A6}"/>
              </a:ext>
            </a:extLst>
          </p:cNvPr>
          <p:cNvSpPr/>
          <p:nvPr/>
        </p:nvSpPr>
        <p:spPr>
          <a:xfrm rot="-2280000">
            <a:off x="9659574" y="4396006"/>
            <a:ext cx="10668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A83D504F-70C1-B549-9FBD-596C0D98308E}"/>
              </a:ext>
            </a:extLst>
          </p:cNvPr>
          <p:cNvSpPr/>
          <p:nvPr/>
        </p:nvSpPr>
        <p:spPr>
          <a:xfrm rot="-2280000">
            <a:off x="9659574" y="4396006"/>
            <a:ext cx="10668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78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097516-E1BE-9948-869D-6302B5BE3AC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366FB-1211-4341-9A50-CAD37CEBB687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1: The Setup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81E43E-B028-2543-A4C3-5AF4FC0A9BB0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1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385BA-7F20-2441-876E-97A9992AACAF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Goal: find the vectors that A only scales — solve  A v =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v.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7888C7-B712-C140-994C-D2B0AF52DC1E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E181C9-0081-6644-A9DC-B2CCFCF718F9}"/>
                  </a:ext>
                </a:extLst>
              </p:cNvPr>
              <p:cNvSpPr txBox="1"/>
              <p:nvPr/>
            </p:nvSpPr>
            <p:spPr>
              <a:xfrm>
                <a:off x="1397000" y="2692400"/>
                <a:ext cx="88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E181C9-0081-6644-A9DC-B2CCFCF71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692400"/>
                <a:ext cx="889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AFB5CC-5962-5D48-B577-246DAD2E8E78}"/>
                  </a:ext>
                </a:extLst>
              </p:cNvPr>
              <p:cNvSpPr txBox="1"/>
              <p:nvPr/>
            </p:nvSpPr>
            <p:spPr>
              <a:xfrm>
                <a:off x="2336800" y="2489200"/>
                <a:ext cx="2159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[2 1; 1 2]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AFB5CC-5962-5D48-B577-246DAD2E8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800" y="2489200"/>
                <a:ext cx="2159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8F2766-854B-8045-B8A3-F2876E0A3911}"/>
                  </a:ext>
                </a:extLst>
              </p:cNvPr>
              <p:cNvSpPr txBox="1"/>
              <p:nvPr/>
            </p:nvSpPr>
            <p:spPr>
              <a:xfrm>
                <a:off x="5461000" y="2540000"/>
                <a:ext cx="482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 </m:t>
                          </m:r>
                          <m:r>
                            <a:rPr lang="en-US" sz="24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v = λ v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8F2766-854B-8045-B8A3-F2876E0A3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540000"/>
                <a:ext cx="4826000" cy="508000"/>
              </a:xfrm>
              <a:prstGeom prst="rect">
                <a:avLst/>
              </a:prstGeom>
              <a:blipFill>
                <a:blip r:embed="rId4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EA5E81-17A8-4C4B-8DE5-FF58A91AE562}"/>
                  </a:ext>
                </a:extLst>
              </p:cNvPr>
              <p:cNvSpPr txBox="1"/>
              <p:nvPr/>
            </p:nvSpPr>
            <p:spPr>
              <a:xfrm>
                <a:off x="5461000" y="3149600"/>
                <a:ext cx="5080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latin typeface="Cambria Math"/>
                            </a:rPr>
                            <m:t>(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latin typeface="Cambria Math"/>
                            </a:rPr>
                            <m:t>)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(A - λI) v = 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EA5E81-17A8-4C4B-8DE5-FF58A91AE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149600"/>
                <a:ext cx="5080000" cy="508000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AFFD2A5-1291-BA4C-A014-F086EA80A659}"/>
              </a:ext>
            </a:extLst>
          </p:cNvPr>
          <p:cNvSpPr txBox="1"/>
          <p:nvPr/>
        </p:nvSpPr>
        <p:spPr>
          <a:xfrm>
            <a:off x="1397000" y="5207000"/>
            <a:ext cx="939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A nonzero v can exist only when  det( A − </a:t>
            </a:r>
            <a:r>
              <a:rPr lang="el-GR" i="1">
                <a:solidFill>
                  <a:srgbClr val="00A7B5"/>
                </a:solidFill>
              </a:rPr>
              <a:t>λ</a:t>
            </a:r>
            <a:r>
              <a:rPr lang="en-US" i="1">
                <a:solidFill>
                  <a:srgbClr val="00A7B5"/>
                </a:solidFill>
              </a:rPr>
              <a:t>I ) = 0  —  the characteristic equation.</a:t>
            </a:r>
          </a:p>
        </p:txBody>
      </p:sp>
    </p:spTree>
    <p:extLst>
      <p:ext uri="{BB962C8B-B14F-4D97-AF65-F5344CB8AC3E}">
        <p14:creationId xmlns:p14="http://schemas.microsoft.com/office/powerpoint/2010/main" val="1651321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4B12B-2DE2-0F46-B47F-FA529571A82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827BA-418D-EA4D-AD83-DF7ACE7597B8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2: Form A − </a:t>
            </a:r>
            <a:r>
              <a:rPr lang="el-GR" sz="2600" b="1">
                <a:solidFill>
                  <a:srgbClr val="4B2E83"/>
                </a:solidFill>
              </a:rPr>
              <a:t>λ</a:t>
            </a:r>
            <a:r>
              <a:rPr lang="en-US" sz="2600" b="1">
                <a:solidFill>
                  <a:srgbClr val="4B2E83"/>
                </a:solidFill>
              </a:rPr>
              <a:t>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C23A3F9-3B0D-0345-B926-A4263A19A442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2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22C4C-2C7F-5342-BCA5-B51B477529B8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Subtract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from the diagonal. A nonzero v exists only if this matrix is singular.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E29BF1-4E92-E049-B2E4-478C288BD766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AB6B7E-3DB0-E640-84F7-CD42BB525F72}"/>
                  </a:ext>
                </a:extLst>
              </p:cNvPr>
              <p:cNvSpPr txBox="1"/>
              <p:nvPr/>
            </p:nvSpPr>
            <p:spPr>
              <a:xfrm>
                <a:off x="1397000" y="2997200"/>
                <a:ext cx="215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AB6B7E-3DB0-E640-84F7-CD42BB525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97200"/>
                <a:ext cx="2159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7E969B-0ADD-1540-A250-34785E53E04E}"/>
                  </a:ext>
                </a:extLst>
              </p:cNvPr>
              <p:cNvSpPr txBox="1"/>
              <p:nvPr/>
            </p:nvSpPr>
            <p:spPr>
              <a:xfrm>
                <a:off x="3810000" y="2540000"/>
                <a:ext cx="2032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7E969B-0ADD-1540-A250-34785E53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540000"/>
                <a:ext cx="2032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C7CC76-5974-CC4A-AD6F-C10C23F4EDFA}"/>
                  </a:ext>
                </a:extLst>
              </p:cNvPr>
              <p:cNvSpPr txBox="1"/>
              <p:nvPr/>
            </p:nvSpPr>
            <p:spPr>
              <a:xfrm>
                <a:off x="5969000" y="2997200"/>
                <a:ext cx="762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>
                          <a:latin typeface="Cambria Math"/>
                        </a:rPr>
                        <m:t>− 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C7CC76-5974-CC4A-AD6F-C10C23F4E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2997200"/>
                <a:ext cx="762000" cy="508000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CCF621-B778-7242-8BF6-DF9A15B623EB}"/>
                  </a:ext>
                </a:extLst>
              </p:cNvPr>
              <p:cNvSpPr txBox="1"/>
              <p:nvPr/>
            </p:nvSpPr>
            <p:spPr>
              <a:xfrm>
                <a:off x="6858000" y="2540000"/>
                <a:ext cx="2032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CCF621-B778-7242-8BF6-DF9A15B62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540000"/>
                <a:ext cx="2032000" cy="101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175237-AE6F-6649-B8D9-62196B19D645}"/>
                  </a:ext>
                </a:extLst>
              </p:cNvPr>
              <p:cNvSpPr txBox="1"/>
              <p:nvPr/>
            </p:nvSpPr>
            <p:spPr>
              <a:xfrm>
                <a:off x="8890000" y="2997200"/>
                <a:ext cx="381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175237-AE6F-6649-B8D9-62196B19D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2997200"/>
                <a:ext cx="381000" cy="508000"/>
              </a:xfrm>
              <a:prstGeom prst="rect">
                <a:avLst/>
              </a:prstGeom>
              <a:blipFill>
                <a:blip r:embed="rId6"/>
                <a:stretch>
                  <a:fillRect l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333DB7-F129-604F-BC09-D2474435B7C2}"/>
                  </a:ext>
                </a:extLst>
              </p:cNvPr>
              <p:cNvSpPr txBox="1"/>
              <p:nvPr/>
            </p:nvSpPr>
            <p:spPr>
              <a:xfrm>
                <a:off x="9271000" y="2540000"/>
                <a:ext cx="2159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2−</m:t>
                                </m:r>
                                <m:r>
                                  <a:rPr lang="en-US" sz="24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2−</m:t>
                                </m:r>
                                <m:r>
                                  <a:rPr lang="en-US" sz="24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333DB7-F129-604F-BC09-D2474435B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0" y="2540000"/>
                <a:ext cx="2159000" cy="101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CE8617D-6CB0-A34D-92FE-DDCACC715A1D}"/>
              </a:ext>
            </a:extLst>
          </p:cNvPr>
          <p:cNvSpPr txBox="1"/>
          <p:nvPr/>
        </p:nvSpPr>
        <p:spPr>
          <a:xfrm>
            <a:off x="1397000" y="5207000"/>
            <a:ext cx="939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Set  det( A − </a:t>
            </a:r>
            <a:r>
              <a:rPr lang="el-GR" i="1">
                <a:solidFill>
                  <a:srgbClr val="00A7B5"/>
                </a:solidFill>
              </a:rPr>
              <a:t>λ</a:t>
            </a:r>
            <a:r>
              <a:rPr lang="en-US" i="1">
                <a:solidFill>
                  <a:srgbClr val="00A7B5"/>
                </a:solidFill>
              </a:rPr>
              <a:t>I ) = 0  to find the </a:t>
            </a:r>
            <a:r>
              <a:rPr lang="el-GR" i="1">
                <a:solidFill>
                  <a:srgbClr val="00A7B5"/>
                </a:solidFill>
              </a:rPr>
              <a:t>λ </a:t>
            </a:r>
            <a:r>
              <a:rPr lang="en-US" i="1">
                <a:solidFill>
                  <a:srgbClr val="00A7B5"/>
                </a:solidFill>
              </a:rPr>
              <a:t>that make it singular.</a:t>
            </a:r>
          </a:p>
        </p:txBody>
      </p:sp>
    </p:spTree>
    <p:extLst>
      <p:ext uri="{BB962C8B-B14F-4D97-AF65-F5344CB8AC3E}">
        <p14:creationId xmlns:p14="http://schemas.microsoft.com/office/powerpoint/2010/main" val="240702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51B291-2EDF-D543-ABBC-65A035CEEB1C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8A16A-8C02-A74B-A00D-C1C826B950C4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3: Solve det = 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74DEE1-D26F-8842-939D-462974119C97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3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65066-8028-8347-974F-3172131A9024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Expand the 2×2 determinant into a quadratic in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and factor it.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8C08B0A-4304-1040-9540-C0824A95AC74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F63481-348D-6140-BA5F-1FB842C91A22}"/>
                  </a:ext>
                </a:extLst>
              </p:cNvPr>
              <p:cNvSpPr txBox="1"/>
              <p:nvPr/>
            </p:nvSpPr>
            <p:spPr>
              <a:xfrm>
                <a:off x="1397000" y="2362200"/>
                <a:ext cx="9398000" cy="2159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>
                          <a:latin typeface="Cambria Math"/>
                        </a:rPr>
                        <m:t>𝑑𝑒𝑡</m:t>
                      </m:r>
                      <m:r>
                        <a:rPr lang="en-US" sz="2200" b="0" i="0">
                          <a:latin typeface="Cambria Math"/>
                        </a:rPr>
                        <m:t>(</m:t>
                      </m:r>
                      <m:r>
                        <a:rPr lang="en-US" sz="2200" b="1" i="1">
                          <a:latin typeface="Cambria Math"/>
                        </a:rPr>
                        <m:t>𝐴</m:t>
                      </m:r>
                      <m:r>
                        <a:rPr lang="en-US" sz="2200" b="0" i="0">
                          <a:latin typeface="Cambria Math"/>
                        </a:rPr>
                        <m:t> − 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1" i="1">
                          <a:latin typeface="Cambria Math"/>
                        </a:rPr>
                        <m:t>𝐼</m:t>
                      </m:r>
                      <m:r>
                        <a:rPr lang="en-US" sz="2200" b="0" i="0">
                          <a:latin typeface="Cambria Math"/>
                        </a:rPr>
                        <m:t>)  =  (2 − 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)(2 − 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) − (1)(1)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0">
                          <a:latin typeface="Cambria Math"/>
                        </a:rPr>
                        <m:t>=  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0">
                              <a:latin typeface="Cambria Math"/>
                            </a:rPr>
                            <m:t>(2 − </m:t>
                          </m:r>
                          <m:r>
                            <a:rPr lang="en-US" sz="22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200" b="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1400" b="0" i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200" b="0" i="0">
                          <a:latin typeface="Cambria Math"/>
                        </a:rPr>
                        <m:t>  − 1  =  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400" b="0" i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200" b="0" i="0">
                          <a:latin typeface="Cambria Math"/>
                        </a:rPr>
                        <m:t>  − 4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 + 3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0">
                          <a:latin typeface="Cambria Math"/>
                        </a:rPr>
                        <m:t>=  (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 − 1)(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 − 3)  = 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F63481-348D-6140-BA5F-1FB842C91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362200"/>
                <a:ext cx="9398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799808-C41D-4240-8EF7-C6FDDB7CFBB7}"/>
                  </a:ext>
                </a:extLst>
              </p:cNvPr>
              <p:cNvSpPr txBox="1"/>
              <p:nvPr/>
            </p:nvSpPr>
            <p:spPr>
              <a:xfrm>
                <a:off x="1397000" y="5080000"/>
                <a:ext cx="9398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b="0" i="0">
                          <a:latin typeface="Cambria Math"/>
                        </a:rPr>
                        <m:t>  =  3           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b="0" i="0">
                          <a:latin typeface="Cambria Math"/>
                        </a:rPr>
                        <m:t>  =  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799808-C41D-4240-8EF7-C6FDDB7CF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5080000"/>
                <a:ext cx="9398000" cy="609600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326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FFF291-960D-1644-9623-4C9D0DFC632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32980-2F8E-7F4F-BD7F-7E4F19D9B659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4: Eigenvector for </a:t>
            </a:r>
            <a:r>
              <a:rPr lang="el-GR" sz="2600" b="1">
                <a:solidFill>
                  <a:srgbClr val="4B2E83"/>
                </a:solidFill>
              </a:rPr>
              <a:t>λ = 3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C732A4-3AA6-0043-AC60-0663E71D943A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4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F1BF3-F14F-F44B-8690-15AE0085BFF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Plug </a:t>
            </a:r>
            <a:r>
              <a:rPr lang="el-GR" sz="1600">
                <a:solidFill>
                  <a:srgbClr val="333333"/>
                </a:solidFill>
              </a:rPr>
              <a:t>λ = 3 </a:t>
            </a:r>
            <a:r>
              <a:rPr lang="en-US" sz="1600">
                <a:solidFill>
                  <a:srgbClr val="333333"/>
                </a:solidFill>
              </a:rPr>
              <a:t>into (A − </a:t>
            </a:r>
            <a:r>
              <a:rPr lang="el-GR" sz="1600">
                <a:solidFill>
                  <a:srgbClr val="333333"/>
                </a:solidFill>
              </a:rPr>
              <a:t>λ</a:t>
            </a:r>
            <a:r>
              <a:rPr lang="en-US" sz="1600">
                <a:solidFill>
                  <a:srgbClr val="333333"/>
                </a:solidFill>
              </a:rPr>
              <a:t>I)v = 0 and solve the resulting system.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83C88B-D85E-2A41-908A-E504E2D522DA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860711-800F-CD41-8C61-83EE6CEAAD69}"/>
                  </a:ext>
                </a:extLst>
              </p:cNvPr>
              <p:cNvSpPr txBox="1"/>
              <p:nvPr/>
            </p:nvSpPr>
            <p:spPr>
              <a:xfrm>
                <a:off x="1397000" y="2692400"/>
                <a:ext cx="215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− 3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- 3I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860711-800F-CD41-8C61-83EE6CEAA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692400"/>
                <a:ext cx="2159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5C7B96-8392-A249-925B-4816C1A1CEB4}"/>
                  </a:ext>
                </a:extLst>
              </p:cNvPr>
              <p:cNvSpPr txBox="1"/>
              <p:nvPr/>
            </p:nvSpPr>
            <p:spPr>
              <a:xfrm>
                <a:off x="3810000" y="2489200"/>
                <a:ext cx="2159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[-1 1; 1 -1]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5C7B96-8392-A249-925B-4816C1A1C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489200"/>
                <a:ext cx="2159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9A0CE-51DD-5744-B60B-944A0ECCEB6E}"/>
                  </a:ext>
                </a:extLst>
              </p:cNvPr>
              <p:cNvSpPr txBox="1"/>
              <p:nvPr/>
            </p:nvSpPr>
            <p:spPr>
              <a:xfrm>
                <a:off x="6350000" y="2692400"/>
                <a:ext cx="482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000" b="0" i="0">
                              <a:latin typeface="Cambria Math"/>
                            </a:rPr>
                            <m:t> − 3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𝐼</m:t>
                          </m:r>
                          <m:r>
                            <a:rPr lang="en-US" sz="2000" b="0" i="0">
                              <a:latin typeface="Cambria Math"/>
                            </a:rPr>
                            <m:t>)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000" b="0" i="0">
                              <a:latin typeface="Cambria Math"/>
                            </a:rPr>
                            <m:t> = 0   ⇒   −</m:t>
                          </m:r>
                          <m:r>
                            <a:rPr lang="en-US" sz="2000" b="0" i="1"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0">
                              <a:latin typeface="Cambria Math"/>
                            </a:rPr>
                            <m:t> + </m:t>
                          </m:r>
                          <m:r>
                            <a:rPr lang="en-US" sz="2000" b="0" i="1"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latin typeface="Cambria Math"/>
                            </a:rPr>
                            <m:t> = </m:t>
                          </m:r>
                          <m:r>
                            <a:rPr lang="en-US" sz="2000" b="0" i="1"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(A-3I)v=0  =&gt;  y=x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9A0CE-51DD-5744-B60B-944A0ECCE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692400"/>
                <a:ext cx="4826000" cy="508000"/>
              </a:xfrm>
              <a:prstGeom prst="rect">
                <a:avLst/>
              </a:prstGeom>
              <a:blipFill>
                <a:blip r:embed="rId4"/>
                <a:stretch>
                  <a:fillRect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E95411-A2A3-9143-9100-B2DE9E9C65F2}"/>
                  </a:ext>
                </a:extLst>
              </p:cNvPr>
              <p:cNvSpPr txBox="1"/>
              <p:nvPr/>
            </p:nvSpPr>
            <p:spPr>
              <a:xfrm>
                <a:off x="3810000" y="4572000"/>
                <a:ext cx="1143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v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E95411-A2A3-9143-9100-B2DE9E9C6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4572000"/>
                <a:ext cx="1143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82E79A-B9AF-714D-8EAE-57340900C851}"/>
                  </a:ext>
                </a:extLst>
              </p:cNvPr>
              <p:cNvSpPr txBox="1"/>
              <p:nvPr/>
            </p:nvSpPr>
            <p:spPr>
              <a:xfrm>
                <a:off x="4978400" y="4368800"/>
                <a:ext cx="1143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[1; 1]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82E79A-B9AF-714D-8EAE-57340900C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0" y="4368800"/>
                <a:ext cx="1143000" cy="101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F0F37F-8684-DA4F-8189-51573888F564}"/>
                  </a:ext>
                </a:extLst>
              </p:cNvPr>
              <p:cNvSpPr txBox="1"/>
              <p:nvPr/>
            </p:nvSpPr>
            <p:spPr>
              <a:xfrm>
                <a:off x="6350000" y="4724400"/>
                <a:ext cx="381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0">
                              <a:latin typeface="Cambria Math"/>
                            </a:rPr>
                            <m:t>(</m:t>
                          </m:r>
                          <m:r>
                            <a:rPr lang="en-US" sz="16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1600" b="0" i="0">
                              <a:latin typeface="Cambria Math"/>
                            </a:rPr>
                            <m:t> = 3)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(λ = 3)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F0F37F-8684-DA4F-8189-51573888F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4724400"/>
                <a:ext cx="381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05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64A371-F9B1-824D-99ED-51378021059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F6C35-9CD1-0C40-9E7A-69673D4DA6BF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5: Eigenvector for </a:t>
            </a:r>
            <a:r>
              <a:rPr lang="el-GR" sz="2600" b="1">
                <a:solidFill>
                  <a:srgbClr val="4B2E83"/>
                </a:solidFill>
              </a:rPr>
              <a:t>λ = 1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297D12B-4339-7F41-A260-46B9BB1F7927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5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9939C-5F4C-694B-B771-6AF68AAD7FE1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Repeat with </a:t>
            </a:r>
            <a:r>
              <a:rPr lang="el-GR" sz="1600">
                <a:solidFill>
                  <a:srgbClr val="333333"/>
                </a:solidFill>
              </a:rPr>
              <a:t>λ = 1, </a:t>
            </a:r>
            <a:r>
              <a:rPr lang="en-US" sz="1600">
                <a:solidFill>
                  <a:srgbClr val="333333"/>
                </a:solidFill>
              </a:rPr>
              <a:t>then collect both eigenpairs.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17AD2D-EE5F-754B-A942-A7823D6284E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A10E15-1136-3943-93E3-9F8CC9D87EA6}"/>
                  </a:ext>
                </a:extLst>
              </p:cNvPr>
              <p:cNvSpPr txBox="1"/>
              <p:nvPr/>
            </p:nvSpPr>
            <p:spPr>
              <a:xfrm>
                <a:off x="1397000" y="2540000"/>
                <a:ext cx="1905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A10E15-1136-3943-93E3-9F8CC9D87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540000"/>
                <a:ext cx="1905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6F1D5B-1AF8-434B-83C6-41891C415EA4}"/>
                  </a:ext>
                </a:extLst>
              </p:cNvPr>
              <p:cNvSpPr txBox="1"/>
              <p:nvPr/>
            </p:nvSpPr>
            <p:spPr>
              <a:xfrm>
                <a:off x="3429000" y="2336800"/>
                <a:ext cx="1905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6F1D5B-1AF8-434B-83C6-41891C415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336800"/>
                <a:ext cx="1905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BEFA5D-5D2A-F548-93BD-26B7737641FB}"/>
                  </a:ext>
                </a:extLst>
              </p:cNvPr>
              <p:cNvSpPr txBox="1"/>
              <p:nvPr/>
            </p:nvSpPr>
            <p:spPr>
              <a:xfrm>
                <a:off x="5715000" y="2540000"/>
                <a:ext cx="5080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>
                          <a:latin typeface="Cambria Math"/>
                        </a:rPr>
                        <m:t>(</m:t>
                      </m:r>
                      <m:r>
                        <a:rPr lang="en-US" sz="2000" b="1" i="1">
                          <a:latin typeface="Cambria Math"/>
                        </a:rPr>
                        <m:t>𝐴</m:t>
                      </m:r>
                      <m:r>
                        <a:rPr lang="en-US" sz="2000" b="0" i="0">
                          <a:latin typeface="Cambria Math"/>
                        </a:rPr>
                        <m:t> − </m:t>
                      </m:r>
                      <m:r>
                        <a:rPr lang="en-US" sz="2000" b="1" i="1">
                          <a:latin typeface="Cambria Math"/>
                        </a:rPr>
                        <m:t>𝐼</m:t>
                      </m:r>
                      <m:r>
                        <a:rPr lang="en-US" sz="2000" b="0" i="0">
                          <a:latin typeface="Cambria Math"/>
                        </a:rPr>
                        <m:t>) </m:t>
                      </m:r>
                      <m:r>
                        <a:rPr lang="en-US" sz="2000" b="1" i="1">
                          <a:latin typeface="Cambria Math"/>
                        </a:rPr>
                        <m:t>𝑣</m:t>
                      </m:r>
                      <m:r>
                        <a:rPr lang="en-US" sz="2000" b="0" i="0"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latin typeface="Cambria Math"/>
                        </a:rPr>
                        <m:t> = −</m:t>
                      </m:r>
                      <m:r>
                        <a:rPr lang="en-US" sz="20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BEFA5D-5D2A-F548-93BD-26B773764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540000"/>
                <a:ext cx="5080000" cy="508000"/>
              </a:xfrm>
              <a:prstGeom prst="rect">
                <a:avLst/>
              </a:prstGeom>
              <a:blipFill>
                <a:blip r:embed="rId4"/>
                <a:stretch>
                  <a:fillRect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2450E9E-3F0F-2E43-8BAA-C53B8C7E7A53}"/>
                  </a:ext>
                </a:extLst>
              </p:cNvPr>
              <p:cNvSpPr txBox="1"/>
              <p:nvPr/>
            </p:nvSpPr>
            <p:spPr>
              <a:xfrm>
                <a:off x="3429000" y="3810000"/>
                <a:ext cx="1143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2450E9E-3F0F-2E43-8BAA-C53B8C7E7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810000"/>
                <a:ext cx="1143000" cy="60960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6668EB-5DB6-134F-9714-A2B65603DFF6}"/>
                  </a:ext>
                </a:extLst>
              </p:cNvPr>
              <p:cNvSpPr txBox="1"/>
              <p:nvPr/>
            </p:nvSpPr>
            <p:spPr>
              <a:xfrm>
                <a:off x="4597400" y="3606800"/>
                <a:ext cx="1143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6668EB-5DB6-134F-9714-A2B65603D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400" y="3606800"/>
                <a:ext cx="1143000" cy="101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2616C6-A5C8-364B-BAF4-3C6ECE3B2ADB}"/>
              </a:ext>
            </a:extLst>
          </p:cNvPr>
          <p:cNvSpPr/>
          <p:nvPr/>
        </p:nvSpPr>
        <p:spPr>
          <a:xfrm>
            <a:off x="1397000" y="5054600"/>
            <a:ext cx="9398000" cy="812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BA012F0-4EAD-C24B-9765-2D56A74D80F5}"/>
                  </a:ext>
                </a:extLst>
              </p:cNvPr>
              <p:cNvSpPr txBox="1"/>
              <p:nvPr/>
            </p:nvSpPr>
            <p:spPr>
              <a:xfrm>
                <a:off x="1651000" y="5232400"/>
                <a:ext cx="8890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𝐸𝑖𝑔𝑒𝑛𝑝𝑎𝑖𝑟𝑠</m:t>
                      </m:r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:   </m:t>
                      </m:r>
                      <m:r>
                        <a:rPr lang="en-US" sz="1800" b="0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 = 3  →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          </m:t>
                      </m:r>
                      <m:r>
                        <a:rPr lang="en-US" sz="1800" b="0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 = 1  →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BA012F0-4EAD-C24B-9765-2D56A74D8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0" y="5232400"/>
                <a:ext cx="8890000" cy="508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039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B90D8B-D078-8945-8462-1F389455557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F2F1E-8F4C-9D4C-AC94-C785F6697BD4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1: The Setup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7220DF-49AA-A647-99F3-3EBE28D1D9F0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1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4E58D-B83D-C944-A3C7-2493D9629D6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Same recipe in 3-D: solve A v =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v through det(A − </a:t>
            </a:r>
            <a:r>
              <a:rPr lang="el-GR" sz="1600">
                <a:solidFill>
                  <a:srgbClr val="333333"/>
                </a:solidFill>
              </a:rPr>
              <a:t>λ</a:t>
            </a:r>
            <a:r>
              <a:rPr lang="en-US" sz="1600">
                <a:solidFill>
                  <a:srgbClr val="333333"/>
                </a:solidFill>
              </a:rPr>
              <a:t>I) = 0.  (A is a companion matrix.)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D7177B-6D2C-3649-98B7-0C6D8F7EBD66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1555A-BF30-9947-846A-E70676A5FF81}"/>
                  </a:ext>
                </a:extLst>
              </p:cNvPr>
              <p:cNvSpPr txBox="1"/>
              <p:nvPr/>
            </p:nvSpPr>
            <p:spPr>
              <a:xfrm>
                <a:off x="1524000" y="2895600"/>
                <a:ext cx="88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1555A-BF30-9947-846A-E70676A5F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895600"/>
                <a:ext cx="889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3BC4C1-48C7-E847-9C7E-3DA68D0856FB}"/>
                  </a:ext>
                </a:extLst>
              </p:cNvPr>
              <p:cNvSpPr txBox="1"/>
              <p:nvPr/>
            </p:nvSpPr>
            <p:spPr>
              <a:xfrm>
                <a:off x="2489200" y="2489200"/>
                <a:ext cx="279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−11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matrix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3BC4C1-48C7-E847-9C7E-3DA68D085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200" y="2489200"/>
                <a:ext cx="279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9F702A-8D7C-494B-A719-2C23277E8B5C}"/>
                  </a:ext>
                </a:extLst>
              </p:cNvPr>
              <p:cNvSpPr txBox="1"/>
              <p:nvPr/>
            </p:nvSpPr>
            <p:spPr>
              <a:xfrm>
                <a:off x="5969000" y="2692400"/>
                <a:ext cx="482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 </m:t>
                          </m:r>
                          <m:r>
                            <a:rPr lang="en-US" sz="24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Av = λv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9F702A-8D7C-494B-A719-2C23277E8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2692400"/>
                <a:ext cx="4826000" cy="508000"/>
              </a:xfrm>
              <a:prstGeom prst="rect">
                <a:avLst/>
              </a:prstGeom>
              <a:blipFill>
                <a:blip r:embed="rId4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B84EAC-7DF1-AB4C-802F-4477CBBB6D7A}"/>
                  </a:ext>
                </a:extLst>
              </p:cNvPr>
              <p:cNvSpPr txBox="1"/>
              <p:nvPr/>
            </p:nvSpPr>
            <p:spPr>
              <a:xfrm>
                <a:off x="5969000" y="3302000"/>
                <a:ext cx="5080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latin typeface="Cambria Math"/>
                            </a:rPr>
                            <m:t>(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latin typeface="Cambria Math"/>
                            </a:rPr>
                            <m:t>)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(A-λI)v=0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B84EAC-7DF1-AB4C-802F-4477CBBB6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3302000"/>
                <a:ext cx="5080000" cy="508000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B219E5C-9F9C-9941-AEAB-5497D741C22C}"/>
              </a:ext>
            </a:extLst>
          </p:cNvPr>
          <p:cNvSpPr txBox="1"/>
          <p:nvPr/>
        </p:nvSpPr>
        <p:spPr>
          <a:xfrm>
            <a:off x="1524000" y="5181600"/>
            <a:ext cx="939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det( A − </a:t>
            </a:r>
            <a:r>
              <a:rPr lang="el-GR" i="1">
                <a:solidFill>
                  <a:srgbClr val="00A7B5"/>
                </a:solidFill>
              </a:rPr>
              <a:t>λ</a:t>
            </a:r>
            <a:r>
              <a:rPr lang="en-US" i="1">
                <a:solidFill>
                  <a:srgbClr val="00A7B5"/>
                </a:solidFill>
              </a:rPr>
              <a:t>I ) = 0  now expands into a cubic — it will have three eigenvalues.</a:t>
            </a:r>
          </a:p>
        </p:txBody>
      </p:sp>
    </p:spTree>
    <p:extLst>
      <p:ext uri="{BB962C8B-B14F-4D97-AF65-F5344CB8AC3E}">
        <p14:creationId xmlns:p14="http://schemas.microsoft.com/office/powerpoint/2010/main" val="4169736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F992DF-E0F2-B342-81C7-46509AB39E3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611DA-2568-0D4B-B722-3C2C25FD4AD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2: Form A − </a:t>
            </a:r>
            <a:r>
              <a:rPr lang="el-GR" sz="2600" b="1">
                <a:solidFill>
                  <a:srgbClr val="4B2E83"/>
                </a:solidFill>
              </a:rPr>
              <a:t>λ</a:t>
            </a:r>
            <a:r>
              <a:rPr lang="en-US" sz="2600" b="1">
                <a:solidFill>
                  <a:srgbClr val="4B2E83"/>
                </a:solidFill>
              </a:rPr>
              <a:t>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DB7676-E278-A242-A492-8F66778CDB8B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2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48ABD-060A-0A4F-85D7-8EB3B330A07E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Subtract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from each diagonal entry.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AEE10EF-89A7-7B4A-9D9A-6D9881DC55FA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10FD35-F4F5-5C4A-BB7C-794CD918F5E8}"/>
                  </a:ext>
                </a:extLst>
              </p:cNvPr>
              <p:cNvSpPr txBox="1"/>
              <p:nvPr/>
            </p:nvSpPr>
            <p:spPr>
              <a:xfrm>
                <a:off x="2159000" y="3149600"/>
                <a:ext cx="228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10FD35-F4F5-5C4A-BB7C-794CD918F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0" y="3149600"/>
                <a:ext cx="2286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795D81-F234-0347-84D9-A7D726E716E0}"/>
                  </a:ext>
                </a:extLst>
              </p:cNvPr>
              <p:cNvSpPr txBox="1"/>
              <p:nvPr/>
            </p:nvSpPr>
            <p:spPr>
              <a:xfrm>
                <a:off x="4826000" y="2692400"/>
                <a:ext cx="406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2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2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6−</m:t>
                                </m:r>
                                <m:r>
                                  <a:rPr lang="en-US" sz="22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795D81-F234-0347-84D9-A7D726E71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0" y="2692400"/>
                <a:ext cx="406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9640D4F-598A-0D4D-BA8F-D770DE0FCDC9}"/>
              </a:ext>
            </a:extLst>
          </p:cNvPr>
          <p:cNvSpPr txBox="1"/>
          <p:nvPr/>
        </p:nvSpPr>
        <p:spPr>
          <a:xfrm>
            <a:off x="2159000" y="5207000"/>
            <a:ext cx="863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Next: expand this determinant by cofactors down the first column.</a:t>
            </a:r>
          </a:p>
        </p:txBody>
      </p:sp>
    </p:spTree>
    <p:extLst>
      <p:ext uri="{BB962C8B-B14F-4D97-AF65-F5344CB8AC3E}">
        <p14:creationId xmlns:p14="http://schemas.microsoft.com/office/powerpoint/2010/main" val="96149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FBF870-AC7E-8A44-B740-527AD6B6905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C5D3F-EEC9-0A4F-9418-7DF5D15C89D0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3: Expand the Determinant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CC8F4A-B572-6B4F-9AA3-8500E355087E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3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98835-148C-A649-AD4C-429C09B7A594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Cofactor expansion down column 1; the middle entry is 0, so it drops out.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EF6A9EE-2EFC-1A4E-A9FF-19974C45256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36F6B3-C6FE-4745-91E3-488F26F850D6}"/>
                  </a:ext>
                </a:extLst>
              </p:cNvPr>
              <p:cNvSpPr txBox="1"/>
              <p:nvPr/>
            </p:nvSpPr>
            <p:spPr>
              <a:xfrm>
                <a:off x="1397000" y="2540000"/>
                <a:ext cx="9652000" cy="279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𝑑𝑒𝑡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9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  =  (−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)·[ (−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)(6 − 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 − (1)(−11) ]  +  6·[ (1)(1) − 0 ]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=  (−</m:t>
                      </m:r>
                      <m:r>
                        <a:rPr lang="en-US" sz="21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)( 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3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− 6</m:t>
                      </m:r>
                      <m:r>
                        <a:rPr lang="en-US" sz="21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+ 11 )  +  6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=  −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3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+ 6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3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− 11</m:t>
                      </m:r>
                      <m:r>
                        <a:rPr lang="en-US" sz="21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+ 6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36F6B3-C6FE-4745-91E3-488F26F85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540000"/>
                <a:ext cx="9652000" cy="279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714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B337AB-1F42-FD44-8BB2-F535D774DE0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846BF-3950-EE49-996F-25297A676D79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4: Solve the Cubic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1783E4-2023-4F4C-928D-54D527C3260A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4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AE670-3446-7440-B4C4-D51BBD64FC5C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Find one integer root, then factor the cubic completely.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68D4C41-8075-334E-8107-EA89119EC7EC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C993BB-6120-C345-A2BC-533E9C019D1E}"/>
                  </a:ext>
                </a:extLst>
              </p:cNvPr>
              <p:cNvSpPr txBox="1"/>
              <p:nvPr/>
            </p:nvSpPr>
            <p:spPr>
              <a:xfrm>
                <a:off x="1397000" y="2463800"/>
                <a:ext cx="9652000" cy="2413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+ 6</m:t>
                          </m:r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− 11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+ 6 = 0    ⇒    </m:t>
                          </m:r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− 6</m:t>
                          </m:r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+ 11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− 6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−λ³+6λ²−11λ+6=0 ⇒ λ³−6λ²+11λ−6=0</a:t>
                    </a:r>
                  </mc:Fallback>
                </mc:AlternateContent>
                <a:endParaRPr/>
              </a:p>
              <a:p>
                <a:pPr algn="l">
                  <a:spcBef>
                    <a:spcPts val="8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𝑇𝑟𝑦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1:   1 − 6 + 11 − 6 = 0  ✓   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𝑠𝑜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(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− 1)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𝑓𝑎𝑐𝑡𝑜𝑟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Try λ=1: 0 ✓ so (λ−1) is a factor</a:t>
                    </a:r>
                  </mc:Fallback>
                </mc:AlternateContent>
                <a:endParaRPr/>
              </a:p>
              <a:p>
                <a:pPr algn="l">
                  <a:spcBef>
                    <a:spcPts val="8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− 6</m:t>
                          </m:r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+ 11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− 6 = (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− 1)(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− 2)(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− 3)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λ³−6λ²+11λ−6=(λ−1)(λ−2)(λ−3)=0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C993BB-6120-C345-A2BC-533E9C019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463800"/>
                <a:ext cx="9652000" cy="241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9C0669-13E8-F843-AC1E-357300CCAA8A}"/>
              </a:ext>
            </a:extLst>
          </p:cNvPr>
          <p:cNvSpPr/>
          <p:nvPr/>
        </p:nvSpPr>
        <p:spPr>
          <a:xfrm>
            <a:off x="1397000" y="5105400"/>
            <a:ext cx="9398000" cy="7112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94C863-9259-854B-90E3-59A127E33A9E}"/>
                  </a:ext>
                </a:extLst>
              </p:cNvPr>
              <p:cNvSpPr txBox="1"/>
              <p:nvPr/>
            </p:nvSpPr>
            <p:spPr>
              <a:xfrm>
                <a:off x="1651000" y="5232400"/>
                <a:ext cx="88900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88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1      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88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2      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88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3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λ1=1  λ2=2  λ3=3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94C863-9259-854B-90E3-59A127E33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0" y="5232400"/>
                <a:ext cx="8890000" cy="457200"/>
              </a:xfrm>
              <a:prstGeom prst="rect">
                <a:avLst/>
              </a:prstGeom>
              <a:blipFill>
                <a:blip r:embed="rId3"/>
                <a:stretch>
                  <a:fillRect b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395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9D7FC4-7927-F644-9F6A-3ACCB6C535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F7335-DF62-BC4A-8795-907B0459BB46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5: Eigenvector for </a:t>
            </a:r>
            <a:r>
              <a:rPr lang="el-GR" sz="2600" b="1">
                <a:solidFill>
                  <a:srgbClr val="4B2E83"/>
                </a:solidFill>
              </a:rPr>
              <a:t>λ = 1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2DFA99-DEC4-7346-A540-E8918FE8E7DB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5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FE8AA-A252-9742-B7EE-D03624F53F9F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I)v = 0; the first two rows give a chain of substitutions.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5303B3-0235-4B48-A3AA-F3178C9EA6B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D19E86-8EFE-554B-8B31-F41068E03CC7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D19E86-8EFE-554B-8B31-F41068E03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D5DCEF-E2B3-3B42-8F4A-644B144E1084}"/>
                  </a:ext>
                </a:extLst>
              </p:cNvPr>
              <p:cNvSpPr txBox="1"/>
              <p:nvPr/>
            </p:nvSpPr>
            <p:spPr>
              <a:xfrm>
                <a:off x="3429000" y="2514600"/>
                <a:ext cx="3048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D5DCEF-E2B3-3B42-8F4A-644B144E1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514600"/>
                <a:ext cx="3048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E68D6F-1937-5A4D-B2CF-F58B518F8C19}"/>
                  </a:ext>
                </a:extLst>
              </p:cNvPr>
              <p:cNvSpPr txBox="1"/>
              <p:nvPr/>
            </p:nvSpPr>
            <p:spPr>
              <a:xfrm>
                <a:off x="7112000" y="2768600"/>
                <a:ext cx="4064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E68D6F-1937-5A4D-B2CF-F58B518F8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768600"/>
                <a:ext cx="4064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7DCE04-B020-604E-B676-11B61737E81E}"/>
                  </a:ext>
                </a:extLst>
              </p:cNvPr>
              <p:cNvSpPr txBox="1"/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7DCE04-B020-604E-B676-11B61737E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4565BB-815C-4A4A-B033-AD02629FC5BD}"/>
                  </a:ext>
                </a:extLst>
              </p:cNvPr>
              <p:cNvSpPr txBox="1"/>
              <p:nvPr/>
            </p:nvSpPr>
            <p:spPr>
              <a:xfrm>
                <a:off x="4368800" y="4470400"/>
                <a:ext cx="101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4565BB-815C-4A4A-B033-AD02629FC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0" y="4470400"/>
                <a:ext cx="1016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74D87E-5B13-EA49-BF1F-D5A9CE83978F}"/>
                  </a:ext>
                </a:extLst>
              </p:cNvPr>
              <p:cNvSpPr txBox="1"/>
              <p:nvPr/>
            </p:nvSpPr>
            <p:spPr>
              <a:xfrm>
                <a:off x="5715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>
                          <a:solidFill>
                            <a:srgbClr val="00A7B5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 =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74D87E-5B13-EA49-BF1F-D5A9CE839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039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9FAB03-7D10-024B-A02C-26A97886F5F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5946C-4715-F643-B363-A50940CBF798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6: Eigenvector for </a:t>
            </a:r>
            <a:r>
              <a:rPr lang="el-GR" sz="2600" b="1">
                <a:solidFill>
                  <a:srgbClr val="4B2E83"/>
                </a:solidFill>
              </a:rPr>
              <a:t>λ = 2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894403-95F6-994C-BDC1-2B3C2E1A3AB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6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16787-B1A7-9A46-A63A-7E3B6B7F89DF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Same substitution chain with </a:t>
            </a:r>
            <a:r>
              <a:rPr lang="el-GR" sz="1600">
                <a:solidFill>
                  <a:srgbClr val="333333"/>
                </a:solidFill>
              </a:rPr>
              <a:t>λ = 2.</a:t>
            </a:r>
            <a:endParaRPr lang="en-US" sz="1600">
              <a:solidFill>
                <a:srgbClr val="333333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BA2660-C247-2640-BD11-4514D3C3C936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42BA97-9975-5B40-82EF-406C36F1C3A0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2032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− 2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- 2I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42BA97-9975-5B40-82EF-406C36F1C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2032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A9C1C9-3457-9E43-B79A-1A51D7DD468B}"/>
                  </a:ext>
                </a:extLst>
              </p:cNvPr>
              <p:cNvSpPr txBox="1"/>
              <p:nvPr/>
            </p:nvSpPr>
            <p:spPr>
              <a:xfrm>
                <a:off x="3556000" y="2514600"/>
                <a:ext cx="3048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−11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[A-2I]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A9C1C9-3457-9E43-B79A-1A51D7DD4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2514600"/>
                <a:ext cx="3048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E0E56B-DB9C-834D-979A-BCA153576C0B}"/>
                  </a:ext>
                </a:extLst>
              </p:cNvPr>
              <p:cNvSpPr txBox="1"/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-2x+y=0 =&gt; y=2x</a:t>
                    </a:r>
                  </mc:Fallback>
                </mc:AlternateContent>
                <a:endParaRPr/>
              </a:p>
              <a:p>
                <a:pPr algn="l">
                  <a:spcBef>
                    <a:spcPts val="12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4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-2y+z=0 =&gt; z=4x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E0E56B-DB9C-834D-979A-BCA153576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65866-68CC-C644-BE4E-FBE0128319EE}"/>
                  </a:ext>
                </a:extLst>
              </p:cNvPr>
              <p:cNvSpPr txBox="1"/>
              <p:nvPr/>
            </p:nvSpPr>
            <p:spPr>
              <a:xfrm>
                <a:off x="3556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v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65866-68CC-C644-BE4E-FBE012831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B1A5A0-ECE7-6245-AE94-66AFE750924E}"/>
                  </a:ext>
                </a:extLst>
              </p:cNvPr>
              <p:cNvSpPr txBox="1"/>
              <p:nvPr/>
            </p:nvSpPr>
            <p:spPr>
              <a:xfrm>
                <a:off x="4495800" y="4470400"/>
                <a:ext cx="101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[1;2;4]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B1A5A0-ECE7-6245-AE94-66AFE7509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470400"/>
                <a:ext cx="1016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39BE3A-FC06-8A4F-944B-4C7201472EA7}"/>
                  </a:ext>
                </a:extLst>
              </p:cNvPr>
              <p:cNvSpPr txBox="1"/>
              <p:nvPr/>
            </p:nvSpPr>
            <p:spPr>
              <a:xfrm>
                <a:off x="5842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600" b="0" i="1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 = 2)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(λ = 2)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39BE3A-FC06-8A4F-944B-4C7201472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477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C58B49-011C-8F4D-B4D8-815719D6409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6C577-52DE-DD49-A088-FE5CE35B07AF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7: Eigenvector for </a:t>
            </a:r>
            <a:r>
              <a:rPr lang="el-GR" sz="2600" b="1">
                <a:solidFill>
                  <a:srgbClr val="4B2E83"/>
                </a:solidFill>
              </a:rPr>
              <a:t>λ = 3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761616-373F-5141-8C67-557BB6096964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7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90543-10DD-0745-844B-3D5700F76F25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Last one, then collect all three eigenpairs.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7B6D81-51E2-194E-AC1B-0111739E6322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080A10-47A9-1347-A288-9A04DB4166F5}"/>
                  </a:ext>
                </a:extLst>
              </p:cNvPr>
              <p:cNvSpPr txBox="1"/>
              <p:nvPr/>
            </p:nvSpPr>
            <p:spPr>
              <a:xfrm>
                <a:off x="1270000" y="2692400"/>
                <a:ext cx="2032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− 3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080A10-47A9-1347-A288-9A04DB416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2692400"/>
                <a:ext cx="2032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F4245C-CC3D-9B48-8051-1E64F76C4981}"/>
                  </a:ext>
                </a:extLst>
              </p:cNvPr>
              <p:cNvSpPr txBox="1"/>
              <p:nvPr/>
            </p:nvSpPr>
            <p:spPr>
              <a:xfrm>
                <a:off x="3429000" y="2311400"/>
                <a:ext cx="3048000" cy="14605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F4245C-CC3D-9B48-8051-1E64F76C4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311400"/>
                <a:ext cx="3048000" cy="1460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98D72F-F5AB-D047-A9B3-9BD30A54EB12}"/>
                  </a:ext>
                </a:extLst>
              </p:cNvPr>
              <p:cNvSpPr txBox="1"/>
              <p:nvPr/>
            </p:nvSpPr>
            <p:spPr>
              <a:xfrm>
                <a:off x="7112000" y="2540000"/>
                <a:ext cx="4191000" cy="1270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−3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3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−3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9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98D72F-F5AB-D047-A9B3-9BD30A54E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540000"/>
                <a:ext cx="4191000" cy="127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AAA5A1-069E-BB49-BEF3-F543F4451ABC}"/>
                  </a:ext>
                </a:extLst>
              </p:cNvPr>
              <p:cNvSpPr txBox="1"/>
              <p:nvPr/>
            </p:nvSpPr>
            <p:spPr>
              <a:xfrm>
                <a:off x="3429000" y="3962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AAA5A1-069E-BB49-BEF3-F543F4451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962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E5615A-9266-0B42-9973-6448709599E4}"/>
                  </a:ext>
                </a:extLst>
              </p:cNvPr>
              <p:cNvSpPr txBox="1"/>
              <p:nvPr/>
            </p:nvSpPr>
            <p:spPr>
              <a:xfrm>
                <a:off x="4368800" y="3810000"/>
                <a:ext cx="1016000" cy="1143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E5615A-9266-0B42-9973-644870959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0" y="3810000"/>
                <a:ext cx="1016000" cy="1143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19EAED2-E50B-A64A-AD15-78476DB416FC}"/>
              </a:ext>
            </a:extLst>
          </p:cNvPr>
          <p:cNvSpPr/>
          <p:nvPr/>
        </p:nvSpPr>
        <p:spPr>
          <a:xfrm>
            <a:off x="1143000" y="5308600"/>
            <a:ext cx="9906000" cy="6096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F16A81-1651-C743-8B3D-9E19405DC142}"/>
                  </a:ext>
                </a:extLst>
              </p:cNvPr>
              <p:cNvSpPr txBox="1"/>
              <p:nvPr/>
            </p:nvSpPr>
            <p:spPr>
              <a:xfrm>
                <a:off x="1320800" y="5308600"/>
                <a:ext cx="95504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𝐸𝑖𝑔𝑒𝑛𝑝𝑎𝑖𝑟𝑠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:   </m:t>
                      </m:r>
                      <m:r>
                        <a:rPr lang="en-US" sz="15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1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    </m:t>
                      </m:r>
                      <m:r>
                        <a:rPr lang="en-US" sz="15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2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    </m:t>
                      </m:r>
                      <m:r>
                        <a:rPr lang="en-US" sz="15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3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F16A81-1651-C743-8B3D-9E19405DC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0" y="5308600"/>
                <a:ext cx="9550400" cy="609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987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DDF769-2FF8-8143-85BC-62BAB5C19F3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B96F3-D8C3-2A44-942C-7BA07D9765F4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1: The Setup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87A638-0D96-F248-B85F-4911EE4172D4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1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3437C-C10A-A14F-A4F2-0764E8B26A3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A third example with an upper-triangular matrix — watch how that shortcuts the determinant.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396DDF2-5773-E048-A4B6-AB7ED812BEA7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4DCBB3-6EB9-724E-8B4D-6671C99C4A69}"/>
                  </a:ext>
                </a:extLst>
              </p:cNvPr>
              <p:cNvSpPr txBox="1"/>
              <p:nvPr/>
            </p:nvSpPr>
            <p:spPr>
              <a:xfrm>
                <a:off x="1397000" y="2692400"/>
                <a:ext cx="1143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4DCBB3-6EB9-724E-8B4D-6671C99C4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692400"/>
                <a:ext cx="1143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AE7069-91C6-8E4A-B578-FFC3541E2C4F}"/>
                  </a:ext>
                </a:extLst>
              </p:cNvPr>
              <p:cNvSpPr txBox="1"/>
              <p:nvPr/>
            </p:nvSpPr>
            <p:spPr>
              <a:xfrm>
                <a:off x="2667000" y="2387600"/>
                <a:ext cx="2794000" cy="14605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AE7069-91C6-8E4A-B578-FFC3541E2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387600"/>
                <a:ext cx="2794000" cy="1460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A31118-4C80-8244-957F-F09171D2B322}"/>
                  </a:ext>
                </a:extLst>
              </p:cNvPr>
              <p:cNvSpPr txBox="1"/>
              <p:nvPr/>
            </p:nvSpPr>
            <p:spPr>
              <a:xfrm>
                <a:off x="6350000" y="2540000"/>
                <a:ext cx="482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v = lambda v</a:t>
                    </a:r>
                  </mc:Fallback>
                </mc:AlternateContent>
                <a:endParaRPr/>
              </a:p>
              <a:p>
                <a:pPr algn="l">
                  <a:spcBef>
                    <a:spcPts val="12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 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0,   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≠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(A-λI)v=0, v≠0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A31118-4C80-8244-957F-F09171D2B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540000"/>
                <a:ext cx="4826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D0ECA63-158B-E64E-9267-2C3F02207D69}"/>
              </a:ext>
            </a:extLst>
          </p:cNvPr>
          <p:cNvSpPr txBox="1"/>
          <p:nvPr/>
        </p:nvSpPr>
        <p:spPr>
          <a:xfrm>
            <a:off x="1397000" y="5232400"/>
            <a:ext cx="9652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All entries below the diagonal are 0 → the eigenvalues will read straight off the diagonal.</a:t>
            </a:r>
          </a:p>
        </p:txBody>
      </p:sp>
    </p:spTree>
    <p:extLst>
      <p:ext uri="{BB962C8B-B14F-4D97-AF65-F5344CB8AC3E}">
        <p14:creationId xmlns:p14="http://schemas.microsoft.com/office/powerpoint/2010/main" val="1293194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838C2A-E398-B24B-AB06-FEF83BDBA3F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EA9A4-A570-E04D-9CCD-A462645406EB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2: Form A − </a:t>
            </a:r>
            <a:r>
              <a:rPr lang="el-GR" sz="2600" b="1">
                <a:solidFill>
                  <a:srgbClr val="4B2E83"/>
                </a:solidFill>
              </a:rPr>
              <a:t>λ</a:t>
            </a:r>
            <a:r>
              <a:rPr lang="en-US" sz="2600" b="1">
                <a:solidFill>
                  <a:srgbClr val="4B2E83"/>
                </a:solidFill>
              </a:rPr>
              <a:t>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6E5BA74-7C1B-0C40-A002-CDB54A259D5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2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D9C49-0BCB-5649-92F2-4508EEB9C376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Subtract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from each diagonal entry — the zeros below the diagonal stay put.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BD0CA6-B987-5D47-8FDE-279831EDA359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C97B07-306B-8B41-B4A7-8F054DA00259}"/>
                  </a:ext>
                </a:extLst>
              </p:cNvPr>
              <p:cNvSpPr txBox="1"/>
              <p:nvPr/>
            </p:nvSpPr>
            <p:spPr>
              <a:xfrm>
                <a:off x="2159000" y="2997200"/>
                <a:ext cx="228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λI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C97B07-306B-8B41-B4A7-8F054DA00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0" y="2997200"/>
                <a:ext cx="2286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BF9A71-2F6D-134A-908D-8E0A61A94D05}"/>
                  </a:ext>
                </a:extLst>
              </p:cNvPr>
              <p:cNvSpPr txBox="1"/>
              <p:nvPr/>
            </p:nvSpPr>
            <p:spPr>
              <a:xfrm>
                <a:off x="4826000" y="2489200"/>
                <a:ext cx="406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3−</m:t>
                                    </m:r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1−</m:t>
                                    </m:r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2−</m:t>
                                    </m:r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[A-λI]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BF9A71-2F6D-134A-908D-8E0A61A94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0" y="2489200"/>
                <a:ext cx="406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CD753D0-CFA5-9B46-A682-F5356479127E}"/>
              </a:ext>
            </a:extLst>
          </p:cNvPr>
          <p:cNvSpPr txBox="1"/>
          <p:nvPr/>
        </p:nvSpPr>
        <p:spPr>
          <a:xfrm>
            <a:off x="2159000" y="5207000"/>
            <a:ext cx="812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Still upper-triangular → det = product of the diagonal entries.</a:t>
            </a:r>
          </a:p>
        </p:txBody>
      </p:sp>
    </p:spTree>
    <p:extLst>
      <p:ext uri="{BB962C8B-B14F-4D97-AF65-F5344CB8AC3E}">
        <p14:creationId xmlns:p14="http://schemas.microsoft.com/office/powerpoint/2010/main" val="3925748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1906E-DF24-884B-9706-1A3A9529F27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5AF22-1CDD-004A-90E9-1AA95784E1CB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3: The Determinant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8048DC0-76EF-034B-A492-93AF78E6221F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3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F1EAC-E3D4-ED4F-9A65-E021E60735CE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No cofactor expansion needed — the triangular shortcut does the work.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35DCD27-28C1-544C-BBD5-C3BCCA1AB8DB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4DB43-36A8-B047-93D7-D88C4F57B7B1}"/>
              </a:ext>
            </a:extLst>
          </p:cNvPr>
          <p:cNvSpPr txBox="1"/>
          <p:nvPr/>
        </p:nvSpPr>
        <p:spPr>
          <a:xfrm>
            <a:off x="1397000" y="2489200"/>
            <a:ext cx="939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</a:rPr>
              <a:t>For a triangular matrix, the determinant is just the product of the diagonal entries: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BC5635-51E1-DD43-A022-AD5D3C5FFB99}"/>
                  </a:ext>
                </a:extLst>
              </p:cNvPr>
              <p:cNvSpPr txBox="1"/>
              <p:nvPr/>
            </p:nvSpPr>
            <p:spPr>
              <a:xfrm>
                <a:off x="1397000" y="3175000"/>
                <a:ext cx="9398000" cy="584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𝑑𝑒𝑡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) = (3 − </m:t>
                          </m:r>
                          <m:r>
                            <a:rPr lang="en-US" sz="2400" b="0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)(1 − </m:t>
                          </m:r>
                          <m:r>
                            <a:rPr lang="en-US" sz="2400" b="0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)(2 − </m:t>
                          </m:r>
                          <m:r>
                            <a:rPr lang="en-US" sz="2400" b="0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det(A-λI)=(3-λ)(1-λ)(2-λ)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BC5635-51E1-DD43-A022-AD5D3C5FF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3175000"/>
                <a:ext cx="9398000" cy="584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C133E5-782B-3343-A96C-C432540765EE}"/>
                  </a:ext>
                </a:extLst>
              </p:cNvPr>
              <p:cNvSpPr txBox="1"/>
              <p:nvPr/>
            </p:nvSpPr>
            <p:spPr>
              <a:xfrm>
                <a:off x="1397000" y="4191000"/>
                <a:ext cx="9398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𝑆𝑒𝑡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𝑖𝑡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𝑡𝑜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𝑧𝑒𝑟𝑜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:     (3 − </m:t>
                          </m:r>
                          <m:r>
                            <a:rPr lang="en-US" sz="22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)(1 − </m:t>
                          </m:r>
                          <m:r>
                            <a:rPr lang="en-US" sz="22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)(2 − </m:t>
                          </m:r>
                          <m:r>
                            <a:rPr lang="en-US" sz="22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Set it to zero: (3-λ)(1-λ)(2-λ)=0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C133E5-782B-3343-A96C-C43254076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4191000"/>
                <a:ext cx="9398000" cy="508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402DB0-7F37-C94A-B3DA-DBB2C8E8C120}"/>
              </a:ext>
            </a:extLst>
          </p:cNvPr>
          <p:cNvSpPr txBox="1"/>
          <p:nvPr/>
        </p:nvSpPr>
        <p:spPr>
          <a:xfrm>
            <a:off x="1397000" y="5232400"/>
            <a:ext cx="939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It is already factored — each factor gives one eigenvalue.</a:t>
            </a:r>
          </a:p>
        </p:txBody>
      </p:sp>
    </p:spTree>
    <p:extLst>
      <p:ext uri="{BB962C8B-B14F-4D97-AF65-F5344CB8AC3E}">
        <p14:creationId xmlns:p14="http://schemas.microsoft.com/office/powerpoint/2010/main" val="1885325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9B04A2-CCFE-874C-8F93-F159C48E8E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6938B-3573-9F4B-8D45-5585710F375A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4: The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3F2D18-5BD6-0D43-A3A1-D9384B90D94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4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6E428-C5F6-D147-A7FA-5E59E6B25679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Each factor set to zero gives one eigenvalue.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BF4995-4259-E64F-8AAB-D21ACD98D2EA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60696D-C06A-A145-92D2-355613E57FB6}"/>
                  </a:ext>
                </a:extLst>
              </p:cNvPr>
              <p:cNvSpPr txBox="1"/>
              <p:nvPr/>
            </p:nvSpPr>
            <p:spPr>
              <a:xfrm>
                <a:off x="1905000" y="2463800"/>
                <a:ext cx="8382000" cy="2032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3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3-λ=0 =&gt; λ=3</a:t>
                    </a:r>
                  </mc:Fallback>
                </mc:AlternateContent>
                <a:endParaRPr/>
              </a:p>
              <a:p>
                <a:pPr algn="l">
                  <a:spcBef>
                    <a:spcPts val="14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1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1-λ=0 =&gt; λ=1</a:t>
                    </a:r>
                  </mc:Fallback>
                </mc:AlternateContent>
                <a:endParaRPr/>
              </a:p>
              <a:p>
                <a:pPr algn="l">
                  <a:spcBef>
                    <a:spcPts val="14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2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2-λ=0 =&gt; λ=2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60696D-C06A-A145-92D2-355613E57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463800"/>
                <a:ext cx="8382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2DF0CD-6F95-824F-8C74-9E88805F41FB}"/>
              </a:ext>
            </a:extLst>
          </p:cNvPr>
          <p:cNvSpPr/>
          <p:nvPr/>
        </p:nvSpPr>
        <p:spPr>
          <a:xfrm>
            <a:off x="1905000" y="4978400"/>
            <a:ext cx="8382000" cy="762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9947F0-6A82-C446-937D-8F9F2248CDBC}"/>
                  </a:ext>
                </a:extLst>
              </p:cNvPr>
              <p:cNvSpPr txBox="1"/>
              <p:nvPr/>
            </p:nvSpPr>
            <p:spPr>
              <a:xfrm>
                <a:off x="2032000" y="4978400"/>
                <a:ext cx="8128000" cy="762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200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3      </m:t>
                          </m:r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200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1      </m:t>
                          </m:r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200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2     ( = </m:t>
                          </m:r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𝑡h𝑒</m:t>
                          </m:r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𝑑𝑖𝑎𝑔𝑜𝑛𝑎𝑙</m:t>
                          </m:r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! 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λ1=3 λ2=1 λ3=2 (the diagonal)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9947F0-6A82-C446-937D-8F9F2248C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4978400"/>
                <a:ext cx="8128000" cy="76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342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67FDC8-0602-594A-83ED-1BEB3B4910F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FC527-59C3-8E48-AB18-B623A61F526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(3×3) — Step 5: Eigenvector for </a:t>
            </a:r>
            <a:r>
              <a:rPr lang="el-GR" sz="2600" b="1">
                <a:solidFill>
                  <a:srgbClr val="4B2E83"/>
                </a:solidFill>
              </a:rPr>
              <a:t>λ = 3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44E4E0E-2788-5E43-9FF2-DE6B7309FFC1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5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5B17E-9EAA-204C-9397-394EBB778456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− 3I)v = 0.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F26568-A455-8543-9CF3-7CF90247CD9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6255ED-29B8-5947-82B9-EA74BDA1C314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215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− 3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- 3I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6255ED-29B8-5947-82B9-EA74BDA1C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2159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0E0634-7D30-5A44-9FE2-BC77BB11D773}"/>
                  </a:ext>
                </a:extLst>
              </p:cNvPr>
              <p:cNvSpPr txBox="1"/>
              <p:nvPr/>
            </p:nvSpPr>
            <p:spPr>
              <a:xfrm>
                <a:off x="3683000" y="2514600"/>
                <a:ext cx="279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[A-3I]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0E0634-7D30-5A44-9FE2-BC77BB11D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0" y="2514600"/>
                <a:ext cx="279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BCADB1-8DA7-C646-A120-91E6AFEFDD94}"/>
                  </a:ext>
                </a:extLst>
              </p:cNvPr>
              <p:cNvSpPr txBox="1"/>
              <p:nvPr/>
            </p:nvSpPr>
            <p:spPr>
              <a:xfrm>
                <a:off x="7112000" y="2616200"/>
                <a:ext cx="4064000" cy="165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2y=0 =&gt; y=0</a:t>
                    </a:r>
                  </mc:Fallback>
                </mc:AlternateContent>
                <a:endParaRPr/>
              </a:p>
              <a:p>
                <a:pPr algn="l">
                  <a:spcBef>
                    <a:spcPts val="10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-z=0 =&gt; z=0</a:t>
                    </a:r>
                  </mc:Fallback>
                </mc:AlternateContent>
                <a:endParaRPr/>
              </a:p>
              <a:p>
                <a:pPr algn="l">
                  <a:spcBef>
                    <a:spcPts val="10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𝑓𝑟𝑒𝑒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x is free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BCADB1-8DA7-C646-A120-91E6AFEFD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616200"/>
                <a:ext cx="4064000" cy="1651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5464F3-6081-6445-A54F-709F56916C68}"/>
                  </a:ext>
                </a:extLst>
              </p:cNvPr>
              <p:cNvSpPr txBox="1"/>
              <p:nvPr/>
            </p:nvSpPr>
            <p:spPr>
              <a:xfrm>
                <a:off x="3683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v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5464F3-6081-6445-A54F-709F56916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58C4FA-2B8B-C44F-A8F4-38E62F2E8DA4}"/>
                  </a:ext>
                </a:extLst>
              </p:cNvPr>
              <p:cNvSpPr txBox="1"/>
              <p:nvPr/>
            </p:nvSpPr>
            <p:spPr>
              <a:xfrm>
                <a:off x="4622800" y="4470400"/>
                <a:ext cx="101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[1;0;0]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58C4FA-2B8B-C44F-A8F4-38E62F2E8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800" y="4470400"/>
                <a:ext cx="1016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64C44E-FCBA-E741-9227-3E472136B159}"/>
                  </a:ext>
                </a:extLst>
              </p:cNvPr>
              <p:cNvSpPr txBox="1"/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600" b="0" i="1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 = 3)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(λ = 3)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64C44E-FCBA-E741-9227-3E472136B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054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D77435-A52B-484E-BFB5-5688B896AB71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FC24F-0584-DC4A-8990-FDD307D49C20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(3×3) — Step 6: Eigenvector for </a:t>
            </a:r>
            <a:r>
              <a:rPr lang="el-GR" sz="2600" b="1">
                <a:solidFill>
                  <a:srgbClr val="4B2E83"/>
                </a:solidFill>
              </a:rPr>
              <a:t>λ = 1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B2BE8F-8F55-B146-850E-9BD0B37960E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6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D9206-EB0C-944A-AE3D-E3F59EC84A4A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I)v = 0.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7633EB-6217-4049-BA8E-E414707555C5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98F6CA-1095-DD48-AAA9-A29C0650D8E6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98F6CA-1095-DD48-AAA9-A29C0650D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4F70EF-C269-124D-9CDA-4BFECFE520F1}"/>
                  </a:ext>
                </a:extLst>
              </p:cNvPr>
              <p:cNvSpPr txBox="1"/>
              <p:nvPr/>
            </p:nvSpPr>
            <p:spPr>
              <a:xfrm>
                <a:off x="3429000" y="2514600"/>
                <a:ext cx="279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[A-I]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4F70EF-C269-124D-9CDA-4BFECFE52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514600"/>
                <a:ext cx="279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28AF9A-C6CB-E142-BF29-F122383F2B64}"/>
                  </a:ext>
                </a:extLst>
              </p:cNvPr>
              <p:cNvSpPr txBox="1"/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 (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𝑟𝑜𝑤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3)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z = 0 (row 3)</a:t>
                    </a:r>
                  </mc:Fallback>
                </mc:AlternateContent>
                <a:endParaRPr/>
              </a:p>
              <a:p>
                <a:pPr algn="l">
                  <a:spcBef>
                    <a:spcPts val="12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−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2x+2y=0 =&gt; x=-y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28AF9A-C6CB-E142-BF29-F122383F2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37A07-F90F-104C-8A0E-B18D273608C3}"/>
                  </a:ext>
                </a:extLst>
              </p:cNvPr>
              <p:cNvSpPr txBox="1"/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v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37A07-F90F-104C-8A0E-B18D27360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34FCC1-8221-1C44-9C90-BC76965F451E}"/>
                  </a:ext>
                </a:extLst>
              </p:cNvPr>
              <p:cNvSpPr txBox="1"/>
              <p:nvPr/>
            </p:nvSpPr>
            <p:spPr>
              <a:xfrm>
                <a:off x="4368800" y="4470400"/>
                <a:ext cx="1143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[1;-1;0]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34FCC1-8221-1C44-9C90-BC76965F4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0" y="4470400"/>
                <a:ext cx="1143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745EBE-A89B-FA48-945F-A002A2ABE4C3}"/>
                  </a:ext>
                </a:extLst>
              </p:cNvPr>
              <p:cNvSpPr txBox="1"/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600" b="0" i="1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 = 1)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(λ = 1)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745EBE-A89B-FA48-945F-A002A2ABE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457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B92920-4BCF-5C44-9EDC-F693AA5BDEB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F0BF2-5F46-204B-81D1-9A2210B6EBD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(3×3) — Step 7: Eigenvector for </a:t>
            </a:r>
            <a:r>
              <a:rPr lang="el-GR" sz="2600" b="1">
                <a:solidFill>
                  <a:srgbClr val="4B2E83"/>
                </a:solidFill>
              </a:rPr>
              <a:t>λ = 2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0DC76C-6719-6A45-850E-A9F5E4F019FC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7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376A3B-8842-3540-813A-441620C9C59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− 2I)v = 0, then collect all three eigenpairs.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0CF56F-FF5C-DF48-A680-7592CB2FECC3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6362E4-62C5-7444-9FAC-6CC6E3A3B400}"/>
                  </a:ext>
                </a:extLst>
              </p:cNvPr>
              <p:cNvSpPr txBox="1"/>
              <p:nvPr/>
            </p:nvSpPr>
            <p:spPr>
              <a:xfrm>
                <a:off x="1219200" y="2717800"/>
                <a:ext cx="215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− 2</m:t>
                          </m:r>
                          <m: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A - 2I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6362E4-62C5-7444-9FAC-6CC6E3A3B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717800"/>
                <a:ext cx="2159000" cy="508000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8CB440-BC35-B042-B162-475A66BC11FF}"/>
                  </a:ext>
                </a:extLst>
              </p:cNvPr>
              <p:cNvSpPr txBox="1"/>
              <p:nvPr/>
            </p:nvSpPr>
            <p:spPr>
              <a:xfrm>
                <a:off x="3403600" y="2362200"/>
                <a:ext cx="2667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[A-2I]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8CB440-BC35-B042-B162-475A66BC1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00" y="2362200"/>
                <a:ext cx="2667000" cy="1397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39B0FB-08B7-3B49-8B4E-F41D76551DD9}"/>
                  </a:ext>
                </a:extLst>
              </p:cNvPr>
              <p:cNvSpPr txBox="1"/>
              <p:nvPr/>
            </p:nvSpPr>
            <p:spPr>
              <a:xfrm>
                <a:off x="6604000" y="2489200"/>
                <a:ext cx="4318000" cy="1270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-y=0 =&gt; y=0</a:t>
                    </a:r>
                  </mc:Fallback>
                </mc:AlternateContent>
                <a:endParaRPr/>
              </a:p>
              <a:p>
                <a:pPr algn="l">
                  <a:spcBef>
                    <a:spcPts val="8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+ 2</m:t>
                          </m:r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x+2y=0 =&gt; x=0</a:t>
                    </a:r>
                  </mc:Fallback>
                </mc:AlternateContent>
                <a:endParaRPr/>
              </a:p>
              <a:p>
                <a:pPr algn="l">
                  <a:spcBef>
                    <a:spcPts val="8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𝑖𝑠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𝑓𝑟𝑒𝑒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z is free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39B0FB-08B7-3B49-8B4E-F41D76551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2489200"/>
                <a:ext cx="4318000" cy="127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ED36B-C037-504A-99AB-9F66F2D7ED64}"/>
                  </a:ext>
                </a:extLst>
              </p:cNvPr>
              <p:cNvSpPr txBox="1"/>
              <p:nvPr/>
            </p:nvSpPr>
            <p:spPr>
              <a:xfrm>
                <a:off x="5054600" y="4089400"/>
                <a:ext cx="762000" cy="558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v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ED36B-C037-504A-99AB-9F66F2D7E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00" y="4089400"/>
                <a:ext cx="762000" cy="558800"/>
              </a:xfrm>
              <a:prstGeom prst="rect">
                <a:avLst/>
              </a:prstGeom>
              <a:blipFill>
                <a:blip r:embed="rId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136BCA-9431-D14D-8665-C9001133D659}"/>
                  </a:ext>
                </a:extLst>
              </p:cNvPr>
              <p:cNvSpPr txBox="1"/>
              <p:nvPr/>
            </p:nvSpPr>
            <p:spPr>
              <a:xfrm>
                <a:off x="5867400" y="3886200"/>
                <a:ext cx="889000" cy="1219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[0;0;1]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136BCA-9431-D14D-8665-C9001133D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3886200"/>
                <a:ext cx="889000" cy="1219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83B5C3-94AA-5949-B903-34B94005C3B2}"/>
              </a:ext>
            </a:extLst>
          </p:cNvPr>
          <p:cNvSpPr/>
          <p:nvPr/>
        </p:nvSpPr>
        <p:spPr>
          <a:xfrm>
            <a:off x="1143000" y="5130800"/>
            <a:ext cx="9906000" cy="7112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953C3-7E9C-B64E-ADE9-81A3F802A79F}"/>
                  </a:ext>
                </a:extLst>
              </p:cNvPr>
              <p:cNvSpPr txBox="1"/>
              <p:nvPr/>
            </p:nvSpPr>
            <p:spPr>
              <a:xfrm>
                <a:off x="1397000" y="5130800"/>
                <a:ext cx="9398000" cy="711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𝐸𝑖𝑔𝑒𝑛𝑝𝑎𝑖𝑟𝑠</m:t>
                          </m:r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:   </m:t>
                          </m:r>
                          <m:r>
                            <a:rPr lang="en-US" sz="17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3 →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b="1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     </m:t>
                          </m:r>
                          <m:r>
                            <a:rPr lang="en-US" sz="17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1 →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b="1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     </m:t>
                          </m:r>
                          <m:r>
                            <a:rPr lang="en-US" sz="17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2 →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b="1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Eigenpairs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953C3-7E9C-B64E-ADE9-81A3F802A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5130800"/>
                <a:ext cx="9398000" cy="711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90368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D3C54-7F49-5D47-BA36-E1A1F1C19F1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AEEF2-63C4-6E44-8827-3D8C8E4F9D8A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Geometric Intuition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9501E-5761-104F-B4EE-2FB03A10C15D}"/>
              </a:ext>
            </a:extLst>
          </p:cNvPr>
          <p:cNvSpPr/>
          <p:nvPr/>
        </p:nvSpPr>
        <p:spPr>
          <a:xfrm>
            <a:off x="1016000" y="1905000"/>
            <a:ext cx="4572000" cy="41910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9421B2-CC3F-6D4B-8B87-8AF3CBC4EF40}"/>
              </a:ext>
            </a:extLst>
          </p:cNvPr>
          <p:cNvSpPr/>
          <p:nvPr/>
        </p:nvSpPr>
        <p:spPr>
          <a:xfrm>
            <a:off x="1447800" y="28067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E5CD4-0528-874F-A4AD-F69BE691C0F1}"/>
              </a:ext>
            </a:extLst>
          </p:cNvPr>
          <p:cNvSpPr/>
          <p:nvPr/>
        </p:nvSpPr>
        <p:spPr>
          <a:xfrm>
            <a:off x="1943100" y="29718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532A68-3BB4-2940-B15C-D7C59ADB0561}"/>
              </a:ext>
            </a:extLst>
          </p:cNvPr>
          <p:cNvSpPr/>
          <p:nvPr/>
        </p:nvSpPr>
        <p:spPr>
          <a:xfrm>
            <a:off x="1778000" y="33020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23CAE1-AEA3-F344-B61E-7D0E9DE351F7}"/>
              </a:ext>
            </a:extLst>
          </p:cNvPr>
          <p:cNvSpPr/>
          <p:nvPr/>
        </p:nvSpPr>
        <p:spPr>
          <a:xfrm>
            <a:off x="2273300" y="31369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6064AB-137E-E64A-BBAA-A084D8639C68}"/>
              </a:ext>
            </a:extLst>
          </p:cNvPr>
          <p:cNvSpPr/>
          <p:nvPr/>
        </p:nvSpPr>
        <p:spPr>
          <a:xfrm>
            <a:off x="2438400" y="34671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3B33B7-120A-9148-A59C-80E9749FAA0A}"/>
              </a:ext>
            </a:extLst>
          </p:cNvPr>
          <p:cNvSpPr/>
          <p:nvPr/>
        </p:nvSpPr>
        <p:spPr>
          <a:xfrm>
            <a:off x="2768600" y="35496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CEBF6F-4BB7-8D45-BE0F-0E5BC7322FAE}"/>
              </a:ext>
            </a:extLst>
          </p:cNvPr>
          <p:cNvSpPr/>
          <p:nvPr/>
        </p:nvSpPr>
        <p:spPr>
          <a:xfrm>
            <a:off x="2933700" y="37973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B797D8-FFF7-A344-A8F9-B9500FD19141}"/>
              </a:ext>
            </a:extLst>
          </p:cNvPr>
          <p:cNvSpPr/>
          <p:nvPr/>
        </p:nvSpPr>
        <p:spPr>
          <a:xfrm>
            <a:off x="3263900" y="38798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3421C8-AA18-AF47-8246-6492699A3071}"/>
              </a:ext>
            </a:extLst>
          </p:cNvPr>
          <p:cNvSpPr/>
          <p:nvPr/>
        </p:nvSpPr>
        <p:spPr>
          <a:xfrm>
            <a:off x="3429000" y="40449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35A60D7-8BF6-0344-9CA8-EA80B89BD096}"/>
              </a:ext>
            </a:extLst>
          </p:cNvPr>
          <p:cNvSpPr/>
          <p:nvPr/>
        </p:nvSpPr>
        <p:spPr>
          <a:xfrm>
            <a:off x="3759200" y="41275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7F2043-433D-CE46-A2ED-D6B6129F2994}"/>
              </a:ext>
            </a:extLst>
          </p:cNvPr>
          <p:cNvSpPr/>
          <p:nvPr/>
        </p:nvSpPr>
        <p:spPr>
          <a:xfrm>
            <a:off x="4089400" y="43751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9B6CAE-A818-B849-82AE-11A7677B2009}"/>
              </a:ext>
            </a:extLst>
          </p:cNvPr>
          <p:cNvSpPr/>
          <p:nvPr/>
        </p:nvSpPr>
        <p:spPr>
          <a:xfrm>
            <a:off x="4254500" y="42100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328BC4-115F-9D47-9A7B-434872C60930}"/>
              </a:ext>
            </a:extLst>
          </p:cNvPr>
          <p:cNvSpPr/>
          <p:nvPr/>
        </p:nvSpPr>
        <p:spPr>
          <a:xfrm>
            <a:off x="4584700" y="46228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6DD8032-1A9A-EC44-A294-AE0FA31D4229}"/>
              </a:ext>
            </a:extLst>
          </p:cNvPr>
          <p:cNvSpPr/>
          <p:nvPr/>
        </p:nvSpPr>
        <p:spPr>
          <a:xfrm>
            <a:off x="4749800" y="47879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22C872-65B2-B849-A825-BC7420A651BF}"/>
              </a:ext>
            </a:extLst>
          </p:cNvPr>
          <p:cNvSpPr/>
          <p:nvPr/>
        </p:nvSpPr>
        <p:spPr>
          <a:xfrm>
            <a:off x="5080000" y="49530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49AF67-9DF2-F24C-9765-C436081A637E}"/>
              </a:ext>
            </a:extLst>
          </p:cNvPr>
          <p:cNvSpPr/>
          <p:nvPr/>
        </p:nvSpPr>
        <p:spPr>
          <a:xfrm>
            <a:off x="2108200" y="36322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2CD84DC-BF9D-754A-B67E-975EEA369996}"/>
              </a:ext>
            </a:extLst>
          </p:cNvPr>
          <p:cNvSpPr/>
          <p:nvPr/>
        </p:nvSpPr>
        <p:spPr>
          <a:xfrm>
            <a:off x="3924300" y="46228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C60DE78-6950-8F40-AD56-C99D66D0D634}"/>
              </a:ext>
            </a:extLst>
          </p:cNvPr>
          <p:cNvSpPr/>
          <p:nvPr/>
        </p:nvSpPr>
        <p:spPr>
          <a:xfrm>
            <a:off x="3098800" y="33845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2DAE4A9-EB61-7447-B1FB-EB5C8C1E8AA3}"/>
              </a:ext>
            </a:extLst>
          </p:cNvPr>
          <p:cNvSpPr/>
          <p:nvPr/>
        </p:nvSpPr>
        <p:spPr>
          <a:xfrm>
            <a:off x="4419600" y="42926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E48509-BC44-9748-8B9D-3EE33355B8EB}"/>
              </a:ext>
            </a:extLst>
          </p:cNvPr>
          <p:cNvSpPr/>
          <p:nvPr/>
        </p:nvSpPr>
        <p:spPr>
          <a:xfrm>
            <a:off x="3594100" y="44577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DA37389B-BC46-E043-AC75-D0EFDE7E3CEB}"/>
              </a:ext>
            </a:extLst>
          </p:cNvPr>
          <p:cNvSpPr/>
          <p:nvPr/>
        </p:nvSpPr>
        <p:spPr>
          <a:xfrm rot="1800000">
            <a:off x="1397000" y="3238500"/>
            <a:ext cx="3810000" cy="1778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CBF3DE-59BB-9540-805B-109A1FB35E2C}"/>
              </a:ext>
            </a:extLst>
          </p:cNvPr>
          <p:cNvSpPr txBox="1"/>
          <p:nvPr/>
        </p:nvSpPr>
        <p:spPr>
          <a:xfrm>
            <a:off x="4191000" y="25400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00A7B5"/>
                </a:solidFill>
              </a:rPr>
              <a:t>PC1 (max variance)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4505CE33-F04C-F64C-95FB-C70636DFAE28}"/>
              </a:ext>
            </a:extLst>
          </p:cNvPr>
          <p:cNvSpPr/>
          <p:nvPr/>
        </p:nvSpPr>
        <p:spPr>
          <a:xfrm rot="-3600000">
            <a:off x="3238500" y="3683000"/>
            <a:ext cx="889000" cy="1397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E6310C-8232-D743-9992-52630FB82348}"/>
              </a:ext>
            </a:extLst>
          </p:cNvPr>
          <p:cNvSpPr txBox="1"/>
          <p:nvPr/>
        </p:nvSpPr>
        <p:spPr>
          <a:xfrm>
            <a:off x="1206500" y="53340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D1578A"/>
                </a:solidFill>
              </a:rPr>
              <a:t>PC2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495511-58F5-EE4B-833B-27BCF6B6C545}"/>
              </a:ext>
            </a:extLst>
          </p:cNvPr>
          <p:cNvSpPr txBox="1"/>
          <p:nvPr/>
        </p:nvSpPr>
        <p:spPr>
          <a:xfrm>
            <a:off x="6096000" y="19050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Reading the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44D5E0E-CA4A-004A-B50C-CF117677037A}"/>
                  </a:ext>
                </a:extLst>
              </p:cNvPr>
              <p:cNvSpPr txBox="1"/>
              <p:nvPr/>
            </p:nvSpPr>
            <p:spPr>
              <a:xfrm>
                <a:off x="6096000" y="2311400"/>
                <a:ext cx="5461000" cy="21512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The cloud is elongated: most variation lies along one diagonal direction.</a:t>
                </a:r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PC1 points along that elongation — projecting onto it loses the least information.</a:t>
                </a:r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PC2 is orthogonal to PC1 and captures the leftover spread.</a:t>
                </a:r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variance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PC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; arrow length ∝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Projecting points onto PC1 alone gives a 1-D summary (the scores).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44D5E0E-CA4A-004A-B50C-CF1176770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11400"/>
                <a:ext cx="5461000" cy="2151295"/>
              </a:xfrm>
              <a:prstGeom prst="rect">
                <a:avLst/>
              </a:prstGeom>
              <a:blipFill>
                <a:blip r:embed="rId2"/>
                <a:stretch>
                  <a:fillRect l="-696" t="-585" b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640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85C65A-465C-4E4E-8B5E-EF9F70FCF21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DFDB0-E1EC-9149-B565-35537DE5683B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Eigenvectors &amp; Eigenvalues in 2D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35092-713A-7942-8F1B-43F8533A3A73}"/>
              </a:ext>
            </a:extLst>
          </p:cNvPr>
          <p:cNvSpPr txBox="1"/>
          <p:nvPr/>
        </p:nvSpPr>
        <p:spPr>
          <a:xfrm>
            <a:off x="762000" y="14478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The covariance matrix S describes the shape of the data cloud. Its eigenvectors give the directions of the cloud's principal axes; its eigenvalues give the variance (spread²) along each.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81E3CA-C272-694F-8E73-90FC139994EB}"/>
              </a:ext>
            </a:extLst>
          </p:cNvPr>
          <p:cNvSpPr/>
          <p:nvPr/>
        </p:nvSpPr>
        <p:spPr>
          <a:xfrm>
            <a:off x="762000" y="2057400"/>
            <a:ext cx="5334000" cy="40386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CB75C0-09B8-6844-ACE7-EDABBAF8C18D}"/>
              </a:ext>
            </a:extLst>
          </p:cNvPr>
          <p:cNvSpPr/>
          <p:nvPr/>
        </p:nvSpPr>
        <p:spPr>
          <a:xfrm rot="-1680000">
            <a:off x="1778000" y="3365500"/>
            <a:ext cx="3302000" cy="1397000"/>
          </a:xfrm>
          <a:prstGeom prst="ellipse">
            <a:avLst/>
          </a:prstGeom>
          <a:solidFill>
            <a:srgbClr val="EDE7F3"/>
          </a:solidFill>
          <a:ln w="15875" cap="flat" cmpd="sng" algn="ctr">
            <a:solidFill>
              <a:srgbClr val="C9B9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5AD6E8-BFD5-6C47-8863-C90DE971DDB4}"/>
              </a:ext>
            </a:extLst>
          </p:cNvPr>
          <p:cNvSpPr/>
          <p:nvPr/>
        </p:nvSpPr>
        <p:spPr>
          <a:xfrm>
            <a:off x="3378200" y="4013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A683B94-E1F2-F440-9C1B-978617314E79}"/>
              </a:ext>
            </a:extLst>
          </p:cNvPr>
          <p:cNvSpPr/>
          <p:nvPr/>
        </p:nvSpPr>
        <p:spPr>
          <a:xfrm rot="-1680000">
            <a:off x="3341292" y="3636024"/>
            <a:ext cx="1498600" cy="1524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FAAC7BB-3585-6D44-A259-EDE8AF6BF135}"/>
              </a:ext>
            </a:extLst>
          </p:cNvPr>
          <p:cNvSpPr/>
          <p:nvPr/>
        </p:nvSpPr>
        <p:spPr>
          <a:xfrm rot="-3720000">
            <a:off x="3233606" y="3662610"/>
            <a:ext cx="736600" cy="1524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2711F8-CFF6-1246-9154-65C68FA216EE}"/>
                  </a:ext>
                </a:extLst>
              </p:cNvPr>
              <p:cNvSpPr txBox="1"/>
              <p:nvPr/>
            </p:nvSpPr>
            <p:spPr>
              <a:xfrm>
                <a:off x="4876800" y="3175000"/>
                <a:ext cx="1219200" cy="4277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(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rad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2711F8-CFF6-1246-9154-65C68FA21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175000"/>
                <a:ext cx="1219200" cy="427746"/>
              </a:xfrm>
              <a:prstGeom prst="rect">
                <a:avLst/>
              </a:prstGeom>
              <a:blipFill>
                <a:blip r:embed="rId2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0F47AB-F275-F747-A9BA-25AACB6227E9}"/>
                  </a:ext>
                </a:extLst>
              </p:cNvPr>
              <p:cNvSpPr txBox="1"/>
              <p:nvPr/>
            </p:nvSpPr>
            <p:spPr>
              <a:xfrm>
                <a:off x="1905000" y="3175000"/>
                <a:ext cx="1143000" cy="4277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(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0F47AB-F275-F747-A9BA-25AACB622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175000"/>
                <a:ext cx="1143000" cy="427746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F93D3C2-2393-8549-A8C3-0F2315E91C97}"/>
              </a:ext>
            </a:extLst>
          </p:cNvPr>
          <p:cNvSpPr txBox="1"/>
          <p:nvPr/>
        </p:nvSpPr>
        <p:spPr>
          <a:xfrm>
            <a:off x="939800" y="5638800"/>
            <a:ext cx="497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4B2E83"/>
                </a:solidFill>
              </a:rPr>
              <a:t>Eigenvectors = axes of the data ellipse • eigenvalues = squared half-lengths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BF80DF-C923-2A4A-BE77-1A0F9F9E62CD}"/>
              </a:ext>
            </a:extLst>
          </p:cNvPr>
          <p:cNvSpPr txBox="1"/>
          <p:nvPr/>
        </p:nvSpPr>
        <p:spPr>
          <a:xfrm>
            <a:off x="6350000" y="20574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What they mean geometrically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74C021-BFEA-834C-A9E4-B21C8D1930C3}"/>
                  </a:ext>
                </a:extLst>
              </p:cNvPr>
              <p:cNvSpPr txBox="1"/>
              <p:nvPr/>
            </p:nvSpPr>
            <p:spPr>
              <a:xfrm>
                <a:off x="6350000" y="2413000"/>
                <a:ext cx="5080000" cy="333783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—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is a direction S only stretches, never rotates.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Eigenvector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= orientation of a principal axis of the data ellipse (the v's are orthogonal).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= variance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; the ellipse's half-width there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Largest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⇒ direction of maximum spread = PC1; next ⇒ PC2 ⊥ to it.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= fraction of variance captured by PC1.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Circular cloud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; a line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74C021-BFEA-834C-A9E4-B21C8D193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413000"/>
                <a:ext cx="5080000" cy="3337837"/>
              </a:xfrm>
              <a:prstGeom prst="rect">
                <a:avLst/>
              </a:prstGeom>
              <a:blipFill>
                <a:blip r:embed="rId4"/>
                <a:stretch>
                  <a:fillRect l="-499" r="-748" b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613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6205AA-3F3F-074B-9113-3A1D7BFFF9F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69254-75DA-8A42-9BAD-492A5044CF67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Graphical Representations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B4EFD-7467-7041-862A-6917B81028D5}"/>
              </a:ext>
            </a:extLst>
          </p:cNvPr>
          <p:cNvSpPr txBox="1"/>
          <p:nvPr/>
        </p:nvSpPr>
        <p:spPr>
          <a:xfrm>
            <a:off x="762000" y="1498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Three standard plots summarize a PCA. Each answers a different question.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DEE72D-0C50-F74C-B4C7-A9BD8487B499}"/>
              </a:ext>
            </a:extLst>
          </p:cNvPr>
          <p:cNvSpPr/>
          <p:nvPr/>
        </p:nvSpPr>
        <p:spPr>
          <a:xfrm>
            <a:off x="762000" y="2032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589479-104F-6E4A-9735-EAC2C3F114B8}"/>
              </a:ext>
            </a:extLst>
          </p:cNvPr>
          <p:cNvSpPr txBox="1"/>
          <p:nvPr/>
        </p:nvSpPr>
        <p:spPr>
          <a:xfrm>
            <a:off x="939800" y="2184400"/>
            <a:ext cx="3073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Score plot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D274F0-9A60-B541-A059-1C42FE030DA2}"/>
              </a:ext>
            </a:extLst>
          </p:cNvPr>
          <p:cNvSpPr txBox="1"/>
          <p:nvPr/>
        </p:nvSpPr>
        <p:spPr>
          <a:xfrm>
            <a:off x="939800" y="2590800"/>
            <a:ext cx="30734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Where do observations sit on PC1–PC2? Reveals clusters, gradients, outliers.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7AFE9E-0B57-D34D-956D-8A9BEF86F377}"/>
              </a:ext>
            </a:extLst>
          </p:cNvPr>
          <p:cNvSpPr/>
          <p:nvPr/>
        </p:nvSpPr>
        <p:spPr>
          <a:xfrm>
            <a:off x="4381500" y="2032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EB2F8-C2BC-3549-AA8B-6B5AF8F66C3F}"/>
              </a:ext>
            </a:extLst>
          </p:cNvPr>
          <p:cNvSpPr txBox="1"/>
          <p:nvPr/>
        </p:nvSpPr>
        <p:spPr>
          <a:xfrm>
            <a:off x="4559300" y="2184400"/>
            <a:ext cx="3073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Loading plot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7A4E1E-8F76-4E4B-9A6F-AFC55BF9810C}"/>
              </a:ext>
            </a:extLst>
          </p:cNvPr>
          <p:cNvSpPr txBox="1"/>
          <p:nvPr/>
        </p:nvSpPr>
        <p:spPr>
          <a:xfrm>
            <a:off x="4559300" y="2590800"/>
            <a:ext cx="30734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How does each original variable contribute to each PC? Arrows = variable directions.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BDACAD-5BB1-E24E-BB52-971EB546F832}"/>
              </a:ext>
            </a:extLst>
          </p:cNvPr>
          <p:cNvSpPr/>
          <p:nvPr/>
        </p:nvSpPr>
        <p:spPr>
          <a:xfrm>
            <a:off x="8001000" y="2032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61E51-7357-6D4D-B99F-419C7AAEF332}"/>
              </a:ext>
            </a:extLst>
          </p:cNvPr>
          <p:cNvSpPr txBox="1"/>
          <p:nvPr/>
        </p:nvSpPr>
        <p:spPr>
          <a:xfrm>
            <a:off x="8178800" y="2184400"/>
            <a:ext cx="3073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Biplot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5B2E30-2253-714F-9777-E9AD5816BBE1}"/>
              </a:ext>
            </a:extLst>
          </p:cNvPr>
          <p:cNvSpPr txBox="1"/>
          <p:nvPr/>
        </p:nvSpPr>
        <p:spPr>
          <a:xfrm>
            <a:off x="8178800" y="2590800"/>
            <a:ext cx="30734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Scores + loadings overlaid. Points near an arrow score high on that variable.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5FC12DE-9859-7840-B79E-D42DD0563E48}"/>
              </a:ext>
            </a:extLst>
          </p:cNvPr>
          <p:cNvSpPr/>
          <p:nvPr/>
        </p:nvSpPr>
        <p:spPr>
          <a:xfrm>
            <a:off x="762000" y="3962400"/>
            <a:ext cx="10668000" cy="21336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B05B14-1111-6E4F-A8C2-6C8CC8A52EAC}"/>
              </a:ext>
            </a:extLst>
          </p:cNvPr>
          <p:cNvSpPr txBox="1"/>
          <p:nvPr/>
        </p:nvSpPr>
        <p:spPr>
          <a:xfrm>
            <a:off x="990600" y="41148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Interpretation checklist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06A44B-BD50-A540-BB7B-242EFFA0BA1C}"/>
              </a:ext>
            </a:extLst>
          </p:cNvPr>
          <p:cNvSpPr txBox="1"/>
          <p:nvPr/>
        </p:nvSpPr>
        <p:spPr>
          <a:xfrm>
            <a:off x="990600" y="4470400"/>
            <a:ext cx="10210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• Axes carry % variance explained — always label them (e.g., "PC1 (62%)").
• Angle between two loading arrows ≈ correlation between those variables (small angle ⇒ positively correlated).
• Length of a loading arrow ⇒ how well that variable is represented in the plotted plane.
• Sign of a PC is arbitrary — only relative positions and directions are meaningful.</a:t>
            </a:r>
          </a:p>
        </p:txBody>
      </p:sp>
    </p:spTree>
    <p:extLst>
      <p:ext uri="{BB962C8B-B14F-4D97-AF65-F5344CB8AC3E}">
        <p14:creationId xmlns:p14="http://schemas.microsoft.com/office/powerpoint/2010/main" val="1268664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A904C5-2DE9-2047-A98B-5D216A61896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D9E21-19BD-4143-88D2-D9E54B34404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Reading a Biplot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EE7402-F7CA-0245-9BE1-E81D8237CEE9}"/>
              </a:ext>
            </a:extLst>
          </p:cNvPr>
          <p:cNvSpPr/>
          <p:nvPr/>
        </p:nvSpPr>
        <p:spPr>
          <a:xfrm>
            <a:off x="889000" y="1714500"/>
            <a:ext cx="4826000" cy="43180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034247-8360-E24B-81E5-EB153DFB1836}"/>
              </a:ext>
            </a:extLst>
          </p:cNvPr>
          <p:cNvSpPr/>
          <p:nvPr/>
        </p:nvSpPr>
        <p:spPr>
          <a:xfrm>
            <a:off x="1016000" y="3860800"/>
            <a:ext cx="4572000" cy="2540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0263AD-E5BB-DA4E-B3BA-D53F0248DC71}"/>
              </a:ext>
            </a:extLst>
          </p:cNvPr>
          <p:cNvSpPr/>
          <p:nvPr/>
        </p:nvSpPr>
        <p:spPr>
          <a:xfrm>
            <a:off x="3289300" y="1841500"/>
            <a:ext cx="25400" cy="406400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48C66C-B994-AF44-881B-0AF808C96D13}"/>
              </a:ext>
            </a:extLst>
          </p:cNvPr>
          <p:cNvSpPr/>
          <p:nvPr/>
        </p:nvSpPr>
        <p:spPr>
          <a:xfrm>
            <a:off x="2362200" y="318770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CA3993-DD2E-404F-AA13-3270DFDF7A27}"/>
              </a:ext>
            </a:extLst>
          </p:cNvPr>
          <p:cNvSpPr/>
          <p:nvPr/>
        </p:nvSpPr>
        <p:spPr>
          <a:xfrm>
            <a:off x="2489200" y="293370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5EF6EC-F566-424B-A839-D9C86275FDC7}"/>
              </a:ext>
            </a:extLst>
          </p:cNvPr>
          <p:cNvSpPr/>
          <p:nvPr/>
        </p:nvSpPr>
        <p:spPr>
          <a:xfrm>
            <a:off x="2171700" y="312420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63DBCA-8A4E-3B4E-B436-50F7AB97D107}"/>
              </a:ext>
            </a:extLst>
          </p:cNvPr>
          <p:cNvSpPr/>
          <p:nvPr/>
        </p:nvSpPr>
        <p:spPr>
          <a:xfrm>
            <a:off x="4013200" y="4330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36E441-C379-B243-86EC-7E0D318A2336}"/>
              </a:ext>
            </a:extLst>
          </p:cNvPr>
          <p:cNvSpPr/>
          <p:nvPr/>
        </p:nvSpPr>
        <p:spPr>
          <a:xfrm>
            <a:off x="4203700" y="45212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012E67-29DF-654E-AC03-6F4C460CCEE9}"/>
              </a:ext>
            </a:extLst>
          </p:cNvPr>
          <p:cNvSpPr/>
          <p:nvPr/>
        </p:nvSpPr>
        <p:spPr>
          <a:xfrm>
            <a:off x="3949700" y="4203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A788FE0-B243-4940-8268-0C591CE98321}"/>
              </a:ext>
            </a:extLst>
          </p:cNvPr>
          <p:cNvSpPr/>
          <p:nvPr/>
        </p:nvSpPr>
        <p:spPr>
          <a:xfrm>
            <a:off x="3505200" y="30607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C1B4D4A-8ED4-7A42-BBB8-31A0639674DF}"/>
              </a:ext>
            </a:extLst>
          </p:cNvPr>
          <p:cNvSpPr/>
          <p:nvPr/>
        </p:nvSpPr>
        <p:spPr>
          <a:xfrm>
            <a:off x="3695700" y="31877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DA107E-AD7C-8443-A591-4C38416ED41D}"/>
              </a:ext>
            </a:extLst>
          </p:cNvPr>
          <p:cNvSpPr/>
          <p:nvPr/>
        </p:nvSpPr>
        <p:spPr>
          <a:xfrm>
            <a:off x="3441700" y="28702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00F7A0-5A69-6540-9D04-FB06047E0485}"/>
              </a:ext>
            </a:extLst>
          </p:cNvPr>
          <p:cNvSpPr/>
          <p:nvPr/>
        </p:nvSpPr>
        <p:spPr>
          <a:xfrm rot="-915307">
            <a:off x="3302000" y="3857625"/>
            <a:ext cx="1448022" cy="3175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3FA9A-1183-9F40-A869-CF4D23C3E1B5}"/>
              </a:ext>
            </a:extLst>
          </p:cNvPr>
          <p:cNvSpPr txBox="1"/>
          <p:nvPr/>
        </p:nvSpPr>
        <p:spPr>
          <a:xfrm>
            <a:off x="4375150" y="3384550"/>
            <a:ext cx="889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6670"/>
                </a:solidFill>
              </a:rPr>
              <a:t>Income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37137E-4837-7541-B427-CFB8315FCF86}"/>
              </a:ext>
            </a:extLst>
          </p:cNvPr>
          <p:cNvSpPr/>
          <p:nvPr/>
        </p:nvSpPr>
        <p:spPr>
          <a:xfrm rot="2021404">
            <a:off x="3302000" y="3857625"/>
            <a:ext cx="1373715" cy="3175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012B7B-8686-3946-8981-87FB0AEB4861}"/>
              </a:ext>
            </a:extLst>
          </p:cNvPr>
          <p:cNvSpPr txBox="1"/>
          <p:nvPr/>
        </p:nvSpPr>
        <p:spPr>
          <a:xfrm>
            <a:off x="4133850" y="4470400"/>
            <a:ext cx="889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6670"/>
                </a:solidFill>
              </a:rPr>
              <a:t>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D74931-D28B-C04C-BE84-7FFCB3648488}"/>
              </a:ext>
            </a:extLst>
          </p:cNvPr>
          <p:cNvSpPr/>
          <p:nvPr/>
        </p:nvSpPr>
        <p:spPr>
          <a:xfrm rot="-6708085">
            <a:off x="3302000" y="3857625"/>
            <a:ext cx="1367831" cy="3175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25B97F-DCFA-7248-85BA-6DA6ABF0581B}"/>
              </a:ext>
            </a:extLst>
          </p:cNvPr>
          <p:cNvSpPr txBox="1"/>
          <p:nvPr/>
        </p:nvSpPr>
        <p:spPr>
          <a:xfrm>
            <a:off x="2857500" y="3302000"/>
            <a:ext cx="889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50" b="1" dirty="0">
                <a:solidFill>
                  <a:srgbClr val="006670"/>
                </a:solidFill>
              </a:rPr>
              <a:t>Education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EFA025-0F10-DF49-B4AA-14B352027974}"/>
              </a:ext>
            </a:extLst>
          </p:cNvPr>
          <p:cNvSpPr txBox="1"/>
          <p:nvPr/>
        </p:nvSpPr>
        <p:spPr>
          <a:xfrm>
            <a:off x="4572000" y="39751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666666"/>
                </a:solidFill>
              </a:rPr>
              <a:t>PC1 (54%)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CCDB52-CF38-2246-A9C7-646DC9AF0A55}"/>
              </a:ext>
            </a:extLst>
          </p:cNvPr>
          <p:cNvSpPr txBox="1"/>
          <p:nvPr/>
        </p:nvSpPr>
        <p:spPr>
          <a:xfrm>
            <a:off x="3378200" y="1905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666666"/>
                </a:solidFill>
              </a:rPr>
              <a:t>PC2 (23%)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395196-39BF-FE45-A138-FF2EDDD3A68C}"/>
              </a:ext>
            </a:extLst>
          </p:cNvPr>
          <p:cNvSpPr txBox="1"/>
          <p:nvPr/>
        </p:nvSpPr>
        <p:spPr>
          <a:xfrm>
            <a:off x="6096000" y="17145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How to read 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BBE815-AC9A-544D-A4EA-CB0BD478B1EC}"/>
              </a:ext>
            </a:extLst>
          </p:cNvPr>
          <p:cNvSpPr txBox="1"/>
          <p:nvPr/>
        </p:nvSpPr>
        <p:spPr>
          <a:xfrm>
            <a:off x="6096000" y="2108200"/>
            <a:ext cx="54610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</a:rPr>
              <a:t>• Three colored clusters → three sub-populations separated mainly along PC1.
• "Income" and "Age" arrows point right → high-PC1 observations are older, higher-income.
• "Income" and "Education" arrows are ~90° apart → roughly uncorrelated in this sample.
• A point far along an arrow's direction scores high on that variable.
• Axes show 54% + 23% = 77% of total variance captured in 2-D.</a:t>
            </a:r>
          </a:p>
        </p:txBody>
      </p:sp>
    </p:spTree>
    <p:extLst>
      <p:ext uri="{BB962C8B-B14F-4D97-AF65-F5344CB8AC3E}">
        <p14:creationId xmlns:p14="http://schemas.microsoft.com/office/powerpoint/2010/main" val="3104556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0CF9BC-27EA-E54C-865D-1F1F5104C0F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92285-B95E-DD42-993C-9B02884D8E14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How Many Components to Keep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CC34D-31E6-D542-BAFB-F5CDA8AEA7C0}"/>
              </a:ext>
            </a:extLst>
          </p:cNvPr>
          <p:cNvSpPr txBox="1"/>
          <p:nvPr/>
        </p:nvSpPr>
        <p:spPr>
          <a:xfrm>
            <a:off x="762000" y="14986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No single rule is definitive — use several and look for agreement.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490821-CDE8-0142-B404-A66FB7C924BC}"/>
              </a:ext>
            </a:extLst>
          </p:cNvPr>
          <p:cNvSpPr/>
          <p:nvPr/>
        </p:nvSpPr>
        <p:spPr>
          <a:xfrm>
            <a:off x="762000" y="2006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463BA-3DEA-F94B-8FD3-F56BA11E9BDD}"/>
              </a:ext>
            </a:extLst>
          </p:cNvPr>
          <p:cNvSpPr txBox="1"/>
          <p:nvPr/>
        </p:nvSpPr>
        <p:spPr>
          <a:xfrm>
            <a:off x="939800" y="2108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Kaiser criterion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E6A6DD-07D2-404D-A1A3-42D2091E73F4}"/>
                  </a:ext>
                </a:extLst>
              </p:cNvPr>
              <p:cNvSpPr txBox="1"/>
              <p:nvPr/>
            </p:nvSpPr>
            <p:spPr>
              <a:xfrm>
                <a:off x="939800" y="2387600"/>
                <a:ext cx="5130800" cy="5993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components with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(on standardized data): they explain more than one original variable's worth of variance.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E6A6DD-07D2-404D-A1A3-42D2091E7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87600"/>
                <a:ext cx="5130800" cy="599395"/>
              </a:xfrm>
              <a:prstGeom prst="rect">
                <a:avLst/>
              </a:prstGeom>
              <a:blipFill>
                <a:blip r:embed="rId2"/>
                <a:stretch>
                  <a:fillRect l="-246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1154B6-2A6B-4442-BE3A-7D95CFA039BB}"/>
              </a:ext>
            </a:extLst>
          </p:cNvPr>
          <p:cNvSpPr/>
          <p:nvPr/>
        </p:nvSpPr>
        <p:spPr>
          <a:xfrm>
            <a:off x="762000" y="3022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345384-08C4-9445-B042-EF1F86539384}"/>
              </a:ext>
            </a:extLst>
          </p:cNvPr>
          <p:cNvSpPr txBox="1"/>
          <p:nvPr/>
        </p:nvSpPr>
        <p:spPr>
          <a:xfrm>
            <a:off x="939800" y="3124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Scree / elbow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6BD85B-8B44-9F46-9D93-AB11E03FB0E0}"/>
                  </a:ext>
                </a:extLst>
              </p:cNvPr>
              <p:cNvSpPr txBox="1"/>
              <p:nvPr/>
            </p:nvSpPr>
            <p:spPr>
              <a:xfrm>
                <a:off x="939800" y="3403600"/>
                <a:ext cx="5130800" cy="5993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vs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; keep components before the curve flattens into the 'rubble'.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6BD85B-8B44-9F46-9D93-AB11E03FB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3403600"/>
                <a:ext cx="5130800" cy="599395"/>
              </a:xfrm>
              <a:prstGeom prst="rect">
                <a:avLst/>
              </a:prstGeom>
              <a:blipFill>
                <a:blip r:embed="rId3"/>
                <a:stretch>
                  <a:fillRect l="-246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307488-FB96-6A4F-B7EE-68B0CB36B3D8}"/>
              </a:ext>
            </a:extLst>
          </p:cNvPr>
          <p:cNvSpPr/>
          <p:nvPr/>
        </p:nvSpPr>
        <p:spPr>
          <a:xfrm>
            <a:off x="762000" y="4038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876615-04E8-574F-B8D8-8E7051F25ACB}"/>
              </a:ext>
            </a:extLst>
          </p:cNvPr>
          <p:cNvSpPr txBox="1"/>
          <p:nvPr/>
        </p:nvSpPr>
        <p:spPr>
          <a:xfrm>
            <a:off x="939800" y="4140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Cumulative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5EB6E0-4DC6-B44D-83F6-F2D8743B58A6}"/>
                  </a:ext>
                </a:extLst>
              </p:cNvPr>
              <p:cNvSpPr txBox="1"/>
              <p:nvPr/>
            </p:nvSpPr>
            <p:spPr>
              <a:xfrm>
                <a:off x="939800" y="4419600"/>
                <a:ext cx="5130800" cy="3629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enough PCs to reach a target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Σ</m:t>
                    </m:r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share (e.g., 80–90%).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5EB6E0-4DC6-B44D-83F6-F2D8743B5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419600"/>
                <a:ext cx="5130800" cy="362984"/>
              </a:xfrm>
              <a:prstGeom prst="rect">
                <a:avLst/>
              </a:prstGeom>
              <a:blipFill>
                <a:blip r:embed="rId4"/>
                <a:stretch>
                  <a:fillRect l="-246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D71B6EC-8E65-FF40-9107-7B90740E5349}"/>
              </a:ext>
            </a:extLst>
          </p:cNvPr>
          <p:cNvSpPr/>
          <p:nvPr/>
        </p:nvSpPr>
        <p:spPr>
          <a:xfrm>
            <a:off x="762000" y="5054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59D89A-F507-F849-8356-DEE39BE2AE5A}"/>
              </a:ext>
            </a:extLst>
          </p:cNvPr>
          <p:cNvSpPr txBox="1"/>
          <p:nvPr/>
        </p:nvSpPr>
        <p:spPr>
          <a:xfrm>
            <a:off x="939800" y="5156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Parallel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829E07-C70B-4B47-B14C-DD6076B46672}"/>
                  </a:ext>
                </a:extLst>
              </p:cNvPr>
              <p:cNvSpPr txBox="1"/>
              <p:nvPr/>
            </p:nvSpPr>
            <p:spPr>
              <a:xfrm>
                <a:off x="939800" y="5435600"/>
                <a:ext cx="5130800" cy="5993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that exceed the j-th eigenvalue from random/permuted data — the most defensible rule.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829E07-C70B-4B47-B14C-DD6076B46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5435600"/>
                <a:ext cx="5130800" cy="599395"/>
              </a:xfrm>
              <a:prstGeom prst="rect">
                <a:avLst/>
              </a:prstGeom>
              <a:blipFill>
                <a:blip r:embed="rId5"/>
                <a:stretch>
                  <a:fillRect l="-246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ScreeChart"/>
          <p:cNvGraphicFramePr/>
          <p:nvPr/>
        </p:nvGraphicFramePr>
        <p:xfrm>
          <a:off x="6477000" y="2006600"/>
          <a:ext cx="4953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4307947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Matrix Formulation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Data matrix X ∈ ℝⁿˣᵖ : n observations (rows), p variables (columns). Center each column to mean 0; standardize if scales differ.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C5C5A-6FB6-B74C-B657-9DAE84AAACCF}"/>
              </a:ext>
            </a:extLst>
          </p:cNvPr>
          <p:cNvSpPr txBox="1"/>
          <p:nvPr/>
        </p:nvSpPr>
        <p:spPr>
          <a:xfrm>
            <a:off x="762000" y="2057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1 · Centering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0D200E-DA5E-9842-BC68-DAA4AD7615DE}"/>
              </a:ext>
            </a:extLst>
          </p:cNvPr>
          <p:cNvSpPr/>
          <p:nvPr/>
        </p:nvSpPr>
        <p:spPr>
          <a:xfrm>
            <a:off x="762000" y="2362200"/>
            <a:ext cx="5334000" cy="584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4440AF-607E-7041-A693-CC7A4AD91D42}"/>
                  </a:ext>
                </a:extLst>
              </p:cNvPr>
              <p:cNvSpPr txBox="1"/>
              <p:nvPr/>
            </p:nvSpPr>
            <p:spPr>
              <a:xfrm>
                <a:off x="939800" y="2463800"/>
                <a:ext cx="4978400" cy="61273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pos m:val="top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bar>
                        <m:barPr>
                          <m:pos m:val="top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4440AF-607E-7041-A693-CC7A4AD91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463800"/>
                <a:ext cx="4978400" cy="612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D3256AE-37C7-844D-A8E0-65192B79BEFF}"/>
              </a:ext>
            </a:extLst>
          </p:cNvPr>
          <p:cNvSpPr txBox="1"/>
          <p:nvPr/>
        </p:nvSpPr>
        <p:spPr>
          <a:xfrm>
            <a:off x="762000" y="29972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2 · Covariance matrix (p×p)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29B528F-5993-5644-8DC8-9662F6948F12}"/>
              </a:ext>
            </a:extLst>
          </p:cNvPr>
          <p:cNvSpPr/>
          <p:nvPr/>
        </p:nvSpPr>
        <p:spPr>
          <a:xfrm>
            <a:off x="762000" y="3302000"/>
            <a:ext cx="5334000" cy="584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D20A3C-9A78-3B4D-80A3-39C8B3F17239}"/>
                  </a:ext>
                </a:extLst>
              </p:cNvPr>
              <p:cNvSpPr txBox="1"/>
              <p:nvPr/>
            </p:nvSpPr>
            <p:spPr>
              <a:xfrm>
                <a:off x="939800" y="3403600"/>
                <a:ext cx="4978400" cy="61273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D20A3C-9A78-3B4D-80A3-39C8B3F17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3403600"/>
                <a:ext cx="4978400" cy="612732"/>
              </a:xfrm>
              <a:prstGeom prst="rect">
                <a:avLst/>
              </a:prstGeom>
              <a:blipFill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13C985F-A064-F645-8A2D-3FF14B14A122}"/>
              </a:ext>
            </a:extLst>
          </p:cNvPr>
          <p:cNvSpPr txBox="1"/>
          <p:nvPr/>
        </p:nvSpPr>
        <p:spPr>
          <a:xfrm>
            <a:off x="762000" y="3937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3 · Eigen-decomposition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FFFABD4-4A7C-9045-AF25-964DE9A517DC}"/>
              </a:ext>
            </a:extLst>
          </p:cNvPr>
          <p:cNvSpPr/>
          <p:nvPr/>
        </p:nvSpPr>
        <p:spPr>
          <a:xfrm>
            <a:off x="762000" y="4241800"/>
            <a:ext cx="5334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547CB4-67E2-B042-82F7-0C8D886732F0}"/>
                  </a:ext>
                </a:extLst>
              </p:cNvPr>
              <p:cNvSpPr txBox="1"/>
              <p:nvPr/>
            </p:nvSpPr>
            <p:spPr>
              <a:xfrm>
                <a:off x="939800" y="4343400"/>
                <a:ext cx="4978400" cy="74994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= 1,…,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𝛬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𝛬</m:t>
                      </m:r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≥ … ≥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547CB4-67E2-B042-82F7-0C8D88673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343400"/>
                <a:ext cx="4978400" cy="749949"/>
              </a:xfrm>
              <a:prstGeom prst="rect">
                <a:avLst/>
              </a:prstGeom>
              <a:blipFill>
                <a:blip r:embed="rId4"/>
                <a:stretch>
                  <a:fillRect t="-166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8EFF22A-0BD7-8E4F-88DB-E370912C6A92}"/>
              </a:ext>
            </a:extLst>
          </p:cNvPr>
          <p:cNvSpPr txBox="1"/>
          <p:nvPr/>
        </p:nvSpPr>
        <p:spPr>
          <a:xfrm>
            <a:off x="6350000" y="2057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4 · Loadings &amp; scores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392ADA5-87F7-3748-AB34-A4B52FD65038}"/>
              </a:ext>
            </a:extLst>
          </p:cNvPr>
          <p:cNvSpPr/>
          <p:nvPr/>
        </p:nvSpPr>
        <p:spPr>
          <a:xfrm>
            <a:off x="6350000" y="2362200"/>
            <a:ext cx="5080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C78635-33D8-2340-B8BB-3509965764F5}"/>
                  </a:ext>
                </a:extLst>
              </p:cNvPr>
              <p:cNvSpPr txBox="1"/>
              <p:nvPr/>
            </p:nvSpPr>
            <p:spPr>
              <a:xfrm>
                <a:off x="6527800" y="2463800"/>
                <a:ext cx="4724400" cy="660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Loadings: columns of V (eigenvectors)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Scores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C78635-33D8-2340-B8BB-350996576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463800"/>
                <a:ext cx="4724400" cy="660400"/>
              </a:xfrm>
              <a:prstGeom prst="rect">
                <a:avLst/>
              </a:prstGeom>
              <a:blipFill>
                <a:blip r:embed="rId5"/>
                <a:stretch>
                  <a:fillRect l="-804" t="-185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71E2E1C-4001-5A45-8C22-D0C69910EBA8}"/>
              </a:ext>
            </a:extLst>
          </p:cNvPr>
          <p:cNvSpPr txBox="1"/>
          <p:nvPr/>
        </p:nvSpPr>
        <p:spPr>
          <a:xfrm>
            <a:off x="6350000" y="3327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5 · k-dim projection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844EDC7-22A7-ED4C-9CF7-8349CE9C6E40}"/>
              </a:ext>
            </a:extLst>
          </p:cNvPr>
          <p:cNvSpPr/>
          <p:nvPr/>
        </p:nvSpPr>
        <p:spPr>
          <a:xfrm>
            <a:off x="6350000" y="3632200"/>
            <a:ext cx="5080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06437E-FF13-9C49-9DE5-55B10EF96C8E}"/>
                  </a:ext>
                </a:extLst>
              </p:cNvPr>
              <p:cNvSpPr txBox="1"/>
              <p:nvPr/>
            </p:nvSpPr>
            <p:spPr>
              <a:xfrm>
                <a:off x="6527800" y="3733800"/>
                <a:ext cx="4724400" cy="73173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first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k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columns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Reconstruction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acc>
                        <m:accPr>
                          <m:chr m:val="̂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pos m:val="top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06437E-FF13-9C49-9DE5-55B10EF96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3733800"/>
                <a:ext cx="4724400" cy="731739"/>
              </a:xfrm>
              <a:prstGeom prst="rect">
                <a:avLst/>
              </a:prstGeom>
              <a:blipFill>
                <a:blip r:embed="rId6"/>
                <a:stretch>
                  <a:fillRect t="-1724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4573FF6-A011-3E42-8506-AE7CD8559577}"/>
              </a:ext>
            </a:extLst>
          </p:cNvPr>
          <p:cNvSpPr txBox="1"/>
          <p:nvPr/>
        </p:nvSpPr>
        <p:spPr>
          <a:xfrm>
            <a:off x="6350000" y="4597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6 · Variance explained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28D4FA8-02C5-F348-A990-02F020282638}"/>
              </a:ext>
            </a:extLst>
          </p:cNvPr>
          <p:cNvSpPr/>
          <p:nvPr/>
        </p:nvSpPr>
        <p:spPr>
          <a:xfrm>
            <a:off x="6350000" y="4902200"/>
            <a:ext cx="5080000" cy="584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E10278-5BC2-1444-A188-2339AA4077B7}"/>
                  </a:ext>
                </a:extLst>
              </p:cNvPr>
              <p:cNvSpPr txBox="1"/>
              <p:nvPr/>
            </p:nvSpPr>
            <p:spPr>
              <a:xfrm>
                <a:off x="6527800" y="5003800"/>
                <a:ext cx="4724400" cy="77457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prop</m:t>
                      </m:r>
                      <m:r>
                        <a:rPr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𝑃𝐶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/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E10278-5BC2-1444-A188-2339AA407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5003800"/>
                <a:ext cx="4724400" cy="774571"/>
              </a:xfrm>
              <a:prstGeom prst="rect">
                <a:avLst/>
              </a:prstGeom>
              <a:blipFill>
                <a:blip r:embed="rId7"/>
                <a:stretch>
                  <a:fillRect t="-11290" b="-7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7459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Worked Example: A 5×2 Data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n = 5 observations (rows), p = 2 variables (columns). We will run the full PCA by hand, then plot the result.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DataMatrix"/>
              <p:cNvSpPr txBox="1"/>
              <p:nvPr/>
            </p:nvSpPr>
            <p:spPr>
              <a:xfrm>
                <a:off x="889000" y="1905000"/>
                <a:ext cx="5080000" cy="4064000"/>
              </a:xfrm>
              <a:prstGeom prst="rect">
                <a:avLst/>
              </a:prstGeom>
              <a:noFill/>
            </p:spPr>
            <p:txBody>
              <a:bodyPr wrap="square" rtlCol="0" anchor="t">
                <a:normAutofit/>
              </a:bodyPr>
              <a:lstStyle/>
              <a:p>
                <a:pPr algn="ctr"/>
                <a:r>
                  <a:rPr lang="en-US" sz="1600" b="1">
                    <a:solidFill>
                      <a:srgbClr val="4B2E83"/>
                    </a:solidFill>
                  </a:rPr>
                  <a:t>Data matrix  X  (5 × 2)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000" i="1">
                          <a:latin typeface="Cambria Math"/>
                        </a:rPr>
                        <m:t>𝑋</m:t>
                      </m:r>
                      <m:r>
                        <a:rPr sz="20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Each row = one observation;  columns = variables  x₁, x₂.</a:t>
                </a:r>
              </a:p>
            </p:txBody>
          </p:sp>
        </mc:Choice>
        <mc:Fallback>
          <p:sp>
            <p:nvSpPr>
              <p:cNvPr id="120" name="Data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" y="1905000"/>
                <a:ext cx="5080000" cy="4064000"/>
              </a:xfrm>
              <a:prstGeom prst="rect">
                <a:avLst/>
              </a:prstGeom>
              <a:blipFill>
                <a:blip r:embed="rId2"/>
                <a:stretch>
                  <a:fillRect t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ScatterChart"/>
          <p:cNvGraphicFramePr/>
          <p:nvPr/>
        </p:nvGraphicFramePr>
        <p:xfrm>
          <a:off x="6223000" y="1905000"/>
          <a:ext cx="5461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68175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1 · Centering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Subtract each column's mean so every variable is mean-zero — the operation is  Xc = X − 1ₙ x̄ᵀ.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MeanCard"/>
              <p:cNvSpPr/>
              <p:nvPr/>
            </p:nvSpPr>
            <p:spPr>
              <a:xfrm>
                <a:off x="762000" y="1905000"/>
                <a:ext cx="10668000" cy="1752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1 · Column means  →  mean vector x̄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000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sz="20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x̄₁ = (3+4+5+6+7)/5 = 5      x̄₂ = (4+3+5+7+6)/5 = 5</a:t>
                </a:r>
              </a:p>
            </p:txBody>
          </p:sp>
        </mc:Choice>
        <mc:Fallback>
          <p:sp>
            <p:nvSpPr>
              <p:cNvPr id="130" name="Mean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752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CenterCard"/>
              <p:cNvSpPr/>
              <p:nvPr/>
            </p:nvSpPr>
            <p:spPr>
              <a:xfrm>
                <a:off x="762000" y="3810000"/>
                <a:ext cx="10668000" cy="2489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2 · Subtract the mean from every observation  →  centered matrix Xc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Each column of Xc now sums to 0 — the data is centred on the origin.</a:t>
                </a:r>
              </a:p>
            </p:txBody>
          </p:sp>
        </mc:Choice>
        <mc:Fallback>
          <p:sp>
            <p:nvSpPr>
              <p:cNvPr id="131" name="Center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810000"/>
                <a:ext cx="10668000" cy="2489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5011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2 · Covariance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Multiply the centered matrix by its transpose and scale —  S = 1/(n−1) · Xcᵀ Xc  (a 2×2 matrix).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ProdCard"/>
              <p:cNvSpPr/>
              <p:nvPr/>
            </p:nvSpPr>
            <p:spPr>
              <a:xfrm>
                <a:off x="762000" y="1905000"/>
                <a:ext cx="10668000" cy="2286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Matrix product  Xcᵀ Xc   (2×5 · 5×2  →  2×2)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5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50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5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5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·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diagonal = Σ(column)² → (−2)²+(−1)²+0²+1²+2² = 10    off-diagonal = Σ(col₁·col₂) = 2+2+0+2+2 = 8</a:t>
                </a:r>
              </a:p>
            </p:txBody>
          </p:sp>
        </mc:Choice>
        <mc:Fallback>
          <p:sp>
            <p:nvSpPr>
              <p:cNvPr id="140" name="Prod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2286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CovCard"/>
              <p:cNvSpPr/>
              <p:nvPr/>
            </p:nvSpPr>
            <p:spPr>
              <a:xfrm>
                <a:off x="762000" y="43815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Scale by 1/(n−1) = 1/4   →   covariance matrix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900" i="1">
                          <a:latin typeface="Cambria Math"/>
                        </a:rPr>
                        <m:t>𝑆</m:t>
                      </m:r>
                      <m:r>
                        <a:rPr sz="19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𝑛</m:t>
                          </m:r>
                          <m:r>
                            <a:rPr sz="1500">
                              <a:latin typeface="Cambria Math"/>
                            </a:rPr>
                            <m:t>−1</m:t>
                          </m:r>
                        </m:den>
                      </m:f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7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7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70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7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7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9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sz="19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2.0</m:t>
                                </m:r>
                              </m:e>
                            </m:mr>
                            <m:mr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2.0</m:t>
                                </m:r>
                              </m:e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1" name="Cov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3815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2457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Eigenvalues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1 of 3 — solve the characteristic equation  det(S − λI) = 0  for the two eigenvalues.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CharA"/>
              <p:cNvSpPr/>
              <p:nvPr/>
            </p:nvSpPr>
            <p:spPr>
              <a:xfrm>
                <a:off x="762000" y="1905000"/>
                <a:ext cx="10668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Subtract λ from the diagonal of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− </m:t>
                      </m:r>
                      <m:r>
                        <a:rPr sz="1600" i="1">
                          <a:latin typeface="Cambria Math"/>
                        </a:rPr>
                        <m:t>𝜆</m:t>
                      </m:r>
                      <m:r>
                        <a:rPr sz="1600" i="1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− </m:t>
                      </m:r>
                      <m:r>
                        <a:rPr sz="1600" i="1">
                          <a:latin typeface="Cambria Math"/>
                        </a:rPr>
                        <m:t>𝜆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50" name="Char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CharB"/>
              <p:cNvSpPr/>
              <p:nvPr/>
            </p:nvSpPr>
            <p:spPr>
              <a:xfrm>
                <a:off x="762000" y="3454400"/>
                <a:ext cx="10668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Set the determinant to zero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𝑑𝑒𝑡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/>
                                </a:rPr>
                                <m:t>2.5 − </m:t>
                              </m:r>
                              <m:r>
                                <a:rPr sz="1500">
                                  <a:latin typeface="Cambria Math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− 4 = 0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expand:  (2.5 − λ)(2.5 − λ) − (2)(2) = (2.5 − λ)² − 4</a:t>
                </a:r>
              </a:p>
            </p:txBody>
          </p:sp>
        </mc:Choice>
        <mc:Fallback>
          <p:sp>
            <p:nvSpPr>
              <p:cNvPr id="151" name="Char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54400"/>
                <a:ext cx="10668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CharC"/>
              <p:cNvSpPr/>
              <p:nvPr/>
            </p:nvSpPr>
            <p:spPr>
              <a:xfrm>
                <a:off x="762000" y="50800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85754D"/>
                    </a:solidFill>
                  </a:rPr>
                  <a:t>3 · Solve for λ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/>
                                </a:rPr>
                                <m:t>2.5 − </m:t>
                              </m:r>
                              <m:r>
                                <a:rPr sz="1500">
                                  <a:latin typeface="Cambria Math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= 4    ⇒    2.5 −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= ± 2    ⇒   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= 2.5 ∓ 2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900" b="1">
                    <a:solidFill>
                      <a:srgbClr val="7AB648"/>
                    </a:solidFill>
                  </a:rPr>
                  <a:t>⇒    λ₁ = 4.5        λ₂ = 0.5</a:t>
                </a:r>
              </a:p>
            </p:txBody>
          </p:sp>
        </mc:Choice>
        <mc:Fallback>
          <p:sp>
            <p:nvSpPr>
              <p:cNvPr id="152" name="Char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0800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2861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Eigenvector for λ₁ = 4.5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2 of 3 — solve  (S − λ₁I)v₁ = 0,  then normalize to unit length.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EvA"/>
              <p:cNvSpPr/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Form (S − λ₁I) with λ₁ = 4.5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− 4.5 </m:t>
                      </m:r>
                      <m:r>
                        <a:rPr sz="1600" i="1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2.5 − 4.5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2.5 − 4.5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Ev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EvB"/>
              <p:cNvSpPr/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Solve the homogeneous system  (S − λ₁I)v₁ = 0    (let v₁ = [a, b]ᵀ)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   ⇒    −2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+ 2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  <m:r>
                        <a:rPr sz="1600">
                          <a:latin typeface="Cambria Math"/>
                        </a:rPr>
                        <m:t> = 0    ⇒    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𝑠𝑜</m:t>
                      </m:r>
                      <m:r>
                        <a:rPr sz="1500">
                          <a:latin typeface="Cambria Math"/>
                        </a:rPr>
                        <m:t>    </m:t>
                      </m:r>
                      <m:r>
                        <a:rPr sz="1700" i="1">
                          <a:latin typeface="Cambria Math"/>
                        </a:rPr>
                        <m:t>𝑣</m:t>
                      </m:r>
                      <m:r>
                        <a:rPr sz="1700" i="1">
                          <a:latin typeface="Cambria Math"/>
                        </a:rPr>
                        <m:t>₁</m:t>
                      </m:r>
                      <m:r>
                        <a:rPr sz="1700">
                          <a:latin typeface="Cambria Math"/>
                        </a:rPr>
                        <m:t>  ∝ 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  (</m:t>
                      </m:r>
                      <m:r>
                        <a:rPr sz="1500">
                          <a:latin typeface="Cambria Math"/>
                        </a:rPr>
                        <m:t>𝑐h𝑜𝑜𝑠𝑒</m:t>
                      </m:r>
                      <m:r>
                        <a:rPr sz="1500">
                          <a:latin typeface="Cambria Math"/>
                        </a:rPr>
                        <m:t> </m:t>
                      </m:r>
                      <m:r>
                        <a:rPr sz="1500">
                          <a:latin typeface="Cambria Math"/>
                        </a:rPr>
                        <m:t>𝑎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r>
                        <a:rPr sz="1500">
                          <a:latin typeface="Cambria Math"/>
                        </a:rPr>
                        <m:t>𝑏</m:t>
                      </m:r>
                      <m:r>
                        <a:rPr sz="1500">
                          <a:latin typeface="Cambria Math"/>
                        </a:rPr>
                        <m:t> = 1)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Ev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EvC"/>
              <p:cNvSpPr/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85754D"/>
                    </a:solidFill>
                  </a:rPr>
                  <a:t>3 ·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‖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‖ = √(1² + 1²) = √2     ⇒    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r>
                        <a:rPr sz="1400">
                          <a:latin typeface="Cambria Math"/>
                        </a:rPr>
                        <m:t>1/√2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Ev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5410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Eigenvector for λ₂ = 0.5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2 of 3 (continued) — solve  (S − λ₂I)v₂ = 0,  then normalize to unit length.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Ev2A"/>
              <p:cNvSpPr/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Form (S − λ₂I) with λ₂ = 0.5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− 0.5 </m:t>
                      </m:r>
                      <m:r>
                        <a:rPr sz="1600" i="1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2.5 − 0.5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2.5 − 0.5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Ev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Ev2B"/>
              <p:cNvSpPr/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Solve the homogeneous system  (S − λ₂I)v₂ = 0    (let v₂ = [a, b]ᵀ)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   ⇒    2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+ 2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  <m:r>
                        <a:rPr sz="1600">
                          <a:latin typeface="Cambria Math"/>
                        </a:rPr>
                        <m:t> = 0    ⇒    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= −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𝑠𝑜</m:t>
                      </m:r>
                      <m:r>
                        <a:rPr sz="1500">
                          <a:latin typeface="Cambria Math"/>
                        </a:rPr>
                        <m:t>    </m:t>
                      </m:r>
                      <m:r>
                        <a:rPr sz="1700" i="1">
                          <a:latin typeface="Cambria Math"/>
                        </a:rPr>
                        <m:t>𝑣</m:t>
                      </m:r>
                      <m:r>
                        <a:rPr sz="1700" i="1">
                          <a:latin typeface="Cambria Math"/>
                        </a:rPr>
                        <m:t>₂</m:t>
                      </m:r>
                      <m:r>
                        <a:rPr sz="1700">
                          <a:latin typeface="Cambria Math"/>
                        </a:rPr>
                        <m:t>  ∝ 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  (</m:t>
                      </m:r>
                      <m:r>
                        <a:rPr sz="1500">
                          <a:latin typeface="Cambria Math"/>
                        </a:rPr>
                        <m:t>𝑐h𝑜𝑜𝑠𝑒</m:t>
                      </m:r>
                      <m:r>
                        <a:rPr sz="1500">
                          <a:latin typeface="Cambria Math"/>
                        </a:rPr>
                        <m:t> </m:t>
                      </m:r>
                      <m:r>
                        <a:rPr sz="1500">
                          <a:latin typeface="Cambria Math"/>
                        </a:rPr>
                        <m:t>𝑎</m:t>
                      </m:r>
                      <m:r>
                        <a:rPr sz="1500">
                          <a:latin typeface="Cambria Math"/>
                        </a:rPr>
                        <m:t> = 1, </m:t>
                      </m:r>
                      <m:r>
                        <a:rPr sz="1500">
                          <a:latin typeface="Cambria Math"/>
                        </a:rPr>
                        <m:t>𝑏</m:t>
                      </m:r>
                      <m:r>
                        <a:rPr sz="1500">
                          <a:latin typeface="Cambria Math"/>
                        </a:rPr>
                        <m:t> = −1)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Ev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Ev2C"/>
              <p:cNvSpPr/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85754D"/>
                    </a:solidFill>
                  </a:rPr>
                  <a:t>3 ·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‖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‖ = √(1² + (−1)²) = √2     ⇒    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₂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r>
                        <a:rPr sz="1400">
                          <a:latin typeface="Cambria Math"/>
                        </a:rPr>
                        <m:t>1/√2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Ev2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5662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Assemble  S = VΛVᵀ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3 of 3 — collect the eigenvectors into V (columns) and eigenvalues into Λ (diagonal).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AsA"/>
              <p:cNvSpPr/>
              <p:nvPr/>
            </p:nvSpPr>
            <p:spPr>
              <a:xfrm>
                <a:off x="762000" y="19050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Eigenvectors → columns of V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[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</m:t>
                      </m:r>
                      <m:r>
                        <a:rPr sz="1600">
                          <a:latin typeface="Cambria Math"/>
                        </a:rPr>
                        <m:t>  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₂</m:t>
                      </m:r>
                      <m:r>
                        <a:rPr sz="1600">
                          <a:latin typeface="Cambria Math"/>
                        </a:rPr>
                        <m:t> ]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0" name="As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AsB"/>
              <p:cNvSpPr/>
              <p:nvPr/>
            </p:nvSpPr>
            <p:spPr>
              <a:xfrm>
                <a:off x="762000" y="34036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Eigenvalues → diagonal of Λ  (largest first)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𝛬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𝑑𝑖𝑎𝑔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₁,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₂)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4.5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1" name="As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036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AsC"/>
              <p:cNvSpPr/>
              <p:nvPr/>
            </p:nvSpPr>
            <p:spPr>
              <a:xfrm>
                <a:off x="762000" y="4902200"/>
                <a:ext cx="10668000" cy="15494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85754D"/>
                    </a:solidFill>
                  </a:rPr>
                  <a:t>3 · Spectral decomposition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700" i="1">
                          <a:latin typeface="Cambria Math"/>
                        </a:rPr>
                        <m:t>𝑉</m:t>
                      </m:r>
                      <m:r>
                        <a:rPr sz="1700" i="1">
                          <a:latin typeface="Cambria Math"/>
                        </a:rPr>
                        <m:t>𝛬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7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  ✓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V is orthogonal (VᵀV = I), so Vᵀ = V⁻¹ — multiplying back reproduces S exactly.</a:t>
                </a:r>
              </a:p>
            </p:txBody>
          </p:sp>
        </mc:Choice>
        <mc:Fallback>
          <p:sp>
            <p:nvSpPr>
              <p:cNvPr id="172" name="As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902200"/>
                <a:ext cx="10668000" cy="15494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8534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4 · Loadings &amp; Scores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Loadings are the columns of V; scores are the centred data projected onto them —  T = Xc V.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LoadCard"/>
              <p:cNvSpPr/>
              <p:nvPr/>
            </p:nvSpPr>
            <p:spPr>
              <a:xfrm>
                <a:off x="762000" y="19050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5000" rIns="100000" bIns="45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Loadings = columns of V  (the weight of each variable on each PC)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𝑝</m:t>
                      </m:r>
                      <m:r>
                        <a:rPr sz="1700" i="1">
                          <a:latin typeface="Cambria Math"/>
                        </a:rPr>
                        <m:t>₁</m:t>
                      </m:r>
                      <m:r>
                        <a:rPr sz="17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(</m:t>
                      </m:r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1)         </m:t>
                      </m:r>
                      <m:r>
                        <a:rPr sz="1700" i="1">
                          <a:latin typeface="Cambria Math"/>
                        </a:rPr>
                        <m:t>𝑝</m:t>
                      </m:r>
                      <m:r>
                        <a:rPr sz="1700" i="1">
                          <a:latin typeface="Cambria Math"/>
                        </a:rPr>
                        <m:t>₂</m:t>
                      </m:r>
                      <m:r>
                        <a:rPr sz="17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(</m:t>
                      </m:r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2)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Load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ScoreCard"/>
              <p:cNvSpPr/>
              <p:nvPr/>
            </p:nvSpPr>
            <p:spPr>
              <a:xfrm>
                <a:off x="762000" y="3683000"/>
                <a:ext cx="10668000" cy="2667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5000" rIns="100000" bIns="45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Scores  T = Xc V   (project the centred data onto the eigenvectors)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𝑇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 i="1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Columns of T are the PC1 and PC2 coordinates.   Row 1: (−2)(0.707)+(−1)(0.707) = −2.121 on PC1.</a:t>
                </a:r>
              </a:p>
            </p:txBody>
          </p:sp>
        </mc:Choice>
        <mc:Fallback>
          <p:sp>
            <p:nvSpPr>
              <p:cNvPr id="161" name="Score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683000"/>
                <a:ext cx="10668000" cy="2667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4135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5 · Variance Explained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Each eigenvalue is the variance along its PC; divide by the total to get the share —  λⱼ / Σλ.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VarCard"/>
              <p:cNvSpPr/>
              <p:nvPr/>
            </p:nvSpPr>
            <p:spPr>
              <a:xfrm>
                <a:off x="762000" y="1905000"/>
                <a:ext cx="5461000" cy="42545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60000" rIns="100000" bIns="5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Proportion of variance per PC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>
                          <a:latin typeface="Cambria Math"/>
                        </a:rPr>
                        <m:t>𝑝𝑟𝑜𝑝</m:t>
                      </m:r>
                      <m:r>
                        <a:rPr sz="1700">
                          <a:latin typeface="Cambria Math"/>
                        </a:rPr>
                        <m:t>. </m:t>
                      </m:r>
                      <m:r>
                        <a:rPr sz="1700">
                          <a:latin typeface="Cambria Math"/>
                        </a:rPr>
                        <m:t>𝑃𝐶</m:t>
                      </m:r>
                      <m:r>
                        <a:rPr sz="1700">
                          <a:latin typeface="Cambria Math"/>
                        </a:rPr>
                        <m:t>ⱼ</m:t>
                      </m:r>
                      <m:r>
                        <a:rPr sz="17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 i="1">
                              <a:latin typeface="Cambria Math"/>
                            </a:rPr>
                            <m:t>𝜆</m:t>
                          </m:r>
                          <m:r>
                            <a:rPr sz="1500" i="1">
                              <a:latin typeface="Cambria Math"/>
                            </a:rPr>
                            <m:t>ⱼ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₁ +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₂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algn="l">
                  <a:spcBef>
                    <a:spcPts val="600"/>
                  </a:spcBef>
                </a:pPr>
                <a:r>
                  <a:rPr lang="en-US" sz="1500" b="0">
                    <a:solidFill>
                      <a:srgbClr val="85754D"/>
                    </a:solidFill>
                  </a:rPr>
                  <a:t>Total variance:  λ₁ + λ₂ = 4.5 + 0.5 = 5.0</a:t>
                </a:r>
              </a:p>
              <a:p>
                <a:pPr algn="l">
                  <a:spcBef>
                    <a:spcPts val="400"/>
                  </a:spcBef>
                </a:pPr>
                <a:r>
                  <a:rPr lang="en-US" sz="1700" b="1">
                    <a:solidFill>
                      <a:srgbClr val="7AB648"/>
                    </a:solidFill>
                  </a:rPr>
                  <a:t>PC1 :  4.5 / 5 = 0.90   →   90%</a:t>
                </a:r>
              </a:p>
              <a:p>
                <a:pPr algn="l">
                  <a:spcBef>
                    <a:spcPts val="200"/>
                  </a:spcBef>
                </a:pPr>
                <a:r>
                  <a:rPr lang="en-US" sz="1700" b="1">
                    <a:solidFill>
                      <a:srgbClr val="D1578A"/>
                    </a:solidFill>
                  </a:rPr>
                  <a:t>PC2 :  0.5 / 5 = 0.10   →   10%</a:t>
                </a:r>
              </a:p>
              <a:p>
                <a:pPr algn="l">
                  <a:spcBef>
                    <a:spcPts val="400"/>
                  </a:spcBef>
                </a:pPr>
                <a:r>
                  <a:rPr lang="en-US" sz="1500" b="1">
                    <a:solidFill>
                      <a:srgbClr val="4B2E83"/>
                    </a:solidFill>
                  </a:rPr>
                  <a:t>Cumulative:  PC1 = 90%,  PC1 + PC2 = 100%</a:t>
                </a:r>
              </a:p>
            </p:txBody>
          </p:sp>
        </mc:Choice>
        <mc:Fallback>
          <p:sp>
            <p:nvSpPr>
              <p:cNvPr id="170" name="Var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5461000" cy="42545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0" name="VarChart"/>
          <p:cNvGraphicFramePr/>
          <p:nvPr/>
        </p:nvGraphicFramePr>
        <p:xfrm>
          <a:off x="6604000" y="2032000"/>
          <a:ext cx="48895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65728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6 · Plotting the Biplot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Plot the scores in PC space and overlay each original variable as a vector from the origin.</a:t>
            </a:r>
          </a:p>
        </p:txBody>
      </p:sp>
      <p:sp>
        <p:nvSpPr>
          <p:cNvPr id="190" name="StepsCard"/>
          <p:cNvSpPr/>
          <p:nvPr/>
        </p:nvSpPr>
        <p:spPr>
          <a:xfrm>
            <a:off x="635000" y="1905000"/>
            <a:ext cx="4953000" cy="4318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70000" rIns="100000" bIns="50000" anchor="t">
            <a:norm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Plotting PC1, PC2 &amp; the variable vectors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4B2E83"/>
                </a:solidFill>
              </a:rPr>
              <a:t>1 · Axes = the PCs.</a:t>
            </a:r>
            <a:r>
              <a:rPr lang="en-US" sz="1450">
                <a:solidFill>
                  <a:srgbClr val="333333"/>
                </a:solidFill>
              </a:rPr>
              <a:t>  PC1 on the x-axis, PC2 on the y-axis; the origin is the data mean.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00A7B5"/>
                </a:solidFill>
              </a:rPr>
              <a:t>2 · Plot the scores.</a:t>
            </a:r>
            <a:r>
              <a:rPr lang="en-US" sz="1450">
                <a:solidFill>
                  <a:srgbClr val="333333"/>
                </a:solidFill>
              </a:rPr>
              <a:t>  Place each row of T at its (PC1, PC2) — e.g. obs 1 → (−2.12, −0.71).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7AB648"/>
                </a:solidFill>
              </a:rPr>
              <a:t>3 · Draw variable arrows.</a:t>
            </a:r>
            <a:r>
              <a:rPr lang="en-US" sz="1450">
                <a:solidFill>
                  <a:srgbClr val="333333"/>
                </a:solidFill>
              </a:rPr>
              <a:t>  From the origin along each variable's loadings (a row of V): x₁ → (0.707, 0.707), x₂ → (0.707, −0.707).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D1578A"/>
                </a:solidFill>
              </a:rPr>
              <a:t>4 · Interpret.</a:t>
            </a:r>
            <a:r>
              <a:rPr lang="en-US" sz="1450">
                <a:solidFill>
                  <a:srgbClr val="333333"/>
                </a:solidFill>
              </a:rPr>
              <a:t>  Arrow direction = how a variable aligns with the PCs; points spread mostly along PC1 (90% of variance).</a:t>
            </a:r>
          </a:p>
        </p:txBody>
      </p:sp>
      <p:sp>
        <p:nvSpPr>
          <p:cNvPr id="200" name="PlotFrame"/>
          <p:cNvSpPr/>
          <p:nvPr/>
        </p:nvSpPr>
        <p:spPr>
          <a:xfrm>
            <a:off x="5816600" y="1905000"/>
            <a:ext cx="5740400" cy="4318000"/>
          </a:xfrm>
          <a:prstGeom prst="roundRect">
            <a:avLst>
              <a:gd name="adj" fmla="val 3000"/>
            </a:avLst>
          </a:prstGeom>
          <a:solidFill>
            <a:srgbClr val="FBFAFD"/>
          </a:solidFill>
          <a:ln w="9525">
            <a:solidFill>
              <a:srgbClr val="D9D2E6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201" name="conn201"/>
          <p:cNvCxnSpPr/>
          <p:nvPr/>
        </p:nvCxnSpPr>
        <p:spPr>
          <a:xfrm>
            <a:off x="5994400" y="4064000"/>
            <a:ext cx="5334000" cy="0"/>
          </a:xfrm>
          <a:prstGeom prst="straightConnector1">
            <a:avLst/>
          </a:prstGeom>
          <a:ln w="12700">
            <a:solidFill>
              <a:srgbClr val="AAAAAA"/>
            </a:solidFill>
          </a:ln>
        </p:spPr>
      </p:cxnSp>
      <p:cxnSp>
        <p:nvCxnSpPr>
          <p:cNvPr id="202" name="conn202"/>
          <p:cNvCxnSpPr/>
          <p:nvPr/>
        </p:nvCxnSpPr>
        <p:spPr>
          <a:xfrm>
            <a:off x="8636000" y="2095500"/>
            <a:ext cx="0" cy="3937000"/>
          </a:xfrm>
          <a:prstGeom prst="straightConnector1">
            <a:avLst/>
          </a:prstGeom>
          <a:ln w="12700">
            <a:solidFill>
              <a:srgbClr val="AAAAAA"/>
            </a:solidFill>
          </a:ln>
        </p:spPr>
      </p:cxnSp>
      <p:cxnSp>
        <p:nvCxnSpPr>
          <p:cNvPr id="221" name="conn221"/>
          <p:cNvCxnSpPr/>
          <p:nvPr/>
        </p:nvCxnSpPr>
        <p:spPr>
          <a:xfrm flipV="1">
            <a:off x="8636000" y="2743200"/>
            <a:ext cx="1320800" cy="1320800"/>
          </a:xfrm>
          <a:prstGeom prst="straightConnector1">
            <a:avLst/>
          </a:prstGeom>
          <a:ln w="28575">
            <a:solidFill>
              <a:srgbClr val="00A7B5"/>
            </a:solidFill>
            <a:tailEnd type="triangle" w="lg" len="lg"/>
          </a:ln>
        </p:spPr>
      </p:cxnSp>
      <p:cxnSp>
        <p:nvCxnSpPr>
          <p:cNvPr id="222" name="conn222"/>
          <p:cNvCxnSpPr/>
          <p:nvPr/>
        </p:nvCxnSpPr>
        <p:spPr>
          <a:xfrm>
            <a:off x="8636000" y="4064000"/>
            <a:ext cx="1320800" cy="1320800"/>
          </a:xfrm>
          <a:prstGeom prst="straightConnector1">
            <a:avLst/>
          </a:prstGeom>
          <a:ln w="28575">
            <a:solidFill>
              <a:srgbClr val="7AB648"/>
            </a:solidFill>
            <a:tailEnd type="triangle" w="lg" len="lg"/>
          </a:ln>
        </p:spPr>
      </p:cxnSp>
      <p:sp>
        <p:nvSpPr>
          <p:cNvPr id="211" name="dot211"/>
          <p:cNvSpPr/>
          <p:nvPr/>
        </p:nvSpPr>
        <p:spPr>
          <a:xfrm>
            <a:off x="6350991" y="472407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2" name="dot212"/>
          <p:cNvSpPr/>
          <p:nvPr/>
        </p:nvSpPr>
        <p:spPr>
          <a:xfrm>
            <a:off x="6350991" y="325153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dot213"/>
          <p:cNvSpPr/>
          <p:nvPr/>
        </p:nvSpPr>
        <p:spPr>
          <a:xfrm>
            <a:off x="8559800" y="398780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dot214"/>
          <p:cNvSpPr/>
          <p:nvPr/>
        </p:nvSpPr>
        <p:spPr>
          <a:xfrm>
            <a:off x="10768609" y="472407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dot215"/>
          <p:cNvSpPr/>
          <p:nvPr/>
        </p:nvSpPr>
        <p:spPr>
          <a:xfrm>
            <a:off x="10768609" y="325153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1" name="t241"/>
          <p:cNvSpPr txBox="1"/>
          <p:nvPr/>
        </p:nvSpPr>
        <p:spPr>
          <a:xfrm>
            <a:off x="6235700" y="4800600"/>
            <a:ext cx="254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1</a:t>
            </a:r>
          </a:p>
        </p:txBody>
      </p:sp>
      <p:sp>
        <p:nvSpPr>
          <p:cNvPr id="242" name="t242"/>
          <p:cNvSpPr txBox="1"/>
          <p:nvPr/>
        </p:nvSpPr>
        <p:spPr>
          <a:xfrm>
            <a:off x="6235700" y="3175000"/>
            <a:ext cx="254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2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8407400" y="3759200"/>
            <a:ext cx="254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3</a:t>
            </a:r>
          </a:p>
        </p:txBody>
      </p:sp>
      <p:sp>
        <p:nvSpPr>
          <p:cNvPr id="244" name="t244"/>
          <p:cNvSpPr txBox="1"/>
          <p:nvPr/>
        </p:nvSpPr>
        <p:spPr>
          <a:xfrm>
            <a:off x="10947400" y="4800600"/>
            <a:ext cx="254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4</a:t>
            </a:r>
          </a:p>
        </p:txBody>
      </p:sp>
      <p:sp>
        <p:nvSpPr>
          <p:cNvPr id="245" name="t245"/>
          <p:cNvSpPr txBox="1"/>
          <p:nvPr/>
        </p:nvSpPr>
        <p:spPr>
          <a:xfrm>
            <a:off x="10947400" y="3175000"/>
            <a:ext cx="254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5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10058400" y="2565400"/>
            <a:ext cx="508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600" b="1" i="1">
                <a:solidFill>
                  <a:srgbClr val="00A7B5"/>
                </a:solidFill>
              </a:rPr>
              <a:t>x₁</a:t>
            </a:r>
          </a:p>
        </p:txBody>
      </p:sp>
      <p:sp>
        <p:nvSpPr>
          <p:cNvPr id="232" name="t232"/>
          <p:cNvSpPr txBox="1"/>
          <p:nvPr/>
        </p:nvSpPr>
        <p:spPr>
          <a:xfrm>
            <a:off x="10058400" y="5359400"/>
            <a:ext cx="508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600" b="1" i="1">
                <a:solidFill>
                  <a:srgbClr val="7AB648"/>
                </a:solidFill>
              </a:rPr>
              <a:t>x₂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10414000" y="4191000"/>
            <a:ext cx="1143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85754D"/>
                </a:solidFill>
              </a:rPr>
              <a:t>PC1 (90%)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8737600" y="2057400"/>
            <a:ext cx="1143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85754D"/>
                </a:solidFill>
              </a:rPr>
              <a:t>PC2 (10%)</a:t>
            </a:r>
          </a:p>
        </p:txBody>
      </p:sp>
    </p:spTree>
    <p:extLst>
      <p:ext uri="{BB962C8B-B14F-4D97-AF65-F5344CB8AC3E}">
        <p14:creationId xmlns:p14="http://schemas.microsoft.com/office/powerpoint/2010/main" val="3283945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7A75F2-0421-3C4F-95AE-20811F15AF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C8F89-F20C-1E46-82A2-F9E75B417553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via Singular Value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05757-259C-554A-A032-A654DECD32E9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In practice PCA is computed from the SVD of the centered data — more numerically stable than forming S = X꜀ᵀX꜀ explicitly.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685B92-5EC7-2742-A5A7-2B1E48D8F480}"/>
              </a:ext>
            </a:extLst>
          </p:cNvPr>
          <p:cNvSpPr/>
          <p:nvPr/>
        </p:nvSpPr>
        <p:spPr>
          <a:xfrm>
            <a:off x="762000" y="2133600"/>
            <a:ext cx="10668000" cy="1016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310885-5C6A-5644-B56F-7EB45E514C9C}"/>
                  </a:ext>
                </a:extLst>
              </p:cNvPr>
              <p:cNvSpPr txBox="1"/>
              <p:nvPr/>
            </p:nvSpPr>
            <p:spPr>
              <a:xfrm>
                <a:off x="762000" y="2311400"/>
                <a:ext cx="10668000" cy="63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310885-5C6A-5644-B56F-7EB45E514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311400"/>
                <a:ext cx="10668000" cy="63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ABB267-A058-894B-892D-EBBEF6AB6AEC}"/>
              </a:ext>
            </a:extLst>
          </p:cNvPr>
          <p:cNvSpPr/>
          <p:nvPr/>
        </p:nvSpPr>
        <p:spPr>
          <a:xfrm>
            <a:off x="762000" y="3352800"/>
            <a:ext cx="3429000" cy="990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53165-7419-624F-AD56-6F3B1C385E06}"/>
              </a:ext>
            </a:extLst>
          </p:cNvPr>
          <p:cNvSpPr txBox="1"/>
          <p:nvPr/>
        </p:nvSpPr>
        <p:spPr>
          <a:xfrm>
            <a:off x="939800" y="3479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U (n×n)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FE2E7-3610-0344-AB6A-9FC994C7DA51}"/>
              </a:ext>
            </a:extLst>
          </p:cNvPr>
          <p:cNvSpPr txBox="1"/>
          <p:nvPr/>
        </p:nvSpPr>
        <p:spPr>
          <a:xfrm>
            <a:off x="939800" y="3810000"/>
            <a:ext cx="3073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Left singular vectors — orthonormal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DCB9798-69BC-5A40-A0AD-7015BCCC6F04}"/>
              </a:ext>
            </a:extLst>
          </p:cNvPr>
          <p:cNvSpPr/>
          <p:nvPr/>
        </p:nvSpPr>
        <p:spPr>
          <a:xfrm>
            <a:off x="4381500" y="3352800"/>
            <a:ext cx="3429000" cy="990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7B05B-6E74-1748-9B0B-F72E0665C266}"/>
              </a:ext>
            </a:extLst>
          </p:cNvPr>
          <p:cNvSpPr txBox="1"/>
          <p:nvPr/>
        </p:nvSpPr>
        <p:spPr>
          <a:xfrm>
            <a:off x="4559300" y="3479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600" b="1">
                <a:solidFill>
                  <a:srgbClr val="00A7B5"/>
                </a:solidFill>
                <a:latin typeface="Cambria Math"/>
                <a:ea typeface="Cambria Math"/>
              </a:rPr>
              <a:t>Σ (</a:t>
            </a:r>
            <a:r>
              <a:rPr lang="en-US" sz="1600" b="1">
                <a:solidFill>
                  <a:srgbClr val="00A7B5"/>
                </a:solidFill>
                <a:latin typeface="Cambria Math"/>
                <a:ea typeface="Cambria Math"/>
              </a:rPr>
              <a:t>n×p)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06F00-B326-054B-AF5E-8823286A978D}"/>
              </a:ext>
            </a:extLst>
          </p:cNvPr>
          <p:cNvSpPr txBox="1"/>
          <p:nvPr/>
        </p:nvSpPr>
        <p:spPr>
          <a:xfrm>
            <a:off x="4559300" y="3810000"/>
            <a:ext cx="3073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Diagonal singular values </a:t>
            </a:r>
            <a:r>
              <a:rPr lang="el-GR" sz="1400">
                <a:solidFill>
                  <a:srgbClr val="333333"/>
                </a:solidFill>
              </a:rPr>
              <a:t>σ₁ ≥ σ₂ ≥ …</a:t>
            </a:r>
            <a:endParaRPr lang="en-US" sz="1400">
              <a:solidFill>
                <a:srgbClr val="333333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4C5ECCB-72BE-4E4E-96F7-63C172A02047}"/>
              </a:ext>
            </a:extLst>
          </p:cNvPr>
          <p:cNvSpPr/>
          <p:nvPr/>
        </p:nvSpPr>
        <p:spPr>
          <a:xfrm>
            <a:off x="8001000" y="3352800"/>
            <a:ext cx="3429000" cy="990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71FCCD-2FA8-5B4E-AEEB-ACB01AC441EC}"/>
              </a:ext>
            </a:extLst>
          </p:cNvPr>
          <p:cNvSpPr txBox="1"/>
          <p:nvPr/>
        </p:nvSpPr>
        <p:spPr>
          <a:xfrm>
            <a:off x="8178800" y="3479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  <a:latin typeface="Cambria Math"/>
                <a:ea typeface="Cambria Math"/>
              </a:rPr>
              <a:t>V (p×p)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F01080-9030-F04F-A0B5-C9E0EB6885C1}"/>
              </a:ext>
            </a:extLst>
          </p:cNvPr>
          <p:cNvSpPr txBox="1"/>
          <p:nvPr/>
        </p:nvSpPr>
        <p:spPr>
          <a:xfrm>
            <a:off x="8178800" y="3810000"/>
            <a:ext cx="3073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Right singular vectors = PCA loadings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CA91571-F173-6145-AFD4-4E94C99205FC}"/>
              </a:ext>
            </a:extLst>
          </p:cNvPr>
          <p:cNvSpPr/>
          <p:nvPr/>
        </p:nvSpPr>
        <p:spPr>
          <a:xfrm>
            <a:off x="762000" y="4572000"/>
            <a:ext cx="10668000" cy="15240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A90F84-7506-3B4D-835A-DEE1944499C7}"/>
                  </a:ext>
                </a:extLst>
              </p:cNvPr>
              <p:cNvSpPr txBox="1"/>
              <p:nvPr/>
            </p:nvSpPr>
            <p:spPr>
              <a:xfrm>
                <a:off x="990600" y="4724400"/>
                <a:ext cx="10210800" cy="1270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400">
                    <a:solidFill>
                      <a:srgbClr val="333333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Eigen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route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>
                              <a:latin typeface="Cambria Math" panose="02040503050406030204" pitchFamily="18" charset="0"/>
                            </a:rPr>
                            <m:t>𝛴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 ⇒ 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algn="l">
                  <a:defRPr sz="1400">
                    <a:solidFill>
                      <a:srgbClr val="333333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Scores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𝛴</m:t>
                      </m:r>
                    </m:oMath>
                  </m:oMathPara>
                </a14:m>
                <a:endParaRPr/>
              </a:p>
              <a:p>
                <a:pPr algn="l">
                  <a:defRPr sz="1400">
                    <a:solidFill>
                      <a:srgbClr val="333333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Rank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k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Eckart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–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Young</m:t>
                      </m:r>
                      <m:r>
                        <a:rPr>
                          <a:latin typeface="Cambria Math" panose="02040503050406030204" pitchFamily="18" charset="0"/>
                        </a:rPr>
                        <m:t>): 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minimizes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e>
                          </m:d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Cost: full SVD is O(n p · min(n,p)); truncated / randomized SVD gives the top k components far faster.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A90F84-7506-3B4D-835A-DEE194449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724400"/>
                <a:ext cx="10210800" cy="1270000"/>
              </a:xfrm>
              <a:prstGeom prst="rect">
                <a:avLst/>
              </a:prstGeom>
              <a:blipFill>
                <a:blip r:embed="rId3"/>
                <a:stretch>
                  <a:fillRect l="-248" b="-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066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16C923-8167-F44E-9EA7-BF97149EFAF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87B8F-BE1F-654A-91D0-DCE60BEBC8B7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Computation Algorithm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6D3C334-96A2-BD45-B1EA-A667E476B2F4}"/>
              </a:ext>
            </a:extLst>
          </p:cNvPr>
          <p:cNvSpPr/>
          <p:nvPr/>
        </p:nvSpPr>
        <p:spPr>
          <a:xfrm>
            <a:off x="762000" y="16256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5C61A-FBD2-7141-8DE5-6B87C11A1E72}"/>
              </a:ext>
            </a:extLst>
          </p:cNvPr>
          <p:cNvSpPr txBox="1"/>
          <p:nvPr/>
        </p:nvSpPr>
        <p:spPr>
          <a:xfrm>
            <a:off x="1473200" y="16002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Center (and scale)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AD97EB-BF8F-B448-A218-4CD431F6F2E0}"/>
                  </a:ext>
                </a:extLst>
              </p:cNvPr>
              <p:cNvSpPr txBox="1"/>
              <p:nvPr/>
            </p:nvSpPr>
            <p:spPr>
              <a:xfrm>
                <a:off x="4445000" y="1574800"/>
                <a:ext cx="6985000" cy="62619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Subtract column means: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pos m:val="top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  If columns have different units, divide each by its std → correlation-based PCA.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AD97EB-BF8F-B448-A218-4CD431F6F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1574800"/>
                <a:ext cx="6985000" cy="626197"/>
              </a:xfrm>
              <a:prstGeom prst="rect">
                <a:avLst/>
              </a:prstGeom>
              <a:blipFill>
                <a:blip r:embed="rId2"/>
                <a:stretch>
                  <a:fillRect l="-181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3AC5A5C2-EF57-C94F-BC6A-A9EA9B8D23F5}"/>
              </a:ext>
            </a:extLst>
          </p:cNvPr>
          <p:cNvSpPr/>
          <p:nvPr/>
        </p:nvSpPr>
        <p:spPr>
          <a:xfrm>
            <a:off x="762000" y="24257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4D56CA-5947-DE45-9168-C68266AE9ACF}"/>
              </a:ext>
            </a:extLst>
          </p:cNvPr>
          <p:cNvSpPr txBox="1"/>
          <p:nvPr/>
        </p:nvSpPr>
        <p:spPr>
          <a:xfrm>
            <a:off x="1473200" y="24003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Form covariance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4A42ED-3442-FF4B-8418-C46A78B4AD99}"/>
                  </a:ext>
                </a:extLst>
              </p:cNvPr>
              <p:cNvSpPr txBox="1"/>
              <p:nvPr/>
            </p:nvSpPr>
            <p:spPr>
              <a:xfrm>
                <a:off x="4445000" y="2374900"/>
                <a:ext cx="6985000" cy="48494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( p×p symmetric, positive semi-definite ).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4A42ED-3442-FF4B-8418-C46A78B4A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2374900"/>
                <a:ext cx="6985000" cy="484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CEC60CBE-8C07-4046-AD7B-D92278D7AA22}"/>
              </a:ext>
            </a:extLst>
          </p:cNvPr>
          <p:cNvSpPr/>
          <p:nvPr/>
        </p:nvSpPr>
        <p:spPr>
          <a:xfrm>
            <a:off x="762000" y="32258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451F5-7DB1-D94E-8117-C89CBE3822DE}"/>
              </a:ext>
            </a:extLst>
          </p:cNvPr>
          <p:cNvSpPr txBox="1"/>
          <p:nvPr/>
        </p:nvSpPr>
        <p:spPr>
          <a:xfrm>
            <a:off x="1473200" y="32004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Eigen-decompose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B764D2-4288-5C41-9F55-AE244C737C42}"/>
                  </a:ext>
                </a:extLst>
              </p:cNvPr>
              <p:cNvSpPr txBox="1"/>
              <p:nvPr/>
            </p:nvSpPr>
            <p:spPr>
              <a:xfrm>
                <a:off x="4445000" y="3175000"/>
                <a:ext cx="6985000" cy="3916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Solve 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  Sort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≥ … ≥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≥ 0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 eigenvectors form the columns of V.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B764D2-4288-5C41-9F55-AE244C737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3175000"/>
                <a:ext cx="6985000" cy="391646"/>
              </a:xfrm>
              <a:prstGeom prst="rect">
                <a:avLst/>
              </a:prstGeom>
              <a:blipFill>
                <a:blip r:embed="rId4"/>
                <a:stretch>
                  <a:fillRect l="-181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2B83103B-A827-F144-B902-A9C89DA28053}"/>
              </a:ext>
            </a:extLst>
          </p:cNvPr>
          <p:cNvSpPr/>
          <p:nvPr/>
        </p:nvSpPr>
        <p:spPr>
          <a:xfrm>
            <a:off x="762000" y="40259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8D611-C660-434C-8809-106F5238D95E}"/>
              </a:ext>
            </a:extLst>
          </p:cNvPr>
          <p:cNvSpPr txBox="1"/>
          <p:nvPr/>
        </p:nvSpPr>
        <p:spPr>
          <a:xfrm>
            <a:off x="1473200" y="40005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Choose 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1FAA7F-9D06-254C-86B5-30EB625266AB}"/>
              </a:ext>
            </a:extLst>
          </p:cNvPr>
          <p:cNvSpPr txBox="1"/>
          <p:nvPr/>
        </p:nvSpPr>
        <p:spPr>
          <a:xfrm>
            <a:off x="4445000" y="3975100"/>
            <a:ext cx="698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  <a:latin typeface="Cambria Math"/>
                <a:ea typeface="Cambria Math"/>
              </a:rPr>
              <a:t>Apply Kaiser / scree / cumulative-variance / parallel-analysis rules.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D299459-19C1-6044-8052-B3C031393AFE}"/>
              </a:ext>
            </a:extLst>
          </p:cNvPr>
          <p:cNvSpPr/>
          <p:nvPr/>
        </p:nvSpPr>
        <p:spPr>
          <a:xfrm>
            <a:off x="762000" y="48260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CE89DC-3D8D-3546-9C4F-D4D221C8F94B}"/>
              </a:ext>
            </a:extLst>
          </p:cNvPr>
          <p:cNvSpPr txBox="1"/>
          <p:nvPr/>
        </p:nvSpPr>
        <p:spPr>
          <a:xfrm>
            <a:off x="1473200" y="48006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C76B19D-ECF9-0A43-8D6C-CD70811E456B}"/>
                  </a:ext>
                </a:extLst>
              </p:cNvPr>
              <p:cNvSpPr txBox="1"/>
              <p:nvPr/>
            </p:nvSpPr>
            <p:spPr>
              <a:xfrm>
                <a:off x="4445000" y="4775200"/>
                <a:ext cx="6985000" cy="3629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Scores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  Each row is an observation's coordinates in k-D.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C76B19D-ECF9-0A43-8D6C-CD70811E4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4775200"/>
                <a:ext cx="6985000" cy="362984"/>
              </a:xfrm>
              <a:prstGeom prst="rect">
                <a:avLst/>
              </a:prstGeom>
              <a:blipFill>
                <a:blip r:embed="rId5"/>
                <a:stretch>
                  <a:fillRect l="-18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FE7D072E-F49C-4346-A554-7B572F11C9B3}"/>
              </a:ext>
            </a:extLst>
          </p:cNvPr>
          <p:cNvSpPr/>
          <p:nvPr/>
        </p:nvSpPr>
        <p:spPr>
          <a:xfrm>
            <a:off x="762000" y="56261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25EDA5-914A-B345-B98A-D8547B3BCA05}"/>
              </a:ext>
            </a:extLst>
          </p:cNvPr>
          <p:cNvSpPr txBox="1"/>
          <p:nvPr/>
        </p:nvSpPr>
        <p:spPr>
          <a:xfrm>
            <a:off x="1473200" y="56007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Interpret / reconstruct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336534-481C-174C-A193-92DA67D27899}"/>
                  </a:ext>
                </a:extLst>
              </p:cNvPr>
              <p:cNvSpPr txBox="1"/>
              <p:nvPr/>
            </p:nvSpPr>
            <p:spPr>
              <a:xfrm>
                <a:off x="4445000" y="5575300"/>
                <a:ext cx="6985000" cy="4107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Read loadings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 reconstruct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pos m:val="top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if needed.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336534-481C-174C-A193-92DA67D27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5575300"/>
                <a:ext cx="6985000" cy="410753"/>
              </a:xfrm>
              <a:prstGeom prst="rect">
                <a:avLst/>
              </a:prstGeom>
              <a:blipFill>
                <a:blip r:embed="rId6"/>
                <a:stretch>
                  <a:fillRect l="-18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1662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11A7D0-1D31-9145-974D-25EEE995D60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27234-BDCD-DF4A-A381-E8F06637408E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1: Data &amp; Centering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45DCA8-F781-3A42-A5E3-C06E2F63A55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1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1A"/>
              <p:cNvSpPr/>
              <p:nvPr/>
            </p:nvSpPr>
            <p:spPr>
              <a:xfrm>
                <a:off x="762000" y="1701800"/>
                <a:ext cx="3175000" cy="4648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80000" tIns="55000" rIns="80000" bIns="45000" anchor="t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Data matrix 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𝑋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n = 5 students,  p = 2 scores</a:t>
                </a:r>
              </a:p>
            </p:txBody>
          </p:sp>
        </mc:Choice>
        <mc:Fallback>
          <p:sp>
            <p:nvSpPr>
              <p:cNvPr id="160" name="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3175000" cy="4648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S1B"/>
              <p:cNvSpPr/>
              <p:nvPr/>
            </p:nvSpPr>
            <p:spPr>
              <a:xfrm>
                <a:off x="4191000" y="1701800"/>
                <a:ext cx="3810000" cy="46482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80000" tIns="55000" rIns="8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Column means → x̄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1700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x̄₁ = (4+8+6+10+2)/5 = 6</a:t>
                </a: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x̄₂ = (5+9+5+11+0)/5 = 6</a:t>
                </a:r>
              </a:p>
            </p:txBody>
          </p:sp>
        </mc:Choice>
        <mc:Fallback>
          <p:sp>
            <p:nvSpPr>
              <p:cNvPr id="161" name="S1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1701800"/>
                <a:ext cx="3810000" cy="4648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S1C"/>
              <p:cNvSpPr/>
              <p:nvPr/>
            </p:nvSpPr>
            <p:spPr>
              <a:xfrm>
                <a:off x="8255000" y="1701800"/>
                <a:ext cx="3175000" cy="4648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80000" tIns="55000" rIns="80000" bIns="45000" anchor="t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Center:  Xc = X − 1ₙx̄ᵀ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subtract x̄ = (6, 6) from every row</a:t>
                </a:r>
              </a:p>
            </p:txBody>
          </p:sp>
        </mc:Choice>
        <mc:Fallback>
          <p:sp>
            <p:nvSpPr>
              <p:cNvPr id="162" name="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1701800"/>
                <a:ext cx="3175000" cy="4648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8427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496FA-2210-204C-863C-A29FA00D036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ECBD7-A9D3-6E40-AC08-40121A79D8FF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2: Covariance Matrix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233FF0-09CC-9B48-99B5-BA9F84FE816D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2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2A"/>
              <p:cNvSpPr/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Cross-product matrix  XcᵀXc  (2×5 · 5×2 → 2×2)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60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72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Σxᵢ² = 4+4+0+16+16 = 40,   Σyᵢ² = 1+9+1+25+36 = 72,   Σxᵢyᵢ = 2+6+0+20+24 = 50</a:t>
                </a:r>
              </a:p>
            </p:txBody>
          </p:sp>
        </mc:Choice>
        <mc:Fallback>
          <p:sp>
            <p:nvSpPr>
              <p:cNvPr id="160" name="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S2B"/>
              <p:cNvSpPr/>
              <p:nvPr/>
            </p:nvSpPr>
            <p:spPr>
              <a:xfrm>
                <a:off x="762000" y="33782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Scale by 1/(n−1) = 1/4  →  covariance matrix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4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400">
                              <a:latin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72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10.0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12.5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12.5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18.0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782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S2C"/>
              <p:cNvSpPr/>
              <p:nvPr/>
            </p:nvSpPr>
            <p:spPr>
              <a:xfrm>
                <a:off x="762000" y="50546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Useful summaries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𝑡𝑟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) = 10 + 18 = 28          </m:t>
                      </m:r>
                      <m:r>
                        <a:rPr sz="1600">
                          <a:latin typeface="Cambria Math"/>
                        </a:rPr>
                        <m:t>𝑑𝑒𝑡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) = (10)(18) − 12.5² = 23.75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S2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0546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3190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496FA-2210-204C-863C-A29FA00D036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ECBD7-A9D3-6E40-AC08-40121A79D8FF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3: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233FF0-09CC-9B48-99B5-BA9F84FE816D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3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3A"/>
              <p:cNvSpPr/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Characteristic equation  det(S − λI) = 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𝑑𝑒𝑡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10 −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12.5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12.5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18 −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/>
                            </a:rPr>
                            <m:t>10 −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</m:e>
                      </m:d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/>
                            </a:rPr>
                            <m:t>18 −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</m:e>
                      </m:d>
                      <m:r>
                        <a:rPr sz="1600">
                          <a:latin typeface="Cambria Math"/>
                        </a:rPr>
                        <m:t> −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500">
                              <a:latin typeface="Cambria Math"/>
                            </a:rPr>
                            <m:t>12.5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S3B"/>
              <p:cNvSpPr/>
              <p:nvPr/>
            </p:nvSpPr>
            <p:spPr>
              <a:xfrm>
                <a:off x="762000" y="33274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Expand to a quadratic in λ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− 28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+ (180 − 156.25) = 0     ⇒    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− 28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+ 23.75 = 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S3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S3C"/>
              <p:cNvSpPr/>
              <p:nvPr/>
            </p:nvSpPr>
            <p:spPr>
              <a:xfrm>
                <a:off x="762000" y="49022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Solve with the quadratic formula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350">
                              <a:latin typeface="Cambria Math"/>
                            </a:rPr>
                            <m:t>28 ± √(784 − 95)</m:t>
                          </m:r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350">
                              <a:latin typeface="Cambria Math"/>
                            </a:rPr>
                            <m:t>28 ± √689</m:t>
                          </m:r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algn="ctr"/>
                <a:r>
                  <a:rPr lang="en-US" sz="1800" b="1">
                    <a:solidFill>
                      <a:srgbClr val="7AB648"/>
                    </a:solidFill>
                  </a:rPr>
                  <a:t>⇒    λ₁ ≈ 27.12        λ₂ ≈ 0.88</a:t>
                </a:r>
              </a:p>
            </p:txBody>
          </p:sp>
        </mc:Choice>
        <mc:Fallback>
          <p:sp>
            <p:nvSpPr>
              <p:cNvPr id="162" name="S3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9022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374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496FA-2210-204C-863C-A29FA00D036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ECBD7-A9D3-6E40-AC08-40121A79D8FF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4: Eigenvectors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233FF0-09CC-9B48-99B5-BA9F84FE816D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4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4A"/>
              <p:cNvSpPr/>
              <p:nvPr/>
            </p:nvSpPr>
            <p:spPr>
              <a:xfrm>
                <a:off x="762000" y="17018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Solve (S − λ₁I)v = 0   with λ₁ = 27.12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(10 − 27.12)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+ 12.5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0    ⇒    −17.12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+ 12.5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0    ⇒   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1.370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S4B"/>
              <p:cNvSpPr/>
              <p:nvPr/>
            </p:nvSpPr>
            <p:spPr>
              <a:xfrm>
                <a:off x="762000" y="3200400"/>
                <a:ext cx="10668000" cy="1879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Choose a free value, then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 = (1, 1.370)        ‖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‖ = √(1² + 1.370²) = √2.876 = 1.696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𝑣</m:t>
                      </m:r>
                      <m:r>
                        <a:rPr sz="1700" i="1">
                          <a:latin typeface="Cambria Math"/>
                        </a:rPr>
                        <m:t>₁</m:t>
                      </m:r>
                      <m:r>
                        <a:rPr sz="1600">
                          <a:latin typeface="Cambria Math"/>
                        </a:rPr>
                        <m:t> = (1/1.696)(1, 1.370) = (0.590, 0.808)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00400"/>
                <a:ext cx="10668000" cy="1879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S4C"/>
              <p:cNvSpPr/>
              <p:nvPr/>
            </p:nvSpPr>
            <p:spPr>
              <a:xfrm>
                <a:off x="762000" y="5207000"/>
                <a:ext cx="10668000" cy="1219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Second eigenvector (perpendicular to v₁)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𝑣</m:t>
                      </m:r>
                      <m:r>
                        <a:rPr sz="1700" i="1">
                          <a:latin typeface="Cambria Math"/>
                        </a:rPr>
                        <m:t>₂</m:t>
                      </m:r>
                      <m:r>
                        <a:rPr sz="1600">
                          <a:latin typeface="Cambria Math"/>
                        </a:rPr>
                        <m:t> = (−0.808, 0.590)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v₂ ⊥ v₁ (v₁ · v₂ = 0) and is also unit length</a:t>
                </a:r>
              </a:p>
            </p:txBody>
          </p:sp>
        </mc:Choice>
        <mc:Fallback>
          <p:sp>
            <p:nvSpPr>
              <p:cNvPr id="162" name="S4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207000"/>
                <a:ext cx="10668000" cy="1219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802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496FA-2210-204C-863C-A29FA00D036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ECBD7-A9D3-6E40-AC08-40121A79D8FF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5: Variance Explained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233FF0-09CC-9B48-99B5-BA9F84FE816D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5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5A"/>
              <p:cNvSpPr/>
              <p:nvPr/>
            </p:nvSpPr>
            <p:spPr>
              <a:xfrm>
                <a:off x="762000" y="1701800"/>
                <a:ext cx="5588000" cy="47244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60000" rIns="100000" bIns="50000" anchor="t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Total variance = trace of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𝑡𝑟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) =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₁ +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₂ = 27.12 + 0.88 = 28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800"/>
                  </a:spcBef>
                </a:pPr>
                <a:r>
                  <a:rPr lang="en-US" sz="1400" b="1">
                    <a:solidFill>
                      <a:srgbClr val="00A7B5"/>
                    </a:solidFill>
                  </a:rPr>
                  <a:t>2 · Share of total variance</a:t>
                </a:r>
              </a:p>
              <a:p>
                <a:pPr algn="l">
                  <a:spcBef>
                    <a:spcPts val="300"/>
                  </a:spcBef>
                </a:pPr>
                <a:r>
                  <a:rPr lang="en-US" sz="1800" b="1">
                    <a:solidFill>
                      <a:srgbClr val="7AB648"/>
                    </a:solidFill>
                  </a:rPr>
                  <a:t>PC1 :  27.12 / 28  =  96.9%</a:t>
                </a:r>
              </a:p>
              <a:p>
                <a:pPr algn="l">
                  <a:spcBef>
                    <a:spcPts val="200"/>
                  </a:spcBef>
                </a:pPr>
                <a:r>
                  <a:rPr lang="en-US" sz="1800" b="1">
                    <a:solidFill>
                      <a:srgbClr val="D1578A"/>
                    </a:solidFill>
                  </a:rPr>
                  <a:t>PC2 :   0.88 / 28  =   3.1%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400" b="1">
                    <a:solidFill>
                      <a:srgbClr val="85754D"/>
                    </a:solidFill>
                  </a:rPr>
                  <a:t>3 · Takeaway</a:t>
                </a:r>
              </a:p>
              <a:p>
                <a:pPr algn="l"/>
                <a:r>
                  <a:rPr lang="en-US" sz="1400" i="1">
                    <a:solidFill>
                      <a:srgbClr val="85754D"/>
                    </a:solidFill>
                  </a:rPr>
                  <a:t>PC1 alone captures ≈ 97% of the variance — the data is essentially one-dimensional.</a:t>
                </a:r>
              </a:p>
            </p:txBody>
          </p:sp>
        </mc:Choice>
        <mc:Fallback>
          <p:sp>
            <p:nvSpPr>
              <p:cNvPr id="160" name="S5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5588000" cy="4724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0" name="VarChart"/>
          <p:cNvGraphicFramePr/>
          <p:nvPr/>
        </p:nvGraphicFramePr>
        <p:xfrm>
          <a:off x="6604000" y="1905000"/>
          <a:ext cx="482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438750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496FA-2210-204C-863C-A29FA00D036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ECBD7-A9D3-6E40-AC08-40121A79D8FF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6: Scores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233FF0-09CC-9B48-99B5-BA9F84FE816D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6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6A"/>
              <p:cNvSpPr/>
              <p:nvPr/>
            </p:nvSpPr>
            <p:spPr>
              <a:xfrm>
                <a:off x="762000" y="1701800"/>
                <a:ext cx="10668000" cy="29464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5000" rIns="10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Project the centred data onto PC1:   T₁ = Xc · v₁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 i="1">
                          <a:latin typeface="Cambria Math"/>
                        </a:rPr>
                        <m:t>𝑇</m:t>
                      </m:r>
                      <m:r>
                        <a:rPr sz="1500" i="1">
                          <a:latin typeface="Cambria Math"/>
                        </a:rPr>
                        <m:t>₁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5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500" i="1">
                          <a:latin typeface="Cambria Math"/>
                        </a:rPr>
                        <m:t>𝑣</m:t>
                      </m:r>
                      <m:r>
                        <a:rPr sz="1500" i="1">
                          <a:latin typeface="Cambria Math"/>
                        </a:rPr>
                        <m:t>₁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0.590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0.808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−1.99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3.60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−0.81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6.40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−7.21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S6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2946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S6B"/>
          <p:cNvSpPr/>
          <p:nvPr/>
        </p:nvSpPr>
        <p:spPr>
          <a:xfrm>
            <a:off x="762000" y="4775200"/>
            <a:ext cx="10668000" cy="1651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5000" rIns="10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Read the result</a:t>
            </a:r>
          </a:p>
          <a:p>
            <a:pPr algn="l">
              <a:spcBef>
                <a:spcPts val="300"/>
              </a:spcBef>
            </a:pPr>
            <a:r>
              <a:rPr lang="en-US" sz="1450" i="1">
                <a:solidFill>
                  <a:srgbClr val="85754D"/>
                </a:solidFill>
              </a:rPr>
              <a:t>Row 1:  (−2)(0.590) + (−1)(0.808) = −1.99      Row 4:  4(0.590) + 5(0.808) = 6.40</a:t>
            </a:r>
          </a:p>
          <a:p>
            <a:pPr algn="l">
              <a:spcBef>
                <a:spcPts val="300"/>
              </a:spcBef>
            </a:pPr>
            <a:r>
              <a:rPr lang="en-US" sz="1450" i="1">
                <a:solidFill>
                  <a:srgbClr val="85754D"/>
                </a:solidFill>
              </a:rPr>
              <a:t>PC1 ranks the 5 students on one “overall-ability” axis — Student 4 is highest (6.40), Student 5 lowest (−7.21).</a:t>
            </a:r>
          </a:p>
        </p:txBody>
      </p:sp>
    </p:spTree>
    <p:extLst>
      <p:ext uri="{BB962C8B-B14F-4D97-AF65-F5344CB8AC3E}">
        <p14:creationId xmlns:p14="http://schemas.microsoft.com/office/powerpoint/2010/main" val="24862855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D19D9-EB00-204C-AE85-7CFA41DD11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BF74-78E2-E54B-B60C-BCB5A8D9D155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2 — Step 1: Standardize → 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A3959-AF2C-2D41-8F56-7D5C00CE12E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2 · 1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2S1A"/>
              <p:cNvSpPr/>
              <p:nvPr/>
            </p:nvSpPr>
            <p:spPr>
              <a:xfrm>
                <a:off x="762000" y="17018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Standardize each variable to a z-score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𝑧</m:t>
                      </m:r>
                      <m:r>
                        <a:rPr sz="1600">
                          <a:latin typeface="Cambria Math"/>
                        </a:rPr>
                        <m:t>ⱼ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400">
                              <a:latin typeface="Cambria Math"/>
                            </a:rPr>
                            <m:t>𝑥</m:t>
                          </m:r>
                          <m:r>
                            <a:rPr sz="1400">
                              <a:latin typeface="Cambria Math"/>
                            </a:rPr>
                            <m:t>ⱼ − </m:t>
                          </m:r>
                          <m:r>
                            <a:rPr sz="1400">
                              <a:latin typeface="Cambria Math"/>
                            </a:rPr>
                            <m:t>𝑥</m:t>
                          </m:r>
                          <m:r>
                            <a:rPr sz="1400">
                              <a:latin typeface="Cambria Math"/>
                            </a:rPr>
                            <m:t>̄ⱼ</m:t>
                          </m:r>
                        </m:num>
                        <m:den>
                          <m:r>
                            <a:rPr sz="1400" i="1">
                              <a:latin typeface="Cambria Math"/>
                            </a:rPr>
                            <m:t>𝑠</m:t>
                          </m:r>
                          <m:r>
                            <a:rPr sz="1400" i="1">
                              <a:latin typeface="Cambria Math"/>
                            </a:rPr>
                            <m:t>ⱼ</m:t>
                          </m:r>
                        </m:den>
                      </m:f>
                      <m:r>
                        <a:rPr sz="1500">
                          <a:latin typeface="Cambria Math"/>
                        </a:rPr>
                        <m:t>      (</m:t>
                      </m:r>
                      <m:r>
                        <a:rPr sz="1500">
                          <a:latin typeface="Cambria Math"/>
                        </a:rPr>
                        <m:t>𝑚𝑒𝑎𝑛</m:t>
                      </m:r>
                      <m:r>
                        <a:rPr sz="1500">
                          <a:latin typeface="Cambria Math"/>
                        </a:rPr>
                        <m:t> 0, </m:t>
                      </m:r>
                      <m:r>
                        <a:rPr sz="1500">
                          <a:latin typeface="Cambria Math"/>
                        </a:rPr>
                        <m:t>𝑣𝑎𝑟𝑖𝑎𝑛𝑐𝑒</m:t>
                      </m:r>
                      <m:r>
                        <a:rPr sz="1500">
                          <a:latin typeface="Cambria Math"/>
                        </a:rPr>
                        <m:t> 1)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2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W2S1B"/>
              <p:cNvSpPr/>
              <p:nvPr/>
            </p:nvSpPr>
            <p:spPr>
              <a:xfrm>
                <a:off x="762000" y="3149600"/>
                <a:ext cx="10668000" cy="23368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Correlation matrix  R = (1/(n−1)) ZᵀZ   (3 variables)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𝑅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1.0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1.0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W2S1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149600"/>
                <a:ext cx="10668000" cy="2336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W2S1C"/>
              <p:cNvSpPr/>
              <p:nvPr/>
            </p:nvSpPr>
            <p:spPr>
              <a:xfrm>
                <a:off x="762000" y="5613400"/>
                <a:ext cx="10668000" cy="838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Note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𝑡𝑟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𝑅</m:t>
                      </m:r>
                      <m:r>
                        <a:rPr sz="1600">
                          <a:latin typeface="Cambria Math"/>
                        </a:rPr>
                        <m:t>) = 1 + 1 + 1 = 3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every standardized variable has variance 1, so R has 1s on the diagonal</a:t>
                </a:r>
              </a:p>
            </p:txBody>
          </p:sp>
        </mc:Choice>
        <mc:Fallback>
          <p:sp>
            <p:nvSpPr>
              <p:cNvPr id="162" name="W2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613400"/>
                <a:ext cx="10668000" cy="838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 b="-45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92972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D19D9-EB00-204C-AE85-7CFA41DD11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BF74-78E2-E54B-B60C-BCB5A8D9D155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2 — Step 2: Eigenvalues of 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A3959-AF2C-2D41-8F56-7D5C00CE12E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2 · 2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2S2A"/>
              <p:cNvSpPr/>
              <p:nvPr/>
            </p:nvSpPr>
            <p:spPr>
              <a:xfrm>
                <a:off x="762000" y="1701800"/>
                <a:ext cx="10668000" cy="2159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Characteristic equation  det(R − λI) = 0   (3×3 → cubic)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𝑑𝑒𝑡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1 − </m:t>
                                </m:r>
                                <m:r>
                                  <a:rPr sz="145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1 − </m:t>
                                </m:r>
                                <m:r>
                                  <a:rPr sz="145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1 − </m:t>
                                </m:r>
                                <m:r>
                                  <a:rPr sz="145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expands to:  λ³ − 3λ² + 1.95λ − 0.27 = 0   (solve numerically)</a:t>
                </a:r>
              </a:p>
            </p:txBody>
          </p:sp>
        </mc:Choice>
        <mc:Fallback>
          <p:sp>
            <p:nvSpPr>
              <p:cNvPr id="160" name="W2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2159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W2S2B"/>
          <p:cNvSpPr/>
          <p:nvPr/>
        </p:nvSpPr>
        <p:spPr>
          <a:xfrm>
            <a:off x="762000" y="4038600"/>
            <a:ext cx="10668000" cy="1219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Three eigenvalues, sorted largest first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λ₁ = 2.18        λ₂ = 0.62        λ₃ = 0.20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W2S2C"/>
              <p:cNvSpPr/>
              <p:nvPr/>
            </p:nvSpPr>
            <p:spPr>
              <a:xfrm>
                <a:off x="762000" y="5410200"/>
                <a:ext cx="106680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Sanity check — eigenvalues sum to the trace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₁ +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₂ +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₃ = 2.18 + 0.62 + 0.20 = 3.00 = </m:t>
                      </m:r>
                      <m:r>
                        <a:rPr sz="1600">
                          <a:latin typeface="Cambria Math"/>
                        </a:rPr>
                        <m:t>𝑡𝑟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𝑅</m:t>
                      </m:r>
                      <m:r>
                        <a:rPr sz="1600">
                          <a:latin typeface="Cambria Math"/>
                        </a:rPr>
                        <m:t>)   ✓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W2S2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410200"/>
                <a:ext cx="106680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5292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D19D9-EB00-204C-AE85-7CFA41DD11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BF74-78E2-E54B-B60C-BCB5A8D9D155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2 — Step 3: Variance &amp; Retention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A3959-AF2C-2D41-8F56-7D5C00CE12E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2 · 3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2S3A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Proportion of variance  =  λⱼ / tr(R),  tr(R) = 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1: 2.18/3 = 72.7%       </m:t>
                      </m:r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2: 0.62/3 = 20.7%       </m:t>
                      </m:r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3: 0.20/3 = 6.7%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2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W2S3B"/>
              <p:cNvSpPr/>
              <p:nvPr/>
            </p:nvSpPr>
            <p:spPr>
              <a:xfrm>
                <a:off x="762000" y="33528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Cumulative variance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>
                          <a:latin typeface="Cambria Math"/>
                        </a:rPr>
                        <m:t>72.7%    →    93.3%    →    100%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W2S3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528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W2S3C"/>
          <p:cNvSpPr/>
          <p:nvPr/>
        </p:nvSpPr>
        <p:spPr>
          <a:xfrm>
            <a:off x="762000" y="4851400"/>
            <a:ext cx="10668000" cy="1600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How many components to keep? — Kaiser rule (λ &gt; 1)</a:t>
            </a:r>
          </a:p>
          <a:p>
            <a:pPr algn="ctr"/>
            <a:r>
              <a:rPr lang="en-US" sz="1700" b="1">
                <a:solidFill>
                  <a:srgbClr val="D1578A"/>
                </a:solidFill>
              </a:rPr>
              <a:t>only  λ₁ = 2.18 &gt; 1   ⇒   retain PC1</a:t>
            </a:r>
          </a:p>
          <a:p>
            <a:pPr algn="ctr"/>
            <a:r>
              <a:rPr lang="en-US" sz="1400" i="1">
                <a:solidFill>
                  <a:srgbClr val="85754D"/>
                </a:solidFill>
              </a:rPr>
              <a:t>on a correlation matrix the average eigenvalue is 1, so keep components above the average</a:t>
            </a:r>
          </a:p>
        </p:txBody>
      </p:sp>
    </p:spTree>
    <p:extLst>
      <p:ext uri="{BB962C8B-B14F-4D97-AF65-F5344CB8AC3E}">
        <p14:creationId xmlns:p14="http://schemas.microsoft.com/office/powerpoint/2010/main" val="23386213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D19D9-EB00-204C-AE85-7CFA41DD11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BF74-78E2-E54B-B60C-BCB5A8D9D155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2 — Step 4: First Eigenvector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A3959-AF2C-2D41-8F56-7D5C00CE12E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2 · 4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2S4A"/>
              <p:cNvSpPr/>
              <p:nvPr/>
            </p:nvSpPr>
            <p:spPr>
              <a:xfrm>
                <a:off x="762000" y="1676400"/>
                <a:ext cx="10668000" cy="2108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Solve (R − λ₁I)v₁ = 0 for λ₁ = 2.18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 i="1">
                          <a:latin typeface="Cambria Math"/>
                        </a:rPr>
                        <m:t>𝑅</m:t>
                      </m:r>
                      <m:r>
                        <a:rPr sz="1500">
                          <a:latin typeface="Cambria Math"/>
                        </a:rPr>
                        <m:t> − 2.18 </m:t>
                      </m:r>
                      <m:r>
                        <a:rPr sz="1500" i="1">
                          <a:latin typeface="Cambria Math"/>
                        </a:rPr>
                        <m:t>𝐼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−1.18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−1.18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−1.18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find the null-space direction of this matrix, then scale to unit length</a:t>
                </a:r>
              </a:p>
            </p:txBody>
          </p:sp>
        </mc:Choice>
        <mc:Fallback>
          <p:sp>
            <p:nvSpPr>
              <p:cNvPr id="160" name="W2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668000" cy="2108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W2S4B"/>
              <p:cNvSpPr/>
              <p:nvPr/>
            </p:nvSpPr>
            <p:spPr>
              <a:xfrm>
                <a:off x="762000" y="3911600"/>
                <a:ext cx="10668000" cy="15494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Normalized first eigenvector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0.60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0.63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0.49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    ( ‖</m:t>
                      </m:r>
                      <m:r>
                        <a:rPr sz="1500">
                          <a:latin typeface="Cambria Math"/>
                        </a:rPr>
                        <m:t>𝑣</m:t>
                      </m:r>
                      <m:r>
                        <a:rPr sz="1500">
                          <a:latin typeface="Cambria Math"/>
                        </a:rPr>
                        <m:t>₁‖ = 1 )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W2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911600"/>
                <a:ext cx="10668000" cy="1549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W2S4C"/>
          <p:cNvSpPr/>
          <p:nvPr/>
        </p:nvSpPr>
        <p:spPr>
          <a:xfrm>
            <a:off x="762000" y="5588000"/>
            <a:ext cx="10668000" cy="914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Interpretation</a:t>
            </a:r>
          </a:p>
          <a:p>
            <a:pPr algn="ctr"/>
            <a:r>
              <a:rPr lang="en-US" sz="1500" b="1">
                <a:solidFill>
                  <a:srgbClr val="D1578A"/>
                </a:solidFill>
              </a:rPr>
              <a:t>all three entries are positive and similar in size  ⇒  PC1 is a 'general / overall level' factor</a:t>
            </a:r>
          </a:p>
          <a:p>
            <a:pPr algn="ctr"/>
            <a:r>
              <a:rPr lang="en-US" sz="1400" i="1">
                <a:solidFill>
                  <a:srgbClr val="85754D"/>
                </a:solidFill>
              </a:rPr>
              <a:t>PC1 is essentially a weighted average of the three standardized variables</a:t>
            </a:r>
          </a:p>
        </p:txBody>
      </p:sp>
    </p:spTree>
    <p:extLst>
      <p:ext uri="{BB962C8B-B14F-4D97-AF65-F5344CB8AC3E}">
        <p14:creationId xmlns:p14="http://schemas.microsoft.com/office/powerpoint/2010/main" val="41181414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D19D9-EB00-204C-AE85-7CFA41DD11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BF74-78E2-E54B-B60C-BCB5A8D9D155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2 — Step 5: Correlation Loadings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A3959-AF2C-2D41-8F56-7D5C00CE12E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2 · 5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2S5A"/>
              <p:cNvSpPr/>
              <p:nvPr/>
            </p:nvSpPr>
            <p:spPr>
              <a:xfrm>
                <a:off x="762000" y="17018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A loading is the correlation of a variable with the PC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𝑐𝑜𝑟𝑟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𝑧</m:t>
                      </m:r>
                      <m:r>
                        <a:rPr sz="1600">
                          <a:latin typeface="Cambria Math"/>
                        </a:rPr>
                        <m:t>ⱼ, </m:t>
                      </m:r>
                      <m:r>
                        <a:rPr sz="1600">
                          <a:latin typeface="Cambria Math"/>
                        </a:rPr>
                        <m:t>𝑃𝐶</m:t>
                      </m:r>
                      <m:r>
                        <a:rPr sz="1600">
                          <a:latin typeface="Cambria Math"/>
                        </a:rPr>
                        <m:t>1) =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ⱼ</m:t>
                      </m:r>
                      <m:r>
                        <a:rPr sz="1600">
                          <a:latin typeface="Cambria Math"/>
                        </a:rPr>
                        <m:t> · √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₁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2S5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W2S5B"/>
          <p:cNvSpPr/>
          <p:nvPr/>
        </p:nvSpPr>
        <p:spPr>
          <a:xfrm>
            <a:off x="762000" y="3175000"/>
            <a:ext cx="10668000" cy="2159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Compute  (√λ₁ = √2.18 = 1.476)</a:t>
            </a:r>
          </a:p>
          <a:p>
            <a:pPr algn="ctr"/>
            <a:r>
              <a:rPr lang="en-US" sz="1600" b="1">
                <a:solidFill>
                  <a:srgbClr val="7AB648"/>
                </a:solidFill>
              </a:rPr>
              <a:t>corr(z₁, PC1) = 0.60 · 1.476 = 0.89</a:t>
            </a:r>
          </a:p>
          <a:p>
            <a:pPr algn="ctr"/>
            <a:r>
              <a:rPr lang="en-US" sz="1600" b="1">
                <a:solidFill>
                  <a:srgbClr val="7AB648"/>
                </a:solidFill>
              </a:rPr>
              <a:t>corr(z₂, PC1) = 0.63 · 1.476 = 0.93</a:t>
            </a:r>
          </a:p>
          <a:p>
            <a:pPr algn="ctr"/>
            <a:r>
              <a:rPr lang="en-US" sz="1600" b="1">
                <a:solidFill>
                  <a:srgbClr val="7AB648"/>
                </a:solidFill>
              </a:rPr>
              <a:t>corr(z₃, PC1) = 0.49 · 1.476 = 0.72</a:t>
            </a:r>
          </a:p>
        </p:txBody>
      </p:sp>
      <p:sp>
        <p:nvSpPr>
          <p:cNvPr id="162" name="W2S5C"/>
          <p:cNvSpPr/>
          <p:nvPr/>
        </p:nvSpPr>
        <p:spPr>
          <a:xfrm>
            <a:off x="762000" y="5486400"/>
            <a:ext cx="10668000" cy="96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Key takeaway</a:t>
            </a:r>
          </a:p>
          <a:p>
            <a:pPr algn="ctr"/>
            <a:r>
              <a:rPr lang="en-US" sz="1550" b="1">
                <a:solidFill>
                  <a:srgbClr val="D1578A"/>
                </a:solidFill>
              </a:rPr>
              <a:t>PCA on R  ≠  PCA on S   unless all variables share the same scale</a:t>
            </a:r>
          </a:p>
          <a:p>
            <a:pPr algn="ctr"/>
            <a:r>
              <a:rPr lang="en-US" sz="1400" i="1">
                <a:solidFill>
                  <a:srgbClr val="85754D"/>
                </a:solidFill>
              </a:rPr>
              <a:t>standardize first whenever the variables are measured in different units</a:t>
            </a:r>
          </a:p>
        </p:txBody>
      </p:sp>
    </p:spTree>
    <p:extLst>
      <p:ext uri="{BB962C8B-B14F-4D97-AF65-F5344CB8AC3E}">
        <p14:creationId xmlns:p14="http://schemas.microsoft.com/office/powerpoint/2010/main" val="41367624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BB7A37-E303-B840-BA1B-F1E17A3EB4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EEED9-0F8A-A046-97D5-4FBCDCDD3668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3 — Step 1: The SVD Factorization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790EB-451A-4F42-9655-288CCE34389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3 · 1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3S1A"/>
              <p:cNvSpPr/>
              <p:nvPr/>
            </p:nvSpPr>
            <p:spPr>
              <a:xfrm>
                <a:off x="762000" y="1701800"/>
                <a:ext cx="10668000" cy="1244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5000" rIns="10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Factorize the centred data directly — no covariance needed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9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800">
                          <a:latin typeface="Cambria Math"/>
                        </a:rPr>
                        <m:t> = </m:t>
                      </m:r>
                      <m:r>
                        <a:rPr sz="1900" i="1">
                          <a:latin typeface="Cambria Math"/>
                        </a:rPr>
                        <m:t>𝑈</m:t>
                      </m:r>
                      <m:r>
                        <a:rPr sz="1900" i="1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9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15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3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244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W3S1B"/>
          <p:cNvSpPr/>
          <p:nvPr/>
        </p:nvSpPr>
        <p:spPr>
          <a:xfrm>
            <a:off x="762000" y="3098800"/>
            <a:ext cx="5969000" cy="33274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5000" rIns="10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The three factors</a:t>
            </a:r>
          </a:p>
          <a:p>
            <a:pPr algn="l">
              <a:spcBef>
                <a:spcPts val="600"/>
              </a:spcBef>
            </a:pPr>
            <a:r>
              <a:rPr lang="en-US" sz="1550" b="1">
                <a:solidFill>
                  <a:srgbClr val="4B2E83"/>
                </a:solidFill>
              </a:rPr>
              <a:t>U (5×2):</a:t>
            </a:r>
            <a:r>
              <a:rPr lang="en-US" sz="1500">
                <a:solidFill>
                  <a:srgbClr val="333333"/>
                </a:solidFill>
              </a:rPr>
              <a:t>  left singular vectors (orthonormal columns)</a:t>
            </a:r>
          </a:p>
          <a:p>
            <a:pPr algn="l">
              <a:spcBef>
                <a:spcPts val="600"/>
              </a:spcBef>
            </a:pPr>
            <a:r>
              <a:rPr lang="en-US" sz="1550" b="1">
                <a:solidFill>
                  <a:srgbClr val="00A7B5"/>
                </a:solidFill>
              </a:rPr>
              <a:t>Σ (2×2):</a:t>
            </a:r>
            <a:r>
              <a:rPr lang="en-US" sz="1500">
                <a:solidFill>
                  <a:srgbClr val="333333"/>
                </a:solidFill>
              </a:rPr>
              <a:t>  diagonal of singular values  σ₁ ≥ σ₂ ≥ 0</a:t>
            </a:r>
          </a:p>
          <a:p>
            <a:pPr algn="l">
              <a:spcBef>
                <a:spcPts val="600"/>
              </a:spcBef>
            </a:pPr>
            <a:r>
              <a:rPr lang="en-US" sz="1550" b="1">
                <a:solidFill>
                  <a:srgbClr val="D1578A"/>
                </a:solidFill>
              </a:rPr>
              <a:t>Vᵀ (2×2):</a:t>
            </a:r>
            <a:r>
              <a:rPr lang="en-US" sz="1500">
                <a:solidFill>
                  <a:srgbClr val="333333"/>
                </a:solidFill>
              </a:rPr>
              <a:t>  right singular vectors = PCA loadings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W3S1C"/>
              <p:cNvSpPr/>
              <p:nvPr/>
            </p:nvSpPr>
            <p:spPr>
              <a:xfrm>
                <a:off x="6985000" y="3098800"/>
                <a:ext cx="4445000" cy="33274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5000" rIns="10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Same Xc as Example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5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4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W3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0" y="3098800"/>
                <a:ext cx="4445000" cy="3327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5386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BB7A37-E303-B840-BA1B-F1E17A3EB4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EEED9-0F8A-A046-97D5-4FBCDCDD3668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3 — Step 2: Singular 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790EB-451A-4F42-9655-288CCE34389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3 · 2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3S2A"/>
              <p:cNvSpPr/>
              <p:nvPr/>
            </p:nvSpPr>
            <p:spPr>
              <a:xfrm>
                <a:off x="762000" y="17018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Singular values are linked to XcᵀXc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60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 i="1">
                          <a:latin typeface="Cambria Math"/>
                        </a:rPr>
                        <m:t>𝑉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𝛴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    ⇒    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ⱼ = (</m:t>
                      </m:r>
                      <m:r>
                        <a:rPr sz="1600">
                          <a:latin typeface="Cambria Math"/>
                        </a:rPr>
                        <m:t>𝑛</m:t>
                      </m:r>
                      <m:r>
                        <a:rPr sz="1600">
                          <a:latin typeface="Cambria Math"/>
                        </a:rPr>
                        <m:t> − 1)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ⱼ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3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W3S2B"/>
          <p:cNvSpPr/>
          <p:nvPr/>
        </p:nvSpPr>
        <p:spPr>
          <a:xfrm>
            <a:off x="762000" y="32512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Compute  (n − 1 = 4,  λ from Example 1)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σ₁ = √(4 · 27.12) = √108.6 = 10.42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σ₂ = √(4 ·  0.88)  =  √3.52  =  1.88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W3S2C"/>
              <p:cNvSpPr/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The Σ matrix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𝛴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10.42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1.88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W3S2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2140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BB7A37-E303-B840-BA1B-F1E17A3EB4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EEED9-0F8A-A046-97D5-4FBCDCDD3668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3 — Step 3: Connect to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790EB-451A-4F42-9655-288CCE34389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3 · 3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3S3A"/>
              <p:cNvSpPr/>
              <p:nvPr/>
            </p:nvSpPr>
            <p:spPr>
              <a:xfrm>
                <a:off x="762000" y="17018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Eigenvalue ↔ singular value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ⱼ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1500" i="1">
                                  <a:latin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sz="10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sz="1300">
                              <a:latin typeface="Cambria Math"/>
                            </a:rPr>
                            <m:t>ⱼ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𝑛</m:t>
                          </m:r>
                          <m:r>
                            <a:rPr sz="1500">
                              <a:latin typeface="Cambria Math"/>
                            </a:rPr>
                            <m:t> − 1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3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W3S3B"/>
          <p:cNvSpPr/>
          <p:nvPr/>
        </p:nvSpPr>
        <p:spPr>
          <a:xfrm>
            <a:off x="762000" y="3200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Check against Example 1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λ₁ = 10.42² / 4 = 108.6 / 4 = 27.12   ✓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λ₂ =  1.88²  / 4  =  3.52  / 4  =  0.88   ✓</a:t>
            </a:r>
          </a:p>
        </p:txBody>
      </p:sp>
      <p:sp>
        <p:nvSpPr>
          <p:cNvPr id="162" name="W3S3C"/>
          <p:cNvSpPr/>
          <p:nvPr/>
        </p:nvSpPr>
        <p:spPr>
          <a:xfrm>
            <a:off x="762000" y="5308600"/>
            <a:ext cx="10668000" cy="1117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Same answer, two routes</a:t>
            </a:r>
          </a:p>
          <a:p>
            <a:pPr algn="ctr"/>
            <a:r>
              <a:rPr lang="en-US" sz="1550" b="1">
                <a:solidFill>
                  <a:srgbClr val="4B2E83"/>
                </a:solidFill>
              </a:rPr>
              <a:t>Eigen-decomposition of S  and  SVD of Xc  give identical principal components</a:t>
            </a:r>
          </a:p>
          <a:p>
            <a:pPr algn="ctr"/>
            <a:r>
              <a:rPr lang="en-US" sz="1400" i="1">
                <a:solidFill>
                  <a:srgbClr val="85754D"/>
                </a:solidFill>
              </a:rPr>
              <a:t>SVD reaches the same PCA without ever forming the covariance matrix</a:t>
            </a:r>
          </a:p>
        </p:txBody>
      </p:sp>
    </p:spTree>
    <p:extLst>
      <p:ext uri="{BB962C8B-B14F-4D97-AF65-F5344CB8AC3E}">
        <p14:creationId xmlns:p14="http://schemas.microsoft.com/office/powerpoint/2010/main" val="11742722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BB7A37-E303-B840-BA1B-F1E17A3EB4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EEED9-0F8A-A046-97D5-4FBCDCDD3668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3 — Step 4: Loadings &amp; Scores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790EB-451A-4F42-9655-288CCE34389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3 · 4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3S4A"/>
              <p:cNvSpPr/>
              <p:nvPr/>
            </p:nvSpPr>
            <p:spPr>
              <a:xfrm>
                <a:off x="762000" y="17018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Loadings = columns of V (right singular vectors)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0.590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−0.808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0.808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0.590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identical to Example 1's eigenvectors v₁, v₂</a:t>
                </a:r>
              </a:p>
            </p:txBody>
          </p:sp>
        </mc:Choice>
        <mc:Fallback>
          <p:sp>
            <p:nvSpPr>
              <p:cNvPr id="160" name="W3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W3S4B"/>
              <p:cNvSpPr/>
              <p:nvPr/>
            </p:nvSpPr>
            <p:spPr>
              <a:xfrm>
                <a:off x="762000" y="37084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Scores come for free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𝑇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 i="1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(</m:t>
                      </m:r>
                      <m:r>
                        <a:rPr sz="1600">
                          <a:latin typeface="Cambria Math"/>
                        </a:rPr>
                        <m:t>𝑈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𝛴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) </m:t>
                      </m:r>
                      <m:r>
                        <a:rPr sz="1600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𝑈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𝛴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because VᵀV = I — no separate projection needed</a:t>
                </a:r>
              </a:p>
            </p:txBody>
          </p:sp>
        </mc:Choice>
        <mc:Fallback>
          <p:sp>
            <p:nvSpPr>
              <p:cNvPr id="161" name="W3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7084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W3S4C"/>
          <p:cNvSpPr/>
          <p:nvPr/>
        </p:nvSpPr>
        <p:spPr>
          <a:xfrm>
            <a:off x="762000" y="5486400"/>
            <a:ext cx="10668000" cy="96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Read the scores</a:t>
            </a:r>
          </a:p>
          <a:p>
            <a:pPr algn="ctr"/>
            <a:r>
              <a:rPr lang="en-US" sz="1550" b="1">
                <a:solidFill>
                  <a:srgbClr val="4B2E83"/>
                </a:solidFill>
              </a:rPr>
              <a:t>column j of the score matrix  =  σⱼ × (column j of U)</a:t>
            </a:r>
          </a:p>
        </p:txBody>
      </p:sp>
    </p:spTree>
    <p:extLst>
      <p:ext uri="{BB962C8B-B14F-4D97-AF65-F5344CB8AC3E}">
        <p14:creationId xmlns:p14="http://schemas.microsoft.com/office/powerpoint/2010/main" val="19272535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BB7A37-E303-B840-BA1B-F1E17A3EB4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EEED9-0F8A-A046-97D5-4FBCDCDD3668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3 — Step 5: Why Use SVD?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790EB-451A-4F42-9655-288CCE34389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3 · 5 / 5</a:t>
            </a:r>
          </a:p>
        </p:txBody>
      </p:sp>
      <p:sp>
        <p:nvSpPr>
          <p:cNvPr id="160" name="W3S5A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Numerical stability</a:t>
            </a:r>
          </a:p>
          <a:p>
            <a:pPr algn="l">
              <a:spcBef>
                <a:spcPts val="300"/>
              </a:spcBef>
            </a:pPr>
            <a:r>
              <a:rPr lang="en-US" sz="1500">
                <a:solidFill>
                  <a:srgbClr val="333333"/>
                </a:solidFill>
              </a:rPr>
              <a:t>Forming XcᵀXc squares the condition number and can lose precision. SVD factorizes Xc directly, staying accurate even when columns are nearly collinear.</a:t>
            </a:r>
          </a:p>
        </p:txBody>
      </p:sp>
      <p:sp>
        <p:nvSpPr>
          <p:cNvPr id="161" name="W3S5B"/>
          <p:cNvSpPr/>
          <p:nvPr/>
        </p:nvSpPr>
        <p:spPr>
          <a:xfrm>
            <a:off x="762000" y="3302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Truncated SVD → top-k components</a:t>
            </a:r>
          </a:p>
          <a:p>
            <a:pPr algn="l">
              <a:spcBef>
                <a:spcPts val="300"/>
              </a:spcBef>
            </a:pPr>
            <a:r>
              <a:rPr lang="en-US" sz="1500">
                <a:solidFill>
                  <a:srgbClr val="333333"/>
                </a:solidFill>
              </a:rPr>
              <a:t>Keep only the first k columns — (Uₖ, Σₖ, Vₖ) — to obtain the top k PCs. Efficient when p is very large: text, images, genomics.</a:t>
            </a:r>
          </a:p>
        </p:txBody>
      </p:sp>
      <p:sp>
        <p:nvSpPr>
          <p:cNvPr id="162" name="W3S5C"/>
          <p:cNvSpPr/>
          <p:nvPr/>
        </p:nvSpPr>
        <p:spPr>
          <a:xfrm>
            <a:off x="762000" y="4902200"/>
            <a:ext cx="10668000" cy="1549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Best low-rank approximation — Eckart–Young</a:t>
            </a:r>
          </a:p>
          <a:p>
            <a:pPr algn="l">
              <a:spcBef>
                <a:spcPts val="300"/>
              </a:spcBef>
            </a:pPr>
            <a:r>
              <a:rPr lang="en-US" sz="1500">
                <a:solidFill>
                  <a:srgbClr val="333333"/>
                </a:solidFill>
              </a:rPr>
              <a:t>Xc ≈ Uₖ Σₖ Vₖᵀ is the optimal rank-k approximation of Xc, minimizing both the Frobenius and spectral-norm error — the foundation of PCA-based compression.</a:t>
            </a:r>
          </a:p>
        </p:txBody>
      </p:sp>
    </p:spTree>
    <p:extLst>
      <p:ext uri="{BB962C8B-B14F-4D97-AF65-F5344CB8AC3E}">
        <p14:creationId xmlns:p14="http://schemas.microsoft.com/office/powerpoint/2010/main" val="36072398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1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1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X1S1A"/>
              <p:cNvSpPr/>
              <p:nvPr/>
            </p:nvSpPr>
            <p:spPr>
              <a:xfrm>
                <a:off x="762000" y="1905000"/>
                <a:ext cx="4826000" cy="3810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covariance matrix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</a:rPr>
                        <m:t>𝑆</m:t>
                      </m:r>
                      <m:r>
                        <a:rPr sz="17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X1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4826000" cy="3810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X1S1B"/>
          <p:cNvSpPr/>
          <p:nvPr/>
        </p:nvSpPr>
        <p:spPr>
          <a:xfrm>
            <a:off x="5969000" y="1905000"/>
            <a:ext cx="5461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700"/>
              </a:spcBef>
            </a:pPr>
            <a:r>
              <a:rPr lang="en-US" sz="1600" b="1">
                <a:solidFill>
                  <a:srgbClr val="00A7B5"/>
                </a:solidFill>
              </a:rPr>
              <a:t>(a)  </a:t>
            </a:r>
            <a:r>
              <a:rPr lang="en-US" sz="1600">
                <a:solidFill>
                  <a:srgbClr val="333333"/>
                </a:solidFill>
              </a:rPr>
              <a:t>the eigenvalues of S</a:t>
            </a:r>
          </a:p>
          <a:p>
            <a:pPr marL="285750" indent="-285750" algn="l">
              <a:spcBef>
                <a:spcPts val="700"/>
              </a:spcBef>
            </a:pPr>
            <a:r>
              <a:rPr lang="en-US" sz="1600" b="1">
                <a:solidFill>
                  <a:srgbClr val="00A7B5"/>
                </a:solidFill>
              </a:rPr>
              <a:t>(b)  </a:t>
            </a:r>
            <a:r>
              <a:rPr lang="en-US" sz="1600">
                <a:solidFill>
                  <a:srgbClr val="333333"/>
                </a:solidFill>
              </a:rPr>
              <a:t>the unit eigenvector for the larger eigenvalue</a:t>
            </a:r>
          </a:p>
          <a:p>
            <a:pPr marL="285750" indent="-285750" algn="l">
              <a:spcBef>
                <a:spcPts val="700"/>
              </a:spcBef>
            </a:pPr>
            <a:r>
              <a:rPr lang="en-US" sz="1600" b="1">
                <a:solidFill>
                  <a:srgbClr val="00A7B5"/>
                </a:solidFill>
              </a:rPr>
              <a:t>(c)  </a:t>
            </a:r>
            <a:r>
              <a:rPr lang="en-US" sz="1600">
                <a:solidFill>
                  <a:srgbClr val="333333"/>
                </a:solidFill>
              </a:rPr>
              <a:t>the fraction of total variance explained by PC1</a:t>
            </a:r>
          </a:p>
        </p:txBody>
      </p:sp>
    </p:spTree>
    <p:extLst>
      <p:ext uri="{BB962C8B-B14F-4D97-AF65-F5344CB8AC3E}">
        <p14:creationId xmlns:p14="http://schemas.microsoft.com/office/powerpoint/2010/main" val="13796930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1 — Solution (a):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2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X1S2A"/>
              <p:cNvSpPr/>
              <p:nvPr/>
            </p:nvSpPr>
            <p:spPr>
              <a:xfrm>
                <a:off x="762000" y="1701800"/>
                <a:ext cx="10668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Characteristic equation  det(S − λI) = 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𝑑𝑒𝑡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/>
                            </a:rPr>
                            <m:t>5 −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</m:e>
                      </m:d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/>
                            </a:rPr>
                            <m:t>2 −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</m:e>
                      </m:d>
                      <m:r>
                        <a:rPr sz="1600">
                          <a:latin typeface="Cambria Math"/>
                        </a:rPr>
                        <m:t> − 4 = 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X1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X1S2B"/>
              <p:cNvSpPr/>
              <p:nvPr/>
            </p:nvSpPr>
            <p:spPr>
              <a:xfrm>
                <a:off x="762000" y="33274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Expand and factor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− 7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+ 6 = 0     ⇒     (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− 6)(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− 1) = 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X1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X1S2C"/>
          <p:cNvSpPr/>
          <p:nvPr/>
        </p:nvSpPr>
        <p:spPr>
          <a:xfrm>
            <a:off x="762000" y="4953000"/>
            <a:ext cx="10668000" cy="1473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Eigenvalues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λ₁ = 6        λ₂ = 1</a:t>
            </a:r>
          </a:p>
        </p:txBody>
      </p:sp>
    </p:spTree>
    <p:extLst>
      <p:ext uri="{BB962C8B-B14F-4D97-AF65-F5344CB8AC3E}">
        <p14:creationId xmlns:p14="http://schemas.microsoft.com/office/powerpoint/2010/main" val="23352664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1 — Solution (b): Unit Eigenvector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3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X1S3A"/>
              <p:cNvSpPr/>
              <p:nvPr/>
            </p:nvSpPr>
            <p:spPr>
              <a:xfrm>
                <a:off x="762000" y="1701800"/>
                <a:ext cx="10668000" cy="1346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Solve (S − λ₁I)v = 0  for λ₁ = 6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(5 − 6)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+ 2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0     ⇒     −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+ 2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0     ⇒    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= 2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X1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46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X1S3B"/>
              <p:cNvSpPr/>
              <p:nvPr/>
            </p:nvSpPr>
            <p:spPr>
              <a:xfrm>
                <a:off x="762000" y="3175000"/>
                <a:ext cx="10668000" cy="2133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Pick a vector, then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 = (2, 1),      ‖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‖ = √(2² + 1²) = √5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</m:t>
                      </m:r>
                      <m:r>
                        <a:rPr sz="1600">
                          <a:latin typeface="Cambria Math"/>
                        </a:rPr>
                        <m:t> = (1/√5)(2, 1) = (0.894, 0.447)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X1S3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175000"/>
                <a:ext cx="10668000" cy="2133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X1S3C"/>
              <p:cNvSpPr/>
              <p:nvPr/>
            </p:nvSpPr>
            <p:spPr>
              <a:xfrm>
                <a:off x="762000" y="5461000"/>
                <a:ext cx="10668000" cy="9906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Second eigenvector (orthogonal)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₂</m:t>
                      </m:r>
                      <m:r>
                        <a:rPr sz="1600">
                          <a:latin typeface="Cambria Math"/>
                        </a:rPr>
                        <m:t> = (−0.447, 0.894)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perpendicular to v₁ and also unit length</a:t>
                </a:r>
              </a:p>
            </p:txBody>
          </p:sp>
        </mc:Choice>
        <mc:Fallback>
          <p:sp>
            <p:nvSpPr>
              <p:cNvPr id="162" name="X1S3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461000"/>
                <a:ext cx="10668000" cy="990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7781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1 — Solution (c): Variance Explained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4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X1S4A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Total variance = trace of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>
                          <a:latin typeface="Cambria Math"/>
                        </a:rPr>
                        <m:t>𝑡𝑟</m:t>
                      </m:r>
                      <m:r>
                        <a:rPr sz="1700">
                          <a:latin typeface="Cambria Math"/>
                        </a:rPr>
                        <m:t>(</m:t>
                      </m:r>
                      <m:r>
                        <a:rPr sz="1700">
                          <a:latin typeface="Cambria Math"/>
                        </a:rPr>
                        <m:t>𝑆</m:t>
                      </m:r>
                      <m:r>
                        <a:rPr sz="1700">
                          <a:latin typeface="Cambria Math"/>
                        </a:rPr>
                        <m:t>) = 5 + 2 = 7 = </m:t>
                      </m:r>
                      <m:r>
                        <a:rPr sz="1700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₁ + </m:t>
                      </m:r>
                      <m:r>
                        <a:rPr sz="1700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₂      ✓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X1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X1S4B"/>
              <p:cNvSpPr/>
              <p:nvPr/>
            </p:nvSpPr>
            <p:spPr>
              <a:xfrm>
                <a:off x="762000" y="33020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Fraction of variance carried by PC1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𝑃𝐶</m:t>
                      </m:r>
                      <m:r>
                        <a:rPr sz="1600">
                          <a:latin typeface="Cambria Math"/>
                        </a:rPr>
                        <m:t>1 </m:t>
                      </m:r>
                      <m:r>
                        <a:rPr sz="1600">
                          <a:latin typeface="Cambria Math"/>
                        </a:rPr>
                        <m:t>𝑠h𝑎𝑟𝑒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₁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₁ +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₂</m:t>
                          </m:r>
                        </m:den>
                      </m:f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sz="1600">
                          <a:latin typeface="Cambria Math"/>
                        </a:rPr>
                        <m:t> = 0.857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X1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020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X1S4C"/>
          <p:cNvSpPr/>
          <p:nvPr/>
        </p:nvSpPr>
        <p:spPr>
          <a:xfrm>
            <a:off x="762000" y="5029200"/>
            <a:ext cx="10668000" cy="13970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Answer</a:t>
            </a:r>
          </a:p>
          <a:p>
            <a:pPr algn="ctr"/>
            <a:r>
              <a:rPr lang="en-US" sz="1800" b="1">
                <a:solidFill>
                  <a:srgbClr val="7AB648"/>
                </a:solidFill>
              </a:rPr>
              <a:t>PC1 explains ≈ 85.7% of the total variance</a:t>
            </a:r>
          </a:p>
        </p:txBody>
      </p:sp>
    </p:spTree>
    <p:extLst>
      <p:ext uri="{BB962C8B-B14F-4D97-AF65-F5344CB8AC3E}">
        <p14:creationId xmlns:p14="http://schemas.microsoft.com/office/powerpoint/2010/main" val="37138231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2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1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X2S1A"/>
              <p:cNvSpPr/>
              <p:nvPr/>
            </p:nvSpPr>
            <p:spPr>
              <a:xfrm>
                <a:off x="762000" y="1905000"/>
                <a:ext cx="10668000" cy="1701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eigenvalues from 6 standardized variables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 = (3.1,  1.4,  0.7,  0.4,  0.25,  0.15)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standardized data → total variance Σλ = 6</a:t>
                </a:r>
              </a:p>
            </p:txBody>
          </p:sp>
        </mc:Choice>
        <mc:Fallback>
          <p:sp>
            <p:nvSpPr>
              <p:cNvPr id="160" name="X2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701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X2S1B"/>
          <p:cNvSpPr/>
          <p:nvPr/>
        </p:nvSpPr>
        <p:spPr>
          <a:xfrm>
            <a:off x="762000" y="3784600"/>
            <a:ext cx="10668000" cy="2667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300000" indent="-300000" algn="l">
              <a:spcBef>
                <a:spcPts val="650"/>
              </a:spcBef>
            </a:pPr>
            <a:r>
              <a:rPr lang="en-US" sz="1600" b="1">
                <a:solidFill>
                  <a:srgbClr val="00A7B5"/>
                </a:solidFill>
              </a:rPr>
              <a:t>(a)  </a:t>
            </a:r>
            <a:r>
              <a:rPr lang="en-US" sz="1600">
                <a:solidFill>
                  <a:srgbClr val="333333"/>
                </a:solidFill>
              </a:rPr>
              <a:t>how many components the Kaiser rule (λ &gt; 1) keeps</a:t>
            </a:r>
          </a:p>
          <a:p>
            <a:pPr marL="300000" indent="-300000" algn="l">
              <a:spcBef>
                <a:spcPts val="650"/>
              </a:spcBef>
            </a:pPr>
            <a:r>
              <a:rPr lang="en-US" sz="1600" b="1">
                <a:solidFill>
                  <a:srgbClr val="00A7B5"/>
                </a:solidFill>
              </a:rPr>
              <a:t>(b)  </a:t>
            </a:r>
            <a:r>
              <a:rPr lang="en-US" sz="1600">
                <a:solidFill>
                  <a:srgbClr val="333333"/>
                </a:solidFill>
              </a:rPr>
              <a:t>how many components are needed to reach ≥ 80% cumulative variance</a:t>
            </a:r>
          </a:p>
          <a:p>
            <a:pPr marL="300000" indent="-300000" algn="l">
              <a:spcBef>
                <a:spcPts val="650"/>
              </a:spcBef>
            </a:pPr>
            <a:r>
              <a:rPr lang="en-US" sz="1600" b="1">
                <a:solidFill>
                  <a:srgbClr val="00A7B5"/>
                </a:solidFill>
              </a:rPr>
              <a:t>(c)  </a:t>
            </a:r>
            <a:r>
              <a:rPr lang="en-US" sz="1600">
                <a:solidFill>
                  <a:srgbClr val="333333"/>
                </a:solidFill>
              </a:rPr>
              <a:t>where the elbow of the scree plot lies</a:t>
            </a:r>
          </a:p>
        </p:txBody>
      </p:sp>
    </p:spTree>
    <p:extLst>
      <p:ext uri="{BB962C8B-B14F-4D97-AF65-F5344CB8AC3E}">
        <p14:creationId xmlns:p14="http://schemas.microsoft.com/office/powerpoint/2010/main" val="258658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2 — Solution (a): Kaiser Rule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2 / 4</a:t>
            </a:r>
          </a:p>
        </p:txBody>
      </p:sp>
      <p:sp>
        <p:nvSpPr>
          <p:cNvPr id="160" name="X2S2A"/>
          <p:cNvSpPr/>
          <p:nvPr/>
        </p:nvSpPr>
        <p:spPr>
          <a:xfrm>
            <a:off x="762000" y="1701800"/>
            <a:ext cx="10668000" cy="1524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50000" rIns="11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1 · The Kaiser rule</a:t>
            </a:r>
          </a:p>
          <a:p>
            <a:pPr algn="ctr"/>
            <a:r>
              <a:rPr lang="en-US" sz="1550" b="0">
                <a:solidFill>
                  <a:srgbClr val="333333"/>
                </a:solidFill>
              </a:rPr>
              <a:t>Keep every component with λⱼ &gt; 1.  For standardized data the average eigenvalue is exactly 1, so this retains the above-average components.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X2S2B"/>
              <p:cNvSpPr/>
              <p:nvPr/>
            </p:nvSpPr>
            <p:spPr>
              <a:xfrm>
                <a:off x="762000" y="33274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10000" tIns="50000" rIns="11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Compare each eigenvalue with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3.1 &gt; 1 ✓    1.4 &gt; 1 ✓    0.7 </m:t>
                      </m:r>
                    </m:oMath>
                  </m:oMathPara>
                </a14:m>
                <a:endParaRPr lang="en-US" sz="1400" b="1">
                  <a:solidFill>
                    <a:srgbClr val="00A7B5"/>
                  </a:solidFill>
                </a:endParaRPr>
              </a:p>
            </p:txBody>
          </p:sp>
        </mc:Choice>
        <mc:Fallback>
          <p:sp>
            <p:nvSpPr>
              <p:cNvPr id="161" name="X2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X2S2C"/>
          <p:cNvSpPr/>
          <p:nvPr/>
        </p:nvSpPr>
        <p:spPr>
          <a:xfrm>
            <a:off x="762000" y="5054600"/>
            <a:ext cx="10668000" cy="1371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0000" rIns="11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Answer</a:t>
            </a:r>
          </a:p>
          <a:p>
            <a:pPr algn="ctr"/>
            <a:r>
              <a:rPr lang="en-US" sz="1800" b="1">
                <a:solidFill>
                  <a:srgbClr val="7AB648"/>
                </a:solidFill>
              </a:rPr>
              <a:t>Kaiser keeps 2 components — PC1 and PC2</a:t>
            </a:r>
          </a:p>
        </p:txBody>
      </p:sp>
    </p:spTree>
    <p:extLst>
      <p:ext uri="{BB962C8B-B14F-4D97-AF65-F5344CB8AC3E}">
        <p14:creationId xmlns:p14="http://schemas.microsoft.com/office/powerpoint/2010/main" val="16487762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2 — Solution (b): Cumulative Variance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3 / 4</a:t>
            </a:r>
          </a:p>
        </p:txBody>
      </p:sp>
      <p:sp>
        <p:nvSpPr>
          <p:cNvPr id="160" name="X2S3A"/>
          <p:cNvSpPr/>
          <p:nvPr/>
        </p:nvSpPr>
        <p:spPr>
          <a:xfrm>
            <a:off x="762000" y="1879600"/>
            <a:ext cx="5461000" cy="4572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60000" rIns="100000" bIns="50000" anchor="t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1 · Variance share  (λⱼ / 6)</a:t>
            </a:r>
          </a:p>
          <a:p>
            <a:pPr algn="l">
              <a:spcBef>
                <a:spcPts val="200"/>
              </a:spcBef>
            </a:pPr>
            <a:r>
              <a:rPr lang="en-US" sz="1500" b="0">
                <a:solidFill>
                  <a:srgbClr val="333333"/>
                </a:solidFill>
              </a:rPr>
              <a:t>PC1:  3.1 / 6 = 51.7%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PC2:  1.4 / 6 = 23.3%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PC3:  0.7 / 6 = 11.7%</a:t>
            </a:r>
          </a:p>
          <a:p>
            <a:pPr algn="l">
              <a:spcBef>
                <a:spcPts val="750"/>
              </a:spcBef>
            </a:pPr>
            <a:r>
              <a:rPr lang="en-US" sz="1450" b="1">
                <a:solidFill>
                  <a:srgbClr val="00A7B5"/>
                </a:solidFill>
              </a:rPr>
              <a:t>2 · Cumulative</a:t>
            </a:r>
          </a:p>
          <a:p>
            <a:pPr algn="l">
              <a:spcBef>
                <a:spcPts val="200"/>
              </a:spcBef>
            </a:pPr>
            <a:r>
              <a:rPr lang="en-US" sz="1500" b="0">
                <a:solidFill>
                  <a:srgbClr val="333333"/>
                </a:solidFill>
              </a:rPr>
              <a:t>PC1 = 51.7%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PC1+PC2 = 75.0%</a:t>
            </a:r>
          </a:p>
          <a:p>
            <a:pPr algn="l"/>
            <a:r>
              <a:rPr lang="en-US" sz="1500" b="1">
                <a:solidFill>
                  <a:srgbClr val="7AB648"/>
                </a:solidFill>
              </a:rPr>
              <a:t>PC1+PC2+PC3 = 86.7%  ← first ≥ 80%</a:t>
            </a:r>
          </a:p>
          <a:p>
            <a:pPr algn="l">
              <a:spcBef>
                <a:spcPts val="750"/>
              </a:spcBef>
            </a:pPr>
            <a:r>
              <a:rPr lang="en-US" sz="1450" b="1">
                <a:solidFill>
                  <a:srgbClr val="85754D"/>
                </a:solidFill>
              </a:rPr>
              <a:t>3 · Answer</a:t>
            </a:r>
          </a:p>
          <a:p>
            <a:pPr algn="l">
              <a:spcBef>
                <a:spcPts val="200"/>
              </a:spcBef>
            </a:pPr>
            <a:r>
              <a:rPr lang="en-US" sz="1600" b="1">
                <a:solidFill>
                  <a:srgbClr val="7AB648"/>
                </a:solidFill>
              </a:rPr>
              <a:t>3 components are needed to exceed 80%</a:t>
            </a:r>
          </a:p>
        </p:txBody>
      </p:sp>
      <p:graphicFrame>
        <p:nvGraphicFramePr>
          <p:cNvPr id="301" name="CumChart"/>
          <p:cNvGraphicFramePr/>
          <p:nvPr/>
        </p:nvGraphicFramePr>
        <p:xfrm>
          <a:off x="6604000" y="1905000"/>
          <a:ext cx="482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349711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2 — Solution (c): Scree Elbow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4 / 4</a:t>
            </a:r>
          </a:p>
        </p:txBody>
      </p:sp>
      <p:sp>
        <p:nvSpPr>
          <p:cNvPr id="160" name="X2S4A"/>
          <p:cNvSpPr/>
          <p:nvPr/>
        </p:nvSpPr>
        <p:spPr>
          <a:xfrm>
            <a:off x="762000" y="1879600"/>
            <a:ext cx="5588000" cy="4572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60000" rIns="100000" bIns="50000" anchor="t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1 · Drops between successive eigenvalues</a:t>
            </a:r>
          </a:p>
          <a:p>
            <a:pPr algn="l">
              <a:spcBef>
                <a:spcPts val="200"/>
              </a:spcBef>
            </a:pPr>
            <a:r>
              <a:rPr lang="en-US" sz="1500" b="0">
                <a:solidFill>
                  <a:srgbClr val="333333"/>
                </a:solidFill>
              </a:rPr>
              <a:t>3.1 → 1.4   (big drop, −1.7)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1.4 → 0.7   (−0.7)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0.7 → 0.4 → 0.25 → 0.15   (small, flat tail)</a:t>
            </a:r>
          </a:p>
          <a:p>
            <a:pPr algn="l">
              <a:spcBef>
                <a:spcPts val="650"/>
              </a:spcBef>
            </a:pPr>
            <a:r>
              <a:rPr lang="en-US" sz="1450" b="1">
                <a:solidFill>
                  <a:srgbClr val="00A7B5"/>
                </a:solidFill>
              </a:rPr>
              <a:t>2 · Where is the elbow?</a:t>
            </a:r>
          </a:p>
          <a:p>
            <a:pPr algn="l">
              <a:spcBef>
                <a:spcPts val="150"/>
              </a:spcBef>
            </a:pPr>
            <a:r>
              <a:rPr lang="en-US" sz="1500" b="1">
                <a:solidFill>
                  <a:srgbClr val="7AB648"/>
                </a:solidFill>
              </a:rPr>
              <a:t>the curve flattens after PC2  →  elbow at 2 components</a:t>
            </a:r>
          </a:p>
          <a:p>
            <a:pPr algn="l">
              <a:spcBef>
                <a:spcPts val="650"/>
              </a:spcBef>
            </a:pPr>
            <a:r>
              <a:rPr lang="en-US" sz="1450" b="1">
                <a:solidFill>
                  <a:srgbClr val="85754D"/>
                </a:solidFill>
              </a:rPr>
              <a:t>3 · Takeaway</a:t>
            </a:r>
          </a:p>
          <a:p>
            <a:pPr algn="l">
              <a:spcBef>
                <a:spcPts val="150"/>
              </a:spcBef>
            </a:pPr>
            <a:r>
              <a:rPr lang="en-US" sz="1450" b="0">
                <a:solidFill>
                  <a:srgbClr val="333333"/>
                </a:solidFill>
              </a:rPr>
              <a:t>Kaiser and the scree elbow agree on 2; the 80% rule wants 3. Rules can disagree — state your choice and the variance retained.</a:t>
            </a:r>
          </a:p>
        </p:txBody>
      </p:sp>
      <p:graphicFrame>
        <p:nvGraphicFramePr>
          <p:cNvPr id="301" name="ScreeChart"/>
          <p:cNvGraphicFramePr/>
          <p:nvPr/>
        </p:nvGraphicFramePr>
        <p:xfrm>
          <a:off x="6604000" y="1905000"/>
          <a:ext cx="482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41643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A188D-AF5E-154B-A83D-8B348F4606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58661-B2B4-4D4B-856E-BCCDC38206CD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3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91FFCE-EEF4-0949-B8A0-0C79FCD3143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3 · 1 / 4</a:t>
            </a:r>
          </a:p>
        </p:txBody>
      </p:sp>
      <p:sp>
        <p:nvSpPr>
          <p:cNvPr id="160" name="X3S1A"/>
          <p:cNvSpPr/>
          <p:nvPr/>
        </p:nvSpPr>
        <p:spPr>
          <a:xfrm>
            <a:off x="762000" y="1905000"/>
            <a:ext cx="10668000" cy="4521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70000" rIns="120000" bIns="50000" anchor="ctr">
            <a:normAutofit/>
          </a:bodyPr>
          <a:lstStyle/>
          <a:p>
            <a:pPr algn="l"/>
            <a:r>
              <a:rPr lang="en-US" sz="1550" b="1">
                <a:solidFill>
                  <a:srgbClr val="4B2E83"/>
                </a:solidFill>
              </a:rPr>
              <a:t>Answer these conceptual questions about PCA</a:t>
            </a:r>
          </a:p>
          <a:p>
            <a:pPr marL="330000" indent="-330000" algn="l">
              <a:spcBef>
                <a:spcPts val="900"/>
              </a:spcBef>
            </a:pPr>
            <a:r>
              <a:rPr lang="en-US" sz="1700" b="1">
                <a:solidFill>
                  <a:srgbClr val="00A7B5"/>
                </a:solidFill>
              </a:rPr>
              <a:t>(a)  </a:t>
            </a:r>
            <a:r>
              <a:rPr lang="en-US" sz="1700">
                <a:solidFill>
                  <a:srgbClr val="333333"/>
                </a:solidFill>
              </a:rPr>
              <a:t>Why must the data be centred before running PCA?</a:t>
            </a:r>
          </a:p>
          <a:p>
            <a:pPr marL="330000" indent="-330000" algn="l">
              <a:spcBef>
                <a:spcPts val="900"/>
              </a:spcBef>
            </a:pPr>
            <a:r>
              <a:rPr lang="en-US" sz="1700" b="1">
                <a:solidFill>
                  <a:srgbClr val="00A7B5"/>
                </a:solidFill>
              </a:rPr>
              <a:t>(b)  </a:t>
            </a:r>
            <a:r>
              <a:rPr lang="en-US" sz="1700">
                <a:solidFill>
                  <a:srgbClr val="333333"/>
                </a:solidFill>
              </a:rPr>
              <a:t>When should you use the correlation matrix R instead of the covariance matrix S?</a:t>
            </a:r>
          </a:p>
          <a:p>
            <a:pPr marL="330000" indent="-330000" algn="l">
              <a:spcBef>
                <a:spcPts val="900"/>
              </a:spcBef>
            </a:pPr>
            <a:r>
              <a:rPr lang="en-US" sz="1700" b="1">
                <a:solidFill>
                  <a:srgbClr val="00A7B5"/>
                </a:solidFill>
              </a:rPr>
              <a:t>(c)  </a:t>
            </a:r>
            <a:r>
              <a:rPr lang="en-US" sz="1700">
                <a:solidFill>
                  <a:srgbClr val="333333"/>
                </a:solidFill>
              </a:rPr>
              <a:t>A colleague keeps the PCs with the largest loading magnitudes — not the largest eigenvalues. What is wrong with that?</a:t>
            </a:r>
          </a:p>
        </p:txBody>
      </p:sp>
    </p:spTree>
    <p:extLst>
      <p:ext uri="{BB962C8B-B14F-4D97-AF65-F5344CB8AC3E}">
        <p14:creationId xmlns:p14="http://schemas.microsoft.com/office/powerpoint/2010/main" val="14668668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A188D-AF5E-154B-A83D-8B348F4606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58661-B2B4-4D4B-856E-BCCDC38206CD}"/>
              </a:ext>
            </a:extLst>
          </p:cNvPr>
          <p:cNvSpPr txBox="1"/>
          <p:nvPr/>
        </p:nvSpPr>
        <p:spPr>
          <a:xfrm>
            <a:off x="762000" y="711200"/>
            <a:ext cx="8382000" cy="44627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300" b="1">
                <a:solidFill>
                  <a:srgbClr val="4B2E83"/>
                </a:solidFill>
              </a:rPr>
              <a:t>Exercise 3 — Solution (a): Why Centre the Data?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91FFCE-EEF4-0949-B8A0-0C79FCD3143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3 · 2 / 4</a:t>
            </a:r>
          </a:p>
        </p:txBody>
      </p:sp>
      <p:sp>
        <p:nvSpPr>
          <p:cNvPr id="160" name="X3S2A"/>
          <p:cNvSpPr/>
          <p:nvPr/>
        </p:nvSpPr>
        <p:spPr>
          <a:xfrm>
            <a:off x="762000" y="1701800"/>
            <a:ext cx="10668000" cy="1473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The principle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PCA looks for the directions of maximum variance about the mean — spread is always measured relative to the data's centroid.</a:t>
            </a:r>
          </a:p>
        </p:txBody>
      </p:sp>
      <p:sp>
        <p:nvSpPr>
          <p:cNvPr id="161" name="X3S2B"/>
          <p:cNvSpPr/>
          <p:nvPr/>
        </p:nvSpPr>
        <p:spPr>
          <a:xfrm>
            <a:off x="762000" y="3327400"/>
            <a:ext cx="10668000" cy="1981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Without centring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The first component is pulled toward the mean vector (the origin → centroid direction). It then measures squared distance from the origin, not spread — so the decomposition no longer describes variance at all.</a:t>
            </a:r>
          </a:p>
        </p:txBody>
      </p:sp>
      <p:sp>
        <p:nvSpPr>
          <p:cNvPr id="162" name="X3S2C"/>
          <p:cNvSpPr/>
          <p:nvPr/>
        </p:nvSpPr>
        <p:spPr>
          <a:xfrm>
            <a:off x="762000" y="5461000"/>
            <a:ext cx="10668000" cy="96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Takeaway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7AB648"/>
                </a:solidFill>
              </a:rPr>
              <a:t>Always subtract each column's mean first:  Xc = X − 1ₙ x̄ᵀ.</a:t>
            </a:r>
          </a:p>
        </p:txBody>
      </p:sp>
    </p:spTree>
    <p:extLst>
      <p:ext uri="{BB962C8B-B14F-4D97-AF65-F5344CB8AC3E}">
        <p14:creationId xmlns:p14="http://schemas.microsoft.com/office/powerpoint/2010/main" val="35005891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A188D-AF5E-154B-A83D-8B348F4606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58661-B2B4-4D4B-856E-BCCDC38206CD}"/>
              </a:ext>
            </a:extLst>
          </p:cNvPr>
          <p:cNvSpPr txBox="1"/>
          <p:nvPr/>
        </p:nvSpPr>
        <p:spPr>
          <a:xfrm>
            <a:off x="762000" y="711200"/>
            <a:ext cx="8382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4B2E83"/>
                </a:solidFill>
              </a:rPr>
              <a:t>Exercise 3 — Solution (b): Correlation R vs Covariance 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91FFCE-EEF4-0949-B8A0-0C79FCD3143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3 · 3 / 4</a:t>
            </a:r>
          </a:p>
        </p:txBody>
      </p:sp>
      <p:sp>
        <p:nvSpPr>
          <p:cNvPr id="160" name="X3S3A"/>
          <p:cNvSpPr/>
          <p:nvPr/>
        </p:nvSpPr>
        <p:spPr>
          <a:xfrm>
            <a:off x="762000" y="17018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Use the correlation matrix R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When variables are on different units or scales. Standardizing makes every variable have variance 1, so a high-variance unit (e.g. income in dollars) can't dominate PC1 just because of its scale.</a:t>
            </a:r>
          </a:p>
        </p:txBody>
      </p:sp>
      <p:sp>
        <p:nvSpPr>
          <p:cNvPr id="161" name="X3S3B"/>
          <p:cNvSpPr/>
          <p:nvPr/>
        </p:nvSpPr>
        <p:spPr>
          <a:xfrm>
            <a:off x="762000" y="3759200"/>
            <a:ext cx="10668000" cy="1625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Use the covariance matrix S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When all variables share comparable units and their differing variances are meaningful and worth preserving.</a:t>
            </a:r>
          </a:p>
        </p:txBody>
      </p:sp>
      <p:sp>
        <p:nvSpPr>
          <p:cNvPr id="162" name="X3S3C"/>
          <p:cNvSpPr/>
          <p:nvPr/>
        </p:nvSpPr>
        <p:spPr>
          <a:xfrm>
            <a:off x="762000" y="5537200"/>
            <a:ext cx="10668000" cy="914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Rule of thumb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7AB648"/>
                </a:solidFill>
              </a:rPr>
              <a:t>Different units → R.    Same units → S.</a:t>
            </a:r>
          </a:p>
        </p:txBody>
      </p:sp>
    </p:spTree>
    <p:extLst>
      <p:ext uri="{BB962C8B-B14F-4D97-AF65-F5344CB8AC3E}">
        <p14:creationId xmlns:p14="http://schemas.microsoft.com/office/powerpoint/2010/main" val="3871286728"/>
      </p:ext>
    </p:extLst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Principal Component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Principal Component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10189</TotalTime>
  <Words>28135</Words>
  <Application>Microsoft Macintosh PowerPoint</Application>
  <PresentationFormat>Widescreen</PresentationFormat>
  <Paragraphs>2699</Paragraphs>
  <Slides>241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241</vt:i4>
      </vt:variant>
    </vt:vector>
  </HeadingPairs>
  <TitlesOfParts>
    <vt:vector size="247" baseType="lpstr">
      <vt:lpstr>Aptos</vt:lpstr>
      <vt:lpstr>Arial</vt:lpstr>
      <vt:lpstr>Calibri</vt:lpstr>
      <vt:lpstr>Cambria Math</vt:lpstr>
      <vt:lpstr>Consolas</vt:lpstr>
      <vt:lpstr>Office Theme [1775876968803]</vt:lpstr>
      <vt:lpstr>Latent Variables &amp; Embeddings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151</cp:revision>
  <dcterms:created xsi:type="dcterms:W3CDTF">2018-06-07T21:39:02Z</dcterms:created>
  <dcterms:modified xsi:type="dcterms:W3CDTF">2026-06-21T16:57:13Z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