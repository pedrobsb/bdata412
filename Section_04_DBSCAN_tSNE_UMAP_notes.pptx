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Relationship Id="rId6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4" r:id="rId4"/>
  </p:sldMasterIdLst>
  <p:notesMasterIdLst>
    <p:notesMasterId r:id="rId116"/>
  </p:notesMasterIdLst>
  <p:sldIdLst>
    <p:sldId id="490" r:id="rId39"/>
    <p:sldId id="491" r:id="rId40"/>
    <p:sldId id="465" r:id="rId87"/>
    <p:sldId id="492" r:id="rId41"/>
    <p:sldId id="466" r:id="rId88"/>
    <p:sldId id="493" r:id="rId42"/>
    <p:sldId id="467" r:id="rId89"/>
    <p:sldId id="494" r:id="rId43"/>
    <p:sldId id="468" r:id="rId90"/>
    <p:sldId id="495" r:id="rId44"/>
    <p:sldId id="469" r:id="rId91"/>
    <p:sldId id="496" r:id="rId45"/>
    <p:sldId id="470" r:id="rId92"/>
    <p:sldId id="497" r:id="rId46"/>
    <p:sldId id="333" r:id="rId93"/>
    <p:sldId id="498" r:id="rId47"/>
    <p:sldId id="471" r:id="rId94"/>
    <p:sldId id="499" r:id="rId48"/>
    <p:sldId id="472" r:id="rId95"/>
    <p:sldId id="500" r:id="rId49"/>
    <p:sldId id="473" r:id="rId96"/>
    <p:sldId id="501" r:id="rId50"/>
    <p:sldId id="474" r:id="rId97"/>
    <p:sldId id="502" r:id="rId51"/>
    <p:sldId id="475" r:id="rId98"/>
    <p:sldId id="503" r:id="rId52"/>
    <p:sldId id="476" r:id="rId99"/>
    <p:sldId id="504" r:id="rId53"/>
    <p:sldId id="346" r:id="rId100"/>
    <p:sldId id="505" r:id="rId54"/>
    <p:sldId id="482" r:id="rId101"/>
    <p:sldId id="506" r:id="rId55"/>
    <p:sldId id="477" r:id="rId102"/>
    <p:sldId id="507" r:id="rId56"/>
    <p:sldId id="478" r:id="rId103"/>
    <p:sldId id="508" r:id="rId57"/>
    <p:sldId id="479" r:id="rId104"/>
    <p:sldId id="509" r:id="rId58"/>
    <p:sldId id="480" r:id="rId105"/>
    <p:sldId id="510" r:id="rId59"/>
    <p:sldId id="481" r:id="rId106"/>
    <p:sldId id="511" r:id="rId60"/>
    <p:sldId id="359" r:id="rId107"/>
    <p:sldId id="512" r:id="rId61"/>
    <p:sldId id="484" r:id="rId108"/>
    <p:sldId id="513" r:id="rId62"/>
    <p:sldId id="485" r:id="rId109"/>
    <p:sldId id="514" r:id="rId63"/>
    <p:sldId id="486" r:id="rId110"/>
    <p:sldId id="515" r:id="rId64"/>
    <p:sldId id="487" r:id="rId111"/>
    <p:sldId id="516" r:id="rId65"/>
    <p:sldId id="488" r:id="rId112"/>
    <p:sldId id="517" r:id="rId66"/>
    <p:sldId id="489" r:id="rId113"/>
    <p:sldId id="518" r:id="rId67"/>
    <p:sldId id="373" r:id="rId114"/>
    <p:sldId id="519" r:id="rId68"/>
    <p:sldId id="428" r:id="rId115"/>
    <p:sldId id="520" r:id="rId6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B2E83"/>
    <a:srgbClr val="D1578A"/>
    <a:srgbClr val="F2C11E"/>
    <a:srgbClr val="FFEC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764"/>
    <p:restoredTop sz="93827"/>
  </p:normalViewPr>
  <p:slideViewPr>
    <p:cSldViewPr snapToGrid="0" snapToObjects="1">
      <p:cViewPr varScale="1">
        <p:scale>
          <a:sx n="125" d="100"/>
          <a:sy n="125" d="100"/>
        </p:scale>
        <p:origin x="168" y="15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39" Type="http://schemas.openxmlformats.org/officeDocument/2006/relationships/slide" Target="slides/slide30.xml"/><Relationship Id="rId40" Type="http://schemas.openxmlformats.org/officeDocument/2006/relationships/slide" Target="slides/slide31.xml"/><Relationship Id="rId41" Type="http://schemas.openxmlformats.org/officeDocument/2006/relationships/slide" Target="slides/slide32.xml"/><Relationship Id="rId42" Type="http://schemas.openxmlformats.org/officeDocument/2006/relationships/slide" Target="slides/slide33.xml"/><Relationship Id="rId43" Type="http://schemas.openxmlformats.org/officeDocument/2006/relationships/slide" Target="slides/slide34.xml"/><Relationship Id="rId44" Type="http://schemas.openxmlformats.org/officeDocument/2006/relationships/slide" Target="slides/slide35.xml"/><Relationship Id="rId45" Type="http://schemas.openxmlformats.org/officeDocument/2006/relationships/slide" Target="slides/slide36.xml"/><Relationship Id="rId46" Type="http://schemas.openxmlformats.org/officeDocument/2006/relationships/slide" Target="slides/slide37.xml"/><Relationship Id="rId47" Type="http://schemas.openxmlformats.org/officeDocument/2006/relationships/slide" Target="slides/slide38.xml"/><Relationship Id="rId48" Type="http://schemas.openxmlformats.org/officeDocument/2006/relationships/slide" Target="slides/slide39.xml"/><Relationship Id="rId49" Type="http://schemas.openxmlformats.org/officeDocument/2006/relationships/slide" Target="slides/slide40.xml"/><Relationship Id="rId50" Type="http://schemas.openxmlformats.org/officeDocument/2006/relationships/slide" Target="slides/slide41.xml"/><Relationship Id="rId51" Type="http://schemas.openxmlformats.org/officeDocument/2006/relationships/slide" Target="slides/slide42.xml"/><Relationship Id="rId52" Type="http://schemas.openxmlformats.org/officeDocument/2006/relationships/slide" Target="slides/slide43.xml"/><Relationship Id="rId53" Type="http://schemas.openxmlformats.org/officeDocument/2006/relationships/slide" Target="slides/slide44.xml"/><Relationship Id="rId54" Type="http://schemas.openxmlformats.org/officeDocument/2006/relationships/slide" Target="slides/slide45.xml"/><Relationship Id="rId55" Type="http://schemas.openxmlformats.org/officeDocument/2006/relationships/slide" Target="slides/slide46.xml"/><Relationship Id="rId56" Type="http://schemas.openxmlformats.org/officeDocument/2006/relationships/slide" Target="slides/slide47.xml"/><Relationship Id="rId57" Type="http://schemas.openxmlformats.org/officeDocument/2006/relationships/slide" Target="slides/slide48.xml"/><Relationship Id="rId58" Type="http://schemas.openxmlformats.org/officeDocument/2006/relationships/slide" Target="slides/slide49.xml"/><Relationship Id="rId59" Type="http://schemas.openxmlformats.org/officeDocument/2006/relationships/slide" Target="slides/slide50.xml"/><Relationship Id="rId60" Type="http://schemas.openxmlformats.org/officeDocument/2006/relationships/slide" Target="slides/slide51.xml"/><Relationship Id="rId61" Type="http://schemas.openxmlformats.org/officeDocument/2006/relationships/slide" Target="slides/slide52.xml"/><Relationship Id="rId62" Type="http://schemas.openxmlformats.org/officeDocument/2006/relationships/slide" Target="slides/slide53.xml"/><Relationship Id="rId63" Type="http://schemas.openxmlformats.org/officeDocument/2006/relationships/slide" Target="slides/slide54.xml"/><Relationship Id="rId64" Type="http://schemas.openxmlformats.org/officeDocument/2006/relationships/slide" Target="slides/slide55.xml"/><Relationship Id="rId65" Type="http://schemas.openxmlformats.org/officeDocument/2006/relationships/slide" Target="slides/slide56.xml"/><Relationship Id="rId66" Type="http://schemas.openxmlformats.org/officeDocument/2006/relationships/slide" Target="slides/slide57.xml"/><Relationship Id="rId67" Type="http://schemas.openxmlformats.org/officeDocument/2006/relationships/slide" Target="slides/slide58.xml"/><Relationship Id="rId68" Type="http://schemas.openxmlformats.org/officeDocument/2006/relationships/slide" Target="slides/slide59.xml"/><Relationship Id="rId69" Type="http://schemas.openxmlformats.org/officeDocument/2006/relationships/slide" Target="slides/slide60.xml"/><Relationship Id="rId87" Type="http://schemas.openxmlformats.org/officeDocument/2006/relationships/slide" Target="slides/slide2.xml"/><Relationship Id="rId88" Type="http://schemas.openxmlformats.org/officeDocument/2006/relationships/slide" Target="slides/slide3.xml"/><Relationship Id="rId89" Type="http://schemas.openxmlformats.org/officeDocument/2006/relationships/slide" Target="slides/slide4.xml"/><Relationship Id="rId90" Type="http://schemas.openxmlformats.org/officeDocument/2006/relationships/slide" Target="slides/slide5.xml"/><Relationship Id="rId91" Type="http://schemas.openxmlformats.org/officeDocument/2006/relationships/slide" Target="slides/slide6.xml"/><Relationship Id="rId92" Type="http://schemas.openxmlformats.org/officeDocument/2006/relationships/slide" Target="slides/slide7.xml"/><Relationship Id="rId93" Type="http://schemas.openxmlformats.org/officeDocument/2006/relationships/slide" Target="slides/slide8.xml"/><Relationship Id="rId94" Type="http://schemas.openxmlformats.org/officeDocument/2006/relationships/slide" Target="slides/slide9.xml"/><Relationship Id="rId95" Type="http://schemas.openxmlformats.org/officeDocument/2006/relationships/slide" Target="slides/slide10.xml"/><Relationship Id="rId96" Type="http://schemas.openxmlformats.org/officeDocument/2006/relationships/slide" Target="slides/slide11.xml"/><Relationship Id="rId97" Type="http://schemas.openxmlformats.org/officeDocument/2006/relationships/slide" Target="slides/slide12.xml"/><Relationship Id="rId98" Type="http://schemas.openxmlformats.org/officeDocument/2006/relationships/slide" Target="slides/slide13.xml"/><Relationship Id="rId99" Type="http://schemas.openxmlformats.org/officeDocument/2006/relationships/slide" Target="slides/slide14.xml"/><Relationship Id="rId100" Type="http://schemas.openxmlformats.org/officeDocument/2006/relationships/slide" Target="slides/slide15.xml"/><Relationship Id="rId101" Type="http://schemas.openxmlformats.org/officeDocument/2006/relationships/slide" Target="slides/slide16.xml"/><Relationship Id="rId102" Type="http://schemas.openxmlformats.org/officeDocument/2006/relationships/slide" Target="slides/slide17.xml"/><Relationship Id="rId103" Type="http://schemas.openxmlformats.org/officeDocument/2006/relationships/slide" Target="slides/slide18.xml"/><Relationship Id="rId104" Type="http://schemas.openxmlformats.org/officeDocument/2006/relationships/slide" Target="slides/slide19.xml"/><Relationship Id="rId105" Type="http://schemas.openxmlformats.org/officeDocument/2006/relationships/slide" Target="slides/slide20.xml"/><Relationship Id="rId106" Type="http://schemas.openxmlformats.org/officeDocument/2006/relationships/slide" Target="slides/slide21.xml"/><Relationship Id="rId107" Type="http://schemas.openxmlformats.org/officeDocument/2006/relationships/slide" Target="slides/slide22.xml"/><Relationship Id="rId108" Type="http://schemas.openxmlformats.org/officeDocument/2006/relationships/slide" Target="slides/slide23.xml"/><Relationship Id="rId109" Type="http://schemas.openxmlformats.org/officeDocument/2006/relationships/slide" Target="slides/slide24.xml"/><Relationship Id="rId110" Type="http://schemas.openxmlformats.org/officeDocument/2006/relationships/slide" Target="slides/slide25.xml"/><Relationship Id="rId111" Type="http://schemas.openxmlformats.org/officeDocument/2006/relationships/slide" Target="slides/slide26.xml"/><Relationship Id="rId112" Type="http://schemas.openxmlformats.org/officeDocument/2006/relationships/slide" Target="slides/slide27.xml"/><Relationship Id="rId113" Type="http://schemas.openxmlformats.org/officeDocument/2006/relationships/slide" Target="slides/slide28.xml"/><Relationship Id="rId114" Type="http://schemas.openxmlformats.org/officeDocument/2006/relationships/slide" Target="slides/slide29.xml"/><Relationship Id="rId115" Type="http://schemas.openxmlformats.org/officeDocument/2006/relationships/slide" Target="slides/slide30.xml"/><Relationship Id="rId116" Type="http://schemas.openxmlformats.org/officeDocument/2006/relationships/notesMaster" Target="notesMasters/notesMaster1.xml"/><Relationship Id="rId117" Type="http://schemas.openxmlformats.org/officeDocument/2006/relationships/presProps" Target="presProps.xml"/><Relationship Id="rId118" Type="http://schemas.openxmlformats.org/officeDocument/2006/relationships/viewProps" Target="viewProps.xml"/><Relationship Id="rId119" Type="http://schemas.openxmlformats.org/officeDocument/2006/relationships/theme" Target="theme/theme1.xml"/><Relationship Id="rId120" Type="http://schemas.openxmlformats.org/officeDocument/2006/relationships/tableStyles" Target="tableStyles.xml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r>
              <a:rPr lang="en-US" sz="1600" b="1"/>
              <a:t>Sorted k-distance graph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k-distance</c:v>
          </c:tx>
          <c:spPr>
            <a:ln w="28575">
              <a:solidFill>
                <a:srgbClr val="85754D"/>
              </a:solidFill>
            </a:ln>
          </c:spPr>
          <c:marker>
            <c:symbol val="circle"/>
            <c:size val="5"/>
          </c:marker>
          <c:cat>
            <c:strLit>
              <c:ptCount val="12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  <c:pt idx="8">
                <c:v>9</c:v>
              </c:pt>
              <c:pt idx="9">
                <c:v>10</c:v>
              </c:pt>
              <c:pt idx="10">
                <c:v>11</c:v>
              </c:pt>
              <c:pt idx="11">
                <c:v>12</c:v>
              </c:pt>
            </c:strLit>
          </c:cat>
          <c:val>
            <c:numLit>
              <c:formatCode>General</c:formatCode>
              <c:ptCount val="12"/>
              <c:pt idx="0">
                <c:v>3.4</c:v>
              </c:pt>
              <c:pt idx="1">
                <c:v>2.9</c:v>
              </c:pt>
              <c:pt idx="2">
                <c:v>2.5</c:v>
              </c:pt>
              <c:pt idx="3">
                <c:v>2.1</c:v>
              </c:pt>
              <c:pt idx="4">
                <c:v>1.8</c:v>
              </c:pt>
              <c:pt idx="5">
                <c:v>1.55</c:v>
              </c:pt>
              <c:pt idx="6">
                <c:v>1.35</c:v>
              </c:pt>
              <c:pt idx="7">
                <c:v>1.18</c:v>
              </c:pt>
              <c:pt idx="8">
                <c:v>0.95</c:v>
              </c:pt>
              <c:pt idx="9">
                <c:v>0.55000000000000004</c:v>
              </c:pt>
              <c:pt idx="10">
                <c:v>0.35</c:v>
              </c:pt>
              <c:pt idx="11">
                <c:v>0.2</c:v>
              </c:pt>
            </c:numLit>
          </c:val>
          <c:smooth val="1"/>
          <c:extLst>
            <c:ext xmlns:c16="http://schemas.microsoft.com/office/drawing/2014/chart" uri="{C3380CC4-5D6E-409C-BE32-E72D297353CC}">
              <c16:uniqueId val="{00000000-581F-5544-93DE-B2D69F046F0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"/>
        <c:axId val="2"/>
      </c:lineChart>
      <c:catAx>
        <c:axId val="1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en-US" sz="1400"/>
                  <a:t>points (sorted)</a:t>
                </a:r>
              </a:p>
            </c:rich>
          </c:tx>
          <c:overlay val="0"/>
        </c:title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400"/>
            </a:pPr>
            <a:endParaRPr lang="en-US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r>
                  <a:rPr lang="en-US" sz="1400"/>
                  <a:t>dk(x)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  <a:endParaRPr lang="en-US"/>
          </a:p>
        </c:txPr>
        <c:crossAx val="1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1400"/>
          </a:pPr>
          <a:endParaRPr lang="en-US"/>
        </a:p>
      </c:txPr>
    </c:legend>
    <c:plotVisOnly val="1"/>
    <c:dispBlanksAs val="zero"/>
    <c:showDLblsOverMax val="1"/>
  </c:char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pPr>
              <a:defRPr sz="1600"/>
            </a:pPr>
            <a:r>
              <a:rPr lang="en-US" sz="1600"/>
              <a:t>F-Statistic by Feature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v>Fj</c:v>
          </c:tx>
          <c:invertIfNegative val="1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4"/>
              <c:pt idx="0">
                <c:v>Region</c:v>
              </c:pt>
              <c:pt idx="1">
                <c:v>Tenure</c:v>
              </c:pt>
              <c:pt idx="2">
                <c:v>Age</c:v>
              </c:pt>
              <c:pt idx="3">
                <c:v>Income</c:v>
              </c:pt>
            </c:strLit>
          </c:cat>
          <c:val>
            <c:numLit>
              <c:formatCode>General</c:formatCode>
              <c:ptCount val="4"/>
              <c:pt idx="0">
                <c:v>0.7</c:v>
              </c:pt>
              <c:pt idx="1">
                <c:v>3.1</c:v>
              </c:pt>
              <c:pt idx="2">
                <c:v>12.5</c:v>
              </c:pt>
              <c:pt idx="3">
                <c:v>38.200000000000003</c:v>
              </c:pt>
            </c:numLit>
          </c:val>
          <c:extLst>
            <c:ext xmlns:c16="http://schemas.microsoft.com/office/drawing/2014/chart" uri="{C3380CC4-5D6E-409C-BE32-E72D297353CC}">
              <c16:uniqueId val="{00000000-AAE4-234C-B7EC-61FCF6F8F3A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"/>
        <c:axId val="2"/>
      </c:barChart>
      <c:catAx>
        <c:axId val="1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400"/>
            </a:pPr>
            <a:endParaRPr lang="en-US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</c:scaling>
        <c:delete val="0"/>
        <c:axPos val="b"/>
        <c:majorGridlines/>
        <c:title>
          <c:tx>
            <c:rich>
              <a:bodyPr/>
              <a:lstStyle/>
              <a:p>
                <a:pPr>
                  <a:defRPr sz="1400"/>
                </a:pPr>
                <a:r>
                  <a:rPr lang="en-US" sz="1400"/>
                  <a:t>F-statistic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  <a:endParaRPr lang="en-US"/>
          </a:p>
        </c:txPr>
        <c:crossAx val="1"/>
        <c:crosses val="autoZero"/>
        <c:crossBetween val="between"/>
      </c:valAx>
    </c:plotArea>
    <c:plotVisOnly val="1"/>
    <c:dispBlanksAs val="zero"/>
    <c:showDLblsOverMax val="1"/>
  </c:chart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9E4F28-BF19-8E4B-A267-F456DA2B306E}" type="datetimeFigureOut">
              <a:rPr lang="en-US" smtClean="0"/>
              <a:t>6/11/26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F15BD0-F2D7-F343-84F0-98B3430FBE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18076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4106F-A246-2E48-9544-E8146AB80C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229C53-2CA9-764A-93AB-ECAD546B01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C782C-8745-7347-B6AC-4D8772289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CFD0D-118D-4441-A91C-1B836A28A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B8388-0632-6942-96AC-2D619404E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746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E5657-C487-1D4B-9C65-4DD0F323D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F2E6E-20E6-9043-A03F-A481416CA8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CB42E3-D2BE-6F4D-92FC-1494FD65C1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A5245B-18BD-FF4F-92B6-242006FB8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081255-874F-754B-A47E-861DA0CD1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E19D76-7CF9-AC46-8DF1-89FFCD7B2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6216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3E17C-5F89-8D43-BA72-7627FFCB1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69009-5908-0446-A2D3-27CA7612D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A4F87B-6AD1-4F41-B65A-1712AF5CC5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9BD845-9E91-C744-AC94-1F3B0763A6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5476AE-7625-BD41-9CA9-51364370D3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E53358-AC69-5B4B-A141-FBCF7AC85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6/11/26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FCEA71-D074-9149-9053-65C6E547F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C57ED6-3E53-184B-96E1-A81C0B366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4760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E8CEF-1C51-8C45-A4DD-823EF2ED1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374CA-1122-FA4B-B960-C80ADBD8C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EA1D2F-31D9-944B-9E05-A6DF632D8B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8C1F2-E75A-7847-BE97-4BAFD26A3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989FF9-DBBA-CD42-95A8-C1446B010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918F56-7D9A-9D48-8FD1-C96B13CCA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7408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687D9-2240-8D42-BF6D-3237D5EF1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33825A-5AFC-8A42-93C4-F00E40A0FD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956E5-5DA8-AB49-9E03-65283DF2A3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8163D5-4687-C243-A8A2-0650A7887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300BF0-29B6-B343-A484-59353A8AC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8E5C9-1065-5147-B725-91FB99153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0173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59CC8-54DA-0A42-9DA3-C9E7FB11F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1DD596-2259-614F-A986-3F25CF600F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5B1C8-F927-B147-8326-E3862924A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B53A9-157A-9941-B952-607DAB5FA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F697C-66DE-734A-9CA9-579BCEA17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883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FAABD5-DA08-A547-B641-D0E0889172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B8267B-68DB-BD49-A9B4-434AE7BB23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2D5EC-A445-FF43-82E6-1E7554A5D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6C67B-5186-6A4F-8CC0-6CBFEB118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F1686-2B7E-F34D-B970-CC7FA2D3B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16179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0B6787-B51F-DB42-9E52-63E10EB86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3B9472-27F5-2144-BCEC-3E0A96761A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52788-8A6E-D24F-82D2-F38C9E41A4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A2730A-859E-B540-ADF3-E97069AD1FDB}" type="datetimeFigureOut">
              <a:rPr lang="en-US" smtClean="0"/>
              <a:t>6/11/26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DDB45-653D-0C49-B78E-967549C7BA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DC715-0B9A-0348-A62C-3F8BCE535B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  <p:sp>
        <p:nvSpPr>
          <p:cNvPr id="100" name="TopAccentBar"/>
          <p:cNvSpPr/>
          <p:nvPr userDrawn="1"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1" name="GoldAccentLine"/>
          <p:cNvSpPr/>
          <p:nvPr userDrawn="1"/>
        </p:nvSpPr>
        <p:spPr>
          <a:xfrm>
            <a:off x="0" y="91440"/>
            <a:ext cx="12192000" cy="27432"/>
          </a:xfrm>
          <a:prstGeom prst="rect">
            <a:avLst/>
          </a:prstGeom>
          <a:solidFill>
            <a:srgbClr val="F2C01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BottomAccentBar"/>
          <p:cNvSpPr/>
          <p:nvPr userDrawn="1"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01" name="BCTopBar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02" name="BCSilverLine"/>
          <p:cNvSpPr/>
          <p:nvPr/>
        </p:nvSpPr>
        <p:spPr>
          <a:xfrm>
            <a:off x="0" y="76200"/>
            <a:ext cx="12192000" cy="19050"/>
          </a:xfrm>
          <a:prstGeom prst="rect">
            <a:avLst/>
          </a:prstGeom>
          <a:solidFill>
            <a:srgbClr val="A7A9A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03" name="BCBottomBar"/>
          <p:cNvSpPr/>
          <p:nvPr/>
        </p:nvSpPr>
        <p:spPr>
          <a:xfrm>
            <a:off x="0" y="6781800"/>
            <a:ext cx="1219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04" name="BCLogo"/>
          <p:cNvSpPr/>
          <p:nvPr/>
        </p:nvSpPr>
        <p:spPr>
          <a:xfrm>
            <a:off x="9144000" y="6400800"/>
            <a:ext cx="2895600" cy="304800"/>
          </a:xfrm>
          <a:prstGeom prst="rect">
            <a:avLst/>
          </a:prstGeom>
          <a:noFill/>
          <a:ln>
            <a:noFill/>
          </a:ln>
        </p:spPr>
        <p:txBody>
          <a:bodyPr lIns="0" tIns="0" rIns="91440" bIns="0" anchor="ctr" anchorCtr="0"/>
          <a:lstStyle/>
          <a:p>
            <a:pPr algn="r"/>
            <a:endParaRPr lang="en-US" sz="900" b="1" spc="200" dirty="0">
              <a:solidFill>
                <a:srgbClr val="4B2E83"/>
              </a:solidFill>
              <a:latin typeface="Arial"/>
            </a:endParaRPr>
          </a:p>
        </p:txBody>
      </p:sp>
      <p:sp>
        <p:nvSpPr>
          <p:cNvPr id="2010" name="AuthorInfo"/>
          <p:cNvSpPr/>
          <p:nvPr/>
        </p:nvSpPr>
        <p:spPr>
          <a:xfrm>
            <a:off x="152400" y="6400800"/>
            <a:ext cx="8534400" cy="304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/>
          <a:lstStyle/>
          <a:p>
            <a:pPr algn="l"/>
            <a:r>
              <a:rPr lang="en-US" sz="900" dirty="0">
                <a:solidFill>
                  <a:srgbClr val="4B2E83"/>
                </a:solidFill>
                <a:latin typeface="+mn-lt"/>
              </a:rPr>
              <a:t>Pedro Albuquerque, PhD (</a:t>
            </a:r>
            <a:r>
              <a:rPr lang="en-US" sz="900" dirty="0" err="1">
                <a:solidFill>
                  <a:srgbClr val="4B2E83"/>
                </a:solidFill>
                <a:latin typeface="+mn-lt"/>
              </a:rPr>
              <a:t>pedroalb@uwb.edu</a:t>
            </a:r>
            <a:r>
              <a:rPr lang="en-US" sz="900" dirty="0">
                <a:solidFill>
                  <a:srgbClr val="4B2E83"/>
                </a:solidFill>
                <a:latin typeface="+mn-lt"/>
              </a:rPr>
              <a:t>)</a:t>
            </a:r>
          </a:p>
        </p:txBody>
      </p:sp>
      <p:pic>
        <p:nvPicPr>
          <p:cNvPr id="9" name="Picture 8" descr="A purple letters on a black background&#10;&#10;AI-generated content may be incorrect.">
            <a:extLst>
              <a:ext uri="{FF2B5EF4-FFF2-40B4-BE49-F238E27FC236}">
                <a16:creationId xmlns:a16="http://schemas.microsoft.com/office/drawing/2014/main" id="{E462ACF0-778E-E7EE-EC6D-064CC249F90F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9372600" y="6473509"/>
            <a:ext cx="2743200" cy="210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8849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5" r:id="rId1"/>
    <p:sldLayoutId id="2147483736" r:id="rId2"/>
    <p:sldLayoutId id="2147483737" r:id="rId3"/>
    <p:sldLayoutId id="2147483739" r:id="rId4"/>
    <p:sldLayoutId id="2147483740" r:id="rId5"/>
    <p:sldLayoutId id="2147483741" r:id="rId6"/>
    <p:sldLayoutId id="2147483742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4B2E83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2D3748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2D3748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2D3748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2D3748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2D3748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rgbClr val="2D3748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60.png"/><Relationship Id="rId3" Type="http://schemas.openxmlformats.org/officeDocument/2006/relationships/image" Target="../media/image770.png"/><Relationship Id="rId4" Type="http://schemas.openxmlformats.org/officeDocument/2006/relationships/image" Target="../media/image780.png"/><Relationship Id="rId5" Type="http://schemas.openxmlformats.org/officeDocument/2006/relationships/image" Target="../media/image790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00.png"/><Relationship Id="rId3" Type="http://schemas.openxmlformats.org/officeDocument/2006/relationships/image" Target="../media/image8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2.png"/><Relationship Id="rId3" Type="http://schemas.openxmlformats.org/officeDocument/2006/relationships/image" Target="../media/image8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4.png"/><Relationship Id="rId3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5.png"/><Relationship Id="rId3" Type="http://schemas.openxmlformats.org/officeDocument/2006/relationships/image" Target="../media/image86.png"/><Relationship Id="rId4" Type="http://schemas.openxmlformats.org/officeDocument/2006/relationships/image" Target="../media/image8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8.png"/><Relationship Id="rId3" Type="http://schemas.openxmlformats.org/officeDocument/2006/relationships/image" Target="../media/image89.png"/><Relationship Id="rId4" Type="http://schemas.openxmlformats.org/officeDocument/2006/relationships/image" Target="../media/image9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1.png"/><Relationship Id="rId3" Type="http://schemas.openxmlformats.org/officeDocument/2006/relationships/image" Target="../media/image92.png"/><Relationship Id="rId4" Type="http://schemas.openxmlformats.org/officeDocument/2006/relationships/image" Target="../media/image9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4.png"/><Relationship Id="rId3" Type="http://schemas.openxmlformats.org/officeDocument/2006/relationships/image" Target="../media/image95.png"/><Relationship Id="rId4" Type="http://schemas.openxmlformats.org/officeDocument/2006/relationships/image" Target="../media/image96.png"/><Relationship Id="rId5" Type="http://schemas.openxmlformats.org/officeDocument/2006/relationships/image" Target="../media/image9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8.png"/><Relationship Id="rId3" Type="http://schemas.openxmlformats.org/officeDocument/2006/relationships/image" Target="../media/image9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0.png"/><Relationship Id="rId3" Type="http://schemas.openxmlformats.org/officeDocument/2006/relationships/image" Target="../media/image101.png"/><Relationship Id="rId4" Type="http://schemas.openxmlformats.org/officeDocument/2006/relationships/image" Target="../media/image102.png"/><Relationship Id="rId5" Type="http://schemas.openxmlformats.org/officeDocument/2006/relationships/image" Target="../media/image103.png"/><Relationship Id="rId6" Type="http://schemas.openxmlformats.org/officeDocument/2006/relationships/image" Target="../media/image104.png"/><Relationship Id="rId7" Type="http://schemas.openxmlformats.org/officeDocument/2006/relationships/image" Target="../media/image10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6.png"/><Relationship Id="rId3" Type="http://schemas.openxmlformats.org/officeDocument/2006/relationships/image" Target="../media/image10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8.png"/><Relationship Id="rId3" Type="http://schemas.openxmlformats.org/officeDocument/2006/relationships/image" Target="../media/image109.png"/><Relationship Id="rId4" Type="http://schemas.openxmlformats.org/officeDocument/2006/relationships/image" Target="../media/image1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1.png"/><Relationship Id="rId3" Type="http://schemas.openxmlformats.org/officeDocument/2006/relationships/image" Target="../media/image112.png"/><Relationship Id="rId4" Type="http://schemas.openxmlformats.org/officeDocument/2006/relationships/image" Target="../media/image113.png"/><Relationship Id="rId5" Type="http://schemas.openxmlformats.org/officeDocument/2006/relationships/image" Target="../media/image114.png"/><Relationship Id="rId6" Type="http://schemas.openxmlformats.org/officeDocument/2006/relationships/image" Target="../media/image11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6.png"/><Relationship Id="rId3" Type="http://schemas.openxmlformats.org/officeDocument/2006/relationships/image" Target="../media/image117.png"/><Relationship Id="rId4" Type="http://schemas.openxmlformats.org/officeDocument/2006/relationships/image" Target="../media/image118.png"/><Relationship Id="rId5" Type="http://schemas.openxmlformats.org/officeDocument/2006/relationships/image" Target="../media/image11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0.png"/><Relationship Id="rId3" Type="http://schemas.openxmlformats.org/officeDocument/2006/relationships/image" Target="../media/image12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2.png"/><Relationship Id="rId3" Type="http://schemas.openxmlformats.org/officeDocument/2006/relationships/image" Target="../media/image12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4.png"/><Relationship Id="rId3" Type="http://schemas.openxmlformats.org/officeDocument/2006/relationships/image" Target="../media/image12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6.png"/><Relationship Id="rId3" Type="http://schemas.openxmlformats.org/officeDocument/2006/relationships/image" Target="../media/image127.png"/><Relationship Id="rId4" Type="http://schemas.openxmlformats.org/officeDocument/2006/relationships/image" Target="../media/image12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9.png"/><Relationship Id="rId3" Type="http://schemas.openxmlformats.org/officeDocument/2006/relationships/image" Target="../media/image130.png"/><Relationship Id="rId4" Type="http://schemas.openxmlformats.org/officeDocument/2006/relationships/image" Target="../media/image131.png"/><Relationship Id="rId5" Type="http://schemas.openxmlformats.org/officeDocument/2006/relationships/image" Target="../media/image13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3.png"/><Relationship Id="rId3" Type="http://schemas.openxmlformats.org/officeDocument/2006/relationships/image" Target="../media/image13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5.png"/><Relationship Id="rId3" Type="http://schemas.openxmlformats.org/officeDocument/2006/relationships/image" Target="../media/image136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7.png"/><Relationship Id="rId3" Type="http://schemas.openxmlformats.org/officeDocument/2006/relationships/image" Target="../media/image138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9.png"/><Relationship Id="rId3" Type="http://schemas.openxmlformats.org/officeDocument/2006/relationships/chart" Target="../charts/chart3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0.png"/><Relationship Id="rId3" Type="http://schemas.openxmlformats.org/officeDocument/2006/relationships/image" Target="../media/image141.png"/><Relationship Id="rId4" Type="http://schemas.openxmlformats.org/officeDocument/2006/relationships/image" Target="../media/image142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8BDD4-E90A-14D1-6D20-3C94647C01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Density: Core, Border &amp; Noise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7852290-B772-0740-AD35-47AC2CB6A77F}"/>
              </a:ext>
            </a:extLst>
          </p:cNvPr>
          <p:cNvSpPr/>
          <p:nvPr/>
        </p:nvSpPr>
        <p:spPr>
          <a:xfrm>
            <a:off x="838200" y="1879600"/>
            <a:ext cx="10515600" cy="711200"/>
          </a:xfrm>
          <a:prstGeom prst="roundRect">
            <a:avLst/>
          </a:prstGeom>
          <a:solidFill>
            <a:srgbClr val="85754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AEF9462-0E6C-DA42-AD9C-2670998132D8}"/>
                  </a:ext>
                </a:extLst>
              </p:cNvPr>
              <p:cNvSpPr txBox="1"/>
              <p:nvPr/>
            </p:nvSpPr>
            <p:spPr>
              <a:xfrm>
                <a:off x="1016000" y="2058228"/>
                <a:ext cx="10160000" cy="353943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spAutoFit/>
              </a:bodyPr>
              <a:lstStyle/>
              <a:p>
                <a:pPr algn="l"/>
                <a14:m>
                  <m:oMath xmlns:m="http://schemas.openxmlformats.org/officeDocument/2006/math">
                    <m:sSub>
                      <m:sSubPr>
                        <m:ctrlPr>
                          <a:rPr lang="en-US" sz="1700" i="1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70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170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sub>
                    </m:sSub>
                    <m:d>
                      <m:dPr>
                        <m:ctrlPr>
                          <a:rPr lang="en-US" sz="1700" i="1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70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sz="170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1700" i="1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70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sz="170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′∈</m:t>
                        </m:r>
                        <m:r>
                          <a:rPr lang="en-US" sz="170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𝐗</m:t>
                        </m:r>
                        <m:r>
                          <a:rPr lang="en-US" sz="170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d>
                          <m:dPr>
                            <m:begChr m:val="‖"/>
                            <m:endChr m:val="‖"/>
                            <m:ctrlPr>
                              <a:rPr lang="en-US" sz="1700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700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en-US" sz="1700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700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en-US" sz="1700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e>
                        </m:d>
                        <m:r>
                          <a:rPr lang="en-US" sz="170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sz="170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</m:d>
                  </m:oMath>
                </a14:m>
                <a:r>
                  <a:rPr lang="en-US" sz="1700" dirty="0">
                    <a:solidFill>
                      <a:srgbClr val="FFFFFF"/>
                    </a:solidFill>
                  </a:rPr>
                  <a:t>      </a:t>
                </a:r>
                <a14:m>
                  <m:oMath xmlns:m="http://schemas.openxmlformats.org/officeDocument/2006/math">
                    <m:r>
                      <a:rPr lang="en-US" sz="170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m:rPr>
                        <m:nor/>
                      </m:rPr>
                      <a:rPr lang="en-US" sz="1700">
                        <a:solidFill>
                          <a:srgbClr val="FFFFFF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 sz="1700">
                        <a:solidFill>
                          <a:srgbClr val="FFFFFF"/>
                        </a:solidFill>
                      </a:rPr>
                      <m:t>is</m:t>
                    </m:r>
                    <m:r>
                      <m:rPr>
                        <m:nor/>
                      </m:rPr>
                      <a:rPr lang="en-US" sz="1700">
                        <a:solidFill>
                          <a:srgbClr val="FFFFFF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 sz="1700">
                        <a:solidFill>
                          <a:srgbClr val="FFFFFF"/>
                        </a:solidFill>
                      </a:rPr>
                      <m:t>core</m:t>
                    </m:r>
                    <m:r>
                      <m:rPr>
                        <m:nor/>
                      </m:rPr>
                      <a:rPr lang="en-US" sz="1700">
                        <a:solidFill>
                          <a:srgbClr val="FFFFFF"/>
                        </a:solidFill>
                      </a:rPr>
                      <m:t> </m:t>
                    </m:r>
                    <m:r>
                      <a:rPr lang="en-US" sz="170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m:rPr>
                        <m:nor/>
                      </m:rPr>
                      <a:rPr lang="en-US" sz="1700">
                        <a:solidFill>
                          <a:srgbClr val="FFFFFF"/>
                        </a:solidFill>
                      </a:rPr>
                      <m:t> </m:t>
                    </m:r>
                    <m:d>
                      <m:dPr>
                        <m:begChr m:val="|"/>
                        <m:endChr m:val="|"/>
                        <m:ctrlPr>
                          <a:rPr lang="en-US" sz="1700" i="1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700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700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sz="1700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  <m:t>𝜀</m:t>
                            </m:r>
                          </m:sub>
                        </m:sSub>
                        <m:d>
                          <m:dPr>
                            <m:ctrlPr>
                              <a:rPr lang="en-US" sz="1700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700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d>
                      </m:e>
                    </m:d>
                    <m:r>
                      <a:rPr lang="en-US" sz="170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m:rPr>
                        <m:nor/>
                      </m:rPr>
                      <a:rPr lang="en-US" sz="1700">
                        <a:solidFill>
                          <a:srgbClr val="FFFFFF"/>
                        </a:solidFill>
                      </a:rPr>
                      <m:t>MinPts</m:t>
                    </m:r>
                  </m:oMath>
                </a14:m>
                <a:endParaRPr lang="en-US" sz="17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AEF9462-0E6C-DA42-AD9C-2670998132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000" y="2058228"/>
                <a:ext cx="10160000" cy="353943"/>
              </a:xfrm>
              <a:prstGeom prst="rect">
                <a:avLst/>
              </a:prstGeom>
              <a:blipFill>
                <a:blip r:embed="rId2"/>
                <a:stretch>
                  <a:fillRect t="-3448" b="-137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820633A1-7D81-434B-B605-2DE0E7C19F3D}"/>
              </a:ext>
            </a:extLst>
          </p:cNvPr>
          <p:cNvSpPr/>
          <p:nvPr/>
        </p:nvSpPr>
        <p:spPr>
          <a:xfrm>
            <a:off x="838200" y="2717800"/>
            <a:ext cx="3378200" cy="34036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7AB64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E38E4ED-8D30-E244-964D-1F36521E3905}"/>
              </a:ext>
            </a:extLst>
          </p:cNvPr>
          <p:cNvSpPr/>
          <p:nvPr/>
        </p:nvSpPr>
        <p:spPr>
          <a:xfrm>
            <a:off x="838200" y="2717800"/>
            <a:ext cx="3378200" cy="482600"/>
          </a:xfrm>
          <a:prstGeom prst="rect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FFFFFF"/>
                </a:solidFill>
                <a:latin typeface="Arial"/>
                <a:cs typeface="Arial"/>
              </a:rPr>
              <a:t>Core point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02CCAE0-2A5D-1B4E-AAC8-C032B00F0787}"/>
                  </a:ext>
                </a:extLst>
              </p:cNvPr>
              <p:cNvSpPr txBox="1"/>
              <p:nvPr/>
            </p:nvSpPr>
            <p:spPr>
              <a:xfrm>
                <a:off x="1016000" y="3327400"/>
                <a:ext cx="3022600" cy="1123384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sz="1500" i="1">
                              <a:solidFill>
                                <a:srgbClr val="85754D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500" i="1">
                                  <a:solidFill>
                                    <a:srgbClr val="85754D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500">
                                  <a:solidFill>
                                    <a:srgbClr val="85754D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1500">
                                  <a:solidFill>
                                    <a:srgbClr val="85754D"/>
                                  </a:solidFill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500" i="1">
                                  <a:solidFill>
                                    <a:srgbClr val="85754D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500">
                                  <a:solidFill>
                                    <a:srgbClr val="85754D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</m:e>
                      </m:d>
                      <m:r>
                        <a:rPr lang="en-US" sz="1500">
                          <a:solidFill>
                            <a:srgbClr val="85754D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r>
                        <m:rPr>
                          <m:nor/>
                        </m:rPr>
                        <a:rPr lang="en-US" sz="1500">
                          <a:solidFill>
                            <a:srgbClr val="85754D"/>
                          </a:solidFill>
                        </a:rPr>
                        <m:t>MinPts</m:t>
                      </m:r>
                    </m:oMath>
                  </m:oMathPara>
                </a14:m>
                <a:endParaRPr/>
              </a:p>
              <a:p>
                <a:pPr>
                  <a:buNone/>
                </a:pPr>
                <a:endParaRPr lang="en-US" sz="400"/>
              </a:p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Has at least MinPts points (including itself) within distance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. Cores seed and grow clusters.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02CCAE0-2A5D-1B4E-AAC8-C032B00F07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000" y="3327400"/>
                <a:ext cx="3022600" cy="1123384"/>
              </a:xfrm>
              <a:prstGeom prst="rect">
                <a:avLst/>
              </a:prstGeom>
              <a:blipFill>
                <a:blip r:embed="rId3"/>
                <a:stretch>
                  <a:fillRect l="-1255" r="-1674" b="-56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93FFAE5B-7D9F-5044-8B93-4451AFF13A73}"/>
              </a:ext>
            </a:extLst>
          </p:cNvPr>
          <p:cNvSpPr/>
          <p:nvPr/>
        </p:nvSpPr>
        <p:spPr>
          <a:xfrm>
            <a:off x="4406900" y="2717800"/>
            <a:ext cx="3378200" cy="34036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EDAA772-E109-5A44-8928-658EF275BE8F}"/>
              </a:ext>
            </a:extLst>
          </p:cNvPr>
          <p:cNvSpPr/>
          <p:nvPr/>
        </p:nvSpPr>
        <p:spPr>
          <a:xfrm>
            <a:off x="4406900" y="2717800"/>
            <a:ext cx="3378200" cy="482600"/>
          </a:xfrm>
          <a:prstGeom prst="rect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FFFFFF"/>
                </a:solidFill>
                <a:latin typeface="Arial"/>
                <a:cs typeface="Arial"/>
              </a:rPr>
              <a:t>Border point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AD480AA-723B-044B-BF39-E50040843639}"/>
                  </a:ext>
                </a:extLst>
              </p:cNvPr>
              <p:cNvSpPr txBox="1"/>
              <p:nvPr/>
            </p:nvSpPr>
            <p:spPr>
              <a:xfrm>
                <a:off x="4584700" y="3327400"/>
                <a:ext cx="3022600" cy="1400383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sz="1500" i="1">
                              <a:solidFill>
                                <a:srgbClr val="85754D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500" i="1">
                                  <a:solidFill>
                                    <a:srgbClr val="85754D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500">
                                  <a:solidFill>
                                    <a:srgbClr val="85754D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1500">
                                  <a:solidFill>
                                    <a:srgbClr val="85754D"/>
                                  </a:solidFill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500" i="1">
                                  <a:solidFill>
                                    <a:srgbClr val="85754D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500">
                                  <a:solidFill>
                                    <a:srgbClr val="85754D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</m:e>
                      </m:d>
                      <m:r>
                        <a:rPr lang="en-US" sz="1500">
                          <a:solidFill>
                            <a:srgbClr val="85754D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m:rPr>
                          <m:nor/>
                        </m:rPr>
                        <a:rPr lang="en-US" sz="1500">
                          <a:solidFill>
                            <a:srgbClr val="85754D"/>
                          </a:solidFill>
                        </a:rPr>
                        <m:t>MinPts</m:t>
                      </m:r>
                    </m:oMath>
                  </m:oMathPara>
                </a14:m>
                <a:endParaRPr/>
              </a:p>
              <a:p>
                <a:pPr>
                  <a:buNone/>
                </a:pPr>
                <a:endParaRPr lang="en-US" sz="30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500">
                          <a:solidFill>
                            <a:srgbClr val="85754D"/>
                          </a:solidFill>
                          <a:latin typeface="Cambria Math" panose="02040503050406030204" pitchFamily="18" charset="0"/>
                        </a:rPr>
                        <m:t>∃</m:t>
                      </m:r>
                      <m:r>
                        <m:rPr>
                          <m:nor/>
                        </m:rPr>
                        <a:rPr lang="en-US" sz="1500">
                          <a:solidFill>
                            <a:srgbClr val="85754D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1500">
                          <a:solidFill>
                            <a:srgbClr val="85754D"/>
                          </a:solidFill>
                        </a:rPr>
                        <m:t>core</m:t>
                      </m:r>
                      <m:r>
                        <m:rPr>
                          <m:nor/>
                        </m:rPr>
                        <a:rPr lang="en-US" sz="1500">
                          <a:solidFill>
                            <a:srgbClr val="85754D"/>
                          </a:solidFill>
                        </a:rPr>
                        <m:t> </m:t>
                      </m:r>
                      <m:r>
                        <a:rPr lang="en-US" sz="1500">
                          <a:solidFill>
                            <a:srgbClr val="85754D"/>
                          </a:solidFill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US" sz="1500">
                          <a:solidFill>
                            <a:srgbClr val="85754D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m:rPr>
                          <m:nor/>
                        </m:rPr>
                        <a:rPr lang="en-US" sz="1500">
                          <a:solidFill>
                            <a:srgbClr val="85754D"/>
                          </a:solidFill>
                        </a:rPr>
                        <m:t> </m:t>
                      </m:r>
                      <m:r>
                        <a:rPr lang="en-US" sz="1500">
                          <a:solidFill>
                            <a:srgbClr val="85754D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1500">
                          <a:solidFill>
                            <a:srgbClr val="85754D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sSub>
                        <m:sSubPr>
                          <m:ctrlPr>
                            <a:rPr lang="en-US" sz="1500" i="1">
                              <a:solidFill>
                                <a:srgbClr val="85754D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500">
                              <a:solidFill>
                                <a:srgbClr val="85754D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sz="1500">
                              <a:solidFill>
                                <a:srgbClr val="85754D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sub>
                      </m:sSub>
                      <m:d>
                        <m:dPr>
                          <m:ctrlPr>
                            <a:rPr lang="en-US" sz="1500" i="1">
                              <a:solidFill>
                                <a:srgbClr val="85754D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500">
                              <a:solidFill>
                                <a:srgbClr val="85754D"/>
                              </a:solidFill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</m:d>
                    </m:oMath>
                  </m:oMathPara>
                </a14:m>
                <a:endParaRPr lang="en-US" sz="300"/>
              </a:p>
              <a:p>
                <a:pPr>
                  <a:buNone/>
                </a:pPr>
                <a:endParaRPr lang="en-US" sz="400"/>
              </a:p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Not dense itself, but lies within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of a core point. Joins that core's cluster on the edge.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AD480AA-723B-044B-BF39-E500408436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4700" y="3327400"/>
                <a:ext cx="3022600" cy="1400383"/>
              </a:xfrm>
              <a:prstGeom prst="rect">
                <a:avLst/>
              </a:prstGeom>
              <a:blipFill>
                <a:blip r:embed="rId4"/>
                <a:stretch>
                  <a:fillRect l="-833" b="-45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CCBF74B1-FA99-3B49-889E-E84BCCED993E}"/>
              </a:ext>
            </a:extLst>
          </p:cNvPr>
          <p:cNvSpPr/>
          <p:nvPr/>
        </p:nvSpPr>
        <p:spPr>
          <a:xfrm>
            <a:off x="7975600" y="2717800"/>
            <a:ext cx="3378200" cy="34036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D1578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ADEC48E-C9C8-2D48-9E3E-50A8564FF30F}"/>
              </a:ext>
            </a:extLst>
          </p:cNvPr>
          <p:cNvSpPr/>
          <p:nvPr/>
        </p:nvSpPr>
        <p:spPr>
          <a:xfrm>
            <a:off x="7975600" y="2717800"/>
            <a:ext cx="3378200" cy="482600"/>
          </a:xfrm>
          <a:prstGeom prst="rect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FFFFFF"/>
                </a:solidFill>
                <a:latin typeface="Arial"/>
                <a:cs typeface="Arial"/>
              </a:rPr>
              <a:t>Noise point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BF443D7-993C-3C45-B5DE-643F7EC31F73}"/>
                  </a:ext>
                </a:extLst>
              </p:cNvPr>
              <p:cNvSpPr txBox="1"/>
              <p:nvPr/>
            </p:nvSpPr>
            <p:spPr>
              <a:xfrm>
                <a:off x="8153400" y="3327400"/>
                <a:ext cx="3022600" cy="1400383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sz="1500" i="1">
                              <a:solidFill>
                                <a:srgbClr val="85754D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500" i="1">
                                  <a:solidFill>
                                    <a:srgbClr val="85754D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500">
                                  <a:solidFill>
                                    <a:srgbClr val="85754D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1500">
                                  <a:solidFill>
                                    <a:srgbClr val="85754D"/>
                                  </a:solidFill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500" i="1">
                                  <a:solidFill>
                                    <a:srgbClr val="85754D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500">
                                  <a:solidFill>
                                    <a:srgbClr val="85754D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</m:e>
                      </m:d>
                      <m:r>
                        <a:rPr lang="en-US" sz="1500">
                          <a:solidFill>
                            <a:srgbClr val="85754D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m:rPr>
                          <m:nor/>
                        </m:rPr>
                        <a:rPr lang="en-US" sz="1500">
                          <a:solidFill>
                            <a:srgbClr val="85754D"/>
                          </a:solidFill>
                        </a:rPr>
                        <m:t>MinPts</m:t>
                      </m:r>
                    </m:oMath>
                  </m:oMathPara>
                </a14:m>
                <a:endParaRPr/>
              </a:p>
              <a:p>
                <a:pPr>
                  <a:buNone/>
                </a:pPr>
                <a:endParaRPr lang="en-US" sz="30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500">
                          <a:solidFill>
                            <a:srgbClr val="85754D"/>
                          </a:solidFill>
                          <a:latin typeface="Cambria Math" panose="02040503050406030204" pitchFamily="18" charset="0"/>
                        </a:rPr>
                        <m:t>∄</m:t>
                      </m:r>
                      <m:r>
                        <m:rPr>
                          <m:nor/>
                        </m:rPr>
                        <a:rPr lang="en-US" sz="1500">
                          <a:solidFill>
                            <a:srgbClr val="85754D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1500">
                          <a:solidFill>
                            <a:srgbClr val="85754D"/>
                          </a:solidFill>
                        </a:rPr>
                        <m:t>core</m:t>
                      </m:r>
                      <m:r>
                        <m:rPr>
                          <m:nor/>
                        </m:rPr>
                        <a:rPr lang="en-US" sz="1500">
                          <a:solidFill>
                            <a:srgbClr val="85754D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1500">
                          <a:solidFill>
                            <a:srgbClr val="85754D"/>
                          </a:solidFill>
                        </a:rPr>
                        <m:t>within</m:t>
                      </m:r>
                      <m:r>
                        <m:rPr>
                          <m:nor/>
                        </m:rPr>
                        <a:rPr lang="en-US" sz="1500">
                          <a:solidFill>
                            <a:srgbClr val="85754D"/>
                          </a:solidFill>
                        </a:rPr>
                        <m:t> </m:t>
                      </m:r>
                      <m:r>
                        <a:rPr lang="en-US" sz="1500">
                          <a:solidFill>
                            <a:srgbClr val="85754D"/>
                          </a:solidFill>
                          <a:latin typeface="Cambria Math" panose="02040503050406030204" pitchFamily="18" charset="0"/>
                        </a:rPr>
                        <m:t>𝜀</m:t>
                      </m:r>
                    </m:oMath>
                  </m:oMathPara>
                </a14:m>
                <a:endParaRPr lang="en-US" sz="300"/>
              </a:p>
              <a:p>
                <a:pPr>
                  <a:buNone/>
                </a:pPr>
                <a:endParaRPr lang="en-US" sz="400"/>
              </a:p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Neither core nor reachable from any core. Labelled noise / outlier — left unclustered.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BF443D7-993C-3C45-B5DE-643F7EC31F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3400" y="3327400"/>
                <a:ext cx="3022600" cy="1400383"/>
              </a:xfrm>
              <a:prstGeom prst="rect">
                <a:avLst/>
              </a:prstGeom>
              <a:blipFill>
                <a:blip r:embed="rId5"/>
                <a:stretch>
                  <a:fillRect l="-1261" b="-45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445808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91D3E-0603-CA1E-2375-E7B014768E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DBSCAN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4791E18-782F-A34C-A903-451AD18076E9}"/>
                  </a:ext>
                </a:extLst>
              </p:cNvPr>
              <p:cNvSpPr txBox="1"/>
              <p:nvPr/>
            </p:nvSpPr>
            <p:spPr>
              <a:xfrm>
                <a:off x="838200" y="1879600"/>
                <a:ext cx="5588000" cy="1815882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marL="342900" indent="-342900">
                  <a:buFont typeface="Arial"/>
                  <a:buAutoNum type="arabicPeriod"/>
                </a:pPr>
                <a:r>
                  <a:rPr lang="en-US" sz="1600" dirty="0">
                    <a:solidFill>
                      <a:srgbClr val="333333"/>
                    </a:solidFill>
                  </a:rPr>
                  <a:t>Pick an unvisited point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; compute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sub>
                    </m:sSub>
                    <m:d>
                      <m:d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.</a:t>
                </a:r>
              </a:p>
              <a:p>
                <a:pPr marL="342900" indent="-342900">
                  <a:buFont typeface="Arial"/>
                  <a:buAutoNum type="arabicPeriod"/>
                </a:pPr>
                <a:r>
                  <a:rPr lang="en-US" sz="1600" dirty="0">
                    <a:solidFill>
                      <a:srgbClr val="333333"/>
                    </a:solidFill>
                  </a:rPr>
                  <a:t>If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𝜀</m:t>
                            </m:r>
                          </m:sub>
                        </m:sSub>
                        <m:d>
                          <m:dPr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d>
                      </m:e>
                    </m:d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nor/>
                      </m:rPr>
                      <a:rPr lang="en-US" sz="1600">
                        <a:solidFill>
                          <a:srgbClr val="333333"/>
                        </a:solidFill>
                      </a:rPr>
                      <m:t>MinPts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, mark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noise (may be reclaimed later).</a:t>
                </a:r>
              </a:p>
              <a:p>
                <a:pPr marL="342900" indent="-342900">
                  <a:buFont typeface="Arial"/>
                  <a:buAutoNum type="arabicPeriod"/>
                </a:pPr>
                <a:r>
                  <a:rPr lang="en-US" sz="1600" dirty="0">
                    <a:solidFill>
                      <a:srgbClr val="333333"/>
                    </a:solidFill>
                  </a:rPr>
                  <a:t>Else start a new cluster; add all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sub>
                    </m:sSub>
                    <m:d>
                      <m:d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to a queue.</a:t>
                </a:r>
              </a:p>
              <a:p>
                <a:pPr marL="342900" indent="-342900">
                  <a:buFont typeface="Arial"/>
                  <a:buAutoNum type="arabicPeriod"/>
                </a:pPr>
                <a:r>
                  <a:rPr lang="en-US" sz="1600" dirty="0">
                    <a:solidFill>
                      <a:srgbClr val="333333"/>
                    </a:solidFill>
                  </a:rPr>
                  <a:t>Pop each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𝒒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from queue: if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𝒒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is core, append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sub>
                    </m:sSub>
                    <m:d>
                      <m:d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𝒒</m:t>
                        </m:r>
                      </m:e>
                    </m:d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to the queue.</a:t>
                </a:r>
              </a:p>
              <a:p>
                <a:pPr marL="342900" indent="-342900">
                  <a:buFont typeface="Arial"/>
                  <a:buAutoNum type="arabicPeriod"/>
                </a:pPr>
                <a:r>
                  <a:rPr lang="en-US" sz="1600" dirty="0">
                    <a:solidFill>
                      <a:srgbClr val="333333"/>
                    </a:solidFill>
                  </a:rPr>
                  <a:t>Repeat until queue empties — the cluster is fully expanded.</a:t>
                </a:r>
              </a:p>
              <a:p>
                <a:pPr marL="342900" indent="-342900">
                  <a:buFont typeface="Arial"/>
                  <a:buAutoNum type="arabicPeriod"/>
                </a:pPr>
                <a:r>
                  <a:rPr lang="en-US" sz="1600" dirty="0">
                    <a:solidFill>
                      <a:srgbClr val="333333"/>
                    </a:solidFill>
                  </a:rPr>
                  <a:t>Continue until every point is visited.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4791E18-782F-A34C-A903-451AD18076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79600"/>
                <a:ext cx="5588000" cy="1815882"/>
              </a:xfrm>
              <a:prstGeom prst="rect">
                <a:avLst/>
              </a:prstGeom>
              <a:blipFill>
                <a:blip r:embed="rId2"/>
                <a:stretch>
                  <a:fillRect l="-909" t="-694" b="-34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35507B3-221A-CE4B-BD06-CD57E80ED421}"/>
              </a:ext>
            </a:extLst>
          </p:cNvPr>
          <p:cNvSpPr/>
          <p:nvPr/>
        </p:nvSpPr>
        <p:spPr>
          <a:xfrm>
            <a:off x="6502400" y="2032000"/>
            <a:ext cx="4851400" cy="40640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85754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E5E35A-BEAE-284A-969F-D86E2AE0B399}"/>
              </a:ext>
            </a:extLst>
          </p:cNvPr>
          <p:cNvSpPr/>
          <p:nvPr/>
        </p:nvSpPr>
        <p:spPr>
          <a:xfrm>
            <a:off x="6502400" y="2032000"/>
            <a:ext cx="4851400" cy="457200"/>
          </a:xfrm>
          <a:prstGeom prst="rect">
            <a:avLst/>
          </a:prstGeom>
          <a:solidFill>
            <a:srgbClr val="85754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FFFFFF"/>
                </a:solidFill>
                <a:latin typeface="Arial"/>
                <a:cs typeface="Arial"/>
              </a:rPr>
              <a:t>Reachability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7FFF07B-C71E-8540-AE51-9FFB24A34EAB}"/>
                  </a:ext>
                </a:extLst>
              </p:cNvPr>
              <p:cNvSpPr txBox="1"/>
              <p:nvPr/>
            </p:nvSpPr>
            <p:spPr>
              <a:xfrm>
                <a:off x="6705600" y="2616200"/>
                <a:ext cx="4470400" cy="2077492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>
                  <a:buNone/>
                </a:pPr>
                <a:r>
                  <a:rPr lang="en-US" sz="1600" b="1" dirty="0">
                    <a:solidFill>
                      <a:srgbClr val="85754D"/>
                    </a:solidFill>
                  </a:rPr>
                  <a:t>Directly density-reachable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5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𝒑</m:t>
                      </m:r>
                      <m:r>
                        <a:rPr lang="en-US" sz="15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←</m:t>
                      </m:r>
                      <m:r>
                        <a:rPr lang="en-US" sz="15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𝒒</m:t>
                      </m:r>
                      <m:r>
                        <m:rPr>
                          <m:nor/>
                        </m:rPr>
                        <a:rPr lang="en-US" sz="1500">
                          <a:solidFill>
                            <a:srgbClr val="333333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1500">
                          <a:solidFill>
                            <a:srgbClr val="333333"/>
                          </a:solidFill>
                        </a:rPr>
                        <m:t>if</m:t>
                      </m:r>
                      <m:r>
                        <m:rPr>
                          <m:nor/>
                        </m:rPr>
                        <a:rPr lang="en-US" sz="1500">
                          <a:solidFill>
                            <a:srgbClr val="333333"/>
                          </a:solidFill>
                        </a:rPr>
                        <m:t> </m:t>
                      </m:r>
                      <m:r>
                        <a:rPr lang="en-US" sz="15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𝒑</m:t>
                      </m:r>
                      <m:r>
                        <a:rPr lang="en-US" sz="15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sSub>
                        <m:sSubPr>
                          <m:ctrlPr>
                            <a:rPr lang="en-US" sz="15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5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sz="15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sub>
                      </m:sSub>
                      <m:d>
                        <m:dPr>
                          <m:ctrlPr>
                            <a:rPr lang="en-US" sz="15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5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</m:d>
                      <m:r>
                        <a:rPr lang="en-US" sz="15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nor/>
                        </m:rPr>
                        <a:rPr lang="en-US" sz="1500">
                          <a:solidFill>
                            <a:srgbClr val="333333"/>
                          </a:solidFill>
                        </a:rPr>
                        <m:t> </m:t>
                      </m:r>
                      <m:r>
                        <a:rPr lang="en-US" sz="15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𝒒</m:t>
                      </m:r>
                      <m:r>
                        <m:rPr>
                          <m:nor/>
                        </m:rPr>
                        <a:rPr lang="en-US" sz="1500">
                          <a:solidFill>
                            <a:srgbClr val="333333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1500">
                          <a:solidFill>
                            <a:srgbClr val="333333"/>
                          </a:solidFill>
                        </a:rPr>
                        <m:t>core</m:t>
                      </m:r>
                    </m:oMath>
                  </m:oMathPara>
                </a14:m>
                <a:endParaRPr lang="en-US" sz="1600" b="1" dirty="0">
                  <a:solidFill>
                    <a:srgbClr val="85754D"/>
                  </a:solidFill>
                </a:endParaRPr>
              </a:p>
              <a:p>
                <a:pPr>
                  <a:buNone/>
                </a:pPr>
                <a:endParaRPr lang="en-US" sz="300"/>
              </a:p>
              <a:p>
                <a:pPr>
                  <a:buNone/>
                </a:pPr>
                <a:r>
                  <a:rPr lang="en-US" sz="1600" b="1" dirty="0">
                    <a:solidFill>
                      <a:srgbClr val="85754D"/>
                    </a:solidFill>
                  </a:rPr>
                  <a:t>Density-reachable</a:t>
                </a:r>
              </a:p>
              <a:p>
                <a:pPr>
                  <a:buNone/>
                </a:pPr>
                <a:r>
                  <a:rPr lang="en-US" sz="1500" dirty="0">
                    <a:solidFill>
                      <a:srgbClr val="333333"/>
                    </a:solidFill>
                  </a:rPr>
                  <a:t>chain </a:t>
                </a:r>
                <a14:m>
                  <m:oMath xmlns:m="http://schemas.openxmlformats.org/officeDocument/2006/math">
                    <m:r>
                      <a:rPr lang="en-US" sz="15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𝒒</m:t>
                    </m:r>
                    <m:r>
                      <a:rPr lang="en-US" sz="15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5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𝒐</m:t>
                        </m:r>
                      </m:e>
                      <m:sub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5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→…→</m:t>
                    </m:r>
                    <m:sSub>
                      <m:sSubPr>
                        <m:ctrlPr>
                          <a:rPr lang="en-US" sz="15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𝒐</m:t>
                        </m:r>
                      </m:e>
                      <m:sub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15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5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𝒑</m:t>
                    </m:r>
                  </m:oMath>
                </a14:m>
                <a:endParaRPr lang="en-US" sz="1500" dirty="0">
                  <a:solidFill>
                    <a:srgbClr val="333333"/>
                  </a:solidFill>
                </a:endParaRPr>
              </a:p>
              <a:p>
                <a:pPr>
                  <a:buNone/>
                </a:pPr>
                <a:r>
                  <a:rPr lang="en-US" sz="1500" dirty="0">
                    <a:solidFill>
                      <a:srgbClr val="333333"/>
                    </a:solidFill>
                  </a:rPr>
                  <a:t>each step directly reachable</a:t>
                </a:r>
              </a:p>
              <a:p>
                <a:pPr>
                  <a:buNone/>
                </a:pPr>
                <a:endParaRPr lang="en-US" sz="300"/>
              </a:p>
              <a:p>
                <a:pPr>
                  <a:buNone/>
                </a:pPr>
                <a:r>
                  <a:rPr lang="en-US" sz="1600" b="1" dirty="0">
                    <a:solidFill>
                      <a:srgbClr val="85754D"/>
                    </a:solidFill>
                  </a:rPr>
                  <a:t>Density-connected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5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∃</m:t>
                      </m:r>
                      <m:r>
                        <m:rPr>
                          <m:nor/>
                        </m:rPr>
                        <a:rPr lang="en-US" sz="1500">
                          <a:solidFill>
                            <a:srgbClr val="333333"/>
                          </a:solidFill>
                        </a:rPr>
                        <m:t> </m:t>
                      </m:r>
                      <m:r>
                        <a:rPr lang="en-US" sz="15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𝒐</m:t>
                      </m:r>
                      <m:r>
                        <a:rPr lang="en-US" sz="15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m:rPr>
                          <m:nor/>
                        </m:rPr>
                        <a:rPr lang="en-US" sz="1500">
                          <a:solidFill>
                            <a:srgbClr val="333333"/>
                          </a:solidFill>
                        </a:rPr>
                        <m:t> </m:t>
                      </m:r>
                      <m:r>
                        <a:rPr lang="en-US" sz="15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𝒐</m:t>
                      </m:r>
                      <m:r>
                        <a:rPr lang="en-US" sz="15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sz="15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𝒑</m:t>
                      </m:r>
                      <m:r>
                        <m:rPr>
                          <m:nor/>
                        </m:rPr>
                        <a:rPr lang="en-US" sz="1500">
                          <a:solidFill>
                            <a:srgbClr val="333333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1500">
                          <a:solidFill>
                            <a:srgbClr val="333333"/>
                          </a:solidFill>
                        </a:rPr>
                        <m:t>and</m:t>
                      </m:r>
                      <m:r>
                        <m:rPr>
                          <m:nor/>
                        </m:rPr>
                        <a:rPr lang="en-US" sz="1500">
                          <a:solidFill>
                            <a:srgbClr val="333333"/>
                          </a:solidFill>
                        </a:rPr>
                        <m:t> </m:t>
                      </m:r>
                      <m:r>
                        <a:rPr lang="en-US" sz="15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𝒐</m:t>
                      </m:r>
                      <m:r>
                        <a:rPr lang="en-US" sz="15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sz="15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𝒒</m:t>
                      </m:r>
                    </m:oMath>
                  </m:oMathPara>
                </a14:m>
                <a:endParaRPr lang="en-US" sz="1600" b="1" dirty="0">
                  <a:solidFill>
                    <a:srgbClr val="85754D"/>
                  </a:solidFill>
                </a:endParaRPr>
              </a:p>
              <a:p>
                <a:pPr>
                  <a:buNone/>
                </a:pPr>
                <a:r>
                  <a:rPr lang="en-US" sz="1500" dirty="0">
                    <a:solidFill>
                      <a:srgbClr val="333333"/>
                    </a:solidFill>
                  </a:rPr>
                  <a:t>basis of a DBSCAN cluster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7FFF07B-C71E-8540-AE51-9FFB24A34E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5600" y="2616200"/>
                <a:ext cx="4470400" cy="2077492"/>
              </a:xfrm>
              <a:prstGeom prst="rect">
                <a:avLst/>
              </a:prstGeom>
              <a:blipFill>
                <a:blip r:embed="rId3"/>
                <a:stretch>
                  <a:fillRect l="-852" t="-606" b="-24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267778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4C29D1-E873-A8CB-6059-3E20E9A41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 1: Point Classification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D9FCC75-8881-3B45-8B74-C0989CC0C5DB}"/>
              </a:ext>
            </a:extLst>
          </p:cNvPr>
          <p:cNvSpPr/>
          <p:nvPr/>
        </p:nvSpPr>
        <p:spPr>
          <a:xfrm>
            <a:off x="838200" y="1778000"/>
            <a:ext cx="1524000" cy="381000"/>
          </a:xfrm>
          <a:prstGeom prst="roundRect">
            <a:avLst/>
          </a:prstGeom>
          <a:solidFill>
            <a:srgbClr val="85754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Arial"/>
                <a:cs typeface="Arial"/>
              </a:rPr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7E081BE-FA23-0441-97FE-99917F3F737A}"/>
                  </a:ext>
                </a:extLst>
              </p:cNvPr>
              <p:cNvSpPr txBox="1"/>
              <p:nvPr/>
            </p:nvSpPr>
            <p:spPr>
              <a:xfrm>
                <a:off x="838200" y="2235200"/>
                <a:ext cx="5207000" cy="1846659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>
                  <a:buNone/>
                </a:pPr>
                <a:r>
                  <a:rPr lang="en-US" sz="1600" b="1" dirty="0">
                    <a:solidFill>
                      <a:srgbClr val="85754D"/>
                    </a:solidFill>
                  </a:rPr>
                  <a:t>Setup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𝐗</m:t>
                      </m:r>
                      <m:r>
                        <a:rPr lang="en-US" sz="14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={</m:t>
                      </m:r>
                      <m:r>
                        <m:rPr>
                          <m:nor/>
                        </m:rPr>
                        <a:rPr lang="en-US" sz="1400">
                          <a:solidFill>
                            <a:srgbClr val="333333"/>
                          </a:solidFill>
                        </a:rPr>
                        <m:t>A</m:t>
                      </m:r>
                      <m:d>
                        <m:dPr>
                          <m:ctrlPr>
                            <a:rPr lang="en-US" sz="14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1,1</m:t>
                          </m:r>
                        </m:e>
                      </m:d>
                      <m:r>
                        <a:rPr lang="en-US" sz="14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nor/>
                        </m:rPr>
                        <a:rPr lang="en-US" sz="1400">
                          <a:solidFill>
                            <a:srgbClr val="333333"/>
                          </a:solidFill>
                        </a:rPr>
                        <m:t>B</m:t>
                      </m:r>
                      <m:d>
                        <m:dPr>
                          <m:ctrlPr>
                            <a:rPr lang="en-US" sz="14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1,2</m:t>
                          </m:r>
                        </m:e>
                      </m:d>
                      <m:r>
                        <a:rPr lang="en-US" sz="14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nor/>
                        </m:rPr>
                        <a:rPr lang="en-US" sz="1400">
                          <a:solidFill>
                            <a:srgbClr val="333333"/>
                          </a:solidFill>
                        </a:rPr>
                        <m:t>C</m:t>
                      </m:r>
                      <m:d>
                        <m:dPr>
                          <m:ctrlPr>
                            <a:rPr lang="en-US" sz="14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>2,1</m:t>
                          </m:r>
                        </m:e>
                      </m:d>
                      <m:r>
                        <a:rPr lang="en-US" sz="140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sz="1600" b="1" dirty="0">
                  <a:solidFill>
                    <a:srgbClr val="85754D"/>
                  </a:solidFill>
                </a:endParaRPr>
              </a:p>
              <a:p>
                <a:pPr>
                  <a:buNone/>
                </a:pPr>
                <a:r>
                  <a:rPr lang="en-US" sz="1400" dirty="0"/>
                  <a:t>     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1400">
                        <a:solidFill>
                          <a:srgbClr val="333333"/>
                        </a:solidFill>
                      </a:rPr>
                      <m:t>D</m:t>
                    </m:r>
                    <m:d>
                      <m:dPr>
                        <m:ctrlPr>
                          <a:rPr lang="en-US" sz="14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8,8</m:t>
                        </m:r>
                      </m:e>
                    </m:d>
                    <m:r>
                      <a:rPr lang="en-US" sz="14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en-US" sz="1400">
                        <a:solidFill>
                          <a:srgbClr val="333333"/>
                        </a:solidFill>
                      </a:rPr>
                      <m:t>E</m:t>
                    </m:r>
                    <m:d>
                      <m:dPr>
                        <m:ctrlPr>
                          <a:rPr lang="en-US" sz="14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8,9</m:t>
                        </m:r>
                      </m:e>
                    </m:d>
                    <m:r>
                      <a:rPr lang="en-US" sz="14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en-US" sz="1400">
                        <a:solidFill>
                          <a:srgbClr val="333333"/>
                        </a:solidFill>
                      </a:rPr>
                      <m:t>F</m:t>
                    </m:r>
                    <m:d>
                      <m:dPr>
                        <m:ctrlPr>
                          <a:rPr lang="en-US" sz="14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25,25</m:t>
                        </m:r>
                      </m:e>
                    </m:d>
                    <m:r>
                      <a:rPr lang="en-US" sz="14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sz="1400" dirty="0"/>
              </a:p>
              <a:p>
                <a:pPr>
                  <a:buNone/>
                </a:pPr>
                <a:endParaRPr lang="en-US" sz="300"/>
              </a:p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Parameters: 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𝜀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, 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1600">
                        <a:solidFill>
                          <a:srgbClr val="333333"/>
                        </a:solidFill>
                      </a:rPr>
                      <m:t>MinPts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endParaRPr lang="en-US" sz="1600" dirty="0">
                  <a:solidFill>
                    <a:srgbClr val="333333"/>
                  </a:solidFill>
                </a:endParaRPr>
              </a:p>
              <a:p>
                <a:pPr>
                  <a:buNone/>
                </a:pPr>
                <a:endParaRPr lang="en-US" sz="300"/>
              </a:p>
              <a:p>
                <a:pPr>
                  <a:buNone/>
                </a:pPr>
                <a:r>
                  <a:rPr lang="en-US" sz="1600" b="1" dirty="0">
                    <a:solidFill>
                      <a:srgbClr val="85754D"/>
                    </a:solidFill>
                  </a:rPr>
                  <a:t>Task</a:t>
                </a:r>
              </a:p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Using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1600">
                            <a:solidFill>
                              <a:srgbClr val="333333"/>
                            </a:solidFill>
                          </a:rPr>
                          <m:t>L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norm, classify every point as core, border, or noise.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7E081BE-FA23-0441-97FE-99917F3F73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235200"/>
                <a:ext cx="5207000" cy="1846659"/>
              </a:xfrm>
              <a:prstGeom prst="rect">
                <a:avLst/>
              </a:prstGeom>
              <a:blipFill>
                <a:blip r:embed="rId2"/>
                <a:stretch>
                  <a:fillRect l="-730" t="-1370" b="-34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608079C7-2C27-3541-B467-C8C909DE8EBC}"/>
              </a:ext>
            </a:extLst>
          </p:cNvPr>
          <p:cNvSpPr/>
          <p:nvPr/>
        </p:nvSpPr>
        <p:spPr>
          <a:xfrm>
            <a:off x="6210300" y="2235200"/>
            <a:ext cx="5143500" cy="38608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85754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4632890-C8F6-D140-8B71-48C9B1719F05}"/>
                  </a:ext>
                </a:extLst>
              </p:cNvPr>
              <p:cNvSpPr txBox="1"/>
              <p:nvPr/>
            </p:nvSpPr>
            <p:spPr>
              <a:xfrm>
                <a:off x="6438900" y="2438400"/>
                <a:ext cx="4699000" cy="2385268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>
                  <a:buNone/>
                </a:pPr>
                <a:r>
                  <a:rPr lang="en-US" sz="1600" b="1" dirty="0">
                    <a:solidFill>
                      <a:srgbClr val="85754D"/>
                    </a:solidFill>
                  </a:rPr>
                  <a:t>Solution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1400">
                          <a:solidFill>
                            <a:srgbClr val="7AB648"/>
                          </a:solidFill>
                        </a:rPr>
                        <m:t>A</m:t>
                      </m:r>
                      <m:r>
                        <a:rPr lang="en-US" sz="1400">
                          <a:solidFill>
                            <a:srgbClr val="7AB648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m:rPr>
                          <m:nor/>
                        </m:rPr>
                        <a:rPr lang="en-US" sz="1400">
                          <a:solidFill>
                            <a:srgbClr val="7AB648"/>
                          </a:solidFill>
                        </a:rPr>
                        <m:t> </m:t>
                      </m:r>
                      <m:sSub>
                        <m:sSubPr>
                          <m:ctrlPr>
                            <a:rPr lang="en-US" sz="1400" i="1">
                              <a:solidFill>
                                <a:srgbClr val="7AB648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>
                              <a:solidFill>
                                <a:srgbClr val="7AB648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sz="1400">
                              <a:solidFill>
                                <a:srgbClr val="7AB648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sub>
                      </m:sSub>
                      <m:r>
                        <a:rPr lang="en-US" sz="1400">
                          <a:solidFill>
                            <a:srgbClr val="7AB648"/>
                          </a:solidFill>
                          <a:latin typeface="Cambria Math" panose="02040503050406030204" pitchFamily="18" charset="0"/>
                        </a:rPr>
                        <m:t>={</m:t>
                      </m:r>
                      <m:r>
                        <m:rPr>
                          <m:nor/>
                        </m:rPr>
                        <a:rPr lang="en-US" sz="1400">
                          <a:solidFill>
                            <a:srgbClr val="7AB648"/>
                          </a:solidFill>
                        </a:rPr>
                        <m:t>A</m:t>
                      </m:r>
                      <m:r>
                        <a:rPr lang="en-US" sz="1400">
                          <a:solidFill>
                            <a:srgbClr val="7AB648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nor/>
                        </m:rPr>
                        <a:rPr lang="en-US" sz="1400">
                          <a:solidFill>
                            <a:srgbClr val="7AB648"/>
                          </a:solidFill>
                        </a:rPr>
                        <m:t>B</m:t>
                      </m:r>
                      <m:r>
                        <a:rPr lang="en-US" sz="1400">
                          <a:solidFill>
                            <a:srgbClr val="7AB648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nor/>
                        </m:rPr>
                        <a:rPr lang="en-US" sz="1400">
                          <a:solidFill>
                            <a:srgbClr val="7AB648"/>
                          </a:solidFill>
                        </a:rPr>
                        <m:t>C</m:t>
                      </m:r>
                      <m:r>
                        <a:rPr lang="en-US" sz="1400">
                          <a:solidFill>
                            <a:srgbClr val="7AB648"/>
                          </a:solidFill>
                          <a:latin typeface="Cambria Math" panose="02040503050406030204" pitchFamily="18" charset="0"/>
                        </a:rPr>
                        <m:t>}→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1400" i="1">
                              <a:solidFill>
                                <a:srgbClr val="7AB648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>
                              <a:solidFill>
                                <a:srgbClr val="7AB648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en-US" sz="1400">
                          <a:solidFill>
                            <a:srgbClr val="7AB648"/>
                          </a:solidFill>
                          <a:latin typeface="Cambria Math" panose="02040503050406030204" pitchFamily="18" charset="0"/>
                        </a:rPr>
                        <m:t>≥3</m:t>
                      </m:r>
                      <m:r>
                        <m:rPr>
                          <m:nor/>
                        </m:rPr>
                        <a:rPr lang="en-US" sz="1400">
                          <a:solidFill>
                            <a:srgbClr val="7AB648"/>
                          </a:solidFill>
                        </a:rPr>
                        <m:t>  </m:t>
                      </m:r>
                      <m:r>
                        <m:rPr>
                          <m:nor/>
                        </m:rPr>
                        <a:rPr lang="en-US" sz="1400">
                          <a:solidFill>
                            <a:srgbClr val="7AB648"/>
                          </a:solidFill>
                        </a:rPr>
                        <m:t>CORE</m:t>
                      </m:r>
                    </m:oMath>
                  </m:oMathPara>
                </a14:m>
                <a:endParaRPr lang="en-US" sz="1600" b="1" dirty="0">
                  <a:solidFill>
                    <a:srgbClr val="85754D"/>
                  </a:solidFill>
                </a:endParaRP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1400">
                          <a:solidFill>
                            <a:srgbClr val="7AB648"/>
                          </a:solidFill>
                        </a:rPr>
                        <m:t>B</m:t>
                      </m:r>
                      <m:r>
                        <a:rPr lang="en-US" sz="1400">
                          <a:solidFill>
                            <a:srgbClr val="7AB648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m:rPr>
                          <m:nor/>
                        </m:rPr>
                        <a:rPr lang="en-US" sz="1400">
                          <a:solidFill>
                            <a:srgbClr val="7AB648"/>
                          </a:solidFill>
                        </a:rPr>
                        <m:t> </m:t>
                      </m:r>
                      <m:sSub>
                        <m:sSubPr>
                          <m:ctrlPr>
                            <a:rPr lang="en-US" sz="1400" i="1">
                              <a:solidFill>
                                <a:srgbClr val="7AB648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>
                              <a:solidFill>
                                <a:srgbClr val="7AB648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sz="1400">
                              <a:solidFill>
                                <a:srgbClr val="7AB648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sub>
                      </m:sSub>
                      <m:r>
                        <a:rPr lang="en-US" sz="1400">
                          <a:solidFill>
                            <a:srgbClr val="7AB648"/>
                          </a:solidFill>
                          <a:latin typeface="Cambria Math" panose="02040503050406030204" pitchFamily="18" charset="0"/>
                        </a:rPr>
                        <m:t>={</m:t>
                      </m:r>
                      <m:r>
                        <m:rPr>
                          <m:nor/>
                        </m:rPr>
                        <a:rPr lang="en-US" sz="1400">
                          <a:solidFill>
                            <a:srgbClr val="7AB648"/>
                          </a:solidFill>
                        </a:rPr>
                        <m:t>A</m:t>
                      </m:r>
                      <m:r>
                        <a:rPr lang="en-US" sz="1400">
                          <a:solidFill>
                            <a:srgbClr val="7AB648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nor/>
                        </m:rPr>
                        <a:rPr lang="en-US" sz="1400">
                          <a:solidFill>
                            <a:srgbClr val="7AB648"/>
                          </a:solidFill>
                        </a:rPr>
                        <m:t>B</m:t>
                      </m:r>
                      <m:r>
                        <a:rPr lang="en-US" sz="1400">
                          <a:solidFill>
                            <a:srgbClr val="7AB648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nor/>
                        </m:rPr>
                        <a:rPr lang="en-US" sz="1400">
                          <a:solidFill>
                            <a:srgbClr val="7AB648"/>
                          </a:solidFill>
                        </a:rPr>
                        <m:t>C</m:t>
                      </m:r>
                      <m:r>
                        <a:rPr lang="en-US" sz="1400">
                          <a:solidFill>
                            <a:srgbClr val="7AB648"/>
                          </a:solidFill>
                          <a:latin typeface="Cambria Math" panose="02040503050406030204" pitchFamily="18" charset="0"/>
                        </a:rPr>
                        <m:t>}→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1400" i="1">
                              <a:solidFill>
                                <a:srgbClr val="7AB648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>
                              <a:solidFill>
                                <a:srgbClr val="7AB648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en-US" sz="1400">
                          <a:solidFill>
                            <a:srgbClr val="7AB648"/>
                          </a:solidFill>
                          <a:latin typeface="Cambria Math" panose="02040503050406030204" pitchFamily="18" charset="0"/>
                        </a:rPr>
                        <m:t>≥3</m:t>
                      </m:r>
                      <m:r>
                        <m:rPr>
                          <m:nor/>
                        </m:rPr>
                        <a:rPr lang="en-US" sz="1400">
                          <a:solidFill>
                            <a:srgbClr val="7AB648"/>
                          </a:solidFill>
                        </a:rPr>
                        <m:t>  </m:t>
                      </m:r>
                      <m:r>
                        <m:rPr>
                          <m:nor/>
                        </m:rPr>
                        <a:rPr lang="en-US" sz="1400">
                          <a:solidFill>
                            <a:srgbClr val="7AB648"/>
                          </a:solidFill>
                        </a:rPr>
                        <m:t>CORE</m:t>
                      </m:r>
                    </m:oMath>
                  </m:oMathPara>
                </a14:m>
                <a:endParaRPr lang="en-US" sz="1600" b="1" dirty="0">
                  <a:solidFill>
                    <a:srgbClr val="85754D"/>
                  </a:solidFill>
                </a:endParaRP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1400">
                          <a:solidFill>
                            <a:srgbClr val="7AB648"/>
                          </a:solidFill>
                        </a:rPr>
                        <m:t>C</m:t>
                      </m:r>
                      <m:r>
                        <a:rPr lang="en-US" sz="1400">
                          <a:solidFill>
                            <a:srgbClr val="7AB648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m:rPr>
                          <m:nor/>
                        </m:rPr>
                        <a:rPr lang="en-US" sz="1400">
                          <a:solidFill>
                            <a:srgbClr val="7AB648"/>
                          </a:solidFill>
                        </a:rPr>
                        <m:t> </m:t>
                      </m:r>
                      <m:sSub>
                        <m:sSubPr>
                          <m:ctrlPr>
                            <a:rPr lang="en-US" sz="1400" i="1">
                              <a:solidFill>
                                <a:srgbClr val="7AB648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>
                              <a:solidFill>
                                <a:srgbClr val="7AB648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sz="1400">
                              <a:solidFill>
                                <a:srgbClr val="7AB648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sub>
                      </m:sSub>
                      <m:r>
                        <a:rPr lang="en-US" sz="1400">
                          <a:solidFill>
                            <a:srgbClr val="7AB648"/>
                          </a:solidFill>
                          <a:latin typeface="Cambria Math" panose="02040503050406030204" pitchFamily="18" charset="0"/>
                        </a:rPr>
                        <m:t>={</m:t>
                      </m:r>
                      <m:r>
                        <m:rPr>
                          <m:nor/>
                        </m:rPr>
                        <a:rPr lang="en-US" sz="1400">
                          <a:solidFill>
                            <a:srgbClr val="7AB648"/>
                          </a:solidFill>
                        </a:rPr>
                        <m:t>A</m:t>
                      </m:r>
                      <m:r>
                        <a:rPr lang="en-US" sz="1400">
                          <a:solidFill>
                            <a:srgbClr val="7AB648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nor/>
                        </m:rPr>
                        <a:rPr lang="en-US" sz="1400">
                          <a:solidFill>
                            <a:srgbClr val="7AB648"/>
                          </a:solidFill>
                        </a:rPr>
                        <m:t>B</m:t>
                      </m:r>
                      <m:r>
                        <a:rPr lang="en-US" sz="1400">
                          <a:solidFill>
                            <a:srgbClr val="7AB648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nor/>
                        </m:rPr>
                        <a:rPr lang="en-US" sz="1400">
                          <a:solidFill>
                            <a:srgbClr val="7AB648"/>
                          </a:solidFill>
                        </a:rPr>
                        <m:t>C</m:t>
                      </m:r>
                      <m:r>
                        <a:rPr lang="en-US" sz="1400">
                          <a:solidFill>
                            <a:srgbClr val="7AB648"/>
                          </a:solidFill>
                          <a:latin typeface="Cambria Math" panose="02040503050406030204" pitchFamily="18" charset="0"/>
                        </a:rPr>
                        <m:t>}→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1400" i="1">
                              <a:solidFill>
                                <a:srgbClr val="7AB648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>
                              <a:solidFill>
                                <a:srgbClr val="7AB648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en-US" sz="1400">
                          <a:solidFill>
                            <a:srgbClr val="7AB648"/>
                          </a:solidFill>
                          <a:latin typeface="Cambria Math" panose="02040503050406030204" pitchFamily="18" charset="0"/>
                        </a:rPr>
                        <m:t>≥3</m:t>
                      </m:r>
                      <m:r>
                        <m:rPr>
                          <m:nor/>
                        </m:rPr>
                        <a:rPr lang="en-US" sz="1400">
                          <a:solidFill>
                            <a:srgbClr val="7AB648"/>
                          </a:solidFill>
                        </a:rPr>
                        <m:t>  </m:t>
                      </m:r>
                      <m:r>
                        <m:rPr>
                          <m:nor/>
                        </m:rPr>
                        <a:rPr lang="en-US" sz="1400">
                          <a:solidFill>
                            <a:srgbClr val="7AB648"/>
                          </a:solidFill>
                        </a:rPr>
                        <m:t>CORE</m:t>
                      </m:r>
                    </m:oMath>
                  </m:oMathPara>
                </a14:m>
                <a:endParaRPr lang="en-US" sz="1600" b="1" dirty="0">
                  <a:solidFill>
                    <a:srgbClr val="85754D"/>
                  </a:solidFill>
                </a:endParaRP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1400">
                          <a:solidFill>
                            <a:srgbClr val="00A7B5"/>
                          </a:solidFill>
                        </a:rPr>
                        <m:t>D</m:t>
                      </m:r>
                      <m:r>
                        <a:rPr lang="en-US" sz="1400">
                          <a:solidFill>
                            <a:srgbClr val="00A7B5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m:rPr>
                          <m:nor/>
                        </m:rPr>
                        <a:rPr lang="en-US" sz="1400">
                          <a:solidFill>
                            <a:srgbClr val="00A7B5"/>
                          </a:solidFill>
                        </a:rPr>
                        <m:t> </m:t>
                      </m:r>
                      <m:sSub>
                        <m:sSubPr>
                          <m:ctrlPr>
                            <a:rPr lang="en-US" sz="1400" i="1">
                              <a:solidFill>
                                <a:srgbClr val="00A7B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>
                              <a:solidFill>
                                <a:srgbClr val="00A7B5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sz="1400">
                              <a:solidFill>
                                <a:srgbClr val="00A7B5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sub>
                      </m:sSub>
                      <m:r>
                        <a:rPr lang="en-US" sz="1400">
                          <a:solidFill>
                            <a:srgbClr val="00A7B5"/>
                          </a:solidFill>
                          <a:latin typeface="Cambria Math" panose="02040503050406030204" pitchFamily="18" charset="0"/>
                        </a:rPr>
                        <m:t>={</m:t>
                      </m:r>
                      <m:r>
                        <m:rPr>
                          <m:nor/>
                        </m:rPr>
                        <a:rPr lang="en-US" sz="1400">
                          <a:solidFill>
                            <a:srgbClr val="00A7B5"/>
                          </a:solidFill>
                        </a:rPr>
                        <m:t>D</m:t>
                      </m:r>
                      <m:r>
                        <a:rPr lang="en-US" sz="1400">
                          <a:solidFill>
                            <a:srgbClr val="00A7B5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nor/>
                        </m:rPr>
                        <a:rPr lang="en-US" sz="1400">
                          <a:solidFill>
                            <a:srgbClr val="00A7B5"/>
                          </a:solidFill>
                        </a:rPr>
                        <m:t>E</m:t>
                      </m:r>
                      <m:r>
                        <a:rPr lang="en-US" sz="1400">
                          <a:solidFill>
                            <a:srgbClr val="00A7B5"/>
                          </a:solidFill>
                          <a:latin typeface="Cambria Math" panose="02040503050406030204" pitchFamily="18" charset="0"/>
                        </a:rPr>
                        <m:t>}→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1400" i="1">
                              <a:solidFill>
                                <a:srgbClr val="00A7B5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>
                              <a:solidFill>
                                <a:srgbClr val="00A7B5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sz="1400">
                          <a:solidFill>
                            <a:srgbClr val="00A7B5"/>
                          </a:solidFill>
                          <a:latin typeface="Cambria Math" panose="02040503050406030204" pitchFamily="18" charset="0"/>
                        </a:rPr>
                        <m:t>&lt;3</m:t>
                      </m:r>
                    </m:oMath>
                  </m:oMathPara>
                </a14:m>
                <a:endParaRPr lang="en-US" sz="1600" b="1" dirty="0">
                  <a:solidFill>
                    <a:srgbClr val="85754D"/>
                  </a:solidFill>
                </a:endParaRP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1400">
                          <a:solidFill>
                            <a:srgbClr val="00A7B5"/>
                          </a:solidFill>
                        </a:rPr>
                        <m:t>E</m:t>
                      </m:r>
                      <m:r>
                        <a:rPr lang="en-US" sz="1400">
                          <a:solidFill>
                            <a:srgbClr val="00A7B5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m:rPr>
                          <m:nor/>
                        </m:rPr>
                        <a:rPr lang="en-US" sz="1400">
                          <a:solidFill>
                            <a:srgbClr val="00A7B5"/>
                          </a:solidFill>
                        </a:rPr>
                        <m:t> </m:t>
                      </m:r>
                      <m:sSub>
                        <m:sSubPr>
                          <m:ctrlPr>
                            <a:rPr lang="en-US" sz="1400" i="1">
                              <a:solidFill>
                                <a:srgbClr val="00A7B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>
                              <a:solidFill>
                                <a:srgbClr val="00A7B5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sz="1400">
                              <a:solidFill>
                                <a:srgbClr val="00A7B5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sub>
                      </m:sSub>
                      <m:r>
                        <a:rPr lang="en-US" sz="1400">
                          <a:solidFill>
                            <a:srgbClr val="00A7B5"/>
                          </a:solidFill>
                          <a:latin typeface="Cambria Math" panose="02040503050406030204" pitchFamily="18" charset="0"/>
                        </a:rPr>
                        <m:t>={</m:t>
                      </m:r>
                      <m:r>
                        <m:rPr>
                          <m:nor/>
                        </m:rPr>
                        <a:rPr lang="en-US" sz="1400">
                          <a:solidFill>
                            <a:srgbClr val="00A7B5"/>
                          </a:solidFill>
                        </a:rPr>
                        <m:t>D</m:t>
                      </m:r>
                      <m:r>
                        <a:rPr lang="en-US" sz="1400">
                          <a:solidFill>
                            <a:srgbClr val="00A7B5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nor/>
                        </m:rPr>
                        <a:rPr lang="en-US" sz="1400">
                          <a:solidFill>
                            <a:srgbClr val="00A7B5"/>
                          </a:solidFill>
                        </a:rPr>
                        <m:t>E</m:t>
                      </m:r>
                      <m:r>
                        <a:rPr lang="en-US" sz="1400">
                          <a:solidFill>
                            <a:srgbClr val="00A7B5"/>
                          </a:solidFill>
                          <a:latin typeface="Cambria Math" panose="02040503050406030204" pitchFamily="18" charset="0"/>
                        </a:rPr>
                        <m:t>}→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1400" i="1">
                              <a:solidFill>
                                <a:srgbClr val="00A7B5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>
                              <a:solidFill>
                                <a:srgbClr val="00A7B5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sz="1400">
                          <a:solidFill>
                            <a:srgbClr val="00A7B5"/>
                          </a:solidFill>
                          <a:latin typeface="Cambria Math" panose="02040503050406030204" pitchFamily="18" charset="0"/>
                        </a:rPr>
                        <m:t>&lt;3</m:t>
                      </m:r>
                    </m:oMath>
                  </m:oMathPara>
                </a14:m>
                <a:endParaRPr lang="en-US" sz="1600" b="1" dirty="0">
                  <a:solidFill>
                    <a:srgbClr val="85754D"/>
                  </a:solidFill>
                </a:endParaRP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1400">
                          <a:solidFill>
                            <a:srgbClr val="D1578A"/>
                          </a:solidFill>
                        </a:rPr>
                        <m:t>D</m:t>
                      </m:r>
                      <m:r>
                        <a:rPr lang="en-US" sz="1400">
                          <a:solidFill>
                            <a:srgbClr val="D1578A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nor/>
                        </m:rPr>
                        <a:rPr lang="en-US" sz="1400">
                          <a:solidFill>
                            <a:srgbClr val="D1578A"/>
                          </a:solidFill>
                        </a:rPr>
                        <m:t>E</m:t>
                      </m:r>
                      <m:r>
                        <m:rPr>
                          <m:nor/>
                        </m:rPr>
                        <a:rPr lang="en-US" sz="1400">
                          <a:solidFill>
                            <a:srgbClr val="D1578A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1400">
                          <a:solidFill>
                            <a:srgbClr val="D1578A"/>
                          </a:solidFill>
                        </a:rPr>
                        <m:t>both</m:t>
                      </m:r>
                      <m:r>
                        <m:rPr>
                          <m:nor/>
                        </m:rPr>
                        <a:rPr lang="en-US" sz="1400">
                          <a:solidFill>
                            <a:srgbClr val="D1578A"/>
                          </a:solidFill>
                        </a:rPr>
                        <m:t> </m:t>
                      </m:r>
                      <m:r>
                        <a:rPr lang="en-US" sz="1400">
                          <a:solidFill>
                            <a:srgbClr val="D1578A"/>
                          </a:solidFill>
                          <a:latin typeface="Cambria Math" panose="02040503050406030204" pitchFamily="18" charset="0"/>
                        </a:rPr>
                        <m:t>&lt;3,</m:t>
                      </m:r>
                      <m:r>
                        <m:rPr>
                          <m:nor/>
                        </m:rPr>
                        <a:rPr lang="en-US" sz="1400">
                          <a:solidFill>
                            <a:srgbClr val="D1578A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1400">
                          <a:solidFill>
                            <a:srgbClr val="D1578A"/>
                          </a:solidFill>
                        </a:rPr>
                        <m:t>no</m:t>
                      </m:r>
                      <m:r>
                        <m:rPr>
                          <m:nor/>
                        </m:rPr>
                        <a:rPr lang="en-US" sz="1400">
                          <a:solidFill>
                            <a:srgbClr val="D1578A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1400">
                          <a:solidFill>
                            <a:srgbClr val="D1578A"/>
                          </a:solidFill>
                        </a:rPr>
                        <m:t>core</m:t>
                      </m:r>
                      <m:r>
                        <m:rPr>
                          <m:nor/>
                        </m:rPr>
                        <a:rPr lang="en-US" sz="1400">
                          <a:solidFill>
                            <a:srgbClr val="D1578A"/>
                          </a:solidFill>
                        </a:rPr>
                        <m:t> </m:t>
                      </m:r>
                      <m:r>
                        <a:rPr lang="en-US" sz="1400">
                          <a:solidFill>
                            <a:srgbClr val="D1578A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m:rPr>
                          <m:nor/>
                        </m:rPr>
                        <a:rPr lang="en-US" sz="1400">
                          <a:solidFill>
                            <a:srgbClr val="D1578A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1400">
                          <a:solidFill>
                            <a:srgbClr val="D1578A"/>
                          </a:solidFill>
                        </a:rPr>
                        <m:t>NOISE</m:t>
                      </m:r>
                    </m:oMath>
                  </m:oMathPara>
                </a14:m>
                <a:endParaRPr lang="en-US" sz="1600" b="1" dirty="0">
                  <a:solidFill>
                    <a:srgbClr val="85754D"/>
                  </a:solidFill>
                </a:endParaRP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1400">
                          <a:solidFill>
                            <a:srgbClr val="D1578A"/>
                          </a:solidFill>
                        </a:rPr>
                        <m:t>F</m:t>
                      </m:r>
                      <m:r>
                        <a:rPr lang="en-US" sz="1400">
                          <a:solidFill>
                            <a:srgbClr val="D1578A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m:rPr>
                          <m:nor/>
                        </m:rPr>
                        <a:rPr lang="en-US" sz="1400">
                          <a:solidFill>
                            <a:srgbClr val="D1578A"/>
                          </a:solidFill>
                        </a:rPr>
                        <m:t> </m:t>
                      </m:r>
                      <m:sSub>
                        <m:sSubPr>
                          <m:ctrlPr>
                            <a:rPr lang="en-US" sz="1400" i="1">
                              <a:solidFill>
                                <a:srgbClr val="D1578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>
                              <a:solidFill>
                                <a:srgbClr val="D1578A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sz="1400">
                              <a:solidFill>
                                <a:srgbClr val="D1578A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sub>
                      </m:sSub>
                      <m:r>
                        <a:rPr lang="en-US" sz="1400">
                          <a:solidFill>
                            <a:srgbClr val="D1578A"/>
                          </a:solidFill>
                          <a:latin typeface="Cambria Math" panose="02040503050406030204" pitchFamily="18" charset="0"/>
                        </a:rPr>
                        <m:t>={</m:t>
                      </m:r>
                      <m:r>
                        <m:rPr>
                          <m:nor/>
                        </m:rPr>
                        <a:rPr lang="en-US" sz="1400">
                          <a:solidFill>
                            <a:srgbClr val="D1578A"/>
                          </a:solidFill>
                        </a:rPr>
                        <m:t>F</m:t>
                      </m:r>
                      <m:r>
                        <a:rPr lang="en-US" sz="1400">
                          <a:solidFill>
                            <a:srgbClr val="D1578A"/>
                          </a:solidFill>
                          <a:latin typeface="Cambria Math" panose="02040503050406030204" pitchFamily="18" charset="0"/>
                        </a:rPr>
                        <m:t>}→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1400" i="1">
                              <a:solidFill>
                                <a:srgbClr val="D1578A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>
                              <a:solidFill>
                                <a:srgbClr val="D1578A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sz="1400">
                          <a:solidFill>
                            <a:srgbClr val="D1578A"/>
                          </a:solidFill>
                          <a:latin typeface="Cambria Math" panose="02040503050406030204" pitchFamily="18" charset="0"/>
                        </a:rPr>
                        <m:t>&lt;3</m:t>
                      </m:r>
                      <m:r>
                        <m:rPr>
                          <m:nor/>
                        </m:rPr>
                        <a:rPr lang="en-US" sz="1400">
                          <a:solidFill>
                            <a:srgbClr val="D1578A"/>
                          </a:solidFill>
                        </a:rPr>
                        <m:t>  </m:t>
                      </m:r>
                      <m:r>
                        <m:rPr>
                          <m:nor/>
                        </m:rPr>
                        <a:rPr lang="en-US" sz="1400">
                          <a:solidFill>
                            <a:srgbClr val="D1578A"/>
                          </a:solidFill>
                        </a:rPr>
                        <m:t>NOISE</m:t>
                      </m:r>
                    </m:oMath>
                  </m:oMathPara>
                </a14:m>
                <a:endParaRPr lang="en-US" sz="1600" b="1" dirty="0">
                  <a:solidFill>
                    <a:srgbClr val="85754D"/>
                  </a:solidFill>
                </a:endParaRPr>
              </a:p>
              <a:p>
                <a:pPr>
                  <a:buNone/>
                </a:pPr>
                <a:endParaRPr lang="en-US" sz="300"/>
              </a:p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Cluster 1 =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sz="1600">
                            <a:solidFill>
                              <a:srgbClr val="333333"/>
                            </a:solidFill>
                          </a:rPr>
                          <m:t>A</m:t>
                        </m:r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en-US" sz="1600">
                            <a:solidFill>
                              <a:srgbClr val="333333"/>
                            </a:solidFill>
                          </a:rPr>
                          <m:t>B</m:t>
                        </m:r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en-US" sz="1600">
                            <a:solidFill>
                              <a:srgbClr val="333333"/>
                            </a:solidFill>
                          </a:rPr>
                          <m:t>C</m:t>
                        </m:r>
                      </m:e>
                    </m:d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; D, E, F are noise (too sparse at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𝜀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).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4632890-C8F6-D140-8B71-48C9B1719F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8900" y="2438400"/>
                <a:ext cx="4699000" cy="2385268"/>
              </a:xfrm>
              <a:prstGeom prst="rect">
                <a:avLst/>
              </a:prstGeom>
              <a:blipFill>
                <a:blip r:embed="rId3"/>
                <a:stretch>
                  <a:fillRect l="-539" t="-1064" b="-26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378957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AB72B-F542-CAD5-F7C3-9990EBCC51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 2: Choosing </a:t>
            </a:r>
            <a:r>
              <a:rPr lang="el-GR"/>
              <a:t>ε (</a:t>
            </a:r>
            <a:r>
              <a:rPr lang="en-US"/>
              <a:t>k-distance)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C955D709-C0CD-054B-A143-629D54E2451F}"/>
              </a:ext>
            </a:extLst>
          </p:cNvPr>
          <p:cNvSpPr/>
          <p:nvPr/>
        </p:nvSpPr>
        <p:spPr>
          <a:xfrm>
            <a:off x="838200" y="1778000"/>
            <a:ext cx="1524000" cy="381000"/>
          </a:xfrm>
          <a:prstGeom prst="roundRect">
            <a:avLst/>
          </a:prstGeom>
          <a:solidFill>
            <a:srgbClr val="85754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Arial"/>
                <a:cs typeface="Arial"/>
              </a:rPr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F069D23-690D-C94A-B2D3-003EBAC18866}"/>
                  </a:ext>
                </a:extLst>
              </p:cNvPr>
              <p:cNvSpPr txBox="1"/>
              <p:nvPr/>
            </p:nvSpPr>
            <p:spPr>
              <a:xfrm>
                <a:off x="838200" y="2311400"/>
                <a:ext cx="4826000" cy="274338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>
                  <a:buNone/>
                </a:pPr>
                <a:r>
                  <a:rPr lang="en-US" sz="1600" b="1" dirty="0">
                    <a:solidFill>
                      <a:srgbClr val="85754D"/>
                    </a:solidFill>
                  </a:rPr>
                  <a:t>Method</a:t>
                </a:r>
              </a:p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Fix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sz="1600">
                        <a:solidFill>
                          <a:srgbClr val="333333"/>
                        </a:solidFill>
                      </a:rPr>
                      <m:t>MinPts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. For each point compute the distance to its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-th nearest neighbour:</a:t>
                </a:r>
              </a:p>
              <a:p>
                <a:pPr>
                  <a:buNone/>
                </a:pPr>
                <a:endParaRPr lang="en-US" sz="30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>
                              <a:solidFill>
                                <a:srgbClr val="85754D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>
                              <a:solidFill>
                                <a:srgbClr val="85754D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1600">
                              <a:solidFill>
                                <a:srgbClr val="85754D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d>
                        <m:dPr>
                          <m:ctrlPr>
                            <a:rPr lang="en-US" sz="1600" i="1">
                              <a:solidFill>
                                <a:srgbClr val="85754D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i="1">
                                  <a:solidFill>
                                    <a:srgbClr val="85754D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>
                                  <a:solidFill>
                                    <a:srgbClr val="85754D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sz="1600">
                                  <a:solidFill>
                                    <a:srgbClr val="85754D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sz="1600">
                          <a:solidFill>
                            <a:srgbClr val="85754D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‖"/>
                          <m:endChr m:val="‖"/>
                          <m:ctrlPr>
                            <a:rPr lang="en-US" sz="1600" i="1">
                              <a:solidFill>
                                <a:srgbClr val="85754D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i="1">
                                  <a:solidFill>
                                    <a:srgbClr val="85754D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>
                                  <a:solidFill>
                                    <a:srgbClr val="85754D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sz="1600">
                                  <a:solidFill>
                                    <a:srgbClr val="85754D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1600">
                              <a:solidFill>
                                <a:srgbClr val="85754D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1600" i="1">
                                  <a:solidFill>
                                    <a:srgbClr val="85754D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>
                                  <a:solidFill>
                                    <a:srgbClr val="85754D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d>
                                <m:dPr>
                                  <m:ctrlPr>
                                    <a:rPr lang="en-US" sz="1600" i="1">
                                      <a:solidFill>
                                        <a:srgbClr val="85754D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>
                                      <a:solidFill>
                                        <a:srgbClr val="85754D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d>
                            </m:sub>
                          </m:sSub>
                        </m:e>
                      </m:d>
                    </m:oMath>
                  </m:oMathPara>
                </a14:m>
                <a:endParaRPr lang="en-US" sz="300"/>
              </a:p>
              <a:p>
                <a:pPr>
                  <a:buNone/>
                </a:pPr>
                <a:endParaRPr lang="en-US" sz="300"/>
              </a:p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Sort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descending and plot. The 'knee' (point of maximum curvature) marks the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that separates dense interiors from sparse tails.</a:t>
                </a:r>
              </a:p>
              <a:p>
                <a:pPr>
                  <a:buNone/>
                </a:pPr>
                <a:endParaRPr lang="en-US" sz="400"/>
              </a:p>
              <a:p>
                <a:pPr>
                  <a:buNone/>
                </a:pPr>
                <a:r>
                  <a:rPr lang="en-US" sz="1600" b="1" dirty="0">
                    <a:solidFill>
                      <a:srgbClr val="85754D"/>
                    </a:solidFill>
                  </a:rPr>
                  <a:t>Read-off</a:t>
                </a:r>
              </a:p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Here the curve bends sharply at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𝜀</m:t>
                    </m:r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≈0.9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— use that as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F069D23-690D-C94A-B2D3-003EBAC188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311400"/>
                <a:ext cx="4826000" cy="2743380"/>
              </a:xfrm>
              <a:prstGeom prst="rect">
                <a:avLst/>
              </a:prstGeom>
              <a:blipFill>
                <a:blip r:embed="rId2"/>
                <a:stretch>
                  <a:fillRect l="-789" t="-461" b="-23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01" name="kdist"/>
          <p:cNvGraphicFramePr/>
          <p:nvPr/>
        </p:nvGraphicFramePr>
        <p:xfrm>
          <a:off x="5740400" y="2159000"/>
          <a:ext cx="5613400" cy="3962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3863266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80F021-7B11-96F3-FAEE-E0563B7940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 3: Non-Convex Shapes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2EA0515-C876-9A4F-91FB-12337D422A22}"/>
              </a:ext>
            </a:extLst>
          </p:cNvPr>
          <p:cNvSpPr/>
          <p:nvPr/>
        </p:nvSpPr>
        <p:spPr>
          <a:xfrm>
            <a:off x="838200" y="1778000"/>
            <a:ext cx="1524000" cy="381000"/>
          </a:xfrm>
          <a:prstGeom prst="roundRect">
            <a:avLst/>
          </a:prstGeom>
          <a:solidFill>
            <a:srgbClr val="85754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Arial"/>
                <a:cs typeface="Arial"/>
              </a:rPr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485873E-6186-134F-A07F-53D59EA78FEA}"/>
                  </a:ext>
                </a:extLst>
              </p:cNvPr>
              <p:cNvSpPr txBox="1"/>
              <p:nvPr/>
            </p:nvSpPr>
            <p:spPr>
              <a:xfrm>
                <a:off x="838200" y="2260600"/>
                <a:ext cx="4724400" cy="2523768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>
                  <a:buNone/>
                </a:pPr>
                <a:r>
                  <a:rPr lang="en-US" sz="1600" b="1" dirty="0">
                    <a:solidFill>
                      <a:srgbClr val="85754D"/>
                    </a:solidFill>
                  </a:rPr>
                  <a:t>Setup</a:t>
                </a:r>
              </a:p>
              <a:p>
                <a:pPr>
                  <a:buNone/>
                </a:pPr>
                <a:r>
                  <a:rPr lang="en-US" sz="1500" dirty="0">
                    <a:solidFill>
                      <a:srgbClr val="333333"/>
                    </a:solidFill>
                  </a:rPr>
                  <a:t>Two concentric rings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5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1500" dirty="0">
                    <a:solidFill>
                      <a:srgbClr val="333333"/>
                    </a:solidFill>
                  </a:rPr>
                  <a:t> — an inner disk surrounded by an outer annulus, same centre.</a:t>
                </a:r>
              </a:p>
              <a:p>
                <a:pPr>
                  <a:buNone/>
                </a:pPr>
                <a:endParaRPr lang="en-US" sz="300"/>
              </a:p>
              <a:p>
                <a:pPr>
                  <a:buNone/>
                </a:pPr>
                <a:r>
                  <a:rPr lang="en-US" sz="1600" b="1" dirty="0">
                    <a:solidFill>
                      <a:srgbClr val="85754D"/>
                    </a:solidFill>
                  </a:rPr>
                  <a:t>Why k-means fails</a:t>
                </a:r>
              </a:p>
              <a:p>
                <a:pPr marL="228600" indent="-228600">
                  <a:buFont typeface="Arial"/>
                  <a:buChar char="•"/>
                </a:pPr>
                <a:r>
                  <a:rPr lang="en-US" sz="1500" dirty="0">
                    <a:solidFill>
                      <a:srgbClr val="333333"/>
                    </a:solidFill>
                  </a:rPr>
                  <a:t>Minimises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500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sz="15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5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en-US" sz="15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1500" i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5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𝝁</m:t>
                                </m:r>
                              </m:e>
                              <m:sub>
                                <m:r>
                                  <a:rPr lang="en-US" sz="15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1500" dirty="0">
                    <a:solidFill>
                      <a:srgbClr val="333333"/>
                    </a:solidFill>
                  </a:rPr>
                  <a:t> ⇒ convex (Voronoi) cells.</a:t>
                </a:r>
              </a:p>
              <a:p>
                <a:pPr marL="228600" indent="-228600">
                  <a:buFont typeface="Arial"/>
                  <a:buChar char="•"/>
                </a:pPr>
                <a:r>
                  <a:rPr lang="en-US" sz="1500" dirty="0">
                    <a:solidFill>
                      <a:srgbClr val="333333"/>
                    </a:solidFill>
                  </a:rPr>
                  <a:t>No hyperplane separates nested rings — it splits them by angle.</a:t>
                </a:r>
              </a:p>
              <a:p>
                <a:pPr>
                  <a:buNone/>
                </a:pPr>
                <a:endParaRPr lang="en-US" sz="200"/>
              </a:p>
              <a:p>
                <a:pPr>
                  <a:buNone/>
                </a:pPr>
                <a:r>
                  <a:rPr lang="en-US" sz="1600" b="1" dirty="0">
                    <a:solidFill>
                      <a:srgbClr val="85754D"/>
                    </a:solidFill>
                  </a:rPr>
                  <a:t>Why DBSCAN works</a:t>
                </a:r>
              </a:p>
              <a:p>
                <a:pPr marL="228600" indent="-228600">
                  <a:buFont typeface="Arial"/>
                  <a:buChar char="•"/>
                </a:pPr>
                <a:r>
                  <a:rPr lang="en-US" sz="1500" dirty="0">
                    <a:solidFill>
                      <a:srgbClr val="333333"/>
                    </a:solidFill>
                  </a:rPr>
                  <a:t>Each ring is density-connected within itself.</a:t>
                </a:r>
              </a:p>
              <a:p>
                <a:pPr marL="228600" indent="-228600">
                  <a:buFont typeface="Arial"/>
                  <a:buChar char="•"/>
                </a:pPr>
                <a:r>
                  <a:rPr lang="en-US" sz="1500" dirty="0">
                    <a:solidFill>
                      <a:srgbClr val="333333"/>
                    </a:solidFill>
                  </a:rPr>
                  <a:t>Gaps between rings exceed </a:t>
                </a:r>
                <a14:m>
                  <m:oMath xmlns:m="http://schemas.openxmlformats.org/officeDocument/2006/math">
                    <m:r>
                      <a:rPr lang="en-US" sz="150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sz="1500" dirty="0">
                    <a:solidFill>
                      <a:srgbClr val="333333"/>
                    </a:solidFill>
                  </a:rPr>
                  <a:t> ⇒ distinct clusters.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485873E-6186-134F-A07F-53D59EA78F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260600"/>
                <a:ext cx="4724400" cy="2523768"/>
              </a:xfrm>
              <a:prstGeom prst="rect">
                <a:avLst/>
              </a:prstGeom>
              <a:blipFill>
                <a:blip r:embed="rId2"/>
                <a:stretch>
                  <a:fillRect l="-804" t="-1005" b="-20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625969C-4619-5F48-849F-E05B2A6AD6E6}"/>
                  </a:ext>
                </a:extLst>
              </p:cNvPr>
              <p:cNvSpPr txBox="1"/>
              <p:nvPr/>
            </p:nvSpPr>
            <p:spPr>
              <a:xfrm>
                <a:off x="5740400" y="2260600"/>
                <a:ext cx="2667000" cy="292388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algn="l"/>
                <a:r>
                  <a:rPr lang="en-US" sz="1300" b="1" dirty="0">
                    <a:solidFill>
                      <a:srgbClr val="D1578A"/>
                    </a:solidFill>
                  </a:rPr>
                  <a:t>k-means (</a:t>
                </a:r>
                <a14:m>
                  <m:oMath xmlns:m="http://schemas.openxmlformats.org/officeDocument/2006/math">
                    <m:r>
                      <a:rPr lang="en-US" sz="1300">
                        <a:solidFill>
                          <a:srgbClr val="D1578A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1300">
                        <a:solidFill>
                          <a:srgbClr val="D1578A"/>
                        </a:solidFill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 sz="1300" b="1" dirty="0">
                    <a:solidFill>
                      <a:srgbClr val="D1578A"/>
                    </a:solidFill>
                  </a:rPr>
                  <a:t>)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625969C-4619-5F48-849F-E05B2A6AD6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0400" y="2260600"/>
                <a:ext cx="2667000" cy="292388"/>
              </a:xfrm>
              <a:prstGeom prst="rect">
                <a:avLst/>
              </a:prstGeom>
              <a:blipFill>
                <a:blip r:embed="rId3"/>
                <a:stretch>
                  <a:fillRect l="-476" t="-4167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B631276C-74E7-A949-81F2-BA9AEB23F5E5}"/>
              </a:ext>
            </a:extLst>
          </p:cNvPr>
          <p:cNvSpPr txBox="1"/>
          <p:nvPr/>
        </p:nvSpPr>
        <p:spPr>
          <a:xfrm>
            <a:off x="8686800" y="2260600"/>
            <a:ext cx="2667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 b="1">
                <a:solidFill>
                  <a:srgbClr val="7AB648"/>
                </a:solidFill>
              </a:rPr>
              <a:t>DBSCAN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1D2A75B8-6CD4-E645-871F-03294EB8028A}"/>
              </a:ext>
            </a:extLst>
          </p:cNvPr>
          <p:cNvSpPr/>
          <p:nvPr/>
        </p:nvSpPr>
        <p:spPr>
          <a:xfrm>
            <a:off x="5740400" y="2540000"/>
            <a:ext cx="2667000" cy="2667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B7A57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CBB38768-9A54-4240-8960-70E34CD8ED2A}"/>
              </a:ext>
            </a:extLst>
          </p:cNvPr>
          <p:cNvSpPr/>
          <p:nvPr/>
        </p:nvSpPr>
        <p:spPr>
          <a:xfrm>
            <a:off x="8686800" y="2540000"/>
            <a:ext cx="2667000" cy="2667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B7A57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C60EEEF-560D-254F-8C8E-EFEE5A76AF17}"/>
              </a:ext>
            </a:extLst>
          </p:cNvPr>
          <p:cNvSpPr/>
          <p:nvPr/>
        </p:nvSpPr>
        <p:spPr>
          <a:xfrm>
            <a:off x="8013700" y="3822700"/>
            <a:ext cx="101600" cy="101600"/>
          </a:xfrm>
          <a:prstGeom prst="ellipse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490108F-5701-7349-A43A-DDB908B38972}"/>
              </a:ext>
            </a:extLst>
          </p:cNvPr>
          <p:cNvSpPr/>
          <p:nvPr/>
        </p:nvSpPr>
        <p:spPr>
          <a:xfrm>
            <a:off x="7938295" y="4201786"/>
            <a:ext cx="101600" cy="101600"/>
          </a:xfrm>
          <a:prstGeom prst="ellipse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B8EA24CF-32DF-AF44-9946-43BDCC197723}"/>
              </a:ext>
            </a:extLst>
          </p:cNvPr>
          <p:cNvSpPr/>
          <p:nvPr/>
        </p:nvSpPr>
        <p:spPr>
          <a:xfrm>
            <a:off x="7723559" y="4523159"/>
            <a:ext cx="101600" cy="101600"/>
          </a:xfrm>
          <a:prstGeom prst="ellipse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FD04783-238A-2645-86DD-F7966923EA35}"/>
              </a:ext>
            </a:extLst>
          </p:cNvPr>
          <p:cNvSpPr/>
          <p:nvPr/>
        </p:nvSpPr>
        <p:spPr>
          <a:xfrm>
            <a:off x="7402186" y="4737895"/>
            <a:ext cx="101600" cy="101600"/>
          </a:xfrm>
          <a:prstGeom prst="ellipse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7790FC2D-B56E-BF48-A74E-461C54877E80}"/>
              </a:ext>
            </a:extLst>
          </p:cNvPr>
          <p:cNvSpPr/>
          <p:nvPr/>
        </p:nvSpPr>
        <p:spPr>
          <a:xfrm>
            <a:off x="7023100" y="4813300"/>
            <a:ext cx="101600" cy="101600"/>
          </a:xfrm>
          <a:prstGeom prst="ellipse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A0AFCA3-FB49-8A41-A8D0-673DCB9962A0}"/>
              </a:ext>
            </a:extLst>
          </p:cNvPr>
          <p:cNvSpPr/>
          <p:nvPr/>
        </p:nvSpPr>
        <p:spPr>
          <a:xfrm>
            <a:off x="6644013" y="4737895"/>
            <a:ext cx="101600" cy="101600"/>
          </a:xfrm>
          <a:prstGeom prst="ellipse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CF2ED7A-5486-A94B-820B-1E82B8056808}"/>
              </a:ext>
            </a:extLst>
          </p:cNvPr>
          <p:cNvSpPr/>
          <p:nvPr/>
        </p:nvSpPr>
        <p:spPr>
          <a:xfrm>
            <a:off x="6322640" y="4523159"/>
            <a:ext cx="101600" cy="101600"/>
          </a:xfrm>
          <a:prstGeom prst="ellipse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9B16490F-45B2-6F41-8D9D-628B6064B501}"/>
              </a:ext>
            </a:extLst>
          </p:cNvPr>
          <p:cNvSpPr/>
          <p:nvPr/>
        </p:nvSpPr>
        <p:spPr>
          <a:xfrm>
            <a:off x="6107904" y="4201786"/>
            <a:ext cx="101600" cy="101600"/>
          </a:xfrm>
          <a:prstGeom prst="ellipse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299AF56-E9B1-434E-B8EC-E71E46007114}"/>
              </a:ext>
            </a:extLst>
          </p:cNvPr>
          <p:cNvSpPr/>
          <p:nvPr/>
        </p:nvSpPr>
        <p:spPr>
          <a:xfrm>
            <a:off x="6032500" y="3822700"/>
            <a:ext cx="101600" cy="101600"/>
          </a:xfrm>
          <a:prstGeom prst="ellipse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3B529003-C97C-0F4B-807B-77A72DFD12C2}"/>
              </a:ext>
            </a:extLst>
          </p:cNvPr>
          <p:cNvSpPr/>
          <p:nvPr/>
        </p:nvSpPr>
        <p:spPr>
          <a:xfrm>
            <a:off x="6107904" y="3443613"/>
            <a:ext cx="101600" cy="101600"/>
          </a:xfrm>
          <a:prstGeom prst="ellipse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BE487733-D987-D94F-A31D-AD6BB72014EC}"/>
              </a:ext>
            </a:extLst>
          </p:cNvPr>
          <p:cNvSpPr/>
          <p:nvPr/>
        </p:nvSpPr>
        <p:spPr>
          <a:xfrm>
            <a:off x="6322640" y="3122240"/>
            <a:ext cx="101600" cy="101600"/>
          </a:xfrm>
          <a:prstGeom prst="ellipse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D84E480-4572-6242-9E02-C2380AB1659B}"/>
              </a:ext>
            </a:extLst>
          </p:cNvPr>
          <p:cNvSpPr/>
          <p:nvPr/>
        </p:nvSpPr>
        <p:spPr>
          <a:xfrm>
            <a:off x="6644013" y="2907504"/>
            <a:ext cx="101600" cy="101600"/>
          </a:xfrm>
          <a:prstGeom prst="ellipse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6E06B771-FB12-7048-A4E0-72CABD462572}"/>
              </a:ext>
            </a:extLst>
          </p:cNvPr>
          <p:cNvSpPr/>
          <p:nvPr/>
        </p:nvSpPr>
        <p:spPr>
          <a:xfrm>
            <a:off x="7023100" y="2832100"/>
            <a:ext cx="101600" cy="101600"/>
          </a:xfrm>
          <a:prstGeom prst="ellipse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A906C5E3-E89D-2142-9CED-0DE33FA99863}"/>
              </a:ext>
            </a:extLst>
          </p:cNvPr>
          <p:cNvSpPr/>
          <p:nvPr/>
        </p:nvSpPr>
        <p:spPr>
          <a:xfrm>
            <a:off x="7402186" y="2907504"/>
            <a:ext cx="101600" cy="101600"/>
          </a:xfrm>
          <a:prstGeom prst="ellipse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6E5A9869-7290-3F49-A651-6DED5E23D5D3}"/>
              </a:ext>
            </a:extLst>
          </p:cNvPr>
          <p:cNvSpPr/>
          <p:nvPr/>
        </p:nvSpPr>
        <p:spPr>
          <a:xfrm>
            <a:off x="7723559" y="3122240"/>
            <a:ext cx="101600" cy="101600"/>
          </a:xfrm>
          <a:prstGeom prst="ellipse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B8F17B0C-7AE1-B34C-B3D0-3BA8DCFB58F8}"/>
              </a:ext>
            </a:extLst>
          </p:cNvPr>
          <p:cNvSpPr/>
          <p:nvPr/>
        </p:nvSpPr>
        <p:spPr>
          <a:xfrm>
            <a:off x="7938295" y="3443613"/>
            <a:ext cx="101600" cy="101600"/>
          </a:xfrm>
          <a:prstGeom prst="ellipse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96AE897F-C19E-434F-9278-DF757E7CD71F}"/>
              </a:ext>
            </a:extLst>
          </p:cNvPr>
          <p:cNvSpPr/>
          <p:nvPr/>
        </p:nvSpPr>
        <p:spPr>
          <a:xfrm>
            <a:off x="7454900" y="3822700"/>
            <a:ext cx="101600" cy="101600"/>
          </a:xfrm>
          <a:prstGeom prst="ellipse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8E72C046-96F7-4F45-B627-4656F7A7291E}"/>
              </a:ext>
            </a:extLst>
          </p:cNvPr>
          <p:cNvSpPr/>
          <p:nvPr/>
        </p:nvSpPr>
        <p:spPr>
          <a:xfrm>
            <a:off x="7353877" y="4100255"/>
            <a:ext cx="101600" cy="101600"/>
          </a:xfrm>
          <a:prstGeom prst="ellipse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CA4DF8D9-3F68-DE48-9C32-013CC7A5E973}"/>
              </a:ext>
            </a:extLst>
          </p:cNvPr>
          <p:cNvSpPr/>
          <p:nvPr/>
        </p:nvSpPr>
        <p:spPr>
          <a:xfrm>
            <a:off x="7098081" y="4247939"/>
            <a:ext cx="101600" cy="101600"/>
          </a:xfrm>
          <a:prstGeom prst="ellipse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92A79B6F-59F4-CC49-B591-93B2F69F898F}"/>
              </a:ext>
            </a:extLst>
          </p:cNvPr>
          <p:cNvSpPr/>
          <p:nvPr/>
        </p:nvSpPr>
        <p:spPr>
          <a:xfrm>
            <a:off x="6807200" y="4196649"/>
            <a:ext cx="101600" cy="101600"/>
          </a:xfrm>
          <a:prstGeom prst="ellipse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32F2B3F1-2220-764B-A6E9-D95B113F62A7}"/>
              </a:ext>
            </a:extLst>
          </p:cNvPr>
          <p:cNvSpPr/>
          <p:nvPr/>
        </p:nvSpPr>
        <p:spPr>
          <a:xfrm>
            <a:off x="6617340" y="3970384"/>
            <a:ext cx="101600" cy="101600"/>
          </a:xfrm>
          <a:prstGeom prst="ellipse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0C346DE9-4228-4E4A-83CE-154D76B02A64}"/>
              </a:ext>
            </a:extLst>
          </p:cNvPr>
          <p:cNvSpPr/>
          <p:nvPr/>
        </p:nvSpPr>
        <p:spPr>
          <a:xfrm>
            <a:off x="6617340" y="3675015"/>
            <a:ext cx="101600" cy="101600"/>
          </a:xfrm>
          <a:prstGeom prst="ellipse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F83F5476-7217-074D-B569-0AB530129B4A}"/>
              </a:ext>
            </a:extLst>
          </p:cNvPr>
          <p:cNvSpPr/>
          <p:nvPr/>
        </p:nvSpPr>
        <p:spPr>
          <a:xfrm>
            <a:off x="6807200" y="3448750"/>
            <a:ext cx="101600" cy="101600"/>
          </a:xfrm>
          <a:prstGeom prst="ellipse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8391D264-157B-E941-9066-87F64A2F7379}"/>
              </a:ext>
            </a:extLst>
          </p:cNvPr>
          <p:cNvSpPr/>
          <p:nvPr/>
        </p:nvSpPr>
        <p:spPr>
          <a:xfrm>
            <a:off x="7098081" y="3397460"/>
            <a:ext cx="101600" cy="101600"/>
          </a:xfrm>
          <a:prstGeom prst="ellipse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1FAED42A-9314-A248-A042-455CE2F0C4C0}"/>
              </a:ext>
            </a:extLst>
          </p:cNvPr>
          <p:cNvSpPr/>
          <p:nvPr/>
        </p:nvSpPr>
        <p:spPr>
          <a:xfrm>
            <a:off x="7353877" y="3545144"/>
            <a:ext cx="101600" cy="101600"/>
          </a:xfrm>
          <a:prstGeom prst="ellipse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2D4128B2-E9A0-1348-81C1-96F9ABED40CB}"/>
              </a:ext>
            </a:extLst>
          </p:cNvPr>
          <p:cNvSpPr/>
          <p:nvPr/>
        </p:nvSpPr>
        <p:spPr>
          <a:xfrm>
            <a:off x="10960100" y="3822700"/>
            <a:ext cx="101600" cy="101600"/>
          </a:xfrm>
          <a:prstGeom prst="ellipse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19EBA865-261F-8D43-9294-DB1C26E03DE6}"/>
              </a:ext>
            </a:extLst>
          </p:cNvPr>
          <p:cNvSpPr/>
          <p:nvPr/>
        </p:nvSpPr>
        <p:spPr>
          <a:xfrm>
            <a:off x="10884695" y="4201786"/>
            <a:ext cx="101600" cy="101600"/>
          </a:xfrm>
          <a:prstGeom prst="ellipse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B9E4A4DA-95F0-494C-8B19-1606D6FFE902}"/>
              </a:ext>
            </a:extLst>
          </p:cNvPr>
          <p:cNvSpPr/>
          <p:nvPr/>
        </p:nvSpPr>
        <p:spPr>
          <a:xfrm>
            <a:off x="10669959" y="4523159"/>
            <a:ext cx="101600" cy="101600"/>
          </a:xfrm>
          <a:prstGeom prst="ellipse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B407B92E-0964-554F-8FB8-F81F6E7FF3D8}"/>
              </a:ext>
            </a:extLst>
          </p:cNvPr>
          <p:cNvSpPr/>
          <p:nvPr/>
        </p:nvSpPr>
        <p:spPr>
          <a:xfrm>
            <a:off x="10348586" y="4737895"/>
            <a:ext cx="101600" cy="101600"/>
          </a:xfrm>
          <a:prstGeom prst="ellipse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A2A4A796-5829-6146-B45B-77696972142A}"/>
              </a:ext>
            </a:extLst>
          </p:cNvPr>
          <p:cNvSpPr/>
          <p:nvPr/>
        </p:nvSpPr>
        <p:spPr>
          <a:xfrm>
            <a:off x="9969500" y="4813300"/>
            <a:ext cx="101600" cy="101600"/>
          </a:xfrm>
          <a:prstGeom prst="ellipse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AFFD7EC5-AF6C-344E-8459-5A6B9DA5B4C4}"/>
              </a:ext>
            </a:extLst>
          </p:cNvPr>
          <p:cNvSpPr/>
          <p:nvPr/>
        </p:nvSpPr>
        <p:spPr>
          <a:xfrm>
            <a:off x="9590413" y="4737895"/>
            <a:ext cx="101600" cy="101600"/>
          </a:xfrm>
          <a:prstGeom prst="ellipse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5B5F9790-5DAC-E54A-928A-9A6D4206731B}"/>
              </a:ext>
            </a:extLst>
          </p:cNvPr>
          <p:cNvSpPr/>
          <p:nvPr/>
        </p:nvSpPr>
        <p:spPr>
          <a:xfrm>
            <a:off x="9269040" y="4523159"/>
            <a:ext cx="101600" cy="101600"/>
          </a:xfrm>
          <a:prstGeom prst="ellipse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6D522625-7E99-F84A-B549-5C4858165E62}"/>
              </a:ext>
            </a:extLst>
          </p:cNvPr>
          <p:cNvSpPr/>
          <p:nvPr/>
        </p:nvSpPr>
        <p:spPr>
          <a:xfrm>
            <a:off x="9054304" y="4201786"/>
            <a:ext cx="101600" cy="101600"/>
          </a:xfrm>
          <a:prstGeom prst="ellipse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CD6ED72C-9815-2C4C-B4DB-2353D4DB1BB8}"/>
              </a:ext>
            </a:extLst>
          </p:cNvPr>
          <p:cNvSpPr/>
          <p:nvPr/>
        </p:nvSpPr>
        <p:spPr>
          <a:xfrm>
            <a:off x="8978900" y="3822700"/>
            <a:ext cx="101600" cy="101600"/>
          </a:xfrm>
          <a:prstGeom prst="ellipse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F5B117CA-420E-1843-895C-5733E2449E8A}"/>
              </a:ext>
            </a:extLst>
          </p:cNvPr>
          <p:cNvSpPr/>
          <p:nvPr/>
        </p:nvSpPr>
        <p:spPr>
          <a:xfrm>
            <a:off x="9054304" y="3443613"/>
            <a:ext cx="101600" cy="101600"/>
          </a:xfrm>
          <a:prstGeom prst="ellipse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283CE3A5-064D-2B48-A688-D71F5E829F09}"/>
              </a:ext>
            </a:extLst>
          </p:cNvPr>
          <p:cNvSpPr/>
          <p:nvPr/>
        </p:nvSpPr>
        <p:spPr>
          <a:xfrm>
            <a:off x="9269040" y="3122240"/>
            <a:ext cx="101600" cy="101600"/>
          </a:xfrm>
          <a:prstGeom prst="ellipse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F3F9B5DD-B0F2-7E4D-8A52-3140C27F6CA5}"/>
              </a:ext>
            </a:extLst>
          </p:cNvPr>
          <p:cNvSpPr/>
          <p:nvPr/>
        </p:nvSpPr>
        <p:spPr>
          <a:xfrm>
            <a:off x="9590413" y="2907504"/>
            <a:ext cx="101600" cy="101600"/>
          </a:xfrm>
          <a:prstGeom prst="ellipse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223EEFA0-7A4F-F34E-BFFB-E6EC4D3CF6B1}"/>
              </a:ext>
            </a:extLst>
          </p:cNvPr>
          <p:cNvSpPr/>
          <p:nvPr/>
        </p:nvSpPr>
        <p:spPr>
          <a:xfrm>
            <a:off x="9969500" y="2832100"/>
            <a:ext cx="101600" cy="101600"/>
          </a:xfrm>
          <a:prstGeom prst="ellipse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8A9CCD22-90E7-824F-8A89-D699AF05A736}"/>
              </a:ext>
            </a:extLst>
          </p:cNvPr>
          <p:cNvSpPr/>
          <p:nvPr/>
        </p:nvSpPr>
        <p:spPr>
          <a:xfrm>
            <a:off x="10348586" y="2907504"/>
            <a:ext cx="101600" cy="101600"/>
          </a:xfrm>
          <a:prstGeom prst="ellipse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A0BE212B-33D8-F644-84C2-08D9E71274A4}"/>
              </a:ext>
            </a:extLst>
          </p:cNvPr>
          <p:cNvSpPr/>
          <p:nvPr/>
        </p:nvSpPr>
        <p:spPr>
          <a:xfrm>
            <a:off x="10669959" y="3122240"/>
            <a:ext cx="101600" cy="101600"/>
          </a:xfrm>
          <a:prstGeom prst="ellipse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1FCAFF96-52E0-2044-B555-AF633F13DCE9}"/>
              </a:ext>
            </a:extLst>
          </p:cNvPr>
          <p:cNvSpPr/>
          <p:nvPr/>
        </p:nvSpPr>
        <p:spPr>
          <a:xfrm>
            <a:off x="10884695" y="3443613"/>
            <a:ext cx="101600" cy="101600"/>
          </a:xfrm>
          <a:prstGeom prst="ellipse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8386E3C3-0942-574B-96A7-C71A264429D6}"/>
              </a:ext>
            </a:extLst>
          </p:cNvPr>
          <p:cNvSpPr/>
          <p:nvPr/>
        </p:nvSpPr>
        <p:spPr>
          <a:xfrm>
            <a:off x="10401300" y="3822700"/>
            <a:ext cx="101600" cy="101600"/>
          </a:xfrm>
          <a:prstGeom prst="ellipse">
            <a:avLst/>
          </a:prstGeom>
          <a:solidFill>
            <a:srgbClr val="85754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150B9EE5-D817-264B-A0DB-AF9622085DAF}"/>
              </a:ext>
            </a:extLst>
          </p:cNvPr>
          <p:cNvSpPr/>
          <p:nvPr/>
        </p:nvSpPr>
        <p:spPr>
          <a:xfrm>
            <a:off x="10300277" y="4100255"/>
            <a:ext cx="101600" cy="101600"/>
          </a:xfrm>
          <a:prstGeom prst="ellipse">
            <a:avLst/>
          </a:prstGeom>
          <a:solidFill>
            <a:srgbClr val="85754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97DC25FF-625B-D449-AAF4-0560DECACB1E}"/>
              </a:ext>
            </a:extLst>
          </p:cNvPr>
          <p:cNvSpPr/>
          <p:nvPr/>
        </p:nvSpPr>
        <p:spPr>
          <a:xfrm>
            <a:off x="10044481" y="4247939"/>
            <a:ext cx="101600" cy="101600"/>
          </a:xfrm>
          <a:prstGeom prst="ellipse">
            <a:avLst/>
          </a:prstGeom>
          <a:solidFill>
            <a:srgbClr val="85754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7B523625-7630-274D-9462-65FA75588ECE}"/>
              </a:ext>
            </a:extLst>
          </p:cNvPr>
          <p:cNvSpPr/>
          <p:nvPr/>
        </p:nvSpPr>
        <p:spPr>
          <a:xfrm>
            <a:off x="9753600" y="4196649"/>
            <a:ext cx="101600" cy="101600"/>
          </a:xfrm>
          <a:prstGeom prst="ellipse">
            <a:avLst/>
          </a:prstGeom>
          <a:solidFill>
            <a:srgbClr val="85754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37E5E546-C544-5445-AE13-565A30073F6E}"/>
              </a:ext>
            </a:extLst>
          </p:cNvPr>
          <p:cNvSpPr/>
          <p:nvPr/>
        </p:nvSpPr>
        <p:spPr>
          <a:xfrm>
            <a:off x="9563740" y="3970384"/>
            <a:ext cx="101600" cy="101600"/>
          </a:xfrm>
          <a:prstGeom prst="ellipse">
            <a:avLst/>
          </a:prstGeom>
          <a:solidFill>
            <a:srgbClr val="85754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C2F88675-3EE8-C543-B39A-EBBE442BC12D}"/>
              </a:ext>
            </a:extLst>
          </p:cNvPr>
          <p:cNvSpPr/>
          <p:nvPr/>
        </p:nvSpPr>
        <p:spPr>
          <a:xfrm>
            <a:off x="9563740" y="3675015"/>
            <a:ext cx="101600" cy="101600"/>
          </a:xfrm>
          <a:prstGeom prst="ellipse">
            <a:avLst/>
          </a:prstGeom>
          <a:solidFill>
            <a:srgbClr val="85754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CE1928BC-01E6-1144-A9AD-1DAAA41B80A0}"/>
              </a:ext>
            </a:extLst>
          </p:cNvPr>
          <p:cNvSpPr/>
          <p:nvPr/>
        </p:nvSpPr>
        <p:spPr>
          <a:xfrm>
            <a:off x="9753600" y="3448750"/>
            <a:ext cx="101600" cy="101600"/>
          </a:xfrm>
          <a:prstGeom prst="ellipse">
            <a:avLst/>
          </a:prstGeom>
          <a:solidFill>
            <a:srgbClr val="85754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E8B3B5AE-30BD-BE47-B1C6-11A90BE5B886}"/>
              </a:ext>
            </a:extLst>
          </p:cNvPr>
          <p:cNvSpPr/>
          <p:nvPr/>
        </p:nvSpPr>
        <p:spPr>
          <a:xfrm>
            <a:off x="10044481" y="3397460"/>
            <a:ext cx="101600" cy="101600"/>
          </a:xfrm>
          <a:prstGeom prst="ellipse">
            <a:avLst/>
          </a:prstGeom>
          <a:solidFill>
            <a:srgbClr val="85754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A3DAA09F-E150-6940-8AB9-8558E7EFDC7D}"/>
              </a:ext>
            </a:extLst>
          </p:cNvPr>
          <p:cNvSpPr/>
          <p:nvPr/>
        </p:nvSpPr>
        <p:spPr>
          <a:xfrm>
            <a:off x="10300277" y="3545144"/>
            <a:ext cx="101600" cy="101600"/>
          </a:xfrm>
          <a:prstGeom prst="ellipse">
            <a:avLst/>
          </a:prstGeom>
          <a:solidFill>
            <a:srgbClr val="85754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C7A01E92-B747-2C46-9E42-56F061F29B9D}"/>
                  </a:ext>
                </a:extLst>
              </p:cNvPr>
              <p:cNvSpPr txBox="1"/>
              <p:nvPr/>
            </p:nvSpPr>
            <p:spPr>
              <a:xfrm>
                <a:off x="5740400" y="5308600"/>
                <a:ext cx="5613400" cy="553998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algn="l"/>
                <a:r>
                  <a:rPr lang="en-US" sz="1500" i="1" dirty="0">
                    <a:solidFill>
                      <a:srgbClr val="595959"/>
                    </a:solidFill>
                  </a:rPr>
                  <a:t>k-means cuts by a linear boundary (</a:t>
                </a: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en-US" sz="1500" i="1">
                            <a:solidFill>
                              <a:srgbClr val="595959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500">
                            <a:solidFill>
                              <a:srgbClr val="595959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sz="1500">
                            <a:solidFill>
                              <a:srgbClr val="595959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500">
                            <a:solidFill>
                              <a:srgbClr val="595959"/>
                            </a:solidFill>
                            <a:latin typeface="Cambria Math" panose="02040503050406030204" pitchFamily="18" charset="0"/>
                          </a:rPr>
                          <m:t>𝝁</m:t>
                        </m:r>
                      </m:e>
                    </m:d>
                  </m:oMath>
                </a14:m>
                <a:r>
                  <a:rPr lang="en-US" sz="1500" i="1" dirty="0">
                    <a:solidFill>
                      <a:srgbClr val="595959"/>
                    </a:solidFill>
                  </a:rPr>
                  <a:t>); DBSCAN follows density, recovering each ring.</a:t>
                </a:r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C7A01E92-B747-2C46-9E42-56F061F29B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0400" y="5308600"/>
                <a:ext cx="5613400" cy="553998"/>
              </a:xfrm>
              <a:prstGeom prst="rect">
                <a:avLst/>
              </a:prstGeom>
              <a:blipFill>
                <a:blip r:embed="rId4"/>
                <a:stretch>
                  <a:fillRect l="-677" t="-4545" r="-1129" b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724176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C9AF18-4916-1927-636B-6256CA6B2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DBSCAN — Exercises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431C88A-F61B-A842-BCE0-358CDDF9D380}"/>
              </a:ext>
            </a:extLst>
          </p:cNvPr>
          <p:cNvSpPr/>
          <p:nvPr/>
        </p:nvSpPr>
        <p:spPr>
          <a:xfrm>
            <a:off x="838200" y="2311400"/>
            <a:ext cx="558800" cy="558800"/>
          </a:xfrm>
          <a:prstGeom prst="ellipse">
            <a:avLst/>
          </a:prstGeom>
          <a:solidFill>
            <a:srgbClr val="85754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FFFFFF"/>
                </a:solidFill>
                <a:latin typeface="Arial"/>
                <a:cs typeface="Arial"/>
              </a:rPr>
              <a:t>E1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BA7F6DC-1EBE-2E4A-8B22-CD705DB3B865}"/>
              </a:ext>
            </a:extLst>
          </p:cNvPr>
          <p:cNvSpPr/>
          <p:nvPr/>
        </p:nvSpPr>
        <p:spPr>
          <a:xfrm>
            <a:off x="1625600" y="1905000"/>
            <a:ext cx="9728200" cy="1473200"/>
          </a:xfrm>
          <a:prstGeom prst="roundRect">
            <a:avLst/>
          </a:prstGeom>
          <a:solidFill>
            <a:srgbClr val="F5F0EB"/>
          </a:solidFill>
          <a:ln w="12700" cap="flat" cmpd="sng" algn="ctr">
            <a:solidFill>
              <a:srgbClr val="B7A57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5F3E4C9-F678-F24D-A1CA-87B1BB997F4A}"/>
                  </a:ext>
                </a:extLst>
              </p:cNvPr>
              <p:cNvSpPr txBox="1"/>
              <p:nvPr/>
            </p:nvSpPr>
            <p:spPr>
              <a:xfrm>
                <a:off x="1854200" y="2349212"/>
                <a:ext cx="9296400" cy="584775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spAutoFit/>
              </a:bodyPr>
              <a:lstStyle/>
              <a:p>
                <a:pPr>
                  <a:buNone/>
                </a:pPr>
                <a:r>
                  <a:rPr lang="en-US" sz="1600" b="1" dirty="0">
                    <a:solidFill>
                      <a:srgbClr val="85754D"/>
                    </a:solidFill>
                  </a:rPr>
                  <a:t>E1  </a:t>
                </a:r>
                <a:r>
                  <a:rPr lang="en-US" sz="1600" dirty="0">
                    <a:solidFill>
                      <a:srgbClr val="333333"/>
                    </a:solidFill>
                  </a:rPr>
                  <a:t>Given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𝐗</m:t>
                        </m:r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={</m:t>
                        </m:r>
                        <m:d>
                          <m:dPr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0,0</m:t>
                            </m:r>
                          </m:e>
                        </m:d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1,0</m:t>
                            </m:r>
                          </m:e>
                        </m:d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1,1</m:t>
                            </m:r>
                          </m:e>
                        </m:d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5,5</m:t>
                            </m:r>
                          </m:e>
                        </m:d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}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333333"/>
                        </a:solidFill>
                      </a:rPr>
                      <a:t>X = {(0,0),(0,1),(1,0),(1,1),(5,5)}</a:t>
                    </a:r>
                  </mc:Fallback>
                </mc:AlternateContent>
                <a:r>
                  <a:rPr lang="en-US" sz="1600" dirty="0">
                    <a:solidFill>
                      <a:srgbClr val="333333"/>
                    </a:solidFill>
                  </a:rPr>
                  <a:t> with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=1.5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333333"/>
                        </a:solidFill>
                      </a:rPr>
                      <a:t>ε = 1.5</a:t>
                    </a:r>
                  </mc:Fallback>
                </mc:AlternateContent>
                <a:r>
                  <a:rPr lang="en-US" sz="1600" dirty="0">
                    <a:solidFill>
                      <a:srgbClr val="333333"/>
                    </a:solidFill>
                  </a:rPr>
                  <a:t>,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sz="1600">
                            <a:solidFill>
                              <a:srgbClr val="333333"/>
                            </a:solidFill>
                          </a:rPr>
                          <m:t>MinPts</m:t>
                        </m:r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=3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333333"/>
                        </a:solidFill>
                      </a:rPr>
                      <a:t>MinPts = 3</a:t>
                    </a:r>
                  </mc:Fallback>
                </mc:AlternateContent>
                <a:r>
                  <a:rPr lang="en-US" sz="1600" dirty="0">
                    <a:solidFill>
                      <a:srgbClr val="333333"/>
                    </a:solidFill>
                  </a:rPr>
                  <a:t>, label each point core / border / noise using the </a:t>
                </a:r>
                <mc:AlternateContent>
                  <mc:Choice Requires="a14"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sz="1600">
                                <a:solidFill>
                                  <a:srgbClr val="333333"/>
                                </a:solidFill>
                              </a:rPr>
                              <m:t>L</m:t>
                            </m:r>
                          </m:e>
                          <m:sub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333333"/>
                        </a:solidFill>
                      </a:rPr>
                      <a:t>L₂</a:t>
                    </a:r>
                  </mc:Fallback>
                </mc:AlternateContent>
                <a:r>
                  <a:rPr lang="en-US" sz="1600" dirty="0">
                    <a:solidFill>
                      <a:srgbClr val="333333"/>
                    </a:solidFill>
                  </a:rPr>
                  <a:t> norm.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5F3E4C9-F678-F24D-A1CA-87B1BB997F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4200" y="2349212"/>
                <a:ext cx="9296400" cy="584775"/>
              </a:xfrm>
              <a:prstGeom prst="rect">
                <a:avLst/>
              </a:prstGeom>
              <a:blipFill>
                <a:blip r:embed="rId2"/>
                <a:stretch>
                  <a:fillRect l="-273" t="-2128" b="-127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Oval 7">
            <a:extLst>
              <a:ext uri="{FF2B5EF4-FFF2-40B4-BE49-F238E27FC236}">
                <a16:creationId xmlns:a16="http://schemas.microsoft.com/office/drawing/2014/main" id="{D5C6D8F6-8C98-F041-BD7F-8CCE9EEEB060}"/>
              </a:ext>
            </a:extLst>
          </p:cNvPr>
          <p:cNvSpPr/>
          <p:nvPr/>
        </p:nvSpPr>
        <p:spPr>
          <a:xfrm>
            <a:off x="838200" y="3835400"/>
            <a:ext cx="558800" cy="558800"/>
          </a:xfrm>
          <a:prstGeom prst="ellipse">
            <a:avLst/>
          </a:prstGeom>
          <a:solidFill>
            <a:srgbClr val="85754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FFFFFF"/>
                </a:solidFill>
                <a:latin typeface="Arial"/>
                <a:cs typeface="Arial"/>
              </a:rPr>
              <a:t>E2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7742ADA3-BD1B-2244-B4E1-FC73DE839748}"/>
              </a:ext>
            </a:extLst>
          </p:cNvPr>
          <p:cNvSpPr/>
          <p:nvPr/>
        </p:nvSpPr>
        <p:spPr>
          <a:xfrm>
            <a:off x="1625600" y="3429000"/>
            <a:ext cx="9728200" cy="1473200"/>
          </a:xfrm>
          <a:prstGeom prst="roundRect">
            <a:avLst/>
          </a:prstGeom>
          <a:solidFill>
            <a:srgbClr val="F5F0EB"/>
          </a:solidFill>
          <a:ln w="12700" cap="flat" cmpd="sng" algn="ctr">
            <a:solidFill>
              <a:srgbClr val="B7A57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B85A1FF-78F4-A049-9DF6-93C589E0180D}"/>
                  </a:ext>
                </a:extLst>
              </p:cNvPr>
              <p:cNvSpPr txBox="1"/>
              <p:nvPr/>
            </p:nvSpPr>
            <p:spPr>
              <a:xfrm>
                <a:off x="1854200" y="3873212"/>
                <a:ext cx="9296400" cy="584775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spAutoFit/>
              </a:bodyPr>
              <a:lstStyle/>
              <a:p>
                <a:pPr>
                  <a:buNone/>
                </a:pPr>
                <a:r>
                  <a:rPr lang="en-US" sz="1600" b="1" dirty="0">
                    <a:solidFill>
                      <a:srgbClr val="85754D"/>
                    </a:solidFill>
                  </a:rPr>
                  <a:t>E2  </a:t>
                </a:r>
                <a:r>
                  <a:rPr lang="en-US" sz="1600" dirty="0">
                    <a:solidFill>
                      <a:srgbClr val="333333"/>
                    </a:solidFill>
                  </a:rPr>
                  <a:t>A point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333333"/>
                        </a:solidFill>
                      </a:rPr>
                      <a:t>p</a:t>
                    </a:r>
                  </mc:Fallback>
                </mc:AlternateContent>
                <a:r>
                  <a:rPr lang="en-US" sz="1600" dirty="0">
                    <a:solidFill>
                      <a:srgbClr val="333333"/>
                    </a:solidFill>
                  </a:rPr>
                  <a:t> has </a:t>
                </a:r>
                <mc:AlternateContent>
                  <mc:Choice Requires="a14">
                    <a14:m>
                      <m:oMath xmlns:m="http://schemas.openxmlformats.org/officeDocument/2006/math">
                        <m:d>
                          <m:dPr>
                            <m:begChr m:val="|"/>
                            <m:endChr m:val="|"/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600" i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  <m:sub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𝜀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1600" i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𝒑</m:t>
                                </m:r>
                              </m:e>
                            </m:d>
                          </m:e>
                        </m:d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=2&lt;</m:t>
                        </m:r>
                        <m:r>
                          <m:rPr>
                            <m:nor/>
                          </m:rPr>
                          <a:rPr lang="en-US" sz="1600">
                            <a:solidFill>
                              <a:srgbClr val="333333"/>
                            </a:solidFill>
                          </a:rPr>
                          <m:t>MinPts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333333"/>
                        </a:solidFill>
                      </a:rPr>
                      <a:t>|Nε(p)| = 2 &lt; MinPts</a:t>
                    </a:r>
                  </mc:Fallback>
                </mc:AlternateContent>
                <a:r>
                  <a:rPr lang="en-US" sz="1600" dirty="0">
                    <a:solidFill>
                      <a:srgbClr val="333333"/>
                    </a:solidFill>
                  </a:rPr>
                  <a:t> but lies within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333333"/>
                        </a:solidFill>
                      </a:rPr>
                      <a:t>ε</a:t>
                    </a:r>
                  </mc:Fallback>
                </mc:AlternateContent>
                <a:r>
                  <a:rPr lang="en-US" sz="1600" dirty="0">
                    <a:solidFill>
                      <a:srgbClr val="333333"/>
                    </a:solidFill>
                  </a:rPr>
                  <a:t> of a core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𝒒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333333"/>
                        </a:solidFill>
                      </a:rPr>
                      <a:t>q</a:t>
                    </a:r>
                  </mc:Fallback>
                </mc:AlternateContent>
                <a:r>
                  <a:rPr lang="en-US" sz="1600" dirty="0">
                    <a:solidFill>
                      <a:srgbClr val="333333"/>
                    </a:solidFill>
                  </a:rPr>
                  <a:t>. Prove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333333"/>
                        </a:solidFill>
                      </a:rPr>
                      <a:t>p</a:t>
                    </a:r>
                  </mc:Fallback>
                </mc:AlternateContent>
                <a:r>
                  <a:rPr lang="en-US" sz="1600" dirty="0">
                    <a:solidFill>
                      <a:srgbClr val="333333"/>
                    </a:solidFill>
                  </a:rPr>
                  <a:t> is a border point and assign its cluster. State the reachability definition you use.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B85A1FF-78F4-A049-9DF6-93C589E018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4200" y="3873212"/>
                <a:ext cx="9296400" cy="584775"/>
              </a:xfrm>
              <a:prstGeom prst="rect">
                <a:avLst/>
              </a:prstGeom>
              <a:blipFill>
                <a:blip r:embed="rId3"/>
                <a:stretch>
                  <a:fillRect l="-273" t="-2128" b="-127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Oval 10">
            <a:extLst>
              <a:ext uri="{FF2B5EF4-FFF2-40B4-BE49-F238E27FC236}">
                <a16:creationId xmlns:a16="http://schemas.microsoft.com/office/drawing/2014/main" id="{1C4C163E-26F6-3E4E-89B5-8C1F3BC1E18F}"/>
              </a:ext>
            </a:extLst>
          </p:cNvPr>
          <p:cNvSpPr/>
          <p:nvPr/>
        </p:nvSpPr>
        <p:spPr>
          <a:xfrm>
            <a:off x="838200" y="5359400"/>
            <a:ext cx="558800" cy="558800"/>
          </a:xfrm>
          <a:prstGeom prst="ellipse">
            <a:avLst/>
          </a:prstGeom>
          <a:solidFill>
            <a:srgbClr val="85754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FFFFFF"/>
                </a:solidFill>
                <a:latin typeface="Arial"/>
                <a:cs typeface="Arial"/>
              </a:rPr>
              <a:t>E3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5D0C16F9-B415-7443-844D-FA1BA51886C9}"/>
              </a:ext>
            </a:extLst>
          </p:cNvPr>
          <p:cNvSpPr/>
          <p:nvPr/>
        </p:nvSpPr>
        <p:spPr>
          <a:xfrm>
            <a:off x="1625600" y="4953000"/>
            <a:ext cx="9728200" cy="1473200"/>
          </a:xfrm>
          <a:prstGeom prst="roundRect">
            <a:avLst/>
          </a:prstGeom>
          <a:solidFill>
            <a:srgbClr val="F5F0EB"/>
          </a:solidFill>
          <a:ln w="12700" cap="flat" cmpd="sng" algn="ctr">
            <a:solidFill>
              <a:srgbClr val="B7A57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89F3A78-1A7F-874B-9172-19D962439502}"/>
                  </a:ext>
                </a:extLst>
              </p:cNvPr>
              <p:cNvSpPr txBox="1"/>
              <p:nvPr/>
            </p:nvSpPr>
            <p:spPr>
              <a:xfrm>
                <a:off x="1854200" y="5397212"/>
                <a:ext cx="9296400" cy="584775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spAutoFit/>
              </a:bodyPr>
              <a:lstStyle/>
              <a:p>
                <a:pPr>
                  <a:buNone/>
                </a:pPr>
                <a:r>
                  <a:rPr lang="en-US" sz="1600" b="1" dirty="0">
                    <a:solidFill>
                      <a:srgbClr val="85754D"/>
                    </a:solidFill>
                  </a:rPr>
                  <a:t>E3  </a:t>
                </a:r>
                <a:r>
                  <a:rPr lang="en-US" sz="1600" dirty="0">
                    <a:solidFill>
                      <a:srgbClr val="333333"/>
                    </a:solidFill>
                  </a:rPr>
                  <a:t>Explain, using </a:t>
                </a:r>
                <mc:AlternateContent>
                  <mc:Choice Requires="a14">
                    <a14:m>
                      <m:oMath xmlns:m="http://schemas.openxmlformats.org/officeDocument/2006/math">
                        <m:sSup>
                          <m:sSupPr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‖"/>
                                <m:endChr m:val="‖"/>
                                <m:ctrlPr>
                                  <a:rPr lang="en-US" sz="1600" i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1600" i="1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𝝁</m:t>
                                    </m:r>
                                  </m:e>
                                  <m:sub>
                                    <m:r>
                                      <a:rPr lang="en-US" sz="16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oMath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333333"/>
                        </a:solidFill>
                      </a:rPr>
                      <a:t>‖x − μₖ‖²</a:t>
                    </a:r>
                  </mc:Fallback>
                </mc:AlternateContent>
                <a:r>
                  <a:rPr lang="en-US" sz="1600" dirty="0">
                    <a:solidFill>
                      <a:srgbClr val="333333"/>
                    </a:solidFill>
                  </a:rPr>
                  <a:t> vs density-connectivity, why DBSCAN finds two clusters on concentric rings while k-means (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=2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333333"/>
                        </a:solidFill>
                      </a:rPr>
                      <a:t>k=2</a:t>
                    </a:r>
                  </mc:Fallback>
                </mc:AlternateContent>
                <a:r>
                  <a:rPr lang="en-US" sz="1600" dirty="0">
                    <a:solidFill>
                      <a:srgbClr val="333333"/>
                    </a:solidFill>
                  </a:rPr>
                  <a:t>) cannot. When would DBSCAN itself fail?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89F3A78-1A7F-874B-9172-19D9624395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4200" y="5397212"/>
                <a:ext cx="9296400" cy="584775"/>
              </a:xfrm>
              <a:prstGeom prst="rect">
                <a:avLst/>
              </a:prstGeom>
              <a:blipFill>
                <a:blip r:embed="rId4"/>
                <a:stretch>
                  <a:fillRect l="-273" t="-2128" b="-127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95155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B8EC2D9-33AB-B241-858F-37B870E9572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8F21F97-ADF0-D649-8070-AC1C52F33C32}"/>
              </a:ext>
            </a:extLst>
          </p:cNvPr>
          <p:cNvSpPr/>
          <p:nvPr/>
        </p:nvSpPr>
        <p:spPr>
          <a:xfrm>
            <a:off x="0" y="3810000"/>
            <a:ext cx="3810000" cy="1016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B30ABBE-2C68-F643-993F-07D38A8FE6FB}"/>
              </a:ext>
            </a:extLst>
          </p:cNvPr>
          <p:cNvSpPr txBox="1"/>
          <p:nvPr/>
        </p:nvSpPr>
        <p:spPr>
          <a:xfrm>
            <a:off x="838200" y="1905000"/>
            <a:ext cx="25400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4000" b="1">
                <a:solidFill>
                  <a:srgbClr val="F5F0EB"/>
                </a:solidFill>
                <a:latin typeface="Arial"/>
                <a:cs typeface="Arial"/>
              </a:rPr>
              <a:t>04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CFE230E-C9BB-FA4C-8898-8849206C3D51}"/>
              </a:ext>
            </a:extLst>
          </p:cNvPr>
          <p:cNvSpPr txBox="1"/>
          <p:nvPr/>
        </p:nvSpPr>
        <p:spPr>
          <a:xfrm>
            <a:off x="787400" y="2857500"/>
            <a:ext cx="9652000" cy="1143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5400" b="1">
                <a:solidFill>
                  <a:srgbClr val="FFFFFF"/>
                </a:solidFill>
                <a:latin typeface="Arial"/>
                <a:cs typeface="Arial"/>
              </a:rPr>
              <a:t>t-SNE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1770AFF-3BA2-8040-8A2E-3B10497330F7}"/>
              </a:ext>
            </a:extLst>
          </p:cNvPr>
          <p:cNvSpPr txBox="1"/>
          <p:nvPr/>
        </p:nvSpPr>
        <p:spPr>
          <a:xfrm>
            <a:off x="838200" y="4191000"/>
            <a:ext cx="10160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000">
                <a:solidFill>
                  <a:srgbClr val="FFFFFF"/>
                </a:solidFill>
                <a:latin typeface="Calibri"/>
                <a:cs typeface="Calibri"/>
              </a:rPr>
              <a:t>t-Distributed Stochastic Neighbor Embedding</a:t>
            </a:r>
          </a:p>
        </p:txBody>
      </p:sp>
    </p:spTree>
    <p:extLst>
      <p:ext uri="{BB962C8B-B14F-4D97-AF65-F5344CB8AC3E}">
        <p14:creationId xmlns:p14="http://schemas.microsoft.com/office/powerpoint/2010/main" val="21059629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3C2B35-41CB-9281-682B-F770B4301A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t-SNE: High-D vs Low-D Affinities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229BFC3-1D5E-894D-BF83-3BCC811AC56A}"/>
              </a:ext>
            </a:extLst>
          </p:cNvPr>
          <p:cNvSpPr/>
          <p:nvPr/>
        </p:nvSpPr>
        <p:spPr>
          <a:xfrm>
            <a:off x="838200" y="1905000"/>
            <a:ext cx="5143500" cy="30480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D1578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137D6E3-095C-4E44-AB2B-2542D600F47E}"/>
              </a:ext>
            </a:extLst>
          </p:cNvPr>
          <p:cNvSpPr/>
          <p:nvPr/>
        </p:nvSpPr>
        <p:spPr>
          <a:xfrm>
            <a:off x="838200" y="1905000"/>
            <a:ext cx="5143500" cy="457200"/>
          </a:xfrm>
          <a:prstGeom prst="rect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rial"/>
                <a:cs typeface="Arial"/>
              </a:rPr>
              <a:t>High-dimensional (Gaussian)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7D35C20-0DA9-8B44-8AD8-6B829D226454}"/>
                  </a:ext>
                </a:extLst>
              </p:cNvPr>
              <p:cNvSpPr txBox="1"/>
              <p:nvPr/>
            </p:nvSpPr>
            <p:spPr>
              <a:xfrm>
                <a:off x="1016000" y="2489200"/>
                <a:ext cx="4787900" cy="191437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>
                  <a:buNone/>
                </a:pPr>
                <a:r>
                  <a:rPr lang="en-US" sz="1500" dirty="0">
                    <a:solidFill>
                      <a:srgbClr val="333333"/>
                    </a:solidFill>
                  </a:rPr>
                  <a:t>Conditional similarity of </a:t>
                </a:r>
                <mc:AlternateContent>
                  <mc:Choice Requires="a14"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15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5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15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oMath>
                    </a14:m>
                  </mc:Choice>
                  <mc:Fallback xmlns:m="http://schemas.openxmlformats.org/officeDocument/2006/math" xmlns="">
                    <a:r>
                      <a:rPr lang="en-US" sz="1500">
                        <a:solidFill>
                          <a:srgbClr val="333333"/>
                        </a:solidFill>
                      </a:rPr>
                      <a:t>xⱼ</a:t>
                    </a:r>
                  </mc:Fallback>
                </mc:AlternateContent>
                <a:r>
                  <a:rPr lang="en-US" sz="1500" dirty="0">
                    <a:solidFill>
                      <a:srgbClr val="333333"/>
                    </a:solidFill>
                  </a:rPr>
                  <a:t> to </a:t>
                </a:r>
                <mc:AlternateContent>
                  <mc:Choice Requires="a14"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15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5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15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a14:m>
                  </mc:Choice>
                  <mc:Fallback xmlns:m="http://schemas.openxmlformats.org/officeDocument/2006/math" xmlns="">
                    <a:r>
                      <a:rPr lang="en-US" sz="1500">
                        <a:solidFill>
                          <a:srgbClr val="333333"/>
                        </a:solidFill>
                      </a:rPr>
                      <a:t>xᵢ</a:t>
                    </a:r>
                  </mc:Fallback>
                </mc:AlternateContent>
                <a:r>
                  <a:rPr lang="en-US" sz="1500" dirty="0">
                    <a:solidFill>
                      <a:srgbClr val="333333"/>
                    </a:solidFill>
                  </a:rPr>
                  <a:t>:</a:t>
                </a:r>
              </a:p>
              <a:p>
                <a:pPr algn="ctr">
                  <a:buNone/>
                </a:pPr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7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17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7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17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sz="17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  <m:r>
                            <a:rPr lang="en-US" sz="17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sz="17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nor/>
                                </m:rPr>
                                <a:rPr lang="en-US" sz="1700">
                                  <a:solidFill>
                                    <a:srgbClr val="4B2E83"/>
                                  </a:solidFill>
                                </a:rPr>
                                <m:t>exp</m:t>
                              </m:r>
                              <m:d>
                                <m:dPr>
                                  <m:ctrlPr>
                                    <a:rPr lang="en-US" sz="1700" i="1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700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en-US" sz="1700" i="1">
                                          <a:solidFill>
                                            <a:srgbClr val="4B2E8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p>
                                        <m:sSupPr>
                                          <m:ctrlPr>
                                            <a:rPr lang="en-US" sz="1700" i="1">
                                              <a:solidFill>
                                                <a:srgbClr val="4B2E83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d>
                                            <m:dPr>
                                              <m:begChr m:val="‖"/>
                                              <m:endChr m:val="‖"/>
                                              <m:ctrlPr>
                                                <a:rPr lang="en-US" sz="1700" i="1">
                                                  <a:solidFill>
                                                    <a:srgbClr val="4B2E83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sz="1700" i="1">
                                                      <a:solidFill>
                                                        <a:srgbClr val="4B2E83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sz="1700">
                                                      <a:solidFill>
                                                        <a:srgbClr val="4B2E83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𝒙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sz="1700">
                                                      <a:solidFill>
                                                        <a:srgbClr val="4B2E83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𝑖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en-US" sz="1700">
                                                  <a:solidFill>
                                                    <a:srgbClr val="4B2E83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−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en-US" sz="1700" i="1">
                                                      <a:solidFill>
                                                        <a:srgbClr val="4B2E83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sz="1700">
                                                      <a:solidFill>
                                                        <a:srgbClr val="4B2E83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𝒙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sz="1700">
                                                      <a:solidFill>
                                                        <a:srgbClr val="4B2E83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𝑗</m:t>
                                                  </m:r>
                                                </m:sub>
                                              </m:sSub>
                                            </m:e>
                                          </m:d>
                                        </m:e>
                                        <m:sup>
                                          <m:r>
                                            <a:rPr lang="en-US" sz="1700">
                                              <a:solidFill>
                                                <a:srgbClr val="4B2E83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num>
                                    <m:den>
                                      <m:r>
                                        <a:rPr lang="en-US" sz="1700">
                                          <a:solidFill>
                                            <a:srgbClr val="4B2E8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sSup>
                                        <m:sSupPr>
                                          <m:ctrlPr>
                                            <a:rPr lang="en-US" sz="1700" i="1">
                                              <a:solidFill>
                                                <a:srgbClr val="4B2E83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1700" i="1">
                                                  <a:solidFill>
                                                    <a:srgbClr val="4B2E83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700">
                                                  <a:solidFill>
                                                    <a:srgbClr val="4B2E83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𝜎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700">
                                                  <a:solidFill>
                                                    <a:srgbClr val="4B2E83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  <m:sup>
                                          <m:r>
                                            <a:rPr lang="en-US" sz="1700">
                                              <a:solidFill>
                                                <a:srgbClr val="4B2E83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den>
                                  </m:f>
                                </m:e>
                              </m:d>
                            </m:num>
                            <m:den>
                              <m:nary>
                                <m:naryPr>
                                  <m:chr m:val="∑"/>
                                  <m:limLoc m:val="undOvr"/>
                                  <m:supHide m:val="on"/>
                                  <m:ctrlPr>
                                    <a:rPr lang="en-US" sz="1700" i="1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sz="1700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sz="1700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  <m:t>≠</m:t>
                                  </m:r>
                                  <m:r>
                                    <a:rPr lang="en-US" sz="1700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/>
                                <m:e>
                                  <m:r>
                                    <m:rPr>
                                      <m:nor/>
                                    </m:rPr>
                                    <a:rPr lang="en-US" sz="1700">
                                      <a:solidFill>
                                        <a:srgbClr val="4B2E83"/>
                                      </a:solidFill>
                                    </a:rPr>
                                    <m:t>exp</m:t>
                                  </m:r>
                                  <m:d>
                                    <m:dPr>
                                      <m:ctrlPr>
                                        <a:rPr lang="en-US" sz="1700" i="1">
                                          <a:solidFill>
                                            <a:srgbClr val="4B2E8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700">
                                          <a:solidFill>
                                            <a:srgbClr val="4B2E8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f>
                                        <m:fPr>
                                          <m:ctrlPr>
                                            <a:rPr lang="en-US" sz="1700" i="1">
                                              <a:solidFill>
                                                <a:srgbClr val="4B2E83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sSup>
                                            <m:sSupPr>
                                              <m:ctrlPr>
                                                <a:rPr lang="en-US" sz="1700" i="1">
                                                  <a:solidFill>
                                                    <a:srgbClr val="4B2E83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d>
                                                <m:dPr>
                                                  <m:begChr m:val="‖"/>
                                                  <m:endChr m:val="‖"/>
                                                  <m:ctrlPr>
                                                    <a:rPr lang="en-US" sz="1700" i="1">
                                                      <a:solidFill>
                                                        <a:srgbClr val="4B2E83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sSub>
                                                    <m:sSubPr>
                                                      <m:ctrlPr>
                                                        <a:rPr lang="en-US" sz="1700" i="1">
                                                          <a:solidFill>
                                                            <a:srgbClr val="4B2E83"/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en-US" sz="1700">
                                                          <a:solidFill>
                                                            <a:srgbClr val="4B2E83"/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𝒙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en-US" sz="1700">
                                                          <a:solidFill>
                                                            <a:srgbClr val="4B2E83"/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𝑖</m:t>
                                                      </m:r>
                                                    </m:sub>
                                                  </m:sSub>
                                                  <m:r>
                                                    <a:rPr lang="en-US" sz="1700">
                                                      <a:solidFill>
                                                        <a:srgbClr val="4B2E83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−</m:t>
                                                  </m:r>
                                                  <m:sSub>
                                                    <m:sSubPr>
                                                      <m:ctrlPr>
                                                        <a:rPr lang="en-US" sz="1700" i="1">
                                                          <a:solidFill>
                                                            <a:srgbClr val="4B2E83"/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en-US" sz="1700">
                                                          <a:solidFill>
                                                            <a:srgbClr val="4B2E83"/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𝒙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en-US" sz="1700">
                                                          <a:solidFill>
                                                            <a:srgbClr val="4B2E83"/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𝑘</m:t>
                                                      </m:r>
                                                    </m:sub>
                                                  </m:sSub>
                                                </m:e>
                                              </m:d>
                                            </m:e>
                                            <m:sup>
                                              <m:r>
                                                <a:rPr lang="en-US" sz="1700">
                                                  <a:solidFill>
                                                    <a:srgbClr val="4B2E83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p>
                                          </m:sSup>
                                        </m:num>
                                        <m:den>
                                          <m:r>
                                            <a:rPr lang="en-US" sz="1700">
                                              <a:solidFill>
                                                <a:srgbClr val="4B2E83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  <m:sSup>
                                            <m:sSupPr>
                                              <m:ctrlPr>
                                                <a:rPr lang="en-US" sz="1700" i="1">
                                                  <a:solidFill>
                                                    <a:srgbClr val="4B2E83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sz="1700" i="1">
                                                      <a:solidFill>
                                                        <a:srgbClr val="4B2E83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sz="1700">
                                                      <a:solidFill>
                                                        <a:srgbClr val="4B2E83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𝜎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sz="1700">
                                                      <a:solidFill>
                                                        <a:srgbClr val="4B2E83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𝑖</m:t>
                                                  </m:r>
                                                </m:sub>
                                              </m:sSub>
                                            </m:e>
                                            <m:sup>
                                              <m:r>
                                                <a:rPr lang="en-US" sz="1700">
                                                  <a:solidFill>
                                                    <a:srgbClr val="4B2E83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p>
                                          </m:sSup>
                                        </m:den>
                                      </m:f>
                                    </m:e>
                                  </m:d>
                                </m:e>
                              </m:nary>
                            </m:den>
                          </m:f>
                        </m:oMath>
                      </m:oMathPara>
                    </a14:m>
                  </mc:Choice>
                  <mc:Fallback xmlns:m="http://schemas.openxmlformats.org/officeDocument/2006/math" xmlns="">
                    <a:r>
                      <a:rPr lang="en-US" sz="1700">
                        <a:solidFill>
                          <a:srgbClr val="4B2E83"/>
                        </a:solidFill>
                      </a:rPr>
                      <a:t>p(j|i) = exp(−‖xᵢ−xⱼ‖²/2σᵢ²) / Σₖ≠ᵢ exp(...)</a:t>
                    </a:r>
                  </mc:Fallback>
                </mc:AlternateContent>
                <a:endParaRPr lang="en-US" sz="1500" dirty="0">
                  <a:solidFill>
                    <a:srgbClr val="333333"/>
                  </a:solidFill>
                </a:endParaRPr>
              </a:p>
              <a:p>
                <a:pPr>
                  <a:buNone/>
                </a:pPr>
                <a:endParaRPr lang="en-US" sz="500"/>
              </a:p>
              <a:p>
                <a:pPr>
                  <a:buNone/>
                </a:pPr>
                <mc:AlternateContent>
                  <mc:Choice Requires="a14"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15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5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sz="15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a14:m>
                  </mc:Choice>
                  <mc:Fallback xmlns:m="http://schemas.openxmlformats.org/officeDocument/2006/math" xmlns="">
                    <a:r>
                      <a:rPr lang="en-US" sz="1500">
                        <a:solidFill>
                          <a:srgbClr val="333333"/>
                        </a:solidFill>
                      </a:rPr>
                      <a:t>σᵢ</a:t>
                    </a:r>
                  </mc:Fallback>
                </mc:AlternateContent>
                <a:r>
                  <a:rPr lang="en-US" sz="1500" dirty="0">
                    <a:solidFill>
                      <a:srgbClr val="333333"/>
                    </a:solidFill>
                  </a:rPr>
                  <a:t> set so perplexity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en-US" sz="15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5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m:rPr>
                                <m:nor/>
                              </m:rPr>
                              <a:rPr lang="en-US" sz="1500">
                                <a:solidFill>
                                  <a:srgbClr val="333333"/>
                                </a:solidFill>
                              </a:rPr>
                              <m:t>H</m:t>
                            </m:r>
                            <m:d>
                              <m:dPr>
                                <m:ctrlPr>
                                  <a:rPr lang="en-US" sz="1500" i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1500" i="1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5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𝐏</m:t>
                                    </m:r>
                                  </m:e>
                                  <m:sub>
                                    <m:r>
                                      <a:rPr lang="en-US" sz="15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sup>
                        </m:sSup>
                      </m:oMath>
                    </a14:m>
                  </mc:Choice>
                  <mc:Fallback xmlns:m="http://schemas.openxmlformats.org/officeDocument/2006/math" xmlns="">
                    <a:r>
                      <a:rPr lang="en-US" sz="1500">
                        <a:solidFill>
                          <a:srgbClr val="333333"/>
                        </a:solidFill>
                      </a:rPr>
                      <a:t>= 2^H(Pᵢ)</a:t>
                    </a:r>
                  </mc:Fallback>
                </mc:AlternateContent>
                <a:r>
                  <a:rPr lang="en-US" sz="1500" dirty="0">
                    <a:solidFill>
                      <a:srgbClr val="333333"/>
                    </a:solidFill>
                  </a:rPr>
                  <a:t> matches a target (typ. 5–50).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7D35C20-0DA9-8B44-8AD8-6B829D2264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000" y="2489200"/>
                <a:ext cx="4787900" cy="1914370"/>
              </a:xfrm>
              <a:prstGeom prst="rect">
                <a:avLst/>
              </a:prstGeom>
              <a:blipFill>
                <a:blip r:embed="rId2"/>
                <a:stretch>
                  <a:fillRect l="-796" t="-658" b="-72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458F4246-86FF-144D-A8E0-09D698E455DF}"/>
              </a:ext>
            </a:extLst>
          </p:cNvPr>
          <p:cNvSpPr/>
          <p:nvPr/>
        </p:nvSpPr>
        <p:spPr>
          <a:xfrm>
            <a:off x="6210300" y="1905000"/>
            <a:ext cx="5143500" cy="30480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611FFBC-647D-5142-B6D3-2B38A29DA530}"/>
              </a:ext>
            </a:extLst>
          </p:cNvPr>
          <p:cNvSpPr/>
          <p:nvPr/>
        </p:nvSpPr>
        <p:spPr>
          <a:xfrm>
            <a:off x="6210300" y="1905000"/>
            <a:ext cx="5143500" cy="4572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rial"/>
                <a:cs typeface="Arial"/>
              </a:rPr>
              <a:t>Low-dimensional (Student-t)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C367DAC-62FF-A74A-93E2-4DEAED925652}"/>
                  </a:ext>
                </a:extLst>
              </p:cNvPr>
              <p:cNvSpPr txBox="1"/>
              <p:nvPr/>
            </p:nvSpPr>
            <p:spPr>
              <a:xfrm>
                <a:off x="6388100" y="2489200"/>
                <a:ext cx="4787900" cy="1629164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>
                  <a:buNone/>
                </a:pPr>
                <a:r>
                  <a:rPr lang="en-US" sz="1500" dirty="0">
                    <a:solidFill>
                      <a:srgbClr val="333333"/>
                    </a:solidFill>
                  </a:rPr>
                  <a:t>Similarity of map points </a:t>
                </a:r>
                <mc:AlternateContent>
                  <mc:Choice Requires="a14"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15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5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  <m:sub>
                            <m:r>
                              <a:rPr lang="en-US" sz="15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a14:m>
                  </mc:Choice>
                  <mc:Fallback xmlns:m="http://schemas.openxmlformats.org/officeDocument/2006/math" xmlns="">
                    <a:r>
                      <a:rPr lang="en-US" sz="1500">
                        <a:solidFill>
                          <a:srgbClr val="333333"/>
                        </a:solidFill>
                      </a:rPr>
                      <a:t>yᵢ</a:t>
                    </a:r>
                  </mc:Fallback>
                </mc:AlternateContent>
                <a:r>
                  <a:rPr lang="en-US" sz="1500" dirty="0">
                    <a:solidFill>
                      <a:srgbClr val="333333"/>
                    </a:solidFill>
                  </a:rPr>
                  <a:t>, </a:t>
                </a:r>
                <mc:AlternateContent>
                  <mc:Choice Requires="a14"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15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5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  <m:sub>
                            <m:r>
                              <a:rPr lang="en-US" sz="15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oMath>
                    </a14:m>
                  </mc:Choice>
                  <mc:Fallback xmlns:m="http://schemas.openxmlformats.org/officeDocument/2006/math" xmlns="">
                    <a:r>
                      <a:rPr lang="en-US" sz="1500">
                        <a:solidFill>
                          <a:srgbClr val="333333"/>
                        </a:solidFill>
                      </a:rPr>
                      <a:t>yⱼ</a:t>
                    </a:r>
                  </mc:Fallback>
                </mc:AlternateContent>
                <a:r>
                  <a:rPr lang="en-US" sz="1500" dirty="0">
                    <a:solidFill>
                      <a:srgbClr val="333333"/>
                    </a:solidFill>
                  </a:rPr>
                  <a:t> (heavy tails):</a:t>
                </a:r>
              </a:p>
              <a:p>
                <a:pPr algn="ctr">
                  <a:buNone/>
                </a:pPr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7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7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17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r>
                            <a:rPr lang="en-US" sz="17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sz="17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sz="1700" i="1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1700" i="1">
                                          <a:solidFill>
                                            <a:srgbClr val="4B2E8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700">
                                          <a:solidFill>
                                            <a:srgbClr val="4B2E8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1+</m:t>
                                      </m:r>
                                      <m:sSup>
                                        <m:sSupPr>
                                          <m:ctrlPr>
                                            <a:rPr lang="en-US" sz="1700" i="1">
                                              <a:solidFill>
                                                <a:srgbClr val="4B2E83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d>
                                            <m:dPr>
                                              <m:begChr m:val="‖"/>
                                              <m:endChr m:val="‖"/>
                                              <m:ctrlPr>
                                                <a:rPr lang="en-US" sz="1700" i="1">
                                                  <a:solidFill>
                                                    <a:srgbClr val="4B2E83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sz="1700" i="1">
                                                      <a:solidFill>
                                                        <a:srgbClr val="4B2E83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sz="1700">
                                                      <a:solidFill>
                                                        <a:srgbClr val="4B2E83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𝒚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sz="1700">
                                                      <a:solidFill>
                                                        <a:srgbClr val="4B2E83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𝑖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en-US" sz="1700">
                                                  <a:solidFill>
                                                    <a:srgbClr val="4B2E83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−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en-US" sz="1700" i="1">
                                                      <a:solidFill>
                                                        <a:srgbClr val="4B2E83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sz="1700">
                                                      <a:solidFill>
                                                        <a:srgbClr val="4B2E83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𝒚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sz="1700">
                                                      <a:solidFill>
                                                        <a:srgbClr val="4B2E83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𝑗</m:t>
                                                  </m:r>
                                                </m:sub>
                                              </m:sSub>
                                            </m:e>
                                          </m:d>
                                        </m:e>
                                        <m:sup>
                                          <m:r>
                                            <a:rPr lang="en-US" sz="1700">
                                              <a:solidFill>
                                                <a:srgbClr val="4B2E83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e>
                                  </m:d>
                                </m:e>
                                <m:sup>
                                  <m:r>
                                    <a:rPr lang="en-US" sz="1700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</m:num>
                            <m:den>
                              <m:nary>
                                <m:naryPr>
                                  <m:chr m:val="∑"/>
                                  <m:limLoc m:val="undOvr"/>
                                  <m:supHide m:val="on"/>
                                  <m:ctrlPr>
                                    <a:rPr lang="en-US" sz="1700" i="1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sz="1700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sz="1700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  <m:t>≠</m:t>
                                  </m:r>
                                  <m:r>
                                    <a:rPr lang="en-US" sz="1700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sub>
                                <m:sup/>
                                <m:e>
                                  <m:sSup>
                                    <m:sSupPr>
                                      <m:ctrlPr>
                                        <a:rPr lang="en-US" sz="1700" i="1">
                                          <a:solidFill>
                                            <a:srgbClr val="4B2E8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sz="1700" i="1">
                                              <a:solidFill>
                                                <a:srgbClr val="4B2E83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1700">
                                              <a:solidFill>
                                                <a:srgbClr val="4B2E83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1+</m:t>
                                          </m:r>
                                          <m:sSup>
                                            <m:sSupPr>
                                              <m:ctrlPr>
                                                <a:rPr lang="en-US" sz="1700" i="1">
                                                  <a:solidFill>
                                                    <a:srgbClr val="4B2E83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d>
                                                <m:dPr>
                                                  <m:begChr m:val="‖"/>
                                                  <m:endChr m:val="‖"/>
                                                  <m:ctrlPr>
                                                    <a:rPr lang="en-US" sz="1700" i="1">
                                                      <a:solidFill>
                                                        <a:srgbClr val="4B2E83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sSub>
                                                    <m:sSubPr>
                                                      <m:ctrlPr>
                                                        <a:rPr lang="en-US" sz="1700" i="1">
                                                          <a:solidFill>
                                                            <a:srgbClr val="4B2E83"/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en-US" sz="1700">
                                                          <a:solidFill>
                                                            <a:srgbClr val="4B2E83"/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𝒚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en-US" sz="1700">
                                                          <a:solidFill>
                                                            <a:srgbClr val="4B2E83"/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𝑘</m:t>
                                                      </m:r>
                                                    </m:sub>
                                                  </m:sSub>
                                                  <m:r>
                                                    <a:rPr lang="en-US" sz="1700">
                                                      <a:solidFill>
                                                        <a:srgbClr val="4B2E83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−</m:t>
                                                  </m:r>
                                                  <m:sSub>
                                                    <m:sSubPr>
                                                      <m:ctrlPr>
                                                        <a:rPr lang="en-US" sz="1700" i="1">
                                                          <a:solidFill>
                                                            <a:srgbClr val="4B2E83"/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en-US" sz="1700">
                                                          <a:solidFill>
                                                            <a:srgbClr val="4B2E83"/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𝒚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en-US" sz="1700">
                                                          <a:solidFill>
                                                            <a:srgbClr val="4B2E83"/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𝑙</m:t>
                                                      </m:r>
                                                    </m:sub>
                                                  </m:sSub>
                                                </m:e>
                                              </m:d>
                                            </m:e>
                                            <m:sup>
                                              <m:r>
                                                <a:rPr lang="en-US" sz="1700">
                                                  <a:solidFill>
                                                    <a:srgbClr val="4B2E83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p>
                                          </m:sSup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1700">
                                          <a:solidFill>
                                            <a:srgbClr val="4B2E8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sup>
                                  </m:sSup>
                                </m:e>
                              </m:nary>
                            </m:den>
                          </m:f>
                        </m:oMath>
                      </m:oMathPara>
                    </a14:m>
                  </mc:Choice>
                  <mc:Fallback xmlns:m="http://schemas.openxmlformats.org/officeDocument/2006/math" xmlns="">
                    <a:r>
                      <a:rPr lang="en-US" sz="1700">
                        <a:solidFill>
                          <a:srgbClr val="4B2E83"/>
                        </a:solidFill>
                      </a:rPr>
                      <a:t>qᵢⱼ = (1+‖yᵢ−yⱼ‖²)⁻¹ / Σₖ≠ₗ (...)⁻¹</a:t>
                    </a:r>
                  </mc:Fallback>
                </mc:AlternateContent>
                <a:endParaRPr lang="en-US" sz="1500" dirty="0">
                  <a:solidFill>
                    <a:srgbClr val="333333"/>
                  </a:solidFill>
                </a:endParaRPr>
              </a:p>
              <a:p>
                <a:pPr>
                  <a:buNone/>
                </a:pPr>
                <a:endParaRPr lang="en-US" sz="500"/>
              </a:p>
              <a:p>
                <a:pPr>
                  <a:buNone/>
                </a:pPr>
                <a:r>
                  <a:rPr lang="en-US" sz="1500" dirty="0">
                    <a:solidFill>
                      <a:srgbClr val="333333"/>
                    </a:solidFill>
                  </a:rPr>
                  <a:t>Student-t (1 df) gives heavy tails → relieves crowding, separates clusters.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C367DAC-62FF-A74A-93E2-4DEAED9256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8100" y="2489200"/>
                <a:ext cx="4787900" cy="1629164"/>
              </a:xfrm>
              <a:prstGeom prst="rect">
                <a:avLst/>
              </a:prstGeom>
              <a:blipFill>
                <a:blip r:embed="rId3"/>
                <a:stretch>
                  <a:fillRect l="-531" t="-769" b="-30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BAA151D6-9588-F449-9A25-634D57225C2A}"/>
              </a:ext>
            </a:extLst>
          </p:cNvPr>
          <p:cNvSpPr/>
          <p:nvPr/>
        </p:nvSpPr>
        <p:spPr>
          <a:xfrm>
            <a:off x="838200" y="5130800"/>
            <a:ext cx="10515600" cy="1016000"/>
          </a:xfrm>
          <a:prstGeom prst="roundRect">
            <a:avLst/>
          </a:prstGeom>
          <a:solidFill>
            <a:srgbClr val="F5F0EB"/>
          </a:solidFill>
          <a:ln w="12700" cap="flat" cmpd="sng" algn="ctr">
            <a:solidFill>
              <a:srgbClr val="B7A57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46F3B1A-F8B1-E548-87B1-AA7C147B12B8}"/>
                  </a:ext>
                </a:extLst>
              </p:cNvPr>
              <p:cNvSpPr txBox="1"/>
              <p:nvPr/>
            </p:nvSpPr>
            <p:spPr>
              <a:xfrm>
                <a:off x="838200" y="5257800"/>
                <a:ext cx="10515600" cy="712952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>
                  <a:buNone/>
                </a:pPr>
                <a:r>
                  <a:rPr lang="en-US" sz="1500" dirty="0">
                    <a:solidFill>
                      <a:srgbClr val="333333"/>
                    </a:solidFill>
                  </a:rPr>
                  <a:t>Symmetrize the high-D affinities into a joint distribution:</a:t>
                </a:r>
              </a:p>
              <a:p>
                <a:pPr algn="ctr">
                  <a:buNone/>
                </a:pPr>
                <mc:AlternateContent>
                  <mc:Choice Requires="a14"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1700" i="1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700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1700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  <m:r>
                          <a:rPr lang="en-US" sz="17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sz="1700" i="1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700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lang="en-US" sz="1700" i="1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700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sz="1700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r>
                                  <a:rPr lang="en-US" sz="1700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d>
                            <m:r>
                              <a:rPr lang="en-US" sz="1700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1700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lang="en-US" sz="1700" i="1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700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1700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r>
                                  <a:rPr lang="en-US" sz="1700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e>
                            </m:d>
                          </m:num>
                          <m:den>
                            <m:r>
                              <a:rPr lang="en-US" sz="1700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sz="1700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oMath>
                    </a14:m>
                  </mc:Choice>
                  <mc:Fallback xmlns:m="http://schemas.openxmlformats.org/officeDocument/2006/math" xmlns="">
                    <a:r>
                      <a:rPr lang="en-US" sz="1700">
                        <a:solidFill>
                          <a:srgbClr val="4B2E83"/>
                        </a:solidFill>
                      </a:rPr>
                      <a:t>pᵢⱼ = (p(j|i)+p(i|j))/2n</a:t>
                    </a:r>
                  </mc:Fallback>
                </mc:AlternateContent>
                <a:r>
                  <a:rPr lang="en-US" sz="1700" dirty="0">
                    <a:solidFill>
                      <a:srgbClr val="4B2E83"/>
                    </a:solidFill>
                  </a:rPr>
                  <a:t>        </a:t>
                </a:r>
                <mc:AlternateContent>
                  <mc:Choice Requires="a14">
                    <a14:m>
                      <m:oMath xmlns:m="http://schemas.openxmlformats.org/officeDocument/2006/math">
                        <m:nary>
                          <m:naryPr>
                            <m:chr m:val="∑"/>
                            <m:limLoc m:val="undOvr"/>
                            <m:supHide m:val="on"/>
                            <m:ctrlPr>
                              <a:rPr lang="en-US" sz="1700" i="1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sz="1700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  <m:sup/>
                          <m:e>
                            <m:sSub>
                              <m:sSubPr>
                                <m:ctrlPr>
                                  <a:rPr lang="en-US" sz="1700" i="1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700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sz="1700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𝑖𝑗</m:t>
                                </m:r>
                              </m:sub>
                            </m:sSub>
                          </m:e>
                        </m:nary>
                        <m:r>
                          <a:rPr lang="en-US" sz="17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700">
                        <a:solidFill>
                          <a:srgbClr val="4B2E83"/>
                        </a:solidFill>
                      </a:rPr>
                      <a:t>Σᵢⱼ pᵢⱼ = 1</a:t>
                    </a:r>
                  </mc:Fallback>
                </mc:AlternateContent>
                <a:endParaRPr lang="en-US" sz="1700" dirty="0">
                  <a:solidFill>
                    <a:srgbClr val="4B2E83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46F3B1A-F8B1-E548-87B1-AA7C147B12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5257800"/>
                <a:ext cx="10515600" cy="712952"/>
              </a:xfrm>
              <a:prstGeom prst="rect">
                <a:avLst/>
              </a:prstGeom>
              <a:blipFill>
                <a:blip r:embed="rId4"/>
                <a:stretch>
                  <a:fillRect l="-362" t="-12500" b="-7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550574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07A9E-09C6-D031-A3C6-504B1D0E7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t-SNE: Cost &amp; Gradient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A3E7463-1402-6146-888C-B7A943ADD526}"/>
                  </a:ext>
                </a:extLst>
              </p:cNvPr>
              <p:cNvSpPr txBox="1"/>
              <p:nvPr/>
            </p:nvSpPr>
            <p:spPr>
              <a:xfrm>
                <a:off x="838200" y="1879600"/>
                <a:ext cx="10515600" cy="292388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>
                  <a:buNone/>
                </a:pPr>
                <a:r>
                  <a:rPr lang="en-US" sz="1300" dirty="0">
                    <a:solidFill>
                      <a:srgbClr val="333333"/>
                    </a:solidFill>
                  </a:rPr>
                  <a:t>Minimize the Kullback–Leibler divergence between the joint distributions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3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𝐏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300">
                        <a:solidFill>
                          <a:srgbClr val="333333"/>
                        </a:solidFill>
                      </a:rPr>
                      <a:t>P</a:t>
                    </a:r>
                  </mc:Fallback>
                </mc:AlternateContent>
                <a:r>
                  <a:rPr lang="en-US" sz="1300" dirty="0">
                    <a:solidFill>
                      <a:srgbClr val="333333"/>
                    </a:solidFill>
                  </a:rPr>
                  <a:t> and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3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𝐐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300">
                        <a:solidFill>
                          <a:srgbClr val="333333"/>
                        </a:solidFill>
                      </a:rPr>
                      <a:t>Q</a:t>
                    </a:r>
                  </mc:Fallback>
                </mc:AlternateContent>
                <a:r>
                  <a:rPr lang="en-US" sz="1300" dirty="0">
                    <a:solidFill>
                      <a:srgbClr val="333333"/>
                    </a:solidFill>
                  </a:rPr>
                  <a:t>: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A3E7463-1402-6146-888C-B7A943ADD5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79600"/>
                <a:ext cx="10515600" cy="292388"/>
              </a:xfrm>
              <a:prstGeom prst="rect">
                <a:avLst/>
              </a:prstGeom>
              <a:blipFill>
                <a:blip r:embed="rId2"/>
                <a:stretch>
                  <a:fillRect l="-241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E05858B-DCAF-8B45-B4BB-28F58BDDAF87}"/>
              </a:ext>
            </a:extLst>
          </p:cNvPr>
          <p:cNvSpPr/>
          <p:nvPr/>
        </p:nvSpPr>
        <p:spPr>
          <a:xfrm>
            <a:off x="838200" y="2336800"/>
            <a:ext cx="10515600" cy="914400"/>
          </a:xfrm>
          <a:prstGeom prst="roundRect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B74FB5C-0BD8-8C44-877A-9C3B885FAF07}"/>
                  </a:ext>
                </a:extLst>
              </p:cNvPr>
              <p:cNvSpPr txBox="1"/>
              <p:nvPr/>
            </p:nvSpPr>
            <p:spPr>
              <a:xfrm>
                <a:off x="1016000" y="2387318"/>
                <a:ext cx="10160000" cy="813364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spAutoFit/>
              </a:bodyPr>
              <a:lstStyle/>
              <a:p>
                <a:pPr algn="ctr">
                  <a:buNone/>
                </a:pPr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80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sz="180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nor/>
                            </m:rPr>
                            <a:rPr lang="en-US" sz="1800">
                              <a:solidFill>
                                <a:srgbClr val="FFFFFF"/>
                              </a:solidFill>
                            </a:rPr>
                            <m:t>KL</m:t>
                          </m:r>
                          <m:d>
                            <m:dPr>
                              <m:ctrlPr>
                                <a:rPr lang="en-US" sz="18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𝐏</m:t>
                              </m:r>
                              <m:r>
                                <a:rPr lang="en-US" sz="180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‖</m:t>
                              </m:r>
                              <m:r>
                                <a:rPr lang="en-US" sz="180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𝐐</m:t>
                              </m:r>
                            </m:e>
                          </m:d>
                          <m:r>
                            <a:rPr lang="en-US" sz="180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nary>
                            <m:naryPr>
                              <m:chr m:val="∑"/>
                              <m:limLoc m:val="undOvr"/>
                              <m:supHide m:val="on"/>
                              <m:ctrlPr>
                                <a:rPr lang="en-US" sz="18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180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nary>
                                <m:naryPr>
                                  <m:chr m:val="∑"/>
                                  <m:limLoc m:val="undOvr"/>
                                  <m:supHide m:val="on"/>
                                  <m:ctrlPr>
                                    <a:rPr lang="en-US" sz="1800" i="1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sz="1800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/>
                                <m:e>
                                  <m:sSub>
                                    <m:sSubPr>
                                      <m:ctrlPr>
                                        <a:rPr lang="en-US" sz="1800" i="1">
                                          <a:solidFill>
                                            <a:srgbClr val="FFFF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>
                                          <a:solidFill>
                                            <a:srgbClr val="FFFF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sz="1800">
                                          <a:solidFill>
                                            <a:srgbClr val="FFFF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𝑖𝑗</m:t>
                                      </m:r>
                                    </m:sub>
                                  </m:sSub>
                                  <m:r>
                                    <m:rPr>
                                      <m:nor/>
                                    </m:rPr>
                                    <a:rPr lang="en-US" sz="1800">
                                      <a:solidFill>
                                        <a:srgbClr val="FFFFFF"/>
                                      </a:solidFill>
                                    </a:rPr>
                                    <m:t> 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1800">
                                      <a:solidFill>
                                        <a:srgbClr val="FFFFFF"/>
                                      </a:solidFill>
                                    </a:rPr>
                                    <m:t>log</m:t>
                                  </m:r>
                                  <m:d>
                                    <m:dPr>
                                      <m:ctrlPr>
                                        <a:rPr lang="en-US" sz="1800" i="1">
                                          <a:solidFill>
                                            <a:srgbClr val="FFFF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sz="1800" i="1">
                                              <a:solidFill>
                                                <a:srgbClr val="FFFFFF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sSub>
                                            <m:sSubPr>
                                              <m:ctrlPr>
                                                <a:rPr lang="en-US" sz="1800" i="1">
                                                  <a:solidFill>
                                                    <a:srgbClr val="FFFFFF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800">
                                                  <a:solidFill>
                                                    <a:srgbClr val="FFFFFF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𝑝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800">
                                                  <a:solidFill>
                                                    <a:srgbClr val="FFFFFF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𝑖𝑗</m:t>
                                              </m:r>
                                            </m:sub>
                                          </m:sSub>
                                        </m:num>
                                        <m:den>
                                          <m:sSub>
                                            <m:sSubPr>
                                              <m:ctrlPr>
                                                <a:rPr lang="en-US" sz="1800" i="1">
                                                  <a:solidFill>
                                                    <a:srgbClr val="FFFFFF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800">
                                                  <a:solidFill>
                                                    <a:srgbClr val="FFFFFF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𝑞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800">
                                                  <a:solidFill>
                                                    <a:srgbClr val="FFFFFF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𝑖𝑗</m:t>
                                              </m:r>
                                            </m:sub>
                                          </m:sSub>
                                        </m:den>
                                      </m:f>
                                    </m:e>
                                  </m:d>
                                </m:e>
                              </m:nary>
                            </m:e>
                          </m:nary>
                        </m:oMath>
                      </m:oMathPara>
                    </a14:m>
                  </mc:Choice>
                  <mc:Fallback xmlns:m="http://schemas.openxmlformats.org/officeDocument/2006/math" xmlns="">
                    <a:r>
                      <a:rPr lang="en-US" sz="1800">
                        <a:solidFill>
                          <a:srgbClr val="FFFFFF"/>
                        </a:solidFill>
                      </a:rPr>
                      <a:t>C = KL(P ‖ Q) = Σᵢ Σⱼ pᵢⱼ log(pᵢⱼ/qᵢⱼ)</a:t>
                    </a:r>
                  </mc:Fallback>
                </mc:AlternateContent>
                <a:endParaRPr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B74FB5C-0BD8-8C44-877A-9C3B885FAF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000" y="2387318"/>
                <a:ext cx="10160000" cy="813364"/>
              </a:xfrm>
              <a:prstGeom prst="rect">
                <a:avLst/>
              </a:prstGeom>
              <a:blipFill>
                <a:blip r:embed="rId3"/>
                <a:stretch>
                  <a:fillRect t="-112308" b="-1569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C2B1658E-4E0F-FF45-806F-84F25006C03A}"/>
              </a:ext>
            </a:extLst>
          </p:cNvPr>
          <p:cNvSpPr/>
          <p:nvPr/>
        </p:nvSpPr>
        <p:spPr>
          <a:xfrm>
            <a:off x="838200" y="3429000"/>
            <a:ext cx="10515600" cy="9144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29C655D-48C6-3B47-9A01-832DD4C5B824}"/>
                  </a:ext>
                </a:extLst>
              </p:cNvPr>
              <p:cNvSpPr txBox="1"/>
              <p:nvPr/>
            </p:nvSpPr>
            <p:spPr>
              <a:xfrm>
                <a:off x="1016000" y="3488270"/>
                <a:ext cx="10160000" cy="795859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spAutoFit/>
              </a:bodyPr>
              <a:lstStyle/>
              <a:p>
                <a:pPr algn="ctr">
                  <a:buNone/>
                </a:pPr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f>
                            <m:fPr>
                              <m:ctrlPr>
                                <a:rPr lang="en-US" sz="18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80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sz="180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num>
                            <m:den>
                              <m:r>
                                <a:rPr lang="en-US" sz="180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sz="1800" i="1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b>
                                  <m:r>
                                    <a:rPr lang="en-US" sz="1800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den>
                          </m:f>
                          <m:r>
                            <a:rPr lang="en-US" sz="180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=4</m:t>
                          </m:r>
                          <m:nary>
                            <m:naryPr>
                              <m:chr m:val="∑"/>
                              <m:limLoc m:val="undOvr"/>
                              <m:supHide m:val="on"/>
                              <m:ctrlPr>
                                <a:rPr lang="en-US" sz="18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180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/>
                            <m:e>
                              <m:d>
                                <m:dPr>
                                  <m:ctrlPr>
                                    <a:rPr lang="en-US" sz="1800" i="1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800" i="1">
                                          <a:solidFill>
                                            <a:srgbClr val="FFFF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>
                                          <a:solidFill>
                                            <a:srgbClr val="FFFF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sz="1800">
                                          <a:solidFill>
                                            <a:srgbClr val="FFFF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𝑖𝑗</m:t>
                                      </m:r>
                                    </m:sub>
                                  </m:sSub>
                                  <m:r>
                                    <a:rPr lang="en-US" sz="1800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1800" i="1">
                                          <a:solidFill>
                                            <a:srgbClr val="FFFF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>
                                          <a:solidFill>
                                            <a:srgbClr val="FFFF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sz="1800">
                                          <a:solidFill>
                                            <a:srgbClr val="FFFF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𝑖𝑗</m:t>
                                      </m:r>
                                    </m:sub>
                                  </m:sSub>
                                </m:e>
                              </m:d>
                              <m:d>
                                <m:dPr>
                                  <m:ctrlPr>
                                    <a:rPr lang="en-US" sz="1800" i="1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800" i="1">
                                          <a:solidFill>
                                            <a:srgbClr val="FFFF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>
                                          <a:solidFill>
                                            <a:srgbClr val="FFFF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𝒚</m:t>
                                      </m:r>
                                    </m:e>
                                    <m:sub>
                                      <m:r>
                                        <a:rPr lang="en-US" sz="1800">
                                          <a:solidFill>
                                            <a:srgbClr val="FFFF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1800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1800" i="1">
                                          <a:solidFill>
                                            <a:srgbClr val="FFFF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>
                                          <a:solidFill>
                                            <a:srgbClr val="FFFF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𝒚</m:t>
                                      </m:r>
                                    </m:e>
                                    <m:sub>
                                      <m:r>
                                        <a:rPr lang="en-US" sz="1800">
                                          <a:solidFill>
                                            <a:srgbClr val="FFFF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  <m:sSup>
                                <m:sSupPr>
                                  <m:ctrlPr>
                                    <a:rPr lang="en-US" sz="1800" i="1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1800" i="1">
                                          <a:solidFill>
                                            <a:srgbClr val="FFFF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800">
                                          <a:solidFill>
                                            <a:srgbClr val="FFFF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1+</m:t>
                                      </m:r>
                                      <m:sSup>
                                        <m:sSupPr>
                                          <m:ctrlPr>
                                            <a:rPr lang="en-US" sz="1800" i="1">
                                              <a:solidFill>
                                                <a:srgbClr val="FFFFFF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d>
                                            <m:dPr>
                                              <m:begChr m:val="‖"/>
                                              <m:endChr m:val="‖"/>
                                              <m:ctrlPr>
                                                <a:rPr lang="en-US" sz="1800" i="1">
                                                  <a:solidFill>
                                                    <a:srgbClr val="FFFFFF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sz="1800" i="1">
                                                      <a:solidFill>
                                                        <a:srgbClr val="FFFFFF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sz="1800">
                                                      <a:solidFill>
                                                        <a:srgbClr val="FFFFFF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𝒚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sz="1800">
                                                      <a:solidFill>
                                                        <a:srgbClr val="FFFFFF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𝑖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en-US" sz="1800">
                                                  <a:solidFill>
                                                    <a:srgbClr val="FFFFFF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−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en-US" sz="1800" i="1">
                                                      <a:solidFill>
                                                        <a:srgbClr val="FFFFFF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sz="1800">
                                                      <a:solidFill>
                                                        <a:srgbClr val="FFFFFF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𝒚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sz="1800">
                                                      <a:solidFill>
                                                        <a:srgbClr val="FFFFFF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𝑗</m:t>
                                                  </m:r>
                                                </m:sub>
                                              </m:sSub>
                                            </m:e>
                                          </m:d>
                                        </m:e>
                                        <m:sup>
                                          <m:r>
                                            <a:rPr lang="en-US" sz="1800">
                                              <a:solidFill>
                                                <a:srgbClr val="FFFFFF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e>
                                  </m:d>
                                </m:e>
                                <m:sup>
                                  <m:r>
                                    <a:rPr lang="en-US" sz="1800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</m:e>
                          </m:nary>
                        </m:oMath>
                      </m:oMathPara>
                    </a14:m>
                  </mc:Choice>
                  <mc:Fallback xmlns:m="http://schemas.openxmlformats.org/officeDocument/2006/math" xmlns="">
                    <a:r>
                      <a:rPr lang="en-US" sz="1800">
                        <a:solidFill>
                          <a:srgbClr val="FFFFFF"/>
                        </a:solidFill>
                      </a:rPr>
                      <a:t>∂C/∂yᵢ = 4 Σⱼ (pᵢⱼ−qᵢⱼ)(yᵢ−yⱼ)(1+‖yᵢ−yⱼ‖²)⁻¹</a:t>
                    </a:r>
                  </mc:Fallback>
                </mc:AlternateContent>
                <a:endParaRPr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29C655D-48C6-3B47-9A01-832DD4C5B8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000" y="3488270"/>
                <a:ext cx="10160000" cy="795859"/>
              </a:xfrm>
              <a:prstGeom prst="rect">
                <a:avLst/>
              </a:prstGeom>
              <a:blipFill>
                <a:blip r:embed="rId4"/>
                <a:stretch>
                  <a:fillRect t="-115625" b="-1578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3733DA0-CDF5-664E-AE61-7C9AD3BDF5DF}"/>
                  </a:ext>
                </a:extLst>
              </p:cNvPr>
              <p:cNvSpPr txBox="1"/>
              <p:nvPr/>
            </p:nvSpPr>
            <p:spPr>
              <a:xfrm>
                <a:off x="838200" y="4572000"/>
                <a:ext cx="10515600" cy="1052724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marL="285750" indent="-285750">
                  <a:buFont typeface="Arial"/>
                  <a:buChar char="•"/>
                </a:pPr>
                <a:r>
                  <a:rPr lang="en-US" sz="1500" dirty="0">
                    <a:solidFill>
                      <a:srgbClr val="333333"/>
                    </a:solidFill>
                  </a:rPr>
                  <a:t>KL is asymmetric: large </a:t>
                </a:r>
                <mc:AlternateContent>
                  <mc:Choice Requires="a14"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15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5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15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</m:oMath>
                    </a14:m>
                  </mc:Choice>
                  <mc:Fallback xmlns:m="http://schemas.openxmlformats.org/officeDocument/2006/math" xmlns="">
                    <a:r>
                      <a:rPr lang="en-US" sz="1500">
                        <a:solidFill>
                          <a:srgbClr val="333333"/>
                        </a:solidFill>
                      </a:rPr>
                      <a:t>pᵢⱼ</a:t>
                    </a:r>
                  </mc:Fallback>
                </mc:AlternateContent>
                <a:r>
                  <a:rPr lang="en-US" sz="1500" dirty="0">
                    <a:solidFill>
                      <a:srgbClr val="333333"/>
                    </a:solidFill>
                  </a:rPr>
                  <a:t> modelled by small </a:t>
                </a:r>
                <mc:AlternateContent>
                  <mc:Choice Requires="a14"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15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5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15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</m:oMath>
                    </a14:m>
                  </mc:Choice>
                  <mc:Fallback xmlns:m="http://schemas.openxmlformats.org/officeDocument/2006/math" xmlns="">
                    <a:r>
                      <a:rPr lang="en-US" sz="1500">
                        <a:solidFill>
                          <a:srgbClr val="333333"/>
                        </a:solidFill>
                      </a:rPr>
                      <a:t>qᵢⱼ</a:t>
                    </a:r>
                  </mc:Fallback>
                </mc:AlternateContent>
                <a:r>
                  <a:rPr lang="en-US" sz="1500" dirty="0">
                    <a:solidFill>
                      <a:srgbClr val="333333"/>
                    </a:solidFill>
                  </a:rPr>
                  <a:t> is penalized heavily → preserves local structure.</a:t>
                </a:r>
              </a:p>
              <a:p>
                <a:pPr marL="285750" indent="-285750">
                  <a:buFont typeface="Arial"/>
                  <a:buChar char="•"/>
                </a:pPr>
                <a:r>
                  <a:rPr lang="en-US" sz="1500" dirty="0">
                    <a:solidFill>
                      <a:srgbClr val="333333"/>
                    </a:solidFill>
                  </a:rPr>
                  <a:t>Optimized by gradient descent with momentum; early exaggeration multiplies </a:t>
                </a:r>
                <mc:AlternateContent>
                  <mc:Choice Requires="a14"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15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5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15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</m:oMath>
                    </a14:m>
                  </mc:Choice>
                  <mc:Fallback xmlns:m="http://schemas.openxmlformats.org/officeDocument/2006/math" xmlns="">
                    <a:r>
                      <a:rPr lang="en-US" sz="1500">
                        <a:solidFill>
                          <a:srgbClr val="333333"/>
                        </a:solidFill>
                      </a:rPr>
                      <a:t>pᵢⱼ</a:t>
                    </a:r>
                  </mc:Fallback>
                </mc:AlternateContent>
                <a:r>
                  <a:rPr lang="en-US" sz="1500" dirty="0">
                    <a:solidFill>
                      <a:srgbClr val="333333"/>
                    </a:solidFill>
                  </a:rPr>
                  <a:t> (×4–12) to form tight clusters first.</a:t>
                </a:r>
              </a:p>
              <a:p>
                <a:pPr marL="285750" indent="-285750">
                  <a:buFont typeface="Arial"/>
                  <a:buChar char="•"/>
                </a:pPr>
                <a:r>
                  <a:rPr lang="en-US" sz="1500" dirty="0">
                    <a:solidFill>
                      <a:srgbClr val="333333"/>
                    </a:solidFill>
                  </a:rPr>
                  <a:t>Cost is non-convex → different random seeds give different maps. Distances between clusters are not meaningful.</a:t>
                </a:r>
              </a:p>
              <a:p>
                <a:pPr marL="285750" indent="-285750">
                  <a:buFont typeface="Arial"/>
                  <a:buChar char="•"/>
                </a:pPr>
                <a:r>
                  <a:rPr lang="en-US" sz="1500" dirty="0">
                    <a:solidFill>
                      <a:srgbClr val="333333"/>
                    </a:solidFill>
                  </a:rPr>
                  <a:t>Complexity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sz="1500">
                            <a:solidFill>
                              <a:srgbClr val="333333"/>
                            </a:solidFill>
                          </a:rPr>
                          <m:t>O</m:t>
                        </m:r>
                        <m:d>
                          <m:dPr>
                            <m:ctrlPr>
                              <a:rPr lang="en-US" sz="15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1500" i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5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US" sz="15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oMath>
                    </a14:m>
                  </mc:Choice>
                  <mc:Fallback xmlns:m="http://schemas.openxmlformats.org/officeDocument/2006/math" xmlns="">
                    <a:r>
                      <a:rPr lang="en-US" sz="1500">
                        <a:solidFill>
                          <a:srgbClr val="333333"/>
                        </a:solidFill>
                      </a:rPr>
                      <a:t>O(n²)</a:t>
                    </a:r>
                  </mc:Fallback>
                </mc:AlternateContent>
                <a:r>
                  <a:rPr lang="en-US" sz="1500" dirty="0">
                    <a:solidFill>
                      <a:srgbClr val="333333"/>
                    </a:solidFill>
                  </a:rPr>
                  <a:t>; Barnes–Hut approximation reduces it to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sz="1500">
                            <a:solidFill>
                              <a:srgbClr val="333333"/>
                            </a:solidFill>
                          </a:rPr>
                          <m:t>O</m:t>
                        </m:r>
                        <m:d>
                          <m:dPr>
                            <m:ctrlPr>
                              <a:rPr lang="en-US" sz="15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5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nor/>
                              </m:rPr>
                              <a:rPr lang="en-US" sz="1500">
                                <a:solidFill>
                                  <a:srgbClr val="333333"/>
                                </a:solidFill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sz="1500">
                                <a:solidFill>
                                  <a:srgbClr val="333333"/>
                                </a:solidFill>
                              </a:rPr>
                              <m:t>log</m:t>
                            </m:r>
                            <m:r>
                              <m:rPr>
                                <m:nor/>
                              </m:rPr>
                              <a:rPr lang="en-US" sz="1500">
                                <a:solidFill>
                                  <a:srgbClr val="333333"/>
                                </a:solidFill>
                              </a:rPr>
                              <m:t> </m:t>
                            </m:r>
                            <m:r>
                              <a:rPr lang="en-US" sz="15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oMath>
                    </a14:m>
                  </mc:Choice>
                  <mc:Fallback xmlns:m="http://schemas.openxmlformats.org/officeDocument/2006/math" xmlns="">
                    <a:r>
                      <a:rPr lang="en-US" sz="1500">
                        <a:solidFill>
                          <a:srgbClr val="333333"/>
                        </a:solidFill>
                      </a:rPr>
                      <a:t>O(n log n)</a:t>
                    </a:r>
                  </mc:Fallback>
                </mc:AlternateContent>
                <a:r>
                  <a:rPr lang="en-US" sz="1500" dirty="0">
                    <a:solidFill>
                      <a:srgbClr val="333333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3733DA0-CDF5-664E-AE61-7C9AD3BDF5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572000"/>
                <a:ext cx="10515600" cy="1052724"/>
              </a:xfrm>
              <a:prstGeom prst="rect">
                <a:avLst/>
              </a:prstGeom>
              <a:blipFill>
                <a:blip r:embed="rId5"/>
                <a:stretch>
                  <a:fillRect l="-241" t="-1190" b="-47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425902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F7D66-5529-4481-7DE8-8980E4AA44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 1: Computing an Affinity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1A8733E1-7999-024A-8ABE-C9CD3BC5E657}"/>
              </a:ext>
            </a:extLst>
          </p:cNvPr>
          <p:cNvSpPr/>
          <p:nvPr/>
        </p:nvSpPr>
        <p:spPr>
          <a:xfrm>
            <a:off x="838200" y="1778000"/>
            <a:ext cx="1524000" cy="381000"/>
          </a:xfrm>
          <a:prstGeom prst="roundRect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Arial"/>
                <a:cs typeface="Arial"/>
              </a:rPr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33002B2-5ED8-0F43-B423-068DB436A6BD}"/>
                  </a:ext>
                </a:extLst>
              </p:cNvPr>
              <p:cNvSpPr txBox="1"/>
              <p:nvPr/>
            </p:nvSpPr>
            <p:spPr>
              <a:xfrm>
                <a:off x="838200" y="2235200"/>
                <a:ext cx="5207000" cy="1754326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>
                  <a:buNone/>
                </a:pPr>
                <a:r>
                  <a:rPr lang="en-US" sz="1600" b="1" dirty="0">
                    <a:solidFill>
                      <a:srgbClr val="D1578A"/>
                    </a:solidFill>
                    <a:latin typeface="Arial"/>
                  </a:rPr>
                  <a:t>Setup</a:t>
                </a:r>
              </a:p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Fix point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333333"/>
                        </a:solidFill>
                      </a:rPr>
                      <a:t>i</a:t>
                    </a:r>
                  </mc:Fallback>
                </mc:AlternateContent>
                <a:r>
                  <a:rPr lang="en-US" sz="1600" dirty="0">
                    <a:solidFill>
                      <a:srgbClr val="333333"/>
                    </a:solidFill>
                  </a:rPr>
                  <a:t>. Squared distances to its 3 neighbors:</a:t>
                </a:r>
              </a:p>
              <a:p>
                <a:pPr>
                  <a:buNone/>
                </a:pPr>
                <a:endParaRPr lang="en-US" sz="300"/>
              </a:p>
              <a:p>
                <a:pPr algn="ctr">
                  <a:buNone/>
                </a:pPr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en-US" sz="16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sz="1600" i="1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600" i="1">
                                          <a:solidFill>
                                            <a:srgbClr val="33333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>
                                          <a:solidFill>
                                            <a:srgbClr val="33333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a:rPr lang="en-US" sz="1600">
                                          <a:solidFill>
                                            <a:srgbClr val="33333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1700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1700" i="1">
                                          <a:solidFill>
                                            <a:srgbClr val="4B2E8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700">
                                          <a:solidFill>
                                            <a:srgbClr val="4B2E8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a:rPr lang="en-US" sz="1700">
                                          <a:solidFill>
                                            <a:srgbClr val="4B2E8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sz="17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7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=1,</m:t>
                          </m:r>
                          <m:r>
                            <m:rPr>
                              <m:nor/>
                            </m:rPr>
                            <a:rPr lang="en-US" sz="1700">
                              <a:solidFill>
                                <a:srgbClr val="4B2E83"/>
                              </a:solidFill>
                            </a:rPr>
                            <m:t>  </m:t>
                          </m:r>
                          <m:sSup>
                            <m:sSupPr>
                              <m:ctrlPr>
                                <a:rPr lang="en-US" sz="17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sz="1700" i="1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700" i="1">
                                          <a:solidFill>
                                            <a:srgbClr val="4B2E8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>
                                          <a:solidFill>
                                            <a:srgbClr val="33333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a:rPr lang="en-US" sz="1600">
                                          <a:solidFill>
                                            <a:srgbClr val="33333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1700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1700" i="1">
                                          <a:solidFill>
                                            <a:srgbClr val="4B2E8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700">
                                          <a:solidFill>
                                            <a:srgbClr val="4B2E8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a:rPr lang="en-US" sz="1700">
                                          <a:solidFill>
                                            <a:srgbClr val="4B2E8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sz="17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7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=4,</m:t>
                          </m:r>
                        </m:oMath>
                      </m:oMathPara>
                    </a14:m>
                  </mc:Choice>
                  <mc:Fallback xmlns:m="http://schemas.openxmlformats.org/officeDocument/2006/math" xmlns="">
                    <a:r>
                      <a:rPr lang="en-US" sz="1700">
                        <a:solidFill>
                          <a:srgbClr val="4B2E83"/>
                        </a:solidFill>
                      </a:rPr>
                      <a:t>‖xᵢ−x₁‖² = 1,  ‖xᵢ−x₂‖² = 4,</a:t>
                    </a:r>
                  </mc:Fallback>
                </mc:AlternateContent>
                <a:endParaRPr lang="en-US" sz="300"/>
              </a:p>
              <a:p>
                <a:pPr algn="ctr">
                  <a:buNone/>
                </a:pPr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en-US" sz="16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sz="1600" i="1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600" i="1">
                                          <a:solidFill>
                                            <a:srgbClr val="33333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>
                                          <a:solidFill>
                                            <a:srgbClr val="33333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a:rPr lang="en-US" sz="1600">
                                          <a:solidFill>
                                            <a:srgbClr val="33333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1700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1700" i="1">
                                          <a:solidFill>
                                            <a:srgbClr val="4B2E8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700">
                                          <a:solidFill>
                                            <a:srgbClr val="4B2E8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a:rPr lang="en-US" sz="1700">
                                          <a:solidFill>
                                            <a:srgbClr val="4B2E8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sz="17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7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=9</m:t>
                          </m:r>
                        </m:oMath>
                      </m:oMathPara>
                    </a14:m>
                  </mc:Choice>
                  <mc:Fallback xmlns:m="http://schemas.openxmlformats.org/officeDocument/2006/math" xmlns="">
                    <a:r>
                      <a:rPr lang="en-US" sz="1700">
                        <a:solidFill>
                          <a:srgbClr val="4B2E83"/>
                        </a:solidFill>
                      </a:rPr>
                      <a:t>‖xᵢ−x₃‖² = 9</a:t>
                    </a:r>
                  </mc:Fallback>
                </mc:AlternateContent>
                <a:endParaRPr lang="en-US" sz="300"/>
              </a:p>
              <a:p>
                <a:pPr>
                  <a:buNone/>
                </a:pPr>
                <a:endParaRPr lang="en-US" sz="400"/>
              </a:p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Bandwidth </a:t>
                </a:r>
                <mc:AlternateContent>
                  <mc:Choice Requires="a14"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333333"/>
                        </a:solidFill>
                      </a:rPr>
                      <a:t>σᵢ = 1</a:t>
                    </a:r>
                  </mc:Fallback>
                </mc:AlternateContent>
                <a:r>
                  <a:rPr lang="en-US" sz="1600" dirty="0">
                    <a:solidFill>
                      <a:srgbClr val="333333"/>
                    </a:solidFill>
                  </a:rPr>
                  <a:t>  (so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sSupPr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US" sz="1600" i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  <m:sup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=2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333333"/>
                        </a:solidFill>
                      </a:rPr>
                      <a:t>2σᵢ² = 2</a:t>
                    </a:r>
                  </mc:Fallback>
                </mc:AlternateContent>
                <a:r>
                  <a:rPr lang="en-US" sz="1600" dirty="0">
                    <a:solidFill>
                      <a:srgbClr val="333333"/>
                    </a:solidFill>
                  </a:rPr>
                  <a:t>).</a:t>
                </a:r>
              </a:p>
              <a:p>
                <a:pPr>
                  <a:buNone/>
                </a:pPr>
                <a:endParaRPr lang="en-US" sz="300"/>
              </a:p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Task: compute the conditional affinities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oMath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333333"/>
                        </a:solidFill>
                      </a:rPr>
                      <a:t>p(j|i)</a:t>
                    </a:r>
                  </mc:Fallback>
                </mc:AlternateContent>
                <a:r>
                  <a:rPr lang="en-US" sz="1600" dirty="0">
                    <a:solidFill>
                      <a:srgbClr val="333333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33002B2-5ED8-0F43-B423-068DB436A6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235200"/>
                <a:ext cx="5207000" cy="1754326"/>
              </a:xfrm>
              <a:prstGeom prst="rect">
                <a:avLst/>
              </a:prstGeom>
              <a:blipFill>
                <a:blip r:embed="rId2"/>
                <a:stretch>
                  <a:fillRect l="-730" t="-1449" b="-36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E66D0927-092E-334A-B1E4-19474BFC6402}"/>
              </a:ext>
            </a:extLst>
          </p:cNvPr>
          <p:cNvSpPr/>
          <p:nvPr/>
        </p:nvSpPr>
        <p:spPr>
          <a:xfrm>
            <a:off x="6210300" y="2336800"/>
            <a:ext cx="5143500" cy="37592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D1578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41AA71F-71DE-BD45-BE3B-32E57ABE460D}"/>
                  </a:ext>
                </a:extLst>
              </p:cNvPr>
              <p:cNvSpPr txBox="1"/>
              <p:nvPr/>
            </p:nvSpPr>
            <p:spPr>
              <a:xfrm>
                <a:off x="6438900" y="2438400"/>
                <a:ext cx="4699000" cy="3322063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>
                  <a:buNone/>
                </a:pPr>
                <a:r>
                  <a:rPr lang="en-US" sz="1600" b="1" dirty="0">
                    <a:solidFill>
                      <a:srgbClr val="D1578A"/>
                    </a:solidFill>
                    <a:latin typeface="Arial"/>
                  </a:rPr>
                  <a:t>Solution</a:t>
                </a:r>
              </a:p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Unnormalized weights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sz="1600">
                            <a:solidFill>
                              <a:srgbClr val="333333"/>
                            </a:solidFill>
                          </a:rPr>
                          <m:t>exp</m:t>
                        </m:r>
                        <m:d>
                          <m:dPr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sz="1600" i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sz="1600" i="1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6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p>
                                    <m:r>
                                      <a:rPr lang="en-US" sz="16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oMath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333333"/>
                        </a:solidFill>
                      </a:rPr>
                      <a:t>exp(−d²/2)</a:t>
                    </a:r>
                  </mc:Fallback>
                </mc:AlternateContent>
                <a:r>
                  <a:rPr lang="en-US" sz="1600" dirty="0">
                    <a:solidFill>
                      <a:srgbClr val="333333"/>
                    </a:solidFill>
                  </a:rPr>
                  <a:t>:</a:t>
                </a:r>
              </a:p>
              <a:p>
                <a:pPr algn="ctr">
                  <a:buNone/>
                </a:pPr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7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7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7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7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en-US" sz="17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7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17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−0.5</m:t>
                              </m:r>
                            </m:sup>
                          </m:sSup>
                          <m:r>
                            <a:rPr lang="en-US" sz="17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=0.607</m:t>
                          </m:r>
                        </m:oMath>
                      </m:oMathPara>
                    </a14:m>
                  </mc:Choice>
                  <mc:Fallback xmlns:m="http://schemas.openxmlformats.org/officeDocument/2006/math" xmlns="">
                    <a:r>
                      <a:rPr lang="en-US" sz="1700">
                        <a:solidFill>
                          <a:srgbClr val="4B2E83"/>
                        </a:solidFill>
                      </a:rPr>
                      <a:t>w₁=e^−0.5=0.607</a:t>
                    </a:r>
                  </mc:Fallback>
                </mc:AlternateContent>
                <a:endParaRPr lang="en-US" sz="1600" dirty="0">
                  <a:solidFill>
                    <a:srgbClr val="333333"/>
                  </a:solidFill>
                </a:endParaRPr>
              </a:p>
              <a:p>
                <a:pPr algn="ctr">
                  <a:buNone/>
                </a:pPr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7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7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7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17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en-US" sz="17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7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17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sup>
                          </m:sSup>
                          <m:r>
                            <a:rPr lang="en-US" sz="17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=0.135,</m:t>
                          </m:r>
                          <m:r>
                            <m:rPr>
                              <m:nor/>
                            </m:rPr>
                            <a:rPr lang="en-US" sz="1700">
                              <a:solidFill>
                                <a:srgbClr val="4B2E83"/>
                              </a:solidFill>
                            </a:rPr>
                            <m:t>  </m:t>
                          </m:r>
                          <m:sSub>
                            <m:sSubPr>
                              <m:ctrlPr>
                                <a:rPr lang="en-US" sz="17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7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7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17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en-US" sz="17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7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17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−4.5</m:t>
                              </m:r>
                            </m:sup>
                          </m:sSup>
                          <m:r>
                            <a:rPr lang="en-US" sz="17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=0.011</m:t>
                          </m:r>
                        </m:oMath>
                      </m:oMathPara>
                    </a14:m>
                  </mc:Choice>
                  <mc:Fallback xmlns:m="http://schemas.openxmlformats.org/officeDocument/2006/math" xmlns="">
                    <a:r>
                      <a:rPr lang="en-US" sz="1700">
                        <a:solidFill>
                          <a:srgbClr val="4B2E83"/>
                        </a:solidFill>
                      </a:rPr>
                      <a:t>w₂=e^−2=0.135,  w₃=e^−4.5=0.011</a:t>
                    </a:r>
                  </mc:Fallback>
                </mc:AlternateContent>
                <a:endParaRPr lang="en-US" sz="1600" dirty="0">
                  <a:solidFill>
                    <a:srgbClr val="333333"/>
                  </a:solidFill>
                </a:endParaRPr>
              </a:p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Sum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=0.753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333333"/>
                        </a:solidFill>
                      </a:rPr>
                      <a:t>Z = 0.753</a:t>
                    </a:r>
                  </mc:Fallback>
                </mc:AlternateContent>
                <a:r>
                  <a:rPr lang="en-US" sz="1600" dirty="0">
                    <a:solidFill>
                      <a:srgbClr val="333333"/>
                    </a:solidFill>
                  </a:rPr>
                  <a:t>.</a:t>
                </a:r>
              </a:p>
              <a:p>
                <a:pPr>
                  <a:buNone/>
                </a:pPr>
                <a:endParaRPr lang="en-US" sz="300"/>
              </a:p>
              <a:p>
                <a:pPr algn="ctr">
                  <a:buNone/>
                </a:pPr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7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17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7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1|</m:t>
                              </m:r>
                              <m:r>
                                <a:rPr lang="en-US" sz="17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  <m:r>
                            <a:rPr lang="en-US" sz="17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sz="17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7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0.607</m:t>
                              </m:r>
                            </m:num>
                            <m:den>
                              <m:r>
                                <a:rPr lang="en-US" sz="17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0.753</m:t>
                              </m:r>
                            </m:den>
                          </m:f>
                          <m:r>
                            <a:rPr lang="en-US" sz="17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=0.806</m:t>
                          </m:r>
                        </m:oMath>
                      </m:oMathPara>
                    </a14:m>
                  </mc:Choice>
                  <mc:Fallback xmlns:m="http://schemas.openxmlformats.org/officeDocument/2006/math" xmlns="">
                    <a:r>
                      <a:rPr lang="en-US" sz="1700">
                        <a:solidFill>
                          <a:srgbClr val="4B2E83"/>
                        </a:solidFill>
                      </a:rPr>
                      <a:t>p(1|i)</a:t>
                    </a:r>
                  </mc:Fallback>
                </mc:AlternateContent>
                <a:endParaRPr lang="en-US" sz="300"/>
              </a:p>
              <a:p>
                <a:pPr algn="ctr">
                  <a:buNone/>
                </a:pPr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7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17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7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2|</m:t>
                              </m:r>
                              <m:r>
                                <a:rPr lang="en-US" sz="17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  <m:r>
                            <a:rPr lang="en-US" sz="17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sz="17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7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0.135</m:t>
                              </m:r>
                            </m:num>
                            <m:den>
                              <m:r>
                                <a:rPr lang="en-US" sz="17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0.753</m:t>
                              </m:r>
                            </m:den>
                          </m:f>
                          <m:r>
                            <a:rPr lang="en-US" sz="17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=0.179</m:t>
                          </m:r>
                        </m:oMath>
                      </m:oMathPara>
                    </a14:m>
                  </mc:Choice>
                  <mc:Fallback xmlns:m="http://schemas.openxmlformats.org/officeDocument/2006/math" xmlns="">
                    <a:r>
                      <a:rPr lang="en-US" sz="1700">
                        <a:solidFill>
                          <a:srgbClr val="4B2E83"/>
                        </a:solidFill>
                      </a:rPr>
                      <a:t>p(2|i)</a:t>
                    </a:r>
                  </mc:Fallback>
                </mc:AlternateContent>
                <a:endParaRPr lang="en-US" sz="300"/>
              </a:p>
              <a:p>
                <a:pPr algn="ctr">
                  <a:buNone/>
                </a:pPr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7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17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7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3|</m:t>
                              </m:r>
                              <m:r>
                                <a:rPr lang="en-US" sz="17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  <m:r>
                            <a:rPr lang="en-US" sz="17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sz="17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7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0.011</m:t>
                              </m:r>
                            </m:num>
                            <m:den>
                              <m:r>
                                <a:rPr lang="en-US" sz="17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0.753</m:t>
                              </m:r>
                            </m:den>
                          </m:f>
                          <m:r>
                            <a:rPr lang="en-US" sz="17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=0.015</m:t>
                          </m:r>
                        </m:oMath>
                      </m:oMathPara>
                    </a14:m>
                  </mc:Choice>
                  <mc:Fallback xmlns:m="http://schemas.openxmlformats.org/officeDocument/2006/math" xmlns="">
                    <a:r>
                      <a:rPr lang="en-US" sz="1700">
                        <a:solidFill>
                          <a:srgbClr val="4B2E83"/>
                        </a:solidFill>
                      </a:rPr>
                      <a:t>p(3|i)</a:t>
                    </a:r>
                  </mc:Fallback>
                </mc:AlternateContent>
                <a:endParaRPr lang="en-US" sz="300"/>
              </a:p>
              <a:p>
                <a:pPr>
                  <a:buNone/>
                </a:pPr>
                <a:endParaRPr lang="en-US" sz="300"/>
              </a:p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Nearest neighbor dominates the distribution.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41AA71F-71DE-BD45-BE3B-32E57ABE46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8900" y="2438400"/>
                <a:ext cx="4699000" cy="3322063"/>
              </a:xfrm>
              <a:prstGeom prst="rect">
                <a:avLst/>
              </a:prstGeom>
              <a:blipFill>
                <a:blip r:embed="rId3"/>
                <a:stretch>
                  <a:fillRect l="-539" t="-763" b="-15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702364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9DE21-9ECF-E480-88E1-3A3E300287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 2: Perplexity &amp; Bandwidth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BCEB020-A53A-CC47-B695-05C1236C1BE4}"/>
              </a:ext>
            </a:extLst>
          </p:cNvPr>
          <p:cNvSpPr/>
          <p:nvPr/>
        </p:nvSpPr>
        <p:spPr>
          <a:xfrm>
            <a:off x="838200" y="1778000"/>
            <a:ext cx="1524000" cy="381000"/>
          </a:xfrm>
          <a:prstGeom prst="roundRect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Arial"/>
                <a:cs typeface="Arial"/>
              </a:rPr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DEED10F-0F1B-FC49-A676-C93B2D4BF95A}"/>
                  </a:ext>
                </a:extLst>
              </p:cNvPr>
              <p:cNvSpPr txBox="1"/>
              <p:nvPr/>
            </p:nvSpPr>
            <p:spPr>
              <a:xfrm>
                <a:off x="2540000" y="1870417"/>
                <a:ext cx="8813800" cy="323165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spAutoFit/>
              </a:bodyPr>
              <a:lstStyle/>
              <a:p>
                <a:pPr>
                  <a:buNone/>
                </a:pPr>
                <a:r>
                  <a:rPr lang="en-US" sz="1500" dirty="0">
                    <a:solidFill>
                      <a:srgbClr val="333333"/>
                    </a:solidFill>
                  </a:rPr>
                  <a:t>Perplexity sets the effective number of neighbors; </a:t>
                </a:r>
                <mc:AlternateContent>
                  <mc:Choice Requires="a14"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15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5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sz="15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a14:m>
                  </mc:Choice>
                  <mc:Fallback xmlns:m="http://schemas.openxmlformats.org/officeDocument/2006/math" xmlns="">
                    <a:r>
                      <a:rPr lang="en-US" sz="1500">
                        <a:solidFill>
                          <a:srgbClr val="333333"/>
                        </a:solidFill>
                      </a:rPr>
                      <a:t>σᵢ</a:t>
                    </a:r>
                  </mc:Fallback>
                </mc:AlternateContent>
                <a:r>
                  <a:rPr lang="en-US" sz="1500" dirty="0">
                    <a:solidFill>
                      <a:srgbClr val="333333"/>
                    </a:solidFill>
                  </a:rPr>
                  <a:t> is solved so: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DEED10F-0F1B-FC49-A676-C93B2D4BF9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0000" y="1870417"/>
                <a:ext cx="8813800" cy="323165"/>
              </a:xfrm>
              <a:prstGeom prst="rect">
                <a:avLst/>
              </a:prstGeom>
              <a:blipFill>
                <a:blip r:embed="rId2"/>
                <a:stretch>
                  <a:fillRect l="-432" t="-3846" b="-230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37B7805A-4572-7B46-BF67-00476591A148}"/>
              </a:ext>
            </a:extLst>
          </p:cNvPr>
          <p:cNvSpPr/>
          <p:nvPr/>
        </p:nvSpPr>
        <p:spPr>
          <a:xfrm>
            <a:off x="838200" y="2387600"/>
            <a:ext cx="10515600" cy="812800"/>
          </a:xfrm>
          <a:prstGeom prst="roundRect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3279003-0A57-CB48-BFE3-10C053E43129}"/>
                  </a:ext>
                </a:extLst>
              </p:cNvPr>
              <p:cNvSpPr txBox="1"/>
              <p:nvPr/>
            </p:nvSpPr>
            <p:spPr>
              <a:xfrm>
                <a:off x="1016000" y="2415627"/>
                <a:ext cx="10160000" cy="756746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spAutoFit/>
              </a:bodyPr>
              <a:lstStyle/>
              <a:p>
                <a:pPr algn="ctr">
                  <a:buNone/>
                </a:pPr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nor/>
                            </m:rPr>
                            <a:rPr lang="en-US" sz="1700">
                              <a:solidFill>
                                <a:srgbClr val="FFFFFF"/>
                              </a:solidFill>
                            </a:rPr>
                            <m:t>Perp</m:t>
                          </m:r>
                          <m:d>
                            <m:dPr>
                              <m:ctrlPr>
                                <a:rPr lang="en-US" sz="17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700" i="1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500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  <m:t>𝐏</m:t>
                                  </m:r>
                                </m:e>
                                <m:sub>
                                  <m:r>
                                    <a:rPr lang="en-US" sz="1500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170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en-US" sz="17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70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m:rPr>
                                  <m:nor/>
                                </m:rPr>
                                <a:rPr lang="en-US" sz="1700">
                                  <a:solidFill>
                                    <a:srgbClr val="FFFFFF"/>
                                  </a:solidFill>
                                </a:rPr>
                                <m:t>H</m:t>
                              </m:r>
                              <m:d>
                                <m:dPr>
                                  <m:ctrlPr>
                                    <a:rPr lang="en-US" sz="1700" i="1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700" i="1">
                                          <a:solidFill>
                                            <a:srgbClr val="FFFF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500">
                                          <a:solidFill>
                                            <a:srgbClr val="33333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𝐏</m:t>
                                      </m:r>
                                    </m:e>
                                    <m:sub>
                                      <m:r>
                                        <a:rPr lang="en-US" sz="1500">
                                          <a:solidFill>
                                            <a:srgbClr val="33333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sup>
                          </m:sSup>
                          <m:r>
                            <a:rPr lang="en-US" sz="170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nor/>
                            </m:rPr>
                            <a:rPr lang="en-US" sz="1700">
                              <a:solidFill>
                                <a:srgbClr val="FFFFFF"/>
                              </a:solidFill>
                            </a:rPr>
                            <m:t>  </m:t>
                          </m:r>
                          <m:r>
                            <m:rPr>
                              <m:nor/>
                            </m:rPr>
                            <a:rPr lang="en-US" sz="1700">
                              <a:solidFill>
                                <a:srgbClr val="FFFFFF"/>
                              </a:solidFill>
                            </a:rPr>
                            <m:t>H</m:t>
                          </m:r>
                          <m:d>
                            <m:dPr>
                              <m:ctrlPr>
                                <a:rPr lang="en-US" sz="17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700" i="1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500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  <m:t>𝐏</m:t>
                                  </m:r>
                                </m:e>
                                <m:sub>
                                  <m:r>
                                    <a:rPr lang="en-US" sz="1500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170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=−</m:t>
                          </m:r>
                          <m:nary>
                            <m:naryPr>
                              <m:chr m:val="∑"/>
                              <m:limLoc m:val="undOvr"/>
                              <m:supHide m:val="on"/>
                              <m:ctrlPr>
                                <a:rPr lang="en-US" sz="17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170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/>
                            <m:e>
                              <m:r>
                                <a:rPr lang="en-US" sz="170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sz="1700" i="1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700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sz="1700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sz="1700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  <m:r>
                                <m:rPr>
                                  <m:nor/>
                                </m:rPr>
                                <a:rPr lang="en-US" sz="1700">
                                  <a:solidFill>
                                    <a:srgbClr val="FFFFFF"/>
                                  </a:solidFill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sz="1700" i="1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nor/>
                                    </m:rPr>
                                    <a:rPr lang="en-US" sz="1700">
                                      <a:solidFill>
                                        <a:srgbClr val="FFFFFF"/>
                                      </a:solidFill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sz="1700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m:rPr>
                                  <m:nor/>
                                </m:rPr>
                                <a:rPr lang="en-US" sz="1700">
                                  <a:solidFill>
                                    <a:srgbClr val="FFFFFF"/>
                                  </a:solidFill>
                                </a:rPr>
                                <m:t> </m:t>
                              </m:r>
                              <m:r>
                                <a:rPr lang="en-US" sz="170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sz="1700" i="1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700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sz="1700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sz="1700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</m:e>
                          </m:nary>
                        </m:oMath>
                      </m:oMathPara>
                    </a14:m>
                  </mc:Choice>
                  <mc:Fallback xmlns:m="http://schemas.openxmlformats.org/officeDocument/2006/math" xmlns="">
                    <a:r>
                      <a:rPr lang="en-US" sz="1700">
                        <a:solidFill>
                          <a:srgbClr val="FFFFFF"/>
                        </a:solidFill>
                      </a:rPr>
                      <a:t>Perp(Pᵢ) = 2^H(Pᵢ),   H(Pᵢ) = −Σⱼ p(j|i) log₂ p(j|i)</a:t>
                    </a:r>
                  </mc:Fallback>
                </mc:AlternateContent>
                <a:endParaRPr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3279003-0A57-CB48-BFE3-10C053E431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000" y="2415627"/>
                <a:ext cx="10160000" cy="756746"/>
              </a:xfrm>
              <a:prstGeom prst="rect">
                <a:avLst/>
              </a:prstGeom>
              <a:blipFill>
                <a:blip r:embed="rId3"/>
                <a:stretch>
                  <a:fillRect t="-116667" b="-16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08E11922-CB90-BD49-A63A-36FA60FECF1D}"/>
              </a:ext>
            </a:extLst>
          </p:cNvPr>
          <p:cNvSpPr/>
          <p:nvPr/>
        </p:nvSpPr>
        <p:spPr>
          <a:xfrm>
            <a:off x="838200" y="3352800"/>
            <a:ext cx="5143500" cy="27432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85754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D3ED48C0-6BFD-CB4C-AB4E-1BAFD5B5CEC4}"/>
                  </a:ext>
                </a:extLst>
              </p:cNvPr>
              <p:cNvSpPr/>
              <p:nvPr/>
            </p:nvSpPr>
            <p:spPr>
              <a:xfrm>
                <a:off x="838200" y="3352800"/>
                <a:ext cx="5143500" cy="431800"/>
              </a:xfrm>
              <a:prstGeom prst="rect">
                <a:avLst/>
              </a:prstGeom>
              <a:solidFill>
                <a:srgbClr val="85754D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Overflow="clip" horzOverflow="clip" rtlCol="0" anchor="ctr" anchorCtr="0">
                <a:noAutofit/>
              </a:bodyPr>
              <a:lstStyle/>
              <a:p>
                <a:pPr algn="l"/>
                <a:r>
                  <a:rPr lang="en-US" sz="1400" b="1" dirty="0">
                    <a:solidFill>
                      <a:srgbClr val="FFFFFF"/>
                    </a:solidFill>
                    <a:latin typeface="Arial"/>
                  </a:rPr>
                  <a:t>Low perplexity (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40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≈5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400">
                        <a:solidFill>
                          <a:srgbClr val="FFFFFF"/>
                        </a:solidFill>
                      </a:rPr>
                      <a:t>≈5</a:t>
                    </a:r>
                  </mc:Fallback>
                </mc:AlternateContent>
                <a:r>
                  <a:rPr lang="en-US" sz="1400" b="1" dirty="0">
                    <a:solidFill>
                      <a:srgbClr val="FFFFFF"/>
                    </a:solidFill>
                    <a:latin typeface="Arial"/>
                  </a:rPr>
                  <a:t>)</a:t>
                </a: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D3ED48C0-6BFD-CB4C-AB4E-1BAFD5B5CEC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352800"/>
                <a:ext cx="5143500" cy="431800"/>
              </a:xfrm>
              <a:prstGeom prst="rect">
                <a:avLst/>
              </a:prstGeom>
              <a:blipFill>
                <a:blip r:embed="rId4"/>
                <a:stretch>
                  <a:fillRect l="-247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AA9BD99-E319-624D-A39A-13D4EB145CA7}"/>
                  </a:ext>
                </a:extLst>
              </p:cNvPr>
              <p:cNvSpPr txBox="1"/>
              <p:nvPr/>
            </p:nvSpPr>
            <p:spPr>
              <a:xfrm>
                <a:off x="1016000" y="3886200"/>
                <a:ext cx="4787900" cy="1246495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marL="257175" indent="-257175">
                  <a:buFont typeface="Arial"/>
                  <a:buChar char="•"/>
                </a:pPr>
                <a:r>
                  <a:rPr lang="en-US" sz="1500" dirty="0">
                    <a:solidFill>
                      <a:srgbClr val="333333"/>
                    </a:solidFill>
                  </a:rPr>
                  <a:t>Small </a:t>
                </a:r>
                <mc:AlternateContent>
                  <mc:Choice Requires="a14"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15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5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sz="15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a14:m>
                  </mc:Choice>
                  <mc:Fallback xmlns:m="http://schemas.openxmlformats.org/officeDocument/2006/math" xmlns="">
                    <a:r>
                      <a:rPr lang="en-US" sz="1500">
                        <a:solidFill>
                          <a:srgbClr val="333333"/>
                        </a:solidFill>
                      </a:rPr>
                      <a:t>σᵢ</a:t>
                    </a:r>
                  </mc:Fallback>
                </mc:AlternateContent>
                <a:r>
                  <a:rPr lang="en-US" sz="1500" dirty="0">
                    <a:solidFill>
                      <a:srgbClr val="333333"/>
                    </a:solidFill>
                  </a:rPr>
                  <a:t> → affinity concentrated on a few nearest points.</a:t>
                </a:r>
              </a:p>
              <a:p>
                <a:pPr marL="257175" indent="-257175">
                  <a:buFont typeface="Arial"/>
                  <a:buChar char="•"/>
                </a:pPr>
                <a:r>
                  <a:rPr lang="en-US" sz="1500" dirty="0">
                    <a:solidFill>
                      <a:srgbClr val="333333"/>
                    </a:solidFill>
                  </a:rPr>
                  <a:t>Captures fine local structure; map may fragment into many tiny blobs.</a:t>
                </a:r>
              </a:p>
              <a:p>
                <a:pPr marL="257175" indent="-257175">
                  <a:buFont typeface="Arial"/>
                  <a:buChar char="•"/>
                </a:pPr>
                <a:r>
                  <a:rPr lang="en-US" sz="1500" dirty="0">
                    <a:solidFill>
                      <a:srgbClr val="333333"/>
                    </a:solidFill>
                  </a:rPr>
                  <a:t>Sensitive to noise.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AA9BD99-E319-624D-A39A-13D4EB145C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000" y="3886200"/>
                <a:ext cx="4787900" cy="1246495"/>
              </a:xfrm>
              <a:prstGeom prst="rect">
                <a:avLst/>
              </a:prstGeom>
              <a:blipFill>
                <a:blip r:embed="rId5"/>
                <a:stretch>
                  <a:fillRect l="-531" t="-2020" b="-40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B0C70063-742D-AF4D-8561-532039EC50D7}"/>
              </a:ext>
            </a:extLst>
          </p:cNvPr>
          <p:cNvSpPr/>
          <p:nvPr/>
        </p:nvSpPr>
        <p:spPr>
          <a:xfrm>
            <a:off x="6210300" y="3352800"/>
            <a:ext cx="5143500" cy="27432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A2F67929-0B30-1F4B-B6F9-AE108566BC19}"/>
                  </a:ext>
                </a:extLst>
              </p:cNvPr>
              <p:cNvSpPr/>
              <p:nvPr/>
            </p:nvSpPr>
            <p:spPr>
              <a:xfrm>
                <a:off x="6210300" y="3352800"/>
                <a:ext cx="5143500" cy="431800"/>
              </a:xfrm>
              <a:prstGeom prst="rect">
                <a:avLst/>
              </a:prstGeom>
              <a:solidFill>
                <a:srgbClr val="4B2E83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Overflow="clip" horzOverflow="clip" rtlCol="0" anchor="ctr" anchorCtr="0">
                <a:noAutofit/>
              </a:bodyPr>
              <a:lstStyle/>
              <a:p>
                <a:pPr algn="l"/>
                <a:r>
                  <a:rPr lang="en-US" sz="1400" b="1" dirty="0">
                    <a:solidFill>
                      <a:srgbClr val="FFFFFF"/>
                    </a:solidFill>
                    <a:latin typeface="Arial"/>
                  </a:rPr>
                  <a:t>High perplexity (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40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≈50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400">
                        <a:solidFill>
                          <a:srgbClr val="FFFFFF"/>
                        </a:solidFill>
                      </a:rPr>
                      <a:t>≈50</a:t>
                    </a:r>
                  </mc:Fallback>
                </mc:AlternateContent>
                <a:r>
                  <a:rPr lang="en-US" sz="1400" b="1" dirty="0">
                    <a:solidFill>
                      <a:srgbClr val="FFFFFF"/>
                    </a:solidFill>
                    <a:latin typeface="Arial"/>
                  </a:rPr>
                  <a:t>)</a:t>
                </a:r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A2F67929-0B30-1F4B-B6F9-AE108566BC1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0300" y="3352800"/>
                <a:ext cx="5143500" cy="431800"/>
              </a:xfrm>
              <a:prstGeom prst="rect">
                <a:avLst/>
              </a:prstGeom>
              <a:blipFill>
                <a:blip r:embed="rId6"/>
                <a:stretch>
                  <a:fillRect l="-246"/>
                </a:stretch>
              </a:blipFill>
              <a:ln w="12700" cap="flat" cmpd="sng" algn="ctr">
                <a:noFill/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F4E9F5E-D2CA-9840-8A66-6E6397B8535C}"/>
                  </a:ext>
                </a:extLst>
              </p:cNvPr>
              <p:cNvSpPr txBox="1"/>
              <p:nvPr/>
            </p:nvSpPr>
            <p:spPr>
              <a:xfrm>
                <a:off x="6388100" y="3886200"/>
                <a:ext cx="4787900" cy="1015663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marL="257175" indent="-257175">
                  <a:buFont typeface="Arial"/>
                  <a:buChar char="•"/>
                </a:pPr>
                <a:r>
                  <a:rPr lang="en-US" sz="1500" dirty="0">
                    <a:solidFill>
                      <a:srgbClr val="333333"/>
                    </a:solidFill>
                  </a:rPr>
                  <a:t>Larger </a:t>
                </a:r>
                <mc:AlternateContent>
                  <mc:Choice Requires="a14"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15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5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sz="15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a14:m>
                  </mc:Choice>
                  <mc:Fallback xmlns:m="http://schemas.openxmlformats.org/officeDocument/2006/math" xmlns="">
                    <a:r>
                      <a:rPr lang="en-US" sz="1500">
                        <a:solidFill>
                          <a:srgbClr val="333333"/>
                        </a:solidFill>
                      </a:rPr>
                      <a:t>σᵢ</a:t>
                    </a:r>
                  </mc:Fallback>
                </mc:AlternateContent>
                <a:r>
                  <a:rPr lang="en-US" sz="1500" dirty="0">
                    <a:solidFill>
                      <a:srgbClr val="333333"/>
                    </a:solidFill>
                  </a:rPr>
                  <a:t> → mass spread over many neighbors.</a:t>
                </a:r>
              </a:p>
              <a:p>
                <a:pPr marL="257175" indent="-257175">
                  <a:buFont typeface="Arial"/>
                  <a:buChar char="•"/>
                </a:pPr>
                <a:r>
                  <a:rPr lang="en-US" sz="1500" dirty="0">
                    <a:solidFill>
                      <a:srgbClr val="333333"/>
                    </a:solidFill>
                  </a:rPr>
                  <a:t>Smoother, more global layout; small clusters may merge.</a:t>
                </a:r>
              </a:p>
              <a:p>
                <a:pPr marL="257175" indent="-257175">
                  <a:buFont typeface="Arial"/>
                  <a:buChar char="•"/>
                </a:pPr>
                <a:r>
                  <a:rPr lang="en-US" sz="1500" dirty="0">
                    <a:solidFill>
                      <a:srgbClr val="333333"/>
                    </a:solidFill>
                  </a:rPr>
                  <a:t>Rule of thumb: perplexity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15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5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5,50</m:t>
                            </m:r>
                          </m:e>
                        </m:d>
                      </m:oMath>
                    </a14:m>
                  </mc:Choice>
                  <mc:Fallback xmlns:m="http://schemas.openxmlformats.org/officeDocument/2006/math" xmlns="">
                    <a:r>
                      <a:rPr lang="en-US" sz="1500">
                        <a:solidFill>
                          <a:srgbClr val="333333"/>
                        </a:solidFill>
                      </a:rPr>
                      <a:t>∈ [5, 50]</a:t>
                    </a:r>
                  </mc:Fallback>
                </mc:AlternateContent>
                <a:r>
                  <a:rPr lang="en-US" sz="1500" dirty="0">
                    <a:solidFill>
                      <a:srgbClr val="333333"/>
                    </a:solidFill>
                  </a:rPr>
                  <a:t>,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&gt;3·</m:t>
                        </m:r>
                        <m:r>
                          <m:rPr>
                            <m:nor/>
                          </m:rPr>
                          <a:rPr lang="en-US" sz="1500">
                            <a:solidFill>
                              <a:srgbClr val="333333"/>
                            </a:solidFill>
                          </a:rPr>
                          <m:t>perplexity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500">
                        <a:solidFill>
                          <a:srgbClr val="333333"/>
                        </a:solidFill>
                      </a:rPr>
                      <a:t>n &gt; 3·perplexity</a:t>
                    </a:r>
                  </mc:Fallback>
                </mc:AlternateContent>
                <a:r>
                  <a:rPr lang="en-US" sz="1500" dirty="0">
                    <a:solidFill>
                      <a:srgbClr val="333333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F4E9F5E-D2CA-9840-8A66-6E6397B853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8100" y="3886200"/>
                <a:ext cx="4787900" cy="1015663"/>
              </a:xfrm>
              <a:prstGeom prst="rect">
                <a:avLst/>
              </a:prstGeom>
              <a:blipFill>
                <a:blip r:embed="rId7"/>
                <a:stretch>
                  <a:fillRect l="-531" t="-2500" b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715676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0DE4F4-CF58-1C79-1A59-A71D9FD2D9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 3: One Gradient Step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4E40F8B-4D8D-8C4F-90BC-FC86FE72F412}"/>
              </a:ext>
            </a:extLst>
          </p:cNvPr>
          <p:cNvSpPr/>
          <p:nvPr/>
        </p:nvSpPr>
        <p:spPr>
          <a:xfrm>
            <a:off x="838200" y="1778000"/>
            <a:ext cx="1524000" cy="381000"/>
          </a:xfrm>
          <a:prstGeom prst="roundRect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Arial"/>
                <a:cs typeface="Arial"/>
              </a:rPr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D2F6628-103A-4D4B-992F-8918E5A22C5A}"/>
                  </a:ext>
                </a:extLst>
              </p:cNvPr>
              <p:cNvSpPr txBox="1"/>
              <p:nvPr/>
            </p:nvSpPr>
            <p:spPr>
              <a:xfrm>
                <a:off x="838200" y="2235200"/>
                <a:ext cx="5207000" cy="189911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>
                  <a:buNone/>
                </a:pPr>
                <a:r>
                  <a:rPr lang="en-US" sz="1600" b="1" dirty="0">
                    <a:solidFill>
                      <a:srgbClr val="D1578A"/>
                    </a:solidFill>
                    <a:latin typeface="Arial"/>
                  </a:rPr>
                  <a:t>Setup</a:t>
                </a:r>
              </a:p>
              <a:p>
                <a:pPr>
                  <a:buNone/>
                </a:pPr>
                <a:r>
                  <a:rPr lang="en-US" sz="1500" dirty="0">
                    <a:solidFill>
                      <a:srgbClr val="333333"/>
                    </a:solidFill>
                  </a:rPr>
                  <a:t>Two map points (1-D for clarity):</a:t>
                </a:r>
              </a:p>
              <a:p>
                <a:pPr>
                  <a:buNone/>
                </a:pPr>
                <a:endParaRPr lang="en-US" sz="200"/>
              </a:p>
              <a:p>
                <a:pPr algn="ctr">
                  <a:buNone/>
                </a:pPr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5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5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  <m:sub>
                              <m:r>
                                <a:rPr lang="en-US" sz="15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15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=0.0,</m:t>
                          </m:r>
                          <m:r>
                            <m:rPr>
                              <m:nor/>
                            </m:rPr>
                            <a:rPr lang="en-US" sz="1500">
                              <a:solidFill>
                                <a:srgbClr val="4B2E83"/>
                              </a:solidFill>
                            </a:rPr>
                            <m:t>   </m:t>
                          </m:r>
                          <m:sSub>
                            <m:sSubPr>
                              <m:ctrlPr>
                                <a:rPr lang="en-US" sz="15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5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  <m:sub>
                              <m:r>
                                <a:rPr lang="en-US" sz="15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sz="15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=2.0</m:t>
                          </m:r>
                        </m:oMath>
                      </m:oMathPara>
                    </a14:m>
                  </mc:Choice>
                  <mc:Fallback xmlns:m="http://schemas.openxmlformats.org/officeDocument/2006/math" xmlns="">
                    <a:r>
                      <a:rPr lang="en-US" sz="1500">
                        <a:solidFill>
                          <a:srgbClr val="4B2E83"/>
                        </a:solidFill>
                      </a:rPr>
                      <a:t>yᵢ = 0.0, yⱼ = 2.0</a:t>
                    </a:r>
                  </mc:Fallback>
                </mc:AlternateContent>
                <a:endParaRPr lang="en-US" sz="200"/>
              </a:p>
              <a:p>
                <a:pPr>
                  <a:buNone/>
                </a:pPr>
                <a:endParaRPr lang="en-US" sz="200"/>
              </a:p>
              <a:p>
                <a:pPr>
                  <a:buNone/>
                </a:pPr>
                <a:r>
                  <a:rPr lang="en-US" sz="1500" dirty="0">
                    <a:solidFill>
                      <a:srgbClr val="333333"/>
                    </a:solidFill>
                  </a:rPr>
                  <a:t>Affinities for this pair:</a:t>
                </a:r>
              </a:p>
              <a:p>
                <a:pPr>
                  <a:buNone/>
                </a:pPr>
                <a:endParaRPr lang="en-US" sz="200"/>
              </a:p>
              <a:p>
                <a:pPr algn="ctr">
                  <a:buNone/>
                </a:pPr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5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5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15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r>
                            <a:rPr lang="en-US" sz="15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=0.40,</m:t>
                          </m:r>
                          <m:r>
                            <m:rPr>
                              <m:nor/>
                            </m:rPr>
                            <a:rPr lang="en-US" sz="1500">
                              <a:solidFill>
                                <a:srgbClr val="4B2E83"/>
                              </a:solidFill>
                            </a:rPr>
                            <m:t>   </m:t>
                          </m:r>
                          <m:sSub>
                            <m:sSubPr>
                              <m:ctrlPr>
                                <a:rPr lang="en-US" sz="15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5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15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r>
                            <a:rPr lang="en-US" sz="15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=0.10</m:t>
                          </m:r>
                        </m:oMath>
                      </m:oMathPara>
                    </a14:m>
                  </mc:Choice>
                  <mc:Fallback xmlns:m="http://schemas.openxmlformats.org/officeDocument/2006/math" xmlns="">
                    <a:r>
                      <a:rPr lang="en-US" sz="1500">
                        <a:solidFill>
                          <a:srgbClr val="4B2E83"/>
                        </a:solidFill>
                      </a:rPr>
                      <a:t>pᵢⱼ = 0.40, qᵢⱼ = 0.10</a:t>
                    </a:r>
                  </mc:Fallback>
                </mc:AlternateContent>
                <a:endParaRPr lang="en-US" sz="200"/>
              </a:p>
              <a:p>
                <a:pPr>
                  <a:buNone/>
                </a:pPr>
                <a:endParaRPr lang="en-US" sz="300"/>
              </a:p>
              <a:p>
                <a:pPr>
                  <a:buNone/>
                </a:pPr>
                <a:r>
                  <a:rPr lang="en-US" sz="1500" dirty="0">
                    <a:solidFill>
                      <a:srgbClr val="333333"/>
                    </a:solidFill>
                  </a:rPr>
                  <a:t>Task: compute the pairwise gradient contribution and the updated </a:t>
                </a:r>
                <mc:AlternateContent>
                  <mc:Choice Requires="a14"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15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5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  <m:sub>
                            <m:r>
                              <a:rPr lang="en-US" sz="15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a14:m>
                  </mc:Choice>
                  <mc:Fallback xmlns:m="http://schemas.openxmlformats.org/officeDocument/2006/math" xmlns="">
                    <a:r>
                      <a:rPr lang="en-US" sz="1500">
                        <a:solidFill>
                          <a:srgbClr val="333333"/>
                        </a:solidFill>
                      </a:rPr>
                      <a:t>yᵢ</a:t>
                    </a:r>
                  </mc:Fallback>
                </mc:AlternateContent>
                <a:r>
                  <a:rPr lang="en-US" sz="1500" dirty="0">
                    <a:solidFill>
                      <a:srgbClr val="333333"/>
                    </a:solidFill>
                  </a:rPr>
                  <a:t> with learning rate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𝜂</m:t>
                        </m:r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=100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500">
                        <a:solidFill>
                          <a:srgbClr val="333333"/>
                        </a:solidFill>
                      </a:rPr>
                      <a:t>η = 100</a:t>
                    </a:r>
                  </mc:Fallback>
                </mc:AlternateContent>
                <a:r>
                  <a:rPr lang="en-US" sz="1500" dirty="0">
                    <a:solidFill>
                      <a:srgbClr val="333333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D2F6628-103A-4D4B-992F-8918E5A22C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235200"/>
                <a:ext cx="5207000" cy="1899110"/>
              </a:xfrm>
              <a:prstGeom prst="rect">
                <a:avLst/>
              </a:prstGeom>
              <a:blipFill>
                <a:blip r:embed="rId2"/>
                <a:stretch>
                  <a:fillRect l="-730" t="-1333" b="-2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04FE997-F1EE-174B-A258-12F78321930A}"/>
              </a:ext>
            </a:extLst>
          </p:cNvPr>
          <p:cNvSpPr/>
          <p:nvPr/>
        </p:nvSpPr>
        <p:spPr>
          <a:xfrm>
            <a:off x="6210300" y="2235200"/>
            <a:ext cx="5143500" cy="38608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D1578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D2D4511-ECAA-5146-9946-58F7604581D8}"/>
                  </a:ext>
                </a:extLst>
              </p:cNvPr>
              <p:cNvSpPr txBox="1"/>
              <p:nvPr/>
            </p:nvSpPr>
            <p:spPr>
              <a:xfrm>
                <a:off x="6438900" y="2438400"/>
                <a:ext cx="4699000" cy="2470869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>
                  <a:buNone/>
                </a:pPr>
                <a:r>
                  <a:rPr lang="en-US" sz="1600" b="1" dirty="0">
                    <a:solidFill>
                      <a:srgbClr val="D1578A"/>
                    </a:solidFill>
                    <a:latin typeface="Arial"/>
                  </a:rPr>
                  <a:t>Solution</a:t>
                </a:r>
              </a:p>
              <a:p>
                <a:pPr>
                  <a:buNone/>
                </a:pPr>
                <a:r>
                  <a:rPr lang="en-US" sz="1500" dirty="0">
                    <a:solidFill>
                      <a:srgbClr val="333333"/>
                    </a:solidFill>
                  </a:rPr>
                  <a:t>Student-t factor:</a:t>
                </a:r>
              </a:p>
              <a:p>
                <a:pPr algn="ctr">
                  <a:buNone/>
                </a:pPr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en-US" sz="15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500" i="1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500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  <m:t>1+</m:t>
                                  </m:r>
                                  <m:sSup>
                                    <m:sSupPr>
                                      <m:ctrlPr>
                                        <a:rPr lang="en-US" sz="1500" i="1">
                                          <a:solidFill>
                                            <a:srgbClr val="4B2E8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begChr m:val="‖"/>
                                          <m:endChr m:val="‖"/>
                                          <m:ctrlPr>
                                            <a:rPr lang="en-US" sz="1500" i="1">
                                              <a:solidFill>
                                                <a:srgbClr val="4B2E83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1500" i="1">
                                                  <a:solidFill>
                                                    <a:srgbClr val="4B2E83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500">
                                                  <a:solidFill>
                                                    <a:srgbClr val="333333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𝒚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500">
                                                  <a:solidFill>
                                                    <a:srgbClr val="333333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n-US" sz="1500">
                                              <a:solidFill>
                                                <a:srgbClr val="4B2E83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1500" i="1">
                                                  <a:solidFill>
                                                    <a:srgbClr val="4B2E83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500">
                                                  <a:solidFill>
                                                    <a:srgbClr val="333333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𝒚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500">
                                                  <a:solidFill>
                                                    <a:srgbClr val="333333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1500">
                                          <a:solidFill>
                                            <a:srgbClr val="4B2E8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sz="15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en-US" sz="15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en-US" sz="15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500" i="1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500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  <m:t>1+4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15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en-US" sz="15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=0.2</m:t>
                          </m:r>
                        </m:oMath>
                      </m:oMathPara>
                    </a14:m>
                  </mc:Choice>
                  <mc:Fallback xmlns:m="http://schemas.openxmlformats.org/officeDocument/2006/math" xmlns="">
                    <a:r>
                      <a:rPr lang="en-US" sz="1500">
                        <a:solidFill>
                          <a:srgbClr val="4B2E83"/>
                        </a:solidFill>
                      </a:rPr>
                      <a:t>(1+‖yᵢ−yⱼ‖²)⁻¹ = (1+4)⁻¹ = 0.2</a:t>
                    </a:r>
                  </mc:Fallback>
                </mc:AlternateContent>
                <a:endParaRPr lang="en-US" sz="1500" dirty="0">
                  <a:solidFill>
                    <a:srgbClr val="333333"/>
                  </a:solidFill>
                </a:endParaRPr>
              </a:p>
              <a:p>
                <a:pPr>
                  <a:buNone/>
                </a:pPr>
                <a:endParaRPr lang="en-US" sz="150"/>
              </a:p>
              <a:p>
                <a:pPr>
                  <a:buNone/>
                </a:pPr>
                <a:r>
                  <a:rPr lang="en-US" sz="1500" dirty="0">
                    <a:solidFill>
                      <a:srgbClr val="333333"/>
                    </a:solidFill>
                  </a:rPr>
                  <a:t>Pairwise gradient term:</a:t>
                </a:r>
              </a:p>
              <a:p>
                <a:pPr algn="ctr">
                  <a:buNone/>
                </a:pPr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5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  <m:d>
                            <m:dPr>
                              <m:ctrlPr>
                                <a:rPr lang="en-US" sz="15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500" i="1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500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1500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  <m:r>
                                <a:rPr lang="en-US" sz="15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500" i="1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500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sz="1500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</m:e>
                          </m:d>
                          <m:d>
                            <m:dPr>
                              <m:ctrlPr>
                                <a:rPr lang="en-US" sz="15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500" i="1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500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b>
                                  <m:r>
                                    <a:rPr lang="en-US" sz="1500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5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500" i="1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500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b>
                                  <m:r>
                                    <a:rPr lang="en-US" sz="1500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15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·0.2</m:t>
                          </m:r>
                        </m:oMath>
                      </m:oMathPara>
                    </a14:m>
                  </mc:Choice>
                  <mc:Fallback xmlns:m="http://schemas.openxmlformats.org/officeDocument/2006/math" xmlns="">
                    <a:r>
                      <a:rPr lang="en-US" sz="1500">
                        <a:solidFill>
                          <a:srgbClr val="4B2E83"/>
                        </a:solidFill>
                      </a:rPr>
                      <a:t>4(pᵢⱼ−qᵢⱼ)(yᵢ−yⱼ)·0.2</a:t>
                    </a:r>
                  </mc:Fallback>
                </mc:AlternateContent>
                <a:endParaRPr lang="en-US" sz="1500" dirty="0">
                  <a:solidFill>
                    <a:srgbClr val="333333"/>
                  </a:solidFill>
                </a:endParaRPr>
              </a:p>
              <a:p>
                <a:pPr algn="ctr">
                  <a:buNone/>
                </a:pPr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5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=4</m:t>
                          </m:r>
                          <m:d>
                            <m:dPr>
                              <m:ctrlPr>
                                <a:rPr lang="en-US" sz="15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5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0.30</m:t>
                              </m:r>
                            </m:e>
                          </m:d>
                          <m:d>
                            <m:dPr>
                              <m:ctrlPr>
                                <a:rPr lang="en-US" sz="15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5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−2.0</m:t>
                              </m:r>
                            </m:e>
                          </m:d>
                          <m:d>
                            <m:dPr>
                              <m:ctrlPr>
                                <a:rPr lang="en-US" sz="15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5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0.2</m:t>
                              </m:r>
                            </m:e>
                          </m:d>
                          <m:r>
                            <a:rPr lang="en-US" sz="15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=−0.48</m:t>
                          </m:r>
                        </m:oMath>
                      </m:oMathPara>
                    </a14:m>
                  </mc:Choice>
                  <mc:Fallback xmlns:m="http://schemas.openxmlformats.org/officeDocument/2006/math" xmlns="">
                    <a:r>
                      <a:rPr lang="en-US" sz="1500">
                        <a:solidFill>
                          <a:srgbClr val="4B2E83"/>
                        </a:solidFill>
                      </a:rPr>
                      <a:t>= 4(0.30)(−2.0)(0.2) = −0.48</a:t>
                    </a:r>
                  </mc:Fallback>
                </mc:AlternateContent>
                <a:endParaRPr lang="en-US" sz="1500" dirty="0">
                  <a:solidFill>
                    <a:srgbClr val="333333"/>
                  </a:solidFill>
                </a:endParaRPr>
              </a:p>
              <a:p>
                <a:pPr>
                  <a:buNone/>
                </a:pPr>
                <a:endParaRPr lang="en-US" sz="150"/>
              </a:p>
              <a:p>
                <a:pPr>
                  <a:buNone/>
                </a:pPr>
                <a:r>
                  <a:rPr lang="en-US" sz="1500" dirty="0">
                    <a:solidFill>
                      <a:srgbClr val="333333"/>
                    </a:solidFill>
                  </a:rPr>
                  <a:t>Gradient descent step:</a:t>
                </a:r>
              </a:p>
              <a:p>
                <a:pPr algn="ctr">
                  <a:buNone/>
                </a:pPr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5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5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  <m:sub>
                              <m:r>
                                <a:rPr lang="en-US" sz="15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15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←0.0−100</m:t>
                          </m:r>
                          <m:d>
                            <m:dPr>
                              <m:ctrlPr>
                                <a:rPr lang="en-US" sz="15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5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−0.48</m:t>
                              </m:r>
                            </m:e>
                          </m:d>
                          <m:r>
                            <a:rPr lang="en-US" sz="15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·</m:t>
                          </m:r>
                          <m:sSup>
                            <m:sSupPr>
                              <m:ctrlPr>
                                <a:rPr lang="en-US" sz="15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5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en-US" sz="15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−3</m:t>
                              </m:r>
                            </m:sup>
                          </m:sSup>
                          <m:r>
                            <a:rPr lang="en-US" sz="15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=0.048</m:t>
                          </m:r>
                        </m:oMath>
                      </m:oMathPara>
                    </a14:m>
                  </mc:Choice>
                  <mc:Fallback xmlns:m="http://schemas.openxmlformats.org/officeDocument/2006/math" xmlns="">
                    <a:r>
                      <a:rPr lang="en-US" sz="1500">
                        <a:solidFill>
                          <a:srgbClr val="4B2E83"/>
                        </a:solidFill>
                      </a:rPr>
                      <a:t>yᵢ ← 0.0 − 100(−0.48)·10⁻³ = 0.048</a:t>
                    </a:r>
                  </mc:Fallback>
                </mc:AlternateContent>
                <a:endParaRPr lang="en-US" sz="1500" dirty="0">
                  <a:solidFill>
                    <a:srgbClr val="333333"/>
                  </a:solidFill>
                </a:endParaRPr>
              </a:p>
              <a:p>
                <a:pPr>
                  <a:buNone/>
                </a:pPr>
                <a:endParaRPr lang="en-US" sz="150"/>
              </a:p>
              <a:p>
                <a:pPr>
                  <a:buNone/>
                </a:pP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&gt;</m:t>
                        </m:r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500">
                        <a:solidFill>
                          <a:srgbClr val="333333"/>
                        </a:solidFill>
                      </a:rPr>
                      <a:t>p&gt;q</a:t>
                    </a:r>
                  </mc:Fallback>
                </mc:AlternateContent>
                <a:r>
                  <a:rPr lang="en-US" sz="1500" dirty="0">
                    <a:solidFill>
                      <a:srgbClr val="333333"/>
                    </a:solidFill>
                  </a:rPr>
                  <a:t> → attractive force pulls </a:t>
                </a:r>
                <mc:AlternateContent>
                  <mc:Choice Requires="a14"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15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5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  <m:sub>
                            <m:r>
                              <a:rPr lang="en-US" sz="15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a14:m>
                  </mc:Choice>
                  <mc:Fallback xmlns:m="http://schemas.openxmlformats.org/officeDocument/2006/math" xmlns="">
                    <a:r>
                      <a:rPr lang="en-US" sz="1500">
                        <a:solidFill>
                          <a:srgbClr val="333333"/>
                        </a:solidFill>
                      </a:rPr>
                      <a:t>yᵢ</a:t>
                    </a:r>
                  </mc:Fallback>
                </mc:AlternateContent>
                <a:r>
                  <a:rPr lang="en-US" sz="1500" dirty="0">
                    <a:solidFill>
                      <a:srgbClr val="333333"/>
                    </a:solidFill>
                  </a:rPr>
                  <a:t> toward </a:t>
                </a:r>
                <mc:AlternateContent>
                  <mc:Choice Requires="a14"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15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5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  <m:sub>
                            <m:r>
                              <a:rPr lang="en-US" sz="15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oMath>
                    </a14:m>
                  </mc:Choice>
                  <mc:Fallback xmlns:m="http://schemas.openxmlformats.org/officeDocument/2006/math" xmlns="">
                    <a:r>
                      <a:rPr lang="en-US" sz="1500">
                        <a:solidFill>
                          <a:srgbClr val="333333"/>
                        </a:solidFill>
                      </a:rPr>
                      <a:t>yⱼ</a:t>
                    </a:r>
                  </mc:Fallback>
                </mc:AlternateContent>
                <a:r>
                  <a:rPr lang="en-US" sz="1500" dirty="0">
                    <a:solidFill>
                      <a:srgbClr val="333333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D2D4511-ECAA-5146-9946-58F7604581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8900" y="2438400"/>
                <a:ext cx="4699000" cy="2470869"/>
              </a:xfrm>
              <a:prstGeom prst="rect">
                <a:avLst/>
              </a:prstGeom>
              <a:blipFill>
                <a:blip r:embed="rId3"/>
                <a:stretch>
                  <a:fillRect l="-539" t="-1026" b="-10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437104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F51725-AD53-C14D-AC8F-4C083DC88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t-SNE — Exercises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C356088-7038-A74A-A8AF-D273FEADBA23}"/>
              </a:ext>
            </a:extLst>
          </p:cNvPr>
          <p:cNvSpPr/>
          <p:nvPr/>
        </p:nvSpPr>
        <p:spPr>
          <a:xfrm>
            <a:off x="838200" y="2362200"/>
            <a:ext cx="558800" cy="558800"/>
          </a:xfrm>
          <a:prstGeom prst="ellipse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FFFFFF"/>
                </a:solidFill>
                <a:latin typeface="Arial"/>
                <a:cs typeface="Arial"/>
              </a:rPr>
              <a:t>E1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D9D7A54-F418-C846-959E-F0C85120C229}"/>
              </a:ext>
            </a:extLst>
          </p:cNvPr>
          <p:cNvSpPr/>
          <p:nvPr/>
        </p:nvSpPr>
        <p:spPr>
          <a:xfrm>
            <a:off x="1625600" y="1905000"/>
            <a:ext cx="9728200" cy="1473200"/>
          </a:xfrm>
          <a:prstGeom prst="roundRect">
            <a:avLst/>
          </a:prstGeom>
          <a:solidFill>
            <a:srgbClr val="F5F0EB"/>
          </a:solidFill>
          <a:ln w="12700" cap="flat" cmpd="sng" algn="ctr">
            <a:solidFill>
              <a:srgbClr val="B7A57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EABEE36-38AD-4C4D-95DD-01B97B44F8B1}"/>
                  </a:ext>
                </a:extLst>
              </p:cNvPr>
              <p:cNvSpPr txBox="1"/>
              <p:nvPr/>
            </p:nvSpPr>
            <p:spPr>
              <a:xfrm>
                <a:off x="1854200" y="2349212"/>
                <a:ext cx="9296400" cy="584775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spAutoFit/>
              </a:bodyPr>
              <a:lstStyle/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Given squared distances </a:t>
                </a:r>
                <mc:AlternateContent>
                  <mc:Choice Requires="a14">
                    <a14:m>
                      <m:oMath xmlns:m="http://schemas.openxmlformats.org/officeDocument/2006/math">
                        <m:d>
                          <m:dPr>
                            <m:begChr m:val="{"/>
                            <m:endChr m:val="}"/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0.5,2.0,6.0</m:t>
                            </m:r>
                          </m:e>
                        </m:d>
                      </m:oMath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333333"/>
                        </a:solidFill>
                      </a:rPr>
                      <a:t>{0.5, 2.0, 6.0}</a:t>
                    </a:r>
                  </mc:Fallback>
                </mc:AlternateContent>
                <a:r>
                  <a:rPr lang="en-US" sz="1600" dirty="0">
                    <a:solidFill>
                      <a:srgbClr val="333333"/>
                    </a:solidFill>
                  </a:rPr>
                  <a:t> from point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333333"/>
                        </a:solidFill>
                      </a:rPr>
                      <a:t>i</a:t>
                    </a:r>
                  </mc:Fallback>
                </mc:AlternateContent>
                <a:r>
                  <a:rPr lang="en-US" sz="1600" dirty="0">
                    <a:solidFill>
                      <a:srgbClr val="333333"/>
                    </a:solidFill>
                  </a:rPr>
                  <a:t> with </a:t>
                </a:r>
                <mc:AlternateContent>
                  <mc:Choice Requires="a14">
                    <a14:m>
                      <m:oMath xmlns:m="http://schemas.openxmlformats.org/officeDocument/2006/math">
                        <m:sSup>
                          <m:sSupPr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US" sz="1600" i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  <m:sup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333333"/>
                        </a:solidFill>
                      </a:rPr>
                      <a:t>σᵢ² = 1</a:t>
                    </a:r>
                  </mc:Fallback>
                </mc:AlternateContent>
                <a:r>
                  <a:rPr lang="en-US" sz="1600" dirty="0">
                    <a:solidFill>
                      <a:srgbClr val="333333"/>
                    </a:solidFill>
                  </a:rPr>
                  <a:t>, compute the three conditional affinities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oMath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333333"/>
                        </a:solidFill>
                      </a:rPr>
                      <a:t>p(j|i)</a:t>
                    </a:r>
                  </mc:Fallback>
                </mc:AlternateContent>
                <a:r>
                  <a:rPr lang="en-US" sz="1600" dirty="0">
                    <a:solidFill>
                      <a:srgbClr val="333333"/>
                    </a:solidFill>
                  </a:rPr>
                  <a:t> and verify they sum to 1.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EABEE36-38AD-4C4D-95DD-01B97B44F8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4200" y="2349212"/>
                <a:ext cx="9296400" cy="584775"/>
              </a:xfrm>
              <a:prstGeom prst="rect">
                <a:avLst/>
              </a:prstGeom>
              <a:blipFill>
                <a:blip r:embed="rId2"/>
                <a:stretch>
                  <a:fillRect l="-273" t="-2128" b="-127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Oval 7">
            <a:extLst>
              <a:ext uri="{FF2B5EF4-FFF2-40B4-BE49-F238E27FC236}">
                <a16:creationId xmlns:a16="http://schemas.microsoft.com/office/drawing/2014/main" id="{297C1574-CC2C-824C-B438-5834494AEC06}"/>
              </a:ext>
            </a:extLst>
          </p:cNvPr>
          <p:cNvSpPr/>
          <p:nvPr/>
        </p:nvSpPr>
        <p:spPr>
          <a:xfrm>
            <a:off x="838200" y="3886200"/>
            <a:ext cx="558800" cy="558800"/>
          </a:xfrm>
          <a:prstGeom prst="ellipse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FFFFFF"/>
                </a:solidFill>
                <a:latin typeface="Arial"/>
                <a:cs typeface="Arial"/>
              </a:rPr>
              <a:t>E2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8F174562-6004-5443-80D3-BAC9501197AF}"/>
              </a:ext>
            </a:extLst>
          </p:cNvPr>
          <p:cNvSpPr/>
          <p:nvPr/>
        </p:nvSpPr>
        <p:spPr>
          <a:xfrm>
            <a:off x="1625600" y="3429000"/>
            <a:ext cx="9728200" cy="1473200"/>
          </a:xfrm>
          <a:prstGeom prst="roundRect">
            <a:avLst/>
          </a:prstGeom>
          <a:solidFill>
            <a:srgbClr val="F5F0EB"/>
          </a:solidFill>
          <a:ln w="12700" cap="flat" cmpd="sng" algn="ctr">
            <a:solidFill>
              <a:srgbClr val="B7A57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7C8B4B8-3897-2E46-BBF4-B9976F71DDEA}"/>
                  </a:ext>
                </a:extLst>
              </p:cNvPr>
              <p:cNvSpPr txBox="1"/>
              <p:nvPr/>
            </p:nvSpPr>
            <p:spPr>
              <a:xfrm>
                <a:off x="1854200" y="3873212"/>
                <a:ext cx="9296400" cy="584775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spAutoFit/>
              </a:bodyPr>
              <a:lstStyle/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A point distribution has entropy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sz="1600">
                            <a:solidFill>
                              <a:srgbClr val="333333"/>
                            </a:solidFill>
                          </a:rPr>
                          <m:t>H</m:t>
                        </m:r>
                        <m:d>
                          <m:dPr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600" i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𝐏</m:t>
                                </m:r>
                              </m:e>
                              <m:sub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=3.0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333333"/>
                        </a:solidFill>
                      </a:rPr>
                      <a:t>H(Pᵢ) = 3.0</a:t>
                    </a:r>
                  </mc:Fallback>
                </mc:AlternateContent>
                <a:r>
                  <a:rPr lang="en-US" sz="1600" dirty="0">
                    <a:solidFill>
                      <a:srgbClr val="333333"/>
                    </a:solidFill>
                  </a:rPr>
                  <a:t> bits. Find its perplexity. If the target perplexity is 30, should </a:t>
                </a:r>
                <mc:AlternateContent>
                  <mc:Choice Requires="a14"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333333"/>
                        </a:solidFill>
                      </a:rPr>
                      <a:t>σᵢ</a:t>
                    </a:r>
                  </mc:Fallback>
                </mc:AlternateContent>
                <a:r>
                  <a:rPr lang="en-US" sz="1600" dirty="0">
                    <a:solidFill>
                      <a:srgbClr val="333333"/>
                    </a:solidFill>
                  </a:rPr>
                  <a:t> increase or decrease? Explain.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7C8B4B8-3897-2E46-BBF4-B9976F71DD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4200" y="3873212"/>
                <a:ext cx="9296400" cy="584775"/>
              </a:xfrm>
              <a:prstGeom prst="rect">
                <a:avLst/>
              </a:prstGeom>
              <a:blipFill>
                <a:blip r:embed="rId3"/>
                <a:stretch>
                  <a:fillRect l="-273" t="-2128" b="-127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Oval 10">
            <a:extLst>
              <a:ext uri="{FF2B5EF4-FFF2-40B4-BE49-F238E27FC236}">
                <a16:creationId xmlns:a16="http://schemas.microsoft.com/office/drawing/2014/main" id="{479541F9-32E1-0548-AF37-9A5DBE0474A6}"/>
              </a:ext>
            </a:extLst>
          </p:cNvPr>
          <p:cNvSpPr/>
          <p:nvPr/>
        </p:nvSpPr>
        <p:spPr>
          <a:xfrm>
            <a:off x="838200" y="5410200"/>
            <a:ext cx="558800" cy="558800"/>
          </a:xfrm>
          <a:prstGeom prst="ellipse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FFFFFF"/>
                </a:solidFill>
                <a:latin typeface="Arial"/>
                <a:cs typeface="Arial"/>
              </a:rPr>
              <a:t>E3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6972835E-C791-124D-BCB9-F560353E5D2B}"/>
              </a:ext>
            </a:extLst>
          </p:cNvPr>
          <p:cNvSpPr/>
          <p:nvPr/>
        </p:nvSpPr>
        <p:spPr>
          <a:xfrm>
            <a:off x="1625600" y="4953000"/>
            <a:ext cx="9728200" cy="1473200"/>
          </a:xfrm>
          <a:prstGeom prst="roundRect">
            <a:avLst/>
          </a:prstGeom>
          <a:solidFill>
            <a:srgbClr val="F5F0EB"/>
          </a:solidFill>
          <a:ln w="12700" cap="flat" cmpd="sng" algn="ctr">
            <a:solidFill>
              <a:srgbClr val="B7A57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E952A0E-670D-094D-8F10-35090F426B3A}"/>
                  </a:ext>
                </a:extLst>
              </p:cNvPr>
              <p:cNvSpPr txBox="1"/>
              <p:nvPr/>
            </p:nvSpPr>
            <p:spPr>
              <a:xfrm>
                <a:off x="1854200" y="5387305"/>
                <a:ext cx="9296400" cy="604589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spAutoFit/>
              </a:bodyPr>
              <a:lstStyle/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For map points </a:t>
                </a:r>
                <mc:AlternateContent>
                  <mc:Choice Requires="a14"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  <m:sub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0,0</m:t>
                            </m:r>
                          </m:e>
                        </m:d>
                      </m:oMath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333333"/>
                        </a:solidFill>
                      </a:rPr>
                      <a:t>yᵢ=(0,0)</a:t>
                    </a:r>
                  </mc:Fallback>
                </mc:AlternateContent>
                <a:r>
                  <a:rPr lang="en-US" sz="1600" dirty="0">
                    <a:solidFill>
                      <a:srgbClr val="333333"/>
                    </a:solidFill>
                  </a:rPr>
                  <a:t>, </a:t>
                </a:r>
                <mc:AlternateContent>
                  <mc:Choice Requires="a14"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  <m:sub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3,0</m:t>
                            </m:r>
                          </m:e>
                        </m:d>
                      </m:oMath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333333"/>
                        </a:solidFill>
                      </a:rPr>
                      <a:t>yⱼ=(3,0)</a:t>
                    </a:r>
                  </mc:Fallback>
                </mc:AlternateContent>
                <a:r>
                  <a:rPr lang="en-US" sz="1600" dirty="0">
                    <a:solidFill>
                      <a:srgbClr val="333333"/>
                    </a:solidFill>
                  </a:rPr>
                  <a:t> with </a:t>
                </a:r>
                <mc:AlternateContent>
                  <mc:Choice Requires="a14"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=0.05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333333"/>
                        </a:solidFill>
                      </a:rPr>
                      <a:t>pᵢⱼ=0.05</a:t>
                    </a:r>
                  </mc:Fallback>
                </mc:AlternateContent>
                <a:r>
                  <a:rPr lang="en-US" sz="1600" dirty="0">
                    <a:solidFill>
                      <a:srgbClr val="333333"/>
                    </a:solidFill>
                  </a:rPr>
                  <a:t>, </a:t>
                </a:r>
                <mc:AlternateContent>
                  <mc:Choice Requires="a14"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=0.20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333333"/>
                        </a:solidFill>
                      </a:rPr>
                      <a:t>qᵢⱼ=0.20</a:t>
                    </a:r>
                  </mc:Fallback>
                </mc:AlternateContent>
                <a:r>
                  <a:rPr lang="en-US" sz="1600" dirty="0">
                    <a:solidFill>
                      <a:srgbClr val="333333"/>
                    </a:solidFill>
                  </a:rPr>
                  <a:t>, compute the Student-t factor and the pairwise gradient. Is the force attractive or repulsive?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E952A0E-670D-094D-8F10-35090F426B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4200" y="5387305"/>
                <a:ext cx="9296400" cy="604589"/>
              </a:xfrm>
              <a:prstGeom prst="rect">
                <a:avLst/>
              </a:prstGeom>
              <a:blipFill>
                <a:blip r:embed="rId4"/>
                <a:stretch>
                  <a:fillRect l="-273" t="-4167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039099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1C783D1-FED8-F641-83A7-97BD7BCBEF8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E0F6BF-DCF7-F744-84B8-FFA0530C5416}"/>
              </a:ext>
            </a:extLst>
          </p:cNvPr>
          <p:cNvSpPr/>
          <p:nvPr/>
        </p:nvSpPr>
        <p:spPr>
          <a:xfrm>
            <a:off x="0" y="3810000"/>
            <a:ext cx="3810000" cy="1016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22B823-8A60-B542-B77F-9F230961BF0A}"/>
              </a:ext>
            </a:extLst>
          </p:cNvPr>
          <p:cNvSpPr txBox="1"/>
          <p:nvPr/>
        </p:nvSpPr>
        <p:spPr>
          <a:xfrm>
            <a:off x="838200" y="1905000"/>
            <a:ext cx="25400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4000" b="1">
                <a:solidFill>
                  <a:srgbClr val="F5F0EB"/>
                </a:solidFill>
                <a:latin typeface="Arial"/>
                <a:cs typeface="Arial"/>
              </a:rPr>
              <a:t>05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45952A1-01DE-7B40-AFEB-209C47961368}"/>
              </a:ext>
            </a:extLst>
          </p:cNvPr>
          <p:cNvSpPr txBox="1"/>
          <p:nvPr/>
        </p:nvSpPr>
        <p:spPr>
          <a:xfrm>
            <a:off x="787400" y="2857500"/>
            <a:ext cx="9652000" cy="1143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5400" b="1">
                <a:solidFill>
                  <a:srgbClr val="FFFFFF"/>
                </a:solidFill>
                <a:latin typeface="Arial"/>
                <a:cs typeface="Arial"/>
              </a:rPr>
              <a:t>UMAP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31790BD-7467-4B49-8573-2248BE69279C}"/>
              </a:ext>
            </a:extLst>
          </p:cNvPr>
          <p:cNvSpPr txBox="1"/>
          <p:nvPr/>
        </p:nvSpPr>
        <p:spPr>
          <a:xfrm>
            <a:off x="838200" y="4191000"/>
            <a:ext cx="10414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000">
                <a:solidFill>
                  <a:srgbClr val="FFFFFF"/>
                </a:solidFill>
                <a:latin typeface="Calibri"/>
                <a:cs typeface="Calibri"/>
              </a:rPr>
              <a:t>Uniform Manifold Approximation and Projection</a:t>
            </a:r>
          </a:p>
        </p:txBody>
      </p:sp>
    </p:spTree>
    <p:extLst>
      <p:ext uri="{BB962C8B-B14F-4D97-AF65-F5344CB8AC3E}">
        <p14:creationId xmlns:p14="http://schemas.microsoft.com/office/powerpoint/2010/main" val="41821156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3D035-9BF5-A882-9AFF-C22226B0B6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UMAP: High-Dimensional Graph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E7EC246-E7C7-4840-9ADF-995AACB4B98E}"/>
                  </a:ext>
                </a:extLst>
              </p:cNvPr>
              <p:cNvSpPr txBox="1"/>
              <p:nvPr/>
            </p:nvSpPr>
            <p:spPr>
              <a:xfrm>
                <a:off x="838200" y="1778000"/>
                <a:ext cx="10515600" cy="323165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>
                  <a:buNone/>
                </a:pPr>
                <a:r>
                  <a:rPr lang="en-US" sz="1500" dirty="0">
                    <a:solidFill>
                      <a:srgbClr val="333333"/>
                    </a:solidFill>
                  </a:rPr>
                  <a:t>UMAP builds a weighted k-NN graph in high-D, then finds a low-D layout with a matching graph. For each point </a:t>
                </a:r>
                <mc:AlternateContent>
                  <mc:Choice Requires="a14"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15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5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15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a14:m>
                  </mc:Choice>
                  <mc:Fallback xmlns:m="http://schemas.openxmlformats.org/officeDocument/2006/math" xmlns="">
                    <a:r>
                      <a:rPr lang="en-US" sz="1500">
                        <a:solidFill>
                          <a:srgbClr val="333333"/>
                        </a:solidFill>
                      </a:rPr>
                      <a:t>xᵢ</a:t>
                    </a:r>
                  </mc:Fallback>
                </mc:AlternateContent>
                <a:r>
                  <a:rPr lang="en-US" sz="1500" dirty="0">
                    <a:solidFill>
                      <a:srgbClr val="333333"/>
                    </a:solidFill>
                  </a:rPr>
                  <a:t> with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500">
                        <a:solidFill>
                          <a:srgbClr val="333333"/>
                        </a:solidFill>
                      </a:rPr>
                      <a:t>k</a:t>
                    </a:r>
                  </mc:Fallback>
                </mc:AlternateContent>
                <a:r>
                  <a:rPr lang="en-US" sz="1500" dirty="0">
                    <a:solidFill>
                      <a:srgbClr val="333333"/>
                    </a:solidFill>
                  </a:rPr>
                  <a:t> neighbors: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E7EC246-E7C7-4840-9ADF-995AACB4B9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778000"/>
                <a:ext cx="10515600" cy="323165"/>
              </a:xfrm>
              <a:prstGeom prst="rect">
                <a:avLst/>
              </a:prstGeom>
              <a:blipFill>
                <a:blip r:embed="rId2"/>
                <a:stretch>
                  <a:fillRect l="-362" t="-7692" b="-192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900EC97-A7B9-5D40-9C6D-73E28DC65C89}"/>
              </a:ext>
            </a:extLst>
          </p:cNvPr>
          <p:cNvSpPr/>
          <p:nvPr/>
        </p:nvSpPr>
        <p:spPr>
          <a:xfrm>
            <a:off x="838200" y="2311400"/>
            <a:ext cx="10515600" cy="812800"/>
          </a:xfrm>
          <a:prstGeom prst="roundRect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3535F43-E6D2-CB4A-825E-E7B00871A896}"/>
                  </a:ext>
                </a:extLst>
              </p:cNvPr>
              <p:cNvSpPr txBox="1"/>
              <p:nvPr/>
            </p:nvSpPr>
            <p:spPr>
              <a:xfrm>
                <a:off x="1016000" y="2396974"/>
                <a:ext cx="10160000" cy="641651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spAutoFit/>
              </a:bodyPr>
              <a:lstStyle/>
              <a:p>
                <a:pPr algn="ctr">
                  <a:buNone/>
                </a:pPr>
                <mc:AlternateContent>
                  <mc:Choice Requires="a14"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1900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900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en-US" sz="1900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190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sz="1900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sz="1900">
                                <a:solidFill>
                                  <a:srgbClr val="FFFFFF"/>
                                </a:solidFill>
                              </a:rPr>
                              <m:t>min</m:t>
                            </m:r>
                          </m:e>
                          <m:sub>
                            <m:r>
                              <a:rPr lang="en-US" sz="1900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d>
                          <m:dPr>
                            <m:ctrlPr>
                              <a:rPr lang="en-US" sz="15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500" i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5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sz="15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15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1500" i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5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sz="15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</m:oMath>
                    </a14:m>
                  </mc:Choice>
                  <mc:Fallback xmlns:m="http://schemas.openxmlformats.org/officeDocument/2006/math" xmlns="">
                    <a:r>
                      <a:rPr lang="en-US" sz="1900">
                        <a:solidFill>
                          <a:srgbClr val="FFFFFF"/>
                        </a:solidFill>
                      </a:rPr>
                      <a:t>ρᵢ = minⱼ d(xᵢ,xⱼ)</a:t>
                    </a:r>
                  </mc:Fallback>
                </mc:AlternateContent>
                <a:r>
                  <a:rPr lang="en-US" sz="1900" dirty="0">
                    <a:solidFill>
                      <a:srgbClr val="FFFFFF"/>
                    </a:solidFill>
                  </a:rPr>
                  <a:t>      ;      </a:t>
                </a:r>
                <mc:AlternateContent>
                  <mc:Choice Requires="a14">
                    <a14:m>
                      <m:oMath xmlns:m="http://schemas.openxmlformats.org/officeDocument/2006/math">
                        <m:nary>
                          <m:naryPr>
                            <m:chr m:val="∑"/>
                            <m:limLoc m:val="undOvr"/>
                            <m:supHide m:val="on"/>
                            <m:ctrlPr>
                              <a:rPr lang="en-US" sz="1900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sz="1900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/>
                          <m:e>
                            <m:r>
                              <m:rPr>
                                <m:nor/>
                              </m:rPr>
                              <a:rPr lang="en-US" sz="1900">
                                <a:solidFill>
                                  <a:srgbClr val="FFFFFF"/>
                                </a:solidFill>
                              </a:rPr>
                              <m:t>exp</m:t>
                            </m:r>
                            <m:d>
                              <m:dPr>
                                <m:ctrlPr>
                                  <a:rPr lang="en-US" sz="1900" i="1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900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sz="1900" i="1">
                                        <a:solidFill>
                                          <a:srgbClr val="FFFFF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sz="1900" i="1">
                                            <a:solidFill>
                                              <a:srgbClr val="FFFFFF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d>
                                          <m:dPr>
                                            <m:ctrlPr>
                                              <a:rPr lang="en-US" sz="1900" i="1">
                                                <a:solidFill>
                                                  <a:srgbClr val="FFFFFF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sz="1500">
                                                <a:solidFill>
                                                  <a:srgbClr val="333333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𝑑</m:t>
                                            </m:r>
                                            <m:d>
                                              <m:dPr>
                                                <m:ctrlPr>
                                                  <a:rPr lang="en-US" sz="1500" i="1">
                                                    <a:solidFill>
                                                      <a:srgbClr val="333333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en-US" sz="1500" i="1">
                                                        <a:solidFill>
                                                          <a:srgbClr val="333333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US" sz="1500">
                                                        <a:solidFill>
                                                          <a:srgbClr val="333333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  <m:t>𝒙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sz="1500">
                                                        <a:solidFill>
                                                          <a:srgbClr val="333333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  <m:t>𝑖</m:t>
                                                    </m:r>
                                                  </m:sub>
                                                </m:sSub>
                                                <m:r>
                                                  <a:rPr lang="en-US" sz="1500">
                                                    <a:solidFill>
                                                      <a:srgbClr val="333333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,</m:t>
                                                </m:r>
                                                <m:sSub>
                                                  <m:sSubPr>
                                                    <m:ctrlPr>
                                                      <a:rPr lang="en-US" sz="1500" i="1">
                                                        <a:solidFill>
                                                          <a:srgbClr val="333333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US" sz="1500">
                                                        <a:solidFill>
                                                          <a:srgbClr val="333333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  <m:t>𝒙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sz="1500">
                                                        <a:solidFill>
                                                          <a:srgbClr val="333333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  <m:t>𝑗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</m:d>
                                            <m:r>
                                              <a:rPr lang="en-US" sz="1900">
                                                <a:solidFill>
                                                  <a:srgbClr val="FFFFFF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n-US" sz="1900" i="1">
                                                    <a:solidFill>
                                                      <a:srgbClr val="FFFFFF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1900">
                                                    <a:solidFill>
                                                      <a:srgbClr val="FFFFFF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𝜌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1900">
                                                    <a:solidFill>
                                                      <a:srgbClr val="FFFFFF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𝑖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</m:e>
                                      <m:sub>
                                        <m:r>
                                          <a:rPr lang="en-US" sz="1900">
                                            <a:solidFill>
                                              <a:srgbClr val="FFFFFF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</m:sub>
                                    </m:sSub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sz="1900" i="1">
                                            <a:solidFill>
                                              <a:srgbClr val="FFFFFF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900">
                                            <a:solidFill>
                                              <a:srgbClr val="FFFFFF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𝜎</m:t>
                                        </m:r>
                                      </m:e>
                                      <m:sub>
                                        <m:r>
                                          <a:rPr lang="en-US" sz="1900">
                                            <a:solidFill>
                                              <a:srgbClr val="FFFFFF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d>
                          </m:e>
                        </m:nary>
                        <m:r>
                          <a:rPr lang="en-US" sz="190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sz="1900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sz="1500">
                                <a:solidFill>
                                  <a:srgbClr val="333333"/>
                                </a:solidFill>
                              </a:rPr>
                              <m:t>log</m:t>
                            </m:r>
                          </m:e>
                          <m:sub>
                            <m:r>
                              <a:rPr lang="en-US" sz="15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sz="1500">
                            <a:solidFill>
                              <a:srgbClr val="333333"/>
                            </a:solidFill>
                          </a:rPr>
                          <m:t> </m:t>
                        </m:r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900">
                        <a:solidFill>
                          <a:srgbClr val="FFFFFF"/>
                        </a:solidFill>
                      </a:rPr>
                      <a:t>Σⱼ exp(−(d(xᵢ,xⱼ)−ρᵢ)₊/σᵢ) = log₂ k</a:t>
                    </a:r>
                  </mc:Fallback>
                </mc:AlternateContent>
                <a:endParaRPr lang="en-US" sz="19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3535F43-E6D2-CB4A-825E-E7B00871A8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000" y="2396974"/>
                <a:ext cx="10160000" cy="641651"/>
              </a:xfrm>
              <a:prstGeom prst="rect">
                <a:avLst/>
              </a:prstGeom>
              <a:blipFill>
                <a:blip r:embed="rId3"/>
                <a:stretch>
                  <a:fillRect t="-44231" b="-88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884800F2-47DC-464C-B706-56C747BA58BC}"/>
              </a:ext>
            </a:extLst>
          </p:cNvPr>
          <p:cNvSpPr/>
          <p:nvPr/>
        </p:nvSpPr>
        <p:spPr>
          <a:xfrm>
            <a:off x="838200" y="3327400"/>
            <a:ext cx="10515600" cy="812800"/>
          </a:xfrm>
          <a:prstGeom prst="roundRect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9E72B8D-1AF4-464F-B447-E40AF87EC4F6}"/>
                  </a:ext>
                </a:extLst>
              </p:cNvPr>
              <p:cNvSpPr txBox="1"/>
              <p:nvPr/>
            </p:nvSpPr>
            <p:spPr>
              <a:xfrm>
                <a:off x="1016000" y="3347893"/>
                <a:ext cx="10160000" cy="771814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spAutoFit/>
              </a:bodyPr>
              <a:lstStyle/>
              <a:p>
                <a:pPr algn="ctr">
                  <a:buNone/>
                </a:pPr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90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  <m:d>
                            <m:dPr>
                              <m:ctrlPr>
                                <a:rPr lang="en-US" sz="19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900" i="1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500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sz="1500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90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1900" i="1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500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sz="1500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190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nor/>
                            </m:rPr>
                            <a:rPr lang="en-US" sz="1900">
                              <a:solidFill>
                                <a:srgbClr val="FFFFFF"/>
                              </a:solidFill>
                            </a:rPr>
                            <m:t>exp</m:t>
                          </m:r>
                          <m:d>
                            <m:dPr>
                              <m:ctrlPr>
                                <a:rPr lang="en-US" sz="19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90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sz="1900" i="1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nor/>
                                    </m:rPr>
                                    <a:rPr lang="en-US" sz="1900">
                                      <a:solidFill>
                                        <a:srgbClr val="FFFFFF"/>
                                      </a:solidFill>
                                    </a:rPr>
                                    <m:t>max</m:t>
                                  </m:r>
                                  <m:d>
                                    <m:dPr>
                                      <m:ctrlPr>
                                        <a:rPr lang="en-US" sz="1900" i="1">
                                          <a:solidFill>
                                            <a:srgbClr val="FFFF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900">
                                          <a:solidFill>
                                            <a:srgbClr val="FFFF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0,</m:t>
                                      </m:r>
                                      <m:r>
                                        <a:rPr lang="en-US" sz="1500">
                                          <a:solidFill>
                                            <a:srgbClr val="33333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  <m:d>
                                        <m:dPr>
                                          <m:ctrlPr>
                                            <a:rPr lang="en-US" sz="1500" i="1">
                                              <a:solidFill>
                                                <a:srgbClr val="333333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1500" i="1">
                                                  <a:solidFill>
                                                    <a:srgbClr val="333333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500">
                                                  <a:solidFill>
                                                    <a:srgbClr val="333333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𝒙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500">
                                                  <a:solidFill>
                                                    <a:srgbClr val="333333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n-US" sz="1500">
                                              <a:solidFill>
                                                <a:srgbClr val="333333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1500" i="1">
                                                  <a:solidFill>
                                                    <a:srgbClr val="333333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500">
                                                  <a:solidFill>
                                                    <a:srgbClr val="333333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𝒙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500">
                                                  <a:solidFill>
                                                    <a:srgbClr val="333333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  <m:r>
                                        <a:rPr lang="en-US" sz="1900">
                                          <a:solidFill>
                                            <a:srgbClr val="FFFF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sz="1900" i="1">
                                              <a:solidFill>
                                                <a:srgbClr val="FFFFFF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900">
                                              <a:solidFill>
                                                <a:srgbClr val="FFFFFF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𝜌</m:t>
                                          </m:r>
                                        </m:e>
                                        <m:sub>
                                          <m:r>
                                            <a:rPr lang="en-US" sz="1900">
                                              <a:solidFill>
                                                <a:srgbClr val="FFFFFF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1900" i="1">
                                          <a:solidFill>
                                            <a:srgbClr val="FFFF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900">
                                          <a:solidFill>
                                            <a:srgbClr val="FFFF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b>
                                      <m:r>
                                        <a:rPr lang="en-US" sz="1900">
                                          <a:solidFill>
                                            <a:srgbClr val="FFFF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oMath>
                      </m:oMathPara>
                    </a14:m>
                  </mc:Choice>
                  <mc:Fallback xmlns:m="http://schemas.openxmlformats.org/officeDocument/2006/math" xmlns="">
                    <a:r>
                      <a:rPr lang="en-US" sz="1900">
                        <a:solidFill>
                          <a:srgbClr val="FFFFFF"/>
                        </a:solidFill>
                      </a:rPr>
                      <a:t>w(xᵢ,xⱼ) = exp(−max(0, d(xᵢ,xⱼ)−ρᵢ)/σᵢ)</a:t>
                    </a:r>
                  </mc:Fallback>
                </mc:AlternateContent>
                <a:endParaRPr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9E72B8D-1AF4-464F-B447-E40AF87EC4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000" y="3347893"/>
                <a:ext cx="10160000" cy="77181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6621EF24-EF8A-3D47-A3FF-B99FF957BC3D}"/>
              </a:ext>
            </a:extLst>
          </p:cNvPr>
          <p:cNvSpPr/>
          <p:nvPr/>
        </p:nvSpPr>
        <p:spPr>
          <a:xfrm>
            <a:off x="838200" y="4343400"/>
            <a:ext cx="10515600" cy="812800"/>
          </a:xfrm>
          <a:prstGeom prst="roundRect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29B10AB-59A2-5D44-8F08-080B3FF13E9C}"/>
                  </a:ext>
                </a:extLst>
              </p:cNvPr>
              <p:cNvSpPr txBox="1"/>
              <p:nvPr/>
            </p:nvSpPr>
            <p:spPr>
              <a:xfrm>
                <a:off x="1016000" y="4545641"/>
                <a:ext cx="10160000" cy="408317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spAutoFit/>
              </a:bodyPr>
              <a:lstStyle/>
              <a:p>
                <a:pPr algn="ctr">
                  <a:buNone/>
                </a:pPr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9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90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190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r>
                            <a:rPr lang="en-US" sz="190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sz="19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90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90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r>
                            <a:rPr lang="en-US" sz="190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19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90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90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𝑗𝑖</m:t>
                              </m:r>
                            </m:sub>
                          </m:sSub>
                          <m:r>
                            <a:rPr lang="en-US" sz="190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19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90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90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r>
                            <a:rPr lang="en-US" sz="190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·</m:t>
                          </m:r>
                          <m:sSub>
                            <m:sSubPr>
                              <m:ctrlPr>
                                <a:rPr lang="en-US" sz="19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90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90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𝑗𝑖</m:t>
                              </m:r>
                            </m:sub>
                          </m:sSub>
                        </m:oMath>
                      </m:oMathPara>
                    </a14:m>
                  </mc:Choice>
                  <mc:Fallback xmlns:m="http://schemas.openxmlformats.org/officeDocument/2006/math" xmlns="">
                    <a:r>
                      <a:rPr lang="en-US" sz="1900">
                        <a:solidFill>
                          <a:srgbClr val="FFFFFF"/>
                        </a:solidFill>
                      </a:rPr>
                      <a:t>vᵢⱼ = wᵢⱼ + wⱼᵢ − wᵢⱼ · wⱼᵢ</a:t>
                    </a:r>
                  </mc:Fallback>
                </mc:AlternateContent>
                <a:endParaRPr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29B10AB-59A2-5D44-8F08-080B3FF13E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000" y="4545641"/>
                <a:ext cx="10160000" cy="408317"/>
              </a:xfrm>
              <a:prstGeom prst="rect">
                <a:avLst/>
              </a:prstGeom>
              <a:blipFill>
                <a:blip r:embed="rId5"/>
                <a:stretch>
                  <a:fillRect b="-60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2F53294-FC2A-5540-8785-595C97F96C70}"/>
                  </a:ext>
                </a:extLst>
              </p:cNvPr>
              <p:cNvSpPr txBox="1"/>
              <p:nvPr/>
            </p:nvSpPr>
            <p:spPr>
              <a:xfrm>
                <a:off x="838200" y="5384800"/>
                <a:ext cx="10515600" cy="78483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marL="228600" indent="-228600">
                  <a:buFont typeface="Arial"/>
                  <a:buChar char="•"/>
                </a:pPr>
                <mc:AlternateContent>
                  <mc:Choice Requires="a14"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15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5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en-US" sz="15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a14:m>
                  </mc:Choice>
                  <mc:Fallback xmlns:m="http://schemas.openxmlformats.org/officeDocument/2006/math" xmlns="">
                    <a:r>
                      <a:rPr lang="en-US" sz="1500">
                        <a:solidFill>
                          <a:srgbClr val="333333"/>
                        </a:solidFill>
                      </a:rPr>
                      <a:t>ρᵢ</a:t>
                    </a:r>
                  </mc:Fallback>
                </mc:AlternateContent>
                <a:r>
                  <a:rPr lang="en-US" sz="1500" dirty="0">
                    <a:solidFill>
                      <a:srgbClr val="333333"/>
                    </a:solidFill>
                  </a:rPr>
                  <a:t> (local connectivity): distance to the nearest neighbor — guarantees each point connects to at least one other.</a:t>
                </a:r>
              </a:p>
              <a:p>
                <a:pPr marL="228600" indent="-228600">
                  <a:buFont typeface="Arial"/>
                  <a:buChar char="•"/>
                </a:pPr>
                <mc:AlternateContent>
                  <mc:Choice Requires="a14"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15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5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sz="15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a14:m>
                  </mc:Choice>
                  <mc:Fallback xmlns:m="http://schemas.openxmlformats.org/officeDocument/2006/math" xmlns="">
                    <a:r>
                      <a:rPr lang="en-US" sz="1500">
                        <a:solidFill>
                          <a:srgbClr val="333333"/>
                        </a:solidFill>
                      </a:rPr>
                      <a:t>σᵢ</a:t>
                    </a:r>
                  </mc:Fallback>
                </mc:AlternateContent>
                <a:r>
                  <a:rPr lang="en-US" sz="1500" dirty="0">
                    <a:solidFill>
                      <a:srgbClr val="333333"/>
                    </a:solidFill>
                  </a:rPr>
                  <a:t> (bandwidth): solved per point so the row of weights sums to </a:t>
                </a:r>
                <mc:AlternateContent>
                  <mc:Choice Requires="a14"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15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sz="1500">
                                <a:solidFill>
                                  <a:srgbClr val="333333"/>
                                </a:solidFill>
                              </a:rPr>
                              <m:t>log</m:t>
                            </m:r>
                          </m:e>
                          <m:sub>
                            <m:r>
                              <a:rPr lang="en-US" sz="15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sz="1500">
                            <a:solidFill>
                              <a:srgbClr val="333333"/>
                            </a:solidFill>
                          </a:rPr>
                          <m:t> </m:t>
                        </m:r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500">
                        <a:solidFill>
                          <a:srgbClr val="333333"/>
                        </a:solidFill>
                      </a:rPr>
                      <a:t>log₂ k</a:t>
                    </a:r>
                  </mc:Fallback>
                </mc:AlternateContent>
                <a:r>
                  <a:rPr lang="en-US" sz="1500" dirty="0">
                    <a:solidFill>
                      <a:srgbClr val="333333"/>
                    </a:solidFill>
                  </a:rPr>
                  <a:t> — adapts to local density.</a:t>
                </a:r>
              </a:p>
              <a:p>
                <a:pPr marL="228600" indent="-228600">
                  <a:buFont typeface="Arial"/>
                  <a:buChar char="•"/>
                </a:pPr>
                <a:r>
                  <a:rPr lang="en-US" sz="1500" dirty="0">
                    <a:solidFill>
                      <a:srgbClr val="333333"/>
                    </a:solidFill>
                  </a:rPr>
                  <a:t>Symmetrization combines the two directed edges via the probabilistic t-conorm (fuzzy union).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2F53294-FC2A-5540-8785-595C97F96C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5384800"/>
                <a:ext cx="10515600" cy="784830"/>
              </a:xfrm>
              <a:prstGeom prst="rect">
                <a:avLst/>
              </a:prstGeom>
              <a:blipFill>
                <a:blip r:embed="rId6"/>
                <a:stretch>
                  <a:fillRect l="-241" t="-1587" b="-95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823227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0CE01-B18C-69ED-72BB-20C9C5ABB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UMAP: Low-D Layout &amp; Cost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0ACC37C-5E51-C745-9B49-FB6ED1304654}"/>
                  </a:ext>
                </a:extLst>
              </p:cNvPr>
              <p:cNvSpPr txBox="1"/>
              <p:nvPr/>
            </p:nvSpPr>
            <p:spPr>
              <a:xfrm>
                <a:off x="838200" y="1828800"/>
                <a:ext cx="10515600" cy="586122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>
                  <a:buNone/>
                </a:pPr>
                <a:r>
                  <a:rPr lang="en-US" sz="1500" dirty="0">
                    <a:solidFill>
                      <a:srgbClr val="333333"/>
                    </a:solidFill>
                  </a:rPr>
                  <a:t>In the low-D embedding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𝐘</m:t>
                        </m:r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en-US" sz="15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1500" i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1500" i="1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5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𝒚</m:t>
                                    </m:r>
                                  </m:e>
                                  <m:sub>
                                    <m:r>
                                      <a:rPr lang="en-US" sz="15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en-US" sz="1500">
                                    <a:solidFill>
                                      <a:srgbClr val="333333"/>
                                    </a:solidFill>
                                  </a:rPr>
                                  <m:t> </m:t>
                                </m:r>
                                <m:r>
                                  <a:rPr lang="en-US" sz="15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  <m:r>
                                  <m:rPr>
                                    <m:nor/>
                                  </m:rPr>
                                  <a:rPr lang="en-US" sz="1500">
                                    <a:solidFill>
                                      <a:srgbClr val="333333"/>
                                    </a:solidFill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n-US" sz="1500" i="1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5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𝒚</m:t>
                                    </m:r>
                                  </m:e>
                                  <m:sub>
                                    <m:r>
                                      <a:rPr lang="en-US" sz="15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m:rPr>
                                <m:nor/>
                              </m:rPr>
                              <a:rPr lang="en-US" sz="1500">
                                <a:solidFill>
                                  <a:srgbClr val="333333"/>
                                </a:solidFill>
                              </a:rPr>
                              <m:t>T</m:t>
                            </m:r>
                          </m:sup>
                        </m:sSup>
                      </m:oMath>
                    </a14:m>
                  </mc:Choice>
                  <mc:Fallback xmlns:m="http://schemas.openxmlformats.org/officeDocument/2006/math" xmlns="">
                    <a:r>
                      <a:rPr lang="en-US" sz="1500">
                        <a:solidFill>
                          <a:srgbClr val="333333"/>
                        </a:solidFill>
                      </a:rPr>
                      <a:t>Y = [y₁ ... yₙ]ᵀ</a:t>
                    </a:r>
                  </mc:Fallback>
                </mc:AlternateContent>
                <a:r>
                  <a:rPr lang="en-US" sz="1500" dirty="0">
                    <a:solidFill>
                      <a:srgbClr val="333333"/>
                    </a:solidFill>
                  </a:rPr>
                  <a:t>, edge weights use a smooth differentiable curve with parameters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500">
                        <a:solidFill>
                          <a:srgbClr val="333333"/>
                        </a:solidFill>
                      </a:rPr>
                      <a:t>a</a:t>
                    </a:r>
                  </mc:Fallback>
                </mc:AlternateContent>
                <a:r>
                  <a:rPr lang="en-US" sz="1500" dirty="0">
                    <a:solidFill>
                      <a:srgbClr val="333333"/>
                    </a:solidFill>
                  </a:rPr>
                  <a:t>,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500">
                        <a:solidFill>
                          <a:srgbClr val="333333"/>
                        </a:solidFill>
                      </a:rPr>
                      <a:t>b</a:t>
                    </a:r>
                  </mc:Fallback>
                </mc:AlternateContent>
                <a:r>
                  <a:rPr lang="en-US" sz="1500" dirty="0">
                    <a:solidFill>
                      <a:srgbClr val="333333"/>
                    </a:solidFill>
                  </a:rPr>
                  <a:t> fit to the min-dist hyperparameter: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0ACC37C-5E51-C745-9B49-FB6ED13046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28800"/>
                <a:ext cx="10515600" cy="586122"/>
              </a:xfrm>
              <a:prstGeom prst="rect">
                <a:avLst/>
              </a:prstGeom>
              <a:blipFill>
                <a:blip r:embed="rId2"/>
                <a:stretch>
                  <a:fillRect l="-362" b="-106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5F6049C2-19EB-4C46-8D70-BCD7B4E33AFC}"/>
              </a:ext>
            </a:extLst>
          </p:cNvPr>
          <p:cNvSpPr/>
          <p:nvPr/>
        </p:nvSpPr>
        <p:spPr>
          <a:xfrm>
            <a:off x="838200" y="2540000"/>
            <a:ext cx="10515600" cy="736600"/>
          </a:xfrm>
          <a:prstGeom prst="roundRect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6BA29B8-553A-E449-95FC-6A1B66E8FFAC}"/>
                  </a:ext>
                </a:extLst>
              </p:cNvPr>
              <p:cNvSpPr txBox="1"/>
              <p:nvPr/>
            </p:nvSpPr>
            <p:spPr>
              <a:xfrm>
                <a:off x="1016000" y="2623062"/>
                <a:ext cx="10160000" cy="570477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spAutoFit/>
              </a:bodyPr>
              <a:lstStyle/>
              <a:p>
                <a:pPr algn="ctr">
                  <a:buNone/>
                </a:pPr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8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180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r>
                            <a:rPr lang="en-US" sz="180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en-US" sz="18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800" i="1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800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  <m:t>1+</m:t>
                                  </m:r>
                                  <m:r>
                                    <a:rPr lang="en-US" sz="1800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sSup>
                                    <m:sSupPr>
                                      <m:ctrlPr>
                                        <a:rPr lang="en-US" sz="1800" i="1">
                                          <a:solidFill>
                                            <a:srgbClr val="FFFF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begChr m:val="‖"/>
                                          <m:endChr m:val="‖"/>
                                          <m:ctrlPr>
                                            <a:rPr lang="en-US" sz="1800" i="1">
                                              <a:solidFill>
                                                <a:srgbClr val="FFFFFF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1800" i="1">
                                                  <a:solidFill>
                                                    <a:srgbClr val="FFFFFF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500">
                                                  <a:solidFill>
                                                    <a:srgbClr val="333333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𝒚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500">
                                                  <a:solidFill>
                                                    <a:srgbClr val="333333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n-US" sz="1800">
                                              <a:solidFill>
                                                <a:srgbClr val="FFFFFF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1800" i="1">
                                                  <a:solidFill>
                                                    <a:srgbClr val="FFFFFF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500">
                                                  <a:solidFill>
                                                    <a:srgbClr val="333333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𝒚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500">
                                                  <a:solidFill>
                                                    <a:srgbClr val="333333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1800">
                                          <a:solidFill>
                                            <a:srgbClr val="FFFF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lang="en-US" sz="1800">
                                          <a:solidFill>
                                            <a:srgbClr val="FFFF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sz="180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oMath>
                      </m:oMathPara>
                    </a14:m>
                  </mc:Choice>
                  <mc:Fallback xmlns:m="http://schemas.openxmlformats.org/officeDocument/2006/math" xmlns="">
                    <a:r>
                      <a:rPr lang="en-US" sz="1800">
                        <a:solidFill>
                          <a:srgbClr val="FFFFFF"/>
                        </a:solidFill>
                      </a:rPr>
                      <a:t>qᵢⱼ = (1 + a‖yᵢ − yⱼ‖²ᵇ)⁻¹</a:t>
                    </a:r>
                  </mc:Fallback>
                </mc:AlternateContent>
                <a:endParaRPr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6BA29B8-553A-E449-95FC-6A1B66E8FF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000" y="2623062"/>
                <a:ext cx="10160000" cy="5704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35CB3F2-212A-F044-A296-6498CF1F9A63}"/>
              </a:ext>
            </a:extLst>
          </p:cNvPr>
          <p:cNvSpPr/>
          <p:nvPr/>
        </p:nvSpPr>
        <p:spPr>
          <a:xfrm>
            <a:off x="838200" y="3429000"/>
            <a:ext cx="10515600" cy="812800"/>
          </a:xfrm>
          <a:prstGeom prst="roundRect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2743756-1A52-DA4C-B67D-754151C8818C}"/>
                  </a:ext>
                </a:extLst>
              </p:cNvPr>
              <p:cNvSpPr txBox="1"/>
              <p:nvPr/>
            </p:nvSpPr>
            <p:spPr>
              <a:xfrm>
                <a:off x="1016000" y="3488831"/>
                <a:ext cx="10160000" cy="693138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spAutoFit/>
              </a:bodyPr>
              <a:lstStyle/>
              <a:p>
                <a:pPr algn="ctr">
                  <a:buNone/>
                </a:pPr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50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sz="150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nary>
                            <m:naryPr>
                              <m:chr m:val="∑"/>
                              <m:limLoc m:val="undOvr"/>
                              <m:supHide m:val="on"/>
                              <m:ctrlPr>
                                <a:rPr lang="en-US" sz="15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150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  <m:sup/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1500" i="1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500" i="1">
                                          <a:solidFill>
                                            <a:srgbClr val="FFFF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500">
                                          <a:solidFill>
                                            <a:srgbClr val="33333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 lang="en-US" sz="1500">
                                          <a:solidFill>
                                            <a:srgbClr val="33333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𝑖𝑗</m:t>
                                      </m:r>
                                    </m:sub>
                                  </m:sSub>
                                  <m:r>
                                    <m:rPr>
                                      <m:nor/>
                                    </m:rPr>
                                    <a:rPr lang="en-US" sz="1500">
                                      <a:solidFill>
                                        <a:srgbClr val="FFFFFF"/>
                                      </a:solidFill>
                                    </a:rPr>
                                    <m:t> 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1500">
                                      <a:solidFill>
                                        <a:srgbClr val="FFFFFF"/>
                                      </a:solidFill>
                                    </a:rPr>
                                    <m:t>log</m:t>
                                  </m:r>
                                  <m:d>
                                    <m:dPr>
                                      <m:ctrlPr>
                                        <a:rPr lang="en-US" sz="1500" i="1">
                                          <a:solidFill>
                                            <a:srgbClr val="FFFF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sz="1500" i="1">
                                              <a:solidFill>
                                                <a:srgbClr val="FFFFFF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sSub>
                                            <m:sSubPr>
                                              <m:ctrlPr>
                                                <a:rPr lang="en-US" sz="1500" i="1">
                                                  <a:solidFill>
                                                    <a:srgbClr val="FFFFFF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500">
                                                  <a:solidFill>
                                                    <a:srgbClr val="333333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𝑣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500">
                                                  <a:solidFill>
                                                    <a:srgbClr val="333333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𝑖𝑗</m:t>
                                              </m:r>
                                            </m:sub>
                                          </m:sSub>
                                        </m:num>
                                        <m:den>
                                          <m:sSub>
                                            <m:sSubPr>
                                              <m:ctrlPr>
                                                <a:rPr lang="en-US" sz="1500" i="1">
                                                  <a:solidFill>
                                                    <a:srgbClr val="333333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500">
                                                  <a:solidFill>
                                                    <a:srgbClr val="333333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𝑞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500">
                                                  <a:solidFill>
                                                    <a:srgbClr val="333333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𝑖𝑗</m:t>
                                              </m:r>
                                            </m:sub>
                                          </m:sSub>
                                        </m:den>
                                      </m:f>
                                    </m:e>
                                  </m:d>
                                  <m:r>
                                    <a:rPr lang="en-US" sz="1500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d>
                                    <m:dPr>
                                      <m:ctrlPr>
                                        <a:rPr lang="en-US" sz="1500" i="1">
                                          <a:solidFill>
                                            <a:srgbClr val="FFFF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500">
                                          <a:solidFill>
                                            <a:srgbClr val="FFFF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1−</m:t>
                                      </m:r>
                                      <m:sSub>
                                        <m:sSubPr>
                                          <m:ctrlPr>
                                            <a:rPr lang="en-US" sz="1500" i="1">
                                              <a:solidFill>
                                                <a:srgbClr val="FFFFFF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500">
                                              <a:solidFill>
                                                <a:srgbClr val="333333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𝑣</m:t>
                                          </m:r>
                                        </m:e>
                                        <m:sub>
                                          <m:r>
                                            <a:rPr lang="en-US" sz="1500">
                                              <a:solidFill>
                                                <a:srgbClr val="333333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𝑖𝑗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m:rPr>
                                      <m:nor/>
                                    </m:rPr>
                                    <a:rPr lang="en-US" sz="1500">
                                      <a:solidFill>
                                        <a:srgbClr val="FFFFFF"/>
                                      </a:solidFill>
                                    </a:rPr>
                                    <m:t> 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1500">
                                      <a:solidFill>
                                        <a:srgbClr val="FFFFFF"/>
                                      </a:solidFill>
                                    </a:rPr>
                                    <m:t>log</m:t>
                                  </m:r>
                                  <m:d>
                                    <m:dPr>
                                      <m:ctrlPr>
                                        <a:rPr lang="en-US" sz="1500" i="1">
                                          <a:solidFill>
                                            <a:srgbClr val="FFFF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sz="1500" i="1">
                                              <a:solidFill>
                                                <a:srgbClr val="FFFFFF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sz="1500">
                                              <a:solidFill>
                                                <a:srgbClr val="FFFFFF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1500" i="1">
                                                  <a:solidFill>
                                                    <a:srgbClr val="FFFFFF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500">
                                                  <a:solidFill>
                                                    <a:srgbClr val="333333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𝑣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500">
                                                  <a:solidFill>
                                                    <a:srgbClr val="333333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𝑖𝑗</m:t>
                                              </m:r>
                                            </m:sub>
                                          </m:sSub>
                                        </m:num>
                                        <m:den>
                                          <m:r>
                                            <a:rPr lang="en-US" sz="1500">
                                              <a:solidFill>
                                                <a:srgbClr val="FFFFFF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1500" i="1">
                                                  <a:solidFill>
                                                    <a:srgbClr val="FFFFFF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500">
                                                  <a:solidFill>
                                                    <a:srgbClr val="333333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𝑞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500">
                                                  <a:solidFill>
                                                    <a:srgbClr val="333333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𝑖𝑗</m:t>
                                              </m:r>
                                            </m:sub>
                                          </m:sSub>
                                        </m:den>
                                      </m:f>
                                    </m:e>
                                  </m:d>
                                </m:e>
                              </m:d>
                            </m:e>
                          </m:nary>
                        </m:oMath>
                      </m:oMathPara>
                    </a14:m>
                  </mc:Choice>
                  <mc:Fallback xmlns:m="http://schemas.openxmlformats.org/officeDocument/2006/math" xmlns="">
                    <a:r>
                      <a:rPr lang="en-US" sz="1500">
                        <a:solidFill>
                          <a:srgbClr val="FFFFFF"/>
                        </a:solidFill>
                      </a:rPr>
                      <a:t>C = Σᵢⱼ [vᵢⱼ log(vᵢⱼ/qᵢⱼ) + (1−vᵢⱼ) log((1−vᵢⱼ)/(1−qᵢⱼ))]</a:t>
                    </a:r>
                  </mc:Fallback>
                </mc:AlternateContent>
                <a:endParaRPr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2743756-1A52-DA4C-B67D-754151C881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000" y="3488831"/>
                <a:ext cx="10160000" cy="693138"/>
              </a:xfrm>
              <a:prstGeom prst="rect">
                <a:avLst/>
              </a:prstGeom>
              <a:blipFill>
                <a:blip r:embed="rId4"/>
                <a:stretch>
                  <a:fillRect t="-108929" b="-1553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DDC6B7F-8BB6-4041-B54C-580F83815542}"/>
                  </a:ext>
                </a:extLst>
              </p:cNvPr>
              <p:cNvSpPr txBox="1"/>
              <p:nvPr/>
            </p:nvSpPr>
            <p:spPr>
              <a:xfrm>
                <a:off x="838200" y="4419600"/>
                <a:ext cx="10515600" cy="1265026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marL="228600" indent="-228600">
                  <a:buFont typeface="Arial"/>
                  <a:buChar char="•"/>
                </a:pPr>
                <a:r>
                  <a:rPr lang="en-US" sz="1500" dirty="0">
                    <a:solidFill>
                      <a:srgbClr val="333333"/>
                    </a:solidFill>
                  </a:rPr>
                  <a:t>Cost is the fuzzy-set cross-entropy between high-D memberships </a:t>
                </a:r>
                <mc:AlternateContent>
                  <mc:Choice Requires="a14"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15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5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15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</m:oMath>
                    </a14:m>
                  </mc:Choice>
                  <mc:Fallback xmlns:m="http://schemas.openxmlformats.org/officeDocument/2006/math" xmlns="">
                    <a:r>
                      <a:rPr lang="en-US" sz="1500">
                        <a:solidFill>
                          <a:srgbClr val="333333"/>
                        </a:solidFill>
                      </a:rPr>
                      <a:t>vᵢⱼ</a:t>
                    </a:r>
                  </mc:Fallback>
                </mc:AlternateContent>
                <a:r>
                  <a:rPr lang="en-US" sz="1500" dirty="0">
                    <a:solidFill>
                      <a:srgbClr val="333333"/>
                    </a:solidFill>
                  </a:rPr>
                  <a:t> and low-D </a:t>
                </a:r>
                <mc:AlternateContent>
                  <mc:Choice Requires="a14"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15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5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15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</m:oMath>
                    </a14:m>
                  </mc:Choice>
                  <mc:Fallback xmlns:m="http://schemas.openxmlformats.org/officeDocument/2006/math" xmlns="">
                    <a:r>
                      <a:rPr lang="en-US" sz="1500">
                        <a:solidFill>
                          <a:srgbClr val="333333"/>
                        </a:solidFill>
                      </a:rPr>
                      <a:t>qᵢⱼ</a:t>
                    </a:r>
                  </mc:Fallback>
                </mc:AlternateContent>
                <a:r>
                  <a:rPr lang="en-US" sz="1500" dirty="0">
                    <a:solidFill>
                      <a:srgbClr val="333333"/>
                    </a:solidFill>
                  </a:rPr>
                  <a:t>.</a:t>
                </a:r>
              </a:p>
              <a:p>
                <a:pPr marL="228600" indent="-228600">
                  <a:buFont typeface="Arial"/>
                  <a:buChar char="•"/>
                </a:pPr>
                <a:r>
                  <a:rPr lang="en-US" sz="1500" dirty="0">
                    <a:solidFill>
                      <a:srgbClr val="333333"/>
                    </a:solidFill>
                  </a:rPr>
                  <a:t>First term = attractive force (pulls connected points together); second term = repulsive force (pushes non-neighbors apart).</a:t>
                </a:r>
              </a:p>
              <a:p>
                <a:pPr marL="228600" indent="-228600">
                  <a:buFont typeface="Arial"/>
                  <a:buChar char="•"/>
                </a:pPr>
                <a:r>
                  <a:rPr lang="en-US" sz="1500" dirty="0">
                    <a:solidFill>
                      <a:srgbClr val="333333"/>
                    </a:solidFill>
                  </a:rPr>
                  <a:t>Optimized by stochastic gradient descent with negative sampling — unlike t-SNE, UMAP preserves more global structure and scales near-linearly.</a:t>
                </a:r>
              </a:p>
              <a:p>
                <a:pPr marL="228600" indent="-228600">
                  <a:buFont typeface="Arial"/>
                  <a:buChar char="•"/>
                </a:pPr>
                <a:r>
                  <a:rPr lang="en-US" sz="1500" dirty="0">
                    <a:solidFill>
                      <a:srgbClr val="333333"/>
                    </a:solidFill>
                  </a:rPr>
                  <a:t>Defaults: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≈1.577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500">
                        <a:solidFill>
                          <a:srgbClr val="333333"/>
                        </a:solidFill>
                      </a:rPr>
                      <a:t>a ≈ 1.577</a:t>
                    </a:r>
                  </mc:Fallback>
                </mc:AlternateContent>
                <a:r>
                  <a:rPr lang="en-US" sz="1500" dirty="0">
                    <a:solidFill>
                      <a:srgbClr val="333333"/>
                    </a:solidFill>
                  </a:rPr>
                  <a:t>,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≈0.895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500">
                        <a:solidFill>
                          <a:srgbClr val="333333"/>
                        </a:solidFill>
                      </a:rPr>
                      <a:t>b ≈ 0.895</a:t>
                    </a:r>
                  </mc:Fallback>
                </mc:AlternateContent>
                <a:r>
                  <a:rPr lang="en-US" sz="1500" dirty="0">
                    <a:solidFill>
                      <a:srgbClr val="333333"/>
                    </a:solidFill>
                  </a:rPr>
                  <a:t> for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sz="1500">
                            <a:solidFill>
                              <a:srgbClr val="333333"/>
                            </a:solidFill>
                          </a:rPr>
                          <m:t>min</m:t>
                        </m:r>
                        <m:r>
                          <m:rPr>
                            <m:nor/>
                          </m:rPr>
                          <a:rPr lang="en-US" sz="1500">
                            <a:solidFill>
                              <a:srgbClr val="333333"/>
                            </a:solidFill>
                          </a:rPr>
                          <m:t>_</m:t>
                        </m:r>
                        <m:r>
                          <m:rPr>
                            <m:nor/>
                          </m:rPr>
                          <a:rPr lang="en-US" sz="1500">
                            <a:solidFill>
                              <a:srgbClr val="333333"/>
                            </a:solidFill>
                          </a:rPr>
                          <m:t>dist</m:t>
                        </m:r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=0.1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500">
                        <a:solidFill>
                          <a:srgbClr val="333333"/>
                        </a:solidFill>
                      </a:rPr>
                      <a:t>min_dist = 0.1</a:t>
                    </a:r>
                  </mc:Fallback>
                </mc:AlternateContent>
                <a:r>
                  <a:rPr lang="en-US" sz="1500" dirty="0">
                    <a:solidFill>
                      <a:srgbClr val="333333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DDC6B7F-8BB6-4041-B54C-580F838155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419600"/>
                <a:ext cx="10515600" cy="1265026"/>
              </a:xfrm>
              <a:prstGeom prst="rect">
                <a:avLst/>
              </a:prstGeom>
              <a:blipFill>
                <a:blip r:embed="rId5"/>
                <a:stretch>
                  <a:fillRect l="-241" t="-1000" b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604090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F82BE-C7CB-81B3-76CF-DD516961EC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 1: Local Connectivity </a:t>
            </a:r>
            <a:r>
              <a:rPr lang="el-GR"/>
              <a:t>ρ</a:t>
            </a:r>
            <a:r>
              <a:rPr lang="en-US"/>
              <a:t>ᵢ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45A707C-BFBD-DD44-BE42-FD468162DEA5}"/>
              </a:ext>
            </a:extLst>
          </p:cNvPr>
          <p:cNvSpPr/>
          <p:nvPr/>
        </p:nvSpPr>
        <p:spPr>
          <a:xfrm>
            <a:off x="838200" y="1778000"/>
            <a:ext cx="1524000" cy="381000"/>
          </a:xfrm>
          <a:prstGeom prst="roundRect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Arial"/>
                <a:cs typeface="Arial"/>
              </a:rPr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839CF55-F605-BF4D-BECC-E0FF3BAF124A}"/>
                  </a:ext>
                </a:extLst>
              </p:cNvPr>
              <p:cNvSpPr txBox="1"/>
              <p:nvPr/>
            </p:nvSpPr>
            <p:spPr>
              <a:xfrm>
                <a:off x="838200" y="2235200"/>
                <a:ext cx="5207000" cy="2144626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>
                  <a:buNone/>
                </a:pPr>
                <a:r>
                  <a:rPr lang="en-US" sz="1600" b="1" dirty="0">
                    <a:solidFill>
                      <a:srgbClr val="00A7B5"/>
                    </a:solidFill>
                    <a:latin typeface="Arial"/>
                  </a:rPr>
                  <a:t>Setup</a:t>
                </a:r>
              </a:p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Point </a:t>
                </a:r>
                <mc:AlternateContent>
                  <mc:Choice Requires="a14"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333333"/>
                        </a:solidFill>
                      </a:rPr>
                      <a:t>xᵢ</a:t>
                    </a:r>
                  </mc:Fallback>
                </mc:AlternateContent>
                <a:r>
                  <a:rPr lang="en-US" sz="1600" dirty="0">
                    <a:solidFill>
                      <a:srgbClr val="333333"/>
                    </a:solidFill>
                  </a:rPr>
                  <a:t> has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=3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333333"/>
                        </a:solidFill>
                      </a:rPr>
                      <a:t>k = 3</a:t>
                    </a:r>
                  </mc:Fallback>
                </mc:AlternateContent>
                <a:r>
                  <a:rPr lang="en-US" sz="1600" dirty="0">
                    <a:solidFill>
                      <a:srgbClr val="333333"/>
                    </a:solidFill>
                  </a:rPr>
                  <a:t> neighbors with Euclidean distances:</a:t>
                </a:r>
              </a:p>
              <a:p>
                <a:pPr>
                  <a:buNone/>
                </a:pPr>
                <a:endParaRPr lang="en-US" sz="400"/>
              </a:p>
              <a:p>
                <a:pPr>
                  <a:buNone/>
                </a:pPr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7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17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17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7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0.5,0.8,1.4</m:t>
                              </m:r>
                            </m:e>
                          </m:d>
                        </m:oMath>
                      </m:oMathPara>
                    </a14:m>
                  </mc:Choice>
                  <mc:Fallback xmlns:m="http://schemas.openxmlformats.org/officeDocument/2006/math" xmlns="">
                    <a:r>
                      <a:rPr lang="en-US" sz="1700">
                        <a:solidFill>
                          <a:srgbClr val="4B2E83"/>
                        </a:solidFill>
                      </a:rPr>
                      <a:t>d = [0.5, 0.8, 1.4]</a:t>
                    </a:r>
                  </mc:Fallback>
                </mc:AlternateContent>
                <a:endParaRPr lang="en-US" sz="400"/>
              </a:p>
              <a:p>
                <a:pPr>
                  <a:buNone/>
                </a:pPr>
                <a:endParaRPr lang="en-US" sz="400"/>
              </a:p>
              <a:p>
                <a:pPr>
                  <a:buNone/>
                </a:pPr>
                <a:r>
                  <a:rPr lang="en-US" sz="1600" b="1" dirty="0">
                    <a:solidFill>
                      <a:srgbClr val="00A7B5"/>
                    </a:solidFill>
                    <a:latin typeface="Arial"/>
                  </a:rPr>
                  <a:t>Task</a:t>
                </a:r>
              </a:p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1. Find the local connectivity </a:t>
                </a:r>
                <mc:AlternateContent>
                  <mc:Choice Requires="a14"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333333"/>
                        </a:solidFill>
                      </a:rPr>
                      <a:t>ρᵢ</a:t>
                    </a:r>
                  </mc:Fallback>
                </mc:AlternateContent>
                <a:r>
                  <a:rPr lang="en-US" sz="1600" dirty="0">
                    <a:solidFill>
                      <a:srgbClr val="333333"/>
                    </a:solidFill>
                  </a:rPr>
                  <a:t>.</a:t>
                </a:r>
              </a:p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2. Using </a:t>
                </a:r>
                <mc:AlternateContent>
                  <mc:Choice Requires="a14"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333333"/>
                        </a:solidFill>
                      </a:rPr>
                      <a:t>σᵢ = 1</a:t>
                    </a:r>
                  </mc:Fallback>
                </mc:AlternateContent>
                <a:r>
                  <a:rPr lang="en-US" sz="1600" dirty="0">
                    <a:solidFill>
                      <a:srgbClr val="333333"/>
                    </a:solidFill>
                  </a:rPr>
                  <a:t>, compute the directed weights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  <m:d>
                          <m:dPr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600" i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1600" i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nor/>
                          </m:rPr>
                          <a:rPr lang="en-US" sz="1600">
                            <a:solidFill>
                              <a:srgbClr val="333333"/>
                            </a:solidFill>
                          </a:rPr>
                          <m:t>exp</m:t>
                        </m:r>
                        <m:d>
                          <m:dPr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sz="1600" i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nor/>
                                  </m:rPr>
                                  <a:rPr lang="en-US" sz="1600">
                                    <a:solidFill>
                                      <a:srgbClr val="333333"/>
                                    </a:solidFill>
                                  </a:rPr>
                                  <m:t>max</m:t>
                                </m:r>
                                <m:d>
                                  <m:dPr>
                                    <m:ctrlPr>
                                      <a:rPr lang="en-US" sz="1600" i="1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6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0,</m:t>
                                    </m:r>
                                    <m:r>
                                      <a:rPr lang="en-US" sz="16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  <m:r>
                                      <a:rPr lang="en-US" sz="16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sz="1600" i="1">
                                            <a:solidFill>
                                              <a:srgbClr val="333333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>
                                            <a:solidFill>
                                              <a:srgbClr val="333333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𝜌</m:t>
                                        </m:r>
                                      </m:e>
                                      <m:sub>
                                        <m:r>
                                          <a:rPr lang="en-US" sz="1600">
                                            <a:solidFill>
                                              <a:srgbClr val="333333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d>
                              </m:num>
                              <m:den>
                                <m:sSub>
                                  <m:sSubPr>
                                    <m:ctrlPr>
                                      <a:rPr lang="en-US" sz="1600" i="1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sz="16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</m:oMath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333333"/>
                        </a:solidFill>
                      </a:rPr>
                      <a:t>w(xᵢ,xⱼ) = exp(−max(0, d−ρᵢ)/σᵢ)</a:t>
                    </a:r>
                  </mc:Fallback>
                </mc:AlternateContent>
                <a:r>
                  <a:rPr lang="en-US" sz="1600" dirty="0">
                    <a:solidFill>
                      <a:srgbClr val="333333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839CF55-F605-BF4D-BECC-E0FF3BAF12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235200"/>
                <a:ext cx="5207000" cy="2144626"/>
              </a:xfrm>
              <a:prstGeom prst="rect">
                <a:avLst/>
              </a:prstGeom>
              <a:blipFill>
                <a:blip r:embed="rId2"/>
                <a:stretch>
                  <a:fillRect l="-730" t="-11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80B611D3-F8D7-A042-BB82-6CCA39486055}"/>
              </a:ext>
            </a:extLst>
          </p:cNvPr>
          <p:cNvSpPr/>
          <p:nvPr/>
        </p:nvSpPr>
        <p:spPr>
          <a:xfrm>
            <a:off x="6210300" y="2235200"/>
            <a:ext cx="5143500" cy="38862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1CD1045-7160-D04E-90FC-4BEF7AB23D00}"/>
                  </a:ext>
                </a:extLst>
              </p:cNvPr>
              <p:cNvSpPr txBox="1"/>
              <p:nvPr/>
            </p:nvSpPr>
            <p:spPr>
              <a:xfrm>
                <a:off x="6438900" y="2438400"/>
                <a:ext cx="4572000" cy="3148106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>
                  <a:buNone/>
                </a:pPr>
                <a:r>
                  <a:rPr lang="en-US" sz="1600" b="1" dirty="0">
                    <a:solidFill>
                      <a:srgbClr val="00A7B5"/>
                    </a:solidFill>
                    <a:latin typeface="Arial"/>
                  </a:rPr>
                  <a:t>Solution</a:t>
                </a:r>
              </a:p>
              <a:p>
                <a:pPr>
                  <a:buNone/>
                </a:pPr>
                <mc:AlternateContent>
                  <mc:Choice Requires="a14"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333333"/>
                        </a:solidFill>
                      </a:rPr>
                      <a:t>ρᵢ</a:t>
                    </a:r>
                  </mc:Fallback>
                </mc:AlternateContent>
                <a:r>
                  <a:rPr lang="en-US" sz="1600" dirty="0">
                    <a:solidFill>
                      <a:srgbClr val="333333"/>
                    </a:solidFill>
                  </a:rPr>
                  <a:t> = nearest-neighbor distance =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sz="1600">
                            <a:solidFill>
                              <a:srgbClr val="333333"/>
                            </a:solidFill>
                          </a:rPr>
                          <m:t>min</m:t>
                        </m:r>
                        <m:d>
                          <m:dPr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d>
                      </m:oMath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333333"/>
                        </a:solidFill>
                      </a:rPr>
                      <a:t>min(d)</a:t>
                    </a:r>
                  </mc:Fallback>
                </mc:AlternateContent>
                <a:r>
                  <a:rPr lang="en-US" sz="1600" dirty="0">
                    <a:solidFill>
                      <a:srgbClr val="333333"/>
                    </a:solidFill>
                  </a:rPr>
                  <a:t>:</a:t>
                </a:r>
              </a:p>
              <a:p>
                <a:pPr>
                  <a:buNone/>
                </a:pPr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6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US" sz="16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17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=0.5</m:t>
                          </m:r>
                        </m:oMath>
                      </m:oMathPara>
                    </a14:m>
                  </mc:Choice>
                  <mc:Fallback xmlns:m="http://schemas.openxmlformats.org/officeDocument/2006/math" xmlns="">
                    <a:r>
                      <a:rPr lang="en-US" sz="1700">
                        <a:solidFill>
                          <a:srgbClr val="4B2E83"/>
                        </a:solidFill>
                      </a:rPr>
                      <a:t>ρᵢ = 0.5</a:t>
                    </a:r>
                  </mc:Fallback>
                </mc:AlternateContent>
                <a:endParaRPr lang="en-US" sz="1600" dirty="0">
                  <a:solidFill>
                    <a:srgbClr val="333333"/>
                  </a:solidFill>
                </a:endParaRPr>
              </a:p>
              <a:p>
                <a:pPr>
                  <a:buNone/>
                </a:pPr>
                <a:endParaRPr lang="en-US" sz="250"/>
              </a:p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Shifted distances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sz="1600">
                            <a:solidFill>
                              <a:srgbClr val="333333"/>
                            </a:solidFill>
                          </a:rPr>
                          <m:t>max</m:t>
                        </m:r>
                        <m:d>
                          <m:dPr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0,</m:t>
                            </m:r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1600" i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𝜌</m:t>
                                </m:r>
                              </m:e>
                              <m:sub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oMath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333333"/>
                        </a:solidFill>
                      </a:rPr>
                      <a:t>max(0, d − ρᵢ)</a:t>
                    </a:r>
                  </mc:Fallback>
                </mc:AlternateContent>
                <a:r>
                  <a:rPr lang="en-US" sz="1600" dirty="0">
                    <a:solidFill>
                      <a:srgbClr val="333333"/>
                    </a:solidFill>
                  </a:rPr>
                  <a:t>:</a:t>
                </a:r>
              </a:p>
              <a:p>
                <a:pPr>
                  <a:buNone/>
                </a:pPr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d>
                            <m:dPr>
                              <m:begChr m:val="["/>
                              <m:endChr m:val="]"/>
                              <m:ctrlPr>
                                <a:rPr lang="en-US" sz="17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7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0.0,0.3,0.9</m:t>
                              </m:r>
                            </m:e>
                          </m:d>
                        </m:oMath>
                      </m:oMathPara>
                    </a14:m>
                  </mc:Choice>
                  <mc:Fallback xmlns:m="http://schemas.openxmlformats.org/officeDocument/2006/math" xmlns="">
                    <a:r>
                      <a:rPr lang="en-US" sz="1700">
                        <a:solidFill>
                          <a:srgbClr val="4B2E83"/>
                        </a:solidFill>
                      </a:rPr>
                      <a:t>[0.0, 0.3, 0.9]</a:t>
                    </a:r>
                  </mc:Fallback>
                </mc:AlternateContent>
                <a:endParaRPr lang="en-US" sz="1600" dirty="0">
                  <a:solidFill>
                    <a:srgbClr val="333333"/>
                  </a:solidFill>
                </a:endParaRPr>
              </a:p>
              <a:p>
                <a:pPr>
                  <a:buNone/>
                </a:pPr>
                <a:endParaRPr lang="en-US" sz="250"/>
              </a:p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Weights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nor/>
                          </m:rPr>
                          <a:rPr lang="en-US" sz="1600">
                            <a:solidFill>
                              <a:srgbClr val="333333"/>
                            </a:solidFill>
                          </a:rPr>
                          <m:t>exp</m:t>
                        </m:r>
                        <m:d>
                          <m:dPr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sz="1600" i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nor/>
                                  </m:rPr>
                                  <a:rPr lang="en-US" sz="1600">
                                    <a:solidFill>
                                      <a:srgbClr val="333333"/>
                                    </a:solidFill>
                                  </a:rPr>
                                  <m:t>shift</m:t>
                                </m:r>
                              </m:num>
                              <m:den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den>
                            </m:f>
                          </m:e>
                        </m:d>
                      </m:oMath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333333"/>
                        </a:solidFill>
                      </a:rPr>
                      <a:t>w = exp(−shift / 1)</a:t>
                    </a:r>
                  </mc:Fallback>
                </mc:AlternateContent>
                <a:r>
                  <a:rPr lang="en-US" sz="1600" dirty="0">
                    <a:solidFill>
                      <a:srgbClr val="333333"/>
                    </a:solidFill>
                  </a:rPr>
                  <a:t>:</a:t>
                </a:r>
              </a:p>
              <a:p>
                <a:pPr>
                  <a:buNone/>
                </a:pPr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7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7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7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7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en-US" sz="17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7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17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p>
                          </m:sSup>
                          <m:r>
                            <a:rPr lang="en-US" sz="17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=1.000</m:t>
                          </m:r>
                        </m:oMath>
                      </m:oMathPara>
                    </a14:m>
                  </mc:Choice>
                  <mc:Fallback xmlns:m="http://schemas.openxmlformats.org/officeDocument/2006/math" xmlns="">
                    <a:r>
                      <a:rPr lang="en-US" sz="1700">
                        <a:solidFill>
                          <a:srgbClr val="4B2E83"/>
                        </a:solidFill>
                      </a:rPr>
                      <a:t>w₁ = e⁰ = 1.000</a:t>
                    </a:r>
                  </mc:Fallback>
                </mc:AlternateContent>
                <a:endParaRPr lang="en-US" sz="1600" dirty="0">
                  <a:solidFill>
                    <a:srgbClr val="333333"/>
                  </a:solidFill>
                </a:endParaRPr>
              </a:p>
              <a:p>
                <a:pPr>
                  <a:buNone/>
                </a:pPr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7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7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7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17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en-US" sz="17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7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17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−0.3</m:t>
                              </m:r>
                            </m:sup>
                          </m:sSup>
                          <m:r>
                            <a:rPr lang="en-US" sz="17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=0.741</m:t>
                          </m:r>
                        </m:oMath>
                      </m:oMathPara>
                    </a14:m>
                  </mc:Choice>
                  <mc:Fallback xmlns:m="http://schemas.openxmlformats.org/officeDocument/2006/math" xmlns="">
                    <a:r>
                      <a:rPr lang="en-US" sz="1700">
                        <a:solidFill>
                          <a:srgbClr val="4B2E83"/>
                        </a:solidFill>
                      </a:rPr>
                      <a:t>w₂ = e⁻⁰·³ = 0.741</a:t>
                    </a:r>
                  </mc:Fallback>
                </mc:AlternateContent>
                <a:endParaRPr lang="en-US" sz="1600" dirty="0">
                  <a:solidFill>
                    <a:srgbClr val="333333"/>
                  </a:solidFill>
                </a:endParaRPr>
              </a:p>
              <a:p>
                <a:pPr>
                  <a:buNone/>
                </a:pPr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7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7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7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17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en-US" sz="17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7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17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−0.9</m:t>
                              </m:r>
                            </m:sup>
                          </m:sSup>
                          <m:r>
                            <a:rPr lang="en-US" sz="17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=0.407</m:t>
                          </m:r>
                        </m:oMath>
                      </m:oMathPara>
                    </a14:m>
                  </mc:Choice>
                  <mc:Fallback xmlns:m="http://schemas.openxmlformats.org/officeDocument/2006/math" xmlns="">
                    <a:r>
                      <a:rPr lang="en-US" sz="1700">
                        <a:solidFill>
                          <a:srgbClr val="4B2E83"/>
                        </a:solidFill>
                      </a:rPr>
                      <a:t>w₃ = e⁻⁰·⁹ = 0.407</a:t>
                    </a:r>
                  </mc:Fallback>
                </mc:AlternateContent>
                <a:endParaRPr lang="en-US" sz="1600" dirty="0">
                  <a:solidFill>
                    <a:srgbClr val="333333"/>
                  </a:solidFill>
                </a:endParaRPr>
              </a:p>
              <a:p>
                <a:pPr>
                  <a:buNone/>
                </a:pPr>
                <a:endParaRPr lang="en-US" sz="250"/>
              </a:p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The nearest neighbor always gets weight 1 — this is what local connectivity guarantees.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1CD1045-7160-D04E-90FC-4BEF7AB23D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8900" y="2438400"/>
                <a:ext cx="4572000" cy="3148106"/>
              </a:xfrm>
              <a:prstGeom prst="rect">
                <a:avLst/>
              </a:prstGeom>
              <a:blipFill>
                <a:blip r:embed="rId3"/>
                <a:stretch>
                  <a:fillRect l="-554" t="-806" b="-16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577468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F8D8A7-C1DF-16F6-C1D3-270A94A718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 2: Fuzzy Union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A75A550-59AD-F04B-8D82-829E2742BC3C}"/>
              </a:ext>
            </a:extLst>
          </p:cNvPr>
          <p:cNvSpPr/>
          <p:nvPr/>
        </p:nvSpPr>
        <p:spPr>
          <a:xfrm>
            <a:off x="838200" y="1778000"/>
            <a:ext cx="1524000" cy="381000"/>
          </a:xfrm>
          <a:prstGeom prst="roundRect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Arial"/>
                <a:cs typeface="Arial"/>
              </a:rPr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E32FD2A-2D10-CD4F-8A59-46B091C380ED}"/>
                  </a:ext>
                </a:extLst>
              </p:cNvPr>
              <p:cNvSpPr txBox="1"/>
              <p:nvPr/>
            </p:nvSpPr>
            <p:spPr>
              <a:xfrm>
                <a:off x="838200" y="2235200"/>
                <a:ext cx="5207000" cy="2541465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>
                  <a:buNone/>
                </a:pPr>
                <a:r>
                  <a:rPr lang="en-US" sz="1600" b="1" dirty="0">
                    <a:solidFill>
                      <a:srgbClr val="00A7B5"/>
                    </a:solidFill>
                    <a:latin typeface="Arial"/>
                  </a:rPr>
                  <a:t>Setup</a:t>
                </a:r>
              </a:p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The directed membership from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333333"/>
                        </a:solidFill>
                      </a:rPr>
                      <a:t>i</a:t>
                    </a:r>
                  </mc:Fallback>
                </mc:AlternateContent>
                <a:r>
                  <a:rPr lang="en-US" sz="1600" dirty="0">
                    <a:solidFill>
                      <a:srgbClr val="333333"/>
                    </a:solidFill>
                  </a:rPr>
                  <a:t> to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333333"/>
                        </a:solidFill>
                      </a:rPr>
                      <a:t>j</a:t>
                    </a:r>
                  </mc:Fallback>
                </mc:AlternateContent>
                <a:r>
                  <a:rPr lang="en-US" sz="1600" dirty="0">
                    <a:solidFill>
                      <a:srgbClr val="333333"/>
                    </a:solidFill>
                  </a:rPr>
                  <a:t> and from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333333"/>
                        </a:solidFill>
                      </a:rPr>
                      <a:t>j</a:t>
                    </a:r>
                  </mc:Fallback>
                </mc:AlternateContent>
                <a:r>
                  <a:rPr lang="en-US" sz="1600" dirty="0">
                    <a:solidFill>
                      <a:srgbClr val="333333"/>
                    </a:solidFill>
                  </a:rPr>
                  <a:t> to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333333"/>
                        </a:solidFill>
                      </a:rPr>
                      <a:t>i</a:t>
                    </a:r>
                  </mc:Fallback>
                </mc:AlternateContent>
                <a:r>
                  <a:rPr lang="en-US" sz="1600" dirty="0">
                    <a:solidFill>
                      <a:srgbClr val="333333"/>
                    </a:solidFill>
                  </a:rPr>
                  <a:t> are not equal:</a:t>
                </a:r>
              </a:p>
              <a:p>
                <a:pPr>
                  <a:buNone/>
                </a:pPr>
                <a:endParaRPr lang="en-US" sz="300"/>
              </a:p>
              <a:p>
                <a:pPr>
                  <a:buNone/>
                </a:pPr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6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6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r>
                            <a:rPr lang="en-US" sz="17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=0.80</m:t>
                          </m:r>
                        </m:oMath>
                      </m:oMathPara>
                    </a14:m>
                  </mc:Choice>
                  <mc:Fallback xmlns:m="http://schemas.openxmlformats.org/officeDocument/2006/math" xmlns="">
                    <a:r>
                      <a:rPr lang="en-US" sz="1700">
                        <a:solidFill>
                          <a:srgbClr val="4B2E83"/>
                        </a:solidFill>
                      </a:rPr>
                      <a:t>wᵢⱼ = 0.80</a:t>
                    </a:r>
                  </mc:Fallback>
                </mc:AlternateContent>
                <a:endParaRPr lang="en-US" sz="300"/>
              </a:p>
              <a:p>
                <a:pPr>
                  <a:buNone/>
                </a:pPr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6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6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𝑗𝑖</m:t>
                              </m:r>
                            </m:sub>
                          </m:sSub>
                          <m:r>
                            <a:rPr lang="en-US" sz="17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=0.50</m:t>
                          </m:r>
                        </m:oMath>
                      </m:oMathPara>
                    </a14:m>
                  </mc:Choice>
                  <mc:Fallback xmlns:m="http://schemas.openxmlformats.org/officeDocument/2006/math" xmlns="">
                    <a:r>
                      <a:rPr lang="en-US" sz="1700">
                        <a:solidFill>
                          <a:srgbClr val="4B2E83"/>
                        </a:solidFill>
                      </a:rPr>
                      <a:t>wⱼᵢ = 0.50</a:t>
                    </a:r>
                  </mc:Fallback>
                </mc:AlternateContent>
                <a:endParaRPr lang="en-US" sz="300"/>
              </a:p>
              <a:p>
                <a:pPr>
                  <a:buNone/>
                </a:pPr>
                <a:endParaRPr lang="en-US" sz="400"/>
              </a:p>
              <a:p>
                <a:pPr>
                  <a:buNone/>
                </a:pPr>
                <a:r>
                  <a:rPr lang="en-US" sz="1600" b="1" dirty="0">
                    <a:solidFill>
                      <a:srgbClr val="00A7B5"/>
                    </a:solidFill>
                    <a:latin typeface="Arial"/>
                  </a:rPr>
                  <a:t>Task</a:t>
                </a:r>
              </a:p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Compute the symmetric edge weight </a:t>
                </a:r>
                <mc:AlternateContent>
                  <mc:Choice Requires="a14"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</m:oMath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333333"/>
                        </a:solidFill>
                      </a:rPr>
                      <a:t>vᵢⱼ</a:t>
                    </a:r>
                  </mc:Fallback>
                </mc:AlternateContent>
                <a:r>
                  <a:rPr lang="en-US" sz="1600" dirty="0">
                    <a:solidFill>
                      <a:srgbClr val="333333"/>
                    </a:solidFill>
                  </a:rPr>
                  <a:t> using the probabilistic t-conorm (fuzzy union):</a:t>
                </a:r>
              </a:p>
              <a:p>
                <a:pPr>
                  <a:buNone/>
                </a:pPr>
                <a:endParaRPr lang="en-US" sz="300"/>
              </a:p>
              <a:p>
                <a:pPr>
                  <a:buNone/>
                </a:pPr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6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16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r>
                            <a:rPr lang="en-US" sz="17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sz="17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6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r>
                            <a:rPr lang="en-US" sz="17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17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6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𝑗𝑖</m:t>
                              </m:r>
                            </m:sub>
                          </m:sSub>
                          <m:r>
                            <a:rPr lang="en-US" sz="17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17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6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r>
                            <a:rPr lang="en-US" sz="17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·</m:t>
                          </m:r>
                          <m:sSub>
                            <m:sSubPr>
                              <m:ctrlPr>
                                <a:rPr lang="en-US" sz="17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6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𝑗𝑖</m:t>
                              </m:r>
                            </m:sub>
                          </m:sSub>
                        </m:oMath>
                      </m:oMathPara>
                    </a14:m>
                  </mc:Choice>
                  <mc:Fallback xmlns:m="http://schemas.openxmlformats.org/officeDocument/2006/math" xmlns="">
                    <a:r>
                      <a:rPr lang="en-US" sz="1700">
                        <a:solidFill>
                          <a:srgbClr val="4B2E83"/>
                        </a:solidFill>
                      </a:rPr>
                      <a:t>vᵢⱼ = wᵢⱼ + wⱼᵢ − wᵢⱼ·wⱼᵢ</a:t>
                    </a:r>
                  </mc:Fallback>
                </mc:AlternateContent>
                <a:endParaRPr lang="en-US" sz="30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E32FD2A-2D10-CD4F-8A59-46B091C380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235200"/>
                <a:ext cx="5207000" cy="2541465"/>
              </a:xfrm>
              <a:prstGeom prst="rect">
                <a:avLst/>
              </a:prstGeom>
              <a:blipFill>
                <a:blip r:embed="rId2"/>
                <a:stretch>
                  <a:fillRect l="-730" t="-9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AA551A63-D97A-1B41-9C97-4A0FEF92124D}"/>
              </a:ext>
            </a:extLst>
          </p:cNvPr>
          <p:cNvSpPr/>
          <p:nvPr/>
        </p:nvSpPr>
        <p:spPr>
          <a:xfrm>
            <a:off x="6210300" y="2235200"/>
            <a:ext cx="5143500" cy="38608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D8418EF-3867-CA45-8BCD-A084F71D9360}"/>
                  </a:ext>
                </a:extLst>
              </p:cNvPr>
              <p:cNvSpPr txBox="1"/>
              <p:nvPr/>
            </p:nvSpPr>
            <p:spPr>
              <a:xfrm>
                <a:off x="6438900" y="2438400"/>
                <a:ext cx="4572000" cy="2462213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>
                  <a:buNone/>
                </a:pPr>
                <a:r>
                  <a:rPr lang="en-US" sz="1600" b="1" dirty="0">
                    <a:solidFill>
                      <a:srgbClr val="00A7B5"/>
                    </a:solidFill>
                    <a:latin typeface="Arial"/>
                  </a:rPr>
                  <a:t>Solution</a:t>
                </a:r>
              </a:p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Substitute the two directed weights:</a:t>
                </a:r>
              </a:p>
              <a:p>
                <a:pPr>
                  <a:buNone/>
                </a:pPr>
                <a:endParaRPr lang="en-US" sz="300"/>
              </a:p>
              <a:p>
                <a:pPr>
                  <a:buNone/>
                </a:pPr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6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16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r>
                            <a:rPr lang="en-US" sz="17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=0.80+0.50−</m:t>
                          </m:r>
                          <m:d>
                            <m:dPr>
                              <m:ctrlPr>
                                <a:rPr lang="en-US" sz="17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7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0.80</m:t>
                              </m:r>
                            </m:e>
                          </m:d>
                          <m:d>
                            <m:dPr>
                              <m:ctrlPr>
                                <a:rPr lang="en-US" sz="17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7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0.50</m:t>
                              </m:r>
                            </m:e>
                          </m:d>
                        </m:oMath>
                      </m:oMathPara>
                    </a14:m>
                  </mc:Choice>
                  <mc:Fallback xmlns:m="http://schemas.openxmlformats.org/officeDocument/2006/math" xmlns="">
                    <a:r>
                      <a:rPr lang="en-US" sz="1700">
                        <a:solidFill>
                          <a:srgbClr val="4B2E83"/>
                        </a:solidFill>
                      </a:rPr>
                      <a:t>vᵢⱼ = 0.80 + 0.50 − (0.80)(0.50)</a:t>
                    </a:r>
                  </mc:Fallback>
                </mc:AlternateContent>
                <a:endParaRPr lang="en-US" sz="300"/>
              </a:p>
              <a:p>
                <a:pPr>
                  <a:buNone/>
                </a:pPr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nor/>
                            </m:rPr>
                            <a:rPr lang="en-US" sz="1700">
                              <a:solidFill>
                                <a:srgbClr val="4B2E83"/>
                              </a:solidFill>
                            </a:rPr>
                            <m:t>    </m:t>
                          </m:r>
                          <m:r>
                            <a:rPr lang="en-US" sz="17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=1.30−0.40</m:t>
                          </m:r>
                        </m:oMath>
                      </m:oMathPara>
                    </a14:m>
                  </mc:Choice>
                  <mc:Fallback xmlns:m="http://schemas.openxmlformats.org/officeDocument/2006/math" xmlns="">
                    <a:r>
                      <a:rPr lang="en-US" sz="1700">
                        <a:solidFill>
                          <a:srgbClr val="4B2E83"/>
                        </a:solidFill>
                      </a:rPr>
                      <a:t>    = 1.30 − 0.40</a:t>
                    </a:r>
                  </mc:Fallback>
                </mc:AlternateContent>
                <a:endParaRPr lang="en-US" sz="300"/>
              </a:p>
              <a:p>
                <a:pPr>
                  <a:buNone/>
                </a:pPr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nor/>
                            </m:rPr>
                            <a:rPr lang="en-US" sz="1700">
                              <a:solidFill>
                                <a:srgbClr val="4B2E83"/>
                              </a:solidFill>
                            </a:rPr>
                            <m:t>    </m:t>
                          </m:r>
                          <m:r>
                            <a:rPr lang="en-US" sz="17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=0.90</m:t>
                          </m:r>
                        </m:oMath>
                      </m:oMathPara>
                    </a14:m>
                  </mc:Choice>
                  <mc:Fallback xmlns:m="http://schemas.openxmlformats.org/officeDocument/2006/math" xmlns="">
                    <a:r>
                      <a:rPr lang="en-US" sz="1700">
                        <a:solidFill>
                          <a:srgbClr val="4B2E83"/>
                        </a:solidFill>
                      </a:rPr>
                      <a:t>    = 0.90</a:t>
                    </a:r>
                  </mc:Fallback>
                </mc:AlternateContent>
                <a:endParaRPr lang="en-US" sz="300"/>
              </a:p>
              <a:p>
                <a:pPr>
                  <a:buNone/>
                </a:pPr>
                <a:endParaRPr lang="en-US" sz="400"/>
              </a:p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Interpretation: the fuzzy union is larger than either directed weight (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0.90&gt;0.80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333333"/>
                        </a:solidFill>
                      </a:rPr>
                      <a:t>0.90 &gt; 0.80</a:t>
                    </a:r>
                  </mc:Fallback>
                </mc:AlternateContent>
                <a:r>
                  <a:rPr lang="en-US" sz="1600" dirty="0">
                    <a:solidFill>
                      <a:srgbClr val="333333"/>
                    </a:solidFill>
                  </a:rPr>
                  <a:t>), but stays bounded in </a:t>
                </a:r>
                <mc:AlternateContent>
                  <mc:Choice Requires="a14">
                    <a14:m>
                      <m:oMath xmlns:m="http://schemas.openxmlformats.org/officeDocument/2006/math">
                        <m:d>
                          <m:dPr>
                            <m:begChr m:val="["/>
                            <m:endChr m:val="]"/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oMath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333333"/>
                        </a:solidFill>
                      </a:rPr>
                      <a:t>[0, 1]</a:t>
                    </a:r>
                  </mc:Fallback>
                </mc:AlternateContent>
                <a:r>
                  <a:rPr lang="en-US" sz="1600" dirty="0">
                    <a:solidFill>
                      <a:srgbClr val="333333"/>
                    </a:solidFill>
                  </a:rPr>
                  <a:t>. An edge is strong if either endpoint considers the other a neighbor.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D8418EF-3867-CA45-8BCD-A084F71D93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8900" y="2438400"/>
                <a:ext cx="4572000" cy="2462213"/>
              </a:xfrm>
              <a:prstGeom prst="rect">
                <a:avLst/>
              </a:prstGeom>
              <a:blipFill>
                <a:blip r:embed="rId3"/>
                <a:stretch>
                  <a:fillRect l="-554" t="-1031" b="-25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034680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48C16-A997-1A60-DA5D-13137B4275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 3: Low-D Weight qᵢⱼ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27A3468-FA61-124C-97C1-492BBA3C66B9}"/>
              </a:ext>
            </a:extLst>
          </p:cNvPr>
          <p:cNvSpPr/>
          <p:nvPr/>
        </p:nvSpPr>
        <p:spPr>
          <a:xfrm>
            <a:off x="838200" y="1778000"/>
            <a:ext cx="1524000" cy="381000"/>
          </a:xfrm>
          <a:prstGeom prst="roundRect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Arial"/>
                <a:cs typeface="Arial"/>
              </a:rPr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182246E-D803-5748-BB90-9F26CFB77CAE}"/>
                  </a:ext>
                </a:extLst>
              </p:cNvPr>
              <p:cNvSpPr txBox="1"/>
              <p:nvPr/>
            </p:nvSpPr>
            <p:spPr>
              <a:xfrm>
                <a:off x="838200" y="2235200"/>
                <a:ext cx="5207000" cy="2244269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>
                  <a:buNone/>
                </a:pPr>
                <a:r>
                  <a:rPr lang="en-US" sz="1600" b="1" dirty="0">
                    <a:solidFill>
                      <a:srgbClr val="00A7B5"/>
                    </a:solidFill>
                    <a:latin typeface="Arial"/>
                  </a:rPr>
                  <a:t>Setup</a:t>
                </a:r>
              </a:p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Two embedded points are separated by distance </a:t>
                </a:r>
                <mc:AlternateContent>
                  <mc:Choice Requires="a14">
                    <a14:m>
                      <m:oMath xmlns:m="http://schemas.openxmlformats.org/officeDocument/2006/math">
                        <m:d>
                          <m:dPr>
                            <m:begChr m:val="‖"/>
                            <m:endChr m:val="‖"/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600" i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e>
                              <m:sub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1600" i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e>
                              <m:sub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=2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333333"/>
                        </a:solidFill>
                      </a:rPr>
                      <a:t>‖yᵢ − yⱼ‖ = 2</a:t>
                    </a:r>
                  </mc:Fallback>
                </mc:AlternateContent>
                <a:r>
                  <a:rPr lang="en-US" sz="1600" dirty="0">
                    <a:solidFill>
                      <a:srgbClr val="333333"/>
                    </a:solidFill>
                  </a:rPr>
                  <a:t>. UMAP default curve parameters:</a:t>
                </a:r>
              </a:p>
              <a:p>
                <a:pPr>
                  <a:buNone/>
                </a:pPr>
                <a:endParaRPr lang="en-US" sz="300"/>
              </a:p>
              <a:p>
                <a:pPr>
                  <a:buNone/>
                </a:pPr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7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17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=1.577,</m:t>
                          </m:r>
                          <m:r>
                            <m:rPr>
                              <m:nor/>
                            </m:rPr>
                            <a:rPr lang="en-US" sz="1700">
                              <a:solidFill>
                                <a:srgbClr val="4B2E83"/>
                              </a:solidFill>
                            </a:rPr>
                            <m:t>   </m:t>
                          </m:r>
                          <m:r>
                            <a:rPr lang="en-US" sz="17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sz="17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=0.895</m:t>
                          </m:r>
                        </m:oMath>
                      </m:oMathPara>
                    </a14:m>
                  </mc:Choice>
                  <mc:Fallback xmlns:m="http://schemas.openxmlformats.org/officeDocument/2006/math" xmlns="">
                    <a:r>
                      <a:rPr lang="en-US" sz="1700">
                        <a:solidFill>
                          <a:srgbClr val="4B2E83"/>
                        </a:solidFill>
                      </a:rPr>
                      <a:t>a = 1.577,   b = 0.895</a:t>
                    </a:r>
                  </mc:Fallback>
                </mc:AlternateContent>
                <a:endParaRPr lang="en-US" sz="300"/>
              </a:p>
              <a:p>
                <a:pPr>
                  <a:buNone/>
                </a:pPr>
                <a:endParaRPr lang="en-US" sz="400"/>
              </a:p>
              <a:p>
                <a:pPr>
                  <a:buNone/>
                </a:pPr>
                <a:r>
                  <a:rPr lang="en-US" sz="1600" b="1" dirty="0">
                    <a:solidFill>
                      <a:srgbClr val="00A7B5"/>
                    </a:solidFill>
                    <a:latin typeface="Arial"/>
                  </a:rPr>
                  <a:t>Task</a:t>
                </a:r>
              </a:p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Compute the low-D edge weight:</a:t>
                </a:r>
              </a:p>
              <a:p>
                <a:pPr>
                  <a:buNone/>
                </a:pPr>
                <a:endParaRPr lang="en-US" sz="200"/>
              </a:p>
              <a:p>
                <a:pPr>
                  <a:buNone/>
                </a:pPr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7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7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17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r>
                            <a:rPr lang="en-US" sz="17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en-US" sz="17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700" i="1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700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  <m:t>1+</m:t>
                                  </m:r>
                                  <m:r>
                                    <a:rPr lang="en-US" sz="1700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sSup>
                                    <m:sSupPr>
                                      <m:ctrlPr>
                                        <a:rPr lang="en-US" sz="1700" i="1">
                                          <a:solidFill>
                                            <a:srgbClr val="4B2E8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begChr m:val="‖"/>
                                          <m:endChr m:val="‖"/>
                                          <m:ctrlPr>
                                            <a:rPr lang="en-US" sz="1700" i="1">
                                              <a:solidFill>
                                                <a:srgbClr val="4B2E83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1700" i="1">
                                                  <a:solidFill>
                                                    <a:srgbClr val="4B2E83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600">
                                                  <a:solidFill>
                                                    <a:srgbClr val="333333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𝒚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600">
                                                  <a:solidFill>
                                                    <a:srgbClr val="333333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n-US" sz="1600">
                                              <a:solidFill>
                                                <a:srgbClr val="333333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1600" i="1">
                                                  <a:solidFill>
                                                    <a:srgbClr val="333333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600">
                                                  <a:solidFill>
                                                    <a:srgbClr val="333333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𝒚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600">
                                                  <a:solidFill>
                                                    <a:srgbClr val="333333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1700">
                                          <a:solidFill>
                                            <a:srgbClr val="4B2E8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lang="en-US" sz="1700">
                                          <a:solidFill>
                                            <a:srgbClr val="4B2E8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sz="17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oMath>
                      </m:oMathPara>
                    </a14:m>
                  </mc:Choice>
                  <mc:Fallback xmlns:m="http://schemas.openxmlformats.org/officeDocument/2006/math" xmlns="">
                    <a:r>
                      <a:rPr lang="en-US" sz="1700">
                        <a:solidFill>
                          <a:srgbClr val="4B2E83"/>
                        </a:solidFill>
                      </a:rPr>
                      <a:t>qᵢⱼ = (1 + a‖yᵢ−yⱼ‖²ᵇ)⁻¹</a:t>
                    </a:r>
                  </mc:Fallback>
                </mc:AlternateContent>
                <a:endParaRPr lang="en-US" sz="20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182246E-D803-5748-BB90-9F26CFB77C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235200"/>
                <a:ext cx="5207000" cy="2244269"/>
              </a:xfrm>
              <a:prstGeom prst="rect">
                <a:avLst/>
              </a:prstGeom>
              <a:blipFill>
                <a:blip r:embed="rId2"/>
                <a:stretch>
                  <a:fillRect l="-3650" t="-12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95FA6F5-A639-A141-875A-BA669CE1A8E5}"/>
              </a:ext>
            </a:extLst>
          </p:cNvPr>
          <p:cNvSpPr/>
          <p:nvPr/>
        </p:nvSpPr>
        <p:spPr>
          <a:xfrm>
            <a:off x="6210300" y="2235200"/>
            <a:ext cx="5143500" cy="38608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E07A65B-B4B7-F445-AD0F-AD3EF6DC6549}"/>
                  </a:ext>
                </a:extLst>
              </p:cNvPr>
              <p:cNvSpPr txBox="1"/>
              <p:nvPr/>
            </p:nvSpPr>
            <p:spPr>
              <a:xfrm>
                <a:off x="6438900" y="2438400"/>
                <a:ext cx="4445000" cy="3293274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>
                  <a:buNone/>
                </a:pPr>
                <a:r>
                  <a:rPr lang="en-US" sz="1600" b="1" dirty="0">
                    <a:solidFill>
                      <a:srgbClr val="00A7B5"/>
                    </a:solidFill>
                    <a:latin typeface="Arial"/>
                  </a:rPr>
                  <a:t>Solution</a:t>
                </a:r>
              </a:p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Squared distance term </a:t>
                </a:r>
                <mc:AlternateContent>
                  <mc:Choice Requires="a14">
                    <a14:m>
                      <m:oMath xmlns:m="http://schemas.openxmlformats.org/officeDocument/2006/math">
                        <m:sSup>
                          <m:sSupPr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‖"/>
                                <m:endChr m:val="‖"/>
                                <m:ctrlPr>
                                  <a:rPr lang="en-US" sz="1600" i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1600" i="1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𝒚</m:t>
                                    </m:r>
                                  </m:e>
                                  <m:sub>
                                    <m:r>
                                      <a:rPr lang="en-US" sz="16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1600" i="1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𝒚</m:t>
                                    </m:r>
                                  </m:e>
                                  <m:sub>
                                    <m:r>
                                      <a:rPr lang="en-US" sz="16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=4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333333"/>
                        </a:solidFill>
                      </a:rPr>
                      <a:t>‖yᵢ−yⱼ‖² = 4</a:t>
                    </a:r>
                  </mc:Fallback>
                </mc:AlternateContent>
                <a:r>
                  <a:rPr lang="en-US" sz="1600" dirty="0">
                    <a:solidFill>
                      <a:srgbClr val="333333"/>
                    </a:solidFill>
                  </a:rPr>
                  <a:t>. Raise to power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333333"/>
                        </a:solidFill>
                      </a:rPr>
                      <a:t>b</a:t>
                    </a:r>
                  </mc:Fallback>
                </mc:AlternateContent>
                <a:r>
                  <a:rPr lang="en-US" sz="1600" dirty="0">
                    <a:solidFill>
                      <a:srgbClr val="333333"/>
                    </a:solidFill>
                  </a:rPr>
                  <a:t>:</a:t>
                </a:r>
              </a:p>
              <a:p>
                <a:pPr>
                  <a:buNone/>
                </a:pPr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en-US" sz="17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7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sup>
                              <m:r>
                                <a:rPr lang="en-US" sz="17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0.895</m:t>
                              </m:r>
                            </m:sup>
                          </m:sSup>
                          <m:r>
                            <a:rPr lang="en-US" sz="17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=3.43</m:t>
                          </m:r>
                        </m:oMath>
                      </m:oMathPara>
                    </a14:m>
                  </mc:Choice>
                  <mc:Fallback xmlns:m="http://schemas.openxmlformats.org/officeDocument/2006/math" xmlns="">
                    <a:r>
                      <a:rPr lang="en-US" sz="1700">
                        <a:solidFill>
                          <a:srgbClr val="4B2E83"/>
                        </a:solidFill>
                      </a:rPr>
                      <a:t>4^0.895 = 3.43</a:t>
                    </a:r>
                  </mc:Fallback>
                </mc:AlternateContent>
                <a:endParaRPr lang="en-US" sz="1600" dirty="0">
                  <a:solidFill>
                    <a:srgbClr val="333333"/>
                  </a:solidFill>
                </a:endParaRPr>
              </a:p>
              <a:p>
                <a:pPr>
                  <a:buNone/>
                </a:pPr>
                <a:endParaRPr lang="en-US" sz="200"/>
              </a:p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Scale by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333333"/>
                        </a:solidFill>
                      </a:rPr>
                      <a:t>a</a:t>
                    </a:r>
                  </mc:Fallback>
                </mc:AlternateContent>
                <a:r>
                  <a:rPr lang="en-US" sz="1600" dirty="0">
                    <a:solidFill>
                      <a:srgbClr val="333333"/>
                    </a:solidFill>
                  </a:rPr>
                  <a:t> and add 1:</a:t>
                </a:r>
              </a:p>
              <a:p>
                <a:pPr>
                  <a:buNone/>
                </a:pPr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7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1+1.577·3.43=6.41</m:t>
                          </m:r>
                        </m:oMath>
                      </m:oMathPara>
                    </a14:m>
                  </mc:Choice>
                  <mc:Fallback xmlns:m="http://schemas.openxmlformats.org/officeDocument/2006/math" xmlns="">
                    <a:r>
                      <a:rPr lang="en-US" sz="1700">
                        <a:solidFill>
                          <a:srgbClr val="4B2E83"/>
                        </a:solidFill>
                      </a:rPr>
                      <a:t>1 + 1.577 · 3.43 = 6.41</a:t>
                    </a:r>
                  </mc:Fallback>
                </mc:AlternateContent>
                <a:endParaRPr lang="en-US" sz="1600" dirty="0">
                  <a:solidFill>
                    <a:srgbClr val="333333"/>
                  </a:solidFill>
                </a:endParaRPr>
              </a:p>
              <a:p>
                <a:pPr>
                  <a:buNone/>
                </a:pPr>
                <a:endParaRPr lang="en-US" sz="200"/>
              </a:p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Invert:</a:t>
                </a:r>
              </a:p>
              <a:p>
                <a:pPr>
                  <a:buNone/>
                </a:pPr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7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7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17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r>
                            <a:rPr lang="en-US" sz="17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sz="17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7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17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6.41</m:t>
                              </m:r>
                            </m:den>
                          </m:f>
                          <m:r>
                            <a:rPr lang="en-US" sz="17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=0.156</m:t>
                          </m:r>
                        </m:oMath>
                      </m:oMathPara>
                    </a14:m>
                  </mc:Choice>
                  <mc:Fallback xmlns:m="http://schemas.openxmlformats.org/officeDocument/2006/math" xmlns="">
                    <a:r>
                      <a:rPr lang="en-US" sz="1700">
                        <a:solidFill>
                          <a:srgbClr val="4B2E83"/>
                        </a:solidFill>
                      </a:rPr>
                      <a:t>qᵢⱼ = 1 / 6.41 = 0.156</a:t>
                    </a:r>
                  </mc:Fallback>
                </mc:AlternateContent>
                <a:endParaRPr lang="en-US" sz="1600" dirty="0">
                  <a:solidFill>
                    <a:srgbClr val="333333"/>
                  </a:solidFill>
                </a:endParaRPr>
              </a:p>
              <a:p>
                <a:pPr>
                  <a:buNone/>
                </a:pPr>
                <a:endParaRPr lang="en-US" sz="300"/>
              </a:p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Distant points get a small low-D weight; if their high-D membership </a:t>
                </a:r>
                <mc:AlternateContent>
                  <mc:Choice Requires="a14"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</m:oMath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333333"/>
                        </a:solidFill>
                      </a:rPr>
                      <a:t>vᵢⱼ</a:t>
                    </a:r>
                  </mc:Fallback>
                </mc:AlternateContent>
                <a:r>
                  <a:rPr lang="en-US" sz="1600" dirty="0">
                    <a:solidFill>
                      <a:srgbClr val="333333"/>
                    </a:solidFill>
                  </a:rPr>
                  <a:t> is large, the attractive term pulls them closer next step.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E07A65B-B4B7-F445-AD0F-AD3EF6DC65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8900" y="2438400"/>
                <a:ext cx="4445000" cy="3293274"/>
              </a:xfrm>
              <a:prstGeom prst="rect">
                <a:avLst/>
              </a:prstGeom>
              <a:blipFill>
                <a:blip r:embed="rId3"/>
                <a:stretch>
                  <a:fillRect l="-570" t="-769" r="-285" b="-11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811505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1102C-85C4-B891-800D-E071126D04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UMAP — Exercises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A9C16761-3864-814F-9957-7D97710589D8}"/>
              </a:ext>
            </a:extLst>
          </p:cNvPr>
          <p:cNvSpPr/>
          <p:nvPr/>
        </p:nvSpPr>
        <p:spPr>
          <a:xfrm>
            <a:off x="838200" y="2311400"/>
            <a:ext cx="558800" cy="558800"/>
          </a:xfrm>
          <a:prstGeom prst="ellipse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FFFFFF"/>
                </a:solidFill>
                <a:latin typeface="Arial"/>
                <a:cs typeface="Arial"/>
              </a:rPr>
              <a:t>E1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7F29C3E3-3171-ED42-A9AF-4C1AA1347C74}"/>
              </a:ext>
            </a:extLst>
          </p:cNvPr>
          <p:cNvSpPr/>
          <p:nvPr/>
        </p:nvSpPr>
        <p:spPr>
          <a:xfrm>
            <a:off x="1625600" y="1905000"/>
            <a:ext cx="9728200" cy="1473200"/>
          </a:xfrm>
          <a:prstGeom prst="roundRect">
            <a:avLst/>
          </a:prstGeom>
          <a:solidFill>
            <a:srgbClr val="F5F0EB"/>
          </a:solidFill>
          <a:ln w="12700" cap="flat" cmpd="sng" algn="ctr">
            <a:solidFill>
              <a:srgbClr val="B7A57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68A2CCD-0F8E-5F40-9CD6-84107A2B77E9}"/>
                  </a:ext>
                </a:extLst>
              </p:cNvPr>
              <p:cNvSpPr txBox="1"/>
              <p:nvPr/>
            </p:nvSpPr>
            <p:spPr>
              <a:xfrm>
                <a:off x="1854200" y="2272813"/>
                <a:ext cx="9296400" cy="737574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spAutoFit/>
              </a:bodyPr>
              <a:lstStyle/>
              <a:p>
                <a:pPr>
                  <a:buNone/>
                </a:pPr>
                <a:r>
                  <a:rPr lang="en-US" sz="1600" b="1" dirty="0">
                    <a:solidFill>
                      <a:srgbClr val="00A7B5"/>
                    </a:solidFill>
                  </a:rPr>
                  <a:t>E1.  </a:t>
                </a:r>
                <a:r>
                  <a:rPr lang="en-US" sz="1600" dirty="0">
                    <a:solidFill>
                      <a:srgbClr val="333333"/>
                    </a:solidFill>
                  </a:rPr>
                  <a:t>A point has neighbor distances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0.3,0.6,0.6,1.0</m:t>
                            </m:r>
                          </m:e>
                        </m:d>
                      </m:oMath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333333"/>
                        </a:solidFill>
                      </a:rPr>
                      <a:t>d = [0.3, 0.6, 0.6, 1.0]</a:t>
                    </a:r>
                  </mc:Fallback>
                </mc:AlternateContent>
                <a:r>
                  <a:rPr lang="en-US" sz="1600" dirty="0">
                    <a:solidFill>
                      <a:srgbClr val="333333"/>
                    </a:solidFill>
                  </a:rPr>
                  <a:t> (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=4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333333"/>
                        </a:solidFill>
                      </a:rPr>
                      <a:t>k = 4</a:t>
                    </a:r>
                  </mc:Fallback>
                </mc:AlternateContent>
                <a:r>
                  <a:rPr lang="en-US" sz="1600" dirty="0">
                    <a:solidFill>
                      <a:srgbClr val="333333"/>
                    </a:solidFill>
                  </a:rPr>
                  <a:t>). With </a:t>
                </a:r>
                <mc:AlternateContent>
                  <mc:Choice Requires="a14"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=0.5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333333"/>
                        </a:solidFill>
                      </a:rPr>
                      <a:t>σᵢ = 0.5</a:t>
                    </a:r>
                  </mc:Fallback>
                </mc:AlternateContent>
                <a:r>
                  <a:rPr lang="en-US" sz="1600" dirty="0">
                    <a:solidFill>
                      <a:srgbClr val="333333"/>
                    </a:solidFill>
                  </a:rPr>
                  <a:t>, find </a:t>
                </a:r>
                <mc:AlternateContent>
                  <mc:Choice Requires="a14"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333333"/>
                        </a:solidFill>
                      </a:rPr>
                      <a:t>ρᵢ</a:t>
                    </a:r>
                  </mc:Fallback>
                </mc:AlternateContent>
                <a:r>
                  <a:rPr lang="en-US" sz="1600" dirty="0">
                    <a:solidFill>
                      <a:srgbClr val="333333"/>
                    </a:solidFill>
                  </a:rPr>
                  <a:t> and the four directed weights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  <m:d>
                          <m:dPr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600" i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1600" i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nor/>
                          </m:rPr>
                          <a:rPr lang="en-US" sz="1600">
                            <a:solidFill>
                              <a:srgbClr val="333333"/>
                            </a:solidFill>
                          </a:rPr>
                          <m:t>exp</m:t>
                        </m:r>
                        <m:d>
                          <m:dPr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sz="1600" i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nor/>
                                  </m:rPr>
                                  <a:rPr lang="en-US" sz="1600">
                                    <a:solidFill>
                                      <a:srgbClr val="333333"/>
                                    </a:solidFill>
                                  </a:rPr>
                                  <m:t>max</m:t>
                                </m:r>
                                <m:d>
                                  <m:dPr>
                                    <m:ctrlPr>
                                      <a:rPr lang="en-US" sz="1600" i="1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6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0,</m:t>
                                    </m:r>
                                    <m:r>
                                      <a:rPr lang="en-US" sz="16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  <m:r>
                                      <a:rPr lang="en-US" sz="16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sz="1600" i="1">
                                            <a:solidFill>
                                              <a:srgbClr val="333333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>
                                            <a:solidFill>
                                              <a:srgbClr val="333333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𝜌</m:t>
                                        </m:r>
                                      </m:e>
                                      <m:sub>
                                        <m:r>
                                          <a:rPr lang="en-US" sz="1600">
                                            <a:solidFill>
                                              <a:srgbClr val="333333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d>
                              </m:num>
                              <m:den>
                                <m:sSub>
                                  <m:sSubPr>
                                    <m:ctrlPr>
                                      <a:rPr lang="en-US" sz="1600" i="1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sz="16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</m:oMath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333333"/>
                        </a:solidFill>
                      </a:rPr>
                      <a:t>w(xᵢ,xⱼ) = exp(−max(0, d−ρᵢ)/σᵢ)</a:t>
                    </a:r>
                  </mc:Fallback>
                </mc:AlternateContent>
                <a:r>
                  <a:rPr lang="en-US" sz="1600" dirty="0">
                    <a:solidFill>
                      <a:srgbClr val="333333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68A2CCD-0F8E-5F40-9CD6-84107A2B77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4200" y="2272813"/>
                <a:ext cx="9296400" cy="737574"/>
              </a:xfrm>
              <a:prstGeom prst="rect">
                <a:avLst/>
              </a:prstGeom>
              <a:blipFill>
                <a:blip r:embed="rId2"/>
                <a:stretch>
                  <a:fillRect l="-273" t="-1695" b="-16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Oval 7">
            <a:extLst>
              <a:ext uri="{FF2B5EF4-FFF2-40B4-BE49-F238E27FC236}">
                <a16:creationId xmlns:a16="http://schemas.microsoft.com/office/drawing/2014/main" id="{AB39D09E-37AD-2D47-AD4A-A6A1C18BA489}"/>
              </a:ext>
            </a:extLst>
          </p:cNvPr>
          <p:cNvSpPr/>
          <p:nvPr/>
        </p:nvSpPr>
        <p:spPr>
          <a:xfrm>
            <a:off x="838200" y="3835400"/>
            <a:ext cx="558800" cy="558800"/>
          </a:xfrm>
          <a:prstGeom prst="ellipse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FFFFFF"/>
                </a:solidFill>
                <a:latin typeface="Arial"/>
                <a:cs typeface="Arial"/>
              </a:rPr>
              <a:t>E2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74091C73-7B68-D747-83FD-662B904DA6A5}"/>
              </a:ext>
            </a:extLst>
          </p:cNvPr>
          <p:cNvSpPr/>
          <p:nvPr/>
        </p:nvSpPr>
        <p:spPr>
          <a:xfrm>
            <a:off x="1625600" y="3429000"/>
            <a:ext cx="9728200" cy="1473200"/>
          </a:xfrm>
          <a:prstGeom prst="roundRect">
            <a:avLst/>
          </a:prstGeom>
          <a:solidFill>
            <a:srgbClr val="F5F0EB"/>
          </a:solidFill>
          <a:ln w="12700" cap="flat" cmpd="sng" algn="ctr">
            <a:solidFill>
              <a:srgbClr val="B7A57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580649B-E642-1A40-BC76-5A07E9EFA951}"/>
                  </a:ext>
                </a:extLst>
              </p:cNvPr>
              <p:cNvSpPr txBox="1"/>
              <p:nvPr/>
            </p:nvSpPr>
            <p:spPr>
              <a:xfrm>
                <a:off x="1854200" y="3853399"/>
                <a:ext cx="9296400" cy="624402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spAutoFit/>
              </a:bodyPr>
              <a:lstStyle/>
              <a:p>
                <a:pPr>
                  <a:buNone/>
                </a:pPr>
                <a:r>
                  <a:rPr lang="en-US" sz="1600" b="1" dirty="0">
                    <a:solidFill>
                      <a:srgbClr val="00A7B5"/>
                    </a:solidFill>
                  </a:rPr>
                  <a:t>E2.  </a:t>
                </a:r>
                <a:r>
                  <a:rPr lang="en-US" sz="1600" dirty="0">
                    <a:solidFill>
                      <a:srgbClr val="333333"/>
                    </a:solidFill>
                  </a:rPr>
                  <a:t>Two directed memberships are </a:t>
                </a:r>
                <mc:AlternateContent>
                  <mc:Choice Requires="a14"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=0.6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333333"/>
                        </a:solidFill>
                      </a:rPr>
                      <a:t>wᵢⱼ = 0.6</a:t>
                    </a:r>
                  </mc:Fallback>
                </mc:AlternateContent>
                <a:r>
                  <a:rPr lang="en-US" sz="1600" dirty="0">
                    <a:solidFill>
                      <a:srgbClr val="333333"/>
                    </a:solidFill>
                  </a:rPr>
                  <a:t> and </a:t>
                </a:r>
                <mc:AlternateContent>
                  <mc:Choice Requires="a14"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𝑗𝑖</m:t>
                            </m:r>
                          </m:sub>
                        </m:s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=0.9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333333"/>
                        </a:solidFill>
                      </a:rPr>
                      <a:t>wⱼᵢ = 0.9</a:t>
                    </a:r>
                  </mc:Fallback>
                </mc:AlternateContent>
                <a:r>
                  <a:rPr lang="en-US" sz="1600" dirty="0">
                    <a:solidFill>
                      <a:srgbClr val="333333"/>
                    </a:solidFill>
                  </a:rPr>
                  <a:t>. Compute the symmetric weight </a:t>
                </a:r>
                <mc:AlternateContent>
                  <mc:Choice Requires="a14"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𝑗𝑖</m:t>
                            </m:r>
                          </m:sub>
                        </m:s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  <m:sSub>
                          <m:sSubPr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𝑗𝑖</m:t>
                            </m:r>
                          </m:sub>
                        </m:sSub>
                      </m:oMath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333333"/>
                        </a:solidFill>
                      </a:rPr>
                      <a:t>vᵢⱼ = wᵢⱼ + wⱼᵢ − wᵢⱼ wⱼᵢ</a:t>
                    </a:r>
                  </mc:Fallback>
                </mc:AlternateContent>
                <a:r>
                  <a:rPr lang="en-US" sz="1600" dirty="0">
                    <a:solidFill>
                      <a:srgbClr val="333333"/>
                    </a:solidFill>
                  </a:rPr>
                  <a:t>, then verify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0≤</m:t>
                        </m:r>
                        <m:sSub>
                          <m:sSubPr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≤1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333333"/>
                        </a:solidFill>
                      </a:rPr>
                      <a:t>0 ≤ vᵢⱼ ≤ 1</a:t>
                    </a:r>
                  </mc:Fallback>
                </mc:AlternateContent>
                <a:r>
                  <a:rPr lang="en-US" sz="1600" dirty="0">
                    <a:solidFill>
                      <a:srgbClr val="333333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580649B-E642-1A40-BC76-5A07E9EFA9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4200" y="3853399"/>
                <a:ext cx="9296400" cy="624402"/>
              </a:xfrm>
              <a:prstGeom prst="rect">
                <a:avLst/>
              </a:prstGeom>
              <a:blipFill>
                <a:blip r:embed="rId3"/>
                <a:stretch>
                  <a:fillRect l="-273" t="-2000"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Oval 10">
            <a:extLst>
              <a:ext uri="{FF2B5EF4-FFF2-40B4-BE49-F238E27FC236}">
                <a16:creationId xmlns:a16="http://schemas.microsoft.com/office/drawing/2014/main" id="{54F03277-5147-8949-B1B8-8070A21EC9B0}"/>
              </a:ext>
            </a:extLst>
          </p:cNvPr>
          <p:cNvSpPr/>
          <p:nvPr/>
        </p:nvSpPr>
        <p:spPr>
          <a:xfrm>
            <a:off x="838200" y="5359400"/>
            <a:ext cx="558800" cy="558800"/>
          </a:xfrm>
          <a:prstGeom prst="ellipse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FFFFFF"/>
                </a:solidFill>
                <a:latin typeface="Arial"/>
                <a:cs typeface="Arial"/>
              </a:rPr>
              <a:t>E3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AB1C93F4-CF36-004A-93B9-B31544F88C5F}"/>
              </a:ext>
            </a:extLst>
          </p:cNvPr>
          <p:cNvSpPr/>
          <p:nvPr/>
        </p:nvSpPr>
        <p:spPr>
          <a:xfrm>
            <a:off x="1625600" y="4953000"/>
            <a:ext cx="9728200" cy="1473200"/>
          </a:xfrm>
          <a:prstGeom prst="roundRect">
            <a:avLst/>
          </a:prstGeom>
          <a:solidFill>
            <a:srgbClr val="F5F0EB"/>
          </a:solidFill>
          <a:ln w="12700" cap="flat" cmpd="sng" algn="ctr">
            <a:solidFill>
              <a:srgbClr val="B7A57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D396ED8-29F7-FE4F-9826-5C9A4CF8F531}"/>
                  </a:ext>
                </a:extLst>
              </p:cNvPr>
              <p:cNvSpPr txBox="1"/>
              <p:nvPr/>
            </p:nvSpPr>
            <p:spPr>
              <a:xfrm>
                <a:off x="1854200" y="5289073"/>
                <a:ext cx="9296400" cy="801053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spAutoFit/>
              </a:bodyPr>
              <a:lstStyle/>
              <a:p>
                <a:pPr>
                  <a:buNone/>
                </a:pPr>
                <a:r>
                  <a:rPr lang="en-US" sz="1600" b="1" dirty="0">
                    <a:solidFill>
                      <a:srgbClr val="00A7B5"/>
                    </a:solidFill>
                  </a:rPr>
                  <a:t>E3.  </a:t>
                </a:r>
                <a:r>
                  <a:rPr lang="en-US" sz="1600" dirty="0">
                    <a:solidFill>
                      <a:srgbClr val="333333"/>
                    </a:solidFill>
                  </a:rPr>
                  <a:t>With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=1.577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333333"/>
                        </a:solidFill>
                      </a:rPr>
                      <a:t>a = 1.577</a:t>
                    </a:r>
                  </mc:Fallback>
                </mc:AlternateContent>
                <a:r>
                  <a:rPr lang="en-US" sz="1600" dirty="0">
                    <a:solidFill>
                      <a:srgbClr val="333333"/>
                    </a:solidFill>
                  </a:rPr>
                  <a:t>,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=0.895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333333"/>
                        </a:solidFill>
                      </a:rPr>
                      <a:t>b = 0.895</a:t>
                    </a:r>
                  </mc:Fallback>
                </mc:AlternateContent>
                <a:r>
                  <a:rPr lang="en-US" sz="1600" dirty="0">
                    <a:solidFill>
                      <a:srgbClr val="333333"/>
                    </a:solidFill>
                  </a:rPr>
                  <a:t>, compute the low-D weight </a:t>
                </a:r>
                <mc:AlternateContent>
                  <mc:Choice Requires="a14"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1600" i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1+</m:t>
                                </m:r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sSup>
                                  <m:sSupPr>
                                    <m:ctrlPr>
                                      <a:rPr lang="en-US" sz="1600" i="1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begChr m:val="‖"/>
                                        <m:endChr m:val="‖"/>
                                        <m:ctrlPr>
                                          <a:rPr lang="en-US" sz="1600" i="1">
                                            <a:solidFill>
                                              <a:srgbClr val="333333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sz="1600" i="1">
                                                <a:solidFill>
                                                  <a:srgbClr val="333333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600">
                                                <a:solidFill>
                                                  <a:srgbClr val="333333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𝒚</m:t>
                                            </m:r>
                                          </m:e>
                                          <m:sub>
                                            <m:r>
                                              <a:rPr lang="en-US" sz="1600">
                                                <a:solidFill>
                                                  <a:srgbClr val="333333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r>
                                          <a:rPr lang="en-US" sz="1600">
                                            <a:solidFill>
                                              <a:srgbClr val="333333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sSub>
                                          <m:sSubPr>
                                            <m:ctrlPr>
                                              <a:rPr lang="en-US" sz="1600" i="1">
                                                <a:solidFill>
                                                  <a:srgbClr val="333333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600">
                                                <a:solidFill>
                                                  <a:srgbClr val="333333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𝒚</m:t>
                                            </m:r>
                                          </m:e>
                                          <m:sub>
                                            <m:r>
                                              <a:rPr lang="en-US" sz="1600">
                                                <a:solidFill>
                                                  <a:srgbClr val="333333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𝑗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  <m:sup>
                                    <m:r>
                                      <a:rPr lang="en-US" sz="16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sz="16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sup>
                                </m:sSup>
                              </m:e>
                            </m:d>
                          </m:e>
                          <m:sup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oMath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333333"/>
                        </a:solidFill>
                      </a:rPr>
                      <a:t>qᵢⱼ = (1 + a‖yᵢ−yⱼ‖²ᵇ)⁻¹</a:t>
                    </a:r>
                  </mc:Fallback>
                </mc:AlternateContent>
                <a:r>
                  <a:rPr lang="en-US" sz="1600" dirty="0">
                    <a:solidFill>
                      <a:srgbClr val="333333"/>
                    </a:solidFill>
                  </a:rPr>
                  <a:t> for </a:t>
                </a:r>
                <mc:AlternateContent>
                  <mc:Choice Requires="a14">
                    <a14:m>
                      <m:oMath xmlns:m="http://schemas.openxmlformats.org/officeDocument/2006/math">
                        <m:d>
                          <m:dPr>
                            <m:begChr m:val="‖"/>
                            <m:endChr m:val="‖"/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600" i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e>
                              <m:sub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1600" i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e>
                              <m:sub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333333"/>
                        </a:solidFill>
                      </a:rPr>
                      <a:t>‖yᵢ−yⱼ‖ = 1</a:t>
                    </a:r>
                  </mc:Fallback>
                </mc:AlternateContent>
                <a:r>
                  <a:rPr lang="en-US" sz="1600" dirty="0">
                    <a:solidFill>
                      <a:srgbClr val="333333"/>
                    </a:solidFill>
                  </a:rPr>
                  <a:t> and for </a:t>
                </a:r>
                <mc:AlternateContent>
                  <mc:Choice Requires="a14">
                    <a14:m>
                      <m:oMath xmlns:m="http://schemas.openxmlformats.org/officeDocument/2006/math">
                        <m:d>
                          <m:dPr>
                            <m:begChr m:val="‖"/>
                            <m:endChr m:val="‖"/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600" i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e>
                              <m:sub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1600" i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e>
                              <m:sub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=3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333333"/>
                        </a:solidFill>
                      </a:rPr>
                      <a:t>‖yᵢ−yⱼ‖ = 3</a:t>
                    </a:r>
                  </mc:Fallback>
                </mc:AlternateContent>
                <a:r>
                  <a:rPr lang="en-US" sz="1600" dirty="0">
                    <a:solidFill>
                      <a:srgbClr val="333333"/>
                    </a:solidFill>
                  </a:rPr>
                  <a:t>. Which pair is pulled together more strongly?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D396ED8-29F7-FE4F-9826-5C9A4CF8F5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4200" y="5289073"/>
                <a:ext cx="9296400" cy="801053"/>
              </a:xfrm>
              <a:prstGeom prst="rect">
                <a:avLst/>
              </a:prstGeom>
              <a:blipFill>
                <a:blip r:embed="rId4"/>
                <a:stretch>
                  <a:fillRect l="-273" b="-78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233269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E8B6737-7FEA-794D-BDF1-8E6CCF68A0A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8900E6E-EA68-BB42-B420-090B08CBEAC2}"/>
              </a:ext>
            </a:extLst>
          </p:cNvPr>
          <p:cNvSpPr/>
          <p:nvPr/>
        </p:nvSpPr>
        <p:spPr>
          <a:xfrm>
            <a:off x="0" y="3810000"/>
            <a:ext cx="3810000" cy="1016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6474B3-B77F-294C-BF0D-4AAEB5266739}"/>
              </a:ext>
            </a:extLst>
          </p:cNvPr>
          <p:cNvSpPr txBox="1"/>
          <p:nvPr/>
        </p:nvSpPr>
        <p:spPr>
          <a:xfrm>
            <a:off x="838200" y="1905000"/>
            <a:ext cx="25400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4000" b="1">
                <a:solidFill>
                  <a:srgbClr val="B7A57A"/>
                </a:solidFill>
                <a:latin typeface="Arial"/>
                <a:cs typeface="Arial"/>
              </a:rPr>
              <a:t>06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2FA914D-F184-794F-A0F9-BC022CB92875}"/>
              </a:ext>
            </a:extLst>
          </p:cNvPr>
          <p:cNvSpPr txBox="1"/>
          <p:nvPr/>
        </p:nvSpPr>
        <p:spPr>
          <a:xfrm>
            <a:off x="787400" y="2857500"/>
            <a:ext cx="10414000" cy="1143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5400" b="1">
                <a:solidFill>
                  <a:srgbClr val="FFFFFF"/>
                </a:solidFill>
                <a:latin typeface="Arial"/>
                <a:cs typeface="Arial"/>
              </a:rPr>
              <a:t>Clustering Profiling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6607BEA-5180-024E-8C9A-CD06B46859F7}"/>
              </a:ext>
            </a:extLst>
          </p:cNvPr>
          <p:cNvSpPr txBox="1"/>
          <p:nvPr/>
        </p:nvSpPr>
        <p:spPr>
          <a:xfrm>
            <a:off x="838200" y="4191000"/>
            <a:ext cx="10414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000">
                <a:solidFill>
                  <a:srgbClr val="F5F0EB"/>
                </a:solidFill>
                <a:latin typeface="Calibri"/>
                <a:cs typeface="Calibri"/>
              </a:rPr>
              <a:t>Characterizing &amp; Validating Clusters with Matrix Statistics</a:t>
            </a:r>
          </a:p>
        </p:txBody>
      </p:sp>
    </p:spTree>
    <p:extLst>
      <p:ext uri="{BB962C8B-B14F-4D97-AF65-F5344CB8AC3E}">
        <p14:creationId xmlns:p14="http://schemas.microsoft.com/office/powerpoint/2010/main" val="32735705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7688FB-7446-8550-219E-490CA4E679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Centroids, Medoids &amp; Profiles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1EAB0F4-BC45-604C-BE57-01F65A7135D3}"/>
                  </a:ext>
                </a:extLst>
              </p:cNvPr>
              <p:cNvSpPr txBox="1"/>
              <p:nvPr/>
            </p:nvSpPr>
            <p:spPr>
              <a:xfrm>
                <a:off x="838200" y="1879600"/>
                <a:ext cx="10515600" cy="338554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A cluster profile summarizes each cluster </a:t>
                </a:r>
                <mc:AlternateContent>
                  <mc:Choice Requires="a14"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oMath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333333"/>
                        </a:solidFill>
                      </a:rPr>
                      <a:t>Cₖ</a:t>
                    </a:r>
                  </mc:Fallback>
                </mc:AlternateContent>
                <a:r>
                  <a:rPr lang="en-US" sz="1600" dirty="0">
                    <a:solidFill>
                      <a:srgbClr val="333333"/>
                    </a:solidFill>
                  </a:rPr>
                  <a:t> by a vector of feature statistics over its members.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1EAB0F4-BC45-604C-BE57-01F65A7135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79600"/>
                <a:ext cx="10515600" cy="338554"/>
              </a:xfrm>
              <a:prstGeom prst="rect">
                <a:avLst/>
              </a:prstGeom>
              <a:blipFill>
                <a:blip r:embed="rId2"/>
                <a:stretch>
                  <a:fillRect l="-362" t="-3571" b="-2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5035962-F222-5D4C-BB91-BD63711A30C9}"/>
              </a:ext>
            </a:extLst>
          </p:cNvPr>
          <p:cNvSpPr/>
          <p:nvPr/>
        </p:nvSpPr>
        <p:spPr>
          <a:xfrm>
            <a:off x="838200" y="2514600"/>
            <a:ext cx="10515600" cy="7366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19D3CE0-4460-F749-A640-3B7487C3D809}"/>
                  </a:ext>
                </a:extLst>
              </p:cNvPr>
              <p:cNvSpPr txBox="1"/>
              <p:nvPr/>
            </p:nvSpPr>
            <p:spPr>
              <a:xfrm>
                <a:off x="1016000" y="2498244"/>
                <a:ext cx="10160000" cy="769313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spAutoFit/>
              </a:bodyPr>
              <a:lstStyle/>
              <a:p>
                <a:pPr algn="ctr">
                  <a:buNone/>
                </a:pPr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nor/>
                            </m:rPr>
                            <a:rPr lang="en-US" sz="1800">
                              <a:solidFill>
                                <a:srgbClr val="FFFFFF"/>
                              </a:solidFill>
                            </a:rPr>
                            <m:t>Centroid</m:t>
                          </m:r>
                          <m:r>
                            <m:rPr>
                              <m:nor/>
                            </m:rPr>
                            <a:rPr lang="en-US" sz="1800">
                              <a:solidFill>
                                <a:srgbClr val="FFFFFF"/>
                              </a:solidFill>
                            </a:rPr>
                            <m:t>:   </m:t>
                          </m:r>
                          <m:sSub>
                            <m:sSubPr>
                              <m:ctrlPr>
                                <a:rPr lang="en-US" sz="18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𝝁</m:t>
                              </m:r>
                            </m:e>
                            <m:sub>
                              <m:r>
                                <a:rPr lang="en-US" sz="180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sz="180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sz="18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80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1800" i="1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800" i="1">
                                          <a:solidFill>
                                            <a:srgbClr val="FFFF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>
                                          <a:solidFill>
                                            <a:srgbClr val="FFFF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US" sz="1800">
                                          <a:solidFill>
                                            <a:srgbClr val="FFFF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e>
                              </m:d>
                            </m:den>
                          </m:f>
                          <m:nary>
                            <m:naryPr>
                              <m:chr m:val="∑"/>
                              <m:limLoc m:val="undOvr"/>
                              <m:supHide m:val="on"/>
                              <m:ctrlPr>
                                <a:rPr lang="en-US" sz="18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b>
                                <m:sSubPr>
                                  <m:ctrlPr>
                                    <a:rPr lang="en-US" sz="1800" i="1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sz="1800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  <m:r>
                            <a:rPr lang="en-US" sz="180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nor/>
                            </m:rPr>
                            <a:rPr lang="en-US" sz="1800">
                              <a:solidFill>
                                <a:srgbClr val="FFFFFF"/>
                              </a:solidFill>
                            </a:rPr>
                            <m:t> </m:t>
                          </m:r>
                          <m:r>
                            <a:rPr lang="en-US" sz="180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80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lang="en-US" sz="18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180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m:rPr>
                              <m:nor/>
                            </m:rPr>
                            <a:rPr lang="en-US" sz="1800">
                              <a:solidFill>
                                <a:srgbClr val="FFFFFF"/>
                              </a:solidFill>
                            </a:rPr>
                            <m:t>  </m:t>
                          </m:r>
                          <m:r>
                            <a:rPr lang="en-US" sz="180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sSup>
                            <m:sSupPr>
                              <m:ctrlPr>
                                <a:rPr lang="en-US" sz="18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ℝ</m:t>
                              </m:r>
                            </m:e>
                            <m:sup>
                              <m:r>
                                <a:rPr lang="en-US" sz="180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p>
                          </m:sSup>
                        </m:oMath>
                      </m:oMathPara>
                    </a14:m>
                  </mc:Choice>
                  <mc:Fallback xmlns:m="http://schemas.openxmlformats.org/officeDocument/2006/math" xmlns="">
                    <a:r>
                      <a:rPr lang="en-US" sz="1800">
                        <a:solidFill>
                          <a:srgbClr val="FFFFFF"/>
                        </a:solidFill>
                      </a:rPr>
                      <a:t>Centroid:  μₖ = (1/|Cₖ|) Σ xᵢ, i ∈ Cₖ  ∈ ℝᵈ</a:t>
                    </a:r>
                  </mc:Fallback>
                </mc:AlternateContent>
                <a:endParaRPr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19D3CE0-4460-F749-A640-3B7487C3D8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000" y="2498244"/>
                <a:ext cx="10160000" cy="769313"/>
              </a:xfrm>
              <a:prstGeom prst="rect">
                <a:avLst/>
              </a:prstGeom>
              <a:blipFill>
                <a:blip r:embed="rId3"/>
                <a:stretch>
                  <a:fillRect t="-119355" b="-1661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1EF9F1DD-4FE2-BF4E-83E7-4993C353761C}"/>
              </a:ext>
            </a:extLst>
          </p:cNvPr>
          <p:cNvSpPr/>
          <p:nvPr/>
        </p:nvSpPr>
        <p:spPr>
          <a:xfrm>
            <a:off x="838200" y="3429000"/>
            <a:ext cx="10515600" cy="736600"/>
          </a:xfrm>
          <a:prstGeom prst="roundRect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402EB46-2E45-DF47-B713-2C5FD82B959C}"/>
                  </a:ext>
                </a:extLst>
              </p:cNvPr>
              <p:cNvSpPr txBox="1"/>
              <p:nvPr/>
            </p:nvSpPr>
            <p:spPr>
              <a:xfrm>
                <a:off x="1016000" y="3610165"/>
                <a:ext cx="10160000" cy="37427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spAutoFit/>
              </a:bodyPr>
              <a:lstStyle/>
              <a:p>
                <a:pPr algn="ctr">
                  <a:buNone/>
                </a:pPr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nor/>
                            </m:rPr>
                            <a:rPr lang="en-US" sz="1800">
                              <a:solidFill>
                                <a:srgbClr val="FFFFFF"/>
                              </a:solidFill>
                            </a:rPr>
                            <m:t>Profile</m:t>
                          </m:r>
                          <m:r>
                            <m:rPr>
                              <m:nor/>
                            </m:rPr>
                            <a:rPr lang="en-US" sz="1800">
                              <a:solidFill>
                                <a:srgbClr val="FFFFFF"/>
                              </a:solidFill>
                            </a:rPr>
                            <m:t> (</m:t>
                          </m:r>
                          <m:r>
                            <m:rPr>
                              <m:nor/>
                            </m:rPr>
                            <a:rPr lang="en-US" sz="1800">
                              <a:solidFill>
                                <a:srgbClr val="FFFFFF"/>
                              </a:solidFill>
                            </a:rPr>
                            <m:t>z</m:t>
                          </m:r>
                          <m:r>
                            <m:rPr>
                              <m:nor/>
                            </m:rPr>
                            <a:rPr lang="en-US" sz="1800">
                              <a:solidFill>
                                <a:srgbClr val="FFFFFF"/>
                              </a:solidFill>
                            </a:rPr>
                            <m:t>−</m:t>
                          </m:r>
                          <m:r>
                            <m:rPr>
                              <m:nor/>
                            </m:rPr>
                            <a:rPr lang="en-US" sz="1800">
                              <a:solidFill>
                                <a:srgbClr val="FFFFFF"/>
                              </a:solidFill>
                            </a:rPr>
                            <m:t>score</m:t>
                          </m:r>
                          <m:r>
                            <m:rPr>
                              <m:nor/>
                            </m:rPr>
                            <a:rPr lang="en-US" sz="1800">
                              <a:solidFill>
                                <a:srgbClr val="FFFFFF"/>
                              </a:solidFill>
                            </a:rPr>
                            <m:t>):   </m:t>
                          </m:r>
                          <m:sSub>
                            <m:sSubPr>
                              <m:ctrlPr>
                                <a:rPr lang="en-US" sz="18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𝒛</m:t>
                              </m:r>
                            </m:e>
                            <m:sub>
                              <m:r>
                                <a:rPr lang="en-US" sz="180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sz="180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ctrlPr>
                                <a:rPr lang="en-US" sz="18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800" i="1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  <m:t>𝝁</m:t>
                                  </m:r>
                                </m:e>
                                <m:sub>
                                  <m:r>
                                    <a:rPr lang="en-US" sz="1800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en-US" sz="180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80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𝝁</m:t>
                              </m:r>
                            </m:e>
                          </m:d>
                          <m:r>
                            <a:rPr lang="en-US" sz="180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⊘</m:t>
                          </m:r>
                          <m:r>
                            <a:rPr lang="en-US" sz="180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𝝈</m:t>
                          </m:r>
                          <m:r>
                            <m:rPr>
                              <m:nor/>
                            </m:rPr>
                            <a:rPr lang="en-US" sz="1800">
                              <a:solidFill>
                                <a:srgbClr val="FFFFFF"/>
                              </a:solidFill>
                            </a:rPr>
                            <m:t>  </m:t>
                          </m:r>
                          <m:r>
                            <a:rPr lang="en-US" sz="180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sSup>
                            <m:sSupPr>
                              <m:ctrlPr>
                                <a:rPr lang="en-US" sz="18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ℝ</m:t>
                              </m:r>
                            </m:e>
                            <m:sup>
                              <m:r>
                                <a:rPr lang="en-US" sz="180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p>
                          </m:sSup>
                        </m:oMath>
                      </m:oMathPara>
                    </a14:m>
                  </mc:Choice>
                  <mc:Fallback xmlns:m="http://schemas.openxmlformats.org/officeDocument/2006/math" xmlns="">
                    <a:r>
                      <a:rPr lang="en-US" sz="1800">
                        <a:solidFill>
                          <a:srgbClr val="FFFFFF"/>
                        </a:solidFill>
                      </a:rPr>
                      <a:t>Profile (z-score):  zₖ = (μₖ − μ) ⊘ σ  ∈ ℝᵈ</a:t>
                    </a:r>
                  </mc:Fallback>
                </mc:AlternateContent>
                <a:endParaRPr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402EB46-2E45-DF47-B713-2C5FD82B95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000" y="3610165"/>
                <a:ext cx="10160000" cy="374270"/>
              </a:xfrm>
              <a:prstGeom prst="rect">
                <a:avLst/>
              </a:prstGeom>
              <a:blipFill>
                <a:blip r:embed="rId4"/>
                <a:stretch>
                  <a:fillRect t="-3333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0D0F9C3-22E4-884D-B499-2E77D2C009FF}"/>
                  </a:ext>
                </a:extLst>
              </p:cNvPr>
              <p:cNvSpPr txBox="1"/>
              <p:nvPr/>
            </p:nvSpPr>
            <p:spPr>
              <a:xfrm>
                <a:off x="838200" y="4368800"/>
                <a:ext cx="10515600" cy="1052789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marL="285750" indent="-285750">
                  <a:buFont typeface="Arial"/>
                  <a:buChar char="•"/>
                </a:pPr>
                <a:r>
                  <a:rPr lang="en-US" sz="1500" b="1" dirty="0">
                    <a:solidFill>
                      <a:srgbClr val="4B2E83"/>
                    </a:solidFill>
                  </a:rPr>
                  <a:t>Medoid: </a:t>
                </a:r>
                <mc:AlternateContent>
                  <mc:Choice Requires="a14"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15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5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𝒎</m:t>
                            </m:r>
                          </m:e>
                          <m:sub>
                            <m:r>
                              <a:rPr lang="en-US" sz="15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sz="15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sz="1500">
                                <a:solidFill>
                                  <a:srgbClr val="333333"/>
                                </a:solidFill>
                              </a:rPr>
                              <m:t>argmin</m:t>
                            </m:r>
                          </m:e>
                          <m:sub>
                            <m:r>
                              <a:rPr lang="en-US" sz="15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sub>
                        </m:sSub>
                        <m:nary>
                          <m:naryPr>
                            <m:chr m:val="∑"/>
                            <m:limLoc m:val="undOvr"/>
                            <m:supHide m:val="on"/>
                            <m:ctrlPr>
                              <a:rPr lang="en-US" sz="15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d>
                              <m:dPr>
                                <m:begChr m:val="‖"/>
                                <m:endChr m:val="‖"/>
                                <m:ctrlPr>
                                  <a:rPr lang="en-US" sz="1500" i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5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US" sz="15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1500" i="1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5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5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</m:nary>
                      </m:oMath>
                    </a14:m>
                  </mc:Choice>
                  <mc:Fallback xmlns:m="http://schemas.openxmlformats.org/officeDocument/2006/math" xmlns="">
                    <a:r>
                      <a:rPr lang="en-US" sz="1500">
                        <a:solidFill>
                          <a:srgbClr val="333333"/>
                        </a:solidFill>
                      </a:rPr>
                      <a:t>mₖ = argminₓ Σ ‖x − xᵢ‖</a:t>
                    </a:r>
                  </mc:Fallback>
                </mc:AlternateContent>
                <a:r>
                  <a:rPr lang="en-US" sz="1500" dirty="0">
                    <a:solidFill>
                      <a:srgbClr val="333333"/>
                    </a:solidFill>
                  </a:rPr>
                  <a:t> — the most central actual member (robust to outliers).</a:t>
                </a:r>
              </a:p>
              <a:p>
                <a:pPr marL="285750" indent="-285750">
                  <a:buFont typeface="Arial"/>
                  <a:buChar char="•"/>
                </a:pP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𝝁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500">
                        <a:solidFill>
                          <a:srgbClr val="333333"/>
                        </a:solidFill>
                      </a:rPr>
                      <a:t>μ</a:t>
                    </a:r>
                  </mc:Fallback>
                </mc:AlternateContent>
                <a:r>
                  <a:rPr lang="en-US" sz="1500" dirty="0">
                    <a:solidFill>
                      <a:srgbClr val="333333"/>
                    </a:solidFill>
                  </a:rPr>
                  <a:t> is the global mean vector,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𝝈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500">
                        <a:solidFill>
                          <a:srgbClr val="333333"/>
                        </a:solidFill>
                      </a:rPr>
                      <a:t>σ</a:t>
                    </a:r>
                  </mc:Fallback>
                </mc:AlternateContent>
                <a:r>
                  <a:rPr lang="en-US" sz="1500" dirty="0">
                    <a:solidFill>
                      <a:srgbClr val="333333"/>
                    </a:solidFill>
                  </a:rPr>
                  <a:t> the global per-feature std;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⊘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500">
                        <a:solidFill>
                          <a:srgbClr val="333333"/>
                        </a:solidFill>
                      </a:rPr>
                      <a:t>⊘</a:t>
                    </a:r>
                  </mc:Fallback>
                </mc:AlternateContent>
                <a:r>
                  <a:rPr lang="en-US" sz="1500" dirty="0">
                    <a:solidFill>
                      <a:srgbClr val="333333"/>
                    </a:solidFill>
                  </a:rPr>
                  <a:t> is element-wise division.</a:t>
                </a:r>
              </a:p>
              <a:p>
                <a:pPr marL="285750" indent="-285750">
                  <a:buFont typeface="Arial"/>
                  <a:buChar char="•"/>
                </a:pPr>
                <a:r>
                  <a:rPr lang="en-US" sz="1500" dirty="0">
                    <a:solidFill>
                      <a:srgbClr val="333333"/>
                    </a:solidFill>
                  </a:rPr>
                  <a:t>The z-profile shows how many std deviations each feature deviates from the overall mean.</a:t>
                </a:r>
              </a:p>
              <a:p>
                <a:pPr marL="285750" indent="-285750">
                  <a:buFont typeface="Arial"/>
                  <a:buChar char="•"/>
                </a:pPr>
                <a:r>
                  <a:rPr lang="en-US" sz="1500" dirty="0">
                    <a:solidFill>
                      <a:srgbClr val="333333"/>
                    </a:solidFill>
                  </a:rPr>
                  <a:t>Stacking profiles row-wise gives the profile matrix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𝐙</m:t>
                        </m:r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en-US" sz="15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1500" i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1500" i="1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5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𝒛</m:t>
                                    </m:r>
                                  </m:e>
                                  <m:sub>
                                    <m:r>
                                      <a:rPr lang="en-US" sz="15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en-US" sz="1500">
                                    <a:solidFill>
                                      <a:srgbClr val="333333"/>
                                    </a:solidFill>
                                  </a:rPr>
                                  <m:t> </m:t>
                                </m:r>
                                <m:r>
                                  <a:rPr lang="en-US" sz="15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  <m:r>
                                  <m:rPr>
                                    <m:nor/>
                                  </m:rPr>
                                  <a:rPr lang="en-US" sz="1500">
                                    <a:solidFill>
                                      <a:srgbClr val="333333"/>
                                    </a:solidFill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n-US" sz="1500" i="1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5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𝒛</m:t>
                                    </m:r>
                                  </m:e>
                                  <m:sub>
                                    <m:r>
                                      <a:rPr lang="en-US" sz="1500">
                                        <a:solidFill>
                                          <a:srgbClr val="33333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m:rPr>
                                <m:nor/>
                              </m:rPr>
                              <a:rPr lang="en-US" sz="1500">
                                <a:solidFill>
                                  <a:srgbClr val="333333"/>
                                </a:solidFill>
                              </a:rPr>
                              <m:t>T</m:t>
                            </m:r>
                          </m:sup>
                        </m:sSup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en-US" sz="15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5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ℝ</m:t>
                            </m:r>
                          </m:e>
                          <m:sup>
                            <m:r>
                              <a:rPr lang="en-US" sz="15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15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US" sz="15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p>
                        </m:sSup>
                      </m:oMath>
                    </a14:m>
                  </mc:Choice>
                  <mc:Fallback xmlns:m="http://schemas.openxmlformats.org/officeDocument/2006/math" xmlns="">
                    <a:r>
                      <a:rPr lang="en-US" sz="1500">
                        <a:solidFill>
                          <a:srgbClr val="333333"/>
                        </a:solidFill>
                      </a:rPr>
                      <a:t>Z = [z₁ ⋯ zₖ]ᵀ ∈ ℝᵏˣᵈ</a:t>
                    </a:r>
                  </mc:Fallback>
                </mc:AlternateContent>
                <a:r>
                  <a:rPr lang="en-US" sz="1500" dirty="0">
                    <a:solidFill>
                      <a:srgbClr val="333333"/>
                    </a:solidFill>
                  </a:rPr>
                  <a:t> — the basis of a heatmap.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0D0F9C3-22E4-884D-B499-2E77D2C009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368800"/>
                <a:ext cx="10515600" cy="1052789"/>
              </a:xfrm>
              <a:prstGeom prst="rect">
                <a:avLst/>
              </a:prstGeom>
              <a:blipFill>
                <a:blip r:embed="rId5"/>
                <a:stretch>
                  <a:fillRect l="-241" t="-34940" b="-72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969144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87002-7AA0-DC8E-184D-22575ECC5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Validation: Silhouette &amp; F-Statistic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5EA7D83-2740-2C44-A255-C61C9D81235A}"/>
              </a:ext>
            </a:extLst>
          </p:cNvPr>
          <p:cNvSpPr/>
          <p:nvPr/>
        </p:nvSpPr>
        <p:spPr>
          <a:xfrm>
            <a:off x="838200" y="1905000"/>
            <a:ext cx="10515600" cy="4318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FFFFFF"/>
                </a:solidFill>
                <a:latin typeface="Arial"/>
                <a:cs typeface="Arial"/>
              </a:rPr>
              <a:t>Silhouette — cohesion vs separation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907CC59-2B7A-3642-810B-743F8B3892C1}"/>
                  </a:ext>
                </a:extLst>
              </p:cNvPr>
              <p:cNvSpPr txBox="1"/>
              <p:nvPr/>
            </p:nvSpPr>
            <p:spPr>
              <a:xfrm>
                <a:off x="1016000" y="2438400"/>
                <a:ext cx="10160000" cy="1148328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algn="ctr">
                  <a:buNone/>
                </a:pPr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7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d>
                            <m:dPr>
                              <m:ctrlPr>
                                <a:rPr lang="en-US" sz="17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7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  <m:r>
                            <a:rPr lang="en-US" sz="17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sz="17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5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d>
                                <m:dPr>
                                  <m:ctrlPr>
                                    <a:rPr lang="en-US" sz="1500" i="1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500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  <m:r>
                                <a:rPr lang="en-US" sz="17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50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d>
                                <m:dPr>
                                  <m:ctrlPr>
                                    <a:rPr lang="en-US" sz="1500" i="1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500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</m:num>
                            <m:den>
                              <m:r>
                                <m:rPr>
                                  <m:nor/>
                                </m:rPr>
                                <a:rPr lang="en-US" sz="1700">
                                  <a:solidFill>
                                    <a:srgbClr val="4B2E83"/>
                                  </a:solidFill>
                                </a:rPr>
                                <m:t>max</m:t>
                              </m:r>
                              <m:d>
                                <m:dPr>
                                  <m:ctrlPr>
                                    <a:rPr lang="en-US" sz="1700" i="1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500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d>
                                    <m:dPr>
                                      <m:ctrlPr>
                                        <a:rPr lang="en-US" sz="1500" i="1">
                                          <a:solidFill>
                                            <a:srgbClr val="33333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500">
                                          <a:solidFill>
                                            <a:srgbClr val="33333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  <m:r>
                                    <a:rPr lang="en-US" sz="1700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1500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  <m:d>
                                    <m:dPr>
                                      <m:ctrlPr>
                                        <a:rPr lang="en-US" sz="1500" i="1">
                                          <a:solidFill>
                                            <a:srgbClr val="33333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500">
                                          <a:solidFill>
                                            <a:srgbClr val="33333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</m:e>
                              </m:d>
                            </m:den>
                          </m:f>
                          <m:r>
                            <m:rPr>
                              <m:nor/>
                            </m:rPr>
                            <a:rPr lang="en-US" sz="1700">
                              <a:solidFill>
                                <a:srgbClr val="4B2E83"/>
                              </a:solidFill>
                            </a:rPr>
                            <m:t>  </m:t>
                          </m:r>
                          <m:r>
                            <a:rPr lang="en-US" sz="17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17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7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−1,1</m:t>
                              </m:r>
                            </m:e>
                          </m:d>
                        </m:oMath>
                      </m:oMathPara>
                    </a14:m>
                  </mc:Choice>
                  <mc:Fallback xmlns:m="http://schemas.openxmlformats.org/officeDocument/2006/math" xmlns="">
                    <a:r>
                      <a:rPr lang="en-US" sz="1700">
                        <a:solidFill>
                          <a:srgbClr val="4B2E83"/>
                        </a:solidFill>
                      </a:rPr>
                      <a:t>s(i) = (b(i) − a(i)) / max(a(i), b(i))   ∈ [−1, 1]</a:t>
                    </a:r>
                  </mc:Fallback>
                </mc:AlternateContent>
                <a:endParaRPr/>
              </a:p>
              <a:p>
                <a:pPr>
                  <a:buNone/>
                </a:pPr>
                <a:endParaRPr lang="en-US" sz="400"/>
              </a:p>
              <a:p>
                <a:pPr>
                  <a:buNone/>
                </a:pP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d>
                          <m:dPr>
                            <m:ctrlPr>
                              <a:rPr lang="en-US" sz="15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5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oMath>
                    </a14:m>
                  </mc:Choice>
                  <mc:Fallback xmlns:m="http://schemas.openxmlformats.org/officeDocument/2006/math" xmlns="">
                    <a:r>
                      <a:rPr lang="en-US" sz="1500">
                        <a:solidFill>
                          <a:srgbClr val="333333"/>
                        </a:solidFill>
                      </a:rPr>
                      <a:t>a(i)</a:t>
                    </a:r>
                  </mc:Fallback>
                </mc:AlternateContent>
                <a:r>
                  <a:rPr lang="en-US" sz="1500" dirty="0">
                    <a:solidFill>
                      <a:srgbClr val="333333"/>
                    </a:solidFill>
                  </a:rPr>
                  <a:t> = mean distance from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500">
                        <a:solidFill>
                          <a:srgbClr val="333333"/>
                        </a:solidFill>
                      </a:rPr>
                      <a:t>i</a:t>
                    </a:r>
                  </mc:Fallback>
                </mc:AlternateContent>
                <a:r>
                  <a:rPr lang="en-US" sz="1500" dirty="0">
                    <a:solidFill>
                      <a:srgbClr val="333333"/>
                    </a:solidFill>
                  </a:rPr>
                  <a:t> to others in its own cluster (cohesion); 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d>
                          <m:dPr>
                            <m:ctrlPr>
                              <a:rPr lang="en-US" sz="15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5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oMath>
                    </a14:m>
                  </mc:Choice>
                  <mc:Fallback xmlns:m="http://schemas.openxmlformats.org/officeDocument/2006/math" xmlns="">
                    <a:r>
                      <a:rPr lang="en-US" sz="1500">
                        <a:solidFill>
                          <a:srgbClr val="333333"/>
                        </a:solidFill>
                      </a:rPr>
                      <a:t>b(i)</a:t>
                    </a:r>
                  </mc:Fallback>
                </mc:AlternateContent>
                <a:r>
                  <a:rPr lang="en-US" sz="1500" dirty="0">
                    <a:solidFill>
                      <a:srgbClr val="333333"/>
                    </a:solidFill>
                  </a:rPr>
                  <a:t> = lowest mean distance from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500">
                        <a:solidFill>
                          <a:srgbClr val="333333"/>
                        </a:solidFill>
                      </a:rPr>
                      <a:t>i</a:t>
                    </a:r>
                  </mc:Fallback>
                </mc:AlternateContent>
                <a:r>
                  <a:rPr lang="en-US" sz="1500" dirty="0">
                    <a:solidFill>
                      <a:srgbClr val="333333"/>
                    </a:solidFill>
                  </a:rPr>
                  <a:t> to any other cluster (separation). Overall quality = </a:t>
                </a:r>
                <mc:AlternateContent>
                  <mc:Choice Requires="a14"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15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sz="1500">
                                <a:solidFill>
                                  <a:srgbClr val="333333"/>
                                </a:solidFill>
                              </a:rPr>
                              <m:t>mean</m:t>
                            </m:r>
                          </m:e>
                          <m:sub>
                            <m:r>
                              <a:rPr lang="en-US" sz="15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d>
                          <m:dPr>
                            <m:ctrlPr>
                              <a:rPr lang="en-US" sz="15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5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oMath>
                    </a14:m>
                  </mc:Choice>
                  <mc:Fallback xmlns:m="http://schemas.openxmlformats.org/officeDocument/2006/math" xmlns="">
                    <a:r>
                      <a:rPr lang="en-US" sz="1500">
                        <a:solidFill>
                          <a:srgbClr val="333333"/>
                        </a:solidFill>
                      </a:rPr>
                      <a:t>meanᵢ s(i)</a:t>
                    </a:r>
                  </mc:Fallback>
                </mc:AlternateContent>
                <a:r>
                  <a:rPr lang="en-US" sz="1500" dirty="0">
                    <a:solidFill>
                      <a:srgbClr val="333333"/>
                    </a:solidFill>
                  </a:rPr>
                  <a:t>. Values near +1 = well clustered; near 0 = on a boundary; negative = likely misassigned.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907CC59-2B7A-3642-810B-743F8B3892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000" y="2438400"/>
                <a:ext cx="10160000" cy="1148328"/>
              </a:xfrm>
              <a:prstGeom prst="rect">
                <a:avLst/>
              </a:prstGeom>
              <a:blipFill>
                <a:blip r:embed="rId2"/>
                <a:stretch>
                  <a:fillRect l="-375" b="-54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>
            <a:extLst>
              <a:ext uri="{FF2B5EF4-FFF2-40B4-BE49-F238E27FC236}">
                <a16:creationId xmlns:a16="http://schemas.microsoft.com/office/drawing/2014/main" id="{14EF9B2A-082B-CF43-A670-5A35B8B70320}"/>
              </a:ext>
            </a:extLst>
          </p:cNvPr>
          <p:cNvSpPr/>
          <p:nvPr/>
        </p:nvSpPr>
        <p:spPr>
          <a:xfrm>
            <a:off x="838200" y="4089400"/>
            <a:ext cx="10515600" cy="431800"/>
          </a:xfrm>
          <a:prstGeom prst="rect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FFFFFF"/>
                </a:solidFill>
                <a:latin typeface="Arial"/>
                <a:cs typeface="Arial"/>
              </a:rPr>
              <a:t>ANOVA F-statistic — per-feature discriminative power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081BF0A-B630-A840-BFFB-B39B4286514B}"/>
                  </a:ext>
                </a:extLst>
              </p:cNvPr>
              <p:cNvSpPr txBox="1"/>
              <p:nvPr/>
            </p:nvSpPr>
            <p:spPr>
              <a:xfrm>
                <a:off x="1016000" y="4622800"/>
                <a:ext cx="10160000" cy="1765548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algn="ctr">
                  <a:buNone/>
                </a:pPr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700" i="1">
                                  <a:solidFill>
                                    <a:srgbClr val="00857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700">
                                  <a:solidFill>
                                    <a:srgbClr val="00857B"/>
                                  </a:solidFill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sz="1700">
                                  <a:solidFill>
                                    <a:srgbClr val="00857B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sz="1700">
                              <a:solidFill>
                                <a:srgbClr val="00857B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sz="1700" i="1">
                                  <a:solidFill>
                                    <a:srgbClr val="00857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f>
                                <m:fPr>
                                  <m:ctrlPr>
                                    <a:rPr lang="en-US" sz="1700" i="1">
                                      <a:solidFill>
                                        <a:srgbClr val="00857B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nary>
                                    <m:naryPr>
                                      <m:chr m:val="∑"/>
                                      <m:limLoc m:val="undOvr"/>
                                      <m:supHide m:val="on"/>
                                      <m:ctrlPr>
                                        <a:rPr lang="en-US" sz="1700" i="1">
                                          <a:solidFill>
                                            <a:srgbClr val="00857B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en-US" sz="1700">
                                          <a:solidFill>
                                            <a:srgbClr val="00857B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  <m:sup/>
                                    <m:e>
                                      <m:d>
                                        <m:dPr>
                                          <m:begChr m:val="|"/>
                                          <m:endChr m:val="|"/>
                                          <m:ctrlPr>
                                            <a:rPr lang="en-US" sz="1700" i="1">
                                              <a:solidFill>
                                                <a:srgbClr val="00857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1700" i="1">
                                                  <a:solidFill>
                                                    <a:srgbClr val="00857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700">
                                                  <a:solidFill>
                                                    <a:srgbClr val="00857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𝐶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700">
                                                  <a:solidFill>
                                                    <a:srgbClr val="00857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𝑘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  <m:sSup>
                                        <m:sSupPr>
                                          <m:ctrlPr>
                                            <a:rPr lang="en-US" sz="1700" i="1">
                                              <a:solidFill>
                                                <a:srgbClr val="00857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d>
                                            <m:dPr>
                                              <m:ctrlPr>
                                                <a:rPr lang="en-US" sz="1700" i="1">
                                                  <a:solidFill>
                                                    <a:srgbClr val="00857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sz="1700" i="1">
                                                      <a:solidFill>
                                                        <a:srgbClr val="00857B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sz="1700">
                                                      <a:solidFill>
                                                        <a:srgbClr val="00857B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𝜇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sz="1700">
                                                      <a:solidFill>
                                                        <a:srgbClr val="00857B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𝑘𝑗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en-US" sz="1700">
                                                  <a:solidFill>
                                                    <a:srgbClr val="00857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−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en-US" sz="1700" i="1">
                                                      <a:solidFill>
                                                        <a:srgbClr val="00857B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sz="1700">
                                                      <a:solidFill>
                                                        <a:srgbClr val="00857B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𝜇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sz="1700">
                                                      <a:solidFill>
                                                        <a:srgbClr val="00857B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𝑗</m:t>
                                                  </m:r>
                                                </m:sub>
                                              </m:sSub>
                                            </m:e>
                                          </m:d>
                                        </m:e>
                                        <m:sup>
                                          <m:r>
                                            <a:rPr lang="en-US" sz="1700">
                                              <a:solidFill>
                                                <a:srgbClr val="00857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e>
                                  </m:nary>
                                </m:num>
                                <m:den>
                                  <m:r>
                                    <a:rPr lang="en-US" sz="1700">
                                      <a:solidFill>
                                        <a:srgbClr val="00857B"/>
                                      </a:solidFill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  <m:r>
                                    <a:rPr lang="en-US" sz="1700">
                                      <a:solidFill>
                                        <a:srgbClr val="00857B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den>
                              </m:f>
                            </m:num>
                            <m:den>
                              <m:f>
                                <m:fPr>
                                  <m:ctrlPr>
                                    <a:rPr lang="en-US" sz="1700" i="1">
                                      <a:solidFill>
                                        <a:srgbClr val="00857B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nary>
                                    <m:naryPr>
                                      <m:chr m:val="∑"/>
                                      <m:limLoc m:val="undOvr"/>
                                      <m:supHide m:val="on"/>
                                      <m:ctrlPr>
                                        <a:rPr lang="en-US" sz="1700" i="1">
                                          <a:solidFill>
                                            <a:srgbClr val="00857B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en-US" sz="1700">
                                          <a:solidFill>
                                            <a:srgbClr val="00857B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  <m:sup/>
                                    <m:e>
                                      <m:nary>
                                        <m:naryPr>
                                          <m:chr m:val="∑"/>
                                          <m:limLoc m:val="undOvr"/>
                                          <m:supHide m:val="on"/>
                                          <m:ctrlPr>
                                            <a:rPr lang="en-US" sz="1700" i="1">
                                              <a:solidFill>
                                                <a:srgbClr val="00857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naryPr>
                                        <m:sub>
                                          <m:r>
                                            <a:rPr lang="en-US" sz="1700">
                                              <a:solidFill>
                                                <a:srgbClr val="00857B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  <m:sup/>
                                        <m:e>
                                          <m:sSup>
                                            <m:sSupPr>
                                              <m:ctrlPr>
                                                <a:rPr lang="en-US" sz="1700" i="1">
                                                  <a:solidFill>
                                                    <a:srgbClr val="00857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d>
                                                <m:dPr>
                                                  <m:ctrlPr>
                                                    <a:rPr lang="en-US" sz="1700" i="1">
                                                      <a:solidFill>
                                                        <a:srgbClr val="00857B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sSub>
                                                    <m:sSubPr>
                                                      <m:ctrlPr>
                                                        <a:rPr lang="en-US" sz="1700" i="1">
                                                          <a:solidFill>
                                                            <a:srgbClr val="00857B"/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en-US" sz="1700">
                                                          <a:solidFill>
                                                            <a:srgbClr val="00857B"/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𝑥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en-US" sz="1700">
                                                          <a:solidFill>
                                                            <a:srgbClr val="00857B"/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𝑖𝑗</m:t>
                                                      </m:r>
                                                    </m:sub>
                                                  </m:sSub>
                                                  <m:r>
                                                    <a:rPr lang="en-US" sz="1700">
                                                      <a:solidFill>
                                                        <a:srgbClr val="00857B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−</m:t>
                                                  </m:r>
                                                  <m:sSub>
                                                    <m:sSubPr>
                                                      <m:ctrlPr>
                                                        <a:rPr lang="en-US" sz="1700" i="1">
                                                          <a:solidFill>
                                                            <a:srgbClr val="00857B"/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en-US" sz="1700">
                                                          <a:solidFill>
                                                            <a:srgbClr val="00857B"/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𝜇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en-US" sz="1700">
                                                          <a:solidFill>
                                                            <a:srgbClr val="00857B"/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𝑘𝑗</m:t>
                                                      </m:r>
                                                    </m:sub>
                                                  </m:sSub>
                                                </m:e>
                                              </m:d>
                                            </m:e>
                                            <m:sup>
                                              <m:r>
                                                <a:rPr lang="en-US" sz="1700">
                                                  <a:solidFill>
                                                    <a:srgbClr val="00857B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p>
                                          </m:sSup>
                                        </m:e>
                                      </m:nary>
                                    </m:e>
                                  </m:nary>
                                </m:num>
                                <m:den>
                                  <m:r>
                                    <a:rPr lang="en-US" sz="1700">
                                      <a:solidFill>
                                        <a:srgbClr val="00857B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1700">
                                      <a:solidFill>
                                        <a:srgbClr val="00857B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1700">
                                      <a:solidFill>
                                        <a:srgbClr val="00857B"/>
                                      </a:solidFill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den>
                              </m:f>
                            </m:den>
                          </m:f>
                        </m:oMath>
                      </m:oMathPara>
                    </a14:m>
                  </mc:Choice>
                  <mc:Fallback xmlns:m="http://schemas.openxmlformats.org/officeDocument/2006/math" xmlns="">
                    <a:r>
                      <a:rPr lang="en-US" sz="1700">
                        <a:solidFill>
                          <a:srgbClr val="00857B"/>
                        </a:solidFill>
                      </a:rPr>
                      <a:t>Fⱼ = [ Σₖ |Cₖ|(μₖⱼ−μⱼ)² / (K−1) ] / [ Σₖ Σᵢ (xᵢⱼ−μₖⱼ)² / (n−K) ]</a:t>
                    </a:r>
                  </mc:Fallback>
                </mc:AlternateContent>
                <a:endParaRPr/>
              </a:p>
              <a:p>
                <a:pPr>
                  <a:buNone/>
                </a:pPr>
                <a:endParaRPr lang="en-US" sz="400"/>
              </a:p>
              <a:p>
                <a:pPr>
                  <a:buNone/>
                </a:pPr>
                <a:r>
                  <a:rPr lang="en-US" sz="1500" dirty="0">
                    <a:solidFill>
                      <a:srgbClr val="333333"/>
                    </a:solidFill>
                  </a:rPr>
                  <a:t>For feature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500">
                        <a:solidFill>
                          <a:srgbClr val="333333"/>
                        </a:solidFill>
                      </a:rPr>
                      <a:t>j</a:t>
                    </a:r>
                  </mc:Fallback>
                </mc:AlternateContent>
                <a:r>
                  <a:rPr lang="en-US" sz="1500" dirty="0">
                    <a:solidFill>
                      <a:srgbClr val="333333"/>
                    </a:solidFill>
                  </a:rPr>
                  <a:t>, </a:t>
                </a:r>
                <mc:AlternateContent>
                  <mc:Choice Requires="a14"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15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5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sz="15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oMath>
                    </a14:m>
                  </mc:Choice>
                  <mc:Fallback xmlns:m="http://schemas.openxmlformats.org/officeDocument/2006/math" xmlns="">
                    <a:r>
                      <a:rPr lang="en-US" sz="1500">
                        <a:solidFill>
                          <a:srgbClr val="333333"/>
                        </a:solidFill>
                      </a:rPr>
                      <a:t>Fⱼ</a:t>
                    </a:r>
                  </mc:Fallback>
                </mc:AlternateContent>
                <a:r>
                  <a:rPr lang="en-US" sz="1500" dirty="0">
                    <a:solidFill>
                      <a:srgbClr val="333333"/>
                    </a:solidFill>
                  </a:rPr>
                  <a:t> is the ratio of between-cluster variance to within-cluster variance. Large </a:t>
                </a:r>
                <mc:AlternateContent>
                  <mc:Choice Requires="a14"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15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5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sz="15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oMath>
                    </a14:m>
                  </mc:Choice>
                  <mc:Fallback xmlns:m="http://schemas.openxmlformats.org/officeDocument/2006/math" xmlns="">
                    <a:r>
                      <a:rPr lang="en-US" sz="1500">
                        <a:solidFill>
                          <a:srgbClr val="333333"/>
                        </a:solidFill>
                      </a:rPr>
                      <a:t>Fⱼ</a:t>
                    </a:r>
                  </mc:Fallback>
                </mc:AlternateContent>
                <a:r>
                  <a:rPr lang="en-US" sz="1500" dirty="0">
                    <a:solidFill>
                      <a:srgbClr val="333333"/>
                    </a:solidFill>
                  </a:rPr>
                  <a:t> means feature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5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500">
                        <a:solidFill>
                          <a:srgbClr val="333333"/>
                        </a:solidFill>
                      </a:rPr>
                      <a:t>j</a:t>
                    </a:r>
                  </mc:Fallback>
                </mc:AlternateContent>
                <a:r>
                  <a:rPr lang="en-US" sz="1500" dirty="0">
                    <a:solidFill>
                      <a:srgbClr val="333333"/>
                    </a:solidFill>
                  </a:rPr>
                  <a:t> separates the clusters well — it ranks which variables drive the partition. This is the per-feature numerator/denominator of one-way ANOVA.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081BF0A-B630-A840-BFFB-B39B428651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000" y="4622800"/>
                <a:ext cx="10160000" cy="1765548"/>
              </a:xfrm>
              <a:prstGeom prst="rect">
                <a:avLst/>
              </a:prstGeom>
              <a:blipFill>
                <a:blip r:embed="rId3"/>
                <a:stretch>
                  <a:fillRect l="-375" t="-17021" b="-28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953271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F2FD2-C3F8-D8C2-310A-DCDFABAC8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 1: Silhouette of a Point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1D0C2A3-E584-154F-8F70-95918E2BE87A}"/>
              </a:ext>
            </a:extLst>
          </p:cNvPr>
          <p:cNvSpPr/>
          <p:nvPr/>
        </p:nvSpPr>
        <p:spPr>
          <a:xfrm>
            <a:off x="838200" y="1778000"/>
            <a:ext cx="1524000" cy="3810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Arial"/>
                <a:cs typeface="Arial"/>
              </a:rPr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045569F-96AC-DE48-A0C9-527C8EDC8CF9}"/>
                  </a:ext>
                </a:extLst>
              </p:cNvPr>
              <p:cNvSpPr txBox="1"/>
              <p:nvPr/>
            </p:nvSpPr>
            <p:spPr>
              <a:xfrm>
                <a:off x="838200" y="2235200"/>
                <a:ext cx="5207000" cy="1661993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>
                  <a:buNone/>
                </a:pPr>
                <a:r>
                  <a:rPr lang="en-US" sz="1600" b="1" dirty="0">
                    <a:solidFill>
                      <a:srgbClr val="4B2E83"/>
                    </a:solidFill>
                    <a:latin typeface="Arial"/>
                  </a:rPr>
                  <a:t>Setup</a:t>
                </a:r>
              </a:p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Point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333333"/>
                        </a:solidFill>
                      </a:rPr>
                      <a:t>i</a:t>
                    </a:r>
                  </mc:Fallback>
                </mc:AlternateContent>
                <a:r>
                  <a:rPr lang="en-US" sz="1600" dirty="0">
                    <a:solidFill>
                      <a:srgbClr val="333333"/>
                    </a:solidFill>
                  </a:rPr>
                  <a:t> sits in cluster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sz="1600">
                            <a:solidFill>
                              <a:srgbClr val="333333"/>
                            </a:solidFill>
                          </a:rPr>
                          <m:t>A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333333"/>
                        </a:solidFill>
                      </a:rPr>
                      <a:t>A</a:t>
                    </a:r>
                  </mc:Fallback>
                </mc:AlternateContent>
                <a:r>
                  <a:rPr lang="en-US" sz="1600" dirty="0">
                    <a:solidFill>
                      <a:srgbClr val="333333"/>
                    </a:solidFill>
                  </a:rPr>
                  <a:t>. Its distances to the two members of its own cluster are 1 and 3. To the nearest other cluster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sz="1600">
                            <a:solidFill>
                              <a:srgbClr val="333333"/>
                            </a:solidFill>
                          </a:rPr>
                          <m:t>B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333333"/>
                        </a:solidFill>
                      </a:rPr>
                      <a:t>B</a:t>
                    </a:r>
                  </mc:Fallback>
                </mc:AlternateContent>
                <a:r>
                  <a:rPr lang="en-US" sz="1600" dirty="0">
                    <a:solidFill>
                      <a:srgbClr val="333333"/>
                    </a:solidFill>
                  </a:rPr>
                  <a:t>, its mean distance is 6.</a:t>
                </a:r>
              </a:p>
              <a:p>
                <a:pPr>
                  <a:buNone/>
                </a:pPr>
                <a:endParaRPr lang="en-US" sz="600"/>
              </a:p>
              <a:p>
                <a:pPr>
                  <a:buNone/>
                </a:pPr>
                <a:r>
                  <a:rPr lang="en-US" sz="1600" b="1" dirty="0">
                    <a:solidFill>
                      <a:srgbClr val="4B2E83"/>
                    </a:solidFill>
                    <a:latin typeface="Arial"/>
                  </a:rPr>
                  <a:t>Task</a:t>
                </a:r>
              </a:p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Compute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d>
                          <m:dPr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oMath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333333"/>
                        </a:solidFill>
                      </a:rPr>
                      <a:t>a(i)</a:t>
                    </a:r>
                  </mc:Fallback>
                </mc:AlternateContent>
                <a:r>
                  <a:rPr lang="en-US" sz="1600" dirty="0">
                    <a:solidFill>
                      <a:srgbClr val="333333"/>
                    </a:solidFill>
                  </a:rPr>
                  <a:t>,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d>
                          <m:dPr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oMath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333333"/>
                        </a:solidFill>
                      </a:rPr>
                      <a:t>b(i)</a:t>
                    </a:r>
                  </mc:Fallback>
                </mc:AlternateContent>
                <a:r>
                  <a:rPr lang="en-US" sz="1600" dirty="0">
                    <a:solidFill>
                      <a:srgbClr val="333333"/>
                    </a:solidFill>
                  </a:rPr>
                  <a:t> and the silhouette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d>
                          <m:dPr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oMath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333333"/>
                        </a:solidFill>
                      </a:rPr>
                      <a:t>s(i)</a:t>
                    </a:r>
                  </mc:Fallback>
                </mc:AlternateContent>
                <a:r>
                  <a:rPr lang="en-US" sz="1600" dirty="0">
                    <a:solidFill>
                      <a:srgbClr val="333333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045569F-96AC-DE48-A0C9-527C8EDC8C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235200"/>
                <a:ext cx="5207000" cy="1661993"/>
              </a:xfrm>
              <a:prstGeom prst="rect">
                <a:avLst/>
              </a:prstGeom>
              <a:blipFill>
                <a:blip r:embed="rId2"/>
                <a:stretch>
                  <a:fillRect l="-730" t="-1527" r="-730" b="-38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3DD37AC3-4D93-3641-8877-462254F6AAD2}"/>
              </a:ext>
            </a:extLst>
          </p:cNvPr>
          <p:cNvSpPr/>
          <p:nvPr/>
        </p:nvSpPr>
        <p:spPr>
          <a:xfrm>
            <a:off x="6210300" y="2235200"/>
            <a:ext cx="5143500" cy="38608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61A45F5-86D3-F244-90DF-9F92F20A0B3C}"/>
                  </a:ext>
                </a:extLst>
              </p:cNvPr>
              <p:cNvSpPr txBox="1"/>
              <p:nvPr/>
            </p:nvSpPr>
            <p:spPr>
              <a:xfrm>
                <a:off x="6438900" y="2438400"/>
                <a:ext cx="4699000" cy="3321166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>
                  <a:buNone/>
                </a:pPr>
                <a:r>
                  <a:rPr lang="en-US" sz="1600" b="1" dirty="0">
                    <a:solidFill>
                      <a:srgbClr val="4B2E83"/>
                    </a:solidFill>
                    <a:latin typeface="Arial"/>
                  </a:rPr>
                  <a:t>Solution</a:t>
                </a:r>
              </a:p>
              <a:p>
                <a:pPr algn="ctr">
                  <a:buNone/>
                </a:pPr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7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d>
                            <m:dPr>
                              <m:ctrlPr>
                                <a:rPr lang="en-US" sz="17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7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  <m:r>
                            <a:rPr lang="en-US" sz="17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sz="17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ctrlPr>
                                    <a:rPr lang="en-US" sz="1700" i="1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700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  <m:t>1+3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US" sz="17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sz="17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=2</m:t>
                          </m:r>
                        </m:oMath>
                      </m:oMathPara>
                    </a14:m>
                  </mc:Choice>
                  <mc:Fallback xmlns:m="http://schemas.openxmlformats.org/officeDocument/2006/math" xmlns="">
                    <a:r>
                      <a:rPr lang="en-US" sz="1700">
                        <a:solidFill>
                          <a:srgbClr val="4B2E83"/>
                        </a:solidFill>
                      </a:rPr>
                      <a:t>a(i) = (1+3)/2 = 2</a:t>
                    </a:r>
                  </mc:Fallback>
                </mc:AlternateContent>
                <a:endParaRPr lang="en-US" sz="1600" b="1" dirty="0">
                  <a:solidFill>
                    <a:srgbClr val="4B2E83"/>
                  </a:solidFill>
                  <a:latin typeface="Arial"/>
                </a:endParaRPr>
              </a:p>
              <a:p>
                <a:pPr algn="ctr">
                  <a:buNone/>
                </a:pPr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7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  <m:d>
                            <m:dPr>
                              <m:ctrlPr>
                                <a:rPr lang="en-US" sz="17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7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  <m:r>
                            <a:rPr lang="en-US" sz="17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=6</m:t>
                          </m:r>
                        </m:oMath>
                      </m:oMathPara>
                    </a14:m>
                  </mc:Choice>
                  <mc:Fallback xmlns:m="http://schemas.openxmlformats.org/officeDocument/2006/math" xmlns="">
                    <a:r>
                      <a:rPr lang="en-US" sz="1700">
                        <a:solidFill>
                          <a:srgbClr val="4B2E83"/>
                        </a:solidFill>
                      </a:rPr>
                      <a:t>b(i) = 6</a:t>
                    </a:r>
                  </mc:Fallback>
                </mc:AlternateContent>
                <a:endParaRPr lang="en-US" sz="1600" b="1" dirty="0">
                  <a:solidFill>
                    <a:srgbClr val="4B2E83"/>
                  </a:solidFill>
                  <a:latin typeface="Arial"/>
                </a:endParaRPr>
              </a:p>
              <a:p>
                <a:pPr>
                  <a:buNone/>
                </a:pPr>
                <a:endParaRPr lang="en-US" sz="500"/>
              </a:p>
              <a:p>
                <a:pPr algn="ctr">
                  <a:buNone/>
                </a:pPr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7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d>
                            <m:dPr>
                              <m:ctrlPr>
                                <a:rPr lang="en-US" sz="17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7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  <m:r>
                            <a:rPr lang="en-US" sz="17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sz="17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7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sz="17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7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num>
                            <m:den>
                              <m:r>
                                <m:rPr>
                                  <m:nor/>
                                </m:rPr>
                                <a:rPr lang="en-US" sz="1700">
                                  <a:solidFill>
                                    <a:srgbClr val="4B2E83"/>
                                  </a:solidFill>
                                </a:rPr>
                                <m:t>max</m:t>
                              </m:r>
                              <m:d>
                                <m:dPr>
                                  <m:ctrlPr>
                                    <a:rPr lang="en-US" sz="1700" i="1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700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r>
                                    <a:rPr lang="en-US" sz="1700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1700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</m:d>
                            </m:den>
                          </m:f>
                        </m:oMath>
                      </m:oMathPara>
                    </a14:m>
                  </mc:Choice>
                  <mc:Fallback xmlns:m="http://schemas.openxmlformats.org/officeDocument/2006/math" xmlns="">
                    <a:r>
                      <a:rPr lang="en-US" sz="1700">
                        <a:solidFill>
                          <a:srgbClr val="4B2E83"/>
                        </a:solidFill>
                      </a:rPr>
                      <a:t>s(i) = (b − a)/max(a,b)</a:t>
                    </a:r>
                  </mc:Fallback>
                </mc:AlternateContent>
                <a:endParaRPr lang="en-US" sz="500"/>
              </a:p>
              <a:p>
                <a:pPr algn="ctr">
                  <a:buNone/>
                </a:pPr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nor/>
                            </m:rPr>
                            <a:rPr lang="en-US" sz="1700">
                              <a:solidFill>
                                <a:srgbClr val="4B2E83"/>
                              </a:solidFill>
                            </a:rPr>
                            <m:t>     </m:t>
                          </m:r>
                          <m:r>
                            <a:rPr lang="en-US" sz="17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sz="17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ctrlPr>
                                    <a:rPr lang="en-US" sz="1700" i="1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700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  <m:t>6−2</m:t>
                                  </m:r>
                                </m:e>
                              </m:d>
                            </m:num>
                            <m:den>
                              <m:r>
                                <m:rPr>
                                  <m:nor/>
                                </m:rPr>
                                <a:rPr lang="en-US" sz="1700">
                                  <a:solidFill>
                                    <a:srgbClr val="4B2E83"/>
                                  </a:solidFill>
                                </a:rPr>
                                <m:t>max</m:t>
                              </m:r>
                              <m:d>
                                <m:dPr>
                                  <m:ctrlPr>
                                    <a:rPr lang="en-US" sz="1700" i="1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700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  <m:t>2,6</m:t>
                                  </m:r>
                                </m:e>
                              </m:d>
                            </m:den>
                          </m:f>
                        </m:oMath>
                      </m:oMathPara>
                    </a14:m>
                  </mc:Choice>
                  <mc:Fallback xmlns:m="http://schemas.openxmlformats.org/officeDocument/2006/math" xmlns="">
                    <a:r>
                      <a:rPr lang="en-US" sz="1700">
                        <a:solidFill>
                          <a:srgbClr val="4B2E83"/>
                        </a:solidFill>
                      </a:rPr>
                      <a:t>= (6 − 2)/max(2,6)</a:t>
                    </a:r>
                  </mc:Fallback>
                </mc:AlternateContent>
                <a:endParaRPr lang="en-US" sz="500"/>
              </a:p>
              <a:p>
                <a:pPr algn="ctr">
                  <a:buNone/>
                </a:pPr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nor/>
                            </m:rPr>
                            <a:rPr lang="en-US" sz="1700">
                              <a:solidFill>
                                <a:srgbClr val="4B2E83"/>
                              </a:solidFill>
                            </a:rPr>
                            <m:t>     </m:t>
                          </m:r>
                          <m:r>
                            <a:rPr lang="en-US" sz="17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sz="17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7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en-US" sz="17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den>
                          </m:f>
                          <m:r>
                            <a:rPr lang="en-US" sz="17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=0.667</m:t>
                          </m:r>
                        </m:oMath>
                      </m:oMathPara>
                    </a14:m>
                  </mc:Choice>
                  <mc:Fallback xmlns:m="http://schemas.openxmlformats.org/officeDocument/2006/math" xmlns="">
                    <a:r>
                      <a:rPr lang="en-US" sz="1700">
                        <a:solidFill>
                          <a:srgbClr val="4B2E83"/>
                        </a:solidFill>
                      </a:rPr>
                      <a:t>= 4/6 = 0.667</a:t>
                    </a:r>
                  </mc:Fallback>
                </mc:AlternateContent>
                <a:endParaRPr lang="en-US" sz="500"/>
              </a:p>
              <a:p>
                <a:pPr>
                  <a:buNone/>
                </a:pPr>
                <a:endParaRPr lang="en-US" sz="500"/>
              </a:p>
              <a:p>
                <a:pPr>
                  <a:buNone/>
                </a:pP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d>
                          <m:dPr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≈0.67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333333"/>
                        </a:solidFill>
                      </a:rPr>
                      <a:t>s(i) ≈ 0.67</a:t>
                    </a:r>
                  </mc:Fallback>
                </mc:AlternateContent>
                <a:r>
                  <a:rPr lang="en-US" sz="1600" dirty="0">
                    <a:solidFill>
                      <a:srgbClr val="333333"/>
                    </a:solidFill>
                  </a:rPr>
                  <a:t> → the point is well matched to cluster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sz="1600">
                            <a:solidFill>
                              <a:srgbClr val="333333"/>
                            </a:solidFill>
                          </a:rPr>
                          <m:t>A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333333"/>
                        </a:solidFill>
                      </a:rPr>
                      <a:t>A</a:t>
                    </a:r>
                  </mc:Fallback>
                </mc:AlternateContent>
                <a:r>
                  <a:rPr lang="en-US" sz="1600" dirty="0">
                    <a:solidFill>
                      <a:srgbClr val="333333"/>
                    </a:solidFill>
                  </a:rPr>
                  <a:t> and clearly separated from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sz="1600">
                            <a:solidFill>
                              <a:srgbClr val="333333"/>
                            </a:solidFill>
                          </a:rPr>
                          <m:t>B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333333"/>
                        </a:solidFill>
                      </a:rPr>
                      <a:t>B</a:t>
                    </a:r>
                  </mc:Fallback>
                </mc:AlternateContent>
                <a:r>
                  <a:rPr lang="en-US" sz="1600" dirty="0">
                    <a:solidFill>
                      <a:srgbClr val="333333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61A45F5-86D3-F244-90DF-9F92F20A0B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8900" y="2438400"/>
                <a:ext cx="4699000" cy="3321166"/>
              </a:xfrm>
              <a:prstGeom prst="rect">
                <a:avLst/>
              </a:prstGeom>
              <a:blipFill>
                <a:blip r:embed="rId3"/>
                <a:stretch>
                  <a:fillRect l="-539" t="-763" b="-15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1586010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A0019A-F94B-0D5D-39A3-D569459CB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 2: Centroid z-Profile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C9EAF23A-178F-1B4D-B3F3-81D53F283D41}"/>
              </a:ext>
            </a:extLst>
          </p:cNvPr>
          <p:cNvSpPr/>
          <p:nvPr/>
        </p:nvSpPr>
        <p:spPr>
          <a:xfrm>
            <a:off x="838200" y="1778000"/>
            <a:ext cx="1524000" cy="3810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Arial"/>
                <a:cs typeface="Arial"/>
              </a:rPr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6B746A7-7A98-0046-9B91-BCF60EB2F562}"/>
                  </a:ext>
                </a:extLst>
              </p:cNvPr>
              <p:cNvSpPr txBox="1"/>
              <p:nvPr/>
            </p:nvSpPr>
            <p:spPr>
              <a:xfrm>
                <a:off x="838200" y="2235200"/>
                <a:ext cx="5080000" cy="2063257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>
                  <a:buNone/>
                </a:pPr>
                <a:r>
                  <a:rPr lang="en-US" sz="1600" b="1" dirty="0">
                    <a:solidFill>
                      <a:srgbClr val="4B2E83"/>
                    </a:solidFill>
                    <a:latin typeface="Arial"/>
                  </a:rPr>
                  <a:t>Setup</a:t>
                </a:r>
              </a:p>
              <a:p>
                <a:pPr>
                  <a:buNone/>
                </a:pPr>
                <mc:AlternateContent>
                  <mc:Choice Requires="a14"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1700" i="1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700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  <m:t>𝝁</m:t>
                            </m:r>
                          </m:e>
                          <m:sub>
                            <m:r>
                              <a:rPr lang="en-US" sz="1700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sz="17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en-US" sz="1700" i="1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1700" i="1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700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70,0.45</m:t>
                                </m:r>
                              </m:e>
                            </m:d>
                          </m:e>
                          <m:sup>
                            <m:r>
                              <m:rPr>
                                <m:nor/>
                              </m:rPr>
                              <a:rPr lang="en-US" sz="1700">
                                <a:solidFill>
                                  <a:srgbClr val="4B2E83"/>
                                </a:solidFill>
                              </a:rPr>
                              <m:t>T</m:t>
                            </m:r>
                          </m:sup>
                        </m:sSup>
                      </m:oMath>
                    </a14:m>
                  </mc:Choice>
                  <mc:Fallback xmlns:m="http://schemas.openxmlformats.org/officeDocument/2006/math" xmlns="">
                    <a:r>
                      <a:rPr lang="en-US" sz="1700">
                        <a:solidFill>
                          <a:srgbClr val="4B2E83"/>
                        </a:solidFill>
                      </a:rPr>
                      <a:t>μₖ = [70, 0.45]ᵀ</a:t>
                    </a:r>
                  </mc:Fallback>
                </mc:AlternateContent>
                <a:r>
                  <a:rPr lang="en-US" sz="1700" dirty="0">
                    <a:solidFill>
                      <a:srgbClr val="4B2E83"/>
                    </a:solidFill>
                  </a:rPr>
                  <a:t>   (cluster mean)</a:t>
                </a:r>
              </a:p>
              <a:p>
                <a:pPr>
                  <a:buNone/>
                </a:pP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7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𝝁</m:t>
                        </m:r>
                        <m:r>
                          <a:rPr lang="en-US" sz="17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en-US" sz="1700" i="1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1700" i="1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700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50,0.30</m:t>
                                </m:r>
                              </m:e>
                            </m:d>
                          </m:e>
                          <m:sup>
                            <m:r>
                              <m:rPr>
                                <m:nor/>
                              </m:rPr>
                              <a:rPr lang="en-US" sz="1700">
                                <a:solidFill>
                                  <a:srgbClr val="4B2E83"/>
                                </a:solidFill>
                              </a:rPr>
                              <m:t>T</m:t>
                            </m:r>
                          </m:sup>
                        </m:sSup>
                      </m:oMath>
                    </a14:m>
                  </mc:Choice>
                  <mc:Fallback xmlns:m="http://schemas.openxmlformats.org/officeDocument/2006/math" xmlns="">
                    <a:r>
                      <a:rPr lang="en-US" sz="1700">
                        <a:solidFill>
                          <a:srgbClr val="4B2E83"/>
                        </a:solidFill>
                      </a:rPr>
                      <a:t>μ = [50, 0.30]ᵀ</a:t>
                    </a:r>
                  </mc:Fallback>
                </mc:AlternateContent>
                <a:r>
                  <a:rPr lang="en-US" sz="1700" dirty="0">
                    <a:solidFill>
                      <a:srgbClr val="4B2E83"/>
                    </a:solidFill>
                  </a:rPr>
                  <a:t>   (global mean)</a:t>
                </a:r>
              </a:p>
              <a:p>
                <a:pPr>
                  <a:buNone/>
                </a:pP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7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𝝈</m:t>
                        </m:r>
                        <m:r>
                          <a:rPr lang="en-US" sz="17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en-US" sz="1700" i="1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1700" i="1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700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10,0.05</m:t>
                                </m:r>
                              </m:e>
                            </m:d>
                          </m:e>
                          <m:sup>
                            <m:r>
                              <m:rPr>
                                <m:nor/>
                              </m:rPr>
                              <a:rPr lang="en-US" sz="1700">
                                <a:solidFill>
                                  <a:srgbClr val="4B2E83"/>
                                </a:solidFill>
                              </a:rPr>
                              <m:t>T</m:t>
                            </m:r>
                          </m:sup>
                        </m:sSup>
                      </m:oMath>
                    </a14:m>
                  </mc:Choice>
                  <mc:Fallback xmlns:m="http://schemas.openxmlformats.org/officeDocument/2006/math" xmlns="">
                    <a:r>
                      <a:rPr lang="en-US" sz="1700">
                        <a:solidFill>
                          <a:srgbClr val="4B2E83"/>
                        </a:solidFill>
                      </a:rPr>
                      <a:t>σ = [10, 0.05]ᵀ</a:t>
                    </a:r>
                  </mc:Fallback>
                </mc:AlternateContent>
                <a:r>
                  <a:rPr lang="en-US" sz="1700" dirty="0">
                    <a:solidFill>
                      <a:srgbClr val="4B2E83"/>
                    </a:solidFill>
                  </a:rPr>
                  <a:t>   (global std)</a:t>
                </a:r>
              </a:p>
              <a:p>
                <a:pPr>
                  <a:buNone/>
                </a:pPr>
                <a:endParaRPr lang="en-US" sz="600"/>
              </a:p>
              <a:p>
                <a:pPr>
                  <a:buNone/>
                </a:pPr>
                <a:r>
                  <a:rPr lang="en-US" sz="1600" b="1" dirty="0">
                    <a:solidFill>
                      <a:srgbClr val="4B2E83"/>
                    </a:solidFill>
                    <a:latin typeface="Arial"/>
                  </a:rPr>
                  <a:t>Task</a:t>
                </a:r>
              </a:p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Compute the standardized profile vector </a:t>
                </a:r>
                <mc:AlternateContent>
                  <mc:Choice Requires="a14"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𝒛</m:t>
                            </m:r>
                          </m:e>
                          <m:sub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600" i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𝝁</m:t>
                                </m:r>
                              </m:e>
                              <m:sub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𝝁</m:t>
                            </m:r>
                          </m:e>
                        </m:d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⊘</m:t>
                        </m:r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𝝈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333333"/>
                        </a:solidFill>
                      </a:rPr>
                      <a:t>zₖ = (μₖ − μ) ⊘ σ</a:t>
                    </a:r>
                  </mc:Fallback>
                </mc:AlternateContent>
                <a:r>
                  <a:rPr lang="en-US" sz="1600" dirty="0">
                    <a:solidFill>
                      <a:srgbClr val="333333"/>
                    </a:solidFill>
                  </a:rPr>
                  <a:t> and interpret it.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6B746A7-7A98-0046-9B91-BCF60EB2F5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235200"/>
                <a:ext cx="5080000" cy="2063257"/>
              </a:xfrm>
              <a:prstGeom prst="rect">
                <a:avLst/>
              </a:prstGeom>
              <a:blipFill>
                <a:blip r:embed="rId2"/>
                <a:stretch>
                  <a:fillRect l="-748" t="-1227" b="-30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A32D5D3B-7201-8F4D-A50A-D860E6DD3CD1}"/>
              </a:ext>
            </a:extLst>
          </p:cNvPr>
          <p:cNvSpPr/>
          <p:nvPr/>
        </p:nvSpPr>
        <p:spPr>
          <a:xfrm>
            <a:off x="6210300" y="2235200"/>
            <a:ext cx="5143500" cy="38608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426F68A-8F30-C947-A66E-7B14E1C010D4}"/>
                  </a:ext>
                </a:extLst>
              </p:cNvPr>
              <p:cNvSpPr txBox="1"/>
              <p:nvPr/>
            </p:nvSpPr>
            <p:spPr>
              <a:xfrm>
                <a:off x="6438900" y="2438400"/>
                <a:ext cx="4699000" cy="2650341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>
                  <a:buNone/>
                </a:pPr>
                <a:r>
                  <a:rPr lang="en-US" sz="1600" b="1" dirty="0">
                    <a:solidFill>
                      <a:srgbClr val="4B2E83"/>
                    </a:solidFill>
                    <a:latin typeface="Arial"/>
                  </a:rPr>
                  <a:t>Solution</a:t>
                </a:r>
              </a:p>
              <a:p>
                <a:pPr>
                  <a:buNone/>
                </a:pPr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7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7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𝝁</m:t>
                              </m:r>
                            </m:e>
                            <m:sub>
                              <m:r>
                                <a:rPr lang="en-US" sz="17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sz="17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7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𝝁</m:t>
                          </m:r>
                          <m:r>
                            <a:rPr lang="en-US" sz="17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en-US" sz="17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1700" i="1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700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  <m:t>20,0.15</m:t>
                                  </m:r>
                                </m:e>
                              </m:d>
                            </m:e>
                            <m:sup>
                              <m:r>
                                <m:rPr>
                                  <m:nor/>
                                </m:rPr>
                                <a:rPr lang="en-US" sz="1700">
                                  <a:solidFill>
                                    <a:srgbClr val="4B2E83"/>
                                  </a:solidFill>
                                </a:rPr>
                                <m:t>T</m:t>
                              </m:r>
                            </m:sup>
                          </m:sSup>
                        </m:oMath>
                      </m:oMathPara>
                    </a14:m>
                  </mc:Choice>
                  <mc:Fallback xmlns:m="http://schemas.openxmlformats.org/officeDocument/2006/math" xmlns="">
                    <a:r>
                      <a:rPr lang="en-US" sz="1700">
                        <a:solidFill>
                          <a:srgbClr val="4B2E83"/>
                        </a:solidFill>
                      </a:rPr>
                      <a:t>μₖ − μ = [20, 0.15]ᵀ</a:t>
                    </a:r>
                  </mc:Fallback>
                </mc:AlternateContent>
                <a:endParaRPr lang="en-US" sz="1600" b="1" dirty="0">
                  <a:solidFill>
                    <a:srgbClr val="4B2E83"/>
                  </a:solidFill>
                  <a:latin typeface="Arial"/>
                </a:endParaRPr>
              </a:p>
              <a:p>
                <a:pPr>
                  <a:buNone/>
                </a:pPr>
                <a:endParaRPr lang="en-US" sz="400"/>
              </a:p>
              <a:p>
                <a:pPr>
                  <a:buNone/>
                </a:pPr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7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7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𝒛</m:t>
                              </m:r>
                            </m:e>
                            <m:sub>
                              <m:r>
                                <a:rPr lang="en-US" sz="1700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sz="17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en-US" sz="17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1700" i="1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sz="1700" i="1">
                                          <a:solidFill>
                                            <a:srgbClr val="4B2E8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1700">
                                          <a:solidFill>
                                            <a:srgbClr val="4B2E8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20</m:t>
                                      </m:r>
                                    </m:num>
                                    <m:den>
                                      <m:r>
                                        <a:rPr lang="en-US" sz="1700">
                                          <a:solidFill>
                                            <a:srgbClr val="4B2E8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10</m:t>
                                      </m:r>
                                    </m:den>
                                  </m:f>
                                  <m:r>
                                    <a:rPr lang="en-US" sz="1700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f>
                                    <m:fPr>
                                      <m:ctrlPr>
                                        <a:rPr lang="en-US" sz="1700" i="1">
                                          <a:solidFill>
                                            <a:srgbClr val="4B2E8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1700">
                                          <a:solidFill>
                                            <a:srgbClr val="4B2E8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0.15</m:t>
                                      </m:r>
                                    </m:num>
                                    <m:den>
                                      <m:r>
                                        <a:rPr lang="en-US" sz="1700">
                                          <a:solidFill>
                                            <a:srgbClr val="4B2E8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0.05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m:rPr>
                                  <m:nor/>
                                </m:rPr>
                                <a:rPr lang="en-US" sz="1700">
                                  <a:solidFill>
                                    <a:srgbClr val="4B2E83"/>
                                  </a:solidFill>
                                </a:rPr>
                                <m:t>T</m:t>
                              </m:r>
                            </m:sup>
                          </m:sSup>
                        </m:oMath>
                      </m:oMathPara>
                    </a14:m>
                  </mc:Choice>
                  <mc:Fallback xmlns:m="http://schemas.openxmlformats.org/officeDocument/2006/math" xmlns="">
                    <a:r>
                      <a:rPr lang="en-US" sz="1700">
                        <a:solidFill>
                          <a:srgbClr val="4B2E83"/>
                        </a:solidFill>
                      </a:rPr>
                      <a:t>zₖ = [20/10, 0.15/0.05]ᵀ</a:t>
                    </a:r>
                  </mc:Fallback>
                </mc:AlternateContent>
                <a:endParaRPr lang="en-US" sz="400"/>
              </a:p>
              <a:p>
                <a:pPr>
                  <a:buNone/>
                </a:pPr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nor/>
                            </m:rPr>
                            <a:rPr lang="en-US" sz="1700">
                              <a:solidFill>
                                <a:srgbClr val="4B2E83"/>
                              </a:solidFill>
                            </a:rPr>
                            <m:t>   </m:t>
                          </m:r>
                          <m:r>
                            <a:rPr lang="en-US" sz="17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en-US" sz="17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1700" i="1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700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  <m:t>2.0,3.0</m:t>
                                  </m:r>
                                </m:e>
                              </m:d>
                            </m:e>
                            <m:sup>
                              <m:r>
                                <m:rPr>
                                  <m:nor/>
                                </m:rPr>
                                <a:rPr lang="en-US" sz="1700">
                                  <a:solidFill>
                                    <a:srgbClr val="4B2E83"/>
                                  </a:solidFill>
                                </a:rPr>
                                <m:t>T</m:t>
                              </m:r>
                            </m:sup>
                          </m:sSup>
                        </m:oMath>
                      </m:oMathPara>
                    </a14:m>
                  </mc:Choice>
                  <mc:Fallback xmlns:m="http://schemas.openxmlformats.org/officeDocument/2006/math" xmlns="">
                    <a:r>
                      <a:rPr lang="en-US" sz="1700">
                        <a:solidFill>
                          <a:srgbClr val="4B2E83"/>
                        </a:solidFill>
                      </a:rPr>
                      <a:t>= [2.0, 3.0]ᵀ</a:t>
                    </a:r>
                  </mc:Fallback>
                </mc:AlternateContent>
                <a:endParaRPr lang="en-US" sz="400"/>
              </a:p>
              <a:p>
                <a:pPr>
                  <a:buNone/>
                </a:pPr>
                <a:endParaRPr lang="en-US" sz="500"/>
              </a:p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Feature 1 sits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333333"/>
                        </a:solidFill>
                      </a:rPr>
                      <a:t>2σ</a:t>
                    </a:r>
                  </mc:Fallback>
                </mc:AlternateContent>
                <a:r>
                  <a:rPr lang="en-US" sz="1600" dirty="0">
                    <a:solidFill>
                      <a:srgbClr val="333333"/>
                    </a:solidFill>
                  </a:rPr>
                  <a:t> above the overall mean; feature 2 sits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333333"/>
                        </a:solidFill>
                      </a:rPr>
                      <a:t>3σ</a:t>
                    </a:r>
                  </mc:Fallback>
                </mc:AlternateContent>
                <a:r>
                  <a:rPr lang="en-US" sz="1600" dirty="0">
                    <a:solidFill>
                      <a:srgbClr val="333333"/>
                    </a:solidFill>
                  </a:rPr>
                  <a:t> above. Both features are strongly elevated — this cluster is the 'high on both' segment, with feature 2 the more distinctive.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426F68A-8F30-C947-A66E-7B14E1C010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8900" y="2438400"/>
                <a:ext cx="4699000" cy="2650341"/>
              </a:xfrm>
              <a:prstGeom prst="rect">
                <a:avLst/>
              </a:prstGeom>
              <a:blipFill>
                <a:blip r:embed="rId3"/>
                <a:stretch>
                  <a:fillRect l="-539" t="-957" r="-270" b="-19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5811035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B6717B-915A-64D2-D1C8-5513B899D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 3: F-Statistic Feature Ranking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947A9918-FAA1-044C-94E6-953C4AA0137C}"/>
              </a:ext>
            </a:extLst>
          </p:cNvPr>
          <p:cNvSpPr/>
          <p:nvPr/>
        </p:nvSpPr>
        <p:spPr>
          <a:xfrm>
            <a:off x="838200" y="1778000"/>
            <a:ext cx="1524000" cy="3810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Arial"/>
                <a:cs typeface="Arial"/>
              </a:rPr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D60A2F3-E79E-7745-91D3-E57DE216ED0B}"/>
                  </a:ext>
                </a:extLst>
              </p:cNvPr>
              <p:cNvSpPr txBox="1"/>
              <p:nvPr/>
            </p:nvSpPr>
            <p:spPr>
              <a:xfrm>
                <a:off x="838200" y="2336800"/>
                <a:ext cx="4826000" cy="2856872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>
                  <a:buNone/>
                </a:pPr>
                <a:r>
                  <a:rPr lang="en-US" sz="1600" b="1" dirty="0">
                    <a:solidFill>
                      <a:srgbClr val="4B2E83"/>
                    </a:solidFill>
                    <a:latin typeface="Arial"/>
                  </a:rPr>
                  <a:t>Setup</a:t>
                </a:r>
              </a:p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A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=3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333333"/>
                        </a:solidFill>
                      </a:rPr>
                      <a:t>K=3</a:t>
                    </a:r>
                  </mc:Fallback>
                </mc:AlternateContent>
                <a:r>
                  <a:rPr lang="en-US" sz="1600" dirty="0">
                    <a:solidFill>
                      <a:srgbClr val="333333"/>
                    </a:solidFill>
                  </a:rPr>
                  <a:t> clustering on 4 features. Computing </a:t>
                </a:r>
                <mc:AlternateContent>
                  <mc:Choice Requires="a14"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oMath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333333"/>
                        </a:solidFill>
                      </a:rPr>
                      <a:t>Fⱼ</a:t>
                    </a:r>
                  </mc:Fallback>
                </mc:AlternateContent>
                <a:r>
                  <a:rPr lang="en-US" sz="1600" dirty="0">
                    <a:solidFill>
                      <a:srgbClr val="333333"/>
                    </a:solidFill>
                  </a:rPr>
                  <a:t> for each feature gives the vector:</a:t>
                </a:r>
              </a:p>
              <a:p>
                <a:pPr>
                  <a:buNone/>
                </a:pPr>
                <a:endParaRPr lang="en-US" sz="500"/>
              </a:p>
              <a:p>
                <a:pPr algn="ctr">
                  <a:buNone/>
                </a:pPr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7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𝑭</m:t>
                          </m:r>
                          <m:r>
                            <a:rPr lang="en-US" sz="1700">
                              <a:solidFill>
                                <a:srgbClr val="4B2E83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en-US" sz="1700" i="1">
                                  <a:solidFill>
                                    <a:srgbClr val="4B2E8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1700" i="1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700">
                                      <a:solidFill>
                                        <a:srgbClr val="4B2E83"/>
                                      </a:solidFill>
                                      <a:latin typeface="Cambria Math" panose="02040503050406030204" pitchFamily="18" charset="0"/>
                                    </a:rPr>
                                    <m:t>38.2,12.5,3.1,0.7</m:t>
                                  </m:r>
                                </m:e>
                              </m:d>
                            </m:e>
                            <m:sup>
                              <m:r>
                                <m:rPr>
                                  <m:nor/>
                                </m:rPr>
                                <a:rPr lang="en-US" sz="1700">
                                  <a:solidFill>
                                    <a:srgbClr val="4B2E83"/>
                                  </a:solidFill>
                                </a:rPr>
                                <m:t>T</m:t>
                              </m:r>
                            </m:sup>
                          </m:sSup>
                        </m:oMath>
                      </m:oMathPara>
                    </a14:m>
                  </mc:Choice>
                  <mc:Fallback xmlns:m="http://schemas.openxmlformats.org/officeDocument/2006/math" xmlns="">
                    <a:r>
                      <a:rPr lang="en-US" sz="1700">
                        <a:solidFill>
                          <a:srgbClr val="4B2E83"/>
                        </a:solidFill>
                      </a:rPr>
                      <a:t>F = [38.2, 12.5, 3.1, 0.7]ᵀ</a:t>
                    </a:r>
                  </mc:Fallback>
                </mc:AlternateContent>
                <a:endParaRPr lang="en-US" sz="500"/>
              </a:p>
              <a:p>
                <a:pPr>
                  <a:buNone/>
                </a:pPr>
                <a:endParaRPr lang="en-US" sz="500"/>
              </a:p>
              <a:p>
                <a:pPr>
                  <a:buNone/>
                </a:pPr>
                <a:r>
                  <a:rPr lang="en-US" sz="1600" b="1" dirty="0">
                    <a:solidFill>
                      <a:srgbClr val="4B2E83"/>
                    </a:solidFill>
                    <a:latin typeface="Arial"/>
                  </a:rPr>
                  <a:t>Task</a:t>
                </a:r>
              </a:p>
              <a:p>
                <a:pPr>
                  <a:buNone/>
                </a:pPr>
                <a:r>
                  <a:rPr lang="en-US" sz="1600" dirty="0">
                    <a:solidFill>
                      <a:srgbClr val="333333"/>
                    </a:solidFill>
                  </a:rPr>
                  <a:t>Rank features by discriminative power and decide which to keep in the profile.</a:t>
                </a:r>
              </a:p>
              <a:p>
                <a:pPr>
                  <a:buNone/>
                </a:pPr>
                <a:endParaRPr lang="en-US" sz="500"/>
              </a:p>
              <a:p>
                <a:pPr>
                  <a:buNone/>
                </a:pPr>
                <a:r>
                  <a:rPr lang="en-US" sz="1600" b="1" dirty="0">
                    <a:solidFill>
                      <a:srgbClr val="4B2E83"/>
                    </a:solidFill>
                    <a:latin typeface="Arial"/>
                  </a:rPr>
                  <a:t>Reading the chart</a:t>
                </a:r>
              </a:p>
              <a:p>
                <a:pPr marL="257175" indent="-257175">
                  <a:buFont typeface="Arial"/>
                  <a:buChar char="•"/>
                </a:pPr>
                <a:r>
                  <a:rPr lang="en-US" sz="1600" dirty="0">
                    <a:solidFill>
                      <a:srgbClr val="333333"/>
                    </a:solidFill>
                  </a:rPr>
                  <a:t>Income &amp; Age separate clusters strongly.</a:t>
                </a:r>
              </a:p>
              <a:p>
                <a:pPr marL="257175" indent="-257175">
                  <a:buFont typeface="Arial"/>
                  <a:buChar char="•"/>
                </a:pPr>
                <a:r>
                  <a:rPr lang="en-US" sz="1600" dirty="0">
                    <a:solidFill>
                      <a:srgbClr val="333333"/>
                    </a:solidFill>
                  </a:rPr>
                  <a:t>Tenure is weak; Region is near-noise (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&lt;1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333333"/>
                        </a:solidFill>
                      </a:rPr>
                      <a:t>F&lt;1</a:t>
                    </a:r>
                  </mc:Fallback>
                </mc:AlternateContent>
                <a:r>
                  <a:rPr lang="en-US" sz="1600" dirty="0">
                    <a:solidFill>
                      <a:srgbClr val="333333"/>
                    </a:solidFill>
                  </a:rPr>
                  <a:t>).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D60A2F3-E79E-7745-91D3-E57DE216ED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336800"/>
                <a:ext cx="4826000" cy="2856872"/>
              </a:xfrm>
              <a:prstGeom prst="rect">
                <a:avLst/>
              </a:prstGeom>
              <a:blipFill>
                <a:blip r:embed="rId2"/>
                <a:stretch>
                  <a:fillRect l="-789" t="-442" r="-1579" b="-17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01" name="FChart"/>
          <p:cNvGraphicFramePr/>
          <p:nvPr/>
        </p:nvGraphicFramePr>
        <p:xfrm>
          <a:off x="5969000" y="2311400"/>
          <a:ext cx="5384800" cy="381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4153422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F003F-9F44-42E4-8B9E-241DC71000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Clustering Profiling — Exercises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EA19903-6D18-BE4E-8606-5DADAE7D28F2}"/>
              </a:ext>
            </a:extLst>
          </p:cNvPr>
          <p:cNvSpPr/>
          <p:nvPr/>
        </p:nvSpPr>
        <p:spPr>
          <a:xfrm>
            <a:off x="838200" y="2362200"/>
            <a:ext cx="558800" cy="558800"/>
          </a:xfrm>
          <a:prstGeom prst="ellipse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FFFFFF"/>
                </a:solidFill>
                <a:latin typeface="Arial"/>
                <a:cs typeface="Arial"/>
              </a:rPr>
              <a:t>E1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5CE6A08-9E65-854E-830A-5E66FC7753CF}"/>
              </a:ext>
            </a:extLst>
          </p:cNvPr>
          <p:cNvSpPr/>
          <p:nvPr/>
        </p:nvSpPr>
        <p:spPr>
          <a:xfrm>
            <a:off x="1625600" y="1905000"/>
            <a:ext cx="9728200" cy="1473200"/>
          </a:xfrm>
          <a:prstGeom prst="roundRect">
            <a:avLst/>
          </a:prstGeom>
          <a:solidFill>
            <a:srgbClr val="F5F0EB"/>
          </a:solidFill>
          <a:ln w="12700" cap="flat" cmpd="sng" algn="ctr">
            <a:solidFill>
              <a:srgbClr val="B7A57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CC97E28-5669-AD42-8164-87F76151FD74}"/>
                  </a:ext>
                </a:extLst>
              </p:cNvPr>
              <p:cNvSpPr txBox="1"/>
              <p:nvPr/>
            </p:nvSpPr>
            <p:spPr>
              <a:xfrm>
                <a:off x="1854200" y="2349212"/>
                <a:ext cx="9296400" cy="584775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spAutoFit/>
              </a:bodyPr>
              <a:lstStyle/>
              <a:p>
                <a:pPr>
                  <a:buNone/>
                </a:pPr>
                <a:r>
                  <a:rPr lang="en-US" sz="1600" b="1" dirty="0">
                    <a:solidFill>
                      <a:srgbClr val="4B2E83"/>
                    </a:solidFill>
                  </a:rPr>
                  <a:t>Silhouette.  </a:t>
                </a:r>
                <a:r>
                  <a:rPr lang="en-US" sz="1600" dirty="0">
                    <a:solidFill>
                      <a:srgbClr val="333333"/>
                    </a:solidFill>
                  </a:rPr>
                  <a:t>A point has own-cluster distances </a:t>
                </a:r>
                <mc:AlternateContent>
                  <mc:Choice Requires="a14">
                    <a14:m>
                      <m:oMath xmlns:m="http://schemas.openxmlformats.org/officeDocument/2006/math">
                        <m:d>
                          <m:dPr>
                            <m:begChr m:val="{"/>
                            <m:endChr m:val="}"/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2,4</m:t>
                            </m:r>
                          </m:e>
                        </m:d>
                      </m:oMath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333333"/>
                        </a:solidFill>
                      </a:rPr>
                      <a:t>{2, 4}</a:t>
                    </a:r>
                  </mc:Fallback>
                </mc:AlternateContent>
                <a:r>
                  <a:rPr lang="en-US" sz="1600" dirty="0">
                    <a:solidFill>
                      <a:srgbClr val="333333"/>
                    </a:solidFill>
                  </a:rPr>
                  <a:t> and nearest other-cluster mean distance 4.5.</a:t>
                </a:r>
              </a:p>
              <a:p>
                <a:pPr>
                  <a:buNone/>
                </a:pPr>
                <a:r>
                  <a:rPr lang="en-US" sz="1600" dirty="0">
                    <a:solidFill>
                      <a:srgbClr val="4B2E83"/>
                    </a:solidFill>
                  </a:rPr>
                  <a:t>Compute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6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d>
                          <m:dPr>
                            <m:ctrlPr>
                              <a:rPr lang="en-US" sz="1600" i="1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oMath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4B2E83"/>
                        </a:solidFill>
                      </a:rPr>
                      <a:t>a(i)</a:t>
                    </a:r>
                  </mc:Fallback>
                </mc:AlternateContent>
                <a:r>
                  <a:rPr lang="en-US" sz="1600" dirty="0">
                    <a:solidFill>
                      <a:srgbClr val="4B2E83"/>
                    </a:solidFill>
                  </a:rPr>
                  <a:t>,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6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d>
                          <m:dPr>
                            <m:ctrlPr>
                              <a:rPr lang="en-US" sz="1600" i="1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oMath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4B2E83"/>
                        </a:solidFill>
                      </a:rPr>
                      <a:t>b(i)</a:t>
                    </a:r>
                  </mc:Fallback>
                </mc:AlternateContent>
                <a:r>
                  <a:rPr lang="en-US" sz="1600" dirty="0">
                    <a:solidFill>
                      <a:srgbClr val="4B2E83"/>
                    </a:solidFill>
                  </a:rPr>
                  <a:t>, and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6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d>
                          <m:dPr>
                            <m:ctrlPr>
                              <a:rPr lang="en-US" sz="1600" i="1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oMath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4B2E83"/>
                        </a:solidFill>
                      </a:rPr>
                      <a:t>s(i)</a:t>
                    </a:r>
                  </mc:Fallback>
                </mc:AlternateContent>
                <a:r>
                  <a:rPr lang="en-US" sz="1600" dirty="0">
                    <a:solidFill>
                      <a:srgbClr val="4B2E83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CC97E28-5669-AD42-8164-87F76151FD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4200" y="2349212"/>
                <a:ext cx="9296400" cy="584775"/>
              </a:xfrm>
              <a:prstGeom prst="rect">
                <a:avLst/>
              </a:prstGeom>
              <a:blipFill>
                <a:blip r:embed="rId2"/>
                <a:stretch>
                  <a:fillRect l="-273" t="-2128" b="-127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Oval 7">
            <a:extLst>
              <a:ext uri="{FF2B5EF4-FFF2-40B4-BE49-F238E27FC236}">
                <a16:creationId xmlns:a16="http://schemas.microsoft.com/office/drawing/2014/main" id="{E3DD2C39-CBB0-8948-85BB-72548D2A5D7D}"/>
              </a:ext>
            </a:extLst>
          </p:cNvPr>
          <p:cNvSpPr/>
          <p:nvPr/>
        </p:nvSpPr>
        <p:spPr>
          <a:xfrm>
            <a:off x="838200" y="3886200"/>
            <a:ext cx="558800" cy="558800"/>
          </a:xfrm>
          <a:prstGeom prst="ellipse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FFFFFF"/>
                </a:solidFill>
                <a:latin typeface="Arial"/>
                <a:cs typeface="Arial"/>
              </a:rPr>
              <a:t>E2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1BCC0D2D-E49D-A64D-B8CB-498E9CECC05E}"/>
              </a:ext>
            </a:extLst>
          </p:cNvPr>
          <p:cNvSpPr/>
          <p:nvPr/>
        </p:nvSpPr>
        <p:spPr>
          <a:xfrm>
            <a:off x="1625600" y="3429000"/>
            <a:ext cx="9728200" cy="1473200"/>
          </a:xfrm>
          <a:prstGeom prst="roundRect">
            <a:avLst/>
          </a:prstGeom>
          <a:solidFill>
            <a:srgbClr val="F5F0EB"/>
          </a:solidFill>
          <a:ln w="12700" cap="flat" cmpd="sng" algn="ctr">
            <a:solidFill>
              <a:srgbClr val="B7A57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2EB03E3-2F0B-FB4E-B123-00D2716E4FD4}"/>
                  </a:ext>
                </a:extLst>
              </p:cNvPr>
              <p:cNvSpPr txBox="1"/>
              <p:nvPr/>
            </p:nvSpPr>
            <p:spPr>
              <a:xfrm>
                <a:off x="1854200" y="3856092"/>
                <a:ext cx="9296400" cy="619016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spAutoFit/>
              </a:bodyPr>
              <a:lstStyle/>
              <a:p>
                <a:pPr>
                  <a:buNone/>
                </a:pPr>
                <a:r>
                  <a:rPr lang="en-US" sz="1600" b="1" dirty="0">
                    <a:solidFill>
                      <a:srgbClr val="4B2E83"/>
                    </a:solidFill>
                  </a:rPr>
                  <a:t>z-Profile.  </a:t>
                </a:r>
                <a:r>
                  <a:rPr lang="en-US" sz="1600" dirty="0">
                    <a:solidFill>
                      <a:srgbClr val="333333"/>
                    </a:solidFill>
                  </a:rPr>
                  <a:t>Cluster mean </a:t>
                </a:r>
                <mc:AlternateContent>
                  <mc:Choice Requires="a14"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𝝁</m:t>
                            </m:r>
                          </m:e>
                          <m:sub>
                            <m:r>
                              <a:rPr lang="en-US" sz="160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1600" i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120,8</m:t>
                                </m:r>
                              </m:e>
                            </m:d>
                          </m:e>
                          <m:sup>
                            <m:r>
                              <m:rPr>
                                <m:nor/>
                              </m:rPr>
                              <a:rPr lang="en-US" sz="1600">
                                <a:solidFill>
                                  <a:srgbClr val="333333"/>
                                </a:solidFill>
                              </a:rPr>
                              <m:t>T</m:t>
                            </m:r>
                          </m:sup>
                        </m:sSup>
                      </m:oMath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333333"/>
                        </a:solidFill>
                      </a:rPr>
                      <a:t>μₖ = [120, 8]ᵀ</a:t>
                    </a:r>
                  </mc:Fallback>
                </mc:AlternateContent>
                <a:r>
                  <a:rPr lang="en-US" sz="1600" dirty="0">
                    <a:solidFill>
                      <a:srgbClr val="333333"/>
                    </a:solidFill>
                  </a:rPr>
                  <a:t>, global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𝝁</m:t>
                        </m:r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1600" i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100,5</m:t>
                                </m:r>
                              </m:e>
                            </m:d>
                          </m:e>
                          <m:sup>
                            <m:r>
                              <m:rPr>
                                <m:nor/>
                              </m:rPr>
                              <a:rPr lang="en-US" sz="1600">
                                <a:solidFill>
                                  <a:srgbClr val="333333"/>
                                </a:solidFill>
                              </a:rPr>
                              <m:t>T</m:t>
                            </m:r>
                          </m:sup>
                        </m:sSup>
                      </m:oMath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333333"/>
                        </a:solidFill>
                      </a:rPr>
                      <a:t>μ = [100, 5]ᵀ</a:t>
                    </a:r>
                  </mc:Fallback>
                </mc:AlternateContent>
                <a:r>
                  <a:rPr lang="en-US" sz="1600" dirty="0">
                    <a:solidFill>
                      <a:srgbClr val="333333"/>
                    </a:solidFill>
                  </a:rPr>
                  <a:t>, std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𝝈</m:t>
                        </m:r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en-US" sz="1600" i="1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1600" i="1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60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40,1.5</m:t>
                                </m:r>
                              </m:e>
                            </m:d>
                          </m:e>
                          <m:sup>
                            <m:r>
                              <m:rPr>
                                <m:nor/>
                              </m:rPr>
                              <a:rPr lang="en-US" sz="1600">
                                <a:solidFill>
                                  <a:srgbClr val="333333"/>
                                </a:solidFill>
                              </a:rPr>
                              <m:t>T</m:t>
                            </m:r>
                          </m:sup>
                        </m:sSup>
                      </m:oMath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333333"/>
                        </a:solidFill>
                      </a:rPr>
                      <a:t>σ = [40, 1.5]ᵀ</a:t>
                    </a:r>
                  </mc:Fallback>
                </mc:AlternateContent>
                <a:r>
                  <a:rPr lang="en-US" sz="1600" dirty="0">
                    <a:solidFill>
                      <a:srgbClr val="333333"/>
                    </a:solidFill>
                  </a:rPr>
                  <a:t>.</a:t>
                </a:r>
              </a:p>
              <a:p>
                <a:pPr>
                  <a:buNone/>
                </a:pPr>
                <a:r>
                  <a:rPr lang="en-US" sz="1600" dirty="0">
                    <a:solidFill>
                      <a:srgbClr val="4B2E83"/>
                    </a:solidFill>
                  </a:rPr>
                  <a:t>Find </a:t>
                </a:r>
                <mc:AlternateContent>
                  <mc:Choice Requires="a14"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1600" i="1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  <m:t>𝒛</m:t>
                            </m:r>
                          </m:e>
                          <m:sub>
                            <m:r>
                              <a:rPr lang="en-US" sz="1600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sz="16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ctrlPr>
                              <a:rPr lang="en-US" sz="1600" i="1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600" i="1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𝝁</m:t>
                                </m:r>
                              </m:e>
                              <m:sub>
                                <m:r>
                                  <a:rPr lang="en-US" sz="1600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 lang="en-US" sz="1600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600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  <m:t>𝝁</m:t>
                            </m:r>
                          </m:e>
                        </m:d>
                        <m:r>
                          <a:rPr lang="en-US" sz="16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⊘</m:t>
                        </m:r>
                        <m:r>
                          <a:rPr lang="en-US" sz="16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𝝈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4B2E83"/>
                        </a:solidFill>
                      </a:rPr>
                      <a:t>zₖ = (μₖ − μ) ⊘ σ</a:t>
                    </a:r>
                  </mc:Fallback>
                </mc:AlternateContent>
                <a:r>
                  <a:rPr lang="en-US" sz="1600" dirty="0">
                    <a:solidFill>
                      <a:srgbClr val="4B2E83"/>
                    </a:solidFill>
                  </a:rPr>
                  <a:t> and say which feature is most distinctive.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2EB03E3-2F0B-FB4E-B123-00D2716E4F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4200" y="3856092"/>
                <a:ext cx="9296400" cy="619016"/>
              </a:xfrm>
              <a:prstGeom prst="rect">
                <a:avLst/>
              </a:prstGeom>
              <a:blipFill>
                <a:blip r:embed="rId3"/>
                <a:stretch>
                  <a:fillRect l="-273" b="-1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Oval 10">
            <a:extLst>
              <a:ext uri="{FF2B5EF4-FFF2-40B4-BE49-F238E27FC236}">
                <a16:creationId xmlns:a16="http://schemas.microsoft.com/office/drawing/2014/main" id="{484170AF-4CF0-2947-BD0A-04CBB2043932}"/>
              </a:ext>
            </a:extLst>
          </p:cNvPr>
          <p:cNvSpPr/>
          <p:nvPr/>
        </p:nvSpPr>
        <p:spPr>
          <a:xfrm>
            <a:off x="838200" y="5410200"/>
            <a:ext cx="558800" cy="558800"/>
          </a:xfrm>
          <a:prstGeom prst="ellipse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FFFFFF"/>
                </a:solidFill>
                <a:latin typeface="Arial"/>
                <a:cs typeface="Arial"/>
              </a:rPr>
              <a:t>E3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BC997C26-29CC-7F40-A527-683EE7A2E4AF}"/>
              </a:ext>
            </a:extLst>
          </p:cNvPr>
          <p:cNvSpPr/>
          <p:nvPr/>
        </p:nvSpPr>
        <p:spPr>
          <a:xfrm>
            <a:off x="1625600" y="4953000"/>
            <a:ext cx="9728200" cy="1473200"/>
          </a:xfrm>
          <a:prstGeom prst="roundRect">
            <a:avLst/>
          </a:prstGeom>
          <a:solidFill>
            <a:srgbClr val="F5F0EB"/>
          </a:solidFill>
          <a:ln w="12700" cap="flat" cmpd="sng" algn="ctr">
            <a:solidFill>
              <a:srgbClr val="B7A57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555160C-07C8-F245-A886-2011A9E88EA0}"/>
                  </a:ext>
                </a:extLst>
              </p:cNvPr>
              <p:cNvSpPr txBox="1"/>
              <p:nvPr/>
            </p:nvSpPr>
            <p:spPr>
              <a:xfrm>
                <a:off x="1854200" y="5247972"/>
                <a:ext cx="9296400" cy="883255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spAutoFit/>
              </a:bodyPr>
              <a:lstStyle/>
              <a:p>
                <a:pPr>
                  <a:buNone/>
                </a:pPr>
                <a:r>
                  <a:rPr lang="en-US" sz="1600" b="1" dirty="0">
                    <a:solidFill>
                      <a:srgbClr val="4B2E83"/>
                    </a:solidFill>
                  </a:rPr>
                  <a:t>F-Statistic.  </a:t>
                </a:r>
                <a:r>
                  <a:rPr lang="en-US" sz="1600" dirty="0">
                    <a:solidFill>
                      <a:srgbClr val="333333"/>
                    </a:solidFill>
                  </a:rPr>
                  <a:t>Between-cluster var of feature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333333"/>
                        </a:solidFill>
                      </a:rPr>
                      <a:t>j</a:t>
                    </a:r>
                  </mc:Fallback>
                </mc:AlternateContent>
                <a:r>
                  <a:rPr lang="en-US" sz="1600" dirty="0">
                    <a:solidFill>
                      <a:srgbClr val="333333"/>
                    </a:solidFill>
                  </a:rPr>
                  <a:t> = 24.0 (df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−1=2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333333"/>
                        </a:solidFill>
                      </a:rPr>
                      <a:t>K−1=2</a:t>
                    </a:r>
                  </mc:Fallback>
                </mc:AlternateContent>
                <a:r>
                  <a:rPr lang="en-US" sz="1600" dirty="0">
                    <a:solidFill>
                      <a:srgbClr val="333333"/>
                    </a:solidFill>
                  </a:rPr>
                  <a:t>); within-cluster var = 4.0 (df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en-US" sz="160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=27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333333"/>
                        </a:solidFill>
                      </a:rPr>
                      <a:t>n−K=27</a:t>
                    </a:r>
                  </mc:Fallback>
                </mc:AlternateContent>
                <a:r>
                  <a:rPr lang="en-US" sz="1600" dirty="0">
                    <a:solidFill>
                      <a:srgbClr val="333333"/>
                    </a:solidFill>
                  </a:rPr>
                  <a:t>).</a:t>
                </a:r>
              </a:p>
              <a:p>
                <a:pPr>
                  <a:buNone/>
                </a:pPr>
                <a:r>
                  <a:rPr lang="en-US" sz="1600" dirty="0">
                    <a:solidFill>
                      <a:srgbClr val="4B2E83"/>
                    </a:solidFill>
                  </a:rPr>
                  <a:t>Compute </a:t>
                </a:r>
                <mc:AlternateContent>
                  <mc:Choice Requires="a14"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1600" i="1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sz="1600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sz="16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sz="1600" i="1">
                                <a:solidFill>
                                  <a:srgbClr val="4B2E8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f>
                              <m:fPr>
                                <m:ctrlPr>
                                  <a:rPr lang="en-US" sz="1600" i="1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1600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24.0</m:t>
                                </m:r>
                              </m:num>
                              <m:den>
                                <m:r>
                                  <a:rPr lang="en-US" sz="1600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num>
                          <m:den>
                            <m:f>
                              <m:fPr>
                                <m:ctrlPr>
                                  <a:rPr lang="en-US" sz="1600" i="1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1600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4.0</m:t>
                                </m:r>
                              </m:num>
                              <m:den>
                                <m:r>
                                  <a:rPr lang="en-US" sz="1600">
                                    <a:solidFill>
                                      <a:srgbClr val="4B2E83"/>
                                    </a:solidFill>
                                    <a:latin typeface="Cambria Math" panose="02040503050406030204" pitchFamily="18" charset="0"/>
                                  </a:rPr>
                                  <m:t>27</m:t>
                                </m:r>
                              </m:den>
                            </m:f>
                          </m:den>
                        </m:f>
                      </m:oMath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4B2E83"/>
                        </a:solidFill>
                      </a:rPr>
                      <a:t>Fⱼ = (24.0/2)/(4.0/27)</a:t>
                    </a:r>
                  </mc:Fallback>
                </mc:AlternateContent>
                <a:r>
                  <a:rPr lang="en-US" sz="1600" dirty="0">
                    <a:solidFill>
                      <a:srgbClr val="4B2E83"/>
                    </a:solidFill>
                  </a:rPr>
                  <a:t> and judge if feature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sz="1600">
                            <a:solidFill>
                              <a:srgbClr val="4B2E83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oMath>
                    </a14:m>
                  </mc:Choice>
                  <mc:Fallback xmlns:m="http://schemas.openxmlformats.org/officeDocument/2006/math" xmlns="">
                    <a:r>
                      <a:rPr lang="en-US" sz="1600">
                        <a:solidFill>
                          <a:srgbClr val="4B2E83"/>
                        </a:solidFill>
                      </a:rPr>
                      <a:t>j</a:t>
                    </a:r>
                  </mc:Fallback>
                </mc:AlternateContent>
                <a:r>
                  <a:rPr lang="en-US" sz="1600" dirty="0">
                    <a:solidFill>
                      <a:srgbClr val="4B2E83"/>
                    </a:solidFill>
                  </a:rPr>
                  <a:t> separates clusters.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555160C-07C8-F245-A886-2011A9E88E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4200" y="5247972"/>
                <a:ext cx="9296400" cy="883255"/>
              </a:xfrm>
              <a:prstGeom prst="rect">
                <a:avLst/>
              </a:prstGeom>
              <a:blipFill>
                <a:blip r:embed="rId4"/>
                <a:stretch>
                  <a:fillRect l="-273" t="-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0885256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E6DFCD-50AF-AF6E-6438-69CE930927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Choosing a Method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4B1F6B2-C318-AC43-AB02-E36FB20D8C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6825785"/>
              </p:ext>
            </p:extLst>
          </p:nvPr>
        </p:nvGraphicFramePr>
        <p:xfrm>
          <a:off x="838200" y="1905000"/>
          <a:ext cx="10515600" cy="391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1258177244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55861372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559683373"/>
                    </a:ext>
                  </a:extLst>
                </a:gridCol>
              </a:tblGrid>
              <a:tr h="558800">
                <a:tc>
                  <a:txBody>
                    <a:bodyPr/>
                    <a:lstStyle/>
                    <a:p>
                      <a:pPr algn="l"/>
                      <a:r>
                        <a:rPr lang="en-US" sz="16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Method</a:t>
                      </a:r>
                    </a:p>
                  </a:txBody>
                  <a:tcPr anchor="ctr">
                    <a:solidFill>
                      <a:srgbClr val="4B2E8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Best for</a:t>
                      </a:r>
                    </a:p>
                  </a:txBody>
                  <a:tcPr anchor="ctr">
                    <a:solidFill>
                      <a:srgbClr val="4B2E8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Core object</a:t>
                      </a:r>
                    </a:p>
                  </a:txBody>
                  <a:tcPr anchor="ctr">
                    <a:solidFill>
                      <a:srgbClr val="4B2E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8141573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lang="en-US" sz="15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K-means</a:t>
                      </a:r>
                    </a:p>
                  </a:txBody>
                  <a:tcPr anchor="ctr">
                    <a:solidFill>
                      <a:srgbClr val="00A7B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>
                          <a:solidFill>
                            <a:srgbClr val="333333"/>
                          </a:solidFill>
                        </a:rPr>
                        <a:t>Spherical, balanced clusters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>
                          <a:solidFill>
                            <a:srgbClr val="333333"/>
                          </a:solidFill>
                          <a:latin typeface="Consolas"/>
                          <a:cs typeface="Consolas"/>
                        </a:rPr>
                        <a:t>Centroids μₖ, minimize Σ‖x−μₖ‖²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9947903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lang="en-US" sz="15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Hierarchical</a:t>
                      </a:r>
                    </a:p>
                  </a:txBody>
                  <a:tcPr anchor="ctr">
                    <a:solidFill>
                      <a:srgbClr val="7AB64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>
                          <a:solidFill>
                            <a:srgbClr val="333333"/>
                          </a:solidFill>
                        </a:rPr>
                        <a:t>Nested structure, dendrograms</a:t>
                      </a:r>
                    </a:p>
                  </a:txBody>
                  <a:tcPr anchor="ctr"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>
                          <a:solidFill>
                            <a:srgbClr val="333333"/>
                          </a:solidFill>
                          <a:latin typeface="Consolas"/>
                          <a:cs typeface="Consolas"/>
                        </a:rPr>
                        <a:t>Linkage on distance matrix D</a:t>
                      </a:r>
                    </a:p>
                  </a:txBody>
                  <a:tcPr anchor="ctr">
                    <a:solidFill>
                      <a:srgbClr val="F5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1277941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lang="en-US" sz="15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DBSCAN</a:t>
                      </a:r>
                    </a:p>
                  </a:txBody>
                  <a:tcPr anchor="ctr">
                    <a:solidFill>
                      <a:srgbClr val="85754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>
                          <a:solidFill>
                            <a:srgbClr val="333333"/>
                          </a:solidFill>
                        </a:rPr>
                        <a:t>Arbitrary shapes, noise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>
                          <a:solidFill>
                            <a:srgbClr val="333333"/>
                          </a:solidFill>
                          <a:latin typeface="Consolas"/>
                          <a:cs typeface="Consolas"/>
                        </a:rPr>
                        <a:t>ε-neighborhoods, density reachability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3073572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lang="en-US" sz="15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t-SNE</a:t>
                      </a:r>
                    </a:p>
                  </a:txBody>
                  <a:tcPr anchor="ctr">
                    <a:solidFill>
                      <a:srgbClr val="D157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>
                          <a:solidFill>
                            <a:srgbClr val="333333"/>
                          </a:solidFill>
                        </a:rPr>
                        <a:t>2-D visualization, local structure</a:t>
                      </a:r>
                    </a:p>
                  </a:txBody>
                  <a:tcPr anchor="ctr"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>
                          <a:solidFill>
                            <a:srgbClr val="333333"/>
                          </a:solidFill>
                          <a:latin typeface="Consolas"/>
                          <a:cs typeface="Consolas"/>
                        </a:rPr>
                        <a:t>KL(P∥Q) on affinity matrices</a:t>
                      </a:r>
                    </a:p>
                  </a:txBody>
                  <a:tcPr anchor="ctr">
                    <a:solidFill>
                      <a:srgbClr val="F5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0899866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lang="en-US" sz="15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UMAP</a:t>
                      </a:r>
                    </a:p>
                  </a:txBody>
                  <a:tcPr anchor="ctr">
                    <a:solidFill>
                      <a:srgbClr val="00A7B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>
                          <a:solidFill>
                            <a:srgbClr val="333333"/>
                          </a:solidFill>
                        </a:rPr>
                        <a:t>Fast embedding, local+global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>
                          <a:solidFill>
                            <a:srgbClr val="333333"/>
                          </a:solidFill>
                          <a:latin typeface="Consolas"/>
                          <a:cs typeface="Consolas"/>
                        </a:rPr>
                        <a:t>Cross-entropy on fuzzy graph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0017720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lang="en-US" sz="15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Profiling</a:t>
                      </a:r>
                    </a:p>
                  </a:txBody>
                  <a:tcPr anchor="ctr">
                    <a:solidFill>
                      <a:srgbClr val="4B2E8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>
                          <a:solidFill>
                            <a:srgbClr val="333333"/>
                          </a:solidFill>
                        </a:rPr>
                        <a:t>Interpreting clusters</a:t>
                      </a:r>
                    </a:p>
                  </a:txBody>
                  <a:tcPr anchor="ctr"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>
                          <a:solidFill>
                            <a:srgbClr val="333333"/>
                          </a:solidFill>
                          <a:latin typeface="Consolas"/>
                          <a:cs typeface="Consolas"/>
                        </a:rPr>
                        <a:t>z-profiles, silhouette, F-stat</a:t>
                      </a:r>
                    </a:p>
                  </a:txBody>
                  <a:tcPr anchor="ctr">
                    <a:solidFill>
                      <a:srgbClr val="F5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80242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72686583"/>
      </p:ext>
    </p:extLst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600" b="1">
                <a:solidFill>
                  <a:srgbClr val="4B2E83"/>
                </a:solidFill>
                <a:latin typeface="Encode Sans"/>
              </a:rPr>
              <a:t>DBSCAN, t-SNE</a:t>
            </a:r>
          </a:p>
          <a:p>
            <a:r>
              <a:rPr sz="3600" b="1">
                <a:solidFill>
                  <a:srgbClr val="4B2E83"/>
                </a:solidFill>
                <a:latin typeface="Encode Sans"/>
              </a:rPr>
              <a:t>and UMAP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000">
                <a:solidFill>
                  <a:srgbClr val="85754D"/>
                </a:solidFill>
                <a:latin typeface="Encode Sans"/>
              </a:rPr>
              <a:t>BDATA 412: Advanced Data Visualization</a:t>
            </a:r>
          </a:p>
          <a:p>
            <a:r>
              <a:rPr sz="1800">
                <a:solidFill>
                  <a:srgbClr val="666666"/>
                </a:solidFill>
                <a:latin typeface="Encode Sans"/>
              </a:rPr>
              <a:t>University of Washington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A394970-FCFA-F222-F4ED-8442DB25E364}"/>
              </a:ext>
            </a:extLst>
          </p:cNvPr>
          <p:cNvSpPr/>
          <p:nvPr/>
        </p:nvSpPr>
        <p:spPr>
          <a:xfrm>
            <a:off x="10668000" y="239844"/>
            <a:ext cx="1379096" cy="1349114"/>
          </a:xfrm>
          <a:prstGeom prst="ellipse">
            <a:avLst/>
          </a:prstGeom>
          <a:solidFill>
            <a:srgbClr val="4B2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5600" b="1">
                <a:solidFill>
                  <a:srgbClr val="FFFFFF"/>
                </a:solidFill>
              </a:defRPr>
            </a:pPr>
            <a:r>
              <a:rPr lang="en-US" dirty="0"/>
              <a:t>4</a:t>
            </a:r>
            <a:endParaRPr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 [1775876968803]">
  <a:themeElements>
    <a:clrScheme name="University of Washington">
      <a:dk1>
        <a:srgbClr val="333333"/>
      </a:dk1>
      <a:lt1>
        <a:srgbClr val="FFFFFF"/>
      </a:lt1>
      <a:dk2>
        <a:srgbClr val="4B2E83"/>
      </a:dk2>
      <a:lt2>
        <a:srgbClr val="F5F0EB"/>
      </a:lt2>
      <a:accent1>
        <a:srgbClr val="4B2E83"/>
      </a:accent1>
      <a:accent2>
        <a:srgbClr val="B7A57A"/>
      </a:accent2>
      <a:accent3>
        <a:srgbClr val="85754D"/>
      </a:accent3>
      <a:accent4>
        <a:srgbClr val="00A7B5"/>
      </a:accent4>
      <a:accent5>
        <a:srgbClr val="7AB648"/>
      </a:accent5>
      <a:accent6>
        <a:srgbClr val="D1578A"/>
      </a:accent6>
      <a:hlink>
        <a:srgbClr val="0563C1"/>
      </a:hlink>
      <a:folHlink>
        <a:srgbClr val="954F72"/>
      </a:folHlink>
    </a:clrScheme>
    <a:fontScheme name="Bellevue College">
      <a:majorFont>
        <a:latin typeface="Arial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6c79faba-e8d3-4fb7-9062-0409eb8478fa}">
  <we:reference id="WA200010001" version="1.0.0.0" store="en-US" storeType="OMEX"/>
  <we:alternateReferences/>
  <we:properties>
    <we:property name="Microsoft.Office.CampaignId" value="&quot;none&quot;"/>
    <we:property name="Office.AutoShowTaskpaneWithDocument" value="true"/>
    <we:property name="claude.fileId" value="&quot;9777158b-f629-46ff-aa04-06fe8115a595&quot;"/>
  </we:properties>
  <we:bindings/>
  <we:snapshot xmlns:r="http://schemas.openxmlformats.org/officeDocument/2006/relationships"/>
</we:webextension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ocument_x0020_Purpose xmlns="f577acbf-5b0b-4b4f-9948-268e97f8d3a4">Informational</Document_x0020_Purpose>
    <Initiatives xmlns="f577acbf-5b0b-4b4f-9948-268e97f8d3a4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401524DC532D42A0E0ED886331A72B" ma:contentTypeVersion="13" ma:contentTypeDescription="Create a new document." ma:contentTypeScope="" ma:versionID="d936d863d335d354da51eb78ca1ae338">
  <xsd:schema xmlns:xsd="http://www.w3.org/2001/XMLSchema" xmlns:xs="http://www.w3.org/2001/XMLSchema" xmlns:p="http://schemas.microsoft.com/office/2006/metadata/properties" xmlns:ns2="f577acbf-5b0b-4b4f-9948-268e97f8d3a4" xmlns:ns3="b1e4d6ee-9f6f-43f8-a618-24f3d84da28f" targetNamespace="http://schemas.microsoft.com/office/2006/metadata/properties" ma:root="true" ma:fieldsID="5fbac08d56b1b04aa33acbc31e882ce9" ns2:_="" ns3:_="">
    <xsd:import namespace="f577acbf-5b0b-4b4f-9948-268e97f8d3a4"/>
    <xsd:import namespace="b1e4d6ee-9f6f-43f8-a618-24f3d84da2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2:Document_x0020_Purpose" minOccurs="0"/>
                <xsd:element ref="ns2:Initiative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77acbf-5b0b-4b4f-9948-268e97f8d3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Document_x0020_Purpose" ma:index="14" nillable="true" ma:displayName="Document Purpose" ma:default="Informational" ma:format="Dropdown" ma:internalName="Document_x0020_Purpose">
      <xsd:simpleType>
        <xsd:restriction base="dms:Choice">
          <xsd:enumeration value="Informational"/>
          <xsd:enumeration value="Feature Spec"/>
          <xsd:enumeration value="Engineering Design"/>
          <xsd:enumeration value="Planning"/>
        </xsd:restriction>
      </xsd:simpleType>
    </xsd:element>
    <xsd:element name="Initiatives" ma:index="15" nillable="true" ma:displayName="Initiatives" ma:description="List of initiatives related to this document" ma:internalName="Initiativ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dd-in MAU"/>
                    <xsd:enumeration value="Custom Functions"/>
                    <xsd:enumeration value="Data &amp; Analytics"/>
                    <xsd:enumeration value="DevEx: Portals &amp; Programs"/>
                    <xsd:enumeration value="DevEx: Tools &amp; Libraries"/>
                    <xsd:enumeration value="Engineering"/>
                    <xsd:enumeration value="Excel API"/>
                    <xsd:enumeration value="In-Market Support"/>
                    <xsd:enumeration value="Maker Access"/>
                    <xsd:enumeration value="SDX Runtime &amp; Partners"/>
                    <xsd:enumeration value="SDX Service Delivery"/>
                    <xsd:enumeration value="SDX API &amp; Pipeline"/>
                    <xsd:enumeration value="Shield &amp; OCE"/>
                  </xsd:restriction>
                </xsd:simpleType>
              </xsd:element>
            </xsd:sequence>
          </xsd:extension>
        </xsd:complexContent>
      </xsd:complex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  <xsd:element name="MediaServiceOCR" ma:index="18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MediaService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e4d6ee-9f6f-43f8-a618-24f3d84da28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2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3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21AFCC0-734A-4A90-A597-A1CB34860DC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17AB1FA-2F28-4684-9230-02ACEB6C0B0A}">
  <ds:schemaRefs>
    <ds:schemaRef ds:uri="b1e4d6ee-9f6f-43f8-a618-24f3d84da28f"/>
    <ds:schemaRef ds:uri="http://purl.org/dc/terms/"/>
    <ds:schemaRef ds:uri="http://schemas.openxmlformats.org/package/2006/metadata/core-properties"/>
    <ds:schemaRef ds:uri="f577acbf-5b0b-4b4f-9948-268e97f8d3a4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A79EAE08-AAD0-49B9-BF66-164C225CC52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577acbf-5b0b-4b4f-9948-268e97f8d3a4"/>
    <ds:schemaRef ds:uri="b1e4d6ee-9f6f-43f8-a618-24f3d84da28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6204</TotalTime>
  <Words>9350</Words>
  <Application>Microsoft Macintosh PowerPoint</Application>
  <PresentationFormat>Widescreen</PresentationFormat>
  <Paragraphs>1382</Paragraphs>
  <Slides>111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111</vt:i4>
      </vt:variant>
    </vt:vector>
  </HeadingPairs>
  <TitlesOfParts>
    <vt:vector size="117" baseType="lpstr">
      <vt:lpstr>Aptos</vt:lpstr>
      <vt:lpstr>Arial</vt:lpstr>
      <vt:lpstr>Calibri</vt:lpstr>
      <vt:lpstr>Cambria Math</vt:lpstr>
      <vt:lpstr>Consolas</vt:lpstr>
      <vt:lpstr>Office Theme [1775876968803]</vt:lpstr>
      <vt:lpstr>Cluster Analysis A Linear-Algebra Approach to Unsupervised Learning</vt:lpstr>
      <vt:lpstr>Course Roadmap</vt:lpstr>
      <vt:lpstr>PowerPoint Presentation</vt:lpstr>
      <vt:lpstr>What Is a Cluster?</vt:lpstr>
      <vt:lpstr>Example: People, Features &amp; Clusters</vt:lpstr>
      <vt:lpstr>Clustering as a Partition</vt:lpstr>
      <vt:lpstr>Exercise: Is It a Valid Clustering?</vt:lpstr>
      <vt:lpstr>The Data Matrix X</vt:lpstr>
      <vt:lpstr>Why Distance Matters</vt:lpstr>
      <vt:lpstr>Distance Metrics &amp; Norms</vt:lpstr>
      <vt:lpstr>The Distance Matrix D</vt:lpstr>
      <vt:lpstr>Squared Distances: The Gram Matrix Trick</vt:lpstr>
      <vt:lpstr>Example: A Distance via the Gram Trick</vt:lpstr>
      <vt:lpstr>Exercise: Build the Distance Matrix</vt:lpstr>
      <vt:lpstr>Solution — Step 1: Squared Norms</vt:lpstr>
      <vt:lpstr>Solution — Step 2: Gram Matrix G = XXᵀ</vt:lpstr>
      <vt:lpstr>Solution — Step 3: Squared Distances D²ᵢⱼ</vt:lpstr>
      <vt:lpstr>Solution — Step 4: Distance Matrix D</vt:lpstr>
      <vt:lpstr>Similarity vs. Dissimilarity</vt:lpstr>
      <vt:lpstr>Standardization</vt:lpstr>
      <vt:lpstr>The Curse of Dimensionality</vt:lpstr>
      <vt:lpstr>Step 1 — Expand the Squared Distance</vt:lpstr>
      <vt:lpstr>Step 2 — Collect Into the Gram Matrix</vt:lpstr>
      <vt:lpstr>Step 3 — Diagonal &amp; Matrix Form</vt:lpstr>
      <vt:lpstr>Step 4 — Plug In and Recover D</vt:lpstr>
      <vt:lpstr>Exercise 1: Standardization in Matrix Form</vt:lpstr>
      <vt:lpstr>Exercise 2 — Step 1: Set Up the Centering</vt:lpstr>
      <vt:lpstr>Exercise 2 — Step 2: Column Means</vt:lpstr>
      <vt:lpstr>Exercise 2 — Step 3: Subtract the Means</vt:lpstr>
      <vt:lpstr>Exercise 2 — Step 4: Check &amp; Standardize</vt:lpstr>
      <vt:lpstr>Exercise 3 — Step 1: Set Up the Scaling</vt:lpstr>
      <vt:lpstr>Exercise 3 — Step 2: Column Standard Deviations</vt:lpstr>
      <vt:lpstr>Exercise 3 — Step 3: Build the Scaling Matrix</vt:lpstr>
      <vt:lpstr>Exercise 3 — Step 4: Scale to Unit Variance</vt:lpstr>
      <vt:lpstr>Foundations — Exercises</vt:lpstr>
      <vt:lpstr>Exercise 1: Distance Matrix — Step 1</vt:lpstr>
      <vt:lpstr>Exercise 1: Distance Matrix — Step 2</vt:lpstr>
      <vt:lpstr>Exercise 1: Distance Matrix — Step 3</vt:lpstr>
      <vt:lpstr>Exercise 2: Metric Comparison — Step 1</vt:lpstr>
      <vt:lpstr>Exercise 2: Metric Comparison — Step 2</vt:lpstr>
      <vt:lpstr>Exercise 2: Metric Comparison — Step 3</vt:lpstr>
      <vt:lpstr>Exercise 3: Standardization — Step 1</vt:lpstr>
      <vt:lpstr>Exercise 3: Standardization — Step 2</vt:lpstr>
      <vt:lpstr>Exercise 3: Standardization — Step 3</vt:lpstr>
      <vt:lpstr>PowerPoint Presentation</vt:lpstr>
      <vt:lpstr>K-Means: The Objective</vt:lpstr>
      <vt:lpstr>Lloyd's Algorithm: History &amp; Intuition</vt:lpstr>
      <vt:lpstr>Lloyd's Algorithm</vt:lpstr>
      <vt:lpstr>Lloyd's Algorithm</vt:lpstr>
      <vt:lpstr>Lloyd's Algorithm</vt:lpstr>
      <vt:lpstr>Lloyd's Algorithm</vt:lpstr>
      <vt:lpstr>Lloyd's Algorithm</vt:lpstr>
      <vt:lpstr>Lloyd's Algorithm</vt:lpstr>
      <vt:lpstr>Initialization: k-means++</vt:lpstr>
      <vt:lpstr>Lloyd Iteration — Step 1: Assignment</vt:lpstr>
      <vt:lpstr>Lloyd Iteration — Step 2: Update Centroids</vt:lpstr>
      <vt:lpstr>Lloyd Iteration — Step 3: Inertia &amp; Convergence</vt:lpstr>
      <vt:lpstr>Matrix Form — Step 1: Stack the Data</vt:lpstr>
      <vt:lpstr>Matrix Form — Step 2: Stack the Centroids</vt:lpstr>
      <vt:lpstr>Distance Matrix — Step 1: The Formula</vt:lpstr>
      <vt:lpstr>Distance Matrix — Step 2: Compute Column 1</vt:lpstr>
      <vt:lpstr>Distance Matrix — Step 3: Assemble D</vt:lpstr>
      <vt:lpstr>Assignment — Step 1: Nearest Centroid (argmin)</vt:lpstr>
      <vt:lpstr>Assignment — Step 2: One-Hot Matrix Z</vt:lpstr>
      <vt:lpstr>Update — Step 1: Cluster Sums ZᵀX</vt:lpstr>
      <vt:lpstr>Update — Step 2: Cluster Sizes &amp; Divide</vt:lpstr>
      <vt:lpstr>Update — Step 3: New Centroids M⁽¹⁾</vt:lpstr>
      <vt:lpstr>Inertia — Step 1: Keep Each Point’s Own Distance</vt:lpstr>
      <vt:lpstr>Inertia — Step 2: Sum to Get J</vt:lpstr>
      <vt:lpstr>Example 2: Choosing k (Elbow)</vt:lpstr>
      <vt:lpstr>Example 3: Scaling Changes Clusters</vt:lpstr>
      <vt:lpstr>K-Means — Exercises</vt:lpstr>
      <vt:lpstr>PowerPoint Presentation</vt:lpstr>
      <vt:lpstr>Agglomerative Clustering</vt:lpstr>
      <vt:lpstr>Types of Linkage</vt:lpstr>
      <vt:lpstr>The Dendrogram</vt:lpstr>
      <vt:lpstr>Updating Distances: Lance–Williams</vt:lpstr>
      <vt:lpstr>Example 1: Single-Linkage by Hand</vt:lpstr>
      <vt:lpstr>Example 2: Ward vs Single Linkage</vt:lpstr>
      <vt:lpstr>Example 3: Cophenetic Correlation</vt:lpstr>
      <vt:lpstr>Hierarchical — Exercises</vt:lpstr>
      <vt:lpstr>PowerPoint Presentation</vt:lpstr>
      <vt:lpstr>Density: Core, Border &amp; Noise</vt:lpstr>
      <vt:lpstr>DBSCAN Algorithm</vt:lpstr>
      <vt:lpstr>Example 1: Point Classification</vt:lpstr>
      <vt:lpstr>Example 2: Choosing ε (k-distance)</vt:lpstr>
      <vt:lpstr>Example 3: Non-Convex Shapes</vt:lpstr>
      <vt:lpstr>DBSCAN — Exercises</vt:lpstr>
      <vt:lpstr>PowerPoint Presentation</vt:lpstr>
      <vt:lpstr>t-SNE: High-D vs Low-D Affinities</vt:lpstr>
      <vt:lpstr>t-SNE: Cost &amp; Gradient</vt:lpstr>
      <vt:lpstr>Example 1: Computing an Affinity</vt:lpstr>
      <vt:lpstr>Example 2: Perplexity &amp; Bandwidth</vt:lpstr>
      <vt:lpstr>Example 3: One Gradient Step</vt:lpstr>
      <vt:lpstr>t-SNE — Exercises</vt:lpstr>
      <vt:lpstr>PowerPoint Presentation</vt:lpstr>
      <vt:lpstr>UMAP: High-Dimensional Graph</vt:lpstr>
      <vt:lpstr>UMAP: Low-D Layout &amp; Cost</vt:lpstr>
      <vt:lpstr>Example 1: Local Connectivity ρᵢ</vt:lpstr>
      <vt:lpstr>Example 2: Fuzzy Union</vt:lpstr>
      <vt:lpstr>Example 3: Low-D Weight qᵢⱼ</vt:lpstr>
      <vt:lpstr>UMAP — Exercises</vt:lpstr>
      <vt:lpstr>PowerPoint Presentation</vt:lpstr>
      <vt:lpstr>Centroids, Medoids &amp; Profiles</vt:lpstr>
      <vt:lpstr>Validation: Silhouette &amp; F-Statistic</vt:lpstr>
      <vt:lpstr>Example 1: Silhouette of a Point</vt:lpstr>
      <vt:lpstr>Example 2: Centroid z-Profile</vt:lpstr>
      <vt:lpstr>Example 3: F-Statistic Feature Ranking</vt:lpstr>
      <vt:lpstr>Clustering Profiling — Exercises</vt:lpstr>
      <vt:lpstr>Choosing a Method</vt:lpstr>
      <vt:lpstr>From Clusters to Personas: Naming Ideas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</dc:creator>
  <cp:lastModifiedBy>Pedro Albuquerque</cp:lastModifiedBy>
  <cp:revision>150</cp:revision>
  <dcterms:created xsi:type="dcterms:W3CDTF">2018-06-07T21:39:02Z</dcterms:created>
  <dcterms:modified xsi:type="dcterms:W3CDTF">2026-06-11T21:42:17Z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0x010100CD401524DC532D42A0E0ED886331A72B</vt:lpwstr>
  </property>
  <property fmtid="{D5CDD505-2E9C-101B-9397-08002B2CF9AE}" pid="3" name="MSIP_Label_f42aa342-8706-4288-bd11-ebb85995028c_Enabled">
    <vt:lpwstr>True</vt:lpwstr>
  </property>
  <property fmtid="{D5CDD505-2E9C-101B-9397-08002B2CF9AE}" pid="4" name="MSIP_Label_f42aa342-8706-4288-bd11-ebb85995028c_SiteId">
    <vt:lpwstr>72f988bf-86f1-41af-91ab-2d7cd011db47</vt:lpwstr>
  </property>
  <property fmtid="{D5CDD505-2E9C-101B-9397-08002B2CF9AE}" pid="5" name="MSIP_Label_f42aa342-8706-4288-bd11-ebb85995028c_Owner">
    <vt:lpwstr>t-dahop@microsoft.com</vt:lpwstr>
  </property>
  <property fmtid="{D5CDD505-2E9C-101B-9397-08002B2CF9AE}" pid="6" name="MSIP_Label_f42aa342-8706-4288-bd11-ebb85995028c_SetDate">
    <vt:lpwstr>2018-06-18T13:45:27.3782680Z</vt:lpwstr>
  </property>
  <property fmtid="{D5CDD505-2E9C-101B-9397-08002B2CF9AE}" pid="7" name="MSIP_Label_f42aa342-8706-4288-bd11-ebb85995028c_Name">
    <vt:lpwstr>General</vt:lpwstr>
  </property>
  <property fmtid="{D5CDD505-2E9C-101B-9397-08002B2CF9AE}" pid="8" name="MSIP_Label_f42aa342-8706-4288-bd11-ebb85995028c_Application">
    <vt:lpwstr>Microsoft Azure Information Protection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