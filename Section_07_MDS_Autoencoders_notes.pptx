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4" r:id="rId4"/>
  </p:sldMasterIdLst>
  <p:notesMasterIdLst>
    <p:notesMasterId r:id="rId246"/>
  </p:notesMasterIdLst>
  <p:sldIdLst>
    <p:sldId id="1033" r:id="rId109"/>
    <p:sldId id="1034" r:id="rId110"/>
    <p:sldId id="467" r:id="rId147"/>
    <p:sldId id="1035" r:id="rId111"/>
    <p:sldId id="468" r:id="rId148"/>
    <p:sldId id="1036" r:id="rId112"/>
    <p:sldId id="470" r:id="rId149"/>
    <p:sldId id="1037" r:id="rId113"/>
    <p:sldId id="471" r:id="rId150"/>
    <p:sldId id="1038" r:id="rId114"/>
    <p:sldId id="472" r:id="rId151"/>
    <p:sldId id="1039" r:id="rId115"/>
    <p:sldId id="473" r:id="rId152"/>
    <p:sldId id="1040" r:id="rId116"/>
    <p:sldId id="965" r:id="rId153"/>
    <p:sldId id="1041" r:id="rId117"/>
    <p:sldId id="967" r:id="rId154"/>
    <p:sldId id="1042" r:id="rId118"/>
    <p:sldId id="968" r:id="rId155"/>
    <p:sldId id="1043" r:id="rId119"/>
    <p:sldId id="969" r:id="rId156"/>
    <p:sldId id="1044" r:id="rId120"/>
    <p:sldId id="970" r:id="rId157"/>
    <p:sldId id="1045" r:id="rId121"/>
    <p:sldId id="971" r:id="rId158"/>
    <p:sldId id="1046" r:id="rId122"/>
    <p:sldId id="972" r:id="rId159"/>
    <p:sldId id="1047" r:id="rId123"/>
    <p:sldId id="973" r:id="rId160"/>
    <p:sldId id="1048" r:id="rId124"/>
    <p:sldId id="974" r:id="rId161"/>
    <p:sldId id="1049" r:id="rId125"/>
    <p:sldId id="966" r:id="rId162"/>
    <p:sldId id="1050" r:id="rId126"/>
    <p:sldId id="975" r:id="rId163"/>
    <p:sldId id="1051" r:id="rId127"/>
    <p:sldId id="976" r:id="rId164"/>
    <p:sldId id="1052" r:id="rId128"/>
    <p:sldId id="977" r:id="rId165"/>
    <p:sldId id="1053" r:id="rId129"/>
    <p:sldId id="978" r:id="rId166"/>
    <p:sldId id="1054" r:id="rId130"/>
    <p:sldId id="979" r:id="rId167"/>
    <p:sldId id="1055" r:id="rId131"/>
    <p:sldId id="980" r:id="rId168"/>
    <p:sldId id="1056" r:id="rId132"/>
    <p:sldId id="981" r:id="rId169"/>
    <p:sldId id="1057" r:id="rId133"/>
    <p:sldId id="1010" r:id="rId170"/>
    <p:sldId id="1058" r:id="rId134"/>
    <p:sldId id="982" r:id="rId171"/>
    <p:sldId id="1059" r:id="rId135"/>
    <p:sldId id="983" r:id="rId172"/>
    <p:sldId id="1060" r:id="rId136"/>
    <p:sldId id="984" r:id="rId173"/>
    <p:sldId id="1061" r:id="rId137"/>
    <p:sldId id="985" r:id="rId174"/>
    <p:sldId id="1062" r:id="rId138"/>
    <p:sldId id="986" r:id="rId175"/>
    <p:sldId id="1063" r:id="rId139"/>
    <p:sldId id="987" r:id="rId176"/>
    <p:sldId id="1064" r:id="rId140"/>
    <p:sldId id="477" r:id="rId177"/>
    <p:sldId id="1065" r:id="rId141"/>
    <p:sldId id="988" r:id="rId178"/>
    <p:sldId id="1066" r:id="rId142"/>
    <p:sldId id="989" r:id="rId179"/>
    <p:sldId id="1067" r:id="rId143"/>
    <p:sldId id="990" r:id="rId180"/>
    <p:sldId id="1068" r:id="rId144"/>
    <p:sldId id="991" r:id="rId181"/>
    <p:sldId id="1069" r:id="rId145"/>
    <p:sldId id="992" r:id="rId182"/>
    <p:sldId id="1070" r:id="rId146"/>
    <p:sldId id="993" r:id="rId183"/>
    <p:sldId id="1071" r:id="rId108"/>
    <p:sldId id="478" r:id="rId184"/>
    <p:sldId id="1072" r:id="rId107"/>
    <p:sldId id="994" r:id="rId185"/>
    <p:sldId id="1073" r:id="rId106"/>
    <p:sldId id="995" r:id="rId186"/>
    <p:sldId id="1074" r:id="rId105"/>
    <p:sldId id="996" r:id="rId187"/>
    <p:sldId id="1075" r:id="rId104"/>
    <p:sldId id="997" r:id="rId188"/>
    <p:sldId id="1076" r:id="rId103"/>
    <p:sldId id="998" r:id="rId189"/>
    <p:sldId id="1077" r:id="rId102"/>
    <p:sldId id="999" r:id="rId190"/>
    <p:sldId id="1078" r:id="rId101"/>
    <p:sldId id="479" r:id="rId191"/>
    <p:sldId id="1079" r:id="rId100"/>
    <p:sldId id="1000" r:id="rId192"/>
    <p:sldId id="1080" r:id="rId99"/>
    <p:sldId id="1001" r:id="rId193"/>
    <p:sldId id="1081" r:id="rId98"/>
    <p:sldId id="1002" r:id="rId194"/>
    <p:sldId id="1082" r:id="rId97"/>
    <p:sldId id="1003" r:id="rId195"/>
    <p:sldId id="1083" r:id="rId96"/>
    <p:sldId id="1004" r:id="rId196"/>
    <p:sldId id="1084" r:id="rId95"/>
    <p:sldId id="480" r:id="rId197"/>
    <p:sldId id="1085" r:id="rId94"/>
    <p:sldId id="1005" r:id="rId198"/>
    <p:sldId id="1086" r:id="rId93"/>
    <p:sldId id="1006" r:id="rId199"/>
    <p:sldId id="1087" r:id="rId92"/>
    <p:sldId id="1007" r:id="rId200"/>
    <p:sldId id="1088" r:id="rId91"/>
    <p:sldId id="1008" r:id="rId201"/>
    <p:sldId id="1089" r:id="rId90"/>
    <p:sldId id="1009" r:id="rId202"/>
    <p:sldId id="1090" r:id="rId89"/>
    <p:sldId id="481" r:id="rId203"/>
    <p:sldId id="1091" r:id="rId88"/>
    <p:sldId id="482" r:id="rId204"/>
    <p:sldId id="1092" r:id="rId87"/>
    <p:sldId id="483" r:id="rId205"/>
    <p:sldId id="1093" r:id="rId86"/>
    <p:sldId id="484" r:id="rId206"/>
    <p:sldId id="1094" r:id="rId85"/>
    <p:sldId id="485" r:id="rId207"/>
    <p:sldId id="1095" r:id="rId84"/>
    <p:sldId id="486" r:id="rId208"/>
    <p:sldId id="1096" r:id="rId83"/>
    <p:sldId id="487" r:id="rId209"/>
    <p:sldId id="1097" r:id="rId82"/>
    <p:sldId id="488" r:id="rId210"/>
    <p:sldId id="1098" r:id="rId81"/>
    <p:sldId id="1011" r:id="rId211"/>
    <p:sldId id="1099" r:id="rId80"/>
    <p:sldId id="1012" r:id="rId212"/>
    <p:sldId id="1100" r:id="rId79"/>
    <p:sldId id="1013" r:id="rId213"/>
    <p:sldId id="1101" r:id="rId78"/>
    <p:sldId id="1014" r:id="rId214"/>
    <p:sldId id="1102" r:id="rId77"/>
    <p:sldId id="1015" r:id="rId215"/>
    <p:sldId id="1103" r:id="rId76"/>
    <p:sldId id="489" r:id="rId216"/>
    <p:sldId id="1104" r:id="rId75"/>
    <p:sldId id="1016" r:id="rId217"/>
    <p:sldId id="1105" r:id="rId74"/>
    <p:sldId id="1017" r:id="rId218"/>
    <p:sldId id="1106" r:id="rId73"/>
    <p:sldId id="1018" r:id="rId219"/>
    <p:sldId id="1107" r:id="rId72"/>
    <p:sldId id="1019" r:id="rId220"/>
    <p:sldId id="1108" r:id="rId71"/>
    <p:sldId id="1020" r:id="rId221"/>
    <p:sldId id="1109" r:id="rId70"/>
    <p:sldId id="490" r:id="rId222"/>
    <p:sldId id="1110" r:id="rId69"/>
    <p:sldId id="1021" r:id="rId223"/>
    <p:sldId id="1111" r:id="rId68"/>
    <p:sldId id="1022" r:id="rId224"/>
    <p:sldId id="1112" r:id="rId67"/>
    <p:sldId id="1023" r:id="rId225"/>
    <p:sldId id="1113" r:id="rId66"/>
    <p:sldId id="903" r:id="rId226"/>
    <p:sldId id="1114" r:id="rId65"/>
    <p:sldId id="491" r:id="rId227"/>
    <p:sldId id="1115" r:id="rId64"/>
    <p:sldId id="1024" r:id="rId228"/>
    <p:sldId id="1116" r:id="rId63"/>
    <p:sldId id="1025" r:id="rId229"/>
    <p:sldId id="1117" r:id="rId62"/>
    <p:sldId id="1026" r:id="rId230"/>
    <p:sldId id="1118" r:id="rId61"/>
    <p:sldId id="1027" r:id="rId231"/>
    <p:sldId id="1119" r:id="rId60"/>
    <p:sldId id="492" r:id="rId232"/>
    <p:sldId id="1120" r:id="rId59"/>
    <p:sldId id="1028" r:id="rId233"/>
    <p:sldId id="1121" r:id="rId58"/>
    <p:sldId id="1029" r:id="rId234"/>
    <p:sldId id="1122" r:id="rId57"/>
    <p:sldId id="1030" r:id="rId235"/>
    <p:sldId id="1123" r:id="rId56"/>
    <p:sldId id="1031" r:id="rId236"/>
    <p:sldId id="1124" r:id="rId55"/>
    <p:sldId id="493" r:id="rId237"/>
    <p:sldId id="1125" r:id="rId54"/>
    <p:sldId id="925" r:id="rId238"/>
    <p:sldId id="1126" r:id="rId53"/>
    <p:sldId id="1032" r:id="rId239"/>
    <p:sldId id="1127" r:id="rId52"/>
    <p:sldId id="927" r:id="rId240"/>
    <p:sldId id="1128" r:id="rId51"/>
    <p:sldId id="928" r:id="rId241"/>
    <p:sldId id="1129" r:id="rId50"/>
    <p:sldId id="929" r:id="rId242"/>
    <p:sldId id="1130" r:id="rId49"/>
    <p:sldId id="494" r:id="rId243"/>
    <p:sldId id="1131" r:id="rId48"/>
    <p:sldId id="495" r:id="rId244"/>
    <p:sldId id="1132" r:id="rId47"/>
    <p:sldId id="496" r:id="rId245"/>
    <p:sldId id="1133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578A"/>
    <a:srgbClr val="4B2E83"/>
    <a:srgbClr val="F2C11E"/>
    <a:srgbClr val="FFE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3"/>
    <p:restoredTop sz="93836"/>
  </p:normalViewPr>
  <p:slideViewPr>
    <p:cSldViewPr snapToGrid="0" snapToObjects="1">
      <p:cViewPr varScale="1">
        <p:scale>
          <a:sx n="91" d="100"/>
          <a:sy n="91" d="100"/>
        </p:scale>
        <p:origin x="192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46" Type="http://schemas.openxmlformats.org/officeDocument/2006/relationships/slide" Target="slides/slide200.xml"/><Relationship Id="rId47" Type="http://schemas.openxmlformats.org/officeDocument/2006/relationships/slide" Target="slides/slide199.xml"/><Relationship Id="rId48" Type="http://schemas.openxmlformats.org/officeDocument/2006/relationships/slide" Target="slides/slide198.xml"/><Relationship Id="rId49" Type="http://schemas.openxmlformats.org/officeDocument/2006/relationships/slide" Target="slides/slide197.xml"/><Relationship Id="rId50" Type="http://schemas.openxmlformats.org/officeDocument/2006/relationships/slide" Target="slides/slide196.xml"/><Relationship Id="rId51" Type="http://schemas.openxmlformats.org/officeDocument/2006/relationships/slide" Target="slides/slide195.xml"/><Relationship Id="rId52" Type="http://schemas.openxmlformats.org/officeDocument/2006/relationships/slide" Target="slides/slide194.xml"/><Relationship Id="rId53" Type="http://schemas.openxmlformats.org/officeDocument/2006/relationships/slide" Target="slides/slide193.xml"/><Relationship Id="rId54" Type="http://schemas.openxmlformats.org/officeDocument/2006/relationships/slide" Target="slides/slide192.xml"/><Relationship Id="rId55" Type="http://schemas.openxmlformats.org/officeDocument/2006/relationships/slide" Target="slides/slide191.xml"/><Relationship Id="rId56" Type="http://schemas.openxmlformats.org/officeDocument/2006/relationships/slide" Target="slides/slide190.xml"/><Relationship Id="rId57" Type="http://schemas.openxmlformats.org/officeDocument/2006/relationships/slide" Target="slides/slide189.xml"/><Relationship Id="rId58" Type="http://schemas.openxmlformats.org/officeDocument/2006/relationships/slide" Target="slides/slide188.xml"/><Relationship Id="rId59" Type="http://schemas.openxmlformats.org/officeDocument/2006/relationships/slide" Target="slides/slide187.xml"/><Relationship Id="rId60" Type="http://schemas.openxmlformats.org/officeDocument/2006/relationships/slide" Target="slides/slide186.xml"/><Relationship Id="rId61" Type="http://schemas.openxmlformats.org/officeDocument/2006/relationships/slide" Target="slides/slide185.xml"/><Relationship Id="rId62" Type="http://schemas.openxmlformats.org/officeDocument/2006/relationships/slide" Target="slides/slide184.xml"/><Relationship Id="rId63" Type="http://schemas.openxmlformats.org/officeDocument/2006/relationships/slide" Target="slides/slide183.xml"/><Relationship Id="rId64" Type="http://schemas.openxmlformats.org/officeDocument/2006/relationships/slide" Target="slides/slide182.xml"/><Relationship Id="rId65" Type="http://schemas.openxmlformats.org/officeDocument/2006/relationships/slide" Target="slides/slide181.xml"/><Relationship Id="rId66" Type="http://schemas.openxmlformats.org/officeDocument/2006/relationships/slide" Target="slides/slide180.xml"/><Relationship Id="rId67" Type="http://schemas.openxmlformats.org/officeDocument/2006/relationships/slide" Target="slides/slide179.xml"/><Relationship Id="rId68" Type="http://schemas.openxmlformats.org/officeDocument/2006/relationships/slide" Target="slides/slide178.xml"/><Relationship Id="rId69" Type="http://schemas.openxmlformats.org/officeDocument/2006/relationships/slide" Target="slides/slide177.xml"/><Relationship Id="rId70" Type="http://schemas.openxmlformats.org/officeDocument/2006/relationships/slide" Target="slides/slide176.xml"/><Relationship Id="rId71" Type="http://schemas.openxmlformats.org/officeDocument/2006/relationships/slide" Target="slides/slide175.xml"/><Relationship Id="rId72" Type="http://schemas.openxmlformats.org/officeDocument/2006/relationships/slide" Target="slides/slide174.xml"/><Relationship Id="rId73" Type="http://schemas.openxmlformats.org/officeDocument/2006/relationships/slide" Target="slides/slide173.xml"/><Relationship Id="rId74" Type="http://schemas.openxmlformats.org/officeDocument/2006/relationships/slide" Target="slides/slide172.xml"/><Relationship Id="rId75" Type="http://schemas.openxmlformats.org/officeDocument/2006/relationships/slide" Target="slides/slide171.xml"/><Relationship Id="rId76" Type="http://schemas.openxmlformats.org/officeDocument/2006/relationships/slide" Target="slides/slide170.xml"/><Relationship Id="rId77" Type="http://schemas.openxmlformats.org/officeDocument/2006/relationships/slide" Target="slides/slide169.xml"/><Relationship Id="rId78" Type="http://schemas.openxmlformats.org/officeDocument/2006/relationships/slide" Target="slides/slide168.xml"/><Relationship Id="rId79" Type="http://schemas.openxmlformats.org/officeDocument/2006/relationships/slide" Target="slides/slide167.xml"/><Relationship Id="rId80" Type="http://schemas.openxmlformats.org/officeDocument/2006/relationships/slide" Target="slides/slide166.xml"/><Relationship Id="rId81" Type="http://schemas.openxmlformats.org/officeDocument/2006/relationships/slide" Target="slides/slide165.xml"/><Relationship Id="rId82" Type="http://schemas.openxmlformats.org/officeDocument/2006/relationships/slide" Target="slides/slide164.xml"/><Relationship Id="rId83" Type="http://schemas.openxmlformats.org/officeDocument/2006/relationships/slide" Target="slides/slide163.xml"/><Relationship Id="rId84" Type="http://schemas.openxmlformats.org/officeDocument/2006/relationships/slide" Target="slides/slide162.xml"/><Relationship Id="rId85" Type="http://schemas.openxmlformats.org/officeDocument/2006/relationships/slide" Target="slides/slide161.xml"/><Relationship Id="rId86" Type="http://schemas.openxmlformats.org/officeDocument/2006/relationships/slide" Target="slides/slide160.xml"/><Relationship Id="rId87" Type="http://schemas.openxmlformats.org/officeDocument/2006/relationships/slide" Target="slides/slide159.xml"/><Relationship Id="rId88" Type="http://schemas.openxmlformats.org/officeDocument/2006/relationships/slide" Target="slides/slide158.xml"/><Relationship Id="rId89" Type="http://schemas.openxmlformats.org/officeDocument/2006/relationships/slide" Target="slides/slide157.xml"/><Relationship Id="rId90" Type="http://schemas.openxmlformats.org/officeDocument/2006/relationships/slide" Target="slides/slide156.xml"/><Relationship Id="rId91" Type="http://schemas.openxmlformats.org/officeDocument/2006/relationships/slide" Target="slides/slide155.xml"/><Relationship Id="rId92" Type="http://schemas.openxmlformats.org/officeDocument/2006/relationships/slide" Target="slides/slide154.xml"/><Relationship Id="rId93" Type="http://schemas.openxmlformats.org/officeDocument/2006/relationships/slide" Target="slides/slide153.xml"/><Relationship Id="rId94" Type="http://schemas.openxmlformats.org/officeDocument/2006/relationships/slide" Target="slides/slide152.xml"/><Relationship Id="rId95" Type="http://schemas.openxmlformats.org/officeDocument/2006/relationships/slide" Target="slides/slide151.xml"/><Relationship Id="rId96" Type="http://schemas.openxmlformats.org/officeDocument/2006/relationships/slide" Target="slides/slide150.xml"/><Relationship Id="rId97" Type="http://schemas.openxmlformats.org/officeDocument/2006/relationships/slide" Target="slides/slide149.xml"/><Relationship Id="rId98" Type="http://schemas.openxmlformats.org/officeDocument/2006/relationships/slide" Target="slides/slide148.xml"/><Relationship Id="rId99" Type="http://schemas.openxmlformats.org/officeDocument/2006/relationships/slide" Target="slides/slide147.xml"/><Relationship Id="rId100" Type="http://schemas.openxmlformats.org/officeDocument/2006/relationships/slide" Target="slides/slide146.xml"/><Relationship Id="rId101" Type="http://schemas.openxmlformats.org/officeDocument/2006/relationships/slide" Target="slides/slide145.xml"/><Relationship Id="rId102" Type="http://schemas.openxmlformats.org/officeDocument/2006/relationships/slide" Target="slides/slide144.xml"/><Relationship Id="rId103" Type="http://schemas.openxmlformats.org/officeDocument/2006/relationships/slide" Target="slides/slide143.xml"/><Relationship Id="rId104" Type="http://schemas.openxmlformats.org/officeDocument/2006/relationships/slide" Target="slides/slide142.xml"/><Relationship Id="rId105" Type="http://schemas.openxmlformats.org/officeDocument/2006/relationships/slide" Target="slides/slide141.xml"/><Relationship Id="rId106" Type="http://schemas.openxmlformats.org/officeDocument/2006/relationships/slide" Target="slides/slide140.xml"/><Relationship Id="rId107" Type="http://schemas.openxmlformats.org/officeDocument/2006/relationships/slide" Target="slides/slide139.xml"/><Relationship Id="rId108" Type="http://schemas.openxmlformats.org/officeDocument/2006/relationships/slide" Target="slides/slide138.xml"/><Relationship Id="rId109" Type="http://schemas.openxmlformats.org/officeDocument/2006/relationships/slide" Target="slides/slide100.xml"/><Relationship Id="rId110" Type="http://schemas.openxmlformats.org/officeDocument/2006/relationships/slide" Target="slides/slide101.xml"/><Relationship Id="rId111" Type="http://schemas.openxmlformats.org/officeDocument/2006/relationships/slide" Target="slides/slide102.xml"/><Relationship Id="rId112" Type="http://schemas.openxmlformats.org/officeDocument/2006/relationships/slide" Target="slides/slide103.xml"/><Relationship Id="rId113" Type="http://schemas.openxmlformats.org/officeDocument/2006/relationships/slide" Target="slides/slide104.xml"/><Relationship Id="rId114" Type="http://schemas.openxmlformats.org/officeDocument/2006/relationships/slide" Target="slides/slide105.xml"/><Relationship Id="rId115" Type="http://schemas.openxmlformats.org/officeDocument/2006/relationships/slide" Target="slides/slide106.xml"/><Relationship Id="rId116" Type="http://schemas.openxmlformats.org/officeDocument/2006/relationships/slide" Target="slides/slide107.xml"/><Relationship Id="rId117" Type="http://schemas.openxmlformats.org/officeDocument/2006/relationships/slide" Target="slides/slide108.xml"/><Relationship Id="rId118" Type="http://schemas.openxmlformats.org/officeDocument/2006/relationships/slide" Target="slides/slide109.xml"/><Relationship Id="rId119" Type="http://schemas.openxmlformats.org/officeDocument/2006/relationships/slide" Target="slides/slide110.xml"/><Relationship Id="rId120" Type="http://schemas.openxmlformats.org/officeDocument/2006/relationships/slide" Target="slides/slide111.xml"/><Relationship Id="rId121" Type="http://schemas.openxmlformats.org/officeDocument/2006/relationships/slide" Target="slides/slide112.xml"/><Relationship Id="rId122" Type="http://schemas.openxmlformats.org/officeDocument/2006/relationships/slide" Target="slides/slide113.xml"/><Relationship Id="rId123" Type="http://schemas.openxmlformats.org/officeDocument/2006/relationships/slide" Target="slides/slide114.xml"/><Relationship Id="rId124" Type="http://schemas.openxmlformats.org/officeDocument/2006/relationships/slide" Target="slides/slide115.xml"/><Relationship Id="rId125" Type="http://schemas.openxmlformats.org/officeDocument/2006/relationships/slide" Target="slides/slide116.xml"/><Relationship Id="rId126" Type="http://schemas.openxmlformats.org/officeDocument/2006/relationships/slide" Target="slides/slide117.xml"/><Relationship Id="rId127" Type="http://schemas.openxmlformats.org/officeDocument/2006/relationships/slide" Target="slides/slide118.xml"/><Relationship Id="rId128" Type="http://schemas.openxmlformats.org/officeDocument/2006/relationships/slide" Target="slides/slide119.xml"/><Relationship Id="rId129" Type="http://schemas.openxmlformats.org/officeDocument/2006/relationships/slide" Target="slides/slide120.xml"/><Relationship Id="rId130" Type="http://schemas.openxmlformats.org/officeDocument/2006/relationships/slide" Target="slides/slide121.xml"/><Relationship Id="rId131" Type="http://schemas.openxmlformats.org/officeDocument/2006/relationships/slide" Target="slides/slide122.xml"/><Relationship Id="rId132" Type="http://schemas.openxmlformats.org/officeDocument/2006/relationships/slide" Target="slides/slide123.xml"/><Relationship Id="rId133" Type="http://schemas.openxmlformats.org/officeDocument/2006/relationships/slide" Target="slides/slide124.xml"/><Relationship Id="rId134" Type="http://schemas.openxmlformats.org/officeDocument/2006/relationships/slide" Target="slides/slide125.xml"/><Relationship Id="rId135" Type="http://schemas.openxmlformats.org/officeDocument/2006/relationships/slide" Target="slides/slide126.xml"/><Relationship Id="rId136" Type="http://schemas.openxmlformats.org/officeDocument/2006/relationships/slide" Target="slides/slide127.xml"/><Relationship Id="rId137" Type="http://schemas.openxmlformats.org/officeDocument/2006/relationships/slide" Target="slides/slide128.xml"/><Relationship Id="rId138" Type="http://schemas.openxmlformats.org/officeDocument/2006/relationships/slide" Target="slides/slide129.xml"/><Relationship Id="rId139" Type="http://schemas.openxmlformats.org/officeDocument/2006/relationships/slide" Target="slides/slide130.xml"/><Relationship Id="rId140" Type="http://schemas.openxmlformats.org/officeDocument/2006/relationships/slide" Target="slides/slide131.xml"/><Relationship Id="rId141" Type="http://schemas.openxmlformats.org/officeDocument/2006/relationships/slide" Target="slides/slide132.xml"/><Relationship Id="rId142" Type="http://schemas.openxmlformats.org/officeDocument/2006/relationships/slide" Target="slides/slide133.xml"/><Relationship Id="rId143" Type="http://schemas.openxmlformats.org/officeDocument/2006/relationships/slide" Target="slides/slide134.xml"/><Relationship Id="rId144" Type="http://schemas.openxmlformats.org/officeDocument/2006/relationships/slide" Target="slides/slide135.xml"/><Relationship Id="rId145" Type="http://schemas.openxmlformats.org/officeDocument/2006/relationships/slide" Target="slides/slide136.xml"/><Relationship Id="rId146" Type="http://schemas.openxmlformats.org/officeDocument/2006/relationships/slide" Target="slides/slide137.xml"/><Relationship Id="rId147" Type="http://schemas.openxmlformats.org/officeDocument/2006/relationships/slide" Target="slides/slide2.xml"/><Relationship Id="rId148" Type="http://schemas.openxmlformats.org/officeDocument/2006/relationships/slide" Target="slides/slide3.xml"/><Relationship Id="rId149" Type="http://schemas.openxmlformats.org/officeDocument/2006/relationships/slide" Target="slides/slide4.xml"/><Relationship Id="rId150" Type="http://schemas.openxmlformats.org/officeDocument/2006/relationships/slide" Target="slides/slide5.xml"/><Relationship Id="rId151" Type="http://schemas.openxmlformats.org/officeDocument/2006/relationships/slide" Target="slides/slide6.xml"/><Relationship Id="rId152" Type="http://schemas.openxmlformats.org/officeDocument/2006/relationships/slide" Target="slides/slide7.xml"/><Relationship Id="rId153" Type="http://schemas.openxmlformats.org/officeDocument/2006/relationships/slide" Target="slides/slide8.xml"/><Relationship Id="rId154" Type="http://schemas.openxmlformats.org/officeDocument/2006/relationships/slide" Target="slides/slide9.xml"/><Relationship Id="rId155" Type="http://schemas.openxmlformats.org/officeDocument/2006/relationships/slide" Target="slides/slide10.xml"/><Relationship Id="rId156" Type="http://schemas.openxmlformats.org/officeDocument/2006/relationships/slide" Target="slides/slide11.xml"/><Relationship Id="rId157" Type="http://schemas.openxmlformats.org/officeDocument/2006/relationships/slide" Target="slides/slide12.xml"/><Relationship Id="rId158" Type="http://schemas.openxmlformats.org/officeDocument/2006/relationships/slide" Target="slides/slide13.xml"/><Relationship Id="rId159" Type="http://schemas.openxmlformats.org/officeDocument/2006/relationships/slide" Target="slides/slide14.xml"/><Relationship Id="rId160" Type="http://schemas.openxmlformats.org/officeDocument/2006/relationships/slide" Target="slides/slide15.xml"/><Relationship Id="rId161" Type="http://schemas.openxmlformats.org/officeDocument/2006/relationships/slide" Target="slides/slide16.xml"/><Relationship Id="rId162" Type="http://schemas.openxmlformats.org/officeDocument/2006/relationships/slide" Target="slides/slide17.xml"/><Relationship Id="rId163" Type="http://schemas.openxmlformats.org/officeDocument/2006/relationships/slide" Target="slides/slide18.xml"/><Relationship Id="rId164" Type="http://schemas.openxmlformats.org/officeDocument/2006/relationships/slide" Target="slides/slide19.xml"/><Relationship Id="rId165" Type="http://schemas.openxmlformats.org/officeDocument/2006/relationships/slide" Target="slides/slide20.xml"/><Relationship Id="rId166" Type="http://schemas.openxmlformats.org/officeDocument/2006/relationships/slide" Target="slides/slide21.xml"/><Relationship Id="rId167" Type="http://schemas.openxmlformats.org/officeDocument/2006/relationships/slide" Target="slides/slide22.xml"/><Relationship Id="rId168" Type="http://schemas.openxmlformats.org/officeDocument/2006/relationships/slide" Target="slides/slide23.xml"/><Relationship Id="rId169" Type="http://schemas.openxmlformats.org/officeDocument/2006/relationships/slide" Target="slides/slide24.xml"/><Relationship Id="rId170" Type="http://schemas.openxmlformats.org/officeDocument/2006/relationships/slide" Target="slides/slide25.xml"/><Relationship Id="rId171" Type="http://schemas.openxmlformats.org/officeDocument/2006/relationships/slide" Target="slides/slide26.xml"/><Relationship Id="rId172" Type="http://schemas.openxmlformats.org/officeDocument/2006/relationships/slide" Target="slides/slide27.xml"/><Relationship Id="rId173" Type="http://schemas.openxmlformats.org/officeDocument/2006/relationships/slide" Target="slides/slide28.xml"/><Relationship Id="rId174" Type="http://schemas.openxmlformats.org/officeDocument/2006/relationships/slide" Target="slides/slide29.xml"/><Relationship Id="rId175" Type="http://schemas.openxmlformats.org/officeDocument/2006/relationships/slide" Target="slides/slide30.xml"/><Relationship Id="rId176" Type="http://schemas.openxmlformats.org/officeDocument/2006/relationships/slide" Target="slides/slide31.xml"/><Relationship Id="rId177" Type="http://schemas.openxmlformats.org/officeDocument/2006/relationships/slide" Target="slides/slide32.xml"/><Relationship Id="rId178" Type="http://schemas.openxmlformats.org/officeDocument/2006/relationships/slide" Target="slides/slide33.xml"/><Relationship Id="rId179" Type="http://schemas.openxmlformats.org/officeDocument/2006/relationships/slide" Target="slides/slide34.xml"/><Relationship Id="rId180" Type="http://schemas.openxmlformats.org/officeDocument/2006/relationships/slide" Target="slides/slide35.xml"/><Relationship Id="rId181" Type="http://schemas.openxmlformats.org/officeDocument/2006/relationships/slide" Target="slides/slide36.xml"/><Relationship Id="rId182" Type="http://schemas.openxmlformats.org/officeDocument/2006/relationships/slide" Target="slides/slide37.xml"/><Relationship Id="rId183" Type="http://schemas.openxmlformats.org/officeDocument/2006/relationships/slide" Target="slides/slide38.xml"/><Relationship Id="rId184" Type="http://schemas.openxmlformats.org/officeDocument/2006/relationships/slide" Target="slides/slide39.xml"/><Relationship Id="rId185" Type="http://schemas.openxmlformats.org/officeDocument/2006/relationships/slide" Target="slides/slide40.xml"/><Relationship Id="rId186" Type="http://schemas.openxmlformats.org/officeDocument/2006/relationships/slide" Target="slides/slide41.xml"/><Relationship Id="rId187" Type="http://schemas.openxmlformats.org/officeDocument/2006/relationships/slide" Target="slides/slide42.xml"/><Relationship Id="rId188" Type="http://schemas.openxmlformats.org/officeDocument/2006/relationships/slide" Target="slides/slide43.xml"/><Relationship Id="rId189" Type="http://schemas.openxmlformats.org/officeDocument/2006/relationships/slide" Target="slides/slide44.xml"/><Relationship Id="rId190" Type="http://schemas.openxmlformats.org/officeDocument/2006/relationships/slide" Target="slides/slide45.xml"/><Relationship Id="rId191" Type="http://schemas.openxmlformats.org/officeDocument/2006/relationships/slide" Target="slides/slide46.xml"/><Relationship Id="rId192" Type="http://schemas.openxmlformats.org/officeDocument/2006/relationships/slide" Target="slides/slide47.xml"/><Relationship Id="rId193" Type="http://schemas.openxmlformats.org/officeDocument/2006/relationships/slide" Target="slides/slide48.xml"/><Relationship Id="rId194" Type="http://schemas.openxmlformats.org/officeDocument/2006/relationships/slide" Target="slides/slide49.xml"/><Relationship Id="rId195" Type="http://schemas.openxmlformats.org/officeDocument/2006/relationships/slide" Target="slides/slide50.xml"/><Relationship Id="rId196" Type="http://schemas.openxmlformats.org/officeDocument/2006/relationships/slide" Target="slides/slide51.xml"/><Relationship Id="rId197" Type="http://schemas.openxmlformats.org/officeDocument/2006/relationships/slide" Target="slides/slide52.xml"/><Relationship Id="rId198" Type="http://schemas.openxmlformats.org/officeDocument/2006/relationships/slide" Target="slides/slide53.xml"/><Relationship Id="rId199" Type="http://schemas.openxmlformats.org/officeDocument/2006/relationships/slide" Target="slides/slide54.xml"/><Relationship Id="rId200" Type="http://schemas.openxmlformats.org/officeDocument/2006/relationships/slide" Target="slides/slide55.xml"/><Relationship Id="rId201" Type="http://schemas.openxmlformats.org/officeDocument/2006/relationships/slide" Target="slides/slide56.xml"/><Relationship Id="rId202" Type="http://schemas.openxmlformats.org/officeDocument/2006/relationships/slide" Target="slides/slide57.xml"/><Relationship Id="rId203" Type="http://schemas.openxmlformats.org/officeDocument/2006/relationships/slide" Target="slides/slide58.xml"/><Relationship Id="rId204" Type="http://schemas.openxmlformats.org/officeDocument/2006/relationships/slide" Target="slides/slide59.xml"/><Relationship Id="rId205" Type="http://schemas.openxmlformats.org/officeDocument/2006/relationships/slide" Target="slides/slide60.xml"/><Relationship Id="rId206" Type="http://schemas.openxmlformats.org/officeDocument/2006/relationships/slide" Target="slides/slide61.xml"/><Relationship Id="rId207" Type="http://schemas.openxmlformats.org/officeDocument/2006/relationships/slide" Target="slides/slide62.xml"/><Relationship Id="rId208" Type="http://schemas.openxmlformats.org/officeDocument/2006/relationships/slide" Target="slides/slide63.xml"/><Relationship Id="rId209" Type="http://schemas.openxmlformats.org/officeDocument/2006/relationships/slide" Target="slides/slide64.xml"/><Relationship Id="rId210" Type="http://schemas.openxmlformats.org/officeDocument/2006/relationships/slide" Target="slides/slide65.xml"/><Relationship Id="rId211" Type="http://schemas.openxmlformats.org/officeDocument/2006/relationships/slide" Target="slides/slide66.xml"/><Relationship Id="rId212" Type="http://schemas.openxmlformats.org/officeDocument/2006/relationships/slide" Target="slides/slide67.xml"/><Relationship Id="rId213" Type="http://schemas.openxmlformats.org/officeDocument/2006/relationships/slide" Target="slides/slide68.xml"/><Relationship Id="rId214" Type="http://schemas.openxmlformats.org/officeDocument/2006/relationships/slide" Target="slides/slide69.xml"/><Relationship Id="rId215" Type="http://schemas.openxmlformats.org/officeDocument/2006/relationships/slide" Target="slides/slide70.xml"/><Relationship Id="rId216" Type="http://schemas.openxmlformats.org/officeDocument/2006/relationships/slide" Target="slides/slide71.xml"/><Relationship Id="rId217" Type="http://schemas.openxmlformats.org/officeDocument/2006/relationships/slide" Target="slides/slide72.xml"/><Relationship Id="rId218" Type="http://schemas.openxmlformats.org/officeDocument/2006/relationships/slide" Target="slides/slide73.xml"/><Relationship Id="rId219" Type="http://schemas.openxmlformats.org/officeDocument/2006/relationships/slide" Target="slides/slide74.xml"/><Relationship Id="rId220" Type="http://schemas.openxmlformats.org/officeDocument/2006/relationships/slide" Target="slides/slide75.xml"/><Relationship Id="rId221" Type="http://schemas.openxmlformats.org/officeDocument/2006/relationships/slide" Target="slides/slide76.xml"/><Relationship Id="rId222" Type="http://schemas.openxmlformats.org/officeDocument/2006/relationships/slide" Target="slides/slide77.xml"/><Relationship Id="rId223" Type="http://schemas.openxmlformats.org/officeDocument/2006/relationships/slide" Target="slides/slide78.xml"/><Relationship Id="rId224" Type="http://schemas.openxmlformats.org/officeDocument/2006/relationships/slide" Target="slides/slide79.xml"/><Relationship Id="rId225" Type="http://schemas.openxmlformats.org/officeDocument/2006/relationships/slide" Target="slides/slide80.xml"/><Relationship Id="rId226" Type="http://schemas.openxmlformats.org/officeDocument/2006/relationships/slide" Target="slides/slide81.xml"/><Relationship Id="rId227" Type="http://schemas.openxmlformats.org/officeDocument/2006/relationships/slide" Target="slides/slide82.xml"/><Relationship Id="rId228" Type="http://schemas.openxmlformats.org/officeDocument/2006/relationships/slide" Target="slides/slide83.xml"/><Relationship Id="rId229" Type="http://schemas.openxmlformats.org/officeDocument/2006/relationships/slide" Target="slides/slide84.xml"/><Relationship Id="rId230" Type="http://schemas.openxmlformats.org/officeDocument/2006/relationships/slide" Target="slides/slide85.xml"/><Relationship Id="rId231" Type="http://schemas.openxmlformats.org/officeDocument/2006/relationships/slide" Target="slides/slide86.xml"/><Relationship Id="rId232" Type="http://schemas.openxmlformats.org/officeDocument/2006/relationships/slide" Target="slides/slide87.xml"/><Relationship Id="rId233" Type="http://schemas.openxmlformats.org/officeDocument/2006/relationships/slide" Target="slides/slide88.xml"/><Relationship Id="rId234" Type="http://schemas.openxmlformats.org/officeDocument/2006/relationships/slide" Target="slides/slide89.xml"/><Relationship Id="rId235" Type="http://schemas.openxmlformats.org/officeDocument/2006/relationships/slide" Target="slides/slide90.xml"/><Relationship Id="rId236" Type="http://schemas.openxmlformats.org/officeDocument/2006/relationships/slide" Target="slides/slide91.xml"/><Relationship Id="rId237" Type="http://schemas.openxmlformats.org/officeDocument/2006/relationships/slide" Target="slides/slide92.xml"/><Relationship Id="rId238" Type="http://schemas.openxmlformats.org/officeDocument/2006/relationships/slide" Target="slides/slide93.xml"/><Relationship Id="rId239" Type="http://schemas.openxmlformats.org/officeDocument/2006/relationships/slide" Target="slides/slide94.xml"/><Relationship Id="rId240" Type="http://schemas.openxmlformats.org/officeDocument/2006/relationships/slide" Target="slides/slide95.xml"/><Relationship Id="rId241" Type="http://schemas.openxmlformats.org/officeDocument/2006/relationships/slide" Target="slides/slide96.xml"/><Relationship Id="rId242" Type="http://schemas.openxmlformats.org/officeDocument/2006/relationships/slide" Target="slides/slide97.xml"/><Relationship Id="rId243" Type="http://schemas.openxmlformats.org/officeDocument/2006/relationships/slide" Target="slides/slide98.xml"/><Relationship Id="rId244" Type="http://schemas.openxmlformats.org/officeDocument/2006/relationships/slide" Target="slides/slide99.xml"/><Relationship Id="rId245" Type="http://schemas.openxmlformats.org/officeDocument/2006/relationships/slide" Target="slides/slide100.xml"/><Relationship Id="rId246" Type="http://schemas.openxmlformats.org/officeDocument/2006/relationships/notesMaster" Target="notesMasters/notesMaster1.xml"/><Relationship Id="rId247" Type="http://schemas.openxmlformats.org/officeDocument/2006/relationships/presProps" Target="presProps.xml"/><Relationship Id="rId248" Type="http://schemas.openxmlformats.org/officeDocument/2006/relationships/viewProps" Target="viewProps.xml"/><Relationship Id="rId249" Type="http://schemas.openxmlformats.org/officeDocument/2006/relationships/theme" Target="theme/theme1.xml"/><Relationship Id="rId250" Type="http://schemas.openxmlformats.org/officeDocument/2006/relationships/tableStyles" Target="tableStyles.xml"/></Relationships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>
                <a:solidFill>
                  <a:srgbClr val="4B2E83"/>
                </a:solidFill>
              </a:defRPr>
            </a:pPr>
            <a:r>
              <a:rPr lang="en-US" sz="1600">
                <a:solidFill>
                  <a:srgbClr val="4B2E83"/>
                </a:solidFill>
              </a:rPr>
              <a:t>Stress vs. number of dimensions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Stress</c:v>
          </c:tx>
          <c:spPr>
            <a:ln w="28575">
              <a:solidFill>
                <a:srgbClr val="D1578A"/>
              </a:solidFill>
            </a:ln>
          </c:spPr>
          <c:marker>
            <c:symbol val="circle"/>
            <c:size val="6"/>
            <c:spPr>
              <a:solidFill>
                <a:srgbClr val="4B2E83"/>
              </a:solidFill>
              <a:ln>
                <a:solidFill>
                  <a:srgbClr val="4B2E83"/>
                </a:solidFill>
              </a:ln>
            </c:spPr>
          </c:marker>
          <c:dLbls>
            <c:numFmt formatCode="0.0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strLit>
          </c:cat>
          <c:val>
            <c:numLit>
              <c:formatCode>General</c:formatCode>
              <c:ptCount val="5"/>
              <c:pt idx="0">
                <c:v>0.28000000000000003</c:v>
              </c:pt>
              <c:pt idx="1">
                <c:v>0.09</c:v>
              </c:pt>
              <c:pt idx="2">
                <c:v>0.05</c:v>
              </c:pt>
              <c:pt idx="3">
                <c:v>3.5000000000000003E-2</c:v>
              </c:pt>
              <c:pt idx="4">
                <c:v>2.8000000000000001E-2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98B6-5D44-B2BB-D44C858985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/>
                  <a:t>dimensions k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1400"/>
                </a:pPr>
                <a:r>
                  <a:rPr lang="en-US" sz="1400"/>
                  <a:t>stress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A</c:v>
          </c:tx>
          <c:spPr>
            <a:ln w="0">
              <a:noFill/>
            </a:ln>
          </c:spPr>
          <c:marker>
            <c:symbol val="circle"/>
            <c:size val="10"/>
            <c:spPr>
              <a:solidFill>
                <a:srgbClr val="4B2E83"/>
              </a:solidFill>
              <a:ln w="9525">
                <a:solidFill>
                  <a:srgbClr val="4B2E83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4B2E83"/>
                    </a:solidFill>
                  </a:defRPr>
                </a:pPr>
                <a:endParaRPr lang="en-US"/>
              </a:p>
            </c:txPr>
            <c:dLblPos val="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Lit>
              <c:formatCode>General</c:formatCode>
              <c:ptCount val="1"/>
              <c:pt idx="0">
                <c:v>2.121</c:v>
              </c:pt>
            </c:numLit>
          </c:xVal>
          <c:yVal>
            <c:numLit>
              <c:formatCode>General</c:formatCode>
              <c:ptCount val="1"/>
              <c:pt idx="0">
                <c:v>0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6F99-8041-B04E-86852E30A5DE}"/>
            </c:ext>
          </c:extLst>
        </c:ser>
        <c:ser>
          <c:idx val="1"/>
          <c:order val="1"/>
          <c:tx>
            <c:v>B</c:v>
          </c:tx>
          <c:spPr>
            <a:ln w="0">
              <a:noFill/>
            </a:ln>
          </c:spPr>
          <c:marker>
            <c:symbol val="circle"/>
            <c:size val="10"/>
            <c:spPr>
              <a:solidFill>
                <a:srgbClr val="00A7B5"/>
              </a:solidFill>
              <a:ln w="9525">
                <a:solidFill>
                  <a:srgbClr val="00A7B5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00A7B5"/>
                    </a:solidFill>
                  </a:defRPr>
                </a:pPr>
                <a:endParaRPr lang="en-US"/>
              </a:p>
            </c:txPr>
            <c:dLblPos val="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Lit>
              <c:formatCode>General</c:formatCode>
              <c:ptCount val="1"/>
              <c:pt idx="0">
                <c:v>-1.0609999999999999</c:v>
              </c:pt>
            </c:numLit>
          </c:xVal>
          <c:yVal>
            <c:numLit>
              <c:formatCode>General</c:formatCode>
              <c:ptCount val="1"/>
              <c:pt idx="0">
                <c:v>1.837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6F99-8041-B04E-86852E30A5DE}"/>
            </c:ext>
          </c:extLst>
        </c:ser>
        <c:ser>
          <c:idx val="2"/>
          <c:order val="2"/>
          <c:tx>
            <c:v>C</c:v>
          </c:tx>
          <c:spPr>
            <a:ln w="0">
              <a:noFill/>
            </a:ln>
          </c:spPr>
          <c:marker>
            <c:symbol val="circle"/>
            <c:size val="10"/>
            <c:spPr>
              <a:solidFill>
                <a:srgbClr val="D1578A"/>
              </a:solidFill>
              <a:ln w="9525">
                <a:solidFill>
                  <a:srgbClr val="D1578A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D1578A"/>
                    </a:solidFill>
                  </a:defRPr>
                </a:pPr>
                <a:endParaRPr lang="en-US"/>
              </a:p>
            </c:txPr>
            <c:dLblPos val="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Lit>
              <c:formatCode>General</c:formatCode>
              <c:ptCount val="1"/>
              <c:pt idx="0">
                <c:v>-1.0609999999999999</c:v>
              </c:pt>
            </c:numLit>
          </c:xVal>
          <c:yVal>
            <c:numLit>
              <c:formatCode>General</c:formatCode>
              <c:ptCount val="1"/>
              <c:pt idx="0">
                <c:v>-1.837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2-6F99-8041-B04E-86852E30A5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11"/>
        <c:axId val="522"/>
      </c:scatterChart>
      <c:valAx>
        <c:axId val="511"/>
        <c:scaling>
          <c:orientation val="minMax"/>
          <c:max val="2.7"/>
          <c:min val="-2.2000000000000002"/>
        </c:scaling>
        <c:delete val="0"/>
        <c:axPos val="b"/>
        <c:majorGridlines>
          <c:spPr>
            <a:ln w="9525">
              <a:solidFill>
                <a:srgbClr val="EAE6F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300" b="1">
                    <a:solidFill>
                      <a:srgbClr val="333333"/>
                    </a:solidFill>
                  </a:defRPr>
                </a:pPr>
                <a:r>
                  <a:rPr lang="en-US" sz="1300" b="1">
                    <a:solidFill>
                      <a:srgbClr val="333333"/>
                    </a:solidFill>
                  </a:rPr>
                  <a:t>Axis 1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666666"/>
                </a:solidFill>
              </a:defRPr>
            </a:pPr>
            <a:endParaRPr lang="en-US"/>
          </a:p>
        </c:txPr>
        <c:crossAx val="522"/>
        <c:crossesAt val="0"/>
        <c:crossBetween val="midCat"/>
        <c:majorUnit val="1"/>
      </c:valAx>
      <c:valAx>
        <c:axId val="522"/>
        <c:scaling>
          <c:orientation val="minMax"/>
          <c:max val="2.2999999999999998"/>
          <c:min val="-2.2999999999999998"/>
        </c:scaling>
        <c:delete val="0"/>
        <c:axPos val="l"/>
        <c:majorGridlines>
          <c:spPr>
            <a:ln w="9525">
              <a:solidFill>
                <a:srgbClr val="EAE6F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300" b="1">
                    <a:solidFill>
                      <a:srgbClr val="333333"/>
                    </a:solidFill>
                  </a:defRPr>
                </a:pPr>
                <a:r>
                  <a:rPr lang="en-US" sz="1300" b="1">
                    <a:solidFill>
                      <a:srgbClr val="333333"/>
                    </a:solidFill>
                  </a:rPr>
                  <a:t>Axis 2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666666"/>
                </a:solidFill>
              </a:defRPr>
            </a:pPr>
            <a:endParaRPr lang="en-US"/>
          </a:p>
        </c:txPr>
        <c:crossAx val="511"/>
        <c:crossesAt val="0"/>
        <c:crossBetween val="midCat"/>
        <c:majorUnit val="1"/>
      </c:valAx>
      <c:spPr>
        <a:noFill/>
        <a:ln>
          <a:noFill/>
        </a:ln>
      </c:spPr>
    </c:plotArea>
    <c:plotVisOnly val="1"/>
    <c:dispBlanksAs val="gap"/>
    <c:showDLblsOverMax val="1"/>
  </c:chart>
  <c:spPr>
    <a:solidFill>
      <a:srgbClr val="FFFFFF"/>
    </a:solidFill>
    <a:ln>
      <a:solidFill>
        <a:srgbClr val="B7A57A"/>
      </a:solidFill>
    </a:ln>
  </c:sp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v>Eigenvalue</c:v>
          </c:tx>
          <c:invertIfNegative val="1"/>
          <c:dPt>
            <c:idx val="0"/>
            <c:invertIfNegative val="0"/>
            <c:bubble3D val="0"/>
            <c:spPr>
              <a:solidFill>
                <a:srgbClr val="4B2E8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891-B044-8148-735A20B5AB31}"/>
              </c:ext>
            </c:extLst>
          </c:dPt>
          <c:dPt>
            <c:idx val="1"/>
            <c:invertIfNegative val="0"/>
            <c:bubble3D val="0"/>
            <c:spPr>
              <a:solidFill>
                <a:srgbClr val="00A7B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9891-B044-8148-735A20B5AB31}"/>
              </c:ext>
            </c:extLst>
          </c:dPt>
          <c:dPt>
            <c:idx val="2"/>
            <c:invertIfNegative val="0"/>
            <c:bubble3D val="0"/>
            <c:spPr>
              <a:solidFill>
                <a:srgbClr val="7AB64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9891-B044-8148-735A20B5AB31}"/>
              </c:ext>
            </c:extLst>
          </c:dPt>
          <c:dPt>
            <c:idx val="3"/>
            <c:invertIfNegative val="0"/>
            <c:bubble3D val="0"/>
            <c:spPr>
              <a:solidFill>
                <a:srgbClr val="D1578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9891-B044-8148-735A20B5AB31}"/>
              </c:ext>
            </c:extLst>
          </c:dPt>
          <c:dPt>
            <c:idx val="4"/>
            <c:invertIfNegative val="0"/>
            <c:bubble3D val="0"/>
            <c:spPr>
              <a:solidFill>
                <a:srgbClr val="D1578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9891-B044-8148-735A20B5AB31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300" b="1">
                    <a:solidFill>
                      <a:srgbClr val="333333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λ₁</c:v>
              </c:pt>
              <c:pt idx="1">
                <c:v>λ₂</c:v>
              </c:pt>
              <c:pt idx="2">
                <c:v>λ₃</c:v>
              </c:pt>
              <c:pt idx="3">
                <c:v>λ₄</c:v>
              </c:pt>
              <c:pt idx="4">
                <c:v>λ₅</c:v>
              </c:pt>
            </c:strLit>
          </c:cat>
          <c:val>
            <c:numLit>
              <c:formatCode>General</c:formatCode>
              <c:ptCount val="5"/>
              <c:pt idx="0">
                <c:v>8.1999999999999993</c:v>
              </c:pt>
              <c:pt idx="1">
                <c:v>3.1</c:v>
              </c:pt>
              <c:pt idx="2">
                <c:v>0.4</c:v>
              </c:pt>
              <c:pt idx="3">
                <c:v>-0.05</c:v>
              </c:pt>
              <c:pt idx="4">
                <c:v>-0.65</c:v>
              </c:pt>
            </c:numLit>
          </c:val>
          <c:extLst>
            <c:ext xmlns:c16="http://schemas.microsoft.com/office/drawing/2014/chart" uri="{C3380CC4-5D6E-409C-BE32-E72D297353CC}">
              <c16:uniqueId val="{0000000A-9891-B044-8148-735A20B5AB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11"/>
        <c:axId val="722"/>
      </c:barChart>
      <c:catAx>
        <c:axId val="7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txPr>
          <a:bodyPr/>
          <a:lstStyle/>
          <a:p>
            <a:pPr>
              <a:defRPr sz="1400" b="1">
                <a:solidFill>
                  <a:srgbClr val="333333"/>
                </a:solidFill>
              </a:defRPr>
            </a:pPr>
            <a:endParaRPr lang="en-US"/>
          </a:p>
        </c:txPr>
        <c:crossAx val="722"/>
        <c:crosses val="autoZero"/>
        <c:auto val="1"/>
        <c:lblAlgn val="ctr"/>
        <c:lblOffset val="100"/>
        <c:noMultiLvlLbl val="0"/>
      </c:catAx>
      <c:valAx>
        <c:axId val="722"/>
        <c:scaling>
          <c:orientation val="minMax"/>
          <c:max val="9"/>
          <c:min val="-2"/>
        </c:scaling>
        <c:delete val="0"/>
        <c:axPos val="l"/>
        <c:majorGridlines>
          <c:spPr>
            <a:ln w="9525">
              <a:solidFill>
                <a:srgbClr val="EAE6F0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666666"/>
                </a:solidFill>
              </a:defRPr>
            </a:pPr>
            <a:endParaRPr lang="en-US"/>
          </a:p>
        </c:txPr>
        <c:crossAx val="711"/>
        <c:crosses val="autoZero"/>
        <c:crossBetween val="between"/>
        <c:majorUnit val="2"/>
      </c:valAx>
      <c:spPr>
        <a:noFill/>
        <a:ln>
          <a:noFill/>
        </a:ln>
      </c:spPr>
    </c:plotArea>
    <c:plotVisOnly val="1"/>
    <c:dispBlanksAs val="gap"/>
    <c:showDLblsOverMax val="1"/>
  </c:chart>
  <c:spPr>
    <a:solidFill>
      <a:srgbClr val="FFFFFF"/>
    </a:solidFill>
    <a:ln>
      <a:solidFill>
        <a:srgbClr val="B7A57A"/>
      </a:solidFill>
    </a:ln>
  </c:sp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Eigenvalue</c:v>
          </c:tx>
          <c:invertIfNegative val="1"/>
          <c:dPt>
            <c:idx val="0"/>
            <c:invertIfNegative val="0"/>
            <c:bubble3D val="0"/>
            <c:spPr>
              <a:solidFill>
                <a:srgbClr val="4B2E83"/>
              </a:solidFill>
            </c:spPr>
            <c:extLst>
              <c:ext xmlns:c16="http://schemas.microsoft.com/office/drawing/2014/chart" uri="{C3380CC4-5D6E-409C-BE32-E72D297353CC}">
                <c16:uniqueId val="{00000001-82C9-D24B-AE1B-97EF009A8CFE}"/>
              </c:ext>
            </c:extLst>
          </c:dPt>
          <c:dPt>
            <c:idx val="1"/>
            <c:invertIfNegative val="0"/>
            <c:bubble3D val="0"/>
            <c:spPr>
              <a:solidFill>
                <a:srgbClr val="00A7B5"/>
              </a:solidFill>
            </c:spPr>
            <c:extLst>
              <c:ext xmlns:c16="http://schemas.microsoft.com/office/drawing/2014/chart" uri="{C3380CC4-5D6E-409C-BE32-E72D297353CC}">
                <c16:uniqueId val="{00000003-82C9-D24B-AE1B-97EF009A8CFE}"/>
              </c:ext>
            </c:extLst>
          </c:dPt>
          <c:dPt>
            <c:idx val="2"/>
            <c:invertIfNegative val="0"/>
            <c:bubble3D val="0"/>
            <c:spPr>
              <a:solidFill>
                <a:srgbClr val="D1578A"/>
              </a:solidFill>
            </c:spPr>
            <c:extLst>
              <c:ext xmlns:c16="http://schemas.microsoft.com/office/drawing/2014/chart" uri="{C3380CC4-5D6E-409C-BE32-E72D297353CC}">
                <c16:uniqueId val="{00000005-82C9-D24B-AE1B-97EF009A8CFE}"/>
              </c:ext>
            </c:extLst>
          </c:dPt>
          <c:dPt>
            <c:idx val="3"/>
            <c:invertIfNegative val="0"/>
            <c:bubble3D val="0"/>
            <c:spPr>
              <a:solidFill>
                <a:srgbClr val="D1578A"/>
              </a:solidFill>
            </c:spPr>
            <c:extLst>
              <c:ext xmlns:c16="http://schemas.microsoft.com/office/drawing/2014/chart" uri="{C3380CC4-5D6E-409C-BE32-E72D297353CC}">
                <c16:uniqueId val="{00000007-82C9-D24B-AE1B-97EF009A8CFE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333333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λ₁</c:v>
              </c:pt>
              <c:pt idx="1">
                <c:v>λ₂</c:v>
              </c:pt>
              <c:pt idx="2">
                <c:v>λ₃</c:v>
              </c:pt>
              <c:pt idx="3">
                <c:v>λ₄</c:v>
              </c:pt>
            </c:strLit>
          </c:cat>
          <c:val>
            <c:numLit>
              <c:formatCode>General</c:formatCode>
              <c:ptCount val="4"/>
              <c:pt idx="0">
                <c:v>6</c:v>
              </c:pt>
              <c:pt idx="1">
                <c:v>2.5</c:v>
              </c:pt>
              <c:pt idx="2">
                <c:v>-1.8</c:v>
              </c:pt>
              <c:pt idx="3">
                <c:v>-2</c:v>
              </c:pt>
            </c:numLit>
          </c:val>
          <c:extLst>
            <c:ext xmlns:c16="http://schemas.microsoft.com/office/drawing/2014/chart" uri="{C3380CC4-5D6E-409C-BE32-E72D297353CC}">
              <c16:uniqueId val="{00000008-82C9-D24B-AE1B-97EF009A8C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711"/>
        <c:axId val="722"/>
      </c:barChart>
      <c:catAx>
        <c:axId val="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txPr>
          <a:bodyPr/>
          <a:lstStyle/>
          <a:p>
            <a:pPr>
              <a:defRPr sz="1300">
                <a:solidFill>
                  <a:srgbClr val="666666"/>
                </a:solidFill>
              </a:defRPr>
            </a:pPr>
            <a:endParaRPr lang="en-US"/>
          </a:p>
        </c:txPr>
        <c:crossAx val="722"/>
        <c:crosses val="autoZero"/>
        <c:auto val="1"/>
        <c:lblAlgn val="ctr"/>
        <c:lblOffset val="100"/>
        <c:noMultiLvlLbl val="1"/>
      </c:catAx>
      <c:valAx>
        <c:axId val="722"/>
        <c:scaling>
          <c:orientation val="minMax"/>
          <c:max val="6.5"/>
          <c:min val="-2.5"/>
        </c:scaling>
        <c:delete val="0"/>
        <c:axPos val="l"/>
        <c:majorGridlines>
          <c:spPr>
            <a:ln w="9525">
              <a:solidFill>
                <a:srgbClr val="EAE6F0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666666"/>
                </a:solidFill>
              </a:defRPr>
            </a:pPr>
            <a:endParaRPr lang="en-US"/>
          </a:p>
        </c:txPr>
        <c:crossAx val="711"/>
        <c:crosses val="autoZero"/>
        <c:crossBetween val="between"/>
        <c:majorUnit val="2"/>
      </c:valAx>
      <c:spPr>
        <a:noFill/>
        <a:ln>
          <a:noFill/>
        </a:ln>
      </c:spPr>
    </c:plotArea>
    <c:plotVisOnly val="1"/>
    <c:dispBlanksAs val="gap"/>
    <c:showDLblsOverMax val="1"/>
  </c:chart>
  <c:spPr>
    <a:solidFill>
      <a:srgbClr val="FFFFFF"/>
    </a:solidFill>
    <a:ln>
      <a:solidFill>
        <a:srgbClr val="B7A57A"/>
      </a:solidFill>
    </a:ln>
  </c:spPr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data</c:v>
          </c:tx>
          <c:spPr>
            <a:ln w="0">
              <a:noFill/>
            </a:ln>
          </c:spPr>
          <c:marker>
            <c:symbol val="circle"/>
            <c:size val="9"/>
            <c:spPr>
              <a:solidFill>
                <a:srgbClr val="4B2E83"/>
              </a:solidFill>
              <a:ln w="9525">
                <a:solidFill>
                  <a:srgbClr val="4B2E83"/>
                </a:solidFill>
              </a:ln>
            </c:spPr>
          </c:marker>
          <c:xVal>
            <c:numLit>
              <c:formatCode>General</c:formatCode>
              <c:ptCount val="4"/>
              <c:pt idx="0">
                <c:v>2</c:v>
              </c:pt>
              <c:pt idx="1">
                <c:v>-2</c:v>
              </c:pt>
              <c:pt idx="2">
                <c:v>1</c:v>
              </c:pt>
              <c:pt idx="3">
                <c:v>-1</c:v>
              </c:pt>
            </c:numLit>
          </c:xVal>
          <c:yVal>
            <c:numLit>
              <c:formatCode>General</c:formatCode>
              <c:ptCount val="4"/>
              <c:pt idx="0">
                <c:v>2</c:v>
              </c:pt>
              <c:pt idx="1">
                <c:v>-2</c:v>
              </c:pt>
              <c:pt idx="2">
                <c:v>1</c:v>
              </c:pt>
              <c:pt idx="3">
                <c:v>-1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7A89-A74C-8007-074875166B1E}"/>
            </c:ext>
          </c:extLst>
        </c:ser>
        <c:ser>
          <c:idx val="1"/>
          <c:order val="1"/>
          <c:tx>
            <c:v>y = x</c:v>
          </c:tx>
          <c:spPr>
            <a:ln w="19050">
              <a:solidFill>
                <a:srgbClr val="B7A57A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-2.4</c:v>
              </c:pt>
              <c:pt idx="1">
                <c:v>2.4</c:v>
              </c:pt>
            </c:numLit>
          </c:xVal>
          <c:yVal>
            <c:numLit>
              <c:formatCode>General</c:formatCode>
              <c:ptCount val="2"/>
              <c:pt idx="0">
                <c:v>-2.4</c:v>
              </c:pt>
              <c:pt idx="1">
                <c:v>2.4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7A89-A74C-8007-074875166B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11"/>
        <c:axId val="722"/>
      </c:scatterChart>
      <c:valAx>
        <c:axId val="711"/>
        <c:scaling>
          <c:orientation val="minMax"/>
          <c:max val="2.6"/>
          <c:min val="-2.6"/>
        </c:scaling>
        <c:delete val="0"/>
        <c:axPos val="b"/>
        <c:majorGridlines>
          <c:spPr>
            <a:ln w="9525">
              <a:solidFill>
                <a:srgbClr val="EAE6F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300" b="1">
                    <a:solidFill>
                      <a:srgbClr val="333333"/>
                    </a:solidFill>
                  </a:defRPr>
                </a:pPr>
                <a:r>
                  <a:rPr lang="en-US" sz="1300" b="1">
                    <a:solidFill>
                      <a:srgbClr val="333333"/>
                    </a:solidFill>
                  </a:rPr>
                  <a:t>x₁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666666"/>
                </a:solidFill>
              </a:defRPr>
            </a:pPr>
            <a:endParaRPr lang="en-US"/>
          </a:p>
        </c:txPr>
        <c:crossAx val="722"/>
        <c:crossesAt val="0"/>
        <c:crossBetween val="midCat"/>
        <c:majorUnit val="1"/>
      </c:valAx>
      <c:valAx>
        <c:axId val="722"/>
        <c:scaling>
          <c:orientation val="minMax"/>
          <c:max val="2.6"/>
          <c:min val="-2.6"/>
        </c:scaling>
        <c:delete val="0"/>
        <c:axPos val="l"/>
        <c:majorGridlines>
          <c:spPr>
            <a:ln w="9525">
              <a:solidFill>
                <a:srgbClr val="EAE6F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300" b="1">
                    <a:solidFill>
                      <a:srgbClr val="333333"/>
                    </a:solidFill>
                  </a:defRPr>
                </a:pPr>
                <a:r>
                  <a:rPr lang="en-US" sz="1300" b="1">
                    <a:solidFill>
                      <a:srgbClr val="333333"/>
                    </a:solidFill>
                  </a:rPr>
                  <a:t>x₂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666666"/>
                </a:solidFill>
              </a:defRPr>
            </a:pPr>
            <a:endParaRPr lang="en-US"/>
          </a:p>
        </c:txPr>
        <c:crossAx val="711"/>
        <c:crossesAt val="0"/>
        <c:crossBetween val="midCat"/>
        <c:majorUnit val="1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spPr>
    <a:solidFill>
      <a:srgbClr val="FFFFFF"/>
    </a:solidFill>
    <a:ln>
      <a:solidFill>
        <a:srgbClr val="B7A57A"/>
      </a:solidFill>
    </a:ln>
  </c:sp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9E4F28-BF19-8E4B-A267-F456DA2B306E}" type="datetimeFigureOut">
              <a:rPr lang="en-US" smtClean="0"/>
              <a:t>6/19/26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15BD0-F2D7-F343-84F0-98B3430FB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807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15BD0-F2D7-F343-84F0-98B3430FBE6F}" type="slidenum">
              <a:rPr lang="en-US" smtClean="0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55300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TopAccentBar"/>
          <p:cNvSpPr/>
          <p:nvPr userDrawn="1"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GoldAccentLine"/>
          <p:cNvSpPr/>
          <p:nvPr userDrawn="1"/>
        </p:nvSpPr>
        <p:spPr>
          <a:xfrm>
            <a:off x="0" y="91440"/>
            <a:ext cx="12192000" cy="27432"/>
          </a:xfrm>
          <a:prstGeom prst="rect">
            <a:avLst/>
          </a:prstGeom>
          <a:solidFill>
            <a:srgbClr val="F2C0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BottomAccentBar"/>
          <p:cNvSpPr/>
          <p:nvPr userDrawn="1"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1" name="BCTop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2" name="BCSilverLine"/>
          <p:cNvSpPr/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3" name="BCBottomBar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4" name="BCLogo"/>
          <p:cNvSpPr/>
          <p:nvPr/>
        </p:nvSpPr>
        <p:spPr>
          <a:xfrm>
            <a:off x="9144000" y="64008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91440" bIns="0" anchor="ctr" anchorCtr="0"/>
          <a:lstStyle/>
          <a:p>
            <a:pPr algn="r"/>
            <a:endParaRPr lang="en-US" sz="900" b="1" spc="200" dirty="0">
              <a:solidFill>
                <a:srgbClr val="4B2E83"/>
              </a:solidFill>
              <a:latin typeface="Arial"/>
            </a:endParaRPr>
          </a:p>
        </p:txBody>
      </p:sp>
      <p:sp>
        <p:nvSpPr>
          <p:cNvPr id="2010" name="AuthorInfo"/>
          <p:cNvSpPr/>
          <p:nvPr/>
        </p:nvSpPr>
        <p:spPr>
          <a:xfrm>
            <a:off x="152400" y="6400800"/>
            <a:ext cx="85344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/>
          <a:p>
            <a:pPr algn="l"/>
            <a:r>
              <a:rPr lang="en-US" sz="900" dirty="0">
                <a:solidFill>
                  <a:srgbClr val="4B2E83"/>
                </a:solidFill>
                <a:latin typeface="+mn-lt"/>
              </a:rPr>
              <a:t>Pedro Albuquerque, PhD (</a:t>
            </a:r>
            <a:r>
              <a:rPr lang="en-US" sz="900" dirty="0" err="1">
                <a:solidFill>
                  <a:srgbClr val="4B2E83"/>
                </a:solidFill>
                <a:latin typeface="+mn-lt"/>
              </a:rPr>
              <a:t>pedroalb@uwb.edu</a:t>
            </a:r>
            <a:r>
              <a:rPr lang="en-US" sz="900" dirty="0">
                <a:solidFill>
                  <a:srgbClr val="4B2E83"/>
                </a:solidFill>
                <a:latin typeface="+mn-lt"/>
              </a:rPr>
              <a:t>)</a:t>
            </a:r>
          </a:p>
        </p:txBody>
      </p:sp>
      <p:pic>
        <p:nvPicPr>
          <p:cNvPr id="9" name="Picture 8" descr="A purple letters on a black background&#10;&#10;AI-generated content may be incorrect.">
            <a:extLst>
              <a:ext uri="{FF2B5EF4-FFF2-40B4-BE49-F238E27FC236}">
                <a16:creationId xmlns:a16="http://schemas.microsoft.com/office/drawing/2014/main" id="{E462ACF0-778E-E7EE-EC6D-064CC249F90F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72600" y="6473509"/>
            <a:ext cx="2743200" cy="21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7" r:id="rId2"/>
    <p:sldLayoutId id="2147483739" r:id="rId3"/>
    <p:sldLayoutId id="2147483740" r:id="rId4"/>
    <p:sldLayoutId id="2147483741" r:id="rId5"/>
    <p:sldLayoutId id="214748374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4B2E8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D374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D374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D374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2D3748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6.png"/><Relationship Id="rId3" Type="http://schemas.openxmlformats.org/officeDocument/2006/relationships/image" Target="../media/image2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5.png"/><Relationship Id="rId3" Type="http://schemas.openxmlformats.org/officeDocument/2006/relationships/image" Target="../media/image2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1.png"/><Relationship Id="rId3" Type="http://schemas.openxmlformats.org/officeDocument/2006/relationships/chart" Target="../charts/chart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1.png"/><Relationship Id="rId3" Type="http://schemas.openxmlformats.org/officeDocument/2006/relationships/chart" Target="../charts/chart1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7.png"/><Relationship Id="rId3" Type="http://schemas.openxmlformats.org/officeDocument/2006/relationships/image" Target="../media/image24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4.png"/><Relationship Id="rId3" Type="http://schemas.openxmlformats.org/officeDocument/2006/relationships/image" Target="../media/image25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8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9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1.png"/><Relationship Id="rId3" Type="http://schemas.openxmlformats.org/officeDocument/2006/relationships/chart" Target="../charts/chart1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2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3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4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7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8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9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0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2.png"/><Relationship Id="rId3" Type="http://schemas.openxmlformats.org/officeDocument/2006/relationships/chart" Target="../charts/chart1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4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6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8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9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0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3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4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6E1949D-BD21-C84B-B9A8-F1B9CC2DE0C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D029BD-08C1-F448-9366-6BBE06BDCB1F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Multidimensional Scaling — The Core Idea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0D0EEB-9496-784E-A394-27F74E6C1879}"/>
              </a:ext>
            </a:extLst>
          </p:cNvPr>
          <p:cNvSpPr txBox="1"/>
          <p:nvPr/>
        </p:nvSpPr>
        <p:spPr>
          <a:xfrm>
            <a:off x="762000" y="14732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85754D"/>
                </a:solidFill>
              </a:rPr>
              <a:t>MDS works backwards from PCA: given only a table of pairwise distances (or dissimilarities) between objects, place them as points in a low-dimensional space so that the plotted distances match the given ones as closely as possible.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DEA7619-C781-D342-887E-E68331B66408}"/>
              </a:ext>
            </a:extLst>
          </p:cNvPr>
          <p:cNvSpPr/>
          <p:nvPr/>
        </p:nvSpPr>
        <p:spPr>
          <a:xfrm>
            <a:off x="762000" y="2184400"/>
            <a:ext cx="3429000" cy="1498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30996D-5148-9B43-A0F9-BD3C945FBC03}"/>
              </a:ext>
            </a:extLst>
          </p:cNvPr>
          <p:cNvSpPr txBox="1"/>
          <p:nvPr/>
        </p:nvSpPr>
        <p:spPr>
          <a:xfrm>
            <a:off x="939800" y="23368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451D41-B6FF-F241-A5D2-3ACC011F70CA}"/>
              </a:ext>
            </a:extLst>
          </p:cNvPr>
          <p:cNvSpPr txBox="1"/>
          <p:nvPr/>
        </p:nvSpPr>
        <p:spPr>
          <a:xfrm>
            <a:off x="939800" y="2717800"/>
            <a:ext cx="30734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An n×n distance / dissimilarity matrix D. No coordinates needed — distances alone.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41DB41B-3933-BC48-BAD7-8D522377888E}"/>
              </a:ext>
            </a:extLst>
          </p:cNvPr>
          <p:cNvSpPr/>
          <p:nvPr/>
        </p:nvSpPr>
        <p:spPr>
          <a:xfrm>
            <a:off x="4381500" y="2184400"/>
            <a:ext cx="3429000" cy="1498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C57D53-A710-B64B-83A2-8637849DE43E}"/>
              </a:ext>
            </a:extLst>
          </p:cNvPr>
          <p:cNvSpPr txBox="1"/>
          <p:nvPr/>
        </p:nvSpPr>
        <p:spPr>
          <a:xfrm>
            <a:off x="4559300" y="23368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5D0D9D-3EFD-C744-BD5A-DD0B232DFABB}"/>
              </a:ext>
            </a:extLst>
          </p:cNvPr>
          <p:cNvSpPr txBox="1"/>
          <p:nvPr/>
        </p:nvSpPr>
        <p:spPr>
          <a:xfrm>
            <a:off x="4559300" y="2717800"/>
            <a:ext cx="30734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Find coordinates X ∈ ℝⁿˣᵏ (usually k=2) whose pairwise distances ≈ D.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5C0E408-DC93-C546-82F8-8D6F6607270F}"/>
              </a:ext>
            </a:extLst>
          </p:cNvPr>
          <p:cNvSpPr/>
          <p:nvPr/>
        </p:nvSpPr>
        <p:spPr>
          <a:xfrm>
            <a:off x="8001000" y="2184400"/>
            <a:ext cx="3429000" cy="1498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2C5A6B-E992-6E49-BD17-7A14CBC481F7}"/>
              </a:ext>
            </a:extLst>
          </p:cNvPr>
          <p:cNvSpPr txBox="1"/>
          <p:nvPr/>
        </p:nvSpPr>
        <p:spPr>
          <a:xfrm>
            <a:off x="8178800" y="23368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D1578A"/>
                </a:solidFill>
              </a:rPr>
              <a:t>Output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96A7DF-0690-7242-8EC8-506FD37FC6C9}"/>
              </a:ext>
            </a:extLst>
          </p:cNvPr>
          <p:cNvSpPr txBox="1"/>
          <p:nvPr/>
        </p:nvSpPr>
        <p:spPr>
          <a:xfrm>
            <a:off x="8178800" y="2717800"/>
            <a:ext cx="30734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A map where 'close in D' ⇒ 'close on the page'. Reveals hidden structure / groupings.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F9AA6C6-DC9E-5746-9616-3CADC5AD9F5E}"/>
              </a:ext>
            </a:extLst>
          </p:cNvPr>
          <p:cNvSpPr/>
          <p:nvPr/>
        </p:nvSpPr>
        <p:spPr>
          <a:xfrm>
            <a:off x="762000" y="3962400"/>
            <a:ext cx="10668000" cy="2108200"/>
          </a:xfrm>
          <a:prstGeom prst="roundRect">
            <a:avLst/>
          </a:prstGeom>
          <a:solidFill>
            <a:srgbClr val="FBFAF7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125976-90D4-814D-A4BE-B2118AE060F8}"/>
              </a:ext>
            </a:extLst>
          </p:cNvPr>
          <p:cNvSpPr txBox="1"/>
          <p:nvPr/>
        </p:nvSpPr>
        <p:spPr>
          <a:xfrm>
            <a:off x="990600" y="41148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Two flavours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261339-780F-044F-ACBB-6BCE8A0A1A5F}"/>
              </a:ext>
            </a:extLst>
          </p:cNvPr>
          <p:cNvSpPr txBox="1"/>
          <p:nvPr/>
        </p:nvSpPr>
        <p:spPr>
          <a:xfrm>
            <a:off x="990600" y="4470400"/>
            <a:ext cx="102108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• Classical (metric) MDS — assumes distances are (approximately) Euclidean; solved in closed form by
   double-centering D² and taking an eigen-decomposition. Equivalent to PCA when D is Euclidean.
• Non-metric MDS — only the RANK ORDER of dissimilarities matters; finds coordinates by iteratively
   minimizing a stress function. Used for perceptual / preference data where exact distances aren't trusted.</a:t>
            </a:r>
          </a:p>
        </p:txBody>
      </p:sp>
    </p:spTree>
    <p:extLst>
      <p:ext uri="{BB962C8B-B14F-4D97-AF65-F5344CB8AC3E}">
        <p14:creationId xmlns:p14="http://schemas.microsoft.com/office/powerpoint/2010/main" val="3739417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AB8F3C-F561-FC44-A40E-E1CAC5911329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061383-11E6-8D4A-B7CC-DA39093BCAAD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MDS — From Distances to a Map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DEF52A-478D-BC47-81D1-E83AB71964A8}"/>
              </a:ext>
            </a:extLst>
          </p:cNvPr>
          <p:cNvSpPr txBox="1"/>
          <p:nvPr/>
        </p:nvSpPr>
        <p:spPr>
          <a:xfrm>
            <a:off x="762000" y="14732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The canonical demo: feed MDS a table of road distances between cities and it reconstructs their geographic layout — orientation and reflection are arbitrary.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FBDA98-3270-0949-BADD-99D97295CF80}"/>
              </a:ext>
            </a:extLst>
          </p:cNvPr>
          <p:cNvSpPr txBox="1"/>
          <p:nvPr/>
        </p:nvSpPr>
        <p:spPr>
          <a:xfrm>
            <a:off x="762000" y="21082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Input: distance matrix (km)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E69F510-4780-D74D-B0EA-E01202BB0D92}"/>
              </a:ext>
            </a:extLst>
          </p:cNvPr>
          <p:cNvSpPr/>
          <p:nvPr/>
        </p:nvSpPr>
        <p:spPr>
          <a:xfrm>
            <a:off x="762000" y="2413000"/>
            <a:ext cx="4826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90EFBF-62CF-004E-A2FE-40EED196484E}"/>
              </a:ext>
            </a:extLst>
          </p:cNvPr>
          <p:cNvSpPr txBox="1"/>
          <p:nvPr/>
        </p:nvSpPr>
        <p:spPr>
          <a:xfrm>
            <a:off x="939800" y="2565400"/>
            <a:ext cx="4470400" cy="162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onsolas"/>
                <a:cs typeface="Consolas"/>
              </a:rPr>
              <a:t>            Sea    Por    SF     LA
Seattle      0    280   1100  1550
Portland   280     0    870   1300
S.F.      1100   870     0     560
L.A.      1550  1300    560     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63D71D-6239-D644-BF19-588944CF27EE}"/>
              </a:ext>
            </a:extLst>
          </p:cNvPr>
          <p:cNvSpPr txBox="1"/>
          <p:nvPr/>
        </p:nvSpPr>
        <p:spPr>
          <a:xfrm>
            <a:off x="6096000" y="21082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D1578A"/>
                </a:solidFill>
              </a:rPr>
              <a:t>Output: recovered 2-D map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FEE0C6-3EC7-204A-AE5A-689DFB0DD3EE}"/>
              </a:ext>
            </a:extLst>
          </p:cNvPr>
          <p:cNvSpPr/>
          <p:nvPr/>
        </p:nvSpPr>
        <p:spPr>
          <a:xfrm>
            <a:off x="6096000" y="2413000"/>
            <a:ext cx="5334000" cy="1905000"/>
          </a:xfrm>
          <a:prstGeom prst="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89DBB60-DDDA-7547-8E4A-6D77375C5F0E}"/>
              </a:ext>
            </a:extLst>
          </p:cNvPr>
          <p:cNvSpPr/>
          <p:nvPr/>
        </p:nvSpPr>
        <p:spPr>
          <a:xfrm>
            <a:off x="7112000" y="2540000"/>
            <a:ext cx="139700" cy="1397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6989A4-BD01-AC48-B1EC-03A3484870BA}"/>
              </a:ext>
            </a:extLst>
          </p:cNvPr>
          <p:cNvSpPr txBox="1"/>
          <p:nvPr/>
        </p:nvSpPr>
        <p:spPr>
          <a:xfrm>
            <a:off x="7277100" y="2476500"/>
            <a:ext cx="10160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 b="1">
                <a:solidFill>
                  <a:srgbClr val="4B2E83"/>
                </a:solidFill>
              </a:rPr>
              <a:t>Seattle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E54D1A7-B5C7-0643-8B7D-60C8CC1A9C31}"/>
              </a:ext>
            </a:extLst>
          </p:cNvPr>
          <p:cNvSpPr/>
          <p:nvPr/>
        </p:nvSpPr>
        <p:spPr>
          <a:xfrm>
            <a:off x="7302500" y="2946400"/>
            <a:ext cx="139700" cy="1397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7F5643-70DA-D44E-9F2D-FCF7E72C3602}"/>
              </a:ext>
            </a:extLst>
          </p:cNvPr>
          <p:cNvSpPr txBox="1"/>
          <p:nvPr/>
        </p:nvSpPr>
        <p:spPr>
          <a:xfrm>
            <a:off x="7467600" y="2882900"/>
            <a:ext cx="10160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 b="1">
                <a:solidFill>
                  <a:srgbClr val="4B2E83"/>
                </a:solidFill>
              </a:rPr>
              <a:t>Portland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79B02A0-7ED1-9742-A4B1-DB5F22E091F9}"/>
              </a:ext>
            </a:extLst>
          </p:cNvPr>
          <p:cNvSpPr/>
          <p:nvPr/>
        </p:nvSpPr>
        <p:spPr>
          <a:xfrm>
            <a:off x="8128000" y="3683000"/>
            <a:ext cx="139700" cy="1397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2BBA9B-7F5A-154F-B9CD-A24D46F27C7C}"/>
              </a:ext>
            </a:extLst>
          </p:cNvPr>
          <p:cNvSpPr txBox="1"/>
          <p:nvPr/>
        </p:nvSpPr>
        <p:spPr>
          <a:xfrm>
            <a:off x="8293100" y="3619500"/>
            <a:ext cx="10160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 b="1">
                <a:solidFill>
                  <a:srgbClr val="D1578A"/>
                </a:solidFill>
              </a:rPr>
              <a:t>S.F.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B613AF9-CD60-7840-8D83-E7ECC6F903F0}"/>
              </a:ext>
            </a:extLst>
          </p:cNvPr>
          <p:cNvSpPr/>
          <p:nvPr/>
        </p:nvSpPr>
        <p:spPr>
          <a:xfrm>
            <a:off x="8890000" y="4038600"/>
            <a:ext cx="139700" cy="1397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1575FE-1425-9743-8A3F-52139D13EAE1}"/>
              </a:ext>
            </a:extLst>
          </p:cNvPr>
          <p:cNvSpPr txBox="1"/>
          <p:nvPr/>
        </p:nvSpPr>
        <p:spPr>
          <a:xfrm>
            <a:off x="9055100" y="3975100"/>
            <a:ext cx="10160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 b="1">
                <a:solidFill>
                  <a:srgbClr val="D1578A"/>
                </a:solidFill>
              </a:rPr>
              <a:t>L.A.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1CE62FD-A52D-3C48-8380-F81B3310839D}"/>
              </a:ext>
            </a:extLst>
          </p:cNvPr>
          <p:cNvSpPr/>
          <p:nvPr/>
        </p:nvSpPr>
        <p:spPr>
          <a:xfrm>
            <a:off x="762000" y="4521200"/>
            <a:ext cx="10668000" cy="1549400"/>
          </a:xfrm>
          <a:prstGeom prst="roundRect">
            <a:avLst/>
          </a:prstGeom>
          <a:solidFill>
            <a:srgbClr val="FBF1F5"/>
          </a:solidFill>
          <a:ln w="15875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DE3EA5-BC8E-9D45-81CA-1413314F9815}"/>
              </a:ext>
            </a:extLst>
          </p:cNvPr>
          <p:cNvSpPr txBox="1"/>
          <p:nvPr/>
        </p:nvSpPr>
        <p:spPr>
          <a:xfrm>
            <a:off x="990600" y="46482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C03070"/>
                </a:solidFill>
              </a:rPr>
              <a:t>Reading an MDS map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816E73-6278-1F47-B4EE-E18DCA6AF9AA}"/>
              </a:ext>
            </a:extLst>
          </p:cNvPr>
          <p:cNvSpPr txBox="1"/>
          <p:nvPr/>
        </p:nvSpPr>
        <p:spPr>
          <a:xfrm>
            <a:off x="990600" y="4978400"/>
            <a:ext cx="102108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• Only relative distances are meaningful — the whole map can be rotated, reflected, or shifted freely.
• Axes have no intrinsic units or names; don't interpret them like PCA loadings unless you add side data.
• Check goodness-of-fit (stress) before trusting the picture — a low-stress 2-D solution means distances are well preserved.</a:t>
            </a:r>
          </a:p>
        </p:txBody>
      </p:sp>
    </p:spTree>
    <p:extLst>
      <p:ext uri="{BB962C8B-B14F-4D97-AF65-F5344CB8AC3E}">
        <p14:creationId xmlns:p14="http://schemas.microsoft.com/office/powerpoint/2010/main" val="4035544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E4504E-540D-3E47-AF1B-5C10C3657B5F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8FB3D-953D-A443-9A43-0B600BAE95CE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MDS — How Many Dimensions to Keep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37659F-8DD3-6448-B066-78CDA34B758A}"/>
              </a:ext>
            </a:extLst>
          </p:cNvPr>
          <p:cNvSpPr txBox="1"/>
          <p:nvPr/>
        </p:nvSpPr>
        <p:spPr>
          <a:xfrm>
            <a:off x="762000" y="1473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Choosing k trades off readability against fidelity. Three diagnostics guide the choice.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7F8BAC1-D9CE-9943-9DFD-0767E8B14E98}"/>
              </a:ext>
            </a:extLst>
          </p:cNvPr>
          <p:cNvSpPr/>
          <p:nvPr/>
        </p:nvSpPr>
        <p:spPr>
          <a:xfrm>
            <a:off x="762000" y="1930400"/>
            <a:ext cx="4699000" cy="863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FE9012-8473-9942-9ABF-448A10C48792}"/>
              </a:ext>
            </a:extLst>
          </p:cNvPr>
          <p:cNvSpPr txBox="1"/>
          <p:nvPr/>
        </p:nvSpPr>
        <p:spPr>
          <a:xfrm>
            <a:off x="939800" y="2032000"/>
            <a:ext cx="4343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Stress vs 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227D61-235A-F547-BEDB-BBBCE304B6BF}"/>
              </a:ext>
            </a:extLst>
          </p:cNvPr>
          <p:cNvSpPr txBox="1"/>
          <p:nvPr/>
        </p:nvSpPr>
        <p:spPr>
          <a:xfrm>
            <a:off x="939800" y="2311400"/>
            <a:ext cx="43434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Plot Kruskal's stress against k; pick the 'elbow' where adding a dimension stops helping.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957D653-C38D-AE4E-B8D5-50915F5A6CD3}"/>
              </a:ext>
            </a:extLst>
          </p:cNvPr>
          <p:cNvSpPr/>
          <p:nvPr/>
        </p:nvSpPr>
        <p:spPr>
          <a:xfrm>
            <a:off x="762000" y="2921000"/>
            <a:ext cx="4699000" cy="863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9AEA7B-018B-9848-B241-17AAB83A890E}"/>
              </a:ext>
            </a:extLst>
          </p:cNvPr>
          <p:cNvSpPr txBox="1"/>
          <p:nvPr/>
        </p:nvSpPr>
        <p:spPr>
          <a:xfrm>
            <a:off x="939800" y="3022600"/>
            <a:ext cx="4343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Stress thresholds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088B7D-AAD8-7B4B-95F1-68D71A0C2D3D}"/>
              </a:ext>
            </a:extLst>
          </p:cNvPr>
          <p:cNvSpPr txBox="1"/>
          <p:nvPr/>
        </p:nvSpPr>
        <p:spPr>
          <a:xfrm>
            <a:off x="939800" y="3302000"/>
            <a:ext cx="43434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Rule of thumb: stress ≤0.05 excellent, ≤0.10 good, ≤0.20 fair, &gt;0.20 poor.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219D49D-CFDE-4F49-A870-29623C26D336}"/>
              </a:ext>
            </a:extLst>
          </p:cNvPr>
          <p:cNvSpPr/>
          <p:nvPr/>
        </p:nvSpPr>
        <p:spPr>
          <a:xfrm>
            <a:off x="762000" y="3911600"/>
            <a:ext cx="4699000" cy="863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8B6AE1-B522-924F-9F40-58E1D0F60D38}"/>
              </a:ext>
            </a:extLst>
          </p:cNvPr>
          <p:cNvSpPr txBox="1"/>
          <p:nvPr/>
        </p:nvSpPr>
        <p:spPr>
          <a:xfrm>
            <a:off x="939800" y="4013200"/>
            <a:ext cx="4343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Eigenvalues (classical)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5093F9-6E6E-9C43-A811-65D68D5DBBA6}"/>
              </a:ext>
            </a:extLst>
          </p:cNvPr>
          <p:cNvSpPr txBox="1"/>
          <p:nvPr/>
        </p:nvSpPr>
        <p:spPr>
          <a:xfrm>
            <a:off x="939800" y="4292600"/>
            <a:ext cx="43434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In classical MDS, keep dims with large positive eigenvalues; negatives signal non-Euclidean 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37A4FB-971E-8E41-B786-40359FFCB0E5}"/>
              </a:ext>
            </a:extLst>
          </p:cNvPr>
          <p:cNvSpPr txBox="1"/>
          <p:nvPr/>
        </p:nvSpPr>
        <p:spPr>
          <a:xfrm>
            <a:off x="762000" y="4978400"/>
            <a:ext cx="4826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85754D"/>
                </a:solidFill>
              </a:rPr>
              <a:t>Stress generally falls as k rises; the elbow (here k=2) is the practical choice for a readable map.</a:t>
            </a:r>
          </a:p>
        </p:txBody>
      </p:sp>
      <p:graphicFrame>
        <p:nvGraphicFramePr>
          <p:cNvPr id="201" name="Chart 1"/>
          <p:cNvGraphicFramePr/>
          <p:nvPr/>
        </p:nvGraphicFramePr>
        <p:xfrm>
          <a:off x="5842000" y="1905000"/>
          <a:ext cx="5588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16141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EB3D1A-9957-184D-98E1-910B1C81AF0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C0966C-D9CD-9F4D-A658-416FE29B07F3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Classical MDS — Matrix Formulation (1)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68027D-8FA5-2146-BC2B-7A95F81242C2}"/>
              </a:ext>
            </a:extLst>
          </p:cNvPr>
          <p:cNvSpPr txBox="1"/>
          <p:nvPr/>
        </p:nvSpPr>
        <p:spPr>
          <a:xfrm>
            <a:off x="762000" y="14732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Classical MDS turns a distance matrix into an inner-product (Gram) matrix by 'double-centering', then reads off coordinates from its eigen-decomposition.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350977-4392-594A-95A0-5E064689391E}"/>
              </a:ext>
            </a:extLst>
          </p:cNvPr>
          <p:cNvSpPr txBox="1"/>
          <p:nvPr/>
        </p:nvSpPr>
        <p:spPr>
          <a:xfrm>
            <a:off x="762000" y="20320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Given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EBD40E7-19B3-5040-AD22-F1D6CC2BAD7F}"/>
              </a:ext>
            </a:extLst>
          </p:cNvPr>
          <p:cNvSpPr/>
          <p:nvPr/>
        </p:nvSpPr>
        <p:spPr>
          <a:xfrm>
            <a:off x="762000" y="2336800"/>
            <a:ext cx="5334000" cy="12192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AB8D39-EBA7-9E4B-94AB-BC6B90AC4978}"/>
              </a:ext>
            </a:extLst>
          </p:cNvPr>
          <p:cNvSpPr txBox="1"/>
          <p:nvPr/>
        </p:nvSpPr>
        <p:spPr>
          <a:xfrm>
            <a:off x="939800" y="2463800"/>
            <a:ext cx="49784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>
                <a:solidFill>
                  <a:srgbClr val="333333"/>
                </a:solidFill>
                <a:latin typeface="Cambria Math"/>
                <a:ea typeface="Cambria Math"/>
              </a:rPr>
              <a:t>Distance matrix D ∈ ℝⁿˣⁿ, entries dᵢⱼ ≥ 0.
Squared distances:  D⁽²⁾ with (D⁽²⁾)ᵢⱼ = dᵢⱼ².
Centering matrix:  J = I − (1/n) 11ᵀ.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F9DCEB-5195-7043-BA62-3675C7DDE0A1}"/>
              </a:ext>
            </a:extLst>
          </p:cNvPr>
          <p:cNvSpPr txBox="1"/>
          <p:nvPr/>
        </p:nvSpPr>
        <p:spPr>
          <a:xfrm>
            <a:off x="6350000" y="2032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Double-centering ⇒ Gram matrix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86D6F20-5630-D34B-BF30-4DDAD773551D}"/>
              </a:ext>
            </a:extLst>
          </p:cNvPr>
          <p:cNvSpPr/>
          <p:nvPr/>
        </p:nvSpPr>
        <p:spPr>
          <a:xfrm>
            <a:off x="6350000" y="2336800"/>
            <a:ext cx="5080000" cy="12192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C6B336-32B4-F240-B585-C14552BAE16F}"/>
              </a:ext>
            </a:extLst>
          </p:cNvPr>
          <p:cNvSpPr txBox="1"/>
          <p:nvPr/>
        </p:nvSpPr>
        <p:spPr>
          <a:xfrm>
            <a:off x="6527800" y="2463800"/>
            <a:ext cx="47244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>
                <a:solidFill>
                  <a:srgbClr val="333333"/>
                </a:solidFill>
                <a:latin typeface="Cambria Math"/>
                <a:ea typeface="Cambria Math"/>
              </a:rPr>
              <a:t>B = −½ · J D⁽²⁾ J
Then  Bᵢⱼ = ⟨xᵢ − x̄, xⱼ − x̄⟩
(centred inner products of the points).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CC1517-79C7-E144-AE68-0E7B7023676D}"/>
              </a:ext>
            </a:extLst>
          </p:cNvPr>
          <p:cNvSpPr txBox="1"/>
          <p:nvPr/>
        </p:nvSpPr>
        <p:spPr>
          <a:xfrm>
            <a:off x="762000" y="37592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Why this works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F7F137D-F37C-BA4B-9E39-E636E7680D27}"/>
              </a:ext>
            </a:extLst>
          </p:cNvPr>
          <p:cNvSpPr/>
          <p:nvPr/>
        </p:nvSpPr>
        <p:spPr>
          <a:xfrm>
            <a:off x="762000" y="4064000"/>
            <a:ext cx="10668000" cy="2006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5E0C4B-8564-A249-89A9-D30CEC5BCEFC}"/>
              </a:ext>
            </a:extLst>
          </p:cNvPr>
          <p:cNvSpPr txBox="1"/>
          <p:nvPr/>
        </p:nvSpPr>
        <p:spPr>
          <a:xfrm>
            <a:off x="939800" y="4191000"/>
            <a:ext cx="10312400" cy="180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>
                <a:solidFill>
                  <a:srgbClr val="333333"/>
                </a:solidFill>
                <a:latin typeface="Cambria Math"/>
                <a:ea typeface="Cambria Math"/>
              </a:rPr>
              <a:t>If the dᵢⱼ are Euclidean distances among points x₁,…,xₙ, then dᵢⱼ² = ‖xᵢ‖² + ‖xⱼ‖² − 2⟨xᵢ,xⱼ⟩.
Pre- and post-multiplying D⁽²⁾ by J subtracts the row mean and column mean (and adds back the grand mean),
which cancels the ‖xᵢ‖² and ‖xⱼ‖² terms and leaves exactly the centred inner products:
        B = X꜀ X꜀ᵀ ,   where X꜀ holds the centred coordinates.
So recovering coordinates from D reduces to factorizing the n×n matrix B — handled on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268354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4E751E-2FBB-8B45-B4C8-4ADCFCF3FF7F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6E1F0A-4A72-9044-97D8-97E5BEA63F3B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Classical MDS — Matrix Formulation (2)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2F306A-CB4D-2344-BDC8-ED0BBDFB21F0}"/>
              </a:ext>
            </a:extLst>
          </p:cNvPr>
          <p:cNvSpPr txBox="1"/>
          <p:nvPr/>
        </p:nvSpPr>
        <p:spPr>
          <a:xfrm>
            <a:off x="762000" y="15240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Eigen-decompose B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F84D094-55EF-C549-BF94-740687BAEE3C}"/>
              </a:ext>
            </a:extLst>
          </p:cNvPr>
          <p:cNvSpPr/>
          <p:nvPr/>
        </p:nvSpPr>
        <p:spPr>
          <a:xfrm>
            <a:off x="762000" y="1828800"/>
            <a:ext cx="5334000" cy="1498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D8BDF3-7313-884B-A3CD-96DFFEB96589}"/>
              </a:ext>
            </a:extLst>
          </p:cNvPr>
          <p:cNvSpPr txBox="1"/>
          <p:nvPr/>
        </p:nvSpPr>
        <p:spPr>
          <a:xfrm>
            <a:off x="939800" y="1955800"/>
            <a:ext cx="4978400" cy="1295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>
                <a:solidFill>
                  <a:srgbClr val="333333"/>
                </a:solidFill>
                <a:latin typeface="Cambria Math"/>
                <a:ea typeface="Cambria Math"/>
              </a:rPr>
              <a:t>B = V </a:t>
            </a:r>
            <a:r>
              <a:rPr lang="el-GR" sz="1450">
                <a:solidFill>
                  <a:srgbClr val="333333"/>
                </a:solidFill>
                <a:latin typeface="Cambria Math"/>
                <a:ea typeface="Cambria Math"/>
              </a:rPr>
              <a:t>Λ </a:t>
            </a:r>
            <a:r>
              <a:rPr lang="en-US" sz="1450">
                <a:solidFill>
                  <a:srgbClr val="333333"/>
                </a:solidFill>
                <a:latin typeface="Cambria Math"/>
                <a:ea typeface="Cambria Math"/>
              </a:rPr>
              <a:t>Vᵀ ,
</a:t>
            </a:r>
            <a:r>
              <a:rPr lang="el-GR" sz="1450">
                <a:solidFill>
                  <a:srgbClr val="333333"/>
                </a:solidFill>
                <a:latin typeface="Cambria Math"/>
                <a:ea typeface="Cambria Math"/>
              </a:rPr>
              <a:t>Λ = </a:t>
            </a:r>
            <a:r>
              <a:rPr lang="en-US" sz="1450">
                <a:solidFill>
                  <a:srgbClr val="333333"/>
                </a:solidFill>
                <a:latin typeface="Cambria Math"/>
                <a:ea typeface="Cambria Math"/>
              </a:rPr>
              <a:t>diag(</a:t>
            </a:r>
            <a:r>
              <a:rPr lang="el-GR" sz="1450">
                <a:solidFill>
                  <a:srgbClr val="333333"/>
                </a:solidFill>
                <a:latin typeface="Cambria Math"/>
                <a:ea typeface="Cambria Math"/>
              </a:rPr>
              <a:t>λ₁ ≥ λ₂ ≥ … ≥ λ</a:t>
            </a:r>
            <a:r>
              <a:rPr lang="en-US" sz="1450">
                <a:solidFill>
                  <a:srgbClr val="333333"/>
                </a:solidFill>
                <a:latin typeface="Cambria Math"/>
                <a:ea typeface="Cambria Math"/>
              </a:rPr>
              <a:t>ₙ),
V = orthonormal eigenvectors.
(B is symmetric ⇒ real eigenvalues.)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D0FFA1-E842-1942-B27C-E157945ACBE3}"/>
              </a:ext>
            </a:extLst>
          </p:cNvPr>
          <p:cNvSpPr txBox="1"/>
          <p:nvPr/>
        </p:nvSpPr>
        <p:spPr>
          <a:xfrm>
            <a:off x="6350000" y="1524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Coordinates in k dimensions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790C7CE-5089-7948-AE46-60ED6004DE3C}"/>
              </a:ext>
            </a:extLst>
          </p:cNvPr>
          <p:cNvSpPr/>
          <p:nvPr/>
        </p:nvSpPr>
        <p:spPr>
          <a:xfrm>
            <a:off x="6350000" y="1828800"/>
            <a:ext cx="5080000" cy="1498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44A02D-CE99-2B41-93B4-BD2F5D065087}"/>
              </a:ext>
            </a:extLst>
          </p:cNvPr>
          <p:cNvSpPr txBox="1"/>
          <p:nvPr/>
        </p:nvSpPr>
        <p:spPr>
          <a:xfrm>
            <a:off x="6527800" y="1955800"/>
            <a:ext cx="4724400" cy="1295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>
                <a:solidFill>
                  <a:srgbClr val="333333"/>
                </a:solidFill>
                <a:latin typeface="Cambria Math"/>
                <a:ea typeface="Cambria Math"/>
              </a:rPr>
              <a:t>Take the k largest POSITIVE </a:t>
            </a:r>
            <a:r>
              <a:rPr lang="el-GR" sz="1450">
                <a:solidFill>
                  <a:srgbClr val="333333"/>
                </a:solidFill>
                <a:latin typeface="Cambria Math"/>
                <a:ea typeface="Cambria Math"/>
              </a:rPr>
              <a:t>λ:
</a:t>
            </a:r>
            <a:r>
              <a:rPr lang="en-US" sz="1450">
                <a:solidFill>
                  <a:srgbClr val="333333"/>
                </a:solidFill>
                <a:latin typeface="Cambria Math"/>
                <a:ea typeface="Cambria Math"/>
              </a:rPr>
              <a:t>X = Vₖ </a:t>
            </a:r>
            <a:r>
              <a:rPr lang="el-GR" sz="1450">
                <a:solidFill>
                  <a:srgbClr val="333333"/>
                </a:solidFill>
                <a:latin typeface="Cambria Math"/>
                <a:ea typeface="Cambria Math"/>
              </a:rPr>
              <a:t>Λ</a:t>
            </a:r>
            <a:r>
              <a:rPr lang="en-US" sz="1450">
                <a:solidFill>
                  <a:srgbClr val="333333"/>
                </a:solidFill>
                <a:latin typeface="Cambria Math"/>
                <a:ea typeface="Cambria Math"/>
              </a:rPr>
              <a:t>ₖ^(1/2)    (n×k)
Row i of X = coordinates of point i.
k=2 gives the usual planar map.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4BF99A-8A60-364B-A3E7-2E9DE4CB40EF}"/>
              </a:ext>
            </a:extLst>
          </p:cNvPr>
          <p:cNvSpPr txBox="1"/>
          <p:nvPr/>
        </p:nvSpPr>
        <p:spPr>
          <a:xfrm>
            <a:off x="762000" y="3530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Goodness-of-fit &amp; caveats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0AF88E6-5BCC-BF42-A98A-35E4EFE35A75}"/>
              </a:ext>
            </a:extLst>
          </p:cNvPr>
          <p:cNvSpPr/>
          <p:nvPr/>
        </p:nvSpPr>
        <p:spPr>
          <a:xfrm>
            <a:off x="762000" y="3835400"/>
            <a:ext cx="10668000" cy="22352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245E61-C4B6-344B-8DE5-3D47B6B68530}"/>
              </a:ext>
            </a:extLst>
          </p:cNvPr>
          <p:cNvSpPr txBox="1"/>
          <p:nvPr/>
        </p:nvSpPr>
        <p:spPr>
          <a:xfrm>
            <a:off x="939800" y="3962400"/>
            <a:ext cx="103124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Variance-explained analogue:   GoF(k) = (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λ₁+…+λ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ₖ) /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ⱼ max(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ⱼ, 0).
Equivalence to PCA:  if D holds Euclidean distances of centred data, classical MDS coordinates equal the
PCA scores — same eigenvalues, same picture (up to rotation/reflection).
Negative eigenvalues:  appear when D is NOT Euclidean (e.g. road distances over terrain). Small negatives are
usually ignored; large ones warn that a low-dim Euclidean map distorts the data — consider non-metric MDS.
Sign/orientation of axes is arbitrary, exactly as in PCA and CA.</a:t>
            </a:r>
          </a:p>
        </p:txBody>
      </p:sp>
    </p:spTree>
    <p:extLst>
      <p:ext uri="{BB962C8B-B14F-4D97-AF65-F5344CB8AC3E}">
        <p14:creationId xmlns:p14="http://schemas.microsoft.com/office/powerpoint/2010/main" val="637005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5B4906-6428-AF47-8C05-C7A30D1BBC7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92EF9-9424-174B-A0E7-7E94C8091718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MDS — Computation 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AF88F6-04FB-9F49-B78D-1BB6365CE8F4}"/>
              </a:ext>
            </a:extLst>
          </p:cNvPr>
          <p:cNvSpPr txBox="1"/>
          <p:nvPr/>
        </p:nvSpPr>
        <p:spPr>
          <a:xfrm>
            <a:off x="762000" y="15240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Classical (metric) MDS — closed form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B41ABA1-5050-BB43-9442-19DD93547376}"/>
              </a:ext>
            </a:extLst>
          </p:cNvPr>
          <p:cNvSpPr/>
          <p:nvPr/>
        </p:nvSpPr>
        <p:spPr>
          <a:xfrm>
            <a:off x="762000" y="1879600"/>
            <a:ext cx="2540000" cy="1625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0CDF2EE-8A8D-9A46-8711-7B6C5FA672FE}"/>
              </a:ext>
            </a:extLst>
          </p:cNvPr>
          <p:cNvSpPr/>
          <p:nvPr/>
        </p:nvSpPr>
        <p:spPr>
          <a:xfrm>
            <a:off x="914400" y="2032000"/>
            <a:ext cx="406400" cy="406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1CF8B3-0B31-6847-848D-AE4D2F00C54A}"/>
              </a:ext>
            </a:extLst>
          </p:cNvPr>
          <p:cNvSpPr txBox="1"/>
          <p:nvPr/>
        </p:nvSpPr>
        <p:spPr>
          <a:xfrm>
            <a:off x="914400" y="2514600"/>
            <a:ext cx="22352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</a:rPr>
              <a:t>Square distances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5C6995-03F6-404E-9DB8-1BD67023FB9C}"/>
              </a:ext>
            </a:extLst>
          </p:cNvPr>
          <p:cNvSpPr txBox="1"/>
          <p:nvPr/>
        </p:nvSpPr>
        <p:spPr>
          <a:xfrm>
            <a:off x="914400" y="2971800"/>
            <a:ext cx="2235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  <a:latin typeface="Cambria Math"/>
                <a:ea typeface="Cambria Math"/>
              </a:rPr>
              <a:t>Form D⁽²⁾ with entries dᵢⱼ².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FECA1BB-CC05-DB46-808D-4642FE7D8C06}"/>
              </a:ext>
            </a:extLst>
          </p:cNvPr>
          <p:cNvSpPr/>
          <p:nvPr/>
        </p:nvSpPr>
        <p:spPr>
          <a:xfrm>
            <a:off x="3454400" y="1879600"/>
            <a:ext cx="2540000" cy="1625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1C11E80-E906-8F41-ACEC-5BEAE8CBB003}"/>
              </a:ext>
            </a:extLst>
          </p:cNvPr>
          <p:cNvSpPr/>
          <p:nvPr/>
        </p:nvSpPr>
        <p:spPr>
          <a:xfrm>
            <a:off x="3606800" y="2032000"/>
            <a:ext cx="406400" cy="4064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AC20DF-AF27-AC41-9205-72474957D081}"/>
              </a:ext>
            </a:extLst>
          </p:cNvPr>
          <p:cNvSpPr txBox="1"/>
          <p:nvPr/>
        </p:nvSpPr>
        <p:spPr>
          <a:xfrm>
            <a:off x="3606800" y="2514600"/>
            <a:ext cx="22352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0A7B5"/>
                </a:solidFill>
              </a:rPr>
              <a:t>Double-center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5ECE17-E76E-FA44-8C43-03C048A2F30F}"/>
              </a:ext>
            </a:extLst>
          </p:cNvPr>
          <p:cNvSpPr txBox="1"/>
          <p:nvPr/>
        </p:nvSpPr>
        <p:spPr>
          <a:xfrm>
            <a:off x="3606800" y="2971800"/>
            <a:ext cx="2235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  <a:latin typeface="Cambria Math"/>
                <a:ea typeface="Cambria Math"/>
              </a:rPr>
              <a:t>B = −½ J D⁽²⁾ J,  J = I − (1/n)11ᵀ.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246ECEC-8D23-8B4E-849C-EC25BDE7BC5E}"/>
              </a:ext>
            </a:extLst>
          </p:cNvPr>
          <p:cNvSpPr/>
          <p:nvPr/>
        </p:nvSpPr>
        <p:spPr>
          <a:xfrm>
            <a:off x="6146800" y="1879600"/>
            <a:ext cx="2540000" cy="1625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D9FAD7F-FDB0-6D43-BEF2-C7566566C875}"/>
              </a:ext>
            </a:extLst>
          </p:cNvPr>
          <p:cNvSpPr/>
          <p:nvPr/>
        </p:nvSpPr>
        <p:spPr>
          <a:xfrm>
            <a:off x="6299200" y="2032000"/>
            <a:ext cx="406400" cy="4064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8B4BAB-AB03-FD40-9F99-0002163D8DBC}"/>
              </a:ext>
            </a:extLst>
          </p:cNvPr>
          <p:cNvSpPr txBox="1"/>
          <p:nvPr/>
        </p:nvSpPr>
        <p:spPr>
          <a:xfrm>
            <a:off x="6299200" y="2514600"/>
            <a:ext cx="22352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7AB648"/>
                </a:solidFill>
              </a:rPr>
              <a:t>Eigen-decompose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444BD9-102A-F74F-8EAB-412064518029}"/>
              </a:ext>
            </a:extLst>
          </p:cNvPr>
          <p:cNvSpPr txBox="1"/>
          <p:nvPr/>
        </p:nvSpPr>
        <p:spPr>
          <a:xfrm>
            <a:off x="6299200" y="2971800"/>
            <a:ext cx="2235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  <a:latin typeface="Cambria Math"/>
                <a:ea typeface="Cambria Math"/>
              </a:rPr>
              <a:t>B = V</a:t>
            </a:r>
            <a:r>
              <a:rPr lang="el-GR" sz="1350">
                <a:solidFill>
                  <a:srgbClr val="333333"/>
                </a:solidFill>
                <a:latin typeface="Cambria Math"/>
                <a:ea typeface="Cambria Math"/>
              </a:rPr>
              <a:t>Λ</a:t>
            </a:r>
            <a:r>
              <a:rPr lang="en-US" sz="1350">
                <a:solidFill>
                  <a:srgbClr val="333333"/>
                </a:solidFill>
                <a:latin typeface="Cambria Math"/>
                <a:ea typeface="Cambria Math"/>
              </a:rPr>
              <a:t>Vᵀ; sort </a:t>
            </a:r>
            <a:r>
              <a:rPr lang="el-GR" sz="1350">
                <a:solidFill>
                  <a:srgbClr val="333333"/>
                </a:solidFill>
                <a:latin typeface="Cambria Math"/>
                <a:ea typeface="Cambria Math"/>
              </a:rPr>
              <a:t>λ </a:t>
            </a:r>
            <a:r>
              <a:rPr lang="en-US" sz="1350">
                <a:solidFill>
                  <a:srgbClr val="333333"/>
                </a:solidFill>
                <a:latin typeface="Cambria Math"/>
                <a:ea typeface="Cambria Math"/>
              </a:rPr>
              <a:t>descending.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51A0242-EF8F-D44F-B5FD-46DAD3F9512E}"/>
              </a:ext>
            </a:extLst>
          </p:cNvPr>
          <p:cNvSpPr/>
          <p:nvPr/>
        </p:nvSpPr>
        <p:spPr>
          <a:xfrm>
            <a:off x="8839200" y="1879600"/>
            <a:ext cx="2540000" cy="1625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1C62362-5FD0-AF48-BC84-7FF5D077A3E2}"/>
              </a:ext>
            </a:extLst>
          </p:cNvPr>
          <p:cNvSpPr/>
          <p:nvPr/>
        </p:nvSpPr>
        <p:spPr>
          <a:xfrm>
            <a:off x="8991600" y="2032000"/>
            <a:ext cx="406400" cy="4064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C52181-1473-7D42-B131-220593F3AA23}"/>
              </a:ext>
            </a:extLst>
          </p:cNvPr>
          <p:cNvSpPr txBox="1"/>
          <p:nvPr/>
        </p:nvSpPr>
        <p:spPr>
          <a:xfrm>
            <a:off x="8991600" y="2514600"/>
            <a:ext cx="22352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D1578A"/>
                </a:solidFill>
              </a:rPr>
              <a:t>Read coordinates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23F310-85DA-394A-BD5D-AA95DD7980BD}"/>
              </a:ext>
            </a:extLst>
          </p:cNvPr>
          <p:cNvSpPr txBox="1"/>
          <p:nvPr/>
        </p:nvSpPr>
        <p:spPr>
          <a:xfrm>
            <a:off x="8991600" y="2971800"/>
            <a:ext cx="2235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  <a:latin typeface="Cambria Math"/>
                <a:ea typeface="Cambria Math"/>
              </a:rPr>
              <a:t>X = Vₖ </a:t>
            </a:r>
            <a:r>
              <a:rPr lang="el-GR" sz="1350">
                <a:solidFill>
                  <a:srgbClr val="333333"/>
                </a:solidFill>
                <a:latin typeface="Cambria Math"/>
                <a:ea typeface="Cambria Math"/>
              </a:rPr>
              <a:t>Λ</a:t>
            </a:r>
            <a:r>
              <a:rPr lang="en-US" sz="1350">
                <a:solidFill>
                  <a:srgbClr val="333333"/>
                </a:solidFill>
                <a:latin typeface="Cambria Math"/>
                <a:ea typeface="Cambria Math"/>
              </a:rPr>
              <a:t>ₖ^{1/2} using k top positive </a:t>
            </a:r>
            <a:r>
              <a:rPr lang="el-GR" sz="1350">
                <a:solidFill>
                  <a:srgbClr val="333333"/>
                </a:solidFill>
                <a:latin typeface="Cambria Math"/>
                <a:ea typeface="Cambria Math"/>
              </a:rPr>
              <a:t>λ.</a:t>
            </a:r>
            <a:endParaRPr lang="en-US" sz="1350">
              <a:solidFill>
                <a:srgbClr val="333333"/>
              </a:solidFill>
              <a:latin typeface="Cambria Math"/>
              <a:ea typeface="Cambria Math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33A9EA-FD90-1D44-AE81-55816220E9B4}"/>
              </a:ext>
            </a:extLst>
          </p:cNvPr>
          <p:cNvSpPr txBox="1"/>
          <p:nvPr/>
        </p:nvSpPr>
        <p:spPr>
          <a:xfrm>
            <a:off x="762000" y="38100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D1578A"/>
                </a:solidFill>
              </a:rPr>
              <a:t>Non-metric MDS — iterative (SMACOF / Kruskal)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E40D2F9-F4FD-7B46-8230-6D2049E4F110}"/>
              </a:ext>
            </a:extLst>
          </p:cNvPr>
          <p:cNvSpPr/>
          <p:nvPr/>
        </p:nvSpPr>
        <p:spPr>
          <a:xfrm>
            <a:off x="762000" y="4114800"/>
            <a:ext cx="10668000" cy="1955800"/>
          </a:xfrm>
          <a:prstGeom prst="roundRect">
            <a:avLst/>
          </a:prstGeom>
          <a:solidFill>
            <a:srgbClr val="FBF1F5"/>
          </a:solidFill>
          <a:ln w="15875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5C4F12-96B0-5141-BB27-1C8CFF63458A}"/>
              </a:ext>
            </a:extLst>
          </p:cNvPr>
          <p:cNvSpPr txBox="1"/>
          <p:nvPr/>
        </p:nvSpPr>
        <p:spPr>
          <a:xfrm>
            <a:off x="990600" y="4267200"/>
            <a:ext cx="10210800" cy="167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1.  Initialize coordinates (often from classical MDS).
2.  Compute current map distances; fit a monotone regression of distances on the input dissimilarities
     (isotonic 'disparities' d̂ᵢⱼ that respect only the rank order).
3.  Update points to reduce  Stress = √[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Σ(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dᵢⱼ − d̂ᵢⱼ)² /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dᵢⱼ² ]  (gradient / majorization step).
4.  Repeat 2–3 until stress converges. Use several random starts to avoid local minima.</a:t>
            </a:r>
          </a:p>
        </p:txBody>
      </p:sp>
    </p:spTree>
    <p:extLst>
      <p:ext uri="{BB962C8B-B14F-4D97-AF65-F5344CB8AC3E}">
        <p14:creationId xmlns:p14="http://schemas.microsoft.com/office/powerpoint/2010/main" val="477492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423373D-7F75-D149-A65E-BB158EE37373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F0DB77-AB8C-1D41-88C5-7C581379CADB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Worked Example 1 — Classical MDS (Setup)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1A1A777-401A-A046-A471-A1362D5AB63F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MDS · Example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C4AD65-1FA8-284C-A448-269F341345EC}"/>
              </a:ext>
            </a:extLst>
          </p:cNvPr>
          <p:cNvSpPr txBox="1"/>
          <p:nvPr/>
        </p:nvSpPr>
        <p:spPr>
          <a:xfrm>
            <a:off x="762000" y="1473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Three objects with the distance matrix below. Build D⁽²⁾ and double-center to get B = −½ J D⁽²⁾ J.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C440BC-30A6-C14D-A9CC-AB11E54B5169}"/>
              </a:ext>
            </a:extLst>
          </p:cNvPr>
          <p:cNvSpPr txBox="1"/>
          <p:nvPr/>
        </p:nvSpPr>
        <p:spPr>
          <a:xfrm>
            <a:off x="762000" y="18796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Distances D and squares D⁽²⁾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EBDA594-A531-E243-BE0B-3652B8BA07CC}"/>
              </a:ext>
            </a:extLst>
          </p:cNvPr>
          <p:cNvSpPr/>
          <p:nvPr/>
        </p:nvSpPr>
        <p:spPr>
          <a:xfrm>
            <a:off x="762000" y="2184400"/>
            <a:ext cx="5334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D35115-796F-9C48-AAF9-FB86BB8B8C1C}"/>
              </a:ext>
            </a:extLst>
          </p:cNvPr>
          <p:cNvSpPr txBox="1"/>
          <p:nvPr/>
        </p:nvSpPr>
        <p:spPr>
          <a:xfrm>
            <a:off x="939800" y="2311400"/>
            <a:ext cx="4978400" cy="138499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        A    B    C
A      0    3    3
B      3    0    3        (equilateral,
C      3    3    0         side 3)
D⁽²⁾ = [0 9 9 ; 9 0 9 ; 9 9 0]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02DF9B-E71B-5E4E-A99C-39A082905BA5}"/>
              </a:ext>
            </a:extLst>
          </p:cNvPr>
          <p:cNvSpPr txBox="1"/>
          <p:nvPr/>
        </p:nvSpPr>
        <p:spPr>
          <a:xfrm>
            <a:off x="6350000" y="18796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Double-centering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3E8603B-AA22-7146-9B6D-1DDDB68AB629}"/>
              </a:ext>
            </a:extLst>
          </p:cNvPr>
          <p:cNvSpPr/>
          <p:nvPr/>
        </p:nvSpPr>
        <p:spPr>
          <a:xfrm>
            <a:off x="6350000" y="2184400"/>
            <a:ext cx="5080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479F7B-9258-5741-98B2-65D679284030}"/>
              </a:ext>
            </a:extLst>
          </p:cNvPr>
          <p:cNvSpPr txBox="1"/>
          <p:nvPr/>
        </p:nvSpPr>
        <p:spPr>
          <a:xfrm>
            <a:off x="6527800" y="2311400"/>
            <a:ext cx="4724400" cy="116955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J = I − (1/3)11ᵀ  (n=3)
Row/col means of D⁽²⁾ = 6; grand mean = 6.
Bᵢⱼ = −½(D⁽²⁾ᵢⱼ − rowᵢ − colⱼ + grand)
Diagonal: −½(0 − 6 − 6 + 6) = 3
Off-diag: −½(9 − 6 − 6 + 6) = −1.5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824BD2-E487-0342-803A-F99276748222}"/>
              </a:ext>
            </a:extLst>
          </p:cNvPr>
          <p:cNvSpPr txBox="1"/>
          <p:nvPr/>
        </p:nvSpPr>
        <p:spPr>
          <a:xfrm>
            <a:off x="762000" y="42672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Resulting Gram matrix B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5C03C06-B142-0347-B238-04834D9BAF15}"/>
              </a:ext>
            </a:extLst>
          </p:cNvPr>
          <p:cNvSpPr/>
          <p:nvPr/>
        </p:nvSpPr>
        <p:spPr>
          <a:xfrm>
            <a:off x="762000" y="4572000"/>
            <a:ext cx="10668000" cy="1498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8DD20B-378F-CE4F-869C-9F6832B9D41A}"/>
              </a:ext>
            </a:extLst>
          </p:cNvPr>
          <p:cNvSpPr txBox="1"/>
          <p:nvPr/>
        </p:nvSpPr>
        <p:spPr>
          <a:xfrm>
            <a:off x="939800" y="4699000"/>
            <a:ext cx="10312400" cy="116955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B = [  3.0   −1.5   −1.5 ;
      −1.5    3.0   −1.5 ;
      −1.5   −1.5    3.0 ]
Each row sums to 0 (a property guaranteed by double-centering — the points are centred at the origin).
Next slide: eigen-decompose B to obtain the 2-D coordinates of the three points.</a:t>
            </a:r>
          </a:p>
        </p:txBody>
      </p:sp>
    </p:spTree>
    <p:extLst>
      <p:ext uri="{BB962C8B-B14F-4D97-AF65-F5344CB8AC3E}">
        <p14:creationId xmlns:p14="http://schemas.microsoft.com/office/powerpoint/2010/main" val="4215529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The Distance Matrix D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Three points on an equilateral triangle, every side = 3 → symmetric D with a zero diagonal.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Pairwise distances   D   (3 × 3)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"/>
              <p:cNvSpPr txBox="1"/>
              <p:nvPr/>
            </p:nvSpPr>
            <p:spPr>
              <a:xfrm>
                <a:off x="698500" y="2489200"/>
                <a:ext cx="6096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𝐷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215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749800"/>
            <a:ext cx="5969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i="1" dirty="0">
                <a:solidFill>
                  <a:srgbClr val="666666"/>
                </a:solidFill>
              </a:rPr>
              <a:t>zero diagonal (gold) · equal sides = 3 (teal) · symmetric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The hidden configuration</a:t>
            </a:r>
          </a:p>
        </p:txBody>
      </p:sp>
      <p:sp>
        <p:nvSpPr>
          <p:cNvPr id="60" name="Triangle"/>
          <p:cNvSpPr/>
          <p:nvPr/>
        </p:nvSpPr>
        <p:spPr>
          <a:xfrm>
            <a:off x="8064500" y="2692400"/>
            <a:ext cx="2286000" cy="2006600"/>
          </a:xfrm>
          <a:prstGeom prst="triangle">
            <a:avLst/>
          </a:prstGeom>
          <a:noFill/>
          <a:ln w="285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DotA"/>
          <p:cNvSpPr/>
          <p:nvPr/>
        </p:nvSpPr>
        <p:spPr>
          <a:xfrm>
            <a:off x="9105900" y="2590800"/>
            <a:ext cx="203200" cy="2032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DotB"/>
          <p:cNvSpPr/>
          <p:nvPr/>
        </p:nvSpPr>
        <p:spPr>
          <a:xfrm>
            <a:off x="7962900" y="4597400"/>
            <a:ext cx="203200" cy="2032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DotC"/>
          <p:cNvSpPr/>
          <p:nvPr/>
        </p:nvSpPr>
        <p:spPr>
          <a:xfrm>
            <a:off x="10248900" y="4597400"/>
            <a:ext cx="203200" cy="2032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LabA"/>
          <p:cNvSpPr txBox="1"/>
          <p:nvPr/>
        </p:nvSpPr>
        <p:spPr>
          <a:xfrm>
            <a:off x="9017000" y="2260600"/>
            <a:ext cx="381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4B2E83"/>
                </a:solidFill>
              </a:rPr>
              <a:t>A</a:t>
            </a:r>
          </a:p>
        </p:txBody>
      </p:sp>
      <p:sp>
        <p:nvSpPr>
          <p:cNvPr id="65" name="LabB"/>
          <p:cNvSpPr txBox="1"/>
          <p:nvPr/>
        </p:nvSpPr>
        <p:spPr>
          <a:xfrm>
            <a:off x="7594600" y="4775200"/>
            <a:ext cx="381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4B2E83"/>
                </a:solidFill>
              </a:rPr>
              <a:t>B</a:t>
            </a:r>
          </a:p>
        </p:txBody>
      </p:sp>
      <p:sp>
        <p:nvSpPr>
          <p:cNvPr id="66" name="LabC"/>
          <p:cNvSpPr txBox="1"/>
          <p:nvPr/>
        </p:nvSpPr>
        <p:spPr>
          <a:xfrm>
            <a:off x="10261600" y="4775200"/>
            <a:ext cx="381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4B2E83"/>
                </a:solidFill>
              </a:rPr>
              <a:t>C</a:t>
            </a:r>
          </a:p>
        </p:txBody>
      </p:sp>
      <p:sp>
        <p:nvSpPr>
          <p:cNvPr id="67" name="SideAB"/>
          <p:cNvSpPr txBox="1"/>
          <p:nvPr/>
        </p:nvSpPr>
        <p:spPr>
          <a:xfrm>
            <a:off x="8077200" y="35306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300" b="1" dirty="0">
                <a:solidFill>
                  <a:srgbClr val="00A7B5"/>
                </a:solidFill>
              </a:rPr>
              <a:t>3</a:t>
            </a:r>
          </a:p>
        </p:txBody>
      </p:sp>
      <p:sp>
        <p:nvSpPr>
          <p:cNvPr id="68" name="SideAC"/>
          <p:cNvSpPr txBox="1"/>
          <p:nvPr/>
        </p:nvSpPr>
        <p:spPr>
          <a:xfrm>
            <a:off x="9931400" y="35306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300" b="1" dirty="0">
                <a:solidFill>
                  <a:srgbClr val="00A7B5"/>
                </a:solidFill>
              </a:rPr>
              <a:t>3</a:t>
            </a:r>
          </a:p>
        </p:txBody>
      </p:sp>
      <p:sp>
        <p:nvSpPr>
          <p:cNvPr id="69" name="SideBC"/>
          <p:cNvSpPr txBox="1"/>
          <p:nvPr/>
        </p:nvSpPr>
        <p:spPr>
          <a:xfrm>
            <a:off x="9017000" y="43180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300" b="1" dirty="0">
                <a:solidFill>
                  <a:srgbClr val="00A7B5"/>
                </a:solidFill>
              </a:rPr>
              <a:t>3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Classical MDS starts from distances only — the goal is to recover points whose distances reproduce D.</a:t>
            </a:r>
          </a:p>
        </p:txBody>
      </p:sp>
    </p:spTree>
    <p:extLst>
      <p:ext uri="{BB962C8B-B14F-4D97-AF65-F5344CB8AC3E}">
        <p14:creationId xmlns:p14="http://schemas.microsoft.com/office/powerpoint/2010/main" val="3582820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Square the Distances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Square every entry of D element-wise → D⁽²⁾ (gold shows 3² = 9; the diagonal stays 0).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Squared distances   D⁽²⁾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"/>
              <p:cNvSpPr txBox="1"/>
              <p:nvPr/>
            </p:nvSpPr>
            <p:spPr>
              <a:xfrm>
                <a:off x="698500" y="2540000"/>
                <a:ext cx="6096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300">
                              <a:latin typeface="Cambria Math"/>
                            </a:rPr>
                            <m:t>𝐷</m:t>
                          </m:r>
                        </m:e>
                        <m:sup>
                          <m:r>
                            <a:rPr sz="2300">
                              <a:latin typeface="Cambria Math"/>
                            </a:rPr>
                            <m:t>(2)</m:t>
                          </m:r>
                        </m:sup>
                      </m:sSup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𝟗</m:t>
                                </m:r>
                              </m:e>
                            </m:mr>
                            <m:mr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𝟗</m:t>
                                </m:r>
                              </m:e>
                            </m:mr>
                            <m:mr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15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800600"/>
            <a:ext cx="5969000" cy="711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i="1" dirty="0">
                <a:solidFill>
                  <a:srgbClr val="666666"/>
                </a:solidFill>
              </a:rPr>
              <a:t>every 3 → 9 (gold) · diagonal 0 → 0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Element-wise squaring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Eq2"/>
              <p:cNvSpPr txBox="1"/>
              <p:nvPr/>
            </p:nvSpPr>
            <p:spPr>
              <a:xfrm>
                <a:off x="7112000" y="2667000"/>
                <a:ext cx="41910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300"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sz="23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160">
                          <a:latin typeface="Cambria Math"/>
                        </a:rPr>
                        <m:t>=9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22" name="Eq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0" y="2667000"/>
                <a:ext cx="4191000" cy="889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ightBody"/>
          <p:cNvSpPr txBox="1"/>
          <p:nvPr/>
        </p:nvSpPr>
        <p:spPr>
          <a:xfrm>
            <a:off x="7188200" y="3683000"/>
            <a:ext cx="4038600" cy="190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MDS transforms </a:t>
            </a:r>
            <a:r>
              <a:rPr lang="en-US" sz="1300" b="1" dirty="0">
                <a:solidFill>
                  <a:srgbClr val="85754D"/>
                </a:solidFill>
              </a:rPr>
              <a:t>squared</a:t>
            </a:r>
            <a:r>
              <a:rPr lang="en-US" sz="1300" dirty="0">
                <a:solidFill>
                  <a:srgbClr val="333333"/>
                </a:solidFill>
              </a:rPr>
              <a:t> distances,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</a:rPr>
              <a:t>not the raw ones.</a:t>
            </a:r>
          </a:p>
          <a:p>
            <a:pPr algn="l">
              <a:spcBef>
                <a:spcPts val="200"/>
              </a:spcBef>
            </a:pPr>
            <a:r>
              <a:rPr lang="en-US" sz="1250" i="1" dirty="0">
                <a:solidFill>
                  <a:srgbClr val="4B2E83"/>
                </a:solidFill>
              </a:rPr>
              <a:t>Squaring is what lets double-centering recover inner products.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Squared distances D⁽²⁾ are the input to double-centering, which converts them into a Gram matrix.</a:t>
            </a:r>
          </a:p>
        </p:txBody>
      </p:sp>
    </p:spTree>
    <p:extLst>
      <p:ext uri="{BB962C8B-B14F-4D97-AF65-F5344CB8AC3E}">
        <p14:creationId xmlns:p14="http://schemas.microsoft.com/office/powerpoint/2010/main" val="682913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3 — The Centering Matrix J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Double-centering in one shot: B = −½ · J · D⁽²⁾ · J, with J = I − (1/n)·11ᵀ.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Centering matrix   J   (n = 3)</a:t>
            </a:r>
          </a:p>
        </p:txBody>
      </p:sp>
      <p:sp>
        <p:nvSpPr>
          <p:cNvPr id="12" name="Formula"/>
          <p:cNvSpPr txBox="1"/>
          <p:nvPr/>
        </p:nvSpPr>
        <p:spPr>
          <a:xfrm>
            <a:off x="838200" y="23876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ctr"/>
            <a:r>
              <a:rPr lang="en-US" sz="1450" b="1" dirty="0">
                <a:solidFill>
                  <a:srgbClr val="333333"/>
                </a:solidFill>
              </a:rPr>
              <a:t>B = −½ · J · D⁽²⁾ · J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Jmatrix"/>
              <p:cNvSpPr txBox="1"/>
              <p:nvPr/>
            </p:nvSpPr>
            <p:spPr>
              <a:xfrm>
                <a:off x="698500" y="2768600"/>
                <a:ext cx="60960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𝐽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sz="1890" b="1">
                                        <a:solidFill>
                                          <a:srgbClr val="4B2E83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sz="1890" b="1">
                                        <a:solidFill>
                                          <a:srgbClr val="4B2E83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sz="1890">
                                        <a:latin typeface="Cambria Math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sz="1890">
                                        <a:latin typeface="Cambria Math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sz="1890">
                                        <a:latin typeface="Cambria Math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sz="1890">
                                        <a:latin typeface="Cambria Math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sz="1890">
                                        <a:latin typeface="Cambria Math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sz="1890">
                                        <a:latin typeface="Cambria Math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sz="1890" b="1">
                                        <a:solidFill>
                                          <a:srgbClr val="4B2E83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sz="1890" b="1">
                                        <a:solidFill>
                                          <a:srgbClr val="4B2E83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sz="1890">
                                        <a:latin typeface="Cambria Math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sz="1890">
                                        <a:latin typeface="Cambria Math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sz="1890">
                                        <a:latin typeface="Cambria Math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sz="1890">
                                        <a:latin typeface="Cambria Math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sz="1890">
                                        <a:latin typeface="Cambria Math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sz="1890">
                                        <a:latin typeface="Cambria Math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sz="1890" b="1">
                                        <a:solidFill>
                                          <a:srgbClr val="4B2E83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sz="1890" b="1">
                                        <a:solidFill>
                                          <a:srgbClr val="4B2E83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Jmatri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768600"/>
                <a:ext cx="6096000" cy="2667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One operation, two centerings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I — identity matrix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11ᵀ — all-ones matrix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J = I − (1/n)·11ᵀ subtracts row and column means simultaneously.</a:t>
            </a:r>
          </a:p>
          <a:p>
            <a:pPr algn="l">
              <a:spcBef>
                <a:spcPts val="160"/>
              </a:spcBef>
            </a:pPr>
            <a:r>
              <a:rPr lang="en-US" sz="1250" dirty="0">
                <a:solidFill>
                  <a:srgbClr val="4B2E83"/>
                </a:solidFill>
              </a:rPr>
              <a:t>Diagonal = 2/3 (purple), off-diagonal = −1/3.</a:t>
            </a:r>
          </a:p>
          <a:p>
            <a:pPr algn="l">
              <a:spcBef>
                <a:spcPts val="160"/>
              </a:spcBef>
            </a:pPr>
            <a:r>
              <a:rPr lang="en-US" sz="1250" i="1" dirty="0">
                <a:solidFill>
                  <a:srgbClr val="4B2E83"/>
                </a:solidFill>
              </a:rPr>
              <a:t>B = −½ J D⁽²⁾ J does Steps 4–7 in one product.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J packages row-mean, column-mean and grand-mean subtraction into a single clean matrix operation.</a:t>
            </a:r>
          </a:p>
        </p:txBody>
      </p:sp>
    </p:spTree>
    <p:extLst>
      <p:ext uri="{BB962C8B-B14F-4D97-AF65-F5344CB8AC3E}">
        <p14:creationId xmlns:p14="http://schemas.microsoft.com/office/powerpoint/2010/main" val="3010202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4 — Row Means of D⁽²⁾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Average each row of D⁽²⁾. Row 1 (green): (0 + 9 + 9)/3 = 6 — every row mean is 6.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Row averages of   D⁽²⁾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"/>
              <p:cNvSpPr txBox="1"/>
              <p:nvPr/>
            </p:nvSpPr>
            <p:spPr>
              <a:xfrm>
                <a:off x="698500" y="2489200"/>
                <a:ext cx="6096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𝟗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𝟗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190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445000"/>
            <a:ext cx="5969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7AB648"/>
                </a:solidFill>
              </a:rPr>
              <a:t>row 1 mean = (0 + 9 + 9) / 3 = 18/3 = 6</a:t>
            </a:r>
          </a:p>
          <a:p>
            <a:pPr algn="ctr">
              <a:spcBef>
                <a:spcPts val="160"/>
              </a:spcBef>
            </a:pPr>
            <a:r>
              <a:rPr lang="en-US" sz="1250" i="1" dirty="0">
                <a:solidFill>
                  <a:srgbClr val="666666"/>
                </a:solidFill>
              </a:rPr>
              <a:t>all rows identical → every row mean = 6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Why row means?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Double-centering subtracts each row mean…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…removing the arbitrary location of the points.</a:t>
            </a:r>
          </a:p>
          <a:p>
            <a:pPr algn="l">
              <a:spcBef>
                <a:spcPts val="200"/>
              </a:spcBef>
            </a:pPr>
            <a:r>
              <a:rPr lang="en-US" sz="1300" dirty="0">
                <a:solidFill>
                  <a:srgbClr val="333333"/>
                </a:solidFill>
              </a:rPr>
              <a:t>Here every row of D⁽²⁾ sums to 18,</a:t>
            </a:r>
          </a:p>
          <a:p>
            <a:pPr algn="l">
              <a:spcBef>
                <a:spcPts val="60"/>
              </a:spcBef>
            </a:pPr>
            <a:r>
              <a:rPr lang="en-US" sz="1300" b="1" dirty="0">
                <a:solidFill>
                  <a:srgbClr val="7AB648"/>
                </a:solidFill>
              </a:rPr>
              <a:t>so all three row means equal 6.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Row means are the first half of double-centering — they strip out where the points sit.</a:t>
            </a:r>
          </a:p>
        </p:txBody>
      </p:sp>
    </p:spTree>
    <p:extLst>
      <p:ext uri="{BB962C8B-B14F-4D97-AF65-F5344CB8AC3E}">
        <p14:creationId xmlns:p14="http://schemas.microsoft.com/office/powerpoint/2010/main" val="2154534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5 — Column &amp; Grand Mean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By symmetry every column mean = 6 (pink), and the grand mean = 54/9 = 6.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Column averages of   D⁽²⁾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"/>
              <p:cNvSpPr txBox="1"/>
              <p:nvPr/>
            </p:nvSpPr>
            <p:spPr>
              <a:xfrm>
                <a:off x="698500" y="2489200"/>
                <a:ext cx="6096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𝟗</m:t>
                                </m:r>
                              </m:e>
                            </m:mr>
                            <m:mr>
                              <m:e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𝟗</m:t>
                                </m:r>
                              </m:e>
                            </m:mr>
                            <m:mr>
                              <m:e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190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445000"/>
            <a:ext cx="5969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D1578A"/>
                </a:solidFill>
              </a:rPr>
              <a:t>col 1 mean = (0 + 9 + 9) / 3 = 6</a:t>
            </a:r>
          </a:p>
          <a:p>
            <a:pPr algn="ctr">
              <a:spcBef>
                <a:spcPts val="160"/>
              </a:spcBef>
            </a:pPr>
            <a:r>
              <a:rPr lang="en-US" sz="1400" b="1" dirty="0">
                <a:solidFill>
                  <a:srgbClr val="85754D"/>
                </a:solidFill>
              </a:rPr>
              <a:t>grand mean = 54 / 9 = 6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Completing the centering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Subtract column means (2nd half)…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…then add back the grand mean once.</a:t>
            </a:r>
          </a:p>
          <a:p>
            <a:pPr algn="l">
              <a:spcBef>
                <a:spcPts val="200"/>
              </a:spcBef>
            </a:pPr>
            <a:r>
              <a:rPr lang="en-US" sz="1300" dirty="0">
                <a:solidFill>
                  <a:srgbClr val="333333"/>
                </a:solidFill>
              </a:rPr>
              <a:t>D⁽²⁾ is symmetric, so columns mirror rows:</a:t>
            </a:r>
          </a:p>
          <a:p>
            <a:pPr algn="l">
              <a:spcBef>
                <a:spcPts val="60"/>
              </a:spcBef>
            </a:pPr>
            <a:r>
              <a:rPr lang="en-US" sz="1300" b="1" dirty="0">
                <a:solidFill>
                  <a:srgbClr val="D1578A"/>
                </a:solidFill>
              </a:rPr>
              <a:t>all column means = 6, grand mean = 6.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Row mean, column mean, and grand mean are the three ingredients of the double-centering formula.</a:t>
            </a:r>
          </a:p>
        </p:txBody>
      </p:sp>
    </p:spTree>
    <p:extLst>
      <p:ext uri="{BB962C8B-B14F-4D97-AF65-F5344CB8AC3E}">
        <p14:creationId xmlns:p14="http://schemas.microsoft.com/office/powerpoint/2010/main" val="3542508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6 — Diagonal Entry of B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Apply Bᵢⱼ = −½(D²ᵢⱼ − rowᵢ − colⱼ + grand) to a diagonal cell → B₁₁ = 3.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Double-centering formula</a:t>
            </a:r>
          </a:p>
        </p:txBody>
      </p:sp>
      <p:sp>
        <p:nvSpPr>
          <p:cNvPr id="13" name="Formula"/>
          <p:cNvSpPr txBox="1"/>
          <p:nvPr/>
        </p:nvSpPr>
        <p:spPr>
          <a:xfrm>
            <a:off x="838200" y="2438400"/>
            <a:ext cx="584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333333"/>
                </a:solidFill>
              </a:rPr>
              <a:t>Bᵢⱼ = −½ ( D²ᵢⱼ − rowᵢ − colⱼ + grand 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alc"/>
              <p:cNvSpPr txBox="1"/>
              <p:nvPr/>
            </p:nvSpPr>
            <p:spPr>
              <a:xfrm>
                <a:off x="698500" y="2946400"/>
                <a:ext cx="6096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25"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sz="2025">
                              <a:latin typeface="Cambria Math"/>
                            </a:rPr>
                            <m:t>11</m:t>
                          </m:r>
                        </m:sub>
                      </m:sSub>
                      <m:r>
                        <a:rPr sz="2025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89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89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sz="2025">
                          <a:latin typeface="Cambria Math"/>
                        </a:rPr>
                        <m:t>(0−</m:t>
                      </m:r>
                      <m:r>
                        <a:rPr sz="2025" b="1">
                          <a:solidFill>
                            <a:srgbClr val="85754D"/>
                          </a:solidFill>
                          <a:latin typeface="Cambria Math"/>
                        </a:rPr>
                        <m:t>6</m:t>
                      </m:r>
                      <m:r>
                        <a:rPr sz="2025">
                          <a:latin typeface="Cambria Math"/>
                        </a:rPr>
                        <m:t>−</m:t>
                      </m:r>
                      <m:r>
                        <a:rPr sz="2025" b="1">
                          <a:solidFill>
                            <a:srgbClr val="85754D"/>
                          </a:solidFill>
                          <a:latin typeface="Cambria Math"/>
                        </a:rPr>
                        <m:t>6</m:t>
                      </m:r>
                      <m:r>
                        <a:rPr sz="2025">
                          <a:latin typeface="Cambria Math"/>
                        </a:rPr>
                        <m:t>+</m:t>
                      </m:r>
                      <m:r>
                        <a:rPr sz="2025" b="1">
                          <a:solidFill>
                            <a:srgbClr val="85754D"/>
                          </a:solidFill>
                          <a:latin typeface="Cambria Math"/>
                        </a:rPr>
                        <m:t>6</m:t>
                      </m:r>
                      <m:r>
                        <a:rPr sz="2025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89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89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sz="2025">
                          <a:latin typeface="Cambria Math"/>
                        </a:rPr>
                        <m:t>(−6)=</m:t>
                      </m:r>
                      <m:r>
                        <a:rPr sz="2295" b="1">
                          <a:solidFill>
                            <a:srgbClr val="4B2E83"/>
                          </a:solidFill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4" name="Calc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946400"/>
                <a:ext cx="6096000" cy="190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Note"/>
          <p:cNvSpPr txBox="1"/>
          <p:nvPr/>
        </p:nvSpPr>
        <p:spPr>
          <a:xfrm>
            <a:off x="762000" y="5054600"/>
            <a:ext cx="5969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i="1" dirty="0">
                <a:solidFill>
                  <a:srgbClr val="666666"/>
                </a:solidFill>
              </a:rPr>
              <a:t>the three means (gold) collapse the cell to 3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What each term means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D²ᵢⱼ — squared distance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85754D"/>
                </a:solidFill>
              </a:rPr>
              <a:t>rowᵢ , colⱼ — the means (= 6)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85754D"/>
                </a:solidFill>
              </a:rPr>
              <a:t>grand — overall mean (= 6)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−½ — rescales to an inner product</a:t>
            </a:r>
          </a:p>
          <a:p>
            <a:pPr algn="l">
              <a:spcBef>
                <a:spcPts val="200"/>
              </a:spcBef>
            </a:pPr>
            <a:r>
              <a:rPr lang="en-US" sz="1250" i="1" dirty="0">
                <a:solidFill>
                  <a:srgbClr val="4B2E83"/>
                </a:solidFill>
              </a:rPr>
              <a:t>Diagonal Bᵢᵢ = squared distance of point i from the centroid.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Each diagonal entry of B measures how far a point lies from the centre of the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3534571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7 — Off-Diagonal Entry of B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Same formula on an off-diagonal cell (D²₁₂ = 9, teal) → B₁₂ = −1.5.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Off-diagonal cell  B₁₂</a:t>
            </a:r>
          </a:p>
        </p:txBody>
      </p:sp>
      <p:sp>
        <p:nvSpPr>
          <p:cNvPr id="13" name="Formula"/>
          <p:cNvSpPr txBox="1"/>
          <p:nvPr/>
        </p:nvSpPr>
        <p:spPr>
          <a:xfrm>
            <a:off x="838200" y="2438400"/>
            <a:ext cx="584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333333"/>
                </a:solidFill>
              </a:rPr>
              <a:t>Bᵢⱼ = −½ ( D²ᵢⱼ − rowᵢ − colⱼ + grand 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alc"/>
              <p:cNvSpPr txBox="1"/>
              <p:nvPr/>
            </p:nvSpPr>
            <p:spPr>
              <a:xfrm>
                <a:off x="698500" y="2946400"/>
                <a:ext cx="6096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25"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sz="2025">
                              <a:latin typeface="Cambria Math"/>
                            </a:rPr>
                            <m:t>12</m:t>
                          </m:r>
                        </m:sub>
                      </m:sSub>
                      <m:r>
                        <a:rPr sz="2025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89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89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sz="2025">
                          <a:latin typeface="Cambria Math"/>
                        </a:rPr>
                        <m:t>(</m:t>
                      </m:r>
                      <m:r>
                        <a:rPr sz="2025" b="1">
                          <a:solidFill>
                            <a:srgbClr val="00A7B5"/>
                          </a:solidFill>
                          <a:latin typeface="Cambria Math"/>
                        </a:rPr>
                        <m:t>9</m:t>
                      </m:r>
                      <m:r>
                        <a:rPr sz="2025">
                          <a:latin typeface="Cambria Math"/>
                        </a:rPr>
                        <m:t>−</m:t>
                      </m:r>
                      <m:r>
                        <a:rPr sz="2025" b="1">
                          <a:solidFill>
                            <a:srgbClr val="85754D"/>
                          </a:solidFill>
                          <a:latin typeface="Cambria Math"/>
                        </a:rPr>
                        <m:t>6</m:t>
                      </m:r>
                      <m:r>
                        <a:rPr sz="2025">
                          <a:latin typeface="Cambria Math"/>
                        </a:rPr>
                        <m:t>−</m:t>
                      </m:r>
                      <m:r>
                        <a:rPr sz="2025" b="1">
                          <a:solidFill>
                            <a:srgbClr val="85754D"/>
                          </a:solidFill>
                          <a:latin typeface="Cambria Math"/>
                        </a:rPr>
                        <m:t>6</m:t>
                      </m:r>
                      <m:r>
                        <a:rPr sz="2025">
                          <a:latin typeface="Cambria Math"/>
                        </a:rPr>
                        <m:t>+</m:t>
                      </m:r>
                      <m:r>
                        <a:rPr sz="2025" b="1">
                          <a:solidFill>
                            <a:srgbClr val="85754D"/>
                          </a:solidFill>
                          <a:latin typeface="Cambria Math"/>
                        </a:rPr>
                        <m:t>6</m:t>
                      </m:r>
                      <m:r>
                        <a:rPr sz="2025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89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89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sz="2025">
                          <a:latin typeface="Cambria Math"/>
                        </a:rPr>
                        <m:t>(3)=</m:t>
                      </m:r>
                      <m:r>
                        <a:rPr sz="2295" b="1">
                          <a:solidFill>
                            <a:srgbClr val="D1578A"/>
                          </a:solidFill>
                          <a:latin typeface="Cambria Math"/>
                        </a:rPr>
                        <m:t>−1.5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4" name="Calc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946400"/>
                <a:ext cx="6096000" cy="190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Note"/>
          <p:cNvSpPr txBox="1"/>
          <p:nvPr/>
        </p:nvSpPr>
        <p:spPr>
          <a:xfrm>
            <a:off x="762000" y="5054600"/>
            <a:ext cx="5969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i="1" dirty="0">
                <a:solidFill>
                  <a:srgbClr val="666666"/>
                </a:solidFill>
              </a:rPr>
              <a:t>squared distance 9 (teal) − means → −1.5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Off-diagonal = inner product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Off-diagonal Bᵢⱼ = ⟨xᵢ , xⱼ⟩,</a:t>
            </a:r>
          </a:p>
          <a:p>
            <a:pPr algn="l">
              <a:spcBef>
                <a:spcPts val="60"/>
              </a:spcBef>
            </a:pPr>
            <a:r>
              <a:rPr lang="en-US" sz="1300" dirty="0">
                <a:solidFill>
                  <a:srgbClr val="333333"/>
                </a:solidFill>
              </a:rPr>
              <a:t>the inner product of two centred points.</a:t>
            </a:r>
          </a:p>
          <a:p>
            <a:pPr algn="l">
              <a:spcBef>
                <a:spcPts val="200"/>
              </a:spcBef>
            </a:pPr>
            <a:r>
              <a:rPr lang="en-US" sz="1300" dirty="0">
                <a:solidFill>
                  <a:srgbClr val="333333"/>
                </a:solidFill>
              </a:rPr>
              <a:t>Negative value (−1.5) ⇒ the points sit on opposite sides of the centroid.</a:t>
            </a:r>
          </a:p>
          <a:p>
            <a:pPr algn="l">
              <a:spcBef>
                <a:spcPts val="200"/>
              </a:spcBef>
            </a:pPr>
            <a:r>
              <a:rPr lang="en-US" sz="1250" i="1" dirty="0">
                <a:solidFill>
                  <a:srgbClr val="D1578A"/>
                </a:solidFill>
              </a:rPr>
              <a:t>By symmetry every off-diagonal entry = −1.5.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Off-diagonal entries are inner products; their sign tells you how points are oriented around the centre.</a:t>
            </a:r>
          </a:p>
        </p:txBody>
      </p:sp>
    </p:spTree>
    <p:extLst>
      <p:ext uri="{BB962C8B-B14F-4D97-AF65-F5344CB8AC3E}">
        <p14:creationId xmlns:p14="http://schemas.microsoft.com/office/powerpoint/2010/main" val="2385223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8 — The Gram Matrix B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Collect every entry → B. It is symmetric and centred: each row sums to 0.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Centred Gram matrix   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"/>
              <p:cNvSpPr txBox="1"/>
              <p:nvPr/>
            </p:nvSpPr>
            <p:spPr>
              <a:xfrm>
                <a:off x="698500" y="2489200"/>
                <a:ext cx="6096000" cy="203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𝐵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𝟓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𝟓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203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572000"/>
            <a:ext cx="5969000" cy="939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7AB648"/>
                </a:solidFill>
              </a:rPr>
              <a:t>row sum:  3 − 1.5 − 1.5 = 0  ✓</a:t>
            </a:r>
          </a:p>
          <a:p>
            <a:pPr algn="ctr">
              <a:spcBef>
                <a:spcPts val="140"/>
              </a:spcBef>
            </a:pPr>
            <a:r>
              <a:rPr lang="en-US" sz="1250" i="1" dirty="0">
                <a:solidFill>
                  <a:srgbClr val="666666"/>
                </a:solidFill>
              </a:rPr>
              <a:t>diagonal (gold) = 3 · off-diagonal = −1.5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Properties of B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•  Symmetric:  Bᵢⱼ = Bⱼᵢ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•  Centred: rows &amp; columns sum to 0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•  Diagonal: squared distance to centroid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•  Off-diagonal: inner products</a:t>
            </a:r>
          </a:p>
          <a:p>
            <a:pPr algn="l">
              <a:spcBef>
                <a:spcPts val="200"/>
              </a:spcBef>
            </a:pPr>
            <a:r>
              <a:rPr lang="en-US" sz="1250" i="1" dirty="0">
                <a:solidFill>
                  <a:srgbClr val="4B2E83"/>
                </a:solidFill>
              </a:rPr>
              <a:t>Next: eigen-decompose B → coordinates.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B is the centred inner-product matrix; its eigen-decomposition yields the point coordinates.</a:t>
            </a:r>
          </a:p>
        </p:txBody>
      </p:sp>
    </p:spTree>
    <p:extLst>
      <p:ext uri="{BB962C8B-B14F-4D97-AF65-F5344CB8AC3E}">
        <p14:creationId xmlns:p14="http://schemas.microsoft.com/office/powerpoint/2010/main" val="4192387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23D15A-7CAB-F24B-A57D-9311C2810AC3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48C6E6-3B12-8242-BAF6-6CD93652F768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Worked Example 1 — Coordinates &amp; Check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5242621-DFD0-CB46-84BC-3A445B89188C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MDS · Example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46B5CD-C3FB-1D43-A798-7E649F6A3CEF}"/>
              </a:ext>
            </a:extLst>
          </p:cNvPr>
          <p:cNvSpPr txBox="1"/>
          <p:nvPr/>
        </p:nvSpPr>
        <p:spPr>
          <a:xfrm>
            <a:off x="762000" y="15240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Eigen-decomposition of B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B19F7B5-31EF-2A4D-B1C4-9AF058E90BE2}"/>
              </a:ext>
            </a:extLst>
          </p:cNvPr>
          <p:cNvSpPr/>
          <p:nvPr/>
        </p:nvSpPr>
        <p:spPr>
          <a:xfrm>
            <a:off x="762000" y="1828800"/>
            <a:ext cx="5334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1EFD68-F1EB-5145-B956-492C9E8A2F56}"/>
              </a:ext>
            </a:extLst>
          </p:cNvPr>
          <p:cNvSpPr txBox="1"/>
          <p:nvPr/>
        </p:nvSpPr>
        <p:spPr>
          <a:xfrm>
            <a:off x="939800" y="1955800"/>
            <a:ext cx="4978400" cy="160043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B has eigenvalues 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 = (4.5, 4.5, 0).
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Two equal positive eigenvalues ⇒ the
points live in a 2-D plane (k = 2).
Orthonormal eigenvectors for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λ=4.5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span
the plane; the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λ=0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direction is the
all-ones (centering) direction.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270240-0024-DF41-AD1D-E284899C787E}"/>
              </a:ext>
            </a:extLst>
          </p:cNvPr>
          <p:cNvSpPr txBox="1"/>
          <p:nvPr/>
        </p:nvSpPr>
        <p:spPr>
          <a:xfrm>
            <a:off x="6350000" y="1524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Coordinates  X = Vₖ </a:t>
            </a:r>
            <a:r>
              <a:rPr lang="el-GR" sz="1450" b="1">
                <a:solidFill>
                  <a:srgbClr val="00A7B5"/>
                </a:solidFill>
              </a:rPr>
              <a:t>Λ</a:t>
            </a:r>
            <a:r>
              <a:rPr lang="en-US" sz="1450" b="1">
                <a:solidFill>
                  <a:srgbClr val="00A7B5"/>
                </a:solidFill>
              </a:rPr>
              <a:t>ₖ^{1/2}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B3066EC-7DEA-514F-AE1C-D461AAB3B5B6}"/>
              </a:ext>
            </a:extLst>
          </p:cNvPr>
          <p:cNvSpPr/>
          <p:nvPr/>
        </p:nvSpPr>
        <p:spPr>
          <a:xfrm>
            <a:off x="6350000" y="1828800"/>
            <a:ext cx="5080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F47B43-1F80-8242-849E-6DF3C9E601F9}"/>
              </a:ext>
            </a:extLst>
          </p:cNvPr>
          <p:cNvSpPr txBox="1"/>
          <p:nvPr/>
        </p:nvSpPr>
        <p:spPr>
          <a:xfrm>
            <a:off x="6527800" y="1955800"/>
            <a:ext cx="4724400" cy="116955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√4.5 = 2.121. One valid solution:
A = ( 2.121,  0.000 )
B = (−1.061,  1.837 )
C = (−1.061, −1.837 )
(an equilateral triangle, centred at 0).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2F6E4C-F474-0C42-94CE-F1B12ABD6B62}"/>
              </a:ext>
            </a:extLst>
          </p:cNvPr>
          <p:cNvSpPr txBox="1"/>
          <p:nvPr/>
        </p:nvSpPr>
        <p:spPr>
          <a:xfrm>
            <a:off x="762000" y="3911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Verify the distances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C1784F9-1929-3F42-8742-4E254FC93CDD}"/>
              </a:ext>
            </a:extLst>
          </p:cNvPr>
          <p:cNvSpPr/>
          <p:nvPr/>
        </p:nvSpPr>
        <p:spPr>
          <a:xfrm>
            <a:off x="762000" y="4216400"/>
            <a:ext cx="10668000" cy="18542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6337A5-9423-B941-BF99-449D4C43951E}"/>
              </a:ext>
            </a:extLst>
          </p:cNvPr>
          <p:cNvSpPr txBox="1"/>
          <p:nvPr/>
        </p:nvSpPr>
        <p:spPr>
          <a:xfrm>
            <a:off x="939800" y="4343400"/>
            <a:ext cx="10312400" cy="116955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‖A − B‖ = √[(2.121+1.061)² + (0−1.837)²] = √[(3.182)² + (1.837)²] = √[10.12+3.375] = √13.5 = 3.0  ✓
By symmetry ‖A−C‖ = ‖B−C‖ = 3.0 as well — the original distances are recovered exactly.
GoF(2) = (4.5+4.5)/(4.5+4.5+0) = 100% — D was perfectly Euclidean in 2-D, so two dimensions suffice.
Reflection / rotation: any rotation of these three points gives the SAME distance matrix; the solution is
unique only up to a rigid motion — a general feature of every MDS map.</a:t>
            </a:r>
          </a:p>
        </p:txBody>
      </p:sp>
    </p:spTree>
    <p:extLst>
      <p:ext uri="{BB962C8B-B14F-4D97-AF65-F5344CB8AC3E}">
        <p14:creationId xmlns:p14="http://schemas.microsoft.com/office/powerpoint/2010/main" val="94150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Eigen-Decomposition of B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Diagonalize the Gram matrix: B = V Λ Vᵀ. Each eigenpair (λₖ, vₖ) becomes one axis.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Diagonalize   B   (from Setup)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Bmatrix"/>
              <p:cNvSpPr txBox="1"/>
              <p:nvPr/>
            </p:nvSpPr>
            <p:spPr>
              <a:xfrm>
                <a:off x="698500" y="2387600"/>
                <a:ext cx="6096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𝐵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𝟓</m:t>
                                </m:r>
                              </m:e>
                            </m:mr>
                            <m:mr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𝟓</m:t>
                                </m:r>
                              </m:e>
                            </m:mr>
                            <m:mr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Bmatri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387600"/>
                <a:ext cx="6096000" cy="190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igeneq"/>
              <p:cNvSpPr txBox="1"/>
              <p:nvPr/>
            </p:nvSpPr>
            <p:spPr>
              <a:xfrm>
                <a:off x="762000" y="4368800"/>
                <a:ext cx="5969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t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𝐵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r>
                        <a:rPr sz="2160">
                          <a:latin typeface="Cambria Math"/>
                        </a:rPr>
                        <m:t>𝑉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𝛬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160">
                              <a:latin typeface="Cambria Math"/>
                            </a:rPr>
                            <m:t>𝑉</m:t>
                          </m:r>
                        </m:e>
                        <m:sup>
                          <m:r>
                            <a:rPr sz="2160">
                              <a:latin typeface="Cambria Math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𝐵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60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sz="2160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sz="216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60">
                              <a:latin typeface="Cambria Math"/>
                            </a:rPr>
                            <m:t>𝜆</m:t>
                          </m:r>
                        </m:e>
                        <m:sub>
                          <m:r>
                            <a:rPr sz="2160">
                              <a:latin typeface="Cambria Math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60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sz="2160">
                              <a:latin typeface="Cambria Math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4" name="Eigen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368800"/>
                <a:ext cx="5969000" cy="1143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What the pieces mean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•  V — eigenvectors (axis directions)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•  Λ — diagonal of eigenvalues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•  Positive λ → real coordinates</a:t>
            </a:r>
          </a:p>
          <a:p>
            <a:pPr algn="l">
              <a:spcBef>
                <a:spcPts val="200"/>
              </a:spcBef>
            </a:pPr>
            <a:r>
              <a:rPr lang="en-US" sz="1300" b="1" dirty="0">
                <a:solidFill>
                  <a:srgbClr val="333333"/>
                </a:solidFill>
              </a:rPr>
              <a:t>Classical MDS is exactly the eigen-decomposition of B.</a:t>
            </a:r>
          </a:p>
          <a:p>
            <a:pPr algn="l">
              <a:spcBef>
                <a:spcPts val="160"/>
              </a:spcBef>
            </a:pPr>
            <a:r>
              <a:rPr lang="en-US" sz="1250" i="1" dirty="0">
                <a:solidFill>
                  <a:srgbClr val="4B2E83"/>
                </a:solidFill>
              </a:rPr>
              <a:t>Solve B vₖ = λₖ vₖ next.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Coordinates come straight from the eigenvectors and eigenvalues of the Gram matrix B.</a:t>
            </a:r>
          </a:p>
        </p:txBody>
      </p:sp>
    </p:spTree>
    <p:extLst>
      <p:ext uri="{BB962C8B-B14F-4D97-AF65-F5344CB8AC3E}">
        <p14:creationId xmlns:p14="http://schemas.microsoft.com/office/powerpoint/2010/main" val="4077855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The Eigenvalues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Solving det(B − λI) = 0 gives λ = (4.5, 4.5, 0): two equal positive, one zero.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Eigenvalue matrix   Λ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Lmatrix"/>
              <p:cNvSpPr txBox="1"/>
              <p:nvPr/>
            </p:nvSpPr>
            <p:spPr>
              <a:xfrm>
                <a:off x="698500" y="2489200"/>
                <a:ext cx="6096000" cy="203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𝛬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  <m:r>
                                  <a:rPr sz="216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Lmatri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203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572000"/>
            <a:ext cx="5969000" cy="939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50" b="1" dirty="0">
                <a:solidFill>
                  <a:srgbClr val="4B2E83"/>
                </a:solidFill>
              </a:rPr>
              <a:t>two positive (4.5, 4.5) → a 2-D plane</a:t>
            </a:r>
          </a:p>
          <a:p>
            <a:pPr algn="ctr">
              <a:spcBef>
                <a:spcPts val="150"/>
              </a:spcBef>
            </a:pPr>
            <a:r>
              <a:rPr lang="en-US" sz="1250" i="1" dirty="0">
                <a:solidFill>
                  <a:srgbClr val="666666"/>
                </a:solidFill>
              </a:rPr>
              <a:t>trace check: 4.5 + 4.5 + 0 = 9 = 3+3+3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Eigenvalue spectrum</a:t>
            </a:r>
          </a:p>
        </p:txBody>
      </p:sp>
      <p:sp>
        <p:nvSpPr>
          <p:cNvPr id="40" name="Bar1"/>
          <p:cNvSpPr/>
          <p:nvPr/>
        </p:nvSpPr>
        <p:spPr>
          <a:xfrm>
            <a:off x="7620000" y="3111500"/>
            <a:ext cx="711200" cy="19050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Bar2"/>
          <p:cNvSpPr/>
          <p:nvPr/>
        </p:nvSpPr>
        <p:spPr>
          <a:xfrm>
            <a:off x="8699500" y="3111500"/>
            <a:ext cx="711200" cy="19050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Bar3"/>
          <p:cNvSpPr/>
          <p:nvPr/>
        </p:nvSpPr>
        <p:spPr>
          <a:xfrm>
            <a:off x="9779000" y="4978400"/>
            <a:ext cx="711200" cy="50800"/>
          </a:xfrm>
          <a:prstGeom prst="rect">
            <a:avLst/>
          </a:prstGeom>
          <a:solidFill>
            <a:srgbClr val="8575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Baseline"/>
          <p:cNvSpPr/>
          <p:nvPr/>
        </p:nvSpPr>
        <p:spPr>
          <a:xfrm>
            <a:off x="7518400" y="5016500"/>
            <a:ext cx="3175000" cy="254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V1"/>
          <p:cNvSpPr txBox="1"/>
          <p:nvPr/>
        </p:nvSpPr>
        <p:spPr>
          <a:xfrm>
            <a:off x="7620000" y="28194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250" b="1" dirty="0">
                <a:solidFill>
                  <a:srgbClr val="4B2E83"/>
                </a:solidFill>
              </a:rPr>
              <a:t>4.5</a:t>
            </a:r>
          </a:p>
        </p:txBody>
      </p:sp>
      <p:sp>
        <p:nvSpPr>
          <p:cNvPr id="45" name="V2"/>
          <p:cNvSpPr txBox="1"/>
          <p:nvPr/>
        </p:nvSpPr>
        <p:spPr>
          <a:xfrm>
            <a:off x="8699500" y="28194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250" b="1" dirty="0">
                <a:solidFill>
                  <a:srgbClr val="00A7B5"/>
                </a:solidFill>
              </a:rPr>
              <a:t>4.5</a:t>
            </a:r>
          </a:p>
        </p:txBody>
      </p:sp>
      <p:sp>
        <p:nvSpPr>
          <p:cNvPr id="46" name="V3"/>
          <p:cNvSpPr txBox="1"/>
          <p:nvPr/>
        </p:nvSpPr>
        <p:spPr>
          <a:xfrm>
            <a:off x="9779000" y="46736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250" b="1" dirty="0">
                <a:solidFill>
                  <a:srgbClr val="85754D"/>
                </a:solidFill>
              </a:rPr>
              <a:t>0</a:t>
            </a:r>
          </a:p>
        </p:txBody>
      </p:sp>
      <p:sp>
        <p:nvSpPr>
          <p:cNvPr id="47" name="X1"/>
          <p:cNvSpPr txBox="1"/>
          <p:nvPr/>
        </p:nvSpPr>
        <p:spPr>
          <a:xfrm>
            <a:off x="7620000" y="5054600"/>
            <a:ext cx="711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200" dirty="0">
                <a:solidFill>
                  <a:srgbClr val="666666"/>
                </a:solidFill>
              </a:rPr>
              <a:t>λ₁</a:t>
            </a:r>
          </a:p>
        </p:txBody>
      </p:sp>
      <p:sp>
        <p:nvSpPr>
          <p:cNvPr id="48" name="X2"/>
          <p:cNvSpPr txBox="1"/>
          <p:nvPr/>
        </p:nvSpPr>
        <p:spPr>
          <a:xfrm>
            <a:off x="8699500" y="5054600"/>
            <a:ext cx="711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200" dirty="0">
                <a:solidFill>
                  <a:srgbClr val="666666"/>
                </a:solidFill>
              </a:rPr>
              <a:t>λ₂</a:t>
            </a:r>
          </a:p>
        </p:txBody>
      </p:sp>
      <p:sp>
        <p:nvSpPr>
          <p:cNvPr id="49" name="X3"/>
          <p:cNvSpPr txBox="1"/>
          <p:nvPr/>
        </p:nvSpPr>
        <p:spPr>
          <a:xfrm>
            <a:off x="9779000" y="5054600"/>
            <a:ext cx="711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200" dirty="0">
                <a:solidFill>
                  <a:srgbClr val="666666"/>
                </a:solidFill>
              </a:rPr>
              <a:t>λ₃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count of positive eigenvalues is the embedding dimension — here, 2.</a:t>
            </a:r>
          </a:p>
        </p:txBody>
      </p:sp>
    </p:spTree>
    <p:extLst>
      <p:ext uri="{BB962C8B-B14F-4D97-AF65-F5344CB8AC3E}">
        <p14:creationId xmlns:p14="http://schemas.microsoft.com/office/powerpoint/2010/main" val="743745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3 — The Zero Eigenvalue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λ₃ = 0 points along (1, 1, 1) — the direction removed by centering.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The all-ones direction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98500" y="2489200"/>
                <a:ext cx="60960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60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sz="216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sz="2160">
                          <a:latin typeface="Cambria Math"/>
                        </a:rPr>
                        <m:t>=(1/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sz="2160">
                              <a:latin typeface="Cambria Math"/>
                            </a:rPr>
                            <m:t>3</m:t>
                          </m:r>
                        </m:e>
                      </m:rad>
                      <m:r>
                        <a:rPr sz="2160">
                          <a:latin typeface="Cambria Math"/>
                        </a:rPr>
                        <m:t>)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𝐵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2025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2025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025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025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2667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Centering's fingerprint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Every centred matrix has a zero eigenvalue.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Its eigenvector is the all-ones direction (1,1,1).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It carries no coordinate, so we drop it…</a:t>
            </a:r>
          </a:p>
          <a:p>
            <a:pPr algn="l">
              <a:spcBef>
                <a:spcPts val="120"/>
              </a:spcBef>
            </a:pPr>
            <a:r>
              <a:rPr lang="en-US" sz="1300" b="1" dirty="0">
                <a:solidFill>
                  <a:srgbClr val="4B2E83"/>
                </a:solidFill>
              </a:rPr>
              <a:t>…leaving exactly 2 axes for the map.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A zero eigenvalue is the signature of centering — it never carries coordinates.</a:t>
            </a:r>
          </a:p>
        </p:txBody>
      </p:sp>
    </p:spTree>
    <p:extLst>
      <p:ext uri="{BB962C8B-B14F-4D97-AF65-F5344CB8AC3E}">
        <p14:creationId xmlns:p14="http://schemas.microsoft.com/office/powerpoint/2010/main" val="27876551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4 — Coordinate Formula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Coordinates X = Eₖ Λₖ^½ — scale each eigenvector by √λ. Here √4.5 = 2.121.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Scale eigenvectors by  √λ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98500" y="2540000"/>
                <a:ext cx="6096000" cy="241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295">
                          <a:latin typeface="Cambria Math"/>
                        </a:rPr>
                        <m:t>𝑋</m:t>
                      </m:r>
                      <m:r>
                        <a:rPr sz="2295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95">
                              <a:latin typeface="Cambria Math"/>
                            </a:rPr>
                            <m:t>𝐸</m:t>
                          </m:r>
                        </m:e>
                        <m:sub>
                          <m:r>
                            <a:rPr sz="2295">
                              <a:latin typeface="Cambria Math"/>
                            </a:rPr>
                            <m:t>𝑘</m:t>
                          </m:r>
                        </m:sub>
                      </m:sSub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2295">
                              <a:latin typeface="Cambria Math"/>
                            </a:rPr>
                            <m:t>𝛬</m:t>
                          </m:r>
                        </m:e>
                        <m:sub>
                          <m:r>
                            <a:rPr sz="2295">
                              <a:latin typeface="Cambria Math"/>
                            </a:rPr>
                            <m:t>𝑘</m:t>
                          </m:r>
                        </m:sub>
                        <m:sup>
                          <m:r>
                            <a:rPr sz="2295">
                              <a:latin typeface="Cambria Math"/>
                            </a:rPr>
                            <m:t>1/2</m:t>
                          </m:r>
                        </m:sup>
                      </m:sSubSup>
                    </m:oMath>
                  </m:oMathPara>
                </a14:m>
                <a:endParaRPr lang="en-US" sz="17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sz="2295">
                              <a:latin typeface="Cambria Math"/>
                            </a:rPr>
                            <m:t>4.5</m:t>
                          </m:r>
                        </m:e>
                      </m:rad>
                      <m:r>
                        <a:rPr sz="2295">
                          <a:latin typeface="Cambria Math"/>
                        </a:rPr>
                        <m:t>=</m:t>
                      </m:r>
                      <m:r>
                        <a:rPr sz="2295" b="1">
                          <a:solidFill>
                            <a:srgbClr val="4B2E83"/>
                          </a:solidFill>
                          <a:latin typeface="Cambria Math"/>
                        </a:rPr>
                        <m:t>2.121</m:t>
                      </m:r>
                    </m:oMath>
                  </m:oMathPara>
                </a14:m>
                <a:endParaRPr lang="en-US" sz="17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413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Reading the formula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•  Eₖ — first k eigenvectors as columns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•  Λₖ^½ — diag(√λ₁, …, √λₖ)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•  Multiplying stretches each axis by √λ</a:t>
            </a:r>
          </a:p>
          <a:p>
            <a:pPr algn="l">
              <a:spcBef>
                <a:spcPts val="200"/>
              </a:spcBef>
            </a:pPr>
            <a:r>
              <a:rPr lang="en-US" sz="1250" i="1" dirty="0">
                <a:solidFill>
                  <a:srgbClr val="4B2E83"/>
                </a:solidFill>
              </a:rPr>
              <a:t>Bigger eigenvalue → more spread along that axis.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Each axis length equals √(eigenvalue); the two √4.5 = 2.121 axes set the scale of the map.</a:t>
            </a:r>
          </a:p>
        </p:txBody>
      </p:sp>
    </p:spTree>
    <p:extLst>
      <p:ext uri="{BB962C8B-B14F-4D97-AF65-F5344CB8AC3E}">
        <p14:creationId xmlns:p14="http://schemas.microsoft.com/office/powerpoint/2010/main" val="15351816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5 — The Coordinates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Scaling the eigenvectors gives the three points, centred at the origin.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Coordinate matrix  X   (rows A, B, C)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98500" y="2463800"/>
                <a:ext cx="6096000" cy="203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𝑋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sz="216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𝟏𝟐𝟏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𝟎𝟔𝟏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𝟖𝟑𝟕</m:t>
                                </m:r>
                              </m:e>
                            </m:mr>
                            <m:mr>
                              <m:e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𝟎𝟔𝟏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𝟖𝟑𝟕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63800"/>
                <a:ext cx="6096000" cy="203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521200"/>
            <a:ext cx="5969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00" b="1" dirty="0">
                <a:solidFill>
                  <a:srgbClr val="4B2E83"/>
                </a:solidFill>
              </a:rPr>
              <a:t>A (2.121, 0)</a:t>
            </a:r>
            <a:r>
              <a:rPr lang="en-US" sz="1300" b="1" dirty="0">
                <a:solidFill>
                  <a:srgbClr val="00A7B5"/>
                </a:solidFill>
              </a:rPr>
              <a:t>    B (−1.061, 1.837)</a:t>
            </a:r>
          </a:p>
          <a:p>
            <a:pPr algn="ctr">
              <a:spcBef>
                <a:spcPts val="120"/>
              </a:spcBef>
            </a:pPr>
            <a:r>
              <a:rPr lang="en-US" sz="1300" b="1" dirty="0">
                <a:solidFill>
                  <a:srgbClr val="D1578A"/>
                </a:solidFill>
              </a:rPr>
              <a:t>C (−1.061, −1.837)</a:t>
            </a:r>
          </a:p>
        </p:txBody>
      </p:sp>
      <p:sp>
        <p:nvSpPr>
          <p:cNvPr id="20" name="Map Header"/>
          <p:cNvSpPr txBox="1"/>
          <p:nvPr/>
        </p:nvSpPr>
        <p:spPr>
          <a:xfrm>
            <a:off x="6959600" y="1905000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Recovered configuration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These three points reproduce the equilateral triangle — same distances, brand-new coordinates.</a:t>
            </a:r>
          </a:p>
        </p:txBody>
      </p:sp>
      <p:graphicFrame>
        <p:nvGraphicFramePr>
          <p:cNvPr id="60" name="MDS Map"/>
          <p:cNvGraphicFramePr/>
          <p:nvPr/>
        </p:nvGraphicFramePr>
        <p:xfrm>
          <a:off x="6959600" y="2260600"/>
          <a:ext cx="4495800" cy="345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939938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6 — Distance Check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Verify ‖A − B‖ = 3: subtract coordinates, square, sum, take the root.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Recover the side  A–B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60400" y="2489200"/>
                <a:ext cx="61722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𝐴</m:t>
                      </m:r>
                      <m:r>
                        <a:rPr sz="2025">
                          <a:latin typeface="Cambria Math"/>
                        </a:rPr>
                        <m:t>−</m:t>
                      </m:r>
                      <m:r>
                        <a:rPr sz="2025">
                          <a:latin typeface="Cambria Math"/>
                        </a:rPr>
                        <m:t>𝐵</m:t>
                      </m:r>
                      <m:r>
                        <a:rPr sz="2025">
                          <a:latin typeface="Cambria Math"/>
                        </a:rPr>
                        <m:t>=(3.182,−1.837)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‖</m:t>
                      </m:r>
                      <m:r>
                        <a:rPr sz="2025">
                          <a:latin typeface="Cambria Math"/>
                        </a:rPr>
                        <m:t>𝐴</m:t>
                      </m:r>
                      <m:r>
                        <a:rPr sz="2025">
                          <a:latin typeface="Cambria Math"/>
                        </a:rPr>
                        <m:t>−</m:t>
                      </m:r>
                      <m:r>
                        <a:rPr sz="2025">
                          <a:latin typeface="Cambria Math"/>
                        </a:rPr>
                        <m:t>𝐵</m:t>
                      </m:r>
                      <m:r>
                        <a:rPr sz="2025">
                          <a:latin typeface="Cambria Math"/>
                        </a:rPr>
                        <m:t>‖=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2025">
                                  <a:latin typeface="Cambria Math"/>
                                </a:rPr>
                                <m:t>3.182</m:t>
                              </m:r>
                            </m:e>
                            <m:sup>
                              <m:r>
                                <a:rPr sz="2025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sz="2025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2025">
                                  <a:latin typeface="Cambria Math"/>
                                </a:rPr>
                                <m:t>1.837</m:t>
                              </m:r>
                            </m:e>
                            <m:sup>
                              <m:r>
                                <a:rPr sz="2025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sz="2025">
                              <a:latin typeface="Cambria Math"/>
                            </a:rPr>
                            <m:t>13.5</m:t>
                          </m:r>
                        </m:e>
                      </m:rad>
                      <m:r>
                        <a:rPr sz="2025">
                          <a:latin typeface="Cambria Math"/>
                        </a:rPr>
                        <m:t>=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3.0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" y="2489200"/>
                <a:ext cx="6172200" cy="2667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hk"/>
          <p:cNvSpPr txBox="1"/>
          <p:nvPr/>
        </p:nvSpPr>
        <p:spPr>
          <a:xfrm>
            <a:off x="762000" y="52070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00" b="1" dirty="0">
                <a:solidFill>
                  <a:srgbClr val="7AB648"/>
                </a:solidFill>
              </a:rPr>
              <a:t>matches the original side = 3  ✓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Step by step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Δx = 2.121 − (−1.061) = 3.182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Δy = 0 − 1.837 = −1.837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3.182² = 10.125,  1.837² = 3.375</a:t>
            </a:r>
          </a:p>
          <a:p>
            <a:pPr algn="l">
              <a:spcBef>
                <a:spcPts val="120"/>
              </a:spcBef>
            </a:pPr>
            <a:r>
              <a:rPr lang="en-US" sz="1300" b="1" dirty="0">
                <a:solidFill>
                  <a:srgbClr val="7AB648"/>
                </a:solidFill>
              </a:rPr>
              <a:t>sum = 13.5,  √13.5 = 3.0</a:t>
            </a:r>
          </a:p>
          <a:p>
            <a:pPr algn="l">
              <a:spcBef>
                <a:spcPts val="160"/>
              </a:spcBef>
            </a:pPr>
            <a:r>
              <a:rPr lang="en-US" sz="1250" i="1" dirty="0">
                <a:solidFill>
                  <a:srgbClr val="4B2E83"/>
                </a:solidFill>
              </a:rPr>
              <a:t>By symmetry all three sides = 3.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Recovered distances equal the inputs — classical MDS is exact when B is positive semi-definite.</a:t>
            </a:r>
          </a:p>
        </p:txBody>
      </p:sp>
    </p:spTree>
    <p:extLst>
      <p:ext uri="{BB962C8B-B14F-4D97-AF65-F5344CB8AC3E}">
        <p14:creationId xmlns:p14="http://schemas.microsoft.com/office/powerpoint/2010/main" val="9038012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7 — Goodness-of-Fit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GoF(2) = (λ₁+λ₂)/Σλ = 9/9 = 100%; the map is unique only up to rigid motion.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Fraction of inertia kept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98500" y="2667000"/>
                <a:ext cx="6096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𝐺𝑜𝐹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890">
                              <a:latin typeface="Cambria Math"/>
                            </a:rPr>
                            <m:t>4.5+4.5</m:t>
                          </m:r>
                        </m:num>
                        <m:den>
                          <m:r>
                            <a:rPr sz="1890">
                              <a:latin typeface="Cambria Math"/>
                            </a:rPr>
                            <m:t>4.5+4.5+0</m:t>
                          </m:r>
                        </m:den>
                      </m:f>
                      <m:r>
                        <a:rPr sz="216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025">
                              <a:latin typeface="Cambria Math"/>
                            </a:rPr>
                            <m:t>9</m:t>
                          </m:r>
                        </m:num>
                        <m:den>
                          <m:r>
                            <a:rPr sz="2025">
                              <a:latin typeface="Cambria Math"/>
                            </a:rPr>
                            <m:t>9</m:t>
                          </m:r>
                        </m:den>
                      </m:f>
                      <m:r>
                        <a:rPr sz="2160">
                          <a:latin typeface="Cambria Math"/>
                        </a:rPr>
                        <m:t>=</m:t>
                      </m:r>
                      <m:r>
                        <a:rPr sz="2160" b="1">
                          <a:solidFill>
                            <a:srgbClr val="7AB648"/>
                          </a:solidFill>
                          <a:latin typeface="Cambria Math"/>
                        </a:rPr>
                        <m:t>100%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67000"/>
                <a:ext cx="6096000" cy="190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Two facts to remember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•  100% → 2 axes capture all structure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•  Rotation, reflection, translation leave every distance unchanged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So axis orientation is arbitrary —</a:t>
            </a:r>
          </a:p>
          <a:p>
            <a:pPr algn="l">
              <a:spcBef>
                <a:spcPts val="60"/>
              </a:spcBef>
            </a:pPr>
            <a:r>
              <a:rPr lang="en-US" sz="1300" b="1" dirty="0">
                <a:solidFill>
                  <a:srgbClr val="4B2E83"/>
                </a:solidFill>
              </a:rPr>
              <a:t>read clusters &amp; proximities, not axis directions.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Perfect fit here; in general GoF reports how much structure your k axes retain.</a:t>
            </a:r>
          </a:p>
        </p:txBody>
      </p:sp>
    </p:spTree>
    <p:extLst>
      <p:ext uri="{BB962C8B-B14F-4D97-AF65-F5344CB8AC3E}">
        <p14:creationId xmlns:p14="http://schemas.microsoft.com/office/powerpoint/2010/main" val="41659673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BF5E12-20F0-7F49-B2FB-C75E4F0A012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A4BF78-514C-DA41-BC00-D5B4A9611435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Worked Example 2 — Computing Stress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75932A1-6B46-8E41-B531-084F198A5D9E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MDS · Example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AE261C-F22A-A44A-A6D6-3B713B243E3B}"/>
              </a:ext>
            </a:extLst>
          </p:cNvPr>
          <p:cNvSpPr txBox="1"/>
          <p:nvPr/>
        </p:nvSpPr>
        <p:spPr>
          <a:xfrm>
            <a:off x="762000" y="1473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A candidate 1-D configuration is proposed for 3 objects. Compute Kruskal's stress to judge the fit.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13F4EA-B02B-8A4B-AF98-42DFCD31C98C}"/>
              </a:ext>
            </a:extLst>
          </p:cNvPr>
          <p:cNvSpPr txBox="1"/>
          <p:nvPr/>
        </p:nvSpPr>
        <p:spPr>
          <a:xfrm>
            <a:off x="762000" y="18796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Given dissimilarities vs. map distances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57DA676-23D9-0C4B-8BDD-61F95D9AD739}"/>
              </a:ext>
            </a:extLst>
          </p:cNvPr>
          <p:cNvSpPr/>
          <p:nvPr/>
        </p:nvSpPr>
        <p:spPr>
          <a:xfrm>
            <a:off x="762000" y="2184400"/>
            <a:ext cx="5334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ACF730-382B-F74D-91A0-8D9D8BFC5FE7}"/>
              </a:ext>
            </a:extLst>
          </p:cNvPr>
          <p:cNvSpPr txBox="1"/>
          <p:nvPr/>
        </p:nvSpPr>
        <p:spPr>
          <a:xfrm>
            <a:off x="939800" y="2311400"/>
            <a:ext cx="4978400" cy="170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Pair     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 (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input)    d (on map)
(1,2)        2.0          1.8
(1,3)        5.0          5.2
(2,3)        4.0          3.6
Stress = √[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Σ(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d−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δ)² / Σ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d² 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C43E42-5097-4949-970D-671564D95657}"/>
              </a:ext>
            </a:extLst>
          </p:cNvPr>
          <p:cNvSpPr txBox="1"/>
          <p:nvPr/>
        </p:nvSpPr>
        <p:spPr>
          <a:xfrm>
            <a:off x="6350000" y="18796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Plug in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8E4AB98-7707-7D46-AE6E-C1E57C6E009B}"/>
              </a:ext>
            </a:extLst>
          </p:cNvPr>
          <p:cNvSpPr/>
          <p:nvPr/>
        </p:nvSpPr>
        <p:spPr>
          <a:xfrm>
            <a:off x="6350000" y="2184400"/>
            <a:ext cx="5080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CB979E-88E8-0747-947A-8D2CEDCB77D9}"/>
              </a:ext>
            </a:extLst>
          </p:cNvPr>
          <p:cNvSpPr txBox="1"/>
          <p:nvPr/>
        </p:nvSpPr>
        <p:spPr>
          <a:xfrm>
            <a:off x="6527800" y="2311400"/>
            <a:ext cx="4724400" cy="170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Σ(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d−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δ)² = (1.8−2.0)² + (5.2−5.0)²
           + (3.6−4.0)²
        = 0.04 + 0.04 + 0.16 = 0.24
Σ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d² = 1.8² + 5.2² + 3.6² = 43.24
Stress = √(0.24/43.24) = √0.00555 = 0.0745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DF4A1E-1EDC-A04D-B51B-F28BE0020A85}"/>
              </a:ext>
            </a:extLst>
          </p:cNvPr>
          <p:cNvSpPr txBox="1"/>
          <p:nvPr/>
        </p:nvSpPr>
        <p:spPr>
          <a:xfrm>
            <a:off x="762000" y="42672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Interpretation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2AC253B-6585-9D44-816D-DF840E12092D}"/>
              </a:ext>
            </a:extLst>
          </p:cNvPr>
          <p:cNvSpPr/>
          <p:nvPr/>
        </p:nvSpPr>
        <p:spPr>
          <a:xfrm>
            <a:off x="762000" y="4572000"/>
            <a:ext cx="10668000" cy="1498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B6CAF8-5010-EF4E-BB88-5AB4892928CE}"/>
              </a:ext>
            </a:extLst>
          </p:cNvPr>
          <p:cNvSpPr txBox="1"/>
          <p:nvPr/>
        </p:nvSpPr>
        <p:spPr>
          <a:xfrm>
            <a:off x="939800" y="4699000"/>
            <a:ext cx="10312400" cy="1295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Stress ≈ 0.075 falls between 0.05 (excellent) and 0.10 (good) ⇒ the configuration fits well.
The map distances track the input dissimilarities closely; no large single discrepancy dominates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Σ(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d−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δ)².
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In non-metric MDS an optimizer would nudge the points to push this stress even lower, then stop at the
elbow of the stress-vs-iterations curve.</a:t>
            </a:r>
          </a:p>
        </p:txBody>
      </p:sp>
    </p:spTree>
    <p:extLst>
      <p:ext uri="{BB962C8B-B14F-4D97-AF65-F5344CB8AC3E}">
        <p14:creationId xmlns:p14="http://schemas.microsoft.com/office/powerpoint/2010/main" val="19243731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Targets δ vs Map d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Three pairs: target dissimilarities δ vs map distances d. Kruskal's Stress scores the gap.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Inputs and the Stress formula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Vectors"/>
              <p:cNvSpPr txBox="1"/>
              <p:nvPr/>
            </p:nvSpPr>
            <p:spPr>
              <a:xfrm>
                <a:off x="698500" y="2489200"/>
                <a:ext cx="60960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t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𝛿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𝟓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𝑑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𝟖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𝟓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𝟔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Vector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"/>
              <p:cNvSpPr txBox="1"/>
              <p:nvPr/>
            </p:nvSpPr>
            <p:spPr>
              <a:xfrm>
                <a:off x="698500" y="4064000"/>
                <a:ext cx="6096000" cy="139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𝑆𝑡𝑟𝑒𝑠𝑠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sz="2025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sz="2025">
                                          <a:latin typeface="Cambria Math"/>
                                        </a:rPr>
                                        <m:t>𝑑</m:t>
                                      </m:r>
                                      <m:r>
                                        <a:rPr sz="2025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sz="2025">
                                          <a:latin typeface="Cambria Math"/>
                                        </a:rPr>
                                        <m:t>𝛿</m:t>
                                      </m:r>
                                      <m:r>
                                        <a:rPr sz="2025">
                                          <a:latin typeface="Cambria Math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sz="2025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sz="2025">
                                          <a:latin typeface="Cambria Math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sz="2025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den>
                          </m:f>
                        </m:e>
                      </m:ra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4" name="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4064000"/>
                <a:ext cx="6096000" cy="1397000"/>
              </a:xfrm>
              <a:prstGeom prst="rect">
                <a:avLst/>
              </a:prstGeom>
              <a:blipFill>
                <a:blip r:embed="rId3"/>
                <a:stretch>
                  <a:fillRect t="-5405" b="-243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The three pairs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50" dirty="0">
                <a:solidFill>
                  <a:srgbClr val="333333"/>
                </a:solidFill>
              </a:rPr>
              <a:t>pair (1,2):   δ = 2.0,   d = 1.8</a:t>
            </a:r>
          </a:p>
          <a:p>
            <a:pPr algn="l">
              <a:spcBef>
                <a:spcPts val="140"/>
              </a:spcBef>
            </a:pPr>
            <a:r>
              <a:rPr lang="en-US" sz="1350" dirty="0">
                <a:solidFill>
                  <a:srgbClr val="333333"/>
                </a:solidFill>
              </a:rPr>
              <a:t>pair (1,3):   δ = 5.0,   d = 5.2</a:t>
            </a:r>
          </a:p>
          <a:p>
            <a:pPr algn="l">
              <a:spcBef>
                <a:spcPts val="140"/>
              </a:spcBef>
            </a:pPr>
            <a:r>
              <a:rPr lang="en-US" sz="1350" dirty="0">
                <a:solidFill>
                  <a:srgbClr val="333333"/>
                </a:solidFill>
              </a:rPr>
              <a:t>pair (2,3):   δ = 4.0,   d = 3.6</a:t>
            </a:r>
          </a:p>
          <a:p>
            <a:pPr algn="l">
              <a:spcBef>
                <a:spcPts val="220"/>
              </a:spcBef>
            </a:pPr>
            <a:r>
              <a:rPr lang="en-US" sz="1300" b="1" dirty="0">
                <a:solidFill>
                  <a:srgbClr val="00A7B5"/>
                </a:solidFill>
              </a:rPr>
              <a:t>δ </a:t>
            </a:r>
            <a:r>
              <a:rPr lang="en-US" sz="1300" dirty="0">
                <a:solidFill>
                  <a:srgbClr val="333333"/>
                </a:solidFill>
              </a:rPr>
              <a:t>= target dissimilarities</a:t>
            </a:r>
          </a:p>
          <a:p>
            <a:pPr algn="l">
              <a:spcBef>
                <a:spcPts val="80"/>
              </a:spcBef>
            </a:pPr>
            <a:r>
              <a:rPr lang="en-US" sz="1300" b="1" dirty="0">
                <a:solidFill>
                  <a:srgbClr val="D1578A"/>
                </a:solidFill>
              </a:rPr>
              <a:t>d </a:t>
            </a:r>
            <a:r>
              <a:rPr lang="en-US" sz="1300" dirty="0">
                <a:solidFill>
                  <a:srgbClr val="333333"/>
                </a:solidFill>
              </a:rPr>
              <a:t>= distances in the map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Stress is the normalized root-mean-square gap between target and realized distances.</a:t>
            </a:r>
          </a:p>
        </p:txBody>
      </p:sp>
    </p:spTree>
    <p:extLst>
      <p:ext uri="{BB962C8B-B14F-4D97-AF65-F5344CB8AC3E}">
        <p14:creationId xmlns:p14="http://schemas.microsoft.com/office/powerpoint/2010/main" val="37172603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Residuals  d − δ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Subtract the target from each map distance: residual = d − δ for every pair.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Pairwise residuals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98500" y="2616200"/>
                <a:ext cx="609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𝑑</m:t>
                      </m:r>
                      <m:r>
                        <a:rPr sz="2025">
                          <a:latin typeface="Cambria Math"/>
                        </a:rPr>
                        <m:t>−</m:t>
                      </m:r>
                      <m:r>
                        <a:rPr sz="2025">
                          <a:latin typeface="Cambria Math"/>
                        </a:rPr>
                        <m:t>𝛿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𝟖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𝟓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𝟓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𝟑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𝟔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Reading the residuals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Residual = map distance − target.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•  (1,2): −0.2 → a touch too close</a:t>
            </a:r>
          </a:p>
          <a:p>
            <a:pPr algn="l">
              <a:spcBef>
                <a:spcPts val="100"/>
              </a:spcBef>
            </a:pPr>
            <a:r>
              <a:rPr lang="en-US" sz="1300" dirty="0">
                <a:solidFill>
                  <a:srgbClr val="333333"/>
                </a:solidFill>
              </a:rPr>
              <a:t>•  (1,3): +0.2 → a touch too far</a:t>
            </a:r>
          </a:p>
          <a:p>
            <a:pPr algn="l">
              <a:spcBef>
                <a:spcPts val="100"/>
              </a:spcBef>
            </a:pPr>
            <a:r>
              <a:rPr lang="en-US" sz="1300" dirty="0">
                <a:solidFill>
                  <a:srgbClr val="333333"/>
                </a:solidFill>
              </a:rPr>
              <a:t>•  (2,3): −0.4 → the largest miss</a:t>
            </a:r>
          </a:p>
          <a:p>
            <a:pPr algn="l">
              <a:spcBef>
                <a:spcPts val="200"/>
              </a:spcBef>
            </a:pPr>
            <a:r>
              <a:rPr lang="en-US" sz="1250" i="1" dirty="0">
                <a:solidFill>
                  <a:srgbClr val="4B2E83"/>
                </a:solidFill>
              </a:rPr>
              <a:t>Signs would cancel if summed — so we square them next.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Each residual shows how far one map distance misses its target dissimilarity.</a:t>
            </a:r>
          </a:p>
        </p:txBody>
      </p:sp>
    </p:spTree>
    <p:extLst>
      <p:ext uri="{BB962C8B-B14F-4D97-AF65-F5344CB8AC3E}">
        <p14:creationId xmlns:p14="http://schemas.microsoft.com/office/powerpoint/2010/main" val="37323665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3 — The Numerator  Σ(d−δ)²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Square each residual and add them up — this sum is the Stress numerator.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Sum of squared residuals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98500" y="2616200"/>
                <a:ext cx="609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(−0.2)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(0.2)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(−0.4)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=0.04+0.04+0.16=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0.24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Why square?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Squaring removes signs and weights large misses more heavily.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(−0.2)² = 0.04</a:t>
            </a:r>
          </a:p>
          <a:p>
            <a:pPr algn="l">
              <a:spcBef>
                <a:spcPts val="80"/>
              </a:spcBef>
            </a:pPr>
            <a:r>
              <a:rPr lang="en-US" sz="1300" dirty="0">
                <a:solidFill>
                  <a:srgbClr val="333333"/>
                </a:solidFill>
              </a:rPr>
              <a:t>(0.2)²  = 0.04</a:t>
            </a:r>
          </a:p>
          <a:p>
            <a:pPr algn="l">
              <a:spcBef>
                <a:spcPts val="80"/>
              </a:spcBef>
            </a:pPr>
            <a:r>
              <a:rPr lang="en-US" sz="1300" dirty="0">
                <a:solidFill>
                  <a:srgbClr val="333333"/>
                </a:solidFill>
              </a:rPr>
              <a:t>(−0.4)² = 0.16</a:t>
            </a:r>
          </a:p>
          <a:p>
            <a:pPr algn="l">
              <a:spcBef>
                <a:spcPts val="160"/>
              </a:spcBef>
            </a:pPr>
            <a:r>
              <a:rPr lang="en-US" sz="1350" b="1" dirty="0">
                <a:solidFill>
                  <a:srgbClr val="4B2E83"/>
                </a:solidFill>
              </a:rPr>
              <a:t>Σ(d−δ)² = 0.24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numerator 0.24 is the total squared misfit — small here, so the map is close.</a:t>
            </a:r>
          </a:p>
        </p:txBody>
      </p:sp>
    </p:spTree>
    <p:extLst>
      <p:ext uri="{BB962C8B-B14F-4D97-AF65-F5344CB8AC3E}">
        <p14:creationId xmlns:p14="http://schemas.microsoft.com/office/powerpoint/2010/main" val="4226060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4 — The Denominator  Σd²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Normalize by the squared map distances. Σd² makes Stress scale-free (a proportion).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Sum of squared distances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98500" y="2616200"/>
                <a:ext cx="609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1.8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5.2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3.6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=3.24+27.04+12.96=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43.24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Why normalize?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Dividing by Σd² turns Stress into a unitless proportion, independent of scale.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1.8² = 3.24</a:t>
            </a:r>
          </a:p>
          <a:p>
            <a:pPr algn="l">
              <a:spcBef>
                <a:spcPts val="80"/>
              </a:spcBef>
            </a:pPr>
            <a:r>
              <a:rPr lang="en-US" sz="1300" dirty="0">
                <a:solidFill>
                  <a:srgbClr val="333333"/>
                </a:solidFill>
              </a:rPr>
              <a:t>5.2² = 27.04</a:t>
            </a:r>
          </a:p>
          <a:p>
            <a:pPr algn="l">
              <a:spcBef>
                <a:spcPts val="80"/>
              </a:spcBef>
            </a:pPr>
            <a:r>
              <a:rPr lang="en-US" sz="1300" dirty="0">
                <a:solidFill>
                  <a:srgbClr val="333333"/>
                </a:solidFill>
              </a:rPr>
              <a:t>3.6² = 12.96</a:t>
            </a:r>
          </a:p>
          <a:p>
            <a:pPr algn="l">
              <a:spcBef>
                <a:spcPts val="160"/>
              </a:spcBef>
            </a:pPr>
            <a:r>
              <a:rPr lang="en-US" sz="1350" b="1" dirty="0">
                <a:solidFill>
                  <a:srgbClr val="4B2E83"/>
                </a:solidFill>
              </a:rPr>
              <a:t>Σd² = 43.24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denominator 43.24 rescales the misfit so Stress is comparable across datasets.</a:t>
            </a:r>
          </a:p>
        </p:txBody>
      </p:sp>
    </p:spTree>
    <p:extLst>
      <p:ext uri="{BB962C8B-B14F-4D97-AF65-F5344CB8AC3E}">
        <p14:creationId xmlns:p14="http://schemas.microsoft.com/office/powerpoint/2010/main" val="40731231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5 — The Stress Value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Combine numerator and denominator under the root: Stress = √(0.24 / 43.24).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Putting it together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98500" y="2540000"/>
                <a:ext cx="6096000" cy="241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𝑆𝑡𝑟𝑒𝑠𝑠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2160">
                                  <a:latin typeface="Cambria Math"/>
                                </a:rPr>
                                <m:t>0.24</m:t>
                              </m:r>
                            </m:num>
                            <m:den>
                              <m:r>
                                <a:rPr sz="2160">
                                  <a:latin typeface="Cambria Math"/>
                                </a:rPr>
                                <m:t>43.24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sz="2160">
                              <a:latin typeface="Cambria Math"/>
                            </a:rPr>
                            <m:t>0.00555</m:t>
                          </m:r>
                        </m:e>
                      </m:rad>
                      <m:r>
                        <a:rPr sz="2160">
                          <a:latin typeface="Cambria Math"/>
                        </a:rPr>
                        <m:t>=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0.0745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413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Arithmetic, step by step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•  numerator = 0.24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•  denominator = 43.24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•  ratio = 0.24 / 43.24 = 0.00555</a:t>
            </a:r>
          </a:p>
          <a:p>
            <a:pPr algn="l">
              <a:spcBef>
                <a:spcPts val="120"/>
              </a:spcBef>
            </a:pPr>
            <a:r>
              <a:rPr lang="en-US" sz="1300" b="1" dirty="0">
                <a:solidFill>
                  <a:srgbClr val="4B2E83"/>
                </a:solidFill>
              </a:rPr>
              <a:t>•  √0.00555 = 0.0745</a:t>
            </a:r>
          </a:p>
          <a:p>
            <a:pPr algn="l">
              <a:spcBef>
                <a:spcPts val="200"/>
              </a:spcBef>
            </a:pPr>
            <a:r>
              <a:rPr lang="en-US" sz="1250" i="1" dirty="0">
                <a:solidFill>
                  <a:srgbClr val="4B2E83"/>
                </a:solidFill>
              </a:rPr>
              <a:t>A low value — the map reproduces the dissimilarities well.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Stress ≈ 0.075. Next, read it against the standard rule-of-thumb bands.</a:t>
            </a:r>
          </a:p>
        </p:txBody>
      </p:sp>
    </p:spTree>
    <p:extLst>
      <p:ext uri="{BB962C8B-B14F-4D97-AF65-F5344CB8AC3E}">
        <p14:creationId xmlns:p14="http://schemas.microsoft.com/office/powerpoint/2010/main" val="25677817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6 — Interpreting the Stress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50000" tIns="20000" rIns="50000" bIns="2000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Stress ≈ 0.075 lands between ‘excellent’ (0.05) and ‘good’ (0.10) → the map fits well.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Stress fit gauge</a:t>
            </a:r>
          </a:p>
        </p:txBody>
      </p:sp>
      <p:sp>
        <p:nvSpPr>
          <p:cNvPr id="60" name="Z1"/>
          <p:cNvSpPr/>
          <p:nvPr/>
        </p:nvSpPr>
        <p:spPr>
          <a:xfrm>
            <a:off x="1206500" y="3873500"/>
            <a:ext cx="1270000" cy="330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Z2"/>
          <p:cNvSpPr/>
          <p:nvPr/>
        </p:nvSpPr>
        <p:spPr>
          <a:xfrm>
            <a:off x="2476500" y="3873500"/>
            <a:ext cx="1270000" cy="3302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Z3"/>
          <p:cNvSpPr/>
          <p:nvPr/>
        </p:nvSpPr>
        <p:spPr>
          <a:xfrm>
            <a:off x="3746500" y="3873500"/>
            <a:ext cx="1270000" cy="330200"/>
          </a:xfrm>
          <a:prstGeom prst="rect">
            <a:avLst/>
          </a:prstGeom>
          <a:solidFill>
            <a:srgbClr val="8575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Z4"/>
          <p:cNvSpPr/>
          <p:nvPr/>
        </p:nvSpPr>
        <p:spPr>
          <a:xfrm>
            <a:off x="5016500" y="3873500"/>
            <a:ext cx="1270000" cy="33020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MarkerLine"/>
          <p:cNvSpPr/>
          <p:nvPr/>
        </p:nvSpPr>
        <p:spPr>
          <a:xfrm>
            <a:off x="3092450" y="3810000"/>
            <a:ext cx="38100" cy="660400"/>
          </a:xfrm>
          <a:prstGeom prst="rect">
            <a:avLst/>
          </a:prstGeom>
          <a:solidFill>
            <a:srgbClr val="333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" name="MarkerDot"/>
          <p:cNvSpPr/>
          <p:nvPr/>
        </p:nvSpPr>
        <p:spPr>
          <a:xfrm>
            <a:off x="3009900" y="3594100"/>
            <a:ext cx="203200" cy="203200"/>
          </a:xfrm>
          <a:prstGeom prst="ellipse">
            <a:avLst/>
          </a:prstGeom>
          <a:solidFill>
            <a:srgbClr val="4B2E83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" name="MarkerLbl"/>
          <p:cNvSpPr txBox="1"/>
          <p:nvPr/>
        </p:nvSpPr>
        <p:spPr>
          <a:xfrm>
            <a:off x="2222500" y="33020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300" b="1" dirty="0">
                <a:solidFill>
                  <a:srgbClr val="4B2E83"/>
                </a:solidFill>
              </a:rPr>
              <a:t>Stress = 0.075</a:t>
            </a:r>
          </a:p>
        </p:txBody>
      </p:sp>
      <p:sp>
        <p:nvSpPr>
          <p:cNvPr id="70" name="T0"/>
          <p:cNvSpPr txBox="1"/>
          <p:nvPr/>
        </p:nvSpPr>
        <p:spPr>
          <a:xfrm>
            <a:off x="927100" y="42545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050" dirty="0">
                <a:solidFill>
                  <a:srgbClr val="666666"/>
                </a:solidFill>
              </a:rPr>
              <a:t>0.00</a:t>
            </a:r>
          </a:p>
        </p:txBody>
      </p:sp>
      <p:sp>
        <p:nvSpPr>
          <p:cNvPr id="71" name="T1"/>
          <p:cNvSpPr txBox="1"/>
          <p:nvPr/>
        </p:nvSpPr>
        <p:spPr>
          <a:xfrm>
            <a:off x="2197100" y="42545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050" dirty="0">
                <a:solidFill>
                  <a:srgbClr val="666666"/>
                </a:solidFill>
              </a:rPr>
              <a:t>0.05</a:t>
            </a:r>
          </a:p>
        </p:txBody>
      </p:sp>
      <p:sp>
        <p:nvSpPr>
          <p:cNvPr id="72" name="T2"/>
          <p:cNvSpPr txBox="1"/>
          <p:nvPr/>
        </p:nvSpPr>
        <p:spPr>
          <a:xfrm>
            <a:off x="3467100" y="42545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050" dirty="0">
                <a:solidFill>
                  <a:srgbClr val="666666"/>
                </a:solidFill>
              </a:rPr>
              <a:t>0.10</a:t>
            </a:r>
          </a:p>
        </p:txBody>
      </p:sp>
      <p:sp>
        <p:nvSpPr>
          <p:cNvPr id="73" name="T3"/>
          <p:cNvSpPr txBox="1"/>
          <p:nvPr/>
        </p:nvSpPr>
        <p:spPr>
          <a:xfrm>
            <a:off x="4737100" y="42545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050" dirty="0">
                <a:solidFill>
                  <a:srgbClr val="666666"/>
                </a:solidFill>
              </a:rPr>
              <a:t>0.15</a:t>
            </a:r>
          </a:p>
        </p:txBody>
      </p:sp>
      <p:sp>
        <p:nvSpPr>
          <p:cNvPr id="74" name="T4"/>
          <p:cNvSpPr txBox="1"/>
          <p:nvPr/>
        </p:nvSpPr>
        <p:spPr>
          <a:xfrm>
            <a:off x="6007100" y="42545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050" dirty="0">
                <a:solidFill>
                  <a:srgbClr val="666666"/>
                </a:solidFill>
              </a:rPr>
              <a:t>0.20</a:t>
            </a:r>
          </a:p>
        </p:txBody>
      </p:sp>
      <p:sp>
        <p:nvSpPr>
          <p:cNvPr id="80" name="ZL0"/>
          <p:cNvSpPr txBox="1"/>
          <p:nvPr/>
        </p:nvSpPr>
        <p:spPr>
          <a:xfrm>
            <a:off x="1308100" y="4546600"/>
            <a:ext cx="10668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7AB648"/>
                </a:solidFill>
              </a:rPr>
              <a:t>excellent</a:t>
            </a:r>
          </a:p>
        </p:txBody>
      </p:sp>
      <p:sp>
        <p:nvSpPr>
          <p:cNvPr id="81" name="ZL1"/>
          <p:cNvSpPr txBox="1"/>
          <p:nvPr/>
        </p:nvSpPr>
        <p:spPr>
          <a:xfrm>
            <a:off x="2578100" y="4546600"/>
            <a:ext cx="10668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00A7B5"/>
                </a:solidFill>
              </a:rPr>
              <a:t>good</a:t>
            </a:r>
          </a:p>
        </p:txBody>
      </p:sp>
      <p:sp>
        <p:nvSpPr>
          <p:cNvPr id="82" name="ZL2"/>
          <p:cNvSpPr txBox="1"/>
          <p:nvPr/>
        </p:nvSpPr>
        <p:spPr>
          <a:xfrm>
            <a:off x="3848100" y="4546600"/>
            <a:ext cx="10668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85754D"/>
                </a:solidFill>
              </a:rPr>
              <a:t>fair</a:t>
            </a:r>
          </a:p>
        </p:txBody>
      </p:sp>
      <p:sp>
        <p:nvSpPr>
          <p:cNvPr id="83" name="ZL3"/>
          <p:cNvSpPr txBox="1"/>
          <p:nvPr/>
        </p:nvSpPr>
        <p:spPr>
          <a:xfrm>
            <a:off x="5118100" y="4546600"/>
            <a:ext cx="10668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D1578A"/>
                </a:solidFill>
              </a:rPr>
              <a:t>poor</a:t>
            </a:r>
          </a:p>
        </p:txBody>
      </p:sp>
      <p:sp>
        <p:nvSpPr>
          <p:cNvPr id="90" name="GaugeNote"/>
          <p:cNvSpPr txBox="1"/>
          <p:nvPr/>
        </p:nvSpPr>
        <p:spPr>
          <a:xfrm>
            <a:off x="965200" y="4978400"/>
            <a:ext cx="5562600" cy="558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250" i="1" dirty="0">
                <a:solidFill>
                  <a:srgbClr val="666666"/>
                </a:solidFill>
              </a:rPr>
              <a:t>The marker sits just inside the ‘good’ band — a reliable 2-D map.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Rule-of-thumb bands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540000"/>
            <a:ext cx="4038600" cy="3048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7AB648"/>
                </a:solidFill>
              </a:rPr>
              <a:t>0.00 – 0.05   </a:t>
            </a:r>
            <a:r>
              <a:rPr lang="en-US" sz="1350" dirty="0">
                <a:solidFill>
                  <a:srgbClr val="333333"/>
                </a:solidFill>
              </a:rPr>
              <a:t>excellent</a:t>
            </a:r>
          </a:p>
          <a:p>
            <a:pPr algn="l">
              <a:spcBef>
                <a:spcPts val="160"/>
              </a:spcBef>
            </a:pPr>
            <a:r>
              <a:rPr lang="en-US" sz="1350" b="1" dirty="0">
                <a:solidFill>
                  <a:srgbClr val="00A7B5"/>
                </a:solidFill>
              </a:rPr>
              <a:t>0.05 – 0.10   </a:t>
            </a:r>
            <a:r>
              <a:rPr lang="en-US" sz="1350" dirty="0">
                <a:solidFill>
                  <a:srgbClr val="333333"/>
                </a:solidFill>
              </a:rPr>
              <a:t>good</a:t>
            </a:r>
          </a:p>
          <a:p>
            <a:pPr algn="l">
              <a:spcBef>
                <a:spcPts val="160"/>
              </a:spcBef>
            </a:pPr>
            <a:r>
              <a:rPr lang="en-US" sz="1350" b="1" dirty="0">
                <a:solidFill>
                  <a:srgbClr val="85754D"/>
                </a:solidFill>
              </a:rPr>
              <a:t>0.10 – 0.20   </a:t>
            </a:r>
            <a:r>
              <a:rPr lang="en-US" sz="1350" dirty="0">
                <a:solidFill>
                  <a:srgbClr val="333333"/>
                </a:solidFill>
              </a:rPr>
              <a:t>fair</a:t>
            </a:r>
          </a:p>
          <a:p>
            <a:pPr algn="l">
              <a:spcBef>
                <a:spcPts val="160"/>
              </a:spcBef>
            </a:pPr>
            <a:r>
              <a:rPr lang="en-US" sz="1350" b="1" dirty="0">
                <a:solidFill>
                  <a:srgbClr val="D1578A"/>
                </a:solidFill>
              </a:rPr>
              <a:t>&gt; 0.20          </a:t>
            </a:r>
            <a:r>
              <a:rPr lang="en-US" sz="1350" dirty="0">
                <a:solidFill>
                  <a:srgbClr val="333333"/>
                </a:solidFill>
              </a:rPr>
              <a:t>poor</a:t>
            </a:r>
          </a:p>
          <a:p>
            <a:pPr algn="l">
              <a:spcBef>
                <a:spcPts val="240"/>
              </a:spcBef>
            </a:pPr>
            <a:r>
              <a:rPr lang="en-US" sz="1400" b="1" dirty="0">
                <a:solidFill>
                  <a:srgbClr val="4B2E83"/>
                </a:solidFill>
              </a:rPr>
              <a:t>Our 0.075 → good fit.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Always judge Stress against these bands — a small number alone doesn’t guarantee a good map.</a:t>
            </a:r>
          </a:p>
        </p:txBody>
      </p:sp>
    </p:spTree>
    <p:extLst>
      <p:ext uri="{BB962C8B-B14F-4D97-AF65-F5344CB8AC3E}">
        <p14:creationId xmlns:p14="http://schemas.microsoft.com/office/powerpoint/2010/main" val="5788118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8F7D2A-0AF6-C24F-A3AC-477CA4BE7502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909225-174F-4346-BF92-5E21B8236F82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Worked Example 3 — Reading Eigenvalues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AA22839-52F8-1948-A253-AE27DDCEF27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MDS · Example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CD7447-E4AD-7B49-BC97-1EE6010F4A3C}"/>
              </a:ext>
            </a:extLst>
          </p:cNvPr>
          <p:cNvSpPr txBox="1"/>
          <p:nvPr/>
        </p:nvSpPr>
        <p:spPr>
          <a:xfrm>
            <a:off x="762000" y="1473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A classical-MDS run on a 5-object dissimilarity matrix returns these eigenvalues of B. Diagnose the result.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BF41EF-568A-794B-9252-F955DBCA20B1}"/>
              </a:ext>
            </a:extLst>
          </p:cNvPr>
          <p:cNvSpPr txBox="1"/>
          <p:nvPr/>
        </p:nvSpPr>
        <p:spPr>
          <a:xfrm>
            <a:off x="762000" y="1879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Eigenvalues of B (descending)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6A7BE0B-6A54-A144-9F09-FABF0755D9C1}"/>
              </a:ext>
            </a:extLst>
          </p:cNvPr>
          <p:cNvSpPr/>
          <p:nvPr/>
        </p:nvSpPr>
        <p:spPr>
          <a:xfrm>
            <a:off x="762000" y="2184400"/>
            <a:ext cx="10668000" cy="9144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0A0B98-4C61-1143-8C07-6305624FE8CA}"/>
              </a:ext>
            </a:extLst>
          </p:cNvPr>
          <p:cNvSpPr txBox="1"/>
          <p:nvPr/>
        </p:nvSpPr>
        <p:spPr>
          <a:xfrm>
            <a:off x="939800" y="2311400"/>
            <a:ext cx="103124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 = ( 8.20,  3.10,  0.40,  −0.05,  −0.65 )       Σ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positive = 8.20 + 3.10 + 0.40 = 11.70
Questions: (a) Is the data Euclidean?  (b) How many dimensions to keep?  (c) GoF of a 2-D map?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2344B2-A595-6842-A29E-27BB7A6993B1}"/>
              </a:ext>
            </a:extLst>
          </p:cNvPr>
          <p:cNvSpPr txBox="1"/>
          <p:nvPr/>
        </p:nvSpPr>
        <p:spPr>
          <a:xfrm>
            <a:off x="762000" y="3276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Answers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05FFF88-029D-4B4E-BB3C-F3EBF0D3C810}"/>
              </a:ext>
            </a:extLst>
          </p:cNvPr>
          <p:cNvSpPr/>
          <p:nvPr/>
        </p:nvSpPr>
        <p:spPr>
          <a:xfrm>
            <a:off x="762000" y="3581400"/>
            <a:ext cx="10668000" cy="24892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39CFD1-D6E4-2548-BE3F-5746736A25D5}"/>
              </a:ext>
            </a:extLst>
          </p:cNvPr>
          <p:cNvSpPr txBox="1"/>
          <p:nvPr/>
        </p:nvSpPr>
        <p:spPr>
          <a:xfrm>
            <a:off x="939800" y="3708400"/>
            <a:ext cx="103124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(a) Not exactly Euclidean: two eigenvalues are negative (−0.05, −0.65). The −0.65 is sizeable, so a low-dim
      Euclidean map will distort some distances. (Pure Euclidean data ⇒ all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 ≥ 0.)
(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b) Dimensions: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λ₁, λ₂ (8.20, 3.10)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dominate;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λ₃ = 0.40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is small. Keep k = 2 for a readable map.
(c) GoF(2) = (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λ₁+λ₂)/Σ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max(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λ,0) = (8.20+3.10)/11.70 = 11.30/11.70 = 96.6%.
      ⇒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the 2-D solution captures ~97% of the positive structure — a good map, but report the negative
      eigenvalues as a caveat (some triangle inequalities are mildly violated in the original dissimilarities).
Take-away: scan the eigenvalue spectrum for size (how many dims) AND sign (how Euclidean) before plotting.</a:t>
            </a:r>
          </a:p>
        </p:txBody>
      </p:sp>
    </p:spTree>
    <p:extLst>
      <p:ext uri="{BB962C8B-B14F-4D97-AF65-F5344CB8AC3E}">
        <p14:creationId xmlns:p14="http://schemas.microsoft.com/office/powerpoint/2010/main" val="26387805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The Eigenvalue Spectrum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Classical MDS on 5 objects returns eigenvalues λ₁…λ₅ — read their size and their sign.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The five eigenvalues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Vector"/>
              <p:cNvSpPr txBox="1"/>
              <p:nvPr/>
            </p:nvSpPr>
            <p:spPr>
              <a:xfrm>
                <a:off x="698500" y="2667000"/>
                <a:ext cx="60960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𝜆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𝟖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𝟐𝟎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𝟏𝟎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𝟒𝟎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𝟎𝟓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𝟔𝟓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Vector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67000"/>
                <a:ext cx="6096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368800"/>
            <a:ext cx="5969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7AB648"/>
                </a:solidFill>
              </a:rPr>
              <a:t>3 positive</a:t>
            </a:r>
            <a:r>
              <a:rPr lang="en-US" sz="1400" dirty="0">
                <a:solidFill>
                  <a:srgbClr val="666666"/>
                </a:solidFill>
              </a:rPr>
              <a:t>   ·   </a:t>
            </a:r>
            <a:r>
              <a:rPr lang="en-US" sz="1400" b="1" dirty="0">
                <a:solidFill>
                  <a:srgbClr val="D1578A"/>
                </a:solidFill>
              </a:rPr>
              <a:t>2 negative</a:t>
            </a:r>
          </a:p>
          <a:p>
            <a:pPr algn="ctr">
              <a:spcBef>
                <a:spcPts val="160"/>
              </a:spcBef>
            </a:pPr>
            <a:r>
              <a:rPr lang="en-US" sz="1250" i="1" dirty="0">
                <a:solidFill>
                  <a:srgbClr val="666666"/>
                </a:solidFill>
              </a:rPr>
              <a:t>ordered largest → smallest</a:t>
            </a:r>
          </a:p>
        </p:txBody>
      </p:sp>
      <p:sp>
        <p:nvSpPr>
          <p:cNvPr id="20" name="MapHeader"/>
          <p:cNvSpPr txBox="1"/>
          <p:nvPr/>
        </p:nvSpPr>
        <p:spPr>
          <a:xfrm>
            <a:off x="6959600" y="1905000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Eigenvalue spectrum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A spectrum tells you two things: how big the eigenvalues are (dimensionality) and what sign they have (Euclidean?).</a:t>
            </a:r>
          </a:p>
        </p:txBody>
      </p:sp>
      <p:graphicFrame>
        <p:nvGraphicFramePr>
          <p:cNvPr id="60" name="Spectrum"/>
          <p:cNvGraphicFramePr/>
          <p:nvPr/>
        </p:nvGraphicFramePr>
        <p:xfrm>
          <a:off x="6959600" y="2286000"/>
          <a:ext cx="4495800" cy="340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917128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Sum of Positive λ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Add only the positive eigenvalues — they form the total recoverable inertia.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Positive eigenvalues only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98500" y="2616200"/>
                <a:ext cx="6096000" cy="203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𝛴</m:t>
                      </m:r>
                      <m:r>
                        <a:rPr sz="2160">
                          <a:latin typeface="Cambria Math"/>
                        </a:rPr>
                        <m:t>⁺=8.20+3.10+0.40</m:t>
                      </m:r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=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11.70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03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699000"/>
            <a:ext cx="5969000" cy="812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i="1" dirty="0">
                <a:solidFill>
                  <a:srgbClr val="D1578A"/>
                </a:solidFill>
              </a:rPr>
              <a:t>the negatives (−0.05, −0.65) are discarded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Why only positives?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Each positive λ is the squared spread along one real axis.</a:t>
            </a:r>
          </a:p>
          <a:p>
            <a:pPr algn="l">
              <a:spcBef>
                <a:spcPts val="180"/>
              </a:spcBef>
            </a:pPr>
            <a:r>
              <a:rPr lang="en-US" sz="1300" b="1" dirty="0">
                <a:solidFill>
                  <a:srgbClr val="333333"/>
                </a:solidFill>
              </a:rPr>
              <a:t>Σ⁺ = 11.70 = total recoverable structure.</a:t>
            </a:r>
          </a:p>
          <a:p>
            <a:pPr algn="l">
              <a:spcBef>
                <a:spcPts val="180"/>
              </a:spcBef>
            </a:pPr>
            <a:r>
              <a:rPr lang="en-US" sz="1300" dirty="0">
                <a:solidFill>
                  <a:srgbClr val="333333"/>
                </a:solidFill>
              </a:rPr>
              <a:t>Negative λ cannot be embedded in Euclidean space — they signal distortion.</a:t>
            </a:r>
          </a:p>
          <a:p>
            <a:pPr algn="l">
              <a:spcBef>
                <a:spcPts val="180"/>
              </a:spcBef>
            </a:pPr>
            <a:r>
              <a:rPr lang="en-US" sz="1250" i="1" dirty="0">
                <a:solidFill>
                  <a:srgbClr val="4B2E83"/>
                </a:solidFill>
              </a:rPr>
              <a:t>We use Σ⁺ as the denominator for goodness-of-fit.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positive eigenvalues add up to 11.70 — the benchmark every fit percentage is measured against.</a:t>
            </a:r>
          </a:p>
        </p:txBody>
      </p:sp>
    </p:spTree>
    <p:extLst>
      <p:ext uri="{BB962C8B-B14F-4D97-AF65-F5344CB8AC3E}">
        <p14:creationId xmlns:p14="http://schemas.microsoft.com/office/powerpoint/2010/main" val="9408886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3 — Is it Euclidean?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Check the signs: a sizeable negative eigenvalue means the distances are NOT Euclidean.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Look at the negatives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98500" y="2514600"/>
                <a:ext cx="6096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𝜆</m:t>
                      </m:r>
                      <m:r>
                        <a:rPr sz="2160">
                          <a:latin typeface="Cambria Math"/>
                        </a:rPr>
                        <m:t>₅=</m:t>
                      </m:r>
                      <m:r>
                        <a:rPr sz="2160" b="1">
                          <a:solidFill>
                            <a:srgbClr val="D1578A"/>
                          </a:solidFill>
                          <a:latin typeface="Cambria Math"/>
                        </a:rPr>
                        <m:t>−0.65</m:t>
                      </m:r>
                      <m:r>
                        <a:rPr sz="2160">
                          <a:latin typeface="Cambria Math"/>
                        </a:rPr>
                        <m:t>   </m:t>
                      </m:r>
                      <m:r>
                        <a:rPr sz="2160">
                          <a:latin typeface="Cambria Math"/>
                        </a:rPr>
                        <m:t>𝑣𝑠</m:t>
                      </m:r>
                      <m:r>
                        <a:rPr sz="2160">
                          <a:latin typeface="Cambria Math"/>
                        </a:rPr>
                        <m:t>   </m:t>
                      </m:r>
                      <m:r>
                        <a:rPr sz="2160">
                          <a:latin typeface="Cambria Math"/>
                        </a:rPr>
                        <m:t>𝜆</m:t>
                      </m:r>
                      <m:r>
                        <a:rPr sz="2160">
                          <a:latin typeface="Cambria Math"/>
                        </a:rPr>
                        <m:t>₁=8.20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14600"/>
                <a:ext cx="6096000" cy="1143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889000" y="3733800"/>
            <a:ext cx="5715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333333"/>
                </a:solidFill>
              </a:rPr>
              <a:t>|−0.65| / 8.20 ≈ 8%  →  too big to ignore</a:t>
            </a:r>
          </a:p>
        </p:txBody>
      </p:sp>
      <p:sp>
        <p:nvSpPr>
          <p:cNvPr id="15" name="Verdict"/>
          <p:cNvSpPr/>
          <p:nvPr/>
        </p:nvSpPr>
        <p:spPr>
          <a:xfrm>
            <a:off x="1905000" y="4648200"/>
            <a:ext cx="3683000" cy="660400"/>
          </a:xfrm>
          <a:prstGeom prst="roundRect">
            <a:avLst/>
          </a:prstGeom>
          <a:solidFill>
            <a:srgbClr val="D1578A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⇒  not Euclidean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Sign tells you validity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A truly Euclidean D gives B ⪰ 0 — no negative eigenvalues.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•  −0.05 → rounding noise (ignore)</a:t>
            </a:r>
          </a:p>
          <a:p>
            <a:pPr algn="l">
              <a:spcBef>
                <a:spcPts val="100"/>
              </a:spcBef>
            </a:pPr>
            <a:r>
              <a:rPr lang="en-US" sz="1300" b="1" dirty="0">
                <a:solidFill>
                  <a:srgbClr val="D1578A"/>
                </a:solidFill>
              </a:rPr>
              <a:t>•  −0.65 → real distortion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Small negatives are fine; sizeable ones are not.</a:t>
            </a:r>
          </a:p>
          <a:p>
            <a:pPr algn="l">
              <a:spcBef>
                <a:spcPts val="160"/>
              </a:spcBef>
            </a:pPr>
            <a:r>
              <a:rPr lang="en-US" sz="1250" i="1" dirty="0">
                <a:solidFill>
                  <a:srgbClr val="4B2E83"/>
                </a:solidFill>
              </a:rPr>
              <a:t>Fix: non-metric MDS or an additive constant.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A large negative eigenvalue is the red flag for non-Euclidean distances — the 2-D map will distort them.</a:t>
            </a:r>
          </a:p>
        </p:txBody>
      </p:sp>
    </p:spTree>
    <p:extLst>
      <p:ext uri="{BB962C8B-B14F-4D97-AF65-F5344CB8AC3E}">
        <p14:creationId xmlns:p14="http://schemas.microsoft.com/office/powerpoint/2010/main" val="26127052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4 — How Many Dimensions?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Use the sizes: keep the axes whose eigenvalues dominate. Here λ₁, λ₂ ≫ λ₃.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Find the gap in the spectrum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98500" y="2540000"/>
                <a:ext cx="6096000" cy="116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𝜆</m:t>
                      </m:r>
                      <m:r>
                        <a:rPr sz="2025">
                          <a:latin typeface="Cambria Math"/>
                        </a:rPr>
                        <m:t>₁,</m:t>
                      </m:r>
                      <m:r>
                        <a:rPr sz="2025">
                          <a:latin typeface="Cambria Math"/>
                        </a:rPr>
                        <m:t>𝜆</m:t>
                      </m:r>
                      <m:r>
                        <a:rPr sz="2025">
                          <a:latin typeface="Cambria Math"/>
                        </a:rPr>
                        <m:t>₂=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8.20</m:t>
                      </m:r>
                      <m:r>
                        <a:rPr sz="2025">
                          <a:latin typeface="Cambria Math"/>
                        </a:rPr>
                        <m:t>,</m:t>
                      </m:r>
                      <m:r>
                        <a:rPr sz="2025" b="1">
                          <a:solidFill>
                            <a:srgbClr val="00A7B5"/>
                          </a:solidFill>
                          <a:latin typeface="Cambria Math"/>
                        </a:rPr>
                        <m:t>3.10</m:t>
                      </m:r>
                      <m:r>
                        <a:rPr sz="2025">
                          <a:latin typeface="Cambria Math"/>
                        </a:rPr>
                        <m:t>  ≫  </m:t>
                      </m:r>
                      <m:r>
                        <a:rPr sz="2025">
                          <a:latin typeface="Cambria Math"/>
                        </a:rPr>
                        <m:t>𝜆</m:t>
                      </m:r>
                      <m:r>
                        <a:rPr sz="2025">
                          <a:latin typeface="Cambria Math"/>
                        </a:rPr>
                        <m:t>₃=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0.40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11684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889000" y="3784600"/>
            <a:ext cx="5715000" cy="711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333333"/>
                </a:solidFill>
              </a:rPr>
              <a:t>λ₃ = 0.40 ≈ 3% of Σ⁺  →  negligible</a:t>
            </a:r>
          </a:p>
        </p:txBody>
      </p:sp>
      <p:sp>
        <p:nvSpPr>
          <p:cNvPr id="15" name="Verdict"/>
          <p:cNvSpPr/>
          <p:nvPr/>
        </p:nvSpPr>
        <p:spPr>
          <a:xfrm>
            <a:off x="1905000" y="4648200"/>
            <a:ext cx="3683000" cy="660400"/>
          </a:xfrm>
          <a:prstGeom prst="roundRect">
            <a:avLst/>
          </a:prstGeom>
          <a:solidFill>
            <a:srgbClr val="3F6E22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⇒  keep  k = 2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Look for the elbow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Scan for a big drop in the spectrum:</a:t>
            </a:r>
          </a:p>
          <a:p>
            <a:pPr algn="ctr">
              <a:spcBef>
                <a:spcPts val="140"/>
              </a:spcBef>
            </a:pPr>
            <a:r>
              <a:rPr lang="en-US" sz="1400" b="1" dirty="0">
                <a:solidFill>
                  <a:srgbClr val="333333"/>
                </a:solidFill>
              </a:rPr>
              <a:t>8.20  →  3.10  →  0.40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The cliff after λ₂ marks the natural dimensionality.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λ₃ would add only ~3% — a 2-D map suffices.</a:t>
            </a:r>
          </a:p>
          <a:p>
            <a:pPr algn="l">
              <a:spcBef>
                <a:spcPts val="140"/>
              </a:spcBef>
            </a:pPr>
            <a:r>
              <a:rPr lang="en-US" sz="1250" i="1" dirty="0">
                <a:solidFill>
                  <a:srgbClr val="4B2E83"/>
                </a:solidFill>
              </a:rPr>
              <a:t>Keeping 2 axes balances fit and simplicity.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Eigenvalue magnitude sets dimensionality: keep axes before the big drop, discard the small tail.</a:t>
            </a:r>
          </a:p>
        </p:txBody>
      </p:sp>
    </p:spTree>
    <p:extLst>
      <p:ext uri="{BB962C8B-B14F-4D97-AF65-F5344CB8AC3E}">
        <p14:creationId xmlns:p14="http://schemas.microsoft.com/office/powerpoint/2010/main" val="3731367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5 — Goodness-of-Fit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GoF(2) = (λ₁+λ₂)/Σ⁺ — the share of recoverable structure the 2-D map keeps.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Fraction of inertia kept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98500" y="2540000"/>
                <a:ext cx="60960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𝐺𝑜𝐹</m:t>
                      </m:r>
                      <m:r>
                        <a:rPr sz="2160">
                          <a:latin typeface="Cambria Math"/>
                        </a:rPr>
                        <m:t>(2)=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890">
                              <a:latin typeface="Cambria Math"/>
                            </a:rPr>
                            <m:t>𝜆</m:t>
                          </m:r>
                          <m:r>
                            <a:rPr sz="1890">
                              <a:latin typeface="Cambria Math"/>
                            </a:rPr>
                            <m:t>₁+</m:t>
                          </m:r>
                          <m:r>
                            <a:rPr sz="1890">
                              <a:latin typeface="Cambria Math"/>
                            </a:rPr>
                            <m:t>𝜆</m:t>
                          </m:r>
                          <m:r>
                            <a:rPr sz="1890">
                              <a:latin typeface="Cambria Math"/>
                            </a:rPr>
                            <m:t>₂</m:t>
                          </m:r>
                        </m:num>
                        <m:den>
                          <m:r>
                            <a:rPr sz="1890">
                              <a:latin typeface="Cambria Math"/>
                            </a:rPr>
                            <m:t>𝛴</m:t>
                          </m:r>
                          <m:r>
                            <a:rPr sz="1890">
                              <a:latin typeface="Cambria Math"/>
                            </a:rPr>
                            <m:t>⁺</m:t>
                          </m:r>
                        </m:den>
                      </m:f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755">
                              <a:latin typeface="Cambria Math"/>
                            </a:rPr>
                            <m:t>8.20+3.10</m:t>
                          </m:r>
                        </m:num>
                        <m:den>
                          <m:r>
                            <a:rPr sz="1755">
                              <a:latin typeface="Cambria Math"/>
                            </a:rPr>
                            <m:t>11.70</m:t>
                          </m:r>
                        </m:den>
                      </m:f>
                      <m:r>
                        <a:rPr sz="216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755">
                              <a:latin typeface="Cambria Math"/>
                            </a:rPr>
                            <m:t>11.30</m:t>
                          </m:r>
                        </m:num>
                        <m:den>
                          <m:r>
                            <a:rPr sz="1755">
                              <a:latin typeface="Cambria Math"/>
                            </a:rPr>
                            <m:t>11.70</m:t>
                          </m:r>
                        </m:den>
                      </m:f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=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96.6%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667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Structure retained</a:t>
            </a:r>
          </a:p>
        </p:txBody>
      </p:sp>
      <p:sp>
        <p:nvSpPr>
          <p:cNvPr id="40" name="Ring"/>
          <p:cNvSpPr/>
          <p:nvPr/>
        </p:nvSpPr>
        <p:spPr>
          <a:xfrm>
            <a:off x="8255000" y="2489200"/>
            <a:ext cx="1905000" cy="1905000"/>
          </a:xfrm>
          <a:prstGeom prst="ellipse">
            <a:avLst/>
          </a:prstGeom>
          <a:solidFill>
            <a:srgbClr val="F7F4FB"/>
          </a:solidFill>
          <a:ln w="101600">
            <a:solidFill>
              <a:srgbClr val="4B2E83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4B2E83"/>
                </a:solidFill>
              </a:rPr>
              <a:t>96.6%</a:t>
            </a:r>
          </a:p>
        </p:txBody>
      </p:sp>
      <p:sp>
        <p:nvSpPr>
          <p:cNvPr id="41" name="RingCap"/>
          <p:cNvSpPr txBox="1"/>
          <p:nvPr/>
        </p:nvSpPr>
        <p:spPr>
          <a:xfrm>
            <a:off x="7188200" y="4521200"/>
            <a:ext cx="403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00" i="1" dirty="0">
                <a:solidFill>
                  <a:srgbClr val="333333"/>
                </a:solidFill>
              </a:rPr>
              <a:t>of recoverable inertia kept by 2 axes</a:t>
            </a:r>
          </a:p>
        </p:txBody>
      </p:sp>
      <p:sp>
        <p:nvSpPr>
          <p:cNvPr id="42" name="RingCap2"/>
          <p:cNvSpPr txBox="1"/>
          <p:nvPr/>
        </p:nvSpPr>
        <p:spPr>
          <a:xfrm>
            <a:off x="7188200" y="5054600"/>
            <a:ext cx="40386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00" b="1" dirty="0">
                <a:solidFill>
                  <a:srgbClr val="7AB648"/>
                </a:solidFill>
              </a:rPr>
              <a:t>Excellent: almost nothing is lost.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GoF = kept eigenvalues ÷ Σ⁺. At 96.6%, the 2-D map represents the data almost perfectly.</a:t>
            </a:r>
          </a:p>
        </p:txBody>
      </p:sp>
    </p:spTree>
    <p:extLst>
      <p:ext uri="{BB962C8B-B14F-4D97-AF65-F5344CB8AC3E}">
        <p14:creationId xmlns:p14="http://schemas.microsoft.com/office/powerpoint/2010/main" val="42205543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6 — Reading the Spectrum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Two questions, two cues: sizes give the dimension, signs give the Euclidean validity.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Two things to read</a:t>
            </a:r>
          </a:p>
        </p:txBody>
      </p:sp>
      <p:sp>
        <p:nvSpPr>
          <p:cNvPr id="12" name="SizeCard"/>
          <p:cNvSpPr/>
          <p:nvPr/>
        </p:nvSpPr>
        <p:spPr>
          <a:xfrm>
            <a:off x="965200" y="2438400"/>
            <a:ext cx="556260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AB648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450" b="1" dirty="0">
                <a:solidFill>
                  <a:srgbClr val="7AB648"/>
                </a:solidFill>
              </a:rPr>
              <a:t>SIZE  →  dimensions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Count the large eigenvalues; the gap (elbow) sets the embedding dimension k.</a:t>
            </a:r>
          </a:p>
        </p:txBody>
      </p:sp>
      <p:sp>
        <p:nvSpPr>
          <p:cNvPr id="13" name="SignCard"/>
          <p:cNvSpPr/>
          <p:nvPr/>
        </p:nvSpPr>
        <p:spPr>
          <a:xfrm>
            <a:off x="965200" y="3937000"/>
            <a:ext cx="556260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1578A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450" b="1" dirty="0">
                <a:solidFill>
                  <a:srgbClr val="D1578A"/>
                </a:solidFill>
              </a:rPr>
              <a:t>SIGN  →  validity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A sizeable negative eigenvalue means the distances are not Euclidean.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This example, in one view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63800"/>
            <a:ext cx="4038600" cy="3200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</a:rPr>
              <a:t>λ = (8.20, 3.10, 0.40, −0.05, −0.65)</a:t>
            </a:r>
          </a:p>
          <a:p>
            <a:pPr algn="l">
              <a:spcBef>
                <a:spcPts val="180"/>
              </a:spcBef>
            </a:pPr>
            <a:r>
              <a:rPr lang="en-US" sz="1300" dirty="0">
                <a:solidFill>
                  <a:srgbClr val="333333"/>
                </a:solidFill>
              </a:rPr>
              <a:t>•  2 dominant eigenvalues → k = 2</a:t>
            </a:r>
          </a:p>
          <a:p>
            <a:pPr algn="l">
              <a:spcBef>
                <a:spcPts val="110"/>
              </a:spcBef>
            </a:pPr>
            <a:r>
              <a:rPr lang="en-US" sz="1300" dirty="0">
                <a:solidFill>
                  <a:srgbClr val="D1578A"/>
                </a:solidFill>
              </a:rPr>
              <a:t>•  −0.65 sizeable → not Euclidean</a:t>
            </a:r>
          </a:p>
          <a:p>
            <a:pPr algn="l">
              <a:spcBef>
                <a:spcPts val="110"/>
              </a:spcBef>
            </a:pPr>
            <a:r>
              <a:rPr lang="en-US" sz="1300" dirty="0">
                <a:solidFill>
                  <a:srgbClr val="7AB648"/>
                </a:solidFill>
              </a:rPr>
              <a:t>•  GoF(2) = 96.6%</a:t>
            </a:r>
          </a:p>
          <a:p>
            <a:pPr algn="l">
              <a:spcBef>
                <a:spcPts val="170"/>
              </a:spcBef>
            </a:pPr>
            <a:r>
              <a:rPr lang="en-US" sz="1250" i="1" dirty="0">
                <a:solidFill>
                  <a:srgbClr val="4B2E83"/>
                </a:solidFill>
              </a:rPr>
              <a:t>Verdict: use the 2-D map — it captures 96.6%, but slightly distorts the non-Euclidean part.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Always scan a spectrum for both magnitude and sign before trusting the low-dimensional map.</a:t>
            </a:r>
          </a:p>
        </p:txBody>
      </p:sp>
    </p:spTree>
    <p:extLst>
      <p:ext uri="{BB962C8B-B14F-4D97-AF65-F5344CB8AC3E}">
        <p14:creationId xmlns:p14="http://schemas.microsoft.com/office/powerpoint/2010/main" val="30421084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F54464-27AA-894E-8DDC-BDD57DDBF62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11EFFA-8E55-E347-9040-884C2030B2EC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Exercise 1 — Double-Centering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2DFDE7F-FCE3-3149-B1F0-9A8A9F39E84E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MDS · Exercise 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4E614F7-B44D-2840-A5EA-998105114AAF}"/>
              </a:ext>
            </a:extLst>
          </p:cNvPr>
          <p:cNvSpPr/>
          <p:nvPr/>
        </p:nvSpPr>
        <p:spPr>
          <a:xfrm>
            <a:off x="762000" y="1473200"/>
            <a:ext cx="10668000" cy="1016000"/>
          </a:xfrm>
          <a:prstGeom prst="roundRect">
            <a:avLst/>
          </a:prstGeom>
          <a:solidFill>
            <a:srgbClr val="F7F4EE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BD99C0-8DD4-2D49-8833-2B8F9670707C}"/>
              </a:ext>
            </a:extLst>
          </p:cNvPr>
          <p:cNvSpPr txBox="1"/>
          <p:nvPr/>
        </p:nvSpPr>
        <p:spPr>
          <a:xfrm>
            <a:off x="990600" y="15748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Problem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9A9F6E-CE08-944D-9D29-6B3C7CD3BE65}"/>
              </a:ext>
            </a:extLst>
          </p:cNvPr>
          <p:cNvSpPr txBox="1"/>
          <p:nvPr/>
        </p:nvSpPr>
        <p:spPr>
          <a:xfrm>
            <a:off x="990600" y="1879600"/>
            <a:ext cx="10210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Two points have the distance matrix  D = [ 0  4 ; 4  0 ].
Form D⁽²⁾, build B = −½ J D⁽²⁾ J with J = I − ½11ᵀ (n=2), and read off 1-D coordinates.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8B33EC9-F098-AB45-8403-3A7F71A3A18A}"/>
              </a:ext>
            </a:extLst>
          </p:cNvPr>
          <p:cNvSpPr/>
          <p:nvPr/>
        </p:nvSpPr>
        <p:spPr>
          <a:xfrm>
            <a:off x="762000" y="2667000"/>
            <a:ext cx="10668000" cy="3403600"/>
          </a:xfrm>
          <a:prstGeom prst="roundRect">
            <a:avLst/>
          </a:prstGeom>
          <a:solidFill>
            <a:srgbClr val="F1F7EB"/>
          </a:solidFill>
          <a:ln w="15875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D00E84-6C54-A94A-8E34-9A033B7E99CC}"/>
              </a:ext>
            </a:extLst>
          </p:cNvPr>
          <p:cNvSpPr txBox="1"/>
          <p:nvPr/>
        </p:nvSpPr>
        <p:spPr>
          <a:xfrm>
            <a:off x="990600" y="27686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5A8A2E"/>
                </a:solidFill>
              </a:rPr>
              <a:t>Solution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1243FD-9C49-0748-9F5F-915FBAF1FAA7}"/>
              </a:ext>
            </a:extLst>
          </p:cNvPr>
          <p:cNvSpPr txBox="1"/>
          <p:nvPr/>
        </p:nvSpPr>
        <p:spPr>
          <a:xfrm>
            <a:off x="990600" y="3073400"/>
            <a:ext cx="10210800" cy="289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D⁽²⁾ = [0 16 ; 16 0].  Row means = (8, 8); grand mean = 8.
Bᵢⱼ = −½(D⁽²⁾ᵢⱼ − rowᵢ − colⱼ + grand):
  B₁₁ = −½(0 − 8 − 8 + 8) = 4,   B₂₂ = 4,   B₁₂ = −½(16 − 8 − 8 + 8) = −4.
B = [4 −4 ; −4 4].  Eigenvalues: 8 and 0; eigenvector for 8 is (1,−1)/√2.
Coordinates X = √8 · (1,−1)/√2 = (2, −2).  So point 1 at +2, point 2 at −2 ⇒ distance = 4 ✓.
One positive eigenvalue ⇒ the two points are perfectly represented on a single dimension.</a:t>
            </a:r>
          </a:p>
        </p:txBody>
      </p:sp>
    </p:spTree>
    <p:extLst>
      <p:ext uri="{BB962C8B-B14F-4D97-AF65-F5344CB8AC3E}">
        <p14:creationId xmlns:p14="http://schemas.microsoft.com/office/powerpoint/2010/main" val="5930665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The Problem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Two points a distance 4 apart. Recover their 1-D coordinates by double-centering D.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Distance matrix   D   (2 × 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98500" y="2616200"/>
                <a:ext cx="6096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𝐷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  <m:mr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190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572000"/>
            <a:ext cx="59690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00" i="1" dirty="0">
                <a:solidFill>
                  <a:srgbClr val="666666"/>
                </a:solidFill>
              </a:rPr>
              <a:t>Goal: find x₁, x₂ on a line whose distance reproduces 4.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Two points, one distance</a:t>
            </a:r>
          </a:p>
        </p:txBody>
      </p:sp>
      <p:sp>
        <p:nvSpPr>
          <p:cNvPr id="40" name="DistLabel"/>
          <p:cNvSpPr txBox="1"/>
          <p:nvPr/>
        </p:nvSpPr>
        <p:spPr>
          <a:xfrm>
            <a:off x="8191500" y="3175000"/>
            <a:ext cx="203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4B2E83"/>
                </a:solidFill>
              </a:rPr>
              <a:t>d = 4</a:t>
            </a:r>
          </a:p>
        </p:txBody>
      </p:sp>
      <p:sp>
        <p:nvSpPr>
          <p:cNvPr id="41" name="Line"/>
          <p:cNvSpPr/>
          <p:nvPr/>
        </p:nvSpPr>
        <p:spPr>
          <a:xfrm>
            <a:off x="7772400" y="3810000"/>
            <a:ext cx="2870200" cy="508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Dot1"/>
          <p:cNvSpPr/>
          <p:nvPr/>
        </p:nvSpPr>
        <p:spPr>
          <a:xfrm>
            <a:off x="7670800" y="3708400"/>
            <a:ext cx="254000" cy="2540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Dot2"/>
          <p:cNvSpPr/>
          <p:nvPr/>
        </p:nvSpPr>
        <p:spPr>
          <a:xfrm>
            <a:off x="10490200" y="3708400"/>
            <a:ext cx="254000" cy="2540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L1"/>
          <p:cNvSpPr txBox="1"/>
          <p:nvPr/>
        </p:nvSpPr>
        <p:spPr>
          <a:xfrm>
            <a:off x="7518400" y="4038600"/>
            <a:ext cx="5588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300" b="1" dirty="0">
                <a:solidFill>
                  <a:srgbClr val="4B2E83"/>
                </a:solidFill>
              </a:rPr>
              <a:t>P₁</a:t>
            </a:r>
          </a:p>
        </p:txBody>
      </p:sp>
      <p:sp>
        <p:nvSpPr>
          <p:cNvPr id="45" name="L2"/>
          <p:cNvSpPr txBox="1"/>
          <p:nvPr/>
        </p:nvSpPr>
        <p:spPr>
          <a:xfrm>
            <a:off x="10337800" y="4038600"/>
            <a:ext cx="5588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300" b="1" dirty="0">
                <a:solidFill>
                  <a:srgbClr val="00A7B5"/>
                </a:solidFill>
              </a:rPr>
              <a:t>P₂</a:t>
            </a:r>
          </a:p>
        </p:txBody>
      </p:sp>
      <p:sp>
        <p:nvSpPr>
          <p:cNvPr id="46" name="RB"/>
          <p:cNvSpPr txBox="1"/>
          <p:nvPr/>
        </p:nvSpPr>
        <p:spPr>
          <a:xfrm>
            <a:off x="7188200" y="4572000"/>
            <a:ext cx="4038600" cy="1066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00" dirty="0">
                <a:solidFill>
                  <a:srgbClr val="333333"/>
                </a:solidFill>
              </a:rPr>
              <a:t>D is symmetric with a zero diagonal.</a:t>
            </a:r>
          </a:p>
          <a:p>
            <a:pPr algn="ctr">
              <a:spcBef>
                <a:spcPts val="120"/>
              </a:spcBef>
            </a:pPr>
            <a:r>
              <a:rPr lang="en-US" sz="1250" i="1" dirty="0">
                <a:solidFill>
                  <a:srgbClr val="4B2E83"/>
                </a:solidFill>
              </a:rPr>
              <a:t>One distance → expect a 1-D answer.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same five-stage recipe (square → centre → eigen → scale → check) works even for two points.</a:t>
            </a:r>
          </a:p>
        </p:txBody>
      </p:sp>
    </p:spTree>
    <p:extLst>
      <p:ext uri="{BB962C8B-B14F-4D97-AF65-F5344CB8AC3E}">
        <p14:creationId xmlns:p14="http://schemas.microsoft.com/office/powerpoint/2010/main" val="14135889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Square the Distances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Square each entry element-wise: 4² = 16, and the zero diagonal stays 0.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Squared distances   D⁽²⁾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98500" y="2616200"/>
                <a:ext cx="6096000" cy="203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160">
                              <a:latin typeface="Cambria Math"/>
                            </a:rPr>
                            <m:t>𝐷</m:t>
                          </m:r>
                        </m:e>
                        <m:sup>
                          <m:r>
                            <a:rPr sz="2160">
                              <a:latin typeface="Cambria Math"/>
                            </a:rPr>
                            <m:t>(2)</m:t>
                          </m:r>
                        </m:sup>
                      </m:sSup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𝟏𝟔</m:t>
                                </m:r>
                              </m:e>
                            </m:mr>
                            <m:mr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𝟏𝟔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03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699000"/>
            <a:ext cx="5969000" cy="812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i="1" dirty="0">
                <a:solidFill>
                  <a:srgbClr val="666666"/>
                </a:solidFill>
              </a:rPr>
              <a:t>each 4 → 16 (gold) · diagonal 0 → 0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Element-wise squaring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Eq2"/>
              <p:cNvSpPr txBox="1"/>
              <p:nvPr/>
            </p:nvSpPr>
            <p:spPr>
              <a:xfrm>
                <a:off x="7112000" y="2692400"/>
                <a:ext cx="41910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300">
                              <a:latin typeface="Cambria Math"/>
                            </a:rPr>
                            <m:t>4</m:t>
                          </m:r>
                        </m:e>
                        <m:sup>
                          <m:r>
                            <a:rPr sz="23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160">
                          <a:latin typeface="Cambria Math"/>
                        </a:rPr>
                        <m:t>=16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22" name="Eq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0" y="2692400"/>
                <a:ext cx="4191000" cy="889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B"/>
          <p:cNvSpPr txBox="1"/>
          <p:nvPr/>
        </p:nvSpPr>
        <p:spPr>
          <a:xfrm>
            <a:off x="7188200" y="3708400"/>
            <a:ext cx="4038600" cy="190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Double-centering always works on squared distances.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Here only one off-diagonal value changes: 4 → 16.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D⁽²⁾ is the squared-distance matrix that double-centering converts into the Gram matrix B.</a:t>
            </a:r>
          </a:p>
        </p:txBody>
      </p:sp>
    </p:spTree>
    <p:extLst>
      <p:ext uri="{BB962C8B-B14F-4D97-AF65-F5344CB8AC3E}">
        <p14:creationId xmlns:p14="http://schemas.microsoft.com/office/powerpoint/2010/main" val="40889293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3 — Centering Means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With n = 2: each row mean of D⁽²⁾ = 8, and the grand mean = 8.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Means of   D⁽²⁾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98500" y="2489200"/>
                <a:ext cx="6096000" cy="177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𝟏𝟔</m:t>
                                </m:r>
                              </m:e>
                            </m:mr>
                            <m:mr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𝟏𝟔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1778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292600"/>
            <a:ext cx="5969000" cy="1244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7AB648"/>
                </a:solidFill>
              </a:rPr>
              <a:t>row means = ( 8,  8 )</a:t>
            </a:r>
          </a:p>
          <a:p>
            <a:pPr algn="ctr">
              <a:spcBef>
                <a:spcPts val="160"/>
              </a:spcBef>
            </a:pPr>
            <a:r>
              <a:rPr lang="en-US" sz="1400" b="1" dirty="0">
                <a:solidFill>
                  <a:srgbClr val="D1578A"/>
                </a:solidFill>
              </a:rPr>
              <a:t>grand mean = 32 / 4 = 8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Removing location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Row 1 sum = 0 + 16 = 16 → mean 8.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Row 2 sum = 16 + 0 = 16 → mean 8.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Grand mean = (0+16+16+0)/4 = 8.</a:t>
            </a:r>
          </a:p>
          <a:p>
            <a:pPr algn="l">
              <a:spcBef>
                <a:spcPts val="180"/>
              </a:spcBef>
            </a:pPr>
            <a:r>
              <a:rPr lang="en-US" sz="1250" i="1" dirty="0">
                <a:solidFill>
                  <a:srgbClr val="4B2E83"/>
                </a:solidFill>
              </a:rPr>
              <a:t>Subtracting these centres the points at the origin.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Row, column and grand means all equal 8 — the symmetry of a two-point problem.</a:t>
            </a:r>
          </a:p>
        </p:txBody>
      </p:sp>
    </p:spTree>
    <p:extLst>
      <p:ext uri="{BB962C8B-B14F-4D97-AF65-F5344CB8AC3E}">
        <p14:creationId xmlns:p14="http://schemas.microsoft.com/office/powerpoint/2010/main" val="35757365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4 — Double-Centering → B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Apply Bᵢⱼ = −½(D²ᵢⱼ − rowᵢ − colⱼ + grand) to each entry.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Compute the entries of  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413000"/>
                <a:ext cx="60960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1958">
                          <a:latin typeface="Cambria Math"/>
                        </a:rPr>
                        <m:t>𝐵</m:t>
                      </m:r>
                      <m:r>
                        <a:rPr sz="1958">
                          <a:latin typeface="Cambria Math"/>
                        </a:rPr>
                        <m:t>₁₁=−½(0−</m:t>
                      </m:r>
                      <m:r>
                        <a:rPr sz="1958" b="1">
                          <a:solidFill>
                            <a:srgbClr val="85754D"/>
                          </a:solidFill>
                          <a:latin typeface="Cambria Math"/>
                        </a:rPr>
                        <m:t>8</m:t>
                      </m:r>
                      <m:r>
                        <a:rPr sz="1958">
                          <a:latin typeface="Cambria Math"/>
                        </a:rPr>
                        <m:t>−</m:t>
                      </m:r>
                      <m:r>
                        <a:rPr sz="1958" b="1">
                          <a:solidFill>
                            <a:srgbClr val="85754D"/>
                          </a:solidFill>
                          <a:latin typeface="Cambria Math"/>
                        </a:rPr>
                        <m:t>8</m:t>
                      </m:r>
                      <m:r>
                        <a:rPr sz="1958">
                          <a:latin typeface="Cambria Math"/>
                        </a:rPr>
                        <m:t>+</m:t>
                      </m:r>
                      <m:r>
                        <a:rPr sz="1958" b="1">
                          <a:solidFill>
                            <a:srgbClr val="85754D"/>
                          </a:solidFill>
                          <a:latin typeface="Cambria Math"/>
                        </a:rPr>
                        <m:t>8</m:t>
                      </m:r>
                      <m:r>
                        <a:rPr sz="1958">
                          <a:latin typeface="Cambria Math"/>
                        </a:rPr>
                        <m:t>)=</m:t>
                      </m:r>
                      <m:r>
                        <a:rPr sz="1958" b="1">
                          <a:solidFill>
                            <a:srgbClr val="4B2E83"/>
                          </a:solidFill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n-US" sz="145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1958">
                          <a:latin typeface="Cambria Math"/>
                        </a:rPr>
                        <m:t>𝐵</m:t>
                      </m:r>
                      <m:r>
                        <a:rPr sz="1958">
                          <a:latin typeface="Cambria Math"/>
                        </a:rPr>
                        <m:t>₁₂=−½(16−</m:t>
                      </m:r>
                      <m:r>
                        <a:rPr sz="1958" b="1">
                          <a:solidFill>
                            <a:srgbClr val="85754D"/>
                          </a:solidFill>
                          <a:latin typeface="Cambria Math"/>
                        </a:rPr>
                        <m:t>8</m:t>
                      </m:r>
                      <m:r>
                        <a:rPr sz="1958">
                          <a:latin typeface="Cambria Math"/>
                        </a:rPr>
                        <m:t>−</m:t>
                      </m:r>
                      <m:r>
                        <a:rPr sz="1958" b="1">
                          <a:solidFill>
                            <a:srgbClr val="85754D"/>
                          </a:solidFill>
                          <a:latin typeface="Cambria Math"/>
                        </a:rPr>
                        <m:t>8</m:t>
                      </m:r>
                      <m:r>
                        <a:rPr sz="1958">
                          <a:latin typeface="Cambria Math"/>
                        </a:rPr>
                        <m:t>+</m:t>
                      </m:r>
                      <m:r>
                        <a:rPr sz="1958" b="1">
                          <a:solidFill>
                            <a:srgbClr val="85754D"/>
                          </a:solidFill>
                          <a:latin typeface="Cambria Math"/>
                        </a:rPr>
                        <m:t>8</m:t>
                      </m:r>
                      <m:r>
                        <a:rPr sz="1958">
                          <a:latin typeface="Cambria Math"/>
                        </a:rPr>
                        <m:t>)=</m:t>
                      </m:r>
                      <m:r>
                        <a:rPr sz="1958" b="1">
                          <a:solidFill>
                            <a:srgbClr val="D1578A"/>
                          </a:solidFill>
                          <a:latin typeface="Cambria Math"/>
                        </a:rPr>
                        <m:t>−4</m:t>
                      </m:r>
                    </m:oMath>
                  </m:oMathPara>
                </a14:m>
                <a:endParaRPr lang="en-US" sz="145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1958">
                          <a:latin typeface="Cambria Math"/>
                        </a:rPr>
                        <m:t>𝐵</m:t>
                      </m:r>
                      <m:r>
                        <a:rPr sz="1958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958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sz="1958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958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  <m:mr>
                              <m:e>
                                <m:r>
                                  <a:rPr sz="1958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958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sz="1958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5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13000"/>
                <a:ext cx="6096000" cy="2667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The Gram matrix B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•  Diagonal +4 (purple)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•  Off-diagonal −4 (pink)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•  Rows sum to 0 → centred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B has rank 1: one nonzero eigenvalue, so the points live on a line.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Double-centering turns the 2×2 squared-distance matrix into the centred Gram matrix B = [[4,−4],[−4,4]].</a:t>
            </a:r>
          </a:p>
        </p:txBody>
      </p:sp>
    </p:spTree>
    <p:extLst>
      <p:ext uri="{BB962C8B-B14F-4D97-AF65-F5344CB8AC3E}">
        <p14:creationId xmlns:p14="http://schemas.microsoft.com/office/powerpoint/2010/main" val="37411932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5 — Eigen-Decomposition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B = [[4,−4],[−4,4]] has eigenvalues 8 and 0; the axis direction is v = (1,−1)/√2.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Eigenvalues and eigenvector</a:t>
            </a:r>
          </a:p>
        </p:txBody>
      </p:sp>
      <p:sp>
        <p:nvSpPr>
          <p:cNvPr id="12" name="Char"/>
          <p:cNvSpPr txBox="1"/>
          <p:nvPr/>
        </p:nvSpPr>
        <p:spPr>
          <a:xfrm>
            <a:off x="838200" y="24130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50" b="1" dirty="0">
                <a:solidFill>
                  <a:srgbClr val="333333"/>
                </a:solidFill>
              </a:rPr>
              <a:t>det(B − λI) = 0  →  λ² − 8λ = 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794000"/>
                <a:ext cx="609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93">
                          <a:latin typeface="Cambria Math"/>
                        </a:rPr>
                        <m:t>𝜆</m:t>
                      </m:r>
                      <m:r>
                        <a:rPr sz="2093">
                          <a:latin typeface="Cambria Math"/>
                        </a:rPr>
                        <m:t>=</m:t>
                      </m:r>
                      <m:r>
                        <a:rPr sz="2093" b="1">
                          <a:solidFill>
                            <a:srgbClr val="4B2E83"/>
                          </a:solidFill>
                          <a:latin typeface="Cambria Math"/>
                        </a:rPr>
                        <m:t>8</m:t>
                      </m:r>
                      <m:r>
                        <a:rPr sz="2093">
                          <a:latin typeface="Cambria Math"/>
                        </a:rPr>
                        <m:t>   </m:t>
                      </m:r>
                      <m:r>
                        <a:rPr sz="2093">
                          <a:latin typeface="Cambria Math"/>
                        </a:rPr>
                        <m:t>𝑜𝑟</m:t>
                      </m:r>
                      <m:r>
                        <a:rPr sz="2093">
                          <a:latin typeface="Cambria Math"/>
                        </a:rPr>
                        <m:t>   </m:t>
                      </m:r>
                      <m:r>
                        <a:rPr sz="2093" b="1">
                          <a:solidFill>
                            <a:srgbClr val="85754D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55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93">
                          <a:latin typeface="Cambria Math"/>
                        </a:rPr>
                        <m:t>𝑣</m:t>
                      </m:r>
                      <m:r>
                        <a:rPr sz="2093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093">
                              <a:latin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sz="2093">
                                  <a:latin typeface="Cambria Math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93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093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93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5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794000"/>
                <a:ext cx="6096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Reading the eigenpairs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•  λ = 8 → one real dimension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•  λ = 0 → centering direction (1,1)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Eigenvector (1,−1) points along the line through the two points.</a:t>
            </a:r>
          </a:p>
          <a:p>
            <a:pPr algn="l">
              <a:spcBef>
                <a:spcPts val="160"/>
              </a:spcBef>
            </a:pPr>
            <a:r>
              <a:rPr lang="en-US" sz="1250" i="1" dirty="0">
                <a:solidFill>
                  <a:srgbClr val="4B2E83"/>
                </a:solidFill>
              </a:rPr>
              <a:t>Exactly one positive λ → the data are perfectly 1-D.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One positive eigenvalue (8) means a single axis captures the configuration exactly.</a:t>
            </a:r>
          </a:p>
        </p:txBody>
      </p:sp>
    </p:spTree>
    <p:extLst>
      <p:ext uri="{BB962C8B-B14F-4D97-AF65-F5344CB8AC3E}">
        <p14:creationId xmlns:p14="http://schemas.microsoft.com/office/powerpoint/2010/main" val="31819248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6 — Coordinates &amp; Check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Scale the eigenvector: X = √8 · (1,−1)/√2 = (2, −2). Recovered distance |2 − (−2)| = 4 ✓.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Scale eigenvector by √λ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40000"/>
                <a:ext cx="6096000" cy="254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93">
                          <a:latin typeface="Cambria Math"/>
                        </a:rPr>
                        <m:t>𝑋</m:t>
                      </m:r>
                      <m:r>
                        <a:rPr sz="2093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sz="2093">
                              <a:latin typeface="Cambria Math"/>
                            </a:rPr>
                            <m:t>8</m:t>
                          </m:r>
                        </m:e>
                      </m:rad>
                      <m:r>
                        <a:rPr sz="2093">
                          <a:latin typeface="Cambria Math"/>
                        </a:rPr>
                        <m:t>·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093">
                              <a:latin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sz="2093">
                                  <a:latin typeface="Cambria Math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93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093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93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5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93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93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93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93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5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93">
                          <a:latin typeface="Cambria Math"/>
                        </a:rPr>
                        <m:t>|2−(−2)|=</m:t>
                      </m:r>
                      <m:r>
                        <a:rPr sz="2093" b="1">
                          <a:solidFill>
                            <a:srgbClr val="7AB648"/>
                          </a:solidFill>
                          <a:latin typeface="Cambria Math"/>
                        </a:rPr>
                        <m:t>4</m:t>
                      </m:r>
                      <m:r>
                        <a:rPr sz="2093">
                          <a:latin typeface="Cambria Math"/>
                        </a:rPr>
                        <m:t> ✓</m:t>
                      </m:r>
                    </m:oMath>
                  </m:oMathPara>
                </a14:m>
                <a:endParaRPr lang="en-US" sz="155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54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The two points on a line</a:t>
            </a:r>
          </a:p>
        </p:txBody>
      </p:sp>
      <p:sp>
        <p:nvSpPr>
          <p:cNvPr id="40" name="DistLbl"/>
          <p:cNvSpPr txBox="1"/>
          <p:nvPr/>
        </p:nvSpPr>
        <p:spPr>
          <a:xfrm>
            <a:off x="8128000" y="3175000"/>
            <a:ext cx="2159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300" b="1" dirty="0">
                <a:solidFill>
                  <a:srgbClr val="4B2E83"/>
                </a:solidFill>
              </a:rPr>
              <a:t>distance = 4</a:t>
            </a:r>
          </a:p>
        </p:txBody>
      </p:sp>
      <p:sp>
        <p:nvSpPr>
          <p:cNvPr id="41" name="Axis"/>
          <p:cNvSpPr/>
          <p:nvPr/>
        </p:nvSpPr>
        <p:spPr>
          <a:xfrm>
            <a:off x="7429500" y="3810000"/>
            <a:ext cx="3683000" cy="38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T1"/>
          <p:cNvSpPr/>
          <p:nvPr/>
        </p:nvSpPr>
        <p:spPr>
          <a:xfrm>
            <a:off x="7924800" y="3733800"/>
            <a:ext cx="25400" cy="1778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T0"/>
          <p:cNvSpPr/>
          <p:nvPr/>
        </p:nvSpPr>
        <p:spPr>
          <a:xfrm>
            <a:off x="9194800" y="3733800"/>
            <a:ext cx="25400" cy="1778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T2"/>
          <p:cNvSpPr/>
          <p:nvPr/>
        </p:nvSpPr>
        <p:spPr>
          <a:xfrm>
            <a:off x="10464800" y="3733800"/>
            <a:ext cx="25400" cy="1778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Dot2"/>
          <p:cNvSpPr/>
          <p:nvPr/>
        </p:nvSpPr>
        <p:spPr>
          <a:xfrm>
            <a:off x="7835900" y="3721100"/>
            <a:ext cx="203200" cy="2032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6" name="Dot1"/>
          <p:cNvSpPr/>
          <p:nvPr/>
        </p:nvSpPr>
        <p:spPr>
          <a:xfrm>
            <a:off x="10375900" y="3721100"/>
            <a:ext cx="203200" cy="203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7" name="L2"/>
          <p:cNvSpPr txBox="1"/>
          <p:nvPr/>
        </p:nvSpPr>
        <p:spPr>
          <a:xfrm>
            <a:off x="7416800" y="39878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250" b="1" dirty="0">
                <a:solidFill>
                  <a:srgbClr val="00A7B5"/>
                </a:solidFill>
              </a:rPr>
              <a:t>P₂ = −2</a:t>
            </a:r>
          </a:p>
        </p:txBody>
      </p:sp>
      <p:sp>
        <p:nvSpPr>
          <p:cNvPr id="48" name="L0"/>
          <p:cNvSpPr txBox="1"/>
          <p:nvPr/>
        </p:nvSpPr>
        <p:spPr>
          <a:xfrm>
            <a:off x="8940800" y="39878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200" dirty="0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49" name="L1"/>
          <p:cNvSpPr txBox="1"/>
          <p:nvPr/>
        </p:nvSpPr>
        <p:spPr>
          <a:xfrm>
            <a:off x="9956800" y="39878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250" b="1" dirty="0">
                <a:solidFill>
                  <a:srgbClr val="4B2E83"/>
                </a:solidFill>
              </a:rPr>
              <a:t>P₁ = +2</a:t>
            </a:r>
          </a:p>
        </p:txBody>
      </p:sp>
      <p:sp>
        <p:nvSpPr>
          <p:cNvPr id="22" name="RB"/>
          <p:cNvSpPr txBox="1"/>
          <p:nvPr/>
        </p:nvSpPr>
        <p:spPr>
          <a:xfrm>
            <a:off x="7188200" y="4368800"/>
            <a:ext cx="4038600" cy="127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00" dirty="0">
                <a:solidFill>
                  <a:srgbClr val="333333"/>
                </a:solidFill>
              </a:rPr>
              <a:t>One positive eigenvalue → the data sit perfectly on a 1-D line.</a:t>
            </a:r>
          </a:p>
          <a:p>
            <a:pPr algn="ctr">
              <a:spcBef>
                <a:spcPts val="120"/>
              </a:spcBef>
            </a:pPr>
            <a:r>
              <a:rPr lang="en-US" sz="1250" i="1" dirty="0">
                <a:solidFill>
                  <a:srgbClr val="4B2E83"/>
                </a:solidFill>
              </a:rPr>
              <a:t>Distances are reproduced exactly.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√8 / √2 = 2, so the two points land at +2 and −2 — distance 4 recovered exactly.</a:t>
            </a:r>
          </a:p>
        </p:txBody>
      </p:sp>
    </p:spTree>
    <p:extLst>
      <p:ext uri="{BB962C8B-B14F-4D97-AF65-F5344CB8AC3E}">
        <p14:creationId xmlns:p14="http://schemas.microsoft.com/office/powerpoint/2010/main" val="3539536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D24EC67-F41B-FC44-A00A-D3F41B95CADF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AF3A13-9282-0844-9BA8-56922FE3CCD6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Exercise 2 — Stress &amp; Fit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F6FE11B-4B4A-674A-A243-D2CADD72086E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MDS · Exercise 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C7FD296-316D-984F-A2FE-18FBF62BE8BB}"/>
              </a:ext>
            </a:extLst>
          </p:cNvPr>
          <p:cNvSpPr/>
          <p:nvPr/>
        </p:nvSpPr>
        <p:spPr>
          <a:xfrm>
            <a:off x="762000" y="1473200"/>
            <a:ext cx="10668000" cy="1016000"/>
          </a:xfrm>
          <a:prstGeom prst="roundRect">
            <a:avLst/>
          </a:prstGeom>
          <a:solidFill>
            <a:srgbClr val="F7F4EE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D0306F-DB2F-214C-993D-B5876960BFAA}"/>
              </a:ext>
            </a:extLst>
          </p:cNvPr>
          <p:cNvSpPr txBox="1"/>
          <p:nvPr/>
        </p:nvSpPr>
        <p:spPr>
          <a:xfrm>
            <a:off x="990600" y="15748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Problem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77DABF-3C0B-7C4A-A1A8-CEF350E06480}"/>
              </a:ext>
            </a:extLst>
          </p:cNvPr>
          <p:cNvSpPr txBox="1"/>
          <p:nvPr/>
        </p:nvSpPr>
        <p:spPr>
          <a:xfrm>
            <a:off x="990600" y="1879600"/>
            <a:ext cx="10210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For three pairs the input dissimilarities are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 = (1, 2, 3)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and a candidate map gives distances
d = (1.2, 1.8, 3.1). Compute Kruskal's stress and classify the fit.
Then state one reason you might prefer non-metric MDS here.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FE3FD98-4F43-E446-81BD-1E2F71361074}"/>
              </a:ext>
            </a:extLst>
          </p:cNvPr>
          <p:cNvSpPr/>
          <p:nvPr/>
        </p:nvSpPr>
        <p:spPr>
          <a:xfrm>
            <a:off x="762000" y="2667000"/>
            <a:ext cx="10668000" cy="3403600"/>
          </a:xfrm>
          <a:prstGeom prst="roundRect">
            <a:avLst/>
          </a:prstGeom>
          <a:solidFill>
            <a:srgbClr val="F1F7EB"/>
          </a:solidFill>
          <a:ln w="15875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736234-8DF7-3544-9A7F-C69959D1C292}"/>
              </a:ext>
            </a:extLst>
          </p:cNvPr>
          <p:cNvSpPr txBox="1"/>
          <p:nvPr/>
        </p:nvSpPr>
        <p:spPr>
          <a:xfrm>
            <a:off x="990600" y="27686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5A8A2E"/>
                </a:solidFill>
              </a:rPr>
              <a:t>Solution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2F3C01-16B9-3A4B-A727-3F6295BA277D}"/>
              </a:ext>
            </a:extLst>
          </p:cNvPr>
          <p:cNvSpPr txBox="1"/>
          <p:nvPr/>
        </p:nvSpPr>
        <p:spPr>
          <a:xfrm>
            <a:off x="990600" y="3073400"/>
            <a:ext cx="10210800" cy="289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Σ(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d−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δ)² = (1.2−1)² + (1.8−2)² + (3.1−3)² = 0.04 + 0.04 + 0.01 = 0.09.
Σ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d² = 1.2² + 1.8² + 3.1² = 1.44 + 3.24 + 9.61 = 14.29.
Stress = √(0.09 / 14.29) = √0.0063 = 0.0794 ≈ 0.08.
Classification: between 0.05 (excellent) and 0.10 (good) ⇒ a good fit.
Non-metric MDS: if the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are only ordinal (e.g. survey rankings), we trust their ORDER but not their exact
values. Non-metric MDS fits a monotone transform of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δ,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so it can reach lower stress without assuming the
dissimilarities are true metric distances.</a:t>
            </a:r>
          </a:p>
        </p:txBody>
      </p:sp>
    </p:spTree>
    <p:extLst>
      <p:ext uri="{BB962C8B-B14F-4D97-AF65-F5344CB8AC3E}">
        <p14:creationId xmlns:p14="http://schemas.microsoft.com/office/powerpoint/2010/main" val="38130594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The Problem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Targets δ vs map distances d for three pairs — compute Kruskal's Stress and classify the fit.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Inputs and the Stress formula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Vecs"/>
              <p:cNvSpPr txBox="1"/>
              <p:nvPr/>
            </p:nvSpPr>
            <p:spPr>
              <a:xfrm>
                <a:off x="698500" y="2489200"/>
                <a:ext cx="6096000" cy="139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𝛿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𝑑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𝟖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Vec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1397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"/>
              <p:cNvSpPr txBox="1"/>
              <p:nvPr/>
            </p:nvSpPr>
            <p:spPr>
              <a:xfrm>
                <a:off x="698500" y="4013200"/>
                <a:ext cx="6096000" cy="139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𝑆𝑡𝑟𝑒𝑠𝑠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2025">
                                  <a:latin typeface="Cambria Math"/>
                                </a:rPr>
                                <m:t>𝛴</m:t>
                              </m:r>
                              <m:sSup>
                                <m:sSup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sz="2025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sz="2025">
                                      <a:latin typeface="Cambria Math"/>
                                    </a:rPr>
                                    <m:t>𝑑</m:t>
                                  </m:r>
                                  <m:r>
                                    <a:rPr sz="2025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sz="2025">
                                      <a:latin typeface="Cambria Math"/>
                                    </a:rPr>
                                    <m:t>𝛿</m:t>
                                  </m:r>
                                  <m:r>
                                    <a:rPr sz="2025">
                                      <a:latin typeface="Cambria Math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sz="2025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sz="2025">
                                  <a:latin typeface="Cambria Math"/>
                                </a:rPr>
                                <m:t>𝛴</m:t>
                              </m:r>
                              <m:sSup>
                                <m:sSup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sz="2025">
                                      <a:latin typeface="Cambria Math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sz="2025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4" name="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4013200"/>
                <a:ext cx="6096000" cy="1397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The four steps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1.  Residual d − δ for each pair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2.  Square and sum → numerator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3.  Σd² → denominator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4.  Square-root the ratio → Stress</a:t>
            </a:r>
          </a:p>
          <a:p>
            <a:pPr algn="l">
              <a:spcBef>
                <a:spcPts val="180"/>
              </a:spcBef>
            </a:pPr>
            <a:r>
              <a:rPr lang="en-US" sz="1250" i="1" dirty="0">
                <a:solidFill>
                  <a:srgbClr val="4B2E83"/>
                </a:solidFill>
              </a:rPr>
              <a:t>δ teal · d pink throughout.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Stress is the normalized root-mean-square gap between target dissimilarities and map distances.</a:t>
            </a:r>
          </a:p>
        </p:txBody>
      </p:sp>
    </p:spTree>
    <p:extLst>
      <p:ext uri="{BB962C8B-B14F-4D97-AF65-F5344CB8AC3E}">
        <p14:creationId xmlns:p14="http://schemas.microsoft.com/office/powerpoint/2010/main" val="22070479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Residuals &amp; Numerator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Residual d − δ for each pair, then square and sum to get the numerator.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Residuals → squared sum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489200"/>
                <a:ext cx="6096000" cy="292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𝑑</m:t>
                      </m:r>
                      <m:r>
                        <a:rPr sz="2025">
                          <a:latin typeface="Cambria Math"/>
                        </a:rPr>
                        <m:t>−</m:t>
                      </m:r>
                      <m:r>
                        <a:rPr sz="2025">
                          <a:latin typeface="Cambria Math"/>
                        </a:rPr>
                        <m:t>𝛿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𝟖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𝟑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𝛴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(</m:t>
                          </m:r>
                          <m:r>
                            <a:rPr sz="2025">
                              <a:latin typeface="Cambria Math"/>
                            </a:rPr>
                            <m:t>𝑑</m:t>
                          </m:r>
                          <m:r>
                            <a:rPr sz="2025">
                              <a:latin typeface="Cambria Math"/>
                            </a:rPr>
                            <m:t>−</m:t>
                          </m:r>
                          <m:r>
                            <a:rPr sz="2025">
                              <a:latin typeface="Cambria Math"/>
                            </a:rPr>
                            <m:t>𝛿</m:t>
                          </m:r>
                          <m:r>
                            <a:rPr sz="2025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=0.04+0.04+0.01=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0.09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2921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The misfit total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Two pairs miss by ±0.2, one by 0.1.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Squaring: 0.04, 0.04, 0.01.</a:t>
            </a:r>
          </a:p>
          <a:p>
            <a:pPr algn="l">
              <a:spcBef>
                <a:spcPts val="140"/>
              </a:spcBef>
            </a:pPr>
            <a:r>
              <a:rPr lang="en-US" sz="1300" b="1" dirty="0">
                <a:solidFill>
                  <a:srgbClr val="333333"/>
                </a:solidFill>
              </a:rPr>
              <a:t>Sum = 0.09 = total squared misfit.</a:t>
            </a:r>
          </a:p>
          <a:p>
            <a:pPr algn="l">
              <a:spcBef>
                <a:spcPts val="180"/>
              </a:spcBef>
            </a:pPr>
            <a:r>
              <a:rPr lang="en-US" sz="1250" i="1" dirty="0">
                <a:solidFill>
                  <a:srgbClr val="4B2E83"/>
                </a:solidFill>
              </a:rPr>
              <a:t>Small, because every miss is tiny.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numerator Σ(d−δ)² = 0.09 measures the raw squared misfit before normalizing.</a:t>
            </a:r>
          </a:p>
        </p:txBody>
      </p:sp>
    </p:spTree>
    <p:extLst>
      <p:ext uri="{BB962C8B-B14F-4D97-AF65-F5344CB8AC3E}">
        <p14:creationId xmlns:p14="http://schemas.microsoft.com/office/powerpoint/2010/main" val="41823122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3 — The Denominator  Σd²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Normalize the misfit by the squared map distances Σd² — this makes Stress scale-free.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Sum of squared distances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616200"/>
                <a:ext cx="609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𝛴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160">
                              <a:latin typeface="Cambria Math"/>
                            </a:rPr>
                            <m:t>𝑑</m:t>
                          </m:r>
                        </m:e>
                        <m:sup>
                          <m:r>
                            <a:rPr sz="216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16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160">
                              <a:latin typeface="Cambria Math"/>
                            </a:rPr>
                            <m:t>1.2</m:t>
                          </m:r>
                        </m:e>
                        <m:sup>
                          <m:r>
                            <a:rPr sz="216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16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160">
                              <a:latin typeface="Cambria Math"/>
                            </a:rPr>
                            <m:t>1.8</m:t>
                          </m:r>
                        </m:e>
                        <m:sup>
                          <m:r>
                            <a:rPr sz="216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16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160">
                              <a:latin typeface="Cambria Math"/>
                            </a:rPr>
                            <m:t>3.1</m:t>
                          </m:r>
                        </m:e>
                        <m:sup>
                          <m:r>
                            <a:rPr sz="216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=1.44+3.24+9.61=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14.29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Why normalize?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Dividing by Σd² makes Stress a proportion (0–1), independent of scale.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1.2²=1.44, 1.8²=3.24, 3.1²=9.61.</a:t>
            </a:r>
          </a:p>
          <a:p>
            <a:pPr algn="l">
              <a:spcBef>
                <a:spcPts val="140"/>
              </a:spcBef>
            </a:pPr>
            <a:r>
              <a:rPr lang="en-US" sz="1300" b="1" dirty="0">
                <a:solidFill>
                  <a:srgbClr val="333333"/>
                </a:solidFill>
              </a:rPr>
              <a:t>Σd² = 14.29.</a:t>
            </a:r>
          </a:p>
          <a:p>
            <a:pPr algn="l">
              <a:spcBef>
                <a:spcPts val="160"/>
              </a:spcBef>
            </a:pPr>
            <a:r>
              <a:rPr lang="en-US" sz="1250" i="1" dirty="0">
                <a:solidFill>
                  <a:srgbClr val="4B2E83"/>
                </a:solidFill>
              </a:rPr>
              <a:t>A large denominator vs tiny numerator → low stress.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denominator Σd² = 14.29 rescales the misfit so Stress can be compared across problems.</a:t>
            </a:r>
          </a:p>
        </p:txBody>
      </p:sp>
    </p:spTree>
    <p:extLst>
      <p:ext uri="{BB962C8B-B14F-4D97-AF65-F5344CB8AC3E}">
        <p14:creationId xmlns:p14="http://schemas.microsoft.com/office/powerpoint/2010/main" val="12148644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4 — The Stress Value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Stress = √(0.09 / 14.29) = 0.0794 ≈ 0.08 — a good fit on the rule-of-thumb scale.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Stress value &amp; fit gauge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98500" y="2463800"/>
                <a:ext cx="60960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𝑆𝑡𝑟𝑒𝑠𝑠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1755">
                                  <a:latin typeface="Cambria Math"/>
                                </a:rPr>
                                <m:t>0.09</m:t>
                              </m:r>
                            </m:num>
                            <m:den>
                              <m:r>
                                <a:rPr sz="1755">
                                  <a:latin typeface="Cambria Math"/>
                                </a:rPr>
                                <m:t>14.29</m:t>
                              </m:r>
                            </m:den>
                          </m:f>
                        </m:e>
                      </m:rad>
                      <m:r>
                        <a:rPr sz="2160">
                          <a:latin typeface="Cambria Math"/>
                        </a:rPr>
                        <m:t>=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0.08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63800"/>
                <a:ext cx="6096000" cy="88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MLbl"/>
          <p:cNvSpPr txBox="1"/>
          <p:nvPr/>
        </p:nvSpPr>
        <p:spPr>
          <a:xfrm>
            <a:off x="2603500" y="34544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150" b="1" dirty="0">
                <a:solidFill>
                  <a:srgbClr val="4B2E83"/>
                </a:solidFill>
              </a:rPr>
              <a:t>Stress = 0.08</a:t>
            </a:r>
          </a:p>
        </p:txBody>
      </p:sp>
      <p:sp>
        <p:nvSpPr>
          <p:cNvPr id="61" name="Z0"/>
          <p:cNvSpPr/>
          <p:nvPr/>
        </p:nvSpPr>
        <p:spPr>
          <a:xfrm>
            <a:off x="1206500" y="3873500"/>
            <a:ext cx="1270000" cy="330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Z1"/>
          <p:cNvSpPr/>
          <p:nvPr/>
        </p:nvSpPr>
        <p:spPr>
          <a:xfrm>
            <a:off x="2476500" y="3873500"/>
            <a:ext cx="1270000" cy="3302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Z2"/>
          <p:cNvSpPr/>
          <p:nvPr/>
        </p:nvSpPr>
        <p:spPr>
          <a:xfrm>
            <a:off x="3746500" y="3873500"/>
            <a:ext cx="1270000" cy="330200"/>
          </a:xfrm>
          <a:prstGeom prst="rect">
            <a:avLst/>
          </a:prstGeom>
          <a:solidFill>
            <a:srgbClr val="8575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Z3"/>
          <p:cNvSpPr/>
          <p:nvPr/>
        </p:nvSpPr>
        <p:spPr>
          <a:xfrm>
            <a:off x="5016500" y="3873500"/>
            <a:ext cx="1270000" cy="33020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" name="MLine"/>
          <p:cNvSpPr/>
          <p:nvPr/>
        </p:nvSpPr>
        <p:spPr>
          <a:xfrm>
            <a:off x="3219450" y="3759200"/>
            <a:ext cx="38100" cy="558800"/>
          </a:xfrm>
          <a:prstGeom prst="rect">
            <a:avLst/>
          </a:prstGeom>
          <a:solidFill>
            <a:srgbClr val="2320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MDot"/>
          <p:cNvSpPr/>
          <p:nvPr/>
        </p:nvSpPr>
        <p:spPr>
          <a:xfrm>
            <a:off x="3149600" y="3670300"/>
            <a:ext cx="177800" cy="177800"/>
          </a:xfrm>
          <a:prstGeom prst="ellipse">
            <a:avLst/>
          </a:prstGeom>
          <a:solidFill>
            <a:srgbClr val="2320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" name="T0"/>
          <p:cNvSpPr txBox="1"/>
          <p:nvPr/>
        </p:nvSpPr>
        <p:spPr>
          <a:xfrm>
            <a:off x="952500" y="42926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050" dirty="0">
                <a:solidFill>
                  <a:srgbClr val="666666"/>
                </a:solidFill>
              </a:rPr>
              <a:t>0.00</a:t>
            </a:r>
          </a:p>
        </p:txBody>
      </p:sp>
      <p:sp>
        <p:nvSpPr>
          <p:cNvPr id="71" name="T1"/>
          <p:cNvSpPr txBox="1"/>
          <p:nvPr/>
        </p:nvSpPr>
        <p:spPr>
          <a:xfrm>
            <a:off x="2222500" y="42926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050" dirty="0">
                <a:solidFill>
                  <a:srgbClr val="666666"/>
                </a:solidFill>
              </a:rPr>
              <a:t>0.05</a:t>
            </a:r>
          </a:p>
        </p:txBody>
      </p:sp>
      <p:sp>
        <p:nvSpPr>
          <p:cNvPr id="72" name="T2"/>
          <p:cNvSpPr txBox="1"/>
          <p:nvPr/>
        </p:nvSpPr>
        <p:spPr>
          <a:xfrm>
            <a:off x="3492500" y="42926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050" dirty="0">
                <a:solidFill>
                  <a:srgbClr val="666666"/>
                </a:solidFill>
              </a:rPr>
              <a:t>0.10</a:t>
            </a:r>
          </a:p>
        </p:txBody>
      </p:sp>
      <p:sp>
        <p:nvSpPr>
          <p:cNvPr id="73" name="T3"/>
          <p:cNvSpPr txBox="1"/>
          <p:nvPr/>
        </p:nvSpPr>
        <p:spPr>
          <a:xfrm>
            <a:off x="4762500" y="42926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050" dirty="0">
                <a:solidFill>
                  <a:srgbClr val="666666"/>
                </a:solidFill>
              </a:rPr>
              <a:t>0.15</a:t>
            </a:r>
          </a:p>
        </p:txBody>
      </p:sp>
      <p:sp>
        <p:nvSpPr>
          <p:cNvPr id="74" name="T4"/>
          <p:cNvSpPr txBox="1"/>
          <p:nvPr/>
        </p:nvSpPr>
        <p:spPr>
          <a:xfrm>
            <a:off x="6032500" y="42926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050" dirty="0">
                <a:solidFill>
                  <a:srgbClr val="666666"/>
                </a:solidFill>
              </a:rPr>
              <a:t>0.20</a:t>
            </a:r>
          </a:p>
        </p:txBody>
      </p:sp>
      <p:sp>
        <p:nvSpPr>
          <p:cNvPr id="80" name="ZL0"/>
          <p:cNvSpPr txBox="1"/>
          <p:nvPr/>
        </p:nvSpPr>
        <p:spPr>
          <a:xfrm>
            <a:off x="1333500" y="45466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050" b="1" dirty="0">
                <a:solidFill>
                  <a:srgbClr val="5C8A2E"/>
                </a:solidFill>
              </a:rPr>
              <a:t>excellent</a:t>
            </a:r>
          </a:p>
        </p:txBody>
      </p:sp>
      <p:sp>
        <p:nvSpPr>
          <p:cNvPr id="81" name="ZL1"/>
          <p:cNvSpPr txBox="1"/>
          <p:nvPr/>
        </p:nvSpPr>
        <p:spPr>
          <a:xfrm>
            <a:off x="2603500" y="45466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050" b="1" dirty="0">
                <a:solidFill>
                  <a:srgbClr val="00838D"/>
                </a:solidFill>
              </a:rPr>
              <a:t>good</a:t>
            </a:r>
          </a:p>
        </p:txBody>
      </p:sp>
      <p:sp>
        <p:nvSpPr>
          <p:cNvPr id="82" name="ZL2"/>
          <p:cNvSpPr txBox="1"/>
          <p:nvPr/>
        </p:nvSpPr>
        <p:spPr>
          <a:xfrm>
            <a:off x="3873500" y="45466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050" b="1" dirty="0">
                <a:solidFill>
                  <a:srgbClr val="85754D"/>
                </a:solidFill>
              </a:rPr>
              <a:t>fair</a:t>
            </a:r>
          </a:p>
        </p:txBody>
      </p:sp>
      <p:sp>
        <p:nvSpPr>
          <p:cNvPr id="83" name="ZL3"/>
          <p:cNvSpPr txBox="1"/>
          <p:nvPr/>
        </p:nvSpPr>
        <p:spPr>
          <a:xfrm>
            <a:off x="5143500" y="45466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050" b="1" dirty="0">
                <a:solidFill>
                  <a:srgbClr val="D1578A"/>
                </a:solidFill>
              </a:rPr>
              <a:t>poor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Rule-of-thumb bands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514600"/>
            <a:ext cx="4038600" cy="2667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5C8A2E"/>
                </a:solidFill>
              </a:rPr>
              <a:t>0.00–0.05   excellent</a:t>
            </a:r>
          </a:p>
          <a:p>
            <a:pPr algn="l">
              <a:spcBef>
                <a:spcPts val="120"/>
              </a:spcBef>
            </a:pPr>
            <a:r>
              <a:rPr lang="en-US" sz="1300" b="1" dirty="0">
                <a:solidFill>
                  <a:srgbClr val="00838D"/>
                </a:solidFill>
              </a:rPr>
              <a:t>0.05–0.10   good</a:t>
            </a:r>
          </a:p>
          <a:p>
            <a:pPr algn="l">
              <a:spcBef>
                <a:spcPts val="120"/>
              </a:spcBef>
            </a:pPr>
            <a:r>
              <a:rPr lang="en-US" sz="1300" b="1" dirty="0">
                <a:solidFill>
                  <a:srgbClr val="85754D"/>
                </a:solidFill>
              </a:rPr>
              <a:t>0.10–0.20   fair</a:t>
            </a:r>
          </a:p>
          <a:p>
            <a:pPr algn="l">
              <a:spcBef>
                <a:spcPts val="120"/>
              </a:spcBef>
            </a:pPr>
            <a:r>
              <a:rPr lang="en-US" sz="1300" b="1" dirty="0">
                <a:solidFill>
                  <a:srgbClr val="D1578A"/>
                </a:solidFill>
              </a:rPr>
              <a:t>&gt;0.20   poor</a:t>
            </a:r>
          </a:p>
          <a:p>
            <a:pPr algn="l">
              <a:spcBef>
                <a:spcPts val="200"/>
              </a:spcBef>
            </a:pPr>
            <a:r>
              <a:rPr lang="en-US" sz="1350" b="1" dirty="0">
                <a:solidFill>
                  <a:srgbClr val="4B2E83"/>
                </a:solidFill>
              </a:rPr>
              <a:t>Our 0.08 → good fit.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Stress ≈ 0.08 sits in the 'good' band — the 2-D map represents these dissimilarities well.</a:t>
            </a:r>
          </a:p>
        </p:txBody>
      </p:sp>
    </p:spTree>
    <p:extLst>
      <p:ext uri="{BB962C8B-B14F-4D97-AF65-F5344CB8AC3E}">
        <p14:creationId xmlns:p14="http://schemas.microsoft.com/office/powerpoint/2010/main" val="21149707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5 — Why Non-Metric MDS?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If the δ are only ordinal (ranks), fit a monotone transform f(δ) → disparities d̂ and minimize stress.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Monotone (isotonic) fit</a:t>
            </a:r>
          </a:p>
        </p:txBody>
      </p:sp>
      <p:sp>
        <p:nvSpPr>
          <p:cNvPr id="40" name="YAxis"/>
          <p:cNvSpPr/>
          <p:nvPr/>
        </p:nvSpPr>
        <p:spPr>
          <a:xfrm>
            <a:off x="1498600" y="2489200"/>
            <a:ext cx="31750" cy="2667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XAxis"/>
          <p:cNvSpPr/>
          <p:nvPr/>
        </p:nvSpPr>
        <p:spPr>
          <a:xfrm>
            <a:off x="1498600" y="5130800"/>
            <a:ext cx="4572000" cy="3175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YLab"/>
          <p:cNvSpPr txBox="1"/>
          <p:nvPr/>
        </p:nvSpPr>
        <p:spPr>
          <a:xfrm>
            <a:off x="889000" y="3175000"/>
            <a:ext cx="5842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66666"/>
                </a:solidFill>
              </a:rPr>
              <a:t>d, d̂</a:t>
            </a:r>
          </a:p>
        </p:txBody>
      </p:sp>
      <p:sp>
        <p:nvSpPr>
          <p:cNvPr id="43" name="XLab"/>
          <p:cNvSpPr txBox="1"/>
          <p:nvPr/>
        </p:nvSpPr>
        <p:spPr>
          <a:xfrm>
            <a:off x="3175000" y="5207000"/>
            <a:ext cx="203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l"/>
            <a:r>
              <a:rPr lang="en-US" sz="1150" b="1" dirty="0">
                <a:solidFill>
                  <a:srgbClr val="666666"/>
                </a:solidFill>
              </a:rPr>
              <a:t>δ  (rank order) →</a:t>
            </a:r>
          </a:p>
        </p:txBody>
      </p:sp>
      <p:sp>
        <p:nvSpPr>
          <p:cNvPr id="5" name="Tread1"/>
          <p:cNvSpPr/>
          <p:nvPr/>
        </p:nvSpPr>
        <p:spPr>
          <a:xfrm>
            <a:off x="1905000" y="4572000"/>
            <a:ext cx="1168400" cy="508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Riser1"/>
          <p:cNvSpPr/>
          <p:nvPr/>
        </p:nvSpPr>
        <p:spPr>
          <a:xfrm>
            <a:off x="3048000" y="4191000"/>
            <a:ext cx="50800" cy="4318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Tread2"/>
          <p:cNvSpPr/>
          <p:nvPr/>
        </p:nvSpPr>
        <p:spPr>
          <a:xfrm>
            <a:off x="3073400" y="4165600"/>
            <a:ext cx="1219200" cy="508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" name="Riser2"/>
          <p:cNvSpPr/>
          <p:nvPr/>
        </p:nvSpPr>
        <p:spPr>
          <a:xfrm>
            <a:off x="4267200" y="3708400"/>
            <a:ext cx="50800" cy="4826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Tread3"/>
          <p:cNvSpPr/>
          <p:nvPr/>
        </p:nvSpPr>
        <p:spPr>
          <a:xfrm>
            <a:off x="4292600" y="3683000"/>
            <a:ext cx="1524000" cy="508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P1"/>
          <p:cNvSpPr/>
          <p:nvPr/>
        </p:nvSpPr>
        <p:spPr>
          <a:xfrm>
            <a:off x="2159000" y="4470400"/>
            <a:ext cx="165100" cy="1651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P2"/>
          <p:cNvSpPr/>
          <p:nvPr/>
        </p:nvSpPr>
        <p:spPr>
          <a:xfrm>
            <a:off x="3327400" y="4292600"/>
            <a:ext cx="165100" cy="1651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P3"/>
          <p:cNvSpPr/>
          <p:nvPr/>
        </p:nvSpPr>
        <p:spPr>
          <a:xfrm>
            <a:off x="4572000" y="3810000"/>
            <a:ext cx="165100" cy="1651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P4"/>
          <p:cNvSpPr/>
          <p:nvPr/>
        </p:nvSpPr>
        <p:spPr>
          <a:xfrm>
            <a:off x="5588000" y="3175000"/>
            <a:ext cx="165100" cy="1651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" name="Leg1"/>
          <p:cNvSpPr txBox="1"/>
          <p:nvPr/>
        </p:nvSpPr>
        <p:spPr>
          <a:xfrm>
            <a:off x="1905000" y="24892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D1578A"/>
                </a:solidFill>
              </a:rPr>
              <a:t>● map distance d</a:t>
            </a:r>
          </a:p>
        </p:txBody>
      </p:sp>
      <p:sp>
        <p:nvSpPr>
          <p:cNvPr id="71" name="Leg2"/>
          <p:cNvSpPr txBox="1"/>
          <p:nvPr/>
        </p:nvSpPr>
        <p:spPr>
          <a:xfrm>
            <a:off x="1905000" y="27178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20000"/>
          </a:bodyPr>
          <a:lstStyle/>
          <a:p>
            <a:pPr algn="l"/>
            <a:r>
              <a:rPr lang="en-US" sz="1100" b="1" dirty="0">
                <a:solidFill>
                  <a:srgbClr val="00838D"/>
                </a:solidFill>
              </a:rPr>
              <a:t>▬ disparity d̂ = f(δ), monotone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Metric vs non-metric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Metric MDS treats δ as true distances.</a:t>
            </a:r>
          </a:p>
          <a:p>
            <a:pPr algn="l">
              <a:spcBef>
                <a:spcPts val="140"/>
              </a:spcBef>
            </a:pPr>
            <a:r>
              <a:rPr lang="en-US" sz="1300" b="1" dirty="0">
                <a:solidFill>
                  <a:srgbClr val="333333"/>
                </a:solidFill>
              </a:rPr>
              <a:t>Non-metric keeps only the ORDER of δ.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It fits a monotone f → disparities d̂, minimizing stress over f.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Use for ranks, ratings, perceptions — where only order is meaningful.</a:t>
            </a:r>
          </a:p>
          <a:p>
            <a:pPr algn="l">
              <a:spcBef>
                <a:spcPts val="140"/>
              </a:spcBef>
            </a:pPr>
            <a:r>
              <a:rPr lang="en-US" sz="1250" i="1" dirty="0">
                <a:solidFill>
                  <a:srgbClr val="4B2E83"/>
                </a:solidFill>
              </a:rPr>
              <a:t>Result: equal or lower stress than metric MDS.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Non-metric MDS replaces δ with a monotone step function of its ranks — ideal when dissimilarities are ordinal.</a:t>
            </a:r>
          </a:p>
        </p:txBody>
      </p:sp>
    </p:spTree>
    <p:extLst>
      <p:ext uri="{BB962C8B-B14F-4D97-AF65-F5344CB8AC3E}">
        <p14:creationId xmlns:p14="http://schemas.microsoft.com/office/powerpoint/2010/main" val="9872425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0C1DE0-5992-DD42-9C06-F31D6689C3EF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892FA7-EECA-1843-A5B7-56C5E094AB0E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Exercise 3 — Conceptual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DFBD154-D7F7-B647-B492-225B3982CF16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MDS · Exercise 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F06847A-0BFB-0140-873D-51D9960E763F}"/>
              </a:ext>
            </a:extLst>
          </p:cNvPr>
          <p:cNvSpPr/>
          <p:nvPr/>
        </p:nvSpPr>
        <p:spPr>
          <a:xfrm>
            <a:off x="762000" y="1473200"/>
            <a:ext cx="10668000" cy="1219200"/>
          </a:xfrm>
          <a:prstGeom prst="roundRect">
            <a:avLst/>
          </a:prstGeom>
          <a:solidFill>
            <a:srgbClr val="F7F4EE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13511C-B094-C741-9A11-04E1A1339140}"/>
              </a:ext>
            </a:extLst>
          </p:cNvPr>
          <p:cNvSpPr txBox="1"/>
          <p:nvPr/>
        </p:nvSpPr>
        <p:spPr>
          <a:xfrm>
            <a:off x="990600" y="15748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Problem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E53A47-20F6-6A48-941A-B614358F60A8}"/>
              </a:ext>
            </a:extLst>
          </p:cNvPr>
          <p:cNvSpPr txBox="1"/>
          <p:nvPr/>
        </p:nvSpPr>
        <p:spPr>
          <a:xfrm>
            <a:off x="990600" y="1879600"/>
            <a:ext cx="102108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Answer briefly:
(a) When does classical MDS give exactly the same map as PCA?
(b) Why are MDS axes unlabeled, and what does this imply for interpretation?
(c) Your classical-MDS eigenvalues are (6.0, 2.5, −1.8, −2.0). What do the negatives tell you?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F023E77-5B4C-D140-A312-48BBC0F4AEF8}"/>
              </a:ext>
            </a:extLst>
          </p:cNvPr>
          <p:cNvSpPr/>
          <p:nvPr/>
        </p:nvSpPr>
        <p:spPr>
          <a:xfrm>
            <a:off x="762000" y="2870200"/>
            <a:ext cx="10668000" cy="3200400"/>
          </a:xfrm>
          <a:prstGeom prst="roundRect">
            <a:avLst/>
          </a:prstGeom>
          <a:solidFill>
            <a:srgbClr val="F1F7EB"/>
          </a:solidFill>
          <a:ln w="15875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4502B0-499B-644E-9033-99EDD27BAFB4}"/>
              </a:ext>
            </a:extLst>
          </p:cNvPr>
          <p:cNvSpPr txBox="1"/>
          <p:nvPr/>
        </p:nvSpPr>
        <p:spPr>
          <a:xfrm>
            <a:off x="990600" y="29718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5A8A2E"/>
                </a:solidFill>
              </a:rPr>
              <a:t>Solution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9C1E7A-BCFE-3649-8521-80B003671181}"/>
              </a:ext>
            </a:extLst>
          </p:cNvPr>
          <p:cNvSpPr txBox="1"/>
          <p:nvPr/>
        </p:nvSpPr>
        <p:spPr>
          <a:xfrm>
            <a:off x="990600" y="3276600"/>
            <a:ext cx="10210800" cy="2692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(a) When D contains the Euclidean distances between (centred) data points. Then B = X꜀X꜀ᵀ shares the
     non-zero eigenvalues of the PCA covariance, so MDS coordinates = PCA scores (up to rotation/reflection).
(b) MDS only constrains pairwise distances, which are invariant to rotation, reflection and translation. So the
     axes carry no intrinsic meaning — interpret CLUSTERS and relative proximities, not axis directions, unless
     you regress external variables onto the configuration to name the axes.
(c) Large negative eigenvalues (−1.8, −2.0 vs positives 6.0, 2.5) mean D is markedly non-Euclidean — a 2-D
     Euclidean map will distort distances. Consider non-metric MDS, or add a constant to off-diagonal d²
     (additive constant method) to make B positive semi-definite before mapping.</a:t>
            </a:r>
          </a:p>
        </p:txBody>
      </p:sp>
    </p:spTree>
    <p:extLst>
      <p:ext uri="{BB962C8B-B14F-4D97-AF65-F5344CB8AC3E}">
        <p14:creationId xmlns:p14="http://schemas.microsoft.com/office/powerpoint/2010/main" val="20949233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The Three Questions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A conceptual exercise linking classical MDS to PCA, axis meaning, and eigenvalue signs.</a:t>
            </a:r>
          </a:p>
        </p:txBody>
      </p:sp>
      <p:sp>
        <p:nvSpPr>
          <p:cNvPr id="9" name="CardA"/>
          <p:cNvSpPr/>
          <p:nvPr/>
        </p:nvSpPr>
        <p:spPr>
          <a:xfrm>
            <a:off x="762000" y="2006600"/>
            <a:ext cx="10668000" cy="11684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Dot10"/>
          <p:cNvSpPr/>
          <p:nvPr/>
        </p:nvSpPr>
        <p:spPr>
          <a:xfrm>
            <a:off x="990600" y="2286000"/>
            <a:ext cx="609600" cy="6096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QA"/>
          <p:cNvSpPr txBox="1"/>
          <p:nvPr/>
        </p:nvSpPr>
        <p:spPr>
          <a:xfrm>
            <a:off x="1803400" y="2159000"/>
            <a:ext cx="9423400" cy="88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700" b="1" dirty="0">
                <a:solidFill>
                  <a:srgbClr val="333333"/>
                </a:solidFill>
              </a:rPr>
              <a:t>When is classical MDS equivalent to PCA?</a:t>
            </a:r>
          </a:p>
        </p:txBody>
      </p:sp>
      <p:sp>
        <p:nvSpPr>
          <p:cNvPr id="13" name="CardB"/>
          <p:cNvSpPr/>
          <p:nvPr/>
        </p:nvSpPr>
        <p:spPr>
          <a:xfrm>
            <a:off x="762000" y="3251200"/>
            <a:ext cx="10668000" cy="11684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00A7B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Dot14"/>
          <p:cNvSpPr/>
          <p:nvPr/>
        </p:nvSpPr>
        <p:spPr>
          <a:xfrm>
            <a:off x="990600" y="3530600"/>
            <a:ext cx="609600" cy="609600"/>
          </a:xfrm>
          <a:prstGeom prst="ellipse">
            <a:avLst/>
          </a:prstGeom>
          <a:solidFill>
            <a:srgbClr val="007A85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QB"/>
          <p:cNvSpPr txBox="1"/>
          <p:nvPr/>
        </p:nvSpPr>
        <p:spPr>
          <a:xfrm>
            <a:off x="1803400" y="3403600"/>
            <a:ext cx="9423400" cy="88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700" b="1" dirty="0">
                <a:solidFill>
                  <a:srgbClr val="333333"/>
                </a:solidFill>
              </a:rPr>
              <a:t>Why are the axes of an MDS map unlabeled?</a:t>
            </a:r>
          </a:p>
        </p:txBody>
      </p:sp>
      <p:sp>
        <p:nvSpPr>
          <p:cNvPr id="16" name="CardC"/>
          <p:cNvSpPr/>
          <p:nvPr/>
        </p:nvSpPr>
        <p:spPr>
          <a:xfrm>
            <a:off x="762000" y="4495800"/>
            <a:ext cx="10668000" cy="12446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D1578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Dot17"/>
          <p:cNvSpPr/>
          <p:nvPr/>
        </p:nvSpPr>
        <p:spPr>
          <a:xfrm>
            <a:off x="990600" y="4800600"/>
            <a:ext cx="609600" cy="6096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QC"/>
          <p:cNvSpPr txBox="1"/>
          <p:nvPr/>
        </p:nvSpPr>
        <p:spPr>
          <a:xfrm>
            <a:off x="1803400" y="4648200"/>
            <a:ext cx="9423400" cy="965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700" b="1" dirty="0">
                <a:solidFill>
                  <a:srgbClr val="333333"/>
                </a:solidFill>
              </a:rPr>
              <a:t>Eigenvalues (6.0, 2.5, −1.8, −2.0): what do the negatives tell you?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Three lenses on MDS: its link to PCA, the geometry of invariance, and eigenvalues as a diagnostic.</a:t>
            </a:r>
          </a:p>
        </p:txBody>
      </p:sp>
    </p:spTree>
    <p:extLst>
      <p:ext uri="{BB962C8B-B14F-4D97-AF65-F5344CB8AC3E}">
        <p14:creationId xmlns:p14="http://schemas.microsoft.com/office/powerpoint/2010/main" val="6594457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(a) When MDS = PCA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Classical MDS equals PCA when D holds the Euclidean distances of centred data.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The shared eigenstructure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40000"/>
                <a:ext cx="6096000" cy="254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𝐵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6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2160">
                              <a:latin typeface="Cambria Math"/>
                            </a:rPr>
                            <m:t>𝑐</m:t>
                          </m:r>
                        </m:sub>
                      </m:sSub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160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sz="2160"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r>
                            <a:rPr sz="2160">
                              <a:latin typeface="Cambria Math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160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sz="2160"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r>
                            <a:rPr sz="2160">
                              <a:latin typeface="Cambria Math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6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2160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sz="2160">
                          <a:latin typeface="Cambria Math"/>
                        </a:rPr>
                        <m:t>=(</m:t>
                      </m:r>
                      <m:r>
                        <a:rPr sz="2160">
                          <a:latin typeface="Cambria Math"/>
                        </a:rPr>
                        <m:t>𝑛</m:t>
                      </m:r>
                      <m:r>
                        <a:rPr sz="2160">
                          <a:latin typeface="Cambria Math"/>
                        </a:rPr>
                        <m:t>−1) 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𝛴</m:t>
                      </m:r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𝑒𝑖𝑔</m:t>
                      </m:r>
                      <m:r>
                        <a:rPr sz="2160">
                          <a:latin typeface="Cambria Math"/>
                        </a:rPr>
                        <m:t>⁺(</m:t>
                      </m:r>
                      <m:r>
                        <a:rPr sz="2160">
                          <a:latin typeface="Cambria Math"/>
                        </a:rPr>
                        <m:t>𝐵</m:t>
                      </m:r>
                      <m:r>
                        <a:rPr sz="2160">
                          <a:latin typeface="Cambria Math"/>
                        </a:rPr>
                        <m:t>)=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𝑒𝑖𝑔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⁺(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𝛴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54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Two routes, one answer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If dᵢⱼ = ‖xᵢ − xⱼ‖ and the data are centred…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…then B = Xc Xcᵀ (the Gram matrix).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Xc Xcᵀ and Xcᵀ Xc share nonzero eigenvalues.</a:t>
            </a:r>
          </a:p>
          <a:p>
            <a:pPr algn="l">
              <a:spcBef>
                <a:spcPts val="140"/>
              </a:spcBef>
            </a:pPr>
            <a:r>
              <a:rPr lang="en-US" sz="1300" b="1" dirty="0">
                <a:solidFill>
                  <a:srgbClr val="333333"/>
                </a:solidFill>
              </a:rPr>
              <a:t>⇒ MDS coordinates = PCA scores,</a:t>
            </a:r>
          </a:p>
          <a:p>
            <a:pPr algn="l">
              <a:spcBef>
                <a:spcPts val="60"/>
              </a:spcBef>
            </a:pPr>
            <a:r>
              <a:rPr lang="en-US" sz="1250" i="1" dirty="0">
                <a:solidFill>
                  <a:srgbClr val="4B2E83"/>
                </a:solidFill>
              </a:rPr>
              <a:t>identical up to rotation / reflection.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On Euclidean distances of centred data, classical MDS and PCA give the same coordinates.</a:t>
            </a:r>
          </a:p>
        </p:txBody>
      </p:sp>
    </p:spTree>
    <p:extLst>
      <p:ext uri="{BB962C8B-B14F-4D97-AF65-F5344CB8AC3E}">
        <p14:creationId xmlns:p14="http://schemas.microsoft.com/office/powerpoint/2010/main" val="13232891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100" b="1" dirty="0">
                <a:solidFill>
                  <a:srgbClr val="4B2E83"/>
                </a:solidFill>
              </a:rPr>
              <a:t>Step 3 — (b) Why Axes Are Unlabeled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MDS fixes only the pairwise distances — invariant to rotation, reflection, and translation.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Same shape, any orientation</a:t>
            </a:r>
          </a:p>
        </p:txBody>
      </p:sp>
      <p:sp>
        <p:nvSpPr>
          <p:cNvPr id="40" name="Tri1"/>
          <p:cNvSpPr/>
          <p:nvPr/>
        </p:nvSpPr>
        <p:spPr>
          <a:xfrm>
            <a:off x="1397000" y="2717800"/>
            <a:ext cx="1905000" cy="1651000"/>
          </a:xfrm>
          <a:prstGeom prst="triangle">
            <a:avLst/>
          </a:prstGeom>
          <a:noFill/>
          <a:ln w="3175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ri2"/>
          <p:cNvSpPr/>
          <p:nvPr/>
        </p:nvSpPr>
        <p:spPr>
          <a:xfrm rot="2700000">
            <a:off x="4191000" y="2667000"/>
            <a:ext cx="1905000" cy="1778000"/>
          </a:xfrm>
          <a:prstGeom prst="triangle">
            <a:avLst/>
          </a:prstGeom>
          <a:noFill/>
          <a:ln w="31750">
            <a:solidFill>
              <a:srgbClr val="00A7B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Equiv"/>
          <p:cNvSpPr txBox="1"/>
          <p:nvPr/>
        </p:nvSpPr>
        <p:spPr>
          <a:xfrm>
            <a:off x="3327400" y="3175000"/>
            <a:ext cx="711200" cy="609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3200" b="1" dirty="0">
                <a:solidFill>
                  <a:srgbClr val="85754D"/>
                </a:solidFill>
              </a:rPr>
              <a:t>≡</a:t>
            </a:r>
          </a:p>
        </p:txBody>
      </p:sp>
      <p:sp>
        <p:nvSpPr>
          <p:cNvPr id="43" name="Cap"/>
          <p:cNvSpPr txBox="1"/>
          <p:nvPr/>
        </p:nvSpPr>
        <p:spPr>
          <a:xfrm>
            <a:off x="889000" y="4572000"/>
            <a:ext cx="5715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50" b="1" dirty="0">
                <a:solidFill>
                  <a:srgbClr val="333333"/>
                </a:solidFill>
              </a:rPr>
              <a:t>rotate · reflect · translate</a:t>
            </a:r>
          </a:p>
          <a:p>
            <a:pPr algn="ctr">
              <a:spcBef>
                <a:spcPts val="80"/>
              </a:spcBef>
            </a:pPr>
            <a:r>
              <a:rPr lang="en-US" sz="1250" i="1" dirty="0">
                <a:solidFill>
                  <a:srgbClr val="666666"/>
                </a:solidFill>
              </a:rPr>
              <a:t>every distance dᵢⱼ stays the same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Read proximities, not axes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MDS constrains only the distances dᵢⱼ between points.</a:t>
            </a:r>
          </a:p>
          <a:p>
            <a:pPr algn="l">
              <a:spcBef>
                <a:spcPts val="130"/>
              </a:spcBef>
            </a:pPr>
            <a:r>
              <a:rPr lang="en-US" sz="1300" dirty="0">
                <a:solidFill>
                  <a:srgbClr val="333333"/>
                </a:solidFill>
              </a:rPr>
              <a:t>Rotating, reflecting or shifting the whole map leaves every distance unchanged.</a:t>
            </a:r>
          </a:p>
          <a:p>
            <a:pPr algn="l">
              <a:spcBef>
                <a:spcPts val="130"/>
              </a:spcBef>
            </a:pPr>
            <a:r>
              <a:rPr lang="en-US" sz="1300" b="1" dirty="0">
                <a:solidFill>
                  <a:srgbClr val="333333"/>
                </a:solidFill>
              </a:rPr>
              <a:t>So axis directions and units are arbitrary.</a:t>
            </a:r>
          </a:p>
          <a:p>
            <a:pPr algn="l">
              <a:spcBef>
                <a:spcPts val="130"/>
              </a:spcBef>
            </a:pPr>
            <a:r>
              <a:rPr lang="en-US" sz="1250" i="1" dirty="0">
                <a:solidFill>
                  <a:srgbClr val="4B2E83"/>
                </a:solidFill>
              </a:rPr>
              <a:t>Interpret clusters and relative proximities — not axis labels.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Read an MDS map by what sits near what — the axes carry no intrinsic meaning.</a:t>
            </a:r>
          </a:p>
        </p:txBody>
      </p:sp>
    </p:spTree>
    <p:extLst>
      <p:ext uri="{BB962C8B-B14F-4D97-AF65-F5344CB8AC3E}">
        <p14:creationId xmlns:p14="http://schemas.microsoft.com/office/powerpoint/2010/main" val="7161506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100" b="1" dirty="0">
                <a:solidFill>
                  <a:srgbClr val="4B2E83"/>
                </a:solidFill>
              </a:rPr>
              <a:t>Step 4 — (c) Negative Eigenvalues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Eigenvalues (6.0, 2.5, −1.8, −2.0): two large negatives signal markedly non-Euclidean distances.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Size of the negatives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Vector"/>
              <p:cNvSpPr txBox="1"/>
              <p:nvPr/>
            </p:nvSpPr>
            <p:spPr>
              <a:xfrm>
                <a:off x="698500" y="2489200"/>
                <a:ext cx="6096000" cy="12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𝜆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𝟔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𝟖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Vector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1219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889000" y="3784600"/>
            <a:ext cx="5715000" cy="660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50" b="1" dirty="0">
                <a:solidFill>
                  <a:srgbClr val="333333"/>
                </a:solidFill>
              </a:rPr>
              <a:t>|−2.0| / 6.0 ≈ 33%  →  far too large to ignore</a:t>
            </a:r>
          </a:p>
        </p:txBody>
      </p:sp>
      <p:sp>
        <p:nvSpPr>
          <p:cNvPr id="15" name="Verdict"/>
          <p:cNvSpPr/>
          <p:nvPr/>
        </p:nvSpPr>
        <p:spPr>
          <a:xfrm>
            <a:off x="1524000" y="4597400"/>
            <a:ext cx="4445000" cy="660400"/>
          </a:xfrm>
          <a:prstGeom prst="roundRect">
            <a:avLst/>
          </a:prstGeom>
          <a:solidFill>
            <a:srgbClr val="C13A78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⇒  markedly non-Euclidean</a:t>
            </a:r>
          </a:p>
        </p:txBody>
      </p:sp>
      <p:sp>
        <p:nvSpPr>
          <p:cNvPr id="20" name="MapHeader"/>
          <p:cNvSpPr txBox="1"/>
          <p:nvPr/>
        </p:nvSpPr>
        <p:spPr>
          <a:xfrm>
            <a:off x="6959600" y="1905000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Eigenvalue spectrum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Negative eigenvalues as big as the positives mean a 2-D Euclidean map will visibly distort the data.</a:t>
            </a:r>
          </a:p>
        </p:txBody>
      </p:sp>
      <p:graphicFrame>
        <p:nvGraphicFramePr>
          <p:cNvPr id="80" name="Eigen Chart"/>
          <p:cNvGraphicFramePr/>
          <p:nvPr/>
        </p:nvGraphicFramePr>
        <p:xfrm>
          <a:off x="6959600" y="2286000"/>
          <a:ext cx="4495800" cy="340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015822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5 — Fixes &amp; Summary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When B isn't positive semi-definite, repair it — then recap the three answers.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080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47244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Fixes when B ⋡ 0</a:t>
            </a:r>
          </a:p>
        </p:txBody>
      </p:sp>
      <p:sp>
        <p:nvSpPr>
          <p:cNvPr id="13" name="LB"/>
          <p:cNvSpPr txBox="1"/>
          <p:nvPr/>
        </p:nvSpPr>
        <p:spPr>
          <a:xfrm>
            <a:off x="965200" y="2489200"/>
            <a:ext cx="4724400" cy="3149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Additive constant</a:t>
            </a:r>
          </a:p>
          <a:p>
            <a:pPr algn="l">
              <a:spcBef>
                <a:spcPts val="40"/>
              </a:spcBef>
            </a:pPr>
            <a:r>
              <a:rPr lang="en-US" sz="1250" dirty="0">
                <a:solidFill>
                  <a:srgbClr val="666666"/>
                </a:solidFill>
              </a:rPr>
              <a:t>add c to every off-diagonal D²ᵢⱼ until B ⪰ 0.</a:t>
            </a:r>
          </a:p>
          <a:p>
            <a:pPr algn="l">
              <a:spcBef>
                <a:spcPts val="200"/>
              </a:spcBef>
            </a:pPr>
            <a:r>
              <a:rPr lang="en-US" sz="1350" b="1" dirty="0">
                <a:solidFill>
                  <a:srgbClr val="333333"/>
                </a:solidFill>
              </a:rPr>
              <a:t>Non-metric MDS</a:t>
            </a:r>
          </a:p>
          <a:p>
            <a:pPr algn="l">
              <a:spcBef>
                <a:spcPts val="40"/>
              </a:spcBef>
            </a:pPr>
            <a:r>
              <a:rPr lang="en-US" sz="1250" dirty="0">
                <a:solidFill>
                  <a:srgbClr val="666666"/>
                </a:solidFill>
              </a:rPr>
              <a:t>fit monotone disparities, minimize stress.</a:t>
            </a:r>
          </a:p>
          <a:p>
            <a:pPr algn="l">
              <a:spcBef>
                <a:spcPts val="200"/>
              </a:spcBef>
            </a:pPr>
            <a:r>
              <a:rPr lang="en-US" sz="1350" b="1" dirty="0">
                <a:solidFill>
                  <a:srgbClr val="333333"/>
                </a:solidFill>
              </a:rPr>
              <a:t>Report with a caveat</a:t>
            </a:r>
          </a:p>
          <a:p>
            <a:pPr algn="l">
              <a:spcBef>
                <a:spcPts val="40"/>
              </a:spcBef>
            </a:pPr>
            <a:r>
              <a:rPr lang="en-US" sz="1250" dirty="0">
                <a:solidFill>
                  <a:srgbClr val="666666"/>
                </a:solidFill>
              </a:rPr>
              <a:t>keep the 2-D map but flag the distortion.</a:t>
            </a:r>
          </a:p>
        </p:txBody>
      </p:sp>
      <p:sp>
        <p:nvSpPr>
          <p:cNvPr id="20" name="Right Card"/>
          <p:cNvSpPr/>
          <p:nvPr/>
        </p:nvSpPr>
        <p:spPr>
          <a:xfrm>
            <a:off x="6096000" y="1905000"/>
            <a:ext cx="5334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6299200" y="2057400"/>
            <a:ext cx="4927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4B2E83"/>
                </a:solidFill>
              </a:rPr>
              <a:t>The three answers</a:t>
            </a:r>
          </a:p>
        </p:txBody>
      </p:sp>
      <p:sp>
        <p:nvSpPr>
          <p:cNvPr id="60" name="Dota"/>
          <p:cNvSpPr/>
          <p:nvPr/>
        </p:nvSpPr>
        <p:spPr>
          <a:xfrm>
            <a:off x="6324600" y="2540000"/>
            <a:ext cx="381000" cy="3810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3" name="Ans_a"/>
          <p:cNvSpPr txBox="1"/>
          <p:nvPr/>
        </p:nvSpPr>
        <p:spPr>
          <a:xfrm>
            <a:off x="6832600" y="2489200"/>
            <a:ext cx="4419600" cy="812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250" dirty="0">
                <a:solidFill>
                  <a:srgbClr val="333333"/>
                </a:solidFill>
              </a:rPr>
              <a:t>MDS = PCA on Euclidean distances of centred data (shared eigenstructure).</a:t>
            </a:r>
          </a:p>
        </p:txBody>
      </p:sp>
      <p:sp>
        <p:nvSpPr>
          <p:cNvPr id="61" name="Dotb"/>
          <p:cNvSpPr/>
          <p:nvPr/>
        </p:nvSpPr>
        <p:spPr>
          <a:xfrm>
            <a:off x="6324600" y="3454400"/>
            <a:ext cx="381000" cy="381000"/>
          </a:xfrm>
          <a:prstGeom prst="ellipse">
            <a:avLst/>
          </a:prstGeom>
          <a:solidFill>
            <a:srgbClr val="007A85"/>
          </a:solidFill>
          <a:ln>
            <a:noFill/>
          </a:ln>
        </p:spPr>
        <p:txBody>
          <a:bodyPr wrap="square" lIns="91440" tIns="45720" rIns="91440" bIns="45720" rtlCol="0" anchor="ctr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4" name="Ans_b"/>
          <p:cNvSpPr txBox="1"/>
          <p:nvPr/>
        </p:nvSpPr>
        <p:spPr>
          <a:xfrm>
            <a:off x="6832600" y="3403600"/>
            <a:ext cx="4419600" cy="812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250" dirty="0">
                <a:solidFill>
                  <a:srgbClr val="333333"/>
                </a:solidFill>
              </a:rPr>
              <a:t>Axes are unlabeled — distances are invariant to rotation, reflection, translation.</a:t>
            </a:r>
          </a:p>
        </p:txBody>
      </p:sp>
      <p:sp>
        <p:nvSpPr>
          <p:cNvPr id="62" name="Dotc"/>
          <p:cNvSpPr/>
          <p:nvPr/>
        </p:nvSpPr>
        <p:spPr>
          <a:xfrm>
            <a:off x="6324600" y="4368800"/>
            <a:ext cx="381000" cy="381000"/>
          </a:xfrm>
          <a:prstGeom prst="ellipse">
            <a:avLst/>
          </a:prstGeom>
          <a:solidFill>
            <a:srgbClr val="C13A78"/>
          </a:solidFill>
          <a:ln>
            <a:noFill/>
          </a:ln>
        </p:spPr>
        <p:txBody>
          <a:bodyPr wrap="square" lIns="91440" tIns="45720" rIns="91440" bIns="45720" rtlCol="0" anchor="ctr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5" name="Ans_c"/>
          <p:cNvSpPr txBox="1"/>
          <p:nvPr/>
        </p:nvSpPr>
        <p:spPr>
          <a:xfrm>
            <a:off x="6832600" y="4318000"/>
            <a:ext cx="4419600" cy="1066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250" dirty="0">
                <a:solidFill>
                  <a:srgbClr val="333333"/>
                </a:solidFill>
              </a:rPr>
              <a:t>Large negative eigenvalues ⇒ non-Euclidean; the 2-D map distorts — use the fixes at left.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Eigenvalue sizes and signs diagnose the whole MDS — fit, dimensionality, and Euclidean validity.</a:t>
            </a:r>
          </a:p>
        </p:txBody>
      </p:sp>
    </p:spTree>
    <p:extLst>
      <p:ext uri="{BB962C8B-B14F-4D97-AF65-F5344CB8AC3E}">
        <p14:creationId xmlns:p14="http://schemas.microsoft.com/office/powerpoint/2010/main" val="32976797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FF8FF5-2125-FF40-8588-BFB53F1EA8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5D525F-B888-A042-98C0-1B616DEE93A3}"/>
              </a:ext>
            </a:extLst>
          </p:cNvPr>
          <p:cNvSpPr/>
          <p:nvPr/>
        </p:nvSpPr>
        <p:spPr>
          <a:xfrm>
            <a:off x="9652000" y="0"/>
            <a:ext cx="2540000" cy="68580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BE5EAA-D873-064B-AEBB-3A343C51E05F}"/>
              </a:ext>
            </a:extLst>
          </p:cNvPr>
          <p:cNvSpPr txBox="1"/>
          <p:nvPr/>
        </p:nvSpPr>
        <p:spPr>
          <a:xfrm>
            <a:off x="1524000" y="1905000"/>
            <a:ext cx="381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B7A57A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96EA24-C60F-4547-81F3-FA2C3CA54A61}"/>
              </a:ext>
            </a:extLst>
          </p:cNvPr>
          <p:cNvSpPr/>
          <p:nvPr/>
        </p:nvSpPr>
        <p:spPr>
          <a:xfrm>
            <a:off x="1524000" y="3175000"/>
            <a:ext cx="1143000" cy="101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719158-8F38-B541-925F-3F18862E5C2B}"/>
              </a:ext>
            </a:extLst>
          </p:cNvPr>
          <p:cNvSpPr txBox="1"/>
          <p:nvPr/>
        </p:nvSpPr>
        <p:spPr>
          <a:xfrm>
            <a:off x="1498600" y="3492500"/>
            <a:ext cx="7874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600" b="1">
                <a:solidFill>
                  <a:srgbClr val="FFFFFF"/>
                </a:solidFill>
                <a:latin typeface="Arial"/>
                <a:cs typeface="Arial"/>
              </a:rPr>
              <a:t>Autoencoders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B65552-230C-9044-B70A-2B92004524C5}"/>
              </a:ext>
            </a:extLst>
          </p:cNvPr>
          <p:cNvSpPr txBox="1"/>
          <p:nvPr/>
        </p:nvSpPr>
        <p:spPr>
          <a:xfrm>
            <a:off x="1524000" y="5334000"/>
            <a:ext cx="787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F5F0EB"/>
                </a:solidFill>
              </a:rPr>
              <a:t>Learning nonlinear embeddings with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37586825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446E0E-924A-1844-A7B1-2F7A943FC0E0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7D6BA6-0EAC-9C48-A209-54447251B006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Autoencoders — The Core Idea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9F94B3-C8F5-1749-8DF7-8800D4F5A33B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85754D"/>
                </a:solidFill>
              </a:rPr>
              <a:t>An autoencoder is a neural network trained to copy its input to its output through a narrow bottleneck — forcing it to learn a compressed code.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BA17FA2-6BB0-7E4E-A4DC-0BE1E9FF9EBA}"/>
              </a:ext>
            </a:extLst>
          </p:cNvPr>
          <p:cNvSpPr/>
          <p:nvPr/>
        </p:nvSpPr>
        <p:spPr>
          <a:xfrm>
            <a:off x="762000" y="2159000"/>
            <a:ext cx="3429000" cy="1651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035CA4-14D6-D244-B810-00BE6152D30A}"/>
              </a:ext>
            </a:extLst>
          </p:cNvPr>
          <p:cNvSpPr txBox="1"/>
          <p:nvPr/>
        </p:nvSpPr>
        <p:spPr>
          <a:xfrm>
            <a:off x="939800" y="23114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Encoder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000F15-1FE9-C546-B0A0-0BA08EAFEDE1}"/>
              </a:ext>
            </a:extLst>
          </p:cNvPr>
          <p:cNvSpPr txBox="1"/>
          <p:nvPr/>
        </p:nvSpPr>
        <p:spPr>
          <a:xfrm>
            <a:off x="939800" y="2692400"/>
            <a:ext cx="30734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z = f(x) maps the input x ∈ ℝᵖ to a low-dim code z ∈ ℝᵏ (k ≪ p). This is the embedding.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571C9A1-41FC-084E-B60F-CE668ED80799}"/>
              </a:ext>
            </a:extLst>
          </p:cNvPr>
          <p:cNvSpPr/>
          <p:nvPr/>
        </p:nvSpPr>
        <p:spPr>
          <a:xfrm>
            <a:off x="4381500" y="2159000"/>
            <a:ext cx="3429000" cy="1651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3E3011-6027-CF4E-9702-FDA488DBF6F7}"/>
              </a:ext>
            </a:extLst>
          </p:cNvPr>
          <p:cNvSpPr txBox="1"/>
          <p:nvPr/>
        </p:nvSpPr>
        <p:spPr>
          <a:xfrm>
            <a:off x="4559300" y="23114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Bottleneck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31F254-0F8F-D545-9D18-77C871A613C5}"/>
              </a:ext>
            </a:extLst>
          </p:cNvPr>
          <p:cNvSpPr txBox="1"/>
          <p:nvPr/>
        </p:nvSpPr>
        <p:spPr>
          <a:xfrm>
            <a:off x="4559300" y="2692400"/>
            <a:ext cx="30734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The code layer z. Its width k sets the embedding dimension — the AE analogue of 'number of components'.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67BB8CE-856D-0942-9929-D21ED8C57555}"/>
              </a:ext>
            </a:extLst>
          </p:cNvPr>
          <p:cNvSpPr/>
          <p:nvPr/>
        </p:nvSpPr>
        <p:spPr>
          <a:xfrm>
            <a:off x="8001000" y="2159000"/>
            <a:ext cx="3429000" cy="1651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7398C0-B3FF-464D-A4CF-98F3A8D036AB}"/>
              </a:ext>
            </a:extLst>
          </p:cNvPr>
          <p:cNvSpPr txBox="1"/>
          <p:nvPr/>
        </p:nvSpPr>
        <p:spPr>
          <a:xfrm>
            <a:off x="8178800" y="23114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D1578A"/>
                </a:solidFill>
              </a:rPr>
              <a:t>Decoder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4C8BE8-32B9-D441-88CA-D7DFAC839AB5}"/>
              </a:ext>
            </a:extLst>
          </p:cNvPr>
          <p:cNvSpPr txBox="1"/>
          <p:nvPr/>
        </p:nvSpPr>
        <p:spPr>
          <a:xfrm>
            <a:off x="8178800" y="2692400"/>
            <a:ext cx="30734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x̂ = g(z) reconstructs the input from the code. Training minimizes reconstruction error ‖x − x̂‖².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06093E2-6A8A-D249-ACF8-1307F4651716}"/>
              </a:ext>
            </a:extLst>
          </p:cNvPr>
          <p:cNvSpPr/>
          <p:nvPr/>
        </p:nvSpPr>
        <p:spPr>
          <a:xfrm>
            <a:off x="762000" y="3962400"/>
            <a:ext cx="10668000" cy="2108200"/>
          </a:xfrm>
          <a:prstGeom prst="roundRect">
            <a:avLst/>
          </a:prstGeom>
          <a:solidFill>
            <a:srgbClr val="FBFAF7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84376A-142F-5B48-9C14-4404D122910C}"/>
              </a:ext>
            </a:extLst>
          </p:cNvPr>
          <p:cNvSpPr txBox="1"/>
          <p:nvPr/>
        </p:nvSpPr>
        <p:spPr>
          <a:xfrm>
            <a:off x="990600" y="41148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Why it generalizes PCA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AFFE0C-A8C6-5B49-B3D9-C99D423A7489}"/>
              </a:ext>
            </a:extLst>
          </p:cNvPr>
          <p:cNvSpPr txBox="1"/>
          <p:nvPr/>
        </p:nvSpPr>
        <p:spPr>
          <a:xfrm>
            <a:off x="990600" y="4470400"/>
            <a:ext cx="102108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• Linear encoder + linear decoder + squared loss ⇒ the optimal AE spans the same subspace as PCA.
• Add nonlinear activations (ReLU, tanh) and depth ⇒ the AE bends the manifold, capturing structure PCA cannot.
• The code z is the embedding you use downstream (clustering, visualization, similarity search).
• Variants: denoising, sparse, contractive, and variational (VAE) autoencoders add structure to the code.</a:t>
            </a:r>
          </a:p>
        </p:txBody>
      </p:sp>
    </p:spTree>
    <p:extLst>
      <p:ext uri="{BB962C8B-B14F-4D97-AF65-F5344CB8AC3E}">
        <p14:creationId xmlns:p14="http://schemas.microsoft.com/office/powerpoint/2010/main" val="235680794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6110199B-71FF-B147-A4F2-009F7A9400B5}"/>
              </a:ext>
            </a:extLst>
          </p:cNvPr>
          <p:cNvSpPr/>
          <p:nvPr/>
        </p:nvSpPr>
        <p:spPr>
          <a:xfrm rot="831381">
            <a:off x="7464450" y="42291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EEB6B29-4F1C-4042-B3B0-B57EDB15D329}"/>
              </a:ext>
            </a:extLst>
          </p:cNvPr>
          <p:cNvSpPr/>
          <p:nvPr/>
        </p:nvSpPr>
        <p:spPr>
          <a:xfrm>
            <a:off x="7493000" y="3994150"/>
            <a:ext cx="1905000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295A26F-8861-8A41-8363-68AFF244AAEB}"/>
              </a:ext>
            </a:extLst>
          </p:cNvPr>
          <p:cNvSpPr/>
          <p:nvPr/>
        </p:nvSpPr>
        <p:spPr>
          <a:xfrm rot="-831381">
            <a:off x="7464450" y="37592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45B7952-FBE3-7045-A338-C8A76A4E8D61}"/>
              </a:ext>
            </a:extLst>
          </p:cNvPr>
          <p:cNvSpPr/>
          <p:nvPr/>
        </p:nvSpPr>
        <p:spPr>
          <a:xfrm rot="-1575520">
            <a:off x="7383397" y="3524250"/>
            <a:ext cx="2124205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8B263DE-62F9-DF42-9FB3-B64E5E94C404}"/>
              </a:ext>
            </a:extLst>
          </p:cNvPr>
          <p:cNvSpPr/>
          <p:nvPr/>
        </p:nvSpPr>
        <p:spPr>
          <a:xfrm rot="-2190086">
            <a:off x="7260565" y="3289300"/>
            <a:ext cx="2369869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459B639-DF15-AC4B-80B7-CA5A94A1496F}"/>
              </a:ext>
            </a:extLst>
          </p:cNvPr>
          <p:cNvSpPr/>
          <p:nvPr/>
        </p:nvSpPr>
        <p:spPr>
          <a:xfrm rot="1575520">
            <a:off x="7383397" y="3994150"/>
            <a:ext cx="2124205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8860D48-B9DF-D140-8D92-A508089A163F}"/>
              </a:ext>
            </a:extLst>
          </p:cNvPr>
          <p:cNvSpPr/>
          <p:nvPr/>
        </p:nvSpPr>
        <p:spPr>
          <a:xfrm rot="831381">
            <a:off x="7464450" y="37592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3633EF9-05F4-644B-8DB1-4973FE0EA415}"/>
              </a:ext>
            </a:extLst>
          </p:cNvPr>
          <p:cNvSpPr/>
          <p:nvPr/>
        </p:nvSpPr>
        <p:spPr>
          <a:xfrm>
            <a:off x="7493000" y="3524250"/>
            <a:ext cx="1905000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4B71B50-1A09-F745-B8A4-EE5A2E62B5D2}"/>
              </a:ext>
            </a:extLst>
          </p:cNvPr>
          <p:cNvSpPr/>
          <p:nvPr/>
        </p:nvSpPr>
        <p:spPr>
          <a:xfrm rot="-831381">
            <a:off x="7464450" y="32893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12A9BEF-78BE-BD4E-83CE-F4E99EF78441}"/>
              </a:ext>
            </a:extLst>
          </p:cNvPr>
          <p:cNvSpPr/>
          <p:nvPr/>
        </p:nvSpPr>
        <p:spPr>
          <a:xfrm rot="-1575520">
            <a:off x="7383397" y="3054350"/>
            <a:ext cx="2124205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F4EB8B6-BBC0-1E49-991F-7A525273A1C1}"/>
              </a:ext>
            </a:extLst>
          </p:cNvPr>
          <p:cNvSpPr/>
          <p:nvPr/>
        </p:nvSpPr>
        <p:spPr>
          <a:xfrm rot="2190086">
            <a:off x="7260565" y="3759200"/>
            <a:ext cx="2369869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A70FDAA-4E34-EC45-AC4D-52D25CF8D90B}"/>
              </a:ext>
            </a:extLst>
          </p:cNvPr>
          <p:cNvSpPr/>
          <p:nvPr/>
        </p:nvSpPr>
        <p:spPr>
          <a:xfrm rot="1575520">
            <a:off x="7383397" y="3524250"/>
            <a:ext cx="2124205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A888389-966A-FE42-8912-35E85877E632}"/>
              </a:ext>
            </a:extLst>
          </p:cNvPr>
          <p:cNvSpPr/>
          <p:nvPr/>
        </p:nvSpPr>
        <p:spPr>
          <a:xfrm rot="831381">
            <a:off x="7464450" y="32893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6655653-B5D8-A84D-8738-C6082C8157ED}"/>
              </a:ext>
            </a:extLst>
          </p:cNvPr>
          <p:cNvSpPr/>
          <p:nvPr/>
        </p:nvSpPr>
        <p:spPr>
          <a:xfrm>
            <a:off x="7493000" y="3054350"/>
            <a:ext cx="1905000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E11F157-8F09-054A-BA5C-004D2691A937}"/>
              </a:ext>
            </a:extLst>
          </p:cNvPr>
          <p:cNvSpPr/>
          <p:nvPr/>
        </p:nvSpPr>
        <p:spPr>
          <a:xfrm rot="-831381">
            <a:off x="7464450" y="28194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F32691-8475-C14A-8FFE-BB23DFBC021A}"/>
              </a:ext>
            </a:extLst>
          </p:cNvPr>
          <p:cNvSpPr/>
          <p:nvPr/>
        </p:nvSpPr>
        <p:spPr>
          <a:xfrm rot="421858">
            <a:off x="5580783" y="3876675"/>
            <a:ext cx="1919433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AB98B7-ECDF-DB45-B27A-D260AE165395}"/>
              </a:ext>
            </a:extLst>
          </p:cNvPr>
          <p:cNvSpPr/>
          <p:nvPr/>
        </p:nvSpPr>
        <p:spPr>
          <a:xfrm rot="-421858">
            <a:off x="5580783" y="3641725"/>
            <a:ext cx="1919433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0463379-8177-C349-83B3-DD9AC3E1F22C}"/>
              </a:ext>
            </a:extLst>
          </p:cNvPr>
          <p:cNvSpPr/>
          <p:nvPr/>
        </p:nvSpPr>
        <p:spPr>
          <a:xfrm rot="-1218268">
            <a:off x="5524891" y="3406775"/>
            <a:ext cx="2031216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4E9DCA1-429D-C94F-B28A-8676A740B0B9}"/>
              </a:ext>
            </a:extLst>
          </p:cNvPr>
          <p:cNvSpPr/>
          <p:nvPr/>
        </p:nvSpPr>
        <p:spPr>
          <a:xfrm rot="1218268">
            <a:off x="5524891" y="3641725"/>
            <a:ext cx="2031216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CE68A60-AA3F-4E46-B9BD-0ECA2FF767BA}"/>
              </a:ext>
            </a:extLst>
          </p:cNvPr>
          <p:cNvSpPr/>
          <p:nvPr/>
        </p:nvSpPr>
        <p:spPr>
          <a:xfrm rot="421858">
            <a:off x="5580783" y="3406775"/>
            <a:ext cx="1919433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9A0A075-66F7-9248-A918-CBA6900D02C6}"/>
              </a:ext>
            </a:extLst>
          </p:cNvPr>
          <p:cNvSpPr/>
          <p:nvPr/>
        </p:nvSpPr>
        <p:spPr>
          <a:xfrm rot="-421858">
            <a:off x="5580783" y="3171825"/>
            <a:ext cx="1919433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FAE553-DF34-604C-B892-BB03C43A57EB}"/>
              </a:ext>
            </a:extLst>
          </p:cNvPr>
          <p:cNvSpPr/>
          <p:nvPr/>
        </p:nvSpPr>
        <p:spPr>
          <a:xfrm rot="-421858">
            <a:off x="3675783" y="3876675"/>
            <a:ext cx="1919433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3B2BF7-E111-3F4F-A2C2-8CE7187F2F47}"/>
              </a:ext>
            </a:extLst>
          </p:cNvPr>
          <p:cNvSpPr/>
          <p:nvPr/>
        </p:nvSpPr>
        <p:spPr>
          <a:xfrm rot="-1218268">
            <a:off x="3619891" y="3641725"/>
            <a:ext cx="2031216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5BFEC8-E660-8944-A7A4-69CFF25A3E4C}"/>
              </a:ext>
            </a:extLst>
          </p:cNvPr>
          <p:cNvSpPr/>
          <p:nvPr/>
        </p:nvSpPr>
        <p:spPr>
          <a:xfrm rot="421858">
            <a:off x="3675783" y="3641725"/>
            <a:ext cx="1919433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928577-B9A1-1448-B782-05AD2B085D98}"/>
              </a:ext>
            </a:extLst>
          </p:cNvPr>
          <p:cNvSpPr/>
          <p:nvPr/>
        </p:nvSpPr>
        <p:spPr>
          <a:xfrm rot="-421858">
            <a:off x="3675783" y="3406775"/>
            <a:ext cx="1919433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552064-F6B7-BA4B-B71B-473C69FE2D32}"/>
              </a:ext>
            </a:extLst>
          </p:cNvPr>
          <p:cNvSpPr/>
          <p:nvPr/>
        </p:nvSpPr>
        <p:spPr>
          <a:xfrm rot="1218268">
            <a:off x="3619891" y="3406775"/>
            <a:ext cx="2031216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870C74-B54B-4A40-8D7D-3FB54DCD3845}"/>
              </a:ext>
            </a:extLst>
          </p:cNvPr>
          <p:cNvSpPr/>
          <p:nvPr/>
        </p:nvSpPr>
        <p:spPr>
          <a:xfrm rot="421858">
            <a:off x="3675783" y="3171825"/>
            <a:ext cx="1919433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C1EDE5-45CE-E94D-AA0E-9398668711F9}"/>
              </a:ext>
            </a:extLst>
          </p:cNvPr>
          <p:cNvSpPr/>
          <p:nvPr/>
        </p:nvSpPr>
        <p:spPr>
          <a:xfrm rot="-831381">
            <a:off x="1749450" y="42291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C64F63-199E-654C-AE11-3C5E408A4035}"/>
              </a:ext>
            </a:extLst>
          </p:cNvPr>
          <p:cNvSpPr/>
          <p:nvPr/>
        </p:nvSpPr>
        <p:spPr>
          <a:xfrm rot="-1575520">
            <a:off x="1668397" y="3994150"/>
            <a:ext cx="2124205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88ECC1-FE31-3244-B48D-A0B5A8DB3A1B}"/>
              </a:ext>
            </a:extLst>
          </p:cNvPr>
          <p:cNvSpPr/>
          <p:nvPr/>
        </p:nvSpPr>
        <p:spPr>
          <a:xfrm rot="-2190086">
            <a:off x="1545565" y="3759200"/>
            <a:ext cx="2369869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B1AC0D-56BF-8E47-ADC0-AC876375ECFE}"/>
              </a:ext>
            </a:extLst>
          </p:cNvPr>
          <p:cNvSpPr/>
          <p:nvPr/>
        </p:nvSpPr>
        <p:spPr>
          <a:xfrm>
            <a:off x="1778000" y="3994150"/>
            <a:ext cx="1905000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9E9C47-7C80-CE49-A9A0-E298125C6F5F}"/>
              </a:ext>
            </a:extLst>
          </p:cNvPr>
          <p:cNvSpPr/>
          <p:nvPr/>
        </p:nvSpPr>
        <p:spPr>
          <a:xfrm rot="-831381">
            <a:off x="1749450" y="37592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B56536-2E08-FF4B-9C9F-463C1AA578DA}"/>
              </a:ext>
            </a:extLst>
          </p:cNvPr>
          <p:cNvSpPr/>
          <p:nvPr/>
        </p:nvSpPr>
        <p:spPr>
          <a:xfrm rot="-1575520">
            <a:off x="1668397" y="3524250"/>
            <a:ext cx="2124205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DAD44D-C120-904C-AE4F-13D5BDE704DE}"/>
              </a:ext>
            </a:extLst>
          </p:cNvPr>
          <p:cNvSpPr/>
          <p:nvPr/>
        </p:nvSpPr>
        <p:spPr>
          <a:xfrm rot="831381">
            <a:off x="1749450" y="37592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53F59D-75CA-E348-8094-E0F8C98846A6}"/>
              </a:ext>
            </a:extLst>
          </p:cNvPr>
          <p:cNvSpPr/>
          <p:nvPr/>
        </p:nvSpPr>
        <p:spPr>
          <a:xfrm>
            <a:off x="1778000" y="3524250"/>
            <a:ext cx="1905000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FF2D66-FAAA-784D-BD64-DF751A9E3D5C}"/>
              </a:ext>
            </a:extLst>
          </p:cNvPr>
          <p:cNvSpPr/>
          <p:nvPr/>
        </p:nvSpPr>
        <p:spPr>
          <a:xfrm rot="-831381">
            <a:off x="1749450" y="32893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0195E9-5AE0-FC41-AFF9-2C33DABF9BD9}"/>
              </a:ext>
            </a:extLst>
          </p:cNvPr>
          <p:cNvSpPr/>
          <p:nvPr/>
        </p:nvSpPr>
        <p:spPr>
          <a:xfrm rot="1575520">
            <a:off x="1668397" y="3524250"/>
            <a:ext cx="2124205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631481-850C-604D-9BE4-F32A0A50E198}"/>
              </a:ext>
            </a:extLst>
          </p:cNvPr>
          <p:cNvSpPr/>
          <p:nvPr/>
        </p:nvSpPr>
        <p:spPr>
          <a:xfrm rot="831381">
            <a:off x="1749450" y="32893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1BD831-364E-9743-955E-92D1597B32DF}"/>
              </a:ext>
            </a:extLst>
          </p:cNvPr>
          <p:cNvSpPr/>
          <p:nvPr/>
        </p:nvSpPr>
        <p:spPr>
          <a:xfrm>
            <a:off x="1778000" y="3054350"/>
            <a:ext cx="1905000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E69AA6-4342-ED4D-9098-975B17327B58}"/>
              </a:ext>
            </a:extLst>
          </p:cNvPr>
          <p:cNvSpPr/>
          <p:nvPr/>
        </p:nvSpPr>
        <p:spPr>
          <a:xfrm rot="2190086">
            <a:off x="1545565" y="3289300"/>
            <a:ext cx="2369869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670CDC-BC92-1F4C-8B57-B28057752B9C}"/>
              </a:ext>
            </a:extLst>
          </p:cNvPr>
          <p:cNvSpPr/>
          <p:nvPr/>
        </p:nvSpPr>
        <p:spPr>
          <a:xfrm rot="1575520">
            <a:off x="1668397" y="3054350"/>
            <a:ext cx="2124205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425718-B10E-904C-8C12-E931A0A57D72}"/>
              </a:ext>
            </a:extLst>
          </p:cNvPr>
          <p:cNvSpPr/>
          <p:nvPr/>
        </p:nvSpPr>
        <p:spPr>
          <a:xfrm rot="831381">
            <a:off x="1749450" y="28194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9B2FBA-79FE-B247-8029-0DF5AA2E0AAD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53472-8DC1-B945-B216-E7FFAF1FB2BC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Autoencoders —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AB44DA-27CB-0F49-8F8B-29B58883202A}"/>
              </a:ext>
            </a:extLst>
          </p:cNvPr>
          <p:cNvSpPr txBox="1"/>
          <p:nvPr/>
        </p:nvSpPr>
        <p:spPr>
          <a:xfrm>
            <a:off x="762000" y="14478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Layers narrow from input to the bottleneck (encoder), then widen back to the output (decoder).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0FA6E63-86DE-1D47-86C5-BCEDCEA4FD2B}"/>
              </a:ext>
            </a:extLst>
          </p:cNvPr>
          <p:cNvSpPr/>
          <p:nvPr/>
        </p:nvSpPr>
        <p:spPr>
          <a:xfrm>
            <a:off x="1638300" y="2451100"/>
            <a:ext cx="279400" cy="279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92655FC-7EB6-CC4B-A1A8-5379398668D2}"/>
              </a:ext>
            </a:extLst>
          </p:cNvPr>
          <p:cNvSpPr/>
          <p:nvPr/>
        </p:nvSpPr>
        <p:spPr>
          <a:xfrm>
            <a:off x="1638300" y="2921000"/>
            <a:ext cx="279400" cy="279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EC2C181-3BBD-104C-8AF9-0D1FEC2F9F76}"/>
              </a:ext>
            </a:extLst>
          </p:cNvPr>
          <p:cNvSpPr/>
          <p:nvPr/>
        </p:nvSpPr>
        <p:spPr>
          <a:xfrm>
            <a:off x="1638300" y="3390900"/>
            <a:ext cx="279400" cy="279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4CB029E-B1AC-3441-9C43-54341F1319FF}"/>
              </a:ext>
            </a:extLst>
          </p:cNvPr>
          <p:cNvSpPr/>
          <p:nvPr/>
        </p:nvSpPr>
        <p:spPr>
          <a:xfrm>
            <a:off x="1638300" y="3860800"/>
            <a:ext cx="279400" cy="279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C7E9836-BC26-3348-B31F-8C1DDFA5CD4F}"/>
              </a:ext>
            </a:extLst>
          </p:cNvPr>
          <p:cNvSpPr/>
          <p:nvPr/>
        </p:nvSpPr>
        <p:spPr>
          <a:xfrm>
            <a:off x="1638300" y="4330700"/>
            <a:ext cx="279400" cy="279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C45F58D-A109-3C44-83B9-B1D976B981F4}"/>
              </a:ext>
            </a:extLst>
          </p:cNvPr>
          <p:cNvSpPr/>
          <p:nvPr/>
        </p:nvSpPr>
        <p:spPr>
          <a:xfrm>
            <a:off x="3543300" y="2921000"/>
            <a:ext cx="279400" cy="279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2056023-3E3E-3D4B-85AB-A817BD92D48A}"/>
              </a:ext>
            </a:extLst>
          </p:cNvPr>
          <p:cNvSpPr/>
          <p:nvPr/>
        </p:nvSpPr>
        <p:spPr>
          <a:xfrm>
            <a:off x="3543300" y="3390900"/>
            <a:ext cx="279400" cy="279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D127C43-6E75-5044-8B76-95BDE4D77499}"/>
              </a:ext>
            </a:extLst>
          </p:cNvPr>
          <p:cNvSpPr/>
          <p:nvPr/>
        </p:nvSpPr>
        <p:spPr>
          <a:xfrm>
            <a:off x="3543300" y="3860800"/>
            <a:ext cx="279400" cy="279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AE0A980-3781-754A-B89E-3BDDBD0257D3}"/>
              </a:ext>
            </a:extLst>
          </p:cNvPr>
          <p:cNvSpPr/>
          <p:nvPr/>
        </p:nvSpPr>
        <p:spPr>
          <a:xfrm>
            <a:off x="5448300" y="3155950"/>
            <a:ext cx="279400" cy="2794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77A9F0CA-C2C6-BB41-BD55-84E2D0C672C2}"/>
              </a:ext>
            </a:extLst>
          </p:cNvPr>
          <p:cNvSpPr/>
          <p:nvPr/>
        </p:nvSpPr>
        <p:spPr>
          <a:xfrm>
            <a:off x="5448300" y="3625850"/>
            <a:ext cx="279400" cy="2794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BC70E1C-868F-A544-9A55-4F4F88AA52D5}"/>
              </a:ext>
            </a:extLst>
          </p:cNvPr>
          <p:cNvSpPr/>
          <p:nvPr/>
        </p:nvSpPr>
        <p:spPr>
          <a:xfrm>
            <a:off x="7353300" y="2921000"/>
            <a:ext cx="279400" cy="2794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2808455-A9F0-9042-9256-8A8A628DFA18}"/>
              </a:ext>
            </a:extLst>
          </p:cNvPr>
          <p:cNvSpPr/>
          <p:nvPr/>
        </p:nvSpPr>
        <p:spPr>
          <a:xfrm>
            <a:off x="7353300" y="3390900"/>
            <a:ext cx="279400" cy="2794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2638D025-697C-2540-9956-B1B081E337DD}"/>
              </a:ext>
            </a:extLst>
          </p:cNvPr>
          <p:cNvSpPr/>
          <p:nvPr/>
        </p:nvSpPr>
        <p:spPr>
          <a:xfrm>
            <a:off x="7353300" y="3860800"/>
            <a:ext cx="279400" cy="2794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A67D6250-ED57-5A4E-9E1D-07E2C53DE7D2}"/>
              </a:ext>
            </a:extLst>
          </p:cNvPr>
          <p:cNvSpPr/>
          <p:nvPr/>
        </p:nvSpPr>
        <p:spPr>
          <a:xfrm>
            <a:off x="9258300" y="2451100"/>
            <a:ext cx="279400" cy="2794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9A710D7-75A3-1547-9896-0D2144A9B0D2}"/>
              </a:ext>
            </a:extLst>
          </p:cNvPr>
          <p:cNvSpPr/>
          <p:nvPr/>
        </p:nvSpPr>
        <p:spPr>
          <a:xfrm>
            <a:off x="9258300" y="2921000"/>
            <a:ext cx="279400" cy="2794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BCAF01D0-0606-BE45-A87A-3E02083DFA7A}"/>
              </a:ext>
            </a:extLst>
          </p:cNvPr>
          <p:cNvSpPr/>
          <p:nvPr/>
        </p:nvSpPr>
        <p:spPr>
          <a:xfrm>
            <a:off x="9258300" y="3390900"/>
            <a:ext cx="279400" cy="2794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FA7A61E8-E1F5-A749-9C2B-34E819922FC8}"/>
              </a:ext>
            </a:extLst>
          </p:cNvPr>
          <p:cNvSpPr/>
          <p:nvPr/>
        </p:nvSpPr>
        <p:spPr>
          <a:xfrm>
            <a:off x="9258300" y="3860800"/>
            <a:ext cx="279400" cy="2794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61DF8B05-A1AD-D346-AD94-BBB7F95CBD70}"/>
              </a:ext>
            </a:extLst>
          </p:cNvPr>
          <p:cNvSpPr/>
          <p:nvPr/>
        </p:nvSpPr>
        <p:spPr>
          <a:xfrm>
            <a:off x="9258300" y="4330700"/>
            <a:ext cx="279400" cy="2794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7761722-B95F-894E-8655-C795B5BDFC9A}"/>
              </a:ext>
            </a:extLst>
          </p:cNvPr>
          <p:cNvSpPr txBox="1"/>
          <p:nvPr/>
        </p:nvSpPr>
        <p:spPr>
          <a:xfrm>
            <a:off x="1168400" y="4686300"/>
            <a:ext cx="1219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 b="1">
                <a:solidFill>
                  <a:srgbClr val="4B2E83"/>
                </a:solidFill>
              </a:rPr>
              <a:t>x  (p=5)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85D6D43-8440-7F4F-9179-976AE64B7584}"/>
              </a:ext>
            </a:extLst>
          </p:cNvPr>
          <p:cNvSpPr txBox="1"/>
          <p:nvPr/>
        </p:nvSpPr>
        <p:spPr>
          <a:xfrm>
            <a:off x="3073400" y="4216400"/>
            <a:ext cx="1219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 b="1">
                <a:solidFill>
                  <a:srgbClr val="4B2E83"/>
                </a:solidFill>
              </a:rPr>
              <a:t>hidden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31E35B-C20D-E549-B53E-D7BB3FA9B5A8}"/>
              </a:ext>
            </a:extLst>
          </p:cNvPr>
          <p:cNvSpPr txBox="1"/>
          <p:nvPr/>
        </p:nvSpPr>
        <p:spPr>
          <a:xfrm>
            <a:off x="4978400" y="3981450"/>
            <a:ext cx="1219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 b="1">
                <a:solidFill>
                  <a:srgbClr val="7AB648"/>
                </a:solidFill>
              </a:rPr>
              <a:t>z  (k=2)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A6851C2-CBE8-5F40-B80A-06249EB66B4B}"/>
              </a:ext>
            </a:extLst>
          </p:cNvPr>
          <p:cNvSpPr txBox="1"/>
          <p:nvPr/>
        </p:nvSpPr>
        <p:spPr>
          <a:xfrm>
            <a:off x="6883400" y="4216400"/>
            <a:ext cx="1219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 b="1">
                <a:solidFill>
                  <a:srgbClr val="D1578A"/>
                </a:solidFill>
              </a:rPr>
              <a:t>hidden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B9CFFAC-6D14-B14B-849D-27D0A779989A}"/>
              </a:ext>
            </a:extLst>
          </p:cNvPr>
          <p:cNvSpPr txBox="1"/>
          <p:nvPr/>
        </p:nvSpPr>
        <p:spPr>
          <a:xfrm>
            <a:off x="8788400" y="4686300"/>
            <a:ext cx="1219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 b="1">
                <a:solidFill>
                  <a:srgbClr val="D1578A"/>
                </a:solidFill>
              </a:rPr>
              <a:t>x̂  (p=5)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8652696-E5A6-1840-9C88-C8FFD9D0F9C2}"/>
              </a:ext>
            </a:extLst>
          </p:cNvPr>
          <p:cNvSpPr txBox="1"/>
          <p:nvPr/>
        </p:nvSpPr>
        <p:spPr>
          <a:xfrm>
            <a:off x="1143000" y="20066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</a:rPr>
              <a:t>ENCODER  f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355AF6E-16F2-8144-9D80-FB042ABAFF5D}"/>
              </a:ext>
            </a:extLst>
          </p:cNvPr>
          <p:cNvSpPr txBox="1"/>
          <p:nvPr/>
        </p:nvSpPr>
        <p:spPr>
          <a:xfrm>
            <a:off x="7620000" y="20066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D1578A"/>
                </a:solidFill>
              </a:rPr>
              <a:t>DECODER  g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3FFC1B5-254C-E54A-BD48-D6C477FADDCC}"/>
              </a:ext>
            </a:extLst>
          </p:cNvPr>
          <p:cNvSpPr txBox="1"/>
          <p:nvPr/>
        </p:nvSpPr>
        <p:spPr>
          <a:xfrm>
            <a:off x="4978400" y="1905000"/>
            <a:ext cx="1219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 b="1">
                <a:solidFill>
                  <a:srgbClr val="5A8A2E"/>
                </a:solidFill>
              </a:rPr>
              <a:t>bottleneck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270FE919-E057-734A-8588-6B72C2630B4C}"/>
              </a:ext>
            </a:extLst>
          </p:cNvPr>
          <p:cNvSpPr/>
          <p:nvPr/>
        </p:nvSpPr>
        <p:spPr>
          <a:xfrm>
            <a:off x="762000" y="4978400"/>
            <a:ext cx="10668000" cy="1092200"/>
          </a:xfrm>
          <a:prstGeom prst="roundRect">
            <a:avLst/>
          </a:prstGeom>
          <a:solidFill>
            <a:srgbClr val="FBFAF7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663C2E2-2038-D544-A2CA-D0617B4087B5}"/>
              </a:ext>
            </a:extLst>
          </p:cNvPr>
          <p:cNvSpPr txBox="1"/>
          <p:nvPr/>
        </p:nvSpPr>
        <p:spPr>
          <a:xfrm>
            <a:off x="990600" y="5105400"/>
            <a:ext cx="102108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• Symmetric design: decoder mirrors the encoder. Weights may be tied (W_dec = W_encᵀ) to halve parameters.
• The bottleneck width k forces compression; only directions that best reconstruct the data survive.
• After training, discard the decoder — the encoder f is your dimensionality-reduction map.</a:t>
            </a:r>
          </a:p>
        </p:txBody>
      </p:sp>
    </p:spTree>
    <p:extLst>
      <p:ext uri="{BB962C8B-B14F-4D97-AF65-F5344CB8AC3E}">
        <p14:creationId xmlns:p14="http://schemas.microsoft.com/office/powerpoint/2010/main" val="235902946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5976A4-0C64-0542-9EE3-C0CBDF63D8E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F29E43-BD0D-E24C-A5D6-EFBBF120DBA1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Autoencoders — Choosing the Bottleneck Size 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CAD6E-ED02-8244-8890-00E30C7EF7A1}"/>
              </a:ext>
            </a:extLst>
          </p:cNvPr>
          <p:cNvSpPr txBox="1"/>
          <p:nvPr/>
        </p:nvSpPr>
        <p:spPr>
          <a:xfrm>
            <a:off x="762000" y="1473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k is a hyperparameter, not solved by eigenvalues. Choose it from reconstruction quality and downstream use.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95441CC-A7AA-614E-842D-B3EDCEB79977}"/>
              </a:ext>
            </a:extLst>
          </p:cNvPr>
          <p:cNvSpPr/>
          <p:nvPr/>
        </p:nvSpPr>
        <p:spPr>
          <a:xfrm>
            <a:off x="762000" y="1981200"/>
            <a:ext cx="25400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3C561B-B04D-FC48-97C1-FC23D51C952F}"/>
              </a:ext>
            </a:extLst>
          </p:cNvPr>
          <p:cNvSpPr txBox="1"/>
          <p:nvPr/>
        </p:nvSpPr>
        <p:spPr>
          <a:xfrm>
            <a:off x="914400" y="2133600"/>
            <a:ext cx="2235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Reconstruction curve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61F9E4-09A7-A94B-A2EA-D07F7A25D20B}"/>
              </a:ext>
            </a:extLst>
          </p:cNvPr>
          <p:cNvSpPr txBox="1"/>
          <p:nvPr/>
        </p:nvSpPr>
        <p:spPr>
          <a:xfrm>
            <a:off x="914400" y="2717800"/>
            <a:ext cx="22352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Train AEs for several k; plot validation loss vs k. Pick k at the elbow where loss stops dropping.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4E8389F-1FAF-0C42-A1E2-0687F9251DA5}"/>
              </a:ext>
            </a:extLst>
          </p:cNvPr>
          <p:cNvSpPr/>
          <p:nvPr/>
        </p:nvSpPr>
        <p:spPr>
          <a:xfrm>
            <a:off x="3479800" y="1981200"/>
            <a:ext cx="25400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C7F690-075A-4441-8C8B-82A25A53737E}"/>
              </a:ext>
            </a:extLst>
          </p:cNvPr>
          <p:cNvSpPr txBox="1"/>
          <p:nvPr/>
        </p:nvSpPr>
        <p:spPr>
          <a:xfrm>
            <a:off x="3632200" y="2133600"/>
            <a:ext cx="2235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Downstream metric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56BC54-C1F4-6448-B52A-2A3404154A0F}"/>
              </a:ext>
            </a:extLst>
          </p:cNvPr>
          <p:cNvSpPr txBox="1"/>
          <p:nvPr/>
        </p:nvSpPr>
        <p:spPr>
          <a:xfrm>
            <a:off x="3632200" y="2717800"/>
            <a:ext cx="22352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If the code feeds a classifier/cluster, choose k that maximizes that task's validation score.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3C1096A-3CDA-5E4D-A4FE-E2F5F02ED026}"/>
              </a:ext>
            </a:extLst>
          </p:cNvPr>
          <p:cNvSpPr/>
          <p:nvPr/>
        </p:nvSpPr>
        <p:spPr>
          <a:xfrm>
            <a:off x="6197600" y="1981200"/>
            <a:ext cx="25400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D4658A-B1F4-4F4E-BD71-EF8F1D8D363B}"/>
              </a:ext>
            </a:extLst>
          </p:cNvPr>
          <p:cNvSpPr txBox="1"/>
          <p:nvPr/>
        </p:nvSpPr>
        <p:spPr>
          <a:xfrm>
            <a:off x="6350000" y="2133600"/>
            <a:ext cx="2235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D1578A"/>
                </a:solidFill>
              </a:rPr>
              <a:t>Capacity vs overfit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E61797-B684-8047-9D0E-26E1BF7F4B24}"/>
              </a:ext>
            </a:extLst>
          </p:cNvPr>
          <p:cNvSpPr txBox="1"/>
          <p:nvPr/>
        </p:nvSpPr>
        <p:spPr>
          <a:xfrm>
            <a:off x="6350000" y="2717800"/>
            <a:ext cx="22352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Too large k ⇒ the AE just copies (identity); regularize (sparsity, denoising) or keep k small.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72065E7-9FD5-5640-B7A5-AA23E73AF2CC}"/>
              </a:ext>
            </a:extLst>
          </p:cNvPr>
          <p:cNvSpPr/>
          <p:nvPr/>
        </p:nvSpPr>
        <p:spPr>
          <a:xfrm>
            <a:off x="8915400" y="1981200"/>
            <a:ext cx="25400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8575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1CE0E7-8C90-B047-AFCB-1DA55E8B4BCD}"/>
              </a:ext>
            </a:extLst>
          </p:cNvPr>
          <p:cNvSpPr txBox="1"/>
          <p:nvPr/>
        </p:nvSpPr>
        <p:spPr>
          <a:xfrm>
            <a:off x="9067800" y="2133600"/>
            <a:ext cx="2235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Visualization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50D6DF-41F5-7045-AE01-4D0F05A8076C}"/>
              </a:ext>
            </a:extLst>
          </p:cNvPr>
          <p:cNvSpPr txBox="1"/>
          <p:nvPr/>
        </p:nvSpPr>
        <p:spPr>
          <a:xfrm>
            <a:off x="9067800" y="2717800"/>
            <a:ext cx="22352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For plotting, k = 2 or 3; for compression, the smallest k meeting an error tolerance.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017E8A3-81C8-9147-A157-086D087CC368}"/>
              </a:ext>
            </a:extLst>
          </p:cNvPr>
          <p:cNvSpPr/>
          <p:nvPr/>
        </p:nvSpPr>
        <p:spPr>
          <a:xfrm>
            <a:off x="762000" y="3962400"/>
            <a:ext cx="10668000" cy="2108200"/>
          </a:xfrm>
          <a:prstGeom prst="roundRect">
            <a:avLst/>
          </a:prstGeom>
          <a:solidFill>
            <a:srgbClr val="FBFAF7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1AC977-4280-BD41-8ECE-757CB73254AB}"/>
              </a:ext>
            </a:extLst>
          </p:cNvPr>
          <p:cNvSpPr txBox="1"/>
          <p:nvPr/>
        </p:nvSpPr>
        <p:spPr>
          <a:xfrm>
            <a:off x="990600" y="41148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Contrast with PCA / CA / MDS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630F49-96ED-F247-8657-D99BD079E1D9}"/>
              </a:ext>
            </a:extLst>
          </p:cNvPr>
          <p:cNvSpPr txBox="1"/>
          <p:nvPr/>
        </p:nvSpPr>
        <p:spPr>
          <a:xfrm>
            <a:off x="990600" y="4470400"/>
            <a:ext cx="102108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• PCA/MDS give an ordered spectrum of eigenvalues ⇒ scree/variance rules pick k directly.
• An autoencoder has no such ordering — every code unit is learned jointly, so you must SEARCH over k.
• Practical recipe: grid k ∈ {2,4,8,16,…}, train each, compare validation reconstruction error, pick the elbow.
• Tip: a linear AE with k units recovers PCA's k-dim error — use that as a baseline the nonlinear AE must beat.</a:t>
            </a:r>
          </a:p>
        </p:txBody>
      </p:sp>
    </p:spTree>
    <p:extLst>
      <p:ext uri="{BB962C8B-B14F-4D97-AF65-F5344CB8AC3E}">
        <p14:creationId xmlns:p14="http://schemas.microsoft.com/office/powerpoint/2010/main" val="22628927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816C6AC-7CDF-504C-AEF6-5E14824E99F1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38F55C-1A99-FA42-AFA8-775DD38ADAD2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AE — Math (1): Encoder, Decoder, Loss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BD504C-90A4-7040-888A-85F1CA809E76}"/>
              </a:ext>
            </a:extLst>
          </p:cNvPr>
          <p:cNvSpPr txBox="1"/>
          <p:nvPr/>
        </p:nvSpPr>
        <p:spPr>
          <a:xfrm>
            <a:off x="762000" y="15240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Single hidden-layer autoencoder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15824CE-4FAC-6D43-BB47-8D6D7CF7455B}"/>
              </a:ext>
            </a:extLst>
          </p:cNvPr>
          <p:cNvSpPr/>
          <p:nvPr/>
        </p:nvSpPr>
        <p:spPr>
          <a:xfrm>
            <a:off x="762000" y="1828800"/>
            <a:ext cx="5334000" cy="15748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CFF9B4-C8F3-1341-A48A-461544BA2890}"/>
              </a:ext>
            </a:extLst>
          </p:cNvPr>
          <p:cNvSpPr txBox="1"/>
          <p:nvPr/>
        </p:nvSpPr>
        <p:spPr>
          <a:xfrm>
            <a:off x="939800" y="1955800"/>
            <a:ext cx="4978400" cy="1371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Encoder:  z =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σ(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W x + b)        W ∈ ℝᵏˣᵖ
Decoder:  x̂ =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σ′(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W′ z + b′)     W′ ∈ ℝᵖˣᵏ
x ∈ ℝᵖ ,  z ∈ ℝᵏ  (k ≪ p)
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 =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activation (ReLU, tanh, sigmoid;
      identity ⇒ linear AE)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C5B6E1-A494-A849-B90E-F6BD201BED35}"/>
              </a:ext>
            </a:extLst>
          </p:cNvPr>
          <p:cNvSpPr txBox="1"/>
          <p:nvPr/>
        </p:nvSpPr>
        <p:spPr>
          <a:xfrm>
            <a:off x="6350000" y="1524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Reconstruction loss (training objective)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B5CBF4D-7BB5-AC41-AC7C-B9FB6B02040C}"/>
              </a:ext>
            </a:extLst>
          </p:cNvPr>
          <p:cNvSpPr/>
          <p:nvPr/>
        </p:nvSpPr>
        <p:spPr>
          <a:xfrm>
            <a:off x="6350000" y="1828800"/>
            <a:ext cx="5080000" cy="15748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73C2D0-D344-3749-82E3-144259BD761B}"/>
              </a:ext>
            </a:extLst>
          </p:cNvPr>
          <p:cNvSpPr txBox="1"/>
          <p:nvPr/>
        </p:nvSpPr>
        <p:spPr>
          <a:xfrm>
            <a:off x="6527800" y="1955800"/>
            <a:ext cx="4724400" cy="1371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L(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θ) = (1/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n)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ᵢ ‖xᵢ − x̂ᵢ‖²
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θ = {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W, b, W′, b′}
Minimized by gradient descent;
for binary inputs use cross-entropy
instead of squared error.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B306BD-CC79-8D47-94EF-FDECCD44649A}"/>
              </a:ext>
            </a:extLst>
          </p:cNvPr>
          <p:cNvSpPr txBox="1"/>
          <p:nvPr/>
        </p:nvSpPr>
        <p:spPr>
          <a:xfrm>
            <a:off x="762000" y="35814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Regularized variants (shape the code)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44B3B92-942A-564A-A516-425FA1DDA6E5}"/>
              </a:ext>
            </a:extLst>
          </p:cNvPr>
          <p:cNvSpPr/>
          <p:nvPr/>
        </p:nvSpPr>
        <p:spPr>
          <a:xfrm>
            <a:off x="762000" y="3886200"/>
            <a:ext cx="10668000" cy="21844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D24D86-1909-8543-84FE-AB4E8E3F6AF9}"/>
              </a:ext>
            </a:extLst>
          </p:cNvPr>
          <p:cNvSpPr txBox="1"/>
          <p:nvPr/>
        </p:nvSpPr>
        <p:spPr>
          <a:xfrm>
            <a:off x="939800" y="4013200"/>
            <a:ext cx="10312400" cy="1981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Sparse AE:        L +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 Σ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ⱼ KL(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ρ ‖ ρ̂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ⱼ)        — penalizes average activation, forces few active units.
Denoising AE:    minimize ‖x − g(f(x̃))‖²,  x̃ = x + noise   — learns robust features, not the identity.
Contractive AE:  L +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 ‖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J_f(x)‖²_F          — penalizes the encoder Jacobian, stabilizing the code.
Variational AE:  L_recon + KL(q(z|x) ‖ N(0,I))  — probabilistic code, enables generation.
Weight tying:     set W′ = Wᵀ  — fewer parameters and a tighter PCA analogy.</a:t>
            </a:r>
          </a:p>
        </p:txBody>
      </p:sp>
    </p:spTree>
    <p:extLst>
      <p:ext uri="{BB962C8B-B14F-4D97-AF65-F5344CB8AC3E}">
        <p14:creationId xmlns:p14="http://schemas.microsoft.com/office/powerpoint/2010/main" val="19038452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C5A94C-8199-6142-A09C-69CB02C7F2B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51CB1-D5A7-EF4C-8E5D-E0ACD6B99D0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AE — Math (2): Linear AE ≈ PCA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88B317-63C2-1F4E-806C-460CE9D709CD}"/>
              </a:ext>
            </a:extLst>
          </p:cNvPr>
          <p:cNvSpPr txBox="1"/>
          <p:nvPr/>
        </p:nvSpPr>
        <p:spPr>
          <a:xfrm>
            <a:off x="762000" y="15240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The linear-autoencoder theorem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D18E3BB-F73C-B241-ADD6-A03BCE6D78BD}"/>
              </a:ext>
            </a:extLst>
          </p:cNvPr>
          <p:cNvSpPr/>
          <p:nvPr/>
        </p:nvSpPr>
        <p:spPr>
          <a:xfrm>
            <a:off x="762000" y="1828800"/>
            <a:ext cx="10668000" cy="1498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C3FCB3-5299-ED40-9C84-832C54AF7560}"/>
              </a:ext>
            </a:extLst>
          </p:cNvPr>
          <p:cNvSpPr txBox="1"/>
          <p:nvPr/>
        </p:nvSpPr>
        <p:spPr>
          <a:xfrm>
            <a:off x="939800" y="1955800"/>
            <a:ext cx="10312400" cy="1295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Take identity activations and tied weights:  x̂ = W′W x ,  with W ∈ ℝᵏˣᵖ.
Minimizing  L = (1/n)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 ‖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xᵢ − W′W xᵢ‖²  over W, W′  (data centered)  ⇒  the optimum W′W is the
rank-k orthogonal projector onto the top-k eigenvectors of the covariance S = (1/n)X꜀ᵀX꜀.
⇒ A linear AE spans the SAME subspace as PCA; the global minimum reconstruction error equals PCA's.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9F34F0-EAA2-DC47-99E6-5D8C2A79B188}"/>
              </a:ext>
            </a:extLst>
          </p:cNvPr>
          <p:cNvSpPr txBox="1"/>
          <p:nvPr/>
        </p:nvSpPr>
        <p:spPr>
          <a:xfrm>
            <a:off x="762000" y="34544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D1578A"/>
                </a:solidFill>
              </a:rPr>
              <a:t>Caveats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3BDFA3C-19D4-604E-AE8B-7FA5239CAEC9}"/>
              </a:ext>
            </a:extLst>
          </p:cNvPr>
          <p:cNvSpPr/>
          <p:nvPr/>
        </p:nvSpPr>
        <p:spPr>
          <a:xfrm>
            <a:off x="762000" y="3759200"/>
            <a:ext cx="5334000" cy="23114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6F693F-CB3C-A74C-A466-524D14B560DF}"/>
              </a:ext>
            </a:extLst>
          </p:cNvPr>
          <p:cNvSpPr txBox="1"/>
          <p:nvPr/>
        </p:nvSpPr>
        <p:spPr>
          <a:xfrm>
            <a:off x="939800" y="3886200"/>
            <a:ext cx="4978400" cy="2108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• AE axes are not forced orthogonal or
   ordered — only the subspace matches PCA,
   not the individual components.
• Loss surface is non-convex; SGD finds A
   global-error solution, not necessarily the
   PCA basis itself.
• Nonlinear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breaks the equivalence — that
   is the whole point of using an AE.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58BF89-1654-5246-BA79-2103BE3CD659}"/>
              </a:ext>
            </a:extLst>
          </p:cNvPr>
          <p:cNvSpPr txBox="1"/>
          <p:nvPr/>
        </p:nvSpPr>
        <p:spPr>
          <a:xfrm>
            <a:off x="6350000" y="34544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Training gradients (backprop)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67948EF-CF2B-BC4F-9F41-AF926E5C4CC7}"/>
              </a:ext>
            </a:extLst>
          </p:cNvPr>
          <p:cNvSpPr/>
          <p:nvPr/>
        </p:nvSpPr>
        <p:spPr>
          <a:xfrm>
            <a:off x="6350000" y="3759200"/>
            <a:ext cx="5080000" cy="23114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7353E7-5F7C-5C4F-A34A-A0B8D4A7AE03}"/>
              </a:ext>
            </a:extLst>
          </p:cNvPr>
          <p:cNvSpPr txBox="1"/>
          <p:nvPr/>
        </p:nvSpPr>
        <p:spPr>
          <a:xfrm>
            <a:off x="6527800" y="3886200"/>
            <a:ext cx="4724400" cy="2108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Per example, with e = x̂ − x:
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δ_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out = e ⊙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σ′(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pre_out)
∂L/∂W′ =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δ_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out zᵀ
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δ_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hid = (W′ᵀ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δ_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out) ⊙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σ′(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pre_hid)
∂L/∂W =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δ_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hid xᵀ
Update: 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θ ← θ − η ∂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L/∂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θ   (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SGD/Adam)</a:t>
            </a:r>
          </a:p>
        </p:txBody>
      </p:sp>
    </p:spTree>
    <p:extLst>
      <p:ext uri="{BB962C8B-B14F-4D97-AF65-F5344CB8AC3E}">
        <p14:creationId xmlns:p14="http://schemas.microsoft.com/office/powerpoint/2010/main" val="257870899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1CF9A9E-EAA7-EB45-BF38-915FDBD94D30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9DD257-E70A-C446-9246-668EAF24EEC1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Autoencoders — Training Algorithm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5FDABFC-B45A-C346-A4D4-9E59F998F752}"/>
              </a:ext>
            </a:extLst>
          </p:cNvPr>
          <p:cNvSpPr/>
          <p:nvPr/>
        </p:nvSpPr>
        <p:spPr>
          <a:xfrm>
            <a:off x="762000" y="16256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FC08FF2-28EE-804C-9203-628C3496D63A}"/>
              </a:ext>
            </a:extLst>
          </p:cNvPr>
          <p:cNvSpPr/>
          <p:nvPr/>
        </p:nvSpPr>
        <p:spPr>
          <a:xfrm>
            <a:off x="939800" y="1803400"/>
            <a:ext cx="431800" cy="4318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E1DF2D-2C8E-5949-AF78-1F07FF29AD6D}"/>
              </a:ext>
            </a:extLst>
          </p:cNvPr>
          <p:cNvSpPr txBox="1"/>
          <p:nvPr/>
        </p:nvSpPr>
        <p:spPr>
          <a:xfrm>
            <a:off x="1473200" y="18288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Preprocess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4C1CA6-7AF7-A74B-8786-E8ECFF6EEBF9}"/>
              </a:ext>
            </a:extLst>
          </p:cNvPr>
          <p:cNvSpPr txBox="1"/>
          <p:nvPr/>
        </p:nvSpPr>
        <p:spPr>
          <a:xfrm>
            <a:off x="939800" y="2362200"/>
            <a:ext cx="30734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Center/scale inputs; split train/validation. Choose architecture (depth, widths, bottleneck k).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48006EE-EC76-4C44-8446-E98BDA5584D9}"/>
              </a:ext>
            </a:extLst>
          </p:cNvPr>
          <p:cNvSpPr/>
          <p:nvPr/>
        </p:nvSpPr>
        <p:spPr>
          <a:xfrm>
            <a:off x="4381500" y="16256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EE16550-CDD2-834E-B72A-99D75C396FD9}"/>
              </a:ext>
            </a:extLst>
          </p:cNvPr>
          <p:cNvSpPr/>
          <p:nvPr/>
        </p:nvSpPr>
        <p:spPr>
          <a:xfrm>
            <a:off x="4559300" y="1803400"/>
            <a:ext cx="431800" cy="4318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75DCAF-1EE9-4B4F-A1CE-433962630627}"/>
              </a:ext>
            </a:extLst>
          </p:cNvPr>
          <p:cNvSpPr txBox="1"/>
          <p:nvPr/>
        </p:nvSpPr>
        <p:spPr>
          <a:xfrm>
            <a:off x="5092700" y="18288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Init &amp; forward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1C93C8-9ADE-7F47-B2EA-D1D0D43A28F7}"/>
              </a:ext>
            </a:extLst>
          </p:cNvPr>
          <p:cNvSpPr txBox="1"/>
          <p:nvPr/>
        </p:nvSpPr>
        <p:spPr>
          <a:xfrm>
            <a:off x="4559300" y="2362200"/>
            <a:ext cx="30734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Initialize weights; forward pass z = f(x), x̂ = g(z) on a minibatch.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DDD5143-6378-4A40-9256-793B89962C0A}"/>
              </a:ext>
            </a:extLst>
          </p:cNvPr>
          <p:cNvSpPr/>
          <p:nvPr/>
        </p:nvSpPr>
        <p:spPr>
          <a:xfrm>
            <a:off x="8001000" y="16256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CA5347C-E17C-704F-80F6-701F1B604821}"/>
              </a:ext>
            </a:extLst>
          </p:cNvPr>
          <p:cNvSpPr/>
          <p:nvPr/>
        </p:nvSpPr>
        <p:spPr>
          <a:xfrm>
            <a:off x="8178800" y="1803400"/>
            <a:ext cx="431800" cy="4318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C3F78A-64DE-EC4B-8F33-59AA9AF99888}"/>
              </a:ext>
            </a:extLst>
          </p:cNvPr>
          <p:cNvSpPr txBox="1"/>
          <p:nvPr/>
        </p:nvSpPr>
        <p:spPr>
          <a:xfrm>
            <a:off x="8712200" y="18288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Compute loss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DDA9EC-04F8-7C43-BBD5-B06456FA0A37}"/>
              </a:ext>
            </a:extLst>
          </p:cNvPr>
          <p:cNvSpPr txBox="1"/>
          <p:nvPr/>
        </p:nvSpPr>
        <p:spPr>
          <a:xfrm>
            <a:off x="8178800" y="2362200"/>
            <a:ext cx="30734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L = mean ‖x − x̂‖² (+ regularizers: sparsity / denoising / KL).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27A39A3-4EA9-F548-B28E-54FFF3A75B39}"/>
              </a:ext>
            </a:extLst>
          </p:cNvPr>
          <p:cNvSpPr/>
          <p:nvPr/>
        </p:nvSpPr>
        <p:spPr>
          <a:xfrm>
            <a:off x="762000" y="37592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1ED2682-84A5-7C43-86A5-34003316A4AF}"/>
              </a:ext>
            </a:extLst>
          </p:cNvPr>
          <p:cNvSpPr/>
          <p:nvPr/>
        </p:nvSpPr>
        <p:spPr>
          <a:xfrm>
            <a:off x="939800" y="3937000"/>
            <a:ext cx="431800" cy="4318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3ED690-8BEB-5C4F-B446-A03435CDEE10}"/>
              </a:ext>
            </a:extLst>
          </p:cNvPr>
          <p:cNvSpPr txBox="1"/>
          <p:nvPr/>
        </p:nvSpPr>
        <p:spPr>
          <a:xfrm>
            <a:off x="1473200" y="39624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D1578A"/>
                </a:solidFill>
              </a:rPr>
              <a:t>Backprop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200B04-1FBC-D148-A6AF-5642767DCDA8}"/>
              </a:ext>
            </a:extLst>
          </p:cNvPr>
          <p:cNvSpPr txBox="1"/>
          <p:nvPr/>
        </p:nvSpPr>
        <p:spPr>
          <a:xfrm>
            <a:off x="939800" y="4495800"/>
            <a:ext cx="30734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Backpropagate gradients ∂L/∂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θ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through decoder then encoder.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D75346D-88E7-8847-908F-147EC89CC6CF}"/>
              </a:ext>
            </a:extLst>
          </p:cNvPr>
          <p:cNvSpPr/>
          <p:nvPr/>
        </p:nvSpPr>
        <p:spPr>
          <a:xfrm>
            <a:off x="4381500" y="37592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7721F6D-6BCA-284E-B593-CC9D2F84064F}"/>
              </a:ext>
            </a:extLst>
          </p:cNvPr>
          <p:cNvSpPr/>
          <p:nvPr/>
        </p:nvSpPr>
        <p:spPr>
          <a:xfrm>
            <a:off x="4559300" y="3937000"/>
            <a:ext cx="431800" cy="4318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A48924-AEBF-EB4F-A231-3E92AE1B287D}"/>
              </a:ext>
            </a:extLst>
          </p:cNvPr>
          <p:cNvSpPr txBox="1"/>
          <p:nvPr/>
        </p:nvSpPr>
        <p:spPr>
          <a:xfrm>
            <a:off x="5092700" y="39624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Update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50B4A8-BC02-FC4B-8CE3-2E640333EA15}"/>
              </a:ext>
            </a:extLst>
          </p:cNvPr>
          <p:cNvSpPr txBox="1"/>
          <p:nvPr/>
        </p:nvSpPr>
        <p:spPr>
          <a:xfrm>
            <a:off x="4559300" y="4495800"/>
            <a:ext cx="30734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θ ← θ − η ∂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L/∂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θ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via SGD / Adam; repeat over minibatches &amp; epochs.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36AF844-698E-A946-8ACF-CDAEC8D86A00}"/>
              </a:ext>
            </a:extLst>
          </p:cNvPr>
          <p:cNvSpPr/>
          <p:nvPr/>
        </p:nvSpPr>
        <p:spPr>
          <a:xfrm>
            <a:off x="8001000" y="37592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6068812-4762-8E46-B5AE-B441629FCB11}"/>
              </a:ext>
            </a:extLst>
          </p:cNvPr>
          <p:cNvSpPr/>
          <p:nvPr/>
        </p:nvSpPr>
        <p:spPr>
          <a:xfrm>
            <a:off x="8178800" y="3937000"/>
            <a:ext cx="431800" cy="4318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9134A6-578C-E244-94EC-3875776567BA}"/>
              </a:ext>
            </a:extLst>
          </p:cNvPr>
          <p:cNvSpPr txBox="1"/>
          <p:nvPr/>
        </p:nvSpPr>
        <p:spPr>
          <a:xfrm>
            <a:off x="8712200" y="39624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Validate &amp; stop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4FC247-5060-E645-9D7A-76111B5CDEF0}"/>
              </a:ext>
            </a:extLst>
          </p:cNvPr>
          <p:cNvSpPr txBox="1"/>
          <p:nvPr/>
        </p:nvSpPr>
        <p:spPr>
          <a:xfrm>
            <a:off x="8178800" y="4495800"/>
            <a:ext cx="30734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Track validation loss; early-stop at the minimum. Keep encoder f as the embedding.</a:t>
            </a:r>
          </a:p>
        </p:txBody>
      </p:sp>
    </p:spTree>
    <p:extLst>
      <p:ext uri="{BB962C8B-B14F-4D97-AF65-F5344CB8AC3E}">
        <p14:creationId xmlns:p14="http://schemas.microsoft.com/office/powerpoint/2010/main" val="168543271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D1A463-1C1B-134C-8F06-75D5C1EA4DF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BB8CF9-5229-D740-9DF5-C1EB623184D1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Worked Example 1 — Forward Pass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D3D148A-5707-F844-868B-8108D036C661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AE · Example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78B478-BFFE-7045-A297-1F95EEEE154E}"/>
              </a:ext>
            </a:extLst>
          </p:cNvPr>
          <p:cNvSpPr txBox="1"/>
          <p:nvPr/>
        </p:nvSpPr>
        <p:spPr>
          <a:xfrm>
            <a:off x="762000" y="1473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A 3→2→3 linear autoencoder (identity activation). Compute the code z and reconstruction x̂ for one input.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8A96AD-0D0E-214D-8F9F-8634A4B5E6B6}"/>
              </a:ext>
            </a:extLst>
          </p:cNvPr>
          <p:cNvSpPr txBox="1"/>
          <p:nvPr/>
        </p:nvSpPr>
        <p:spPr>
          <a:xfrm>
            <a:off x="762000" y="18796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Weights &amp; input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F8B2129-0E0D-FB41-AAA7-F6E0ECF4749A}"/>
              </a:ext>
            </a:extLst>
          </p:cNvPr>
          <p:cNvSpPr/>
          <p:nvPr/>
        </p:nvSpPr>
        <p:spPr>
          <a:xfrm>
            <a:off x="762000" y="2184400"/>
            <a:ext cx="5334000" cy="2032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410001-B4F1-1A45-A882-F76521E8B0BD}"/>
              </a:ext>
            </a:extLst>
          </p:cNvPr>
          <p:cNvSpPr txBox="1"/>
          <p:nvPr/>
        </p:nvSpPr>
        <p:spPr>
          <a:xfrm>
            <a:off x="939800" y="2311400"/>
            <a:ext cx="4978400" cy="182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x = (2, 0, −2)ᵀ ,  biases = 0
W = [ 0.5  0   0.5 ;
        0    1    0   ]   (2×3)
W′ = Wᵀ  (tied weights, 3×2)
   = [0.5 0 ; 0 1 ; 0.5 0]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1FA32A-75CD-1742-97EF-F365CE0A519C}"/>
              </a:ext>
            </a:extLst>
          </p:cNvPr>
          <p:cNvSpPr txBox="1"/>
          <p:nvPr/>
        </p:nvSpPr>
        <p:spPr>
          <a:xfrm>
            <a:off x="6350000" y="18796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Encode  z = W x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E9A6043-8BE1-7048-B37A-E37CDD95E917}"/>
              </a:ext>
            </a:extLst>
          </p:cNvPr>
          <p:cNvSpPr/>
          <p:nvPr/>
        </p:nvSpPr>
        <p:spPr>
          <a:xfrm>
            <a:off x="6350000" y="2184400"/>
            <a:ext cx="5080000" cy="2032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A2691D-53E6-2B48-86E1-A6337B9154CD}"/>
              </a:ext>
            </a:extLst>
          </p:cNvPr>
          <p:cNvSpPr txBox="1"/>
          <p:nvPr/>
        </p:nvSpPr>
        <p:spPr>
          <a:xfrm>
            <a:off x="6527800" y="2311400"/>
            <a:ext cx="4724400" cy="182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z₁ = 0.5·2 + 0·0 + 0.5·(−2) = 0
z₂ = 0·2 + 1·0 + 0·(−2) = 0
z = (0, 0)ᵀ
The input lies in the null space of W —
its code is the origin.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A16414-2E0E-0D4C-8E2A-3BAB446DC2D5}"/>
              </a:ext>
            </a:extLst>
          </p:cNvPr>
          <p:cNvSpPr txBox="1"/>
          <p:nvPr/>
        </p:nvSpPr>
        <p:spPr>
          <a:xfrm>
            <a:off x="762000" y="43942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Decode  x̂ = W′ z   and observe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70F074C-DC66-164B-B4B0-B70E73592953}"/>
              </a:ext>
            </a:extLst>
          </p:cNvPr>
          <p:cNvSpPr/>
          <p:nvPr/>
        </p:nvSpPr>
        <p:spPr>
          <a:xfrm>
            <a:off x="762000" y="4699000"/>
            <a:ext cx="10668000" cy="1371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68EE7F-AF28-BB41-BA41-A8C71CC391CF}"/>
              </a:ext>
            </a:extLst>
          </p:cNvPr>
          <p:cNvSpPr txBox="1"/>
          <p:nvPr/>
        </p:nvSpPr>
        <p:spPr>
          <a:xfrm>
            <a:off x="939800" y="4826000"/>
            <a:ext cx="10312400" cy="1168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x̂ = W′ (0,0)ᵀ = (0, 0, 0)ᵀ .   Reconstruction error e = x̂ − x = (−2, 0, 2)ᵀ.
This input is reconstructed poorly because the encoder collapses the (1,0,−1) direction.
Lesson: an AE only preserves directions its weights span; a different x (e.g. (2,3,2)) would encode and
reconstruct well. Training adjusts W so that high-variance directions of the data are the ones retained.</a:t>
            </a:r>
          </a:p>
        </p:txBody>
      </p:sp>
    </p:spTree>
    <p:extLst>
      <p:ext uri="{BB962C8B-B14F-4D97-AF65-F5344CB8AC3E}">
        <p14:creationId xmlns:p14="http://schemas.microsoft.com/office/powerpoint/2010/main" val="8667985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Setup &amp; Architecture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A 3→2→3 tied autoencoder. Input x=(2,0,−2)ᵀ, encoder W (2×3), decoder W′=Wᵀ, biases = 0.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Inputs &amp; tied weights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387600"/>
                <a:ext cx="6096000" cy="317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1890">
                          <a:latin typeface="Cambria Math"/>
                        </a:rPr>
                        <m:t>𝑥</m:t>
                      </m:r>
                      <m:r>
                        <a:rPr sz="189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3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1890">
                          <a:latin typeface="Cambria Math"/>
                        </a:rPr>
                        <m:t>𝑊</m:t>
                      </m:r>
                      <m:r>
                        <a:rPr sz="189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𝟓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3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1890">
                          <a:latin typeface="Cambria Math"/>
                        </a:rPr>
                        <m:t>𝑊</m:t>
                      </m:r>
                      <m:r>
                        <a:rPr sz="1890">
                          <a:latin typeface="Cambria Math"/>
                        </a:rPr>
                        <m:t>′=</m:t>
                      </m:r>
                      <m:r>
                        <a:rPr sz="1890">
                          <a:latin typeface="Cambria Math"/>
                        </a:rPr>
                        <m:t>𝑊</m:t>
                      </m:r>
                      <m:r>
                        <a:rPr sz="1890">
                          <a:latin typeface="Cambria Math"/>
                        </a:rPr>
                        <m:t>ᵀ=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3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387600"/>
                <a:ext cx="6096000" cy="317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858000" y="1905000"/>
            <a:ext cx="4572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6959600" y="2006600"/>
            <a:ext cx="43688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300" b="1" dirty="0">
                <a:solidFill>
                  <a:srgbClr val="4B2E83"/>
                </a:solidFill>
              </a:rPr>
              <a:t>3 → 2 → 3  tied autoencoder</a:t>
            </a:r>
          </a:p>
        </p:txBody>
      </p:sp>
      <p:sp>
        <p:nvSpPr>
          <p:cNvPr id="200" name="edge"/>
          <p:cNvSpPr/>
          <p:nvPr/>
        </p:nvSpPr>
        <p:spPr>
          <a:xfrm rot="892541">
            <a:off x="7591814" y="3153410"/>
            <a:ext cx="1681971" cy="1778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edge"/>
          <p:cNvSpPr/>
          <p:nvPr/>
        </p:nvSpPr>
        <p:spPr>
          <a:xfrm rot="2313028">
            <a:off x="7393493" y="3585210"/>
            <a:ext cx="2078614" cy="1778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edge"/>
          <p:cNvSpPr/>
          <p:nvPr/>
        </p:nvSpPr>
        <p:spPr>
          <a:xfrm rot="-892541">
            <a:off x="7591814" y="3585210"/>
            <a:ext cx="1681971" cy="1778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edge"/>
          <p:cNvSpPr/>
          <p:nvPr/>
        </p:nvSpPr>
        <p:spPr>
          <a:xfrm rot="892541">
            <a:off x="7591814" y="4017010"/>
            <a:ext cx="1681971" cy="1778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edge"/>
          <p:cNvSpPr/>
          <p:nvPr/>
        </p:nvSpPr>
        <p:spPr>
          <a:xfrm rot="-2313028">
            <a:off x="7393493" y="4017010"/>
            <a:ext cx="2078614" cy="1778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edge"/>
          <p:cNvSpPr/>
          <p:nvPr/>
        </p:nvSpPr>
        <p:spPr>
          <a:xfrm rot="-892541">
            <a:off x="7591814" y="4448810"/>
            <a:ext cx="1681971" cy="1778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edge"/>
          <p:cNvSpPr/>
          <p:nvPr/>
        </p:nvSpPr>
        <p:spPr>
          <a:xfrm rot="-892541">
            <a:off x="9217414" y="3153410"/>
            <a:ext cx="1681971" cy="17780"/>
          </a:xfrm>
          <a:prstGeom prst="rect">
            <a:avLst/>
          </a:prstGeom>
          <a:solidFill>
            <a:srgbClr val="E5DAB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7" name="edge"/>
          <p:cNvSpPr/>
          <p:nvPr/>
        </p:nvSpPr>
        <p:spPr>
          <a:xfrm rot="892541">
            <a:off x="9217414" y="3585210"/>
            <a:ext cx="1681971" cy="17780"/>
          </a:xfrm>
          <a:prstGeom prst="rect">
            <a:avLst/>
          </a:prstGeom>
          <a:solidFill>
            <a:srgbClr val="E5DAB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8" name="edge"/>
          <p:cNvSpPr/>
          <p:nvPr/>
        </p:nvSpPr>
        <p:spPr>
          <a:xfrm rot="2313028">
            <a:off x="9019093" y="4017010"/>
            <a:ext cx="2078614" cy="17780"/>
          </a:xfrm>
          <a:prstGeom prst="rect">
            <a:avLst/>
          </a:prstGeom>
          <a:solidFill>
            <a:srgbClr val="E5DAB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9" name="edge"/>
          <p:cNvSpPr/>
          <p:nvPr/>
        </p:nvSpPr>
        <p:spPr>
          <a:xfrm rot="-2313028">
            <a:off x="9019093" y="3585210"/>
            <a:ext cx="2078614" cy="17780"/>
          </a:xfrm>
          <a:prstGeom prst="rect">
            <a:avLst/>
          </a:prstGeom>
          <a:solidFill>
            <a:srgbClr val="E5DAB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edge"/>
          <p:cNvSpPr/>
          <p:nvPr/>
        </p:nvSpPr>
        <p:spPr>
          <a:xfrm rot="-892541">
            <a:off x="9217414" y="4017010"/>
            <a:ext cx="1681971" cy="17780"/>
          </a:xfrm>
          <a:prstGeom prst="rect">
            <a:avLst/>
          </a:prstGeom>
          <a:solidFill>
            <a:srgbClr val="E5DAB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edge"/>
          <p:cNvSpPr/>
          <p:nvPr/>
        </p:nvSpPr>
        <p:spPr>
          <a:xfrm rot="892541">
            <a:off x="9217414" y="4448810"/>
            <a:ext cx="1681971" cy="17780"/>
          </a:xfrm>
          <a:prstGeom prst="rect">
            <a:avLst/>
          </a:prstGeom>
          <a:solidFill>
            <a:srgbClr val="E5DAB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node"/>
          <p:cNvSpPr/>
          <p:nvPr/>
        </p:nvSpPr>
        <p:spPr>
          <a:xfrm>
            <a:off x="7454900" y="2781300"/>
            <a:ext cx="330200" cy="330200"/>
          </a:xfrm>
          <a:prstGeom prst="ellipse">
            <a:avLst/>
          </a:prstGeom>
          <a:solidFill>
            <a:srgbClr val="00A7B5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3" name="node"/>
          <p:cNvSpPr/>
          <p:nvPr/>
        </p:nvSpPr>
        <p:spPr>
          <a:xfrm>
            <a:off x="7454900" y="3644900"/>
            <a:ext cx="330200" cy="330200"/>
          </a:xfrm>
          <a:prstGeom prst="ellipse">
            <a:avLst/>
          </a:prstGeom>
          <a:solidFill>
            <a:srgbClr val="00A7B5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4" name="node"/>
          <p:cNvSpPr/>
          <p:nvPr/>
        </p:nvSpPr>
        <p:spPr>
          <a:xfrm>
            <a:off x="7454900" y="4508500"/>
            <a:ext cx="330200" cy="330200"/>
          </a:xfrm>
          <a:prstGeom prst="ellipse">
            <a:avLst/>
          </a:prstGeom>
          <a:solidFill>
            <a:srgbClr val="00A7B5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5" name="node"/>
          <p:cNvSpPr/>
          <p:nvPr/>
        </p:nvSpPr>
        <p:spPr>
          <a:xfrm>
            <a:off x="9080500" y="3213100"/>
            <a:ext cx="330200" cy="330200"/>
          </a:xfrm>
          <a:prstGeom prst="ellipse">
            <a:avLst/>
          </a:prstGeom>
          <a:solidFill>
            <a:srgbClr val="4B2E83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6" name="node"/>
          <p:cNvSpPr/>
          <p:nvPr/>
        </p:nvSpPr>
        <p:spPr>
          <a:xfrm>
            <a:off x="9080500" y="4076700"/>
            <a:ext cx="330200" cy="330200"/>
          </a:xfrm>
          <a:prstGeom prst="ellipse">
            <a:avLst/>
          </a:prstGeom>
          <a:solidFill>
            <a:srgbClr val="4B2E83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7" name="node"/>
          <p:cNvSpPr/>
          <p:nvPr/>
        </p:nvSpPr>
        <p:spPr>
          <a:xfrm>
            <a:off x="10706100" y="2781300"/>
            <a:ext cx="330200" cy="330200"/>
          </a:xfrm>
          <a:prstGeom prst="ellipse">
            <a:avLst/>
          </a:prstGeom>
          <a:solidFill>
            <a:srgbClr val="85754D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8" name="node"/>
          <p:cNvSpPr/>
          <p:nvPr/>
        </p:nvSpPr>
        <p:spPr>
          <a:xfrm>
            <a:off x="10706100" y="3644900"/>
            <a:ext cx="330200" cy="330200"/>
          </a:xfrm>
          <a:prstGeom prst="ellipse">
            <a:avLst/>
          </a:prstGeom>
          <a:solidFill>
            <a:srgbClr val="85754D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9" name="node"/>
          <p:cNvSpPr/>
          <p:nvPr/>
        </p:nvSpPr>
        <p:spPr>
          <a:xfrm>
            <a:off x="10706100" y="4508500"/>
            <a:ext cx="330200" cy="330200"/>
          </a:xfrm>
          <a:prstGeom prst="ellipse">
            <a:avLst/>
          </a:prstGeom>
          <a:solidFill>
            <a:srgbClr val="85754D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0" name="LxIn"/>
          <p:cNvSpPr txBox="1"/>
          <p:nvPr/>
        </p:nvSpPr>
        <p:spPr>
          <a:xfrm>
            <a:off x="7112000" y="49784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150" b="1" dirty="0">
                <a:solidFill>
                  <a:srgbClr val="00A7B5"/>
                </a:solidFill>
              </a:rPr>
              <a:t>x  (input)</a:t>
            </a:r>
          </a:p>
        </p:txBody>
      </p:sp>
      <p:sp>
        <p:nvSpPr>
          <p:cNvPr id="181" name="Lz"/>
          <p:cNvSpPr txBox="1"/>
          <p:nvPr/>
        </p:nvSpPr>
        <p:spPr>
          <a:xfrm>
            <a:off x="8763000" y="4978400"/>
            <a:ext cx="96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150" b="1" dirty="0">
                <a:solidFill>
                  <a:srgbClr val="4B2E83"/>
                </a:solidFill>
              </a:rPr>
              <a:t>z (code)</a:t>
            </a:r>
          </a:p>
        </p:txBody>
      </p:sp>
      <p:sp>
        <p:nvSpPr>
          <p:cNvPr id="182" name="Lout"/>
          <p:cNvSpPr txBox="1"/>
          <p:nvPr/>
        </p:nvSpPr>
        <p:spPr>
          <a:xfrm>
            <a:off x="10363200" y="49784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150" b="1" dirty="0">
                <a:solidFill>
                  <a:srgbClr val="85754D"/>
                </a:solidFill>
              </a:rPr>
              <a:t>x̂ (output)</a:t>
            </a:r>
          </a:p>
        </p:txBody>
      </p:sp>
      <p:sp>
        <p:nvSpPr>
          <p:cNvPr id="183" name="Lenc"/>
          <p:cNvSpPr txBox="1"/>
          <p:nvPr/>
        </p:nvSpPr>
        <p:spPr>
          <a:xfrm>
            <a:off x="7975600" y="24892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050" b="1" dirty="0">
                <a:solidFill>
                  <a:srgbClr val="7A6CA8"/>
                </a:solidFill>
              </a:rPr>
              <a:t>encoder W</a:t>
            </a:r>
          </a:p>
        </p:txBody>
      </p:sp>
      <p:sp>
        <p:nvSpPr>
          <p:cNvPr id="184" name="Ldec"/>
          <p:cNvSpPr txBox="1"/>
          <p:nvPr/>
        </p:nvSpPr>
        <p:spPr>
          <a:xfrm>
            <a:off x="9652000" y="2489200"/>
            <a:ext cx="12192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050" b="1" dirty="0">
                <a:solidFill>
                  <a:srgbClr val="A89456"/>
                </a:solidFill>
              </a:rPr>
              <a:t>decoder Wᵀ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Tied weights reuse the encoder matrix transposed for decoding — halving the parameters.</a:t>
            </a:r>
          </a:p>
        </p:txBody>
      </p:sp>
    </p:spTree>
    <p:extLst>
      <p:ext uri="{BB962C8B-B14F-4D97-AF65-F5344CB8AC3E}">
        <p14:creationId xmlns:p14="http://schemas.microsoft.com/office/powerpoint/2010/main" val="208210728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Encoder:  z = Wx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Multiply the encoder weights by the input — a matrix-vector product gives the code z.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Encode the input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438400"/>
                <a:ext cx="60960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𝑧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r>
                        <a:rPr sz="2025">
                          <a:latin typeface="Cambria Math"/>
                        </a:rPr>
                        <m:t>𝑊𝑥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2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62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62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162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62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62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62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𝟓</m:t>
                                </m:r>
                              </m:e>
                            </m:mr>
                            <m:mr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620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𝑧</m:t>
                      </m:r>
                      <m:r>
                        <a:rPr sz="2025">
                          <a:latin typeface="Cambria Math"/>
                        </a:rPr>
                        <m:t>₁=0.5·2 + 0·0 + 0.5·(−2)=</m:t>
                      </m:r>
                      <m:r>
                        <a:rPr sz="2025" b="1">
                          <a:solidFill>
                            <a:srgbClr val="00A7B5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𝑧</m:t>
                      </m:r>
                      <m:r>
                        <a:rPr sz="2025">
                          <a:latin typeface="Cambria Math"/>
                        </a:rPr>
                        <m:t>₂=0·2 + 1·0 + 0·(−2)=</m:t>
                      </m:r>
                      <m:r>
                        <a:rPr sz="2025" b="1">
                          <a:solidFill>
                            <a:srgbClr val="00A7B5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𝑧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38400"/>
                <a:ext cx="6096000" cy="2667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Row by row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Each code unit = a dot product:</a:t>
            </a:r>
          </a:p>
          <a:p>
            <a:pPr algn="l">
              <a:spcBef>
                <a:spcPts val="120"/>
              </a:spcBef>
            </a:pPr>
            <a:r>
              <a:rPr lang="en-US" sz="1300" b="1" dirty="0">
                <a:solidFill>
                  <a:srgbClr val="00A7B5"/>
                </a:solidFill>
              </a:rPr>
              <a:t>z₁ = ⟨row 1 of W, x⟩</a:t>
            </a:r>
          </a:p>
          <a:p>
            <a:pPr algn="l">
              <a:spcBef>
                <a:spcPts val="80"/>
              </a:spcBef>
            </a:pPr>
            <a:r>
              <a:rPr lang="en-US" sz="1300" b="1" dirty="0">
                <a:solidFill>
                  <a:srgbClr val="00A7B5"/>
                </a:solidFill>
              </a:rPr>
              <a:t>z₂ = ⟨row 2 of W, x⟩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Both equal 0 → the code collapses to the origin.</a:t>
            </a:r>
          </a:p>
          <a:p>
            <a:pPr algn="l">
              <a:spcBef>
                <a:spcPts val="140"/>
              </a:spcBef>
            </a:pPr>
            <a:r>
              <a:rPr lang="en-US" sz="1250" i="1" dirty="0">
                <a:solidFill>
                  <a:srgbClr val="4B2E83"/>
                </a:solidFill>
              </a:rPr>
              <a:t>x lies in the null space of W.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Encoding is a matrix multiply; for this input every code unit cancels to 0.</a:t>
            </a:r>
          </a:p>
        </p:txBody>
      </p:sp>
    </p:spTree>
    <p:extLst>
      <p:ext uri="{BB962C8B-B14F-4D97-AF65-F5344CB8AC3E}">
        <p14:creationId xmlns:p14="http://schemas.microsoft.com/office/powerpoint/2010/main" val="132854410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3 — Decoder:  x̂ = W′z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Map the code back to input space with the tied decoder W′ = Wᵀ.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Decode the code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40000"/>
                <a:ext cx="60960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̂=</m:t>
                      </m:r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′</m:t>
                      </m:r>
                      <m:r>
                        <a:rPr sz="2025">
                          <a:latin typeface="Cambria Math"/>
                        </a:rPr>
                        <m:t>𝑧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75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667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Zero code, zero output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The decoder lifts the 2-D code back to 3-D.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333333"/>
                </a:solidFill>
              </a:rPr>
              <a:t>But z = 0, so every output entry is 0 — whatever the decoder weights are.</a:t>
            </a:r>
          </a:p>
          <a:p>
            <a:pPr algn="l">
              <a:spcBef>
                <a:spcPts val="150"/>
              </a:spcBef>
            </a:pPr>
            <a:r>
              <a:rPr lang="en-US" sz="1300" b="1" dirty="0">
                <a:solidFill>
                  <a:srgbClr val="333333"/>
                </a:solidFill>
              </a:rPr>
              <a:t>x̂ = (0, 0, 0)ᵀ: nothing of x survives.</a:t>
            </a:r>
          </a:p>
          <a:p>
            <a:pPr algn="l">
              <a:spcBef>
                <a:spcPts val="150"/>
              </a:spcBef>
            </a:pPr>
            <a:r>
              <a:rPr lang="en-US" sz="1250" i="1" dirty="0">
                <a:solidFill>
                  <a:srgbClr val="4B2E83"/>
                </a:solidFill>
              </a:rPr>
              <a:t>The collapse happened in the encoder.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A zero code decodes to a zero reconstruction — the information was already lost at encoding.</a:t>
            </a:r>
          </a:p>
        </p:txBody>
      </p:sp>
    </p:spTree>
    <p:extLst>
      <p:ext uri="{BB962C8B-B14F-4D97-AF65-F5344CB8AC3E}">
        <p14:creationId xmlns:p14="http://schemas.microsoft.com/office/powerpoint/2010/main" val="185187107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4 — Reconstruction Error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Compare output to input: e = x̂ − x, and the squared loss is ‖e‖².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Error and loss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489200"/>
                <a:ext cx="60960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𝑒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̂ − </m:t>
                      </m:r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620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2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62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sz="162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62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‖</m:t>
                      </m:r>
                      <m:r>
                        <a:rPr sz="2025">
                          <a:latin typeface="Cambria Math"/>
                        </a:rPr>
                        <m:t>𝑒</m:t>
                      </m:r>
                      <m:r>
                        <a:rPr sz="2025">
                          <a:latin typeface="Cambria Math"/>
                        </a:rPr>
                        <m:t>‖²=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(−2)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0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=</m:t>
                      </m:r>
                      <m:r>
                        <a:rPr sz="2025" b="1">
                          <a:solidFill>
                            <a:srgbClr val="D1578A"/>
                          </a:solidFill>
                          <a:latin typeface="Cambria Math"/>
                        </a:rPr>
                        <m:t>8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2667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How bad is it?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Because x̂ = 0, the error equals −x.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333333"/>
                </a:solidFill>
              </a:rPr>
              <a:t>Squared loss ‖e‖² = 8 — the same as reconstructing nothing at all.</a:t>
            </a:r>
          </a:p>
          <a:p>
            <a:pPr algn="l">
              <a:spcBef>
                <a:spcPts val="150"/>
              </a:spcBef>
            </a:pPr>
            <a:r>
              <a:rPr lang="en-US" sz="1300" b="1" dirty="0">
                <a:solidFill>
                  <a:srgbClr val="D1578A"/>
                </a:solidFill>
              </a:rPr>
              <a:t>This input was entirely lost.</a:t>
            </a:r>
          </a:p>
          <a:p>
            <a:pPr algn="l">
              <a:spcBef>
                <a:spcPts val="150"/>
              </a:spcBef>
            </a:pPr>
            <a:r>
              <a:rPr lang="en-US" sz="1250" i="1" dirty="0">
                <a:solidFill>
                  <a:srgbClr val="4B2E83"/>
                </a:solidFill>
              </a:rPr>
              <a:t>Next: why did the encoder erase it?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reconstruction loss ‖x̂ − x‖² = 8 quantifies a complete failure on this input.</a:t>
            </a:r>
          </a:p>
        </p:txBody>
      </p:sp>
    </p:spTree>
    <p:extLst>
      <p:ext uri="{BB962C8B-B14F-4D97-AF65-F5344CB8AC3E}">
        <p14:creationId xmlns:p14="http://schemas.microsoft.com/office/powerpoint/2010/main" val="106823984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5 — Why It Failed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x = 2·(1,0,−1) lies in W's null space — a direction the encoder maps to zero.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The collapsed direction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98500" y="2438400"/>
                <a:ext cx="6096000" cy="101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𝑊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   ⇒   </m:t>
                      </m:r>
                      <m:r>
                        <a:rPr sz="1755">
                          <a:latin typeface="Cambria Math"/>
                        </a:rPr>
                        <m:t>(1,0,−1) ∈ </m:t>
                      </m:r>
                      <m:r>
                        <a:rPr sz="1755">
                          <a:latin typeface="Cambria Math"/>
                        </a:rPr>
                        <m:t>𝑛𝑢𝑙𝑙</m:t>
                      </m:r>
                      <m:r>
                        <a:rPr sz="1755">
                          <a:latin typeface="Cambria Math"/>
                        </a:rPr>
                        <m:t>(</m:t>
                      </m:r>
                      <m:r>
                        <a:rPr sz="1755">
                          <a:latin typeface="Cambria Math"/>
                        </a:rPr>
                        <m:t>𝑊</m:t>
                      </m:r>
                      <m:r>
                        <a:rPr sz="1755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38400"/>
                <a:ext cx="6096000" cy="101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Plane"/>
          <p:cNvSpPr/>
          <p:nvPr/>
        </p:nvSpPr>
        <p:spPr>
          <a:xfrm>
            <a:off x="1524000" y="4191000"/>
            <a:ext cx="2286000" cy="838200"/>
          </a:xfrm>
          <a:prstGeom prst="parallelogram">
            <a:avLst/>
          </a:prstGeom>
          <a:solidFill>
            <a:srgbClr val="D9CFE8"/>
          </a:solidFill>
          <a:ln w="15875">
            <a:solidFill>
              <a:srgbClr val="4B2E83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150" b="1" dirty="0">
                <a:solidFill>
                  <a:srgbClr val="4B2E83"/>
                </a:solidFill>
              </a:rPr>
              <a:t>span(W) — kept</a:t>
            </a:r>
          </a:p>
        </p:txBody>
      </p:sp>
      <p:sp>
        <p:nvSpPr>
          <p:cNvPr id="41" name="Lost"/>
          <p:cNvSpPr/>
          <p:nvPr/>
        </p:nvSpPr>
        <p:spPr>
          <a:xfrm>
            <a:off x="4267200" y="4140200"/>
            <a:ext cx="330200" cy="914400"/>
          </a:xfrm>
          <a:prstGeom prst="upArrow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LostLab"/>
          <p:cNvSpPr txBox="1"/>
          <p:nvPr/>
        </p:nvSpPr>
        <p:spPr>
          <a:xfrm>
            <a:off x="4648200" y="4419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250" b="1" dirty="0">
                <a:solidFill>
                  <a:srgbClr val="D1578A"/>
                </a:solidFill>
              </a:rPr>
              <a:t>(1,0,−1)</a:t>
            </a:r>
          </a:p>
          <a:p>
            <a:pPr algn="l"/>
            <a:r>
              <a:rPr lang="en-US" sz="1150" b="1" dirty="0">
                <a:solidFill>
                  <a:srgbClr val="D1578A"/>
                </a:solidFill>
              </a:rPr>
              <a:t>lost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What an AE keeps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An autoencoder only preserves directions its weights span.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(1,0,−1) lies in W's null space → its variance is discarded.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Training aligns W with the data's high-variance directions…</a:t>
            </a:r>
          </a:p>
          <a:p>
            <a:pPr algn="l">
              <a:spcBef>
                <a:spcPts val="140"/>
              </a:spcBef>
            </a:pPr>
            <a:r>
              <a:rPr lang="en-US" sz="1250" i="1" dirty="0">
                <a:solidFill>
                  <a:srgbClr val="4B2E83"/>
                </a:solidFill>
              </a:rPr>
              <a:t>…so a typical input like (2,3,2) would reconstruct well.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Untrained weights can zero out whole directions; training makes the encoder keep what varies most.</a:t>
            </a:r>
          </a:p>
        </p:txBody>
      </p:sp>
    </p:spTree>
    <p:extLst>
      <p:ext uri="{BB962C8B-B14F-4D97-AF65-F5344CB8AC3E}">
        <p14:creationId xmlns:p14="http://schemas.microsoft.com/office/powerpoint/2010/main" val="265722219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74AF78-9AE8-A54B-B192-0B75370029D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2345D0-BEA5-6D4E-8C31-5433D4CECD08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Worked Example 2 — Reconstruction Loss &amp; One SGD Step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F03DDBA-9481-2F43-9404-A3EE2AF04DC3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AE · Example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BF79E5-B133-124D-9249-A0438A773CB7}"/>
              </a:ext>
            </a:extLst>
          </p:cNvPr>
          <p:cNvSpPr txBox="1"/>
          <p:nvPr/>
        </p:nvSpPr>
        <p:spPr>
          <a:xfrm>
            <a:off x="762000" y="1473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Take a well-encoded input, compute the squared-error loss, and perform one gradient-descent update on W′.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90D8CC-827A-B942-81B9-063408B9B347}"/>
              </a:ext>
            </a:extLst>
          </p:cNvPr>
          <p:cNvSpPr txBox="1"/>
          <p:nvPr/>
        </p:nvSpPr>
        <p:spPr>
          <a:xfrm>
            <a:off x="762000" y="18796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Forward pass &amp; loss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DD830D8-0C57-0342-BE45-881D032DA565}"/>
              </a:ext>
            </a:extLst>
          </p:cNvPr>
          <p:cNvSpPr/>
          <p:nvPr/>
        </p:nvSpPr>
        <p:spPr>
          <a:xfrm>
            <a:off x="762000" y="2184400"/>
            <a:ext cx="5334000" cy="2159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275C78-5095-034F-BCA4-5512E317D094}"/>
              </a:ext>
            </a:extLst>
          </p:cNvPr>
          <p:cNvSpPr txBox="1"/>
          <p:nvPr/>
        </p:nvSpPr>
        <p:spPr>
          <a:xfrm>
            <a:off x="939800" y="2311400"/>
            <a:ext cx="4978400" cy="195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x = (1, 1)ᵀ ,  W = [0.5  0.5] (1×2)
z = Wx = 1.0
W′ = [0.4 ; 0.4] (2×1),  x̂ = W′z = (0.4, 0.4)
e = x̂ − x = (−0.6, −0.6)
L = ‖e‖² = 0.36 + 0.36 = 0.72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BA927B-BC5D-EF4A-9094-93DC071719D6}"/>
              </a:ext>
            </a:extLst>
          </p:cNvPr>
          <p:cNvSpPr txBox="1"/>
          <p:nvPr/>
        </p:nvSpPr>
        <p:spPr>
          <a:xfrm>
            <a:off x="6350000" y="18796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Gradient on W′  (</a:t>
            </a:r>
            <a:r>
              <a:rPr lang="el-GR" sz="1450" b="1">
                <a:solidFill>
                  <a:srgbClr val="7AB648"/>
                </a:solidFill>
              </a:rPr>
              <a:t>η = 0.1)</a:t>
            </a:r>
            <a:endParaRPr lang="en-US" sz="1450" b="1">
              <a:solidFill>
                <a:srgbClr val="7AB648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50BE7AE-0093-DE4A-9794-6538E93F497C}"/>
              </a:ext>
            </a:extLst>
          </p:cNvPr>
          <p:cNvSpPr/>
          <p:nvPr/>
        </p:nvSpPr>
        <p:spPr>
          <a:xfrm>
            <a:off x="6350000" y="2184400"/>
            <a:ext cx="5080000" cy="2159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7CC9C3-62FD-3F47-8B67-88FEE37C149C}"/>
              </a:ext>
            </a:extLst>
          </p:cNvPr>
          <p:cNvSpPr txBox="1"/>
          <p:nvPr/>
        </p:nvSpPr>
        <p:spPr>
          <a:xfrm>
            <a:off x="6527800" y="2311400"/>
            <a:ext cx="4724400" cy="195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∂L/∂W′ = 2 e z = 2·(−0.6,−0.6)·1
        = (−1.2, −1.2)ᵀ
W′_new = W′ −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η ∂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L/∂W′
        = (0.4,0.4) − 0.1·(−1.2,−1.2)
        = (0.52, 0.52)ᵀ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F4C2E0-D88B-7A4D-9621-D4A871977FFB}"/>
              </a:ext>
            </a:extLst>
          </p:cNvPr>
          <p:cNvSpPr txBox="1"/>
          <p:nvPr/>
        </p:nvSpPr>
        <p:spPr>
          <a:xfrm>
            <a:off x="762000" y="45212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Did the loss go down?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F78C59F-0BD7-B44F-8C55-0F7484E092A4}"/>
              </a:ext>
            </a:extLst>
          </p:cNvPr>
          <p:cNvSpPr/>
          <p:nvPr/>
        </p:nvSpPr>
        <p:spPr>
          <a:xfrm>
            <a:off x="762000" y="4826000"/>
            <a:ext cx="10668000" cy="1244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131D29-12DA-234E-B6CE-DD0A0A37A732}"/>
              </a:ext>
            </a:extLst>
          </p:cNvPr>
          <p:cNvSpPr txBox="1"/>
          <p:nvPr/>
        </p:nvSpPr>
        <p:spPr>
          <a:xfrm>
            <a:off x="939800" y="4953000"/>
            <a:ext cx="10312400" cy="1041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New x̂ = W′_new · z = (0.52, 0.52);  new e = (−0.48, −0.48);  L_new = 2·0.48² = 0.4608.
Loss dropped 0.72 → 0.461 after a single step — the update moves x̂ toward x, as gradient descent should.
Iterating to convergence drives W′z → x (here W′ → (0.5,0.5) gives perfect reconstruction of this point).</a:t>
            </a:r>
          </a:p>
        </p:txBody>
      </p:sp>
    </p:spTree>
    <p:extLst>
      <p:ext uri="{BB962C8B-B14F-4D97-AF65-F5344CB8AC3E}">
        <p14:creationId xmlns:p14="http://schemas.microsoft.com/office/powerpoint/2010/main" val="218234000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Setup &amp; Forward Pass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A 2→1→2 linear AE. x=(1,1), encoder W=[0.5, 0.5], decoder W′=(0.4, 0.4)ᵀ, η=0.1.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Encode then decode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616200"/>
                <a:ext cx="6096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𝑧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r>
                        <a:rPr sz="2025">
                          <a:latin typeface="Cambria Math"/>
                        </a:rPr>
                        <m:t>𝑊𝑥</m:t>
                      </m:r>
                      <m:r>
                        <a:rPr sz="2025">
                          <a:latin typeface="Cambria Math"/>
                        </a:rPr>
                        <m:t>=0.5·1 + 0.5·1=</m:t>
                      </m:r>
                      <m:r>
                        <a:rPr sz="2025" b="1">
                          <a:solidFill>
                            <a:srgbClr val="00A7B5"/>
                          </a:solidFill>
                          <a:latin typeface="Cambria Math"/>
                        </a:rPr>
                        <m:t>1.0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̂=</m:t>
                      </m:r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′</m:t>
                      </m:r>
                      <m:r>
                        <a:rPr sz="2025">
                          <a:latin typeface="Cambria Math"/>
                        </a:rPr>
                        <m:t>𝑧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  <m:mr>
                              <m:e>
                                <m:r>
                                  <a:rPr sz="189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·1.0=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15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59600" y="1905000"/>
            <a:ext cx="44958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6959600" y="2032000"/>
            <a:ext cx="44958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ctr"/>
            <a:r>
              <a:rPr lang="en-US" sz="1300" b="1" dirty="0">
                <a:solidFill>
                  <a:srgbClr val="4B2E83"/>
                </a:solidFill>
              </a:rPr>
              <a:t>2 → 1 → 2 linear autoencoder</a:t>
            </a:r>
          </a:p>
        </p:txBody>
      </p:sp>
      <p:sp>
        <p:nvSpPr>
          <p:cNvPr id="300" name="edge"/>
          <p:cNvSpPr/>
          <p:nvPr/>
        </p:nvSpPr>
        <p:spPr>
          <a:xfrm rot="1089957">
            <a:off x="7577363" y="3530600"/>
            <a:ext cx="1710874" cy="254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edge"/>
          <p:cNvSpPr/>
          <p:nvPr/>
        </p:nvSpPr>
        <p:spPr>
          <a:xfrm rot="-1233363">
            <a:off x="7564729" y="4102100"/>
            <a:ext cx="1736142" cy="254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edge"/>
          <p:cNvSpPr/>
          <p:nvPr/>
        </p:nvSpPr>
        <p:spPr>
          <a:xfrm rot="-1089957">
            <a:off x="9202963" y="3530600"/>
            <a:ext cx="1710874" cy="25400"/>
          </a:xfrm>
          <a:prstGeom prst="rect">
            <a:avLst/>
          </a:prstGeom>
          <a:solidFill>
            <a:srgbClr val="E6D9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3" name="edge"/>
          <p:cNvSpPr/>
          <p:nvPr/>
        </p:nvSpPr>
        <p:spPr>
          <a:xfrm rot="1233363">
            <a:off x="9190329" y="4102100"/>
            <a:ext cx="1736142" cy="25400"/>
          </a:xfrm>
          <a:prstGeom prst="rect">
            <a:avLst/>
          </a:prstGeom>
          <a:solidFill>
            <a:srgbClr val="E6D9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4" name="node"/>
          <p:cNvSpPr/>
          <p:nvPr/>
        </p:nvSpPr>
        <p:spPr>
          <a:xfrm>
            <a:off x="7454900" y="3111500"/>
            <a:ext cx="330200" cy="330200"/>
          </a:xfrm>
          <a:prstGeom prst="ellipse">
            <a:avLst/>
          </a:prstGeom>
          <a:solidFill>
            <a:srgbClr val="00A7B5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5" name="node"/>
          <p:cNvSpPr/>
          <p:nvPr/>
        </p:nvSpPr>
        <p:spPr>
          <a:xfrm>
            <a:off x="7454900" y="4254500"/>
            <a:ext cx="330200" cy="330200"/>
          </a:xfrm>
          <a:prstGeom prst="ellipse">
            <a:avLst/>
          </a:prstGeom>
          <a:solidFill>
            <a:srgbClr val="00A7B5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6" name="node"/>
          <p:cNvSpPr/>
          <p:nvPr/>
        </p:nvSpPr>
        <p:spPr>
          <a:xfrm>
            <a:off x="9055100" y="3619500"/>
            <a:ext cx="381000" cy="381000"/>
          </a:xfrm>
          <a:prstGeom prst="ellipse">
            <a:avLst/>
          </a:prstGeom>
          <a:solidFill>
            <a:srgbClr val="4B2E83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7" name="node"/>
          <p:cNvSpPr/>
          <p:nvPr/>
        </p:nvSpPr>
        <p:spPr>
          <a:xfrm>
            <a:off x="10706100" y="3111500"/>
            <a:ext cx="330200" cy="330200"/>
          </a:xfrm>
          <a:prstGeom prst="ellipse">
            <a:avLst/>
          </a:prstGeom>
          <a:solidFill>
            <a:srgbClr val="85754D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8" name="node"/>
          <p:cNvSpPr/>
          <p:nvPr/>
        </p:nvSpPr>
        <p:spPr>
          <a:xfrm>
            <a:off x="10706100" y="4254500"/>
            <a:ext cx="330200" cy="330200"/>
          </a:xfrm>
          <a:prstGeom prst="ellipse">
            <a:avLst/>
          </a:prstGeom>
          <a:solidFill>
            <a:srgbClr val="85754D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Lx"/>
          <p:cNvSpPr txBox="1"/>
          <p:nvPr/>
        </p:nvSpPr>
        <p:spPr>
          <a:xfrm>
            <a:off x="7315200" y="47244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250" b="1" dirty="0">
                <a:solidFill>
                  <a:srgbClr val="00A7B5"/>
                </a:solidFill>
              </a:rPr>
              <a:t>x</a:t>
            </a:r>
          </a:p>
        </p:txBody>
      </p:sp>
      <p:sp>
        <p:nvSpPr>
          <p:cNvPr id="61" name="Lz"/>
          <p:cNvSpPr txBox="1"/>
          <p:nvPr/>
        </p:nvSpPr>
        <p:spPr>
          <a:xfrm>
            <a:off x="8966200" y="4191000"/>
            <a:ext cx="55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250" b="1" dirty="0">
                <a:solidFill>
                  <a:srgbClr val="4B2E83"/>
                </a:solidFill>
              </a:rPr>
              <a:t>z</a:t>
            </a:r>
          </a:p>
        </p:txBody>
      </p:sp>
      <p:sp>
        <p:nvSpPr>
          <p:cNvPr id="62" name="Lxh"/>
          <p:cNvSpPr txBox="1"/>
          <p:nvPr/>
        </p:nvSpPr>
        <p:spPr>
          <a:xfrm>
            <a:off x="10566400" y="47244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250" b="1" dirty="0">
                <a:solidFill>
                  <a:srgbClr val="85754D"/>
                </a:solidFill>
              </a:rPr>
              <a:t>x̂</a:t>
            </a:r>
          </a:p>
        </p:txBody>
      </p:sp>
      <p:sp>
        <p:nvSpPr>
          <p:cNvPr id="63" name="Lenc"/>
          <p:cNvSpPr txBox="1"/>
          <p:nvPr/>
        </p:nvSpPr>
        <p:spPr>
          <a:xfrm>
            <a:off x="7772400" y="28194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0000" lnSpcReduction="20000"/>
          </a:bodyPr>
          <a:lstStyle/>
          <a:p>
            <a:pPr algn="ctr"/>
            <a:r>
              <a:rPr lang="en-US" sz="1150" b="1" dirty="0">
                <a:solidFill>
                  <a:srgbClr val="888888"/>
                </a:solidFill>
              </a:rPr>
              <a:t>W</a:t>
            </a:r>
          </a:p>
        </p:txBody>
      </p:sp>
      <p:sp>
        <p:nvSpPr>
          <p:cNvPr id="64" name="Ldec"/>
          <p:cNvSpPr txBox="1"/>
          <p:nvPr/>
        </p:nvSpPr>
        <p:spPr>
          <a:xfrm>
            <a:off x="9728200" y="28194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0000" lnSpcReduction="20000"/>
          </a:bodyPr>
          <a:lstStyle/>
          <a:p>
            <a:pPr algn="ctr"/>
            <a:r>
              <a:rPr lang="en-US" sz="1150" b="1" dirty="0">
                <a:solidFill>
                  <a:srgbClr val="888888"/>
                </a:solidFill>
              </a:rPr>
              <a:t>W′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forward pass compresses x to a single number z, then expands it back to x̂ = (0.4, 0.4).</a:t>
            </a:r>
          </a:p>
        </p:txBody>
      </p:sp>
    </p:spTree>
    <p:extLst>
      <p:ext uri="{BB962C8B-B14F-4D97-AF65-F5344CB8AC3E}">
        <p14:creationId xmlns:p14="http://schemas.microsoft.com/office/powerpoint/2010/main" val="63765912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Reconstruction Loss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Squared error between reconstruction and input: L = ‖x̂ − x‖².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Error vector and loss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616200"/>
                <a:ext cx="6096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𝑒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̂ − </m:t>
                      </m:r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−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𝟔</m:t>
                                </m:r>
                              </m:e>
                            </m:mr>
                            <m:mr>
                              <m:e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𝟔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𝐿</m:t>
                      </m:r>
                      <m:r>
                        <a:rPr sz="2025">
                          <a:latin typeface="Cambria Math"/>
                        </a:rPr>
                        <m:t>=‖</m:t>
                      </m:r>
                      <m:r>
                        <a:rPr sz="2025">
                          <a:latin typeface="Cambria Math"/>
                        </a:rPr>
                        <m:t>𝑒</m:t>
                      </m:r>
                      <m:r>
                        <a:rPr sz="2025">
                          <a:latin typeface="Cambria Math"/>
                        </a:rPr>
                        <m:t>‖²=(−0.6)² + (−0.6)²=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0.72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15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How far off?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Both outputs undershoot by 0.6.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Squaring and summing gives the loss:</a:t>
            </a:r>
          </a:p>
          <a:p>
            <a:pPr algn="l">
              <a:spcBef>
                <a:spcPts val="120"/>
              </a:spcBef>
            </a:pPr>
            <a:r>
              <a:rPr lang="en-US" sz="1300" b="1" dirty="0">
                <a:solidFill>
                  <a:srgbClr val="333333"/>
                </a:solidFill>
              </a:rPr>
              <a:t>L = 0.36 + 0.36 = 0.72.</a:t>
            </a:r>
          </a:p>
          <a:p>
            <a:pPr algn="l">
              <a:spcBef>
                <a:spcPts val="160"/>
              </a:spcBef>
            </a:pPr>
            <a:r>
              <a:rPr lang="en-US" sz="1250" i="1" dirty="0">
                <a:solidFill>
                  <a:srgbClr val="4B2E83"/>
                </a:solidFill>
              </a:rPr>
              <a:t>Gradient descent will push x̂ toward x, shrinking L.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reconstruction loss L = ‖x̂ − x‖² = 0.72 measures how badly the AE reproduces this input.</a:t>
            </a:r>
          </a:p>
        </p:txBody>
      </p:sp>
    </p:spTree>
    <p:extLst>
      <p:ext uri="{BB962C8B-B14F-4D97-AF65-F5344CB8AC3E}">
        <p14:creationId xmlns:p14="http://schemas.microsoft.com/office/powerpoint/2010/main" val="184870615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3 — Gradient of the Loss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Differentiate L = ‖W′z − x‖² with respect to the decoder weights W′.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Decoder gradient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40000"/>
                <a:ext cx="609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025">
                              <a:latin typeface="Cambria Math"/>
                            </a:rPr>
                            <m:t>𝜕</m:t>
                          </m:r>
                          <m:r>
                            <a:rPr sz="2025">
                              <a:latin typeface="Cambria Math"/>
                            </a:rPr>
                            <m:t>𝐿</m:t>
                          </m:r>
                        </m:num>
                        <m:den>
                          <m:r>
                            <a:rPr sz="2025">
                              <a:latin typeface="Cambria Math"/>
                            </a:rPr>
                            <m:t>𝜕</m:t>
                          </m:r>
                          <m:r>
                            <a:rPr sz="2025">
                              <a:latin typeface="Cambria Math"/>
                            </a:rPr>
                            <m:t>𝑊</m:t>
                          </m:r>
                          <m:r>
                            <a:rPr sz="2025">
                              <a:latin typeface="Cambria Math"/>
                            </a:rPr>
                            <m:t>′</m:t>
                          </m:r>
                        </m:den>
                      </m:f>
                      <m:r>
                        <a:rPr sz="2025">
                          <a:latin typeface="Cambria Math"/>
                        </a:rPr>
                        <m:t>=2 </m:t>
                      </m:r>
                      <m:r>
                        <a:rPr sz="2025">
                          <a:latin typeface="Cambria Math"/>
                        </a:rPr>
                        <m:t>𝑒</m:t>
                      </m:r>
                      <m:r>
                        <a:rPr sz="2025">
                          <a:latin typeface="Cambria Math"/>
                        </a:rPr>
                        <m:t> </m:t>
                      </m:r>
                      <m:r>
                        <a:rPr sz="2025">
                          <a:latin typeface="Cambria Math"/>
                        </a:rPr>
                        <m:t>𝑧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=2 · 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𝟔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𝟔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 · 1.0=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Chain rule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L = ‖W′z − x‖²,  so</a:t>
            </a:r>
          </a:p>
          <a:p>
            <a:pPr algn="l">
              <a:spcBef>
                <a:spcPts val="120"/>
              </a:spcBef>
            </a:pPr>
            <a:r>
              <a:rPr lang="en-US" sz="1300" b="1" dirty="0">
                <a:solidFill>
                  <a:srgbClr val="333333"/>
                </a:solidFill>
              </a:rPr>
              <a:t>∂L/∂W′ = 2(x̂ − x)·z = 2 e z.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With e = (−0.6, −0.6) and z = 1:</a:t>
            </a:r>
          </a:p>
          <a:p>
            <a:pPr algn="l">
              <a:spcBef>
                <a:spcPts val="100"/>
              </a:spcBef>
            </a:pPr>
            <a:r>
              <a:rPr lang="en-US" sz="1300" b="1" dirty="0">
                <a:solidFill>
                  <a:srgbClr val="333333"/>
                </a:solidFill>
              </a:rPr>
              <a:t>gradient = (−1.2, −1.2).</a:t>
            </a:r>
          </a:p>
          <a:p>
            <a:pPr algn="l">
              <a:spcBef>
                <a:spcPts val="120"/>
              </a:spcBef>
            </a:pPr>
            <a:r>
              <a:rPr lang="en-US" sz="1250" i="1" dirty="0">
                <a:solidFill>
                  <a:srgbClr val="4B2E83"/>
                </a:solidFill>
              </a:rPr>
              <a:t>Negative gradient → step increases W′.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gradient ∂L/∂W′ = 2ez = (−1.2, −1.2) points in the direction that most increases the loss.</a:t>
            </a:r>
          </a:p>
        </p:txBody>
      </p:sp>
    </p:spTree>
    <p:extLst>
      <p:ext uri="{BB962C8B-B14F-4D97-AF65-F5344CB8AC3E}">
        <p14:creationId xmlns:p14="http://schemas.microsoft.com/office/powerpoint/2010/main" val="358549804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200" b="1" dirty="0">
                <a:solidFill>
                  <a:srgbClr val="4B2E83"/>
                </a:solidFill>
              </a:rPr>
              <a:t>Step 4 — Gradient-Descent Update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Step the weights downhill: W′ ← W′ − η · ∂L/∂W′, with learning rate η = 0.1.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One SGD step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40000"/>
                <a:ext cx="609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′←</m:t>
                      </m:r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′ − </m:t>
                      </m:r>
                      <m:r>
                        <a:rPr sz="2025">
                          <a:latin typeface="Cambria Math"/>
                        </a:rPr>
                        <m:t>𝜂</m:t>
                      </m:r>
                      <m:r>
                        <a:rPr sz="2025">
                          <a:latin typeface="Cambria Math"/>
                        </a:rPr>
                        <m:t> ·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 = 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−0.1·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𝟓𝟐</m:t>
                                </m:r>
                              </m:e>
                            </m:mr>
                            <m:mr>
                              <m:e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𝟓𝟐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Walking downhill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Subtract η times the gradient from each weight.</a:t>
            </a:r>
          </a:p>
          <a:p>
            <a:pPr algn="l">
              <a:spcBef>
                <a:spcPts val="150"/>
              </a:spcBef>
            </a:pPr>
            <a:r>
              <a:rPr lang="en-US" sz="1300" b="1" dirty="0">
                <a:solidFill>
                  <a:srgbClr val="333333"/>
                </a:solidFill>
              </a:rPr>
              <a:t>0.4 − 0.1·(−1.2) = 0.4 + 0.12 = 0.52.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333333"/>
                </a:solidFill>
              </a:rPr>
              <a:t>Both decoder weights rise from 0.4 to 0.52.</a:t>
            </a:r>
          </a:p>
          <a:p>
            <a:pPr algn="l">
              <a:spcBef>
                <a:spcPts val="150"/>
              </a:spcBef>
            </a:pPr>
            <a:r>
              <a:rPr lang="en-US" sz="1250" i="1" dirty="0">
                <a:solidFill>
                  <a:srgbClr val="4B2E83"/>
                </a:solidFill>
              </a:rPr>
              <a:t>They move toward 0.5 — the perfect-reconstruction value.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One gradient step nudges W′ from 0.4 to 0.52 — downhill on the loss surface.</a:t>
            </a:r>
          </a:p>
        </p:txBody>
      </p:sp>
    </p:spTree>
    <p:extLst>
      <p:ext uri="{BB962C8B-B14F-4D97-AF65-F5344CB8AC3E}">
        <p14:creationId xmlns:p14="http://schemas.microsoft.com/office/powerpoint/2010/main" val="68333022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5 — Loss After the Step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Recompute with the updated decoder: the loss falls from 0.72 to 0.461.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Recompute the loss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40000"/>
                <a:ext cx="6096000" cy="254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̂=</m:t>
                      </m:r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′</m:t>
                      </m:r>
                      <m:r>
                        <a:rPr sz="2025">
                          <a:latin typeface="Cambria Math"/>
                        </a:rPr>
                        <m:t>𝑧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𝟓𝟐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𝟓𝟐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𝑒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𝟒𝟖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𝟒𝟖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𝐿</m:t>
                      </m:r>
                      <m:r>
                        <a:rPr sz="2025">
                          <a:latin typeface="Cambria Math"/>
                        </a:rPr>
                        <m:t>=2·(0.48)²=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0.461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54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Loss: before → after</a:t>
            </a:r>
          </a:p>
        </p:txBody>
      </p:sp>
      <p:sp>
        <p:nvSpPr>
          <p:cNvPr id="40" name="Base"/>
          <p:cNvSpPr/>
          <p:nvPr/>
        </p:nvSpPr>
        <p:spPr>
          <a:xfrm>
            <a:off x="7620000" y="5080000"/>
            <a:ext cx="3302000" cy="381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BarBefore"/>
          <p:cNvSpPr/>
          <p:nvPr/>
        </p:nvSpPr>
        <p:spPr>
          <a:xfrm>
            <a:off x="7937500" y="2819400"/>
            <a:ext cx="838200" cy="226060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BarAfter"/>
          <p:cNvSpPr/>
          <p:nvPr/>
        </p:nvSpPr>
        <p:spPr>
          <a:xfrm>
            <a:off x="9715500" y="3632200"/>
            <a:ext cx="838200" cy="14478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VB"/>
          <p:cNvSpPr txBox="1"/>
          <p:nvPr/>
        </p:nvSpPr>
        <p:spPr>
          <a:xfrm>
            <a:off x="7810500" y="2514600"/>
            <a:ext cx="10922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300" b="1" dirty="0">
                <a:solidFill>
                  <a:srgbClr val="D1578A"/>
                </a:solidFill>
              </a:rPr>
              <a:t>0.72</a:t>
            </a:r>
          </a:p>
        </p:txBody>
      </p:sp>
      <p:sp>
        <p:nvSpPr>
          <p:cNvPr id="44" name="VA"/>
          <p:cNvSpPr txBox="1"/>
          <p:nvPr/>
        </p:nvSpPr>
        <p:spPr>
          <a:xfrm>
            <a:off x="9588500" y="3327400"/>
            <a:ext cx="10922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300" b="1" dirty="0">
                <a:solidFill>
                  <a:srgbClr val="5C8A2E"/>
                </a:solidFill>
              </a:rPr>
              <a:t>0.461</a:t>
            </a:r>
          </a:p>
        </p:txBody>
      </p:sp>
      <p:sp>
        <p:nvSpPr>
          <p:cNvPr id="45" name="LB"/>
          <p:cNvSpPr txBox="1"/>
          <p:nvPr/>
        </p:nvSpPr>
        <p:spPr>
          <a:xfrm>
            <a:off x="7810500" y="5156200"/>
            <a:ext cx="1092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200" dirty="0">
                <a:solidFill>
                  <a:srgbClr val="666666"/>
                </a:solidFill>
              </a:rPr>
              <a:t>before</a:t>
            </a:r>
          </a:p>
        </p:txBody>
      </p:sp>
      <p:sp>
        <p:nvSpPr>
          <p:cNvPr id="46" name="LA"/>
          <p:cNvSpPr txBox="1"/>
          <p:nvPr/>
        </p:nvSpPr>
        <p:spPr>
          <a:xfrm>
            <a:off x="9588500" y="5156200"/>
            <a:ext cx="1092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200" dirty="0">
                <a:solidFill>
                  <a:srgbClr val="666666"/>
                </a:solidFill>
              </a:rPr>
              <a:t>after</a:t>
            </a:r>
          </a:p>
        </p:txBody>
      </p:sp>
      <p:sp>
        <p:nvSpPr>
          <p:cNvPr id="47" name="Arrow"/>
          <p:cNvSpPr/>
          <p:nvPr/>
        </p:nvSpPr>
        <p:spPr>
          <a:xfrm>
            <a:off x="8890000" y="3810000"/>
            <a:ext cx="762000" cy="431800"/>
          </a:xfrm>
          <a:prstGeom prst="rightArrow">
            <a:avLst/>
          </a:prstGeom>
          <a:solidFill>
            <a:srgbClr val="8575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One SGD step cut the loss by ~36%. Repeating drives W′ → (0.5, 0.5) and L → 0.</a:t>
            </a:r>
          </a:p>
        </p:txBody>
      </p:sp>
    </p:spTree>
    <p:extLst>
      <p:ext uri="{BB962C8B-B14F-4D97-AF65-F5344CB8AC3E}">
        <p14:creationId xmlns:p14="http://schemas.microsoft.com/office/powerpoint/2010/main" val="28731490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1A1D37-2AD2-7B41-B639-E8CBC0F49F8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0DC5D6-59F9-894F-95BE-B0B0162A52C1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Worked Example 3 — Linear AE vs PCA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A51FEB5-2903-6348-87B3-2FF491F25785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AE · Example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AE194B-15BC-AC42-B27C-5B0ABDF9742A}"/>
              </a:ext>
            </a:extLst>
          </p:cNvPr>
          <p:cNvSpPr txBox="1"/>
          <p:nvPr/>
        </p:nvSpPr>
        <p:spPr>
          <a:xfrm>
            <a:off x="762000" y="1473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Confirm the theorem numerically: a 1-unit linear AE achieves the same reconstruction error as PCA's first component.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B813E2-008C-6343-AE4C-0DBD6D010F61}"/>
              </a:ext>
            </a:extLst>
          </p:cNvPr>
          <p:cNvSpPr txBox="1"/>
          <p:nvPr/>
        </p:nvSpPr>
        <p:spPr>
          <a:xfrm>
            <a:off x="762000" y="18796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Data (centered) &amp; PCA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DD0E3E5-7E0A-0446-B0E1-3625604B64A9}"/>
              </a:ext>
            </a:extLst>
          </p:cNvPr>
          <p:cNvSpPr/>
          <p:nvPr/>
        </p:nvSpPr>
        <p:spPr>
          <a:xfrm>
            <a:off x="762000" y="2184400"/>
            <a:ext cx="5334000" cy="2159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C8C8AC-79E1-4346-A5F7-28A06F04C831}"/>
              </a:ext>
            </a:extLst>
          </p:cNvPr>
          <p:cNvSpPr txBox="1"/>
          <p:nvPr/>
        </p:nvSpPr>
        <p:spPr>
          <a:xfrm>
            <a:off x="939800" y="2311400"/>
            <a:ext cx="4978400" cy="195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X꜀ rows: (2,2), (−2,−2), (1,1), (−1,−1)
All points lie on the line y = x.
S = (1/3)X꜀ᵀX꜀ = [3.33  3.33 ; 3.33  3.33]
Eigvals: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λ₁ = 6.67, λ₂ = 0.
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v₁ = (1/√2)(1,1). PCA(k=1) error =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λ₂ = 0.</a:t>
            </a:r>
            <a:endParaRPr lang="en-US" sz="1400">
              <a:solidFill>
                <a:srgbClr val="333333"/>
              </a:solidFill>
              <a:latin typeface="Cambria Math"/>
              <a:ea typeface="Cambria Math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ADFA6B-DD6F-7741-8A55-4F8A43F4F1EF}"/>
              </a:ext>
            </a:extLst>
          </p:cNvPr>
          <p:cNvSpPr txBox="1"/>
          <p:nvPr/>
        </p:nvSpPr>
        <p:spPr>
          <a:xfrm>
            <a:off x="6350000" y="18796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1-unit linear AE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6199BE3-ECED-264E-930F-8DFD79CB053A}"/>
              </a:ext>
            </a:extLst>
          </p:cNvPr>
          <p:cNvSpPr/>
          <p:nvPr/>
        </p:nvSpPr>
        <p:spPr>
          <a:xfrm>
            <a:off x="6350000" y="2184400"/>
            <a:ext cx="5080000" cy="2159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B5F9BC-1255-954A-8EAA-3254CD1519DD}"/>
              </a:ext>
            </a:extLst>
          </p:cNvPr>
          <p:cNvSpPr txBox="1"/>
          <p:nvPr/>
        </p:nvSpPr>
        <p:spPr>
          <a:xfrm>
            <a:off x="6527800" y="2311400"/>
            <a:ext cx="4724400" cy="195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Optimal W (1×2) spans v₁: e.g. W = (a,a).
z = W x,  x̂ = Wᵀz reconstructs onto y = x.
Since every point IS on y = x, x̂ = x exactly.
AE reconstruction error = 0 = PCA error. ✓
Subspace recovered = span{(1,1)} = PCA's.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ECA9B7-5987-4D40-B39D-9A52848208B4}"/>
              </a:ext>
            </a:extLst>
          </p:cNvPr>
          <p:cNvSpPr txBox="1"/>
          <p:nvPr/>
        </p:nvSpPr>
        <p:spPr>
          <a:xfrm>
            <a:off x="762000" y="45212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Takeaways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8000C2A-4249-624A-B24A-8425278AC7C8}"/>
              </a:ext>
            </a:extLst>
          </p:cNvPr>
          <p:cNvSpPr/>
          <p:nvPr/>
        </p:nvSpPr>
        <p:spPr>
          <a:xfrm>
            <a:off x="762000" y="4826000"/>
            <a:ext cx="10668000" cy="1244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A3941B-081D-9C44-B0F4-1CE17439FDBD}"/>
              </a:ext>
            </a:extLst>
          </p:cNvPr>
          <p:cNvSpPr txBox="1"/>
          <p:nvPr/>
        </p:nvSpPr>
        <p:spPr>
          <a:xfrm>
            <a:off x="939800" y="4953000"/>
            <a:ext cx="10312400" cy="1041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• The linear AE and PCA reach identical reconstruction error — they find the same optimal subspace.
• But the AE's single weight vector need not equal v₁ exactly (any scaling/sign along (1,1) is optimal).
• Replace identity with tanh and the AE could fit curved data where PCA's straight line would leave error &gt; 0.</a:t>
            </a:r>
          </a:p>
        </p:txBody>
      </p:sp>
    </p:spTree>
    <p:extLst>
      <p:ext uri="{BB962C8B-B14F-4D97-AF65-F5344CB8AC3E}">
        <p14:creationId xmlns:p14="http://schemas.microsoft.com/office/powerpoint/2010/main" val="291072146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Data &amp; Covariance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Four centred points, all on the line y = x. Covariance S = (1/3)·XcᵀXc.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Centred data &amp; covariance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40000"/>
                <a:ext cx="6096000" cy="254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25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2025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𝑆</m:t>
                      </m:r>
                      <m:r>
                        <a:rPr sz="2025">
                          <a:latin typeface="Cambria Math"/>
                        </a:rPr>
                        <m:t>=⅓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25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sz="2025"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r>
                            <a:rPr sz="2025">
                              <a:latin typeface="Cambria Math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25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2025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𝟑𝟑</m:t>
                                </m:r>
                              </m:e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𝟑𝟑</m:t>
                                </m:r>
                              </m:e>
                            </m:mr>
                            <m:mr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𝟑𝟑</m:t>
                                </m:r>
                              </m:e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𝟑𝟑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54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MapHeader"/>
          <p:cNvSpPr txBox="1"/>
          <p:nvPr/>
        </p:nvSpPr>
        <p:spPr>
          <a:xfrm>
            <a:off x="6959600" y="1905000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Data lie on the line  y = x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All variation lies along one direction (y = x) — a one-dimensional structure PCA and a linear AE can both capture.</a:t>
            </a:r>
          </a:p>
        </p:txBody>
      </p:sp>
      <p:graphicFrame>
        <p:nvGraphicFramePr>
          <p:cNvPr id="60" name="AE PCA Map"/>
          <p:cNvGraphicFramePr/>
          <p:nvPr/>
        </p:nvGraphicFramePr>
        <p:xfrm>
          <a:off x="6959600" y="2286000"/>
          <a:ext cx="4495800" cy="340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7584278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Eigen-Decomposition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Diagonalize S: one direction carries all the variance, the other none.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Eigenvalues &amp; top axis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65400"/>
                <a:ext cx="6096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𝜆</m:t>
                      </m:r>
                      <m:r>
                        <a:rPr sz="2025">
                          <a:latin typeface="Cambria Math"/>
                        </a:rPr>
                        <m:t>₁=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6.67</m:t>
                      </m:r>
                      <m:r>
                        <a:rPr sz="2025">
                          <a:latin typeface="Cambria Math"/>
                        </a:rPr>
                        <m:t>,    </m:t>
                      </m:r>
                      <m:r>
                        <a:rPr sz="2025">
                          <a:latin typeface="Cambria Math"/>
                        </a:rPr>
                        <m:t>𝜆</m:t>
                      </m:r>
                      <m:r>
                        <a:rPr sz="2025">
                          <a:latin typeface="Cambria Math"/>
                        </a:rPr>
                        <m:t>₂=</m:t>
                      </m:r>
                      <m:r>
                        <a:rPr sz="2025" b="1">
                          <a:solidFill>
                            <a:srgbClr val="85754D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𝑣</m:t>
                      </m:r>
                      <m:r>
                        <a:rPr sz="2025">
                          <a:latin typeface="Cambria Math"/>
                        </a:rPr>
                        <m:t>₁=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025">
                              <a:latin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sz="2025">
                                  <a:latin typeface="Cambria Math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65400"/>
                <a:ext cx="6096000" cy="190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572000"/>
            <a:ext cx="5969000" cy="939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7AB648"/>
                </a:solidFill>
              </a:rPr>
              <a:t>PCA (k = 1) reconstruction error = λ₂ = 0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Variance per axis</a:t>
            </a:r>
          </a:p>
        </p:txBody>
      </p:sp>
      <p:sp>
        <p:nvSpPr>
          <p:cNvPr id="40" name="Base"/>
          <p:cNvSpPr/>
          <p:nvPr/>
        </p:nvSpPr>
        <p:spPr>
          <a:xfrm>
            <a:off x="7810500" y="5054600"/>
            <a:ext cx="3175000" cy="381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Bar1"/>
          <p:cNvSpPr/>
          <p:nvPr/>
        </p:nvSpPr>
        <p:spPr>
          <a:xfrm>
            <a:off x="8128000" y="3022600"/>
            <a:ext cx="838200" cy="20320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Bar2"/>
          <p:cNvSpPr/>
          <p:nvPr/>
        </p:nvSpPr>
        <p:spPr>
          <a:xfrm>
            <a:off x="9804400" y="4991100"/>
            <a:ext cx="838200" cy="63500"/>
          </a:xfrm>
          <a:prstGeom prst="rect">
            <a:avLst/>
          </a:prstGeom>
          <a:solidFill>
            <a:srgbClr val="8575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V1"/>
          <p:cNvSpPr txBox="1"/>
          <p:nvPr/>
        </p:nvSpPr>
        <p:spPr>
          <a:xfrm>
            <a:off x="7937500" y="2717800"/>
            <a:ext cx="12192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250" b="1" dirty="0">
                <a:solidFill>
                  <a:srgbClr val="4B2E83"/>
                </a:solidFill>
              </a:rPr>
              <a:t>λ₁ = 6.67</a:t>
            </a:r>
          </a:p>
        </p:txBody>
      </p:sp>
      <p:sp>
        <p:nvSpPr>
          <p:cNvPr id="44" name="V2"/>
          <p:cNvSpPr txBox="1"/>
          <p:nvPr/>
        </p:nvSpPr>
        <p:spPr>
          <a:xfrm>
            <a:off x="9613900" y="4648200"/>
            <a:ext cx="12192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250" b="1" dirty="0">
                <a:solidFill>
                  <a:srgbClr val="85754D"/>
                </a:solidFill>
              </a:rPr>
              <a:t>λ₂ = 0</a:t>
            </a:r>
          </a:p>
        </p:txBody>
      </p:sp>
      <p:sp>
        <p:nvSpPr>
          <p:cNvPr id="45" name="Cap"/>
          <p:cNvSpPr txBox="1"/>
          <p:nvPr/>
        </p:nvSpPr>
        <p:spPr>
          <a:xfrm>
            <a:off x="7112000" y="515620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00" i="1" dirty="0">
                <a:solidFill>
                  <a:srgbClr val="666666"/>
                </a:solidFill>
              </a:rPr>
              <a:t>rank-1: all variance on one direction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covariance is rank-1: a single principal component (along (1,1)) captures the data with zero error.</a:t>
            </a:r>
          </a:p>
        </p:txBody>
      </p:sp>
    </p:spTree>
    <p:extLst>
      <p:ext uri="{BB962C8B-B14F-4D97-AF65-F5344CB8AC3E}">
        <p14:creationId xmlns:p14="http://schemas.microsoft.com/office/powerpoint/2010/main" val="363228959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3 — The Linear AE Optimum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Optimal encoder W = (a, a) spans v₁; encode-then-decode projects onto the line y = x.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Project, then reconstruct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489200"/>
                <a:ext cx="6096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=(</m:t>
                      </m:r>
                      <m:r>
                        <a:rPr sz="2025">
                          <a:latin typeface="Cambria Math"/>
                        </a:rPr>
                        <m:t>𝑎</m:t>
                      </m:r>
                      <m:r>
                        <a:rPr sz="2025">
                          <a:latin typeface="Cambria Math"/>
                        </a:rPr>
                        <m:t>, </m:t>
                      </m:r>
                      <m:r>
                        <a:rPr sz="2025">
                          <a:latin typeface="Cambria Math"/>
                        </a:rPr>
                        <m:t>𝑎</m:t>
                      </m:r>
                      <m:r>
                        <a:rPr sz="2025">
                          <a:latin typeface="Cambria Math"/>
                        </a:rPr>
                        <m:t>)    </m:t>
                      </m:r>
                      <m:r>
                        <a:rPr sz="2025">
                          <a:latin typeface="Cambria Math"/>
                        </a:rPr>
                        <m:t>𝑠𝑝𝑎𝑛𝑠</m:t>
                      </m:r>
                      <m:r>
                        <a:rPr sz="2025">
                          <a:latin typeface="Cambria Math"/>
                        </a:rPr>
                        <m:t>    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𝑣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₁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̂=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𝑊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(</m:t>
                      </m:r>
                      <m:r>
                        <a:rPr sz="2025">
                          <a:latin typeface="Cambria Math"/>
                        </a:rPr>
                        <m:t>𝑊𝑥</m:t>
                      </m:r>
                      <m:r>
                        <a:rPr sz="2025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 = (2,2)  ⇒  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𝑥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̂ = (2,2) = 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215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724400"/>
            <a:ext cx="5969000" cy="787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i="1" dirty="0">
                <a:solidFill>
                  <a:srgbClr val="666666"/>
                </a:solidFill>
              </a:rPr>
              <a:t>every point lies on span(W) → reconstructed exactly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Same subspace as PCA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The optimal weight vector lies in the top-PC direction.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Encoding then decoding = projection onto span(W) = the line y = x.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Every data point is already on that line → x̂ = x.</a:t>
            </a:r>
          </a:p>
          <a:p>
            <a:pPr algn="l">
              <a:spcBef>
                <a:spcPts val="140"/>
              </a:spcBef>
            </a:pPr>
            <a:r>
              <a:rPr lang="en-US" sz="1300" b="1" dirty="0">
                <a:solidFill>
                  <a:srgbClr val="7AB648"/>
                </a:solidFill>
              </a:rPr>
              <a:t>AE error = 0 = PCA error.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A linear AE at its optimum spans the same subspace as PCA and achieves the identical reconstruction error.</a:t>
            </a:r>
          </a:p>
        </p:txBody>
      </p:sp>
    </p:spTree>
    <p:extLst>
      <p:ext uri="{BB962C8B-B14F-4D97-AF65-F5344CB8AC3E}">
        <p14:creationId xmlns:p14="http://schemas.microsoft.com/office/powerpoint/2010/main" val="345832040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100" b="1" dirty="0">
                <a:solidFill>
                  <a:srgbClr val="4B2E83"/>
                </a:solidFill>
              </a:rPr>
              <a:t>Step 4 — AE vs PCA: Beyond the Tie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Same subspace and error — but AE weights aren't unique, and nonlinear AEs go further.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Two caveats</a:t>
            </a:r>
          </a:p>
        </p:txBody>
      </p:sp>
      <p:sp>
        <p:nvSpPr>
          <p:cNvPr id="13" name="LB"/>
          <p:cNvSpPr txBox="1"/>
          <p:nvPr/>
        </p:nvSpPr>
        <p:spPr>
          <a:xfrm>
            <a:off x="965200" y="2489200"/>
            <a:ext cx="5562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1.  Weights aren't unique</a:t>
            </a:r>
          </a:p>
          <a:p>
            <a:pPr algn="l">
              <a:spcBef>
                <a:spcPts val="50"/>
              </a:spcBef>
            </a:pPr>
            <a:r>
              <a:rPr lang="en-US" sz="1300" dirty="0">
                <a:solidFill>
                  <a:srgbClr val="333333"/>
                </a:solidFill>
              </a:rPr>
              <a:t>AE: W = (a, a) for any a ≠ 0 (scale &amp; sign free). PCA fixes v₁ = (1/√2)(1,1).</a:t>
            </a:r>
          </a:p>
          <a:p>
            <a:pPr algn="l">
              <a:spcBef>
                <a:spcPts val="50"/>
              </a:spcBef>
            </a:pPr>
            <a:r>
              <a:rPr lang="en-US" sz="1250" i="1" dirty="0">
                <a:solidFill>
                  <a:srgbClr val="666666"/>
                </a:solidFill>
              </a:rPr>
              <a:t>Same subspace — different vectors.</a:t>
            </a:r>
          </a:p>
          <a:p>
            <a:pPr algn="l">
              <a:spcBef>
                <a:spcPts val="170"/>
              </a:spcBef>
            </a:pPr>
            <a:r>
              <a:rPr lang="en-US" sz="1400" b="1" dirty="0">
                <a:solidFill>
                  <a:srgbClr val="4B2E83"/>
                </a:solidFill>
              </a:rPr>
              <a:t>2.  Go nonlinear</a:t>
            </a:r>
          </a:p>
          <a:p>
            <a:pPr algn="l">
              <a:spcBef>
                <a:spcPts val="50"/>
              </a:spcBef>
            </a:pPr>
            <a:r>
              <a:rPr lang="en-US" sz="1300" dirty="0">
                <a:solidFill>
                  <a:srgbClr val="333333"/>
                </a:solidFill>
              </a:rPr>
              <a:t>Replace identity with tanh and the AE bends to fit curved data that PCA's flat subspace cannot.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Linear can't curve</a:t>
            </a:r>
          </a:p>
        </p:txBody>
      </p:sp>
      <p:sp>
        <p:nvSpPr>
          <p:cNvPr id="65" name="PCAline"/>
          <p:cNvSpPr/>
          <p:nvPr/>
        </p:nvSpPr>
        <p:spPr>
          <a:xfrm>
            <a:off x="7569200" y="3810000"/>
            <a:ext cx="2844800" cy="38100"/>
          </a:xfrm>
          <a:prstGeom prst="rect">
            <a:avLst/>
          </a:prstGeom>
          <a:solidFill>
            <a:srgbClr val="B7A5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dot"/>
          <p:cNvSpPr/>
          <p:nvPr/>
        </p:nvSpPr>
        <p:spPr>
          <a:xfrm>
            <a:off x="7537450" y="3371850"/>
            <a:ext cx="165100" cy="1651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7" name="dot"/>
          <p:cNvSpPr/>
          <p:nvPr/>
        </p:nvSpPr>
        <p:spPr>
          <a:xfrm>
            <a:off x="8070850" y="3752850"/>
            <a:ext cx="165100" cy="1651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8" name="dot"/>
          <p:cNvSpPr/>
          <p:nvPr/>
        </p:nvSpPr>
        <p:spPr>
          <a:xfrm>
            <a:off x="8629650" y="3956050"/>
            <a:ext cx="165100" cy="1651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9" name="dot"/>
          <p:cNvSpPr/>
          <p:nvPr/>
        </p:nvSpPr>
        <p:spPr>
          <a:xfrm>
            <a:off x="9188450" y="3956050"/>
            <a:ext cx="165100" cy="1651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" name="dot"/>
          <p:cNvSpPr/>
          <p:nvPr/>
        </p:nvSpPr>
        <p:spPr>
          <a:xfrm>
            <a:off x="9747250" y="3752850"/>
            <a:ext cx="165100" cy="1651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" name="dot"/>
          <p:cNvSpPr/>
          <p:nvPr/>
        </p:nvSpPr>
        <p:spPr>
          <a:xfrm>
            <a:off x="10280650" y="3371850"/>
            <a:ext cx="165100" cy="1651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2" name="Cap"/>
          <p:cNvSpPr txBox="1"/>
          <p:nvPr/>
        </p:nvSpPr>
        <p:spPr>
          <a:xfrm>
            <a:off x="7112000" y="4292600"/>
            <a:ext cx="419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200" i="1" dirty="0">
                <a:solidFill>
                  <a:srgbClr val="666666"/>
                </a:solidFill>
              </a:rPr>
              <a:t>curved data on a 1-D manifold</a:t>
            </a:r>
          </a:p>
        </p:txBody>
      </p:sp>
      <p:sp>
        <p:nvSpPr>
          <p:cNvPr id="73" name="Lg1"/>
          <p:cNvSpPr txBox="1"/>
          <p:nvPr/>
        </p:nvSpPr>
        <p:spPr>
          <a:xfrm>
            <a:off x="7620000" y="46482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200" b="1" dirty="0">
                <a:solidFill>
                  <a:srgbClr val="85754D"/>
                </a:solidFill>
              </a:rPr>
              <a:t>▬  PCA (flat) — leaves error</a:t>
            </a:r>
          </a:p>
        </p:txBody>
      </p:sp>
      <p:sp>
        <p:nvSpPr>
          <p:cNvPr id="74" name="Lg2"/>
          <p:cNvSpPr txBox="1"/>
          <p:nvPr/>
        </p:nvSpPr>
        <p:spPr>
          <a:xfrm>
            <a:off x="7620000" y="49276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200" b="1" dirty="0">
                <a:solidFill>
                  <a:srgbClr val="00838D"/>
                </a:solidFill>
              </a:rPr>
              <a:t>▬  AE + tanh — follows the curve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A linear AE matches PCA; nonlinearity is what makes autoencoders strictly more powerful.</a:t>
            </a:r>
          </a:p>
        </p:txBody>
      </p:sp>
      <p:sp>
        <p:nvSpPr>
          <p:cNvPr id="60" name="seg"/>
          <p:cNvSpPr/>
          <p:nvPr/>
        </p:nvSpPr>
        <p:spPr>
          <a:xfrm rot="2132261">
            <a:off x="7558951" y="3606800"/>
            <a:ext cx="655497" cy="762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seg"/>
          <p:cNvSpPr/>
          <p:nvPr/>
        </p:nvSpPr>
        <p:spPr>
          <a:xfrm rot="1198986">
            <a:off x="8135501" y="3898900"/>
            <a:ext cx="594599" cy="762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seg"/>
          <p:cNvSpPr/>
          <p:nvPr/>
        </p:nvSpPr>
        <p:spPr>
          <a:xfrm>
            <a:off x="8712200" y="4000500"/>
            <a:ext cx="558800" cy="762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seg"/>
          <p:cNvSpPr/>
          <p:nvPr/>
        </p:nvSpPr>
        <p:spPr>
          <a:xfrm rot="20401014">
            <a:off x="9253101" y="3898900"/>
            <a:ext cx="594599" cy="762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seg"/>
          <p:cNvSpPr/>
          <p:nvPr/>
        </p:nvSpPr>
        <p:spPr>
          <a:xfrm rot="19467739">
            <a:off x="9768751" y="3606800"/>
            <a:ext cx="655497" cy="762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789536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0CF89E-034E-F344-A9E0-3D6C096352A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F26B1A-94E2-1949-B081-80A8778ED853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Exercise 1 — Forward Pass &amp; Loss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30A21FA-077E-124A-9E56-229635A510E2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AE · Exercise 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E61173B-1FD5-7F46-9CF5-6CC928E08A72}"/>
              </a:ext>
            </a:extLst>
          </p:cNvPr>
          <p:cNvSpPr/>
          <p:nvPr/>
        </p:nvSpPr>
        <p:spPr>
          <a:xfrm>
            <a:off x="762000" y="1473200"/>
            <a:ext cx="10668000" cy="1066800"/>
          </a:xfrm>
          <a:prstGeom prst="roundRect">
            <a:avLst/>
          </a:prstGeom>
          <a:solidFill>
            <a:srgbClr val="F7F4EE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83BD64-1595-264B-94D6-60A25C993868}"/>
              </a:ext>
            </a:extLst>
          </p:cNvPr>
          <p:cNvSpPr txBox="1"/>
          <p:nvPr/>
        </p:nvSpPr>
        <p:spPr>
          <a:xfrm>
            <a:off x="990600" y="15748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Problem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A47512-2A34-3346-80CD-5857F16C1709}"/>
              </a:ext>
            </a:extLst>
          </p:cNvPr>
          <p:cNvSpPr txBox="1"/>
          <p:nvPr/>
        </p:nvSpPr>
        <p:spPr>
          <a:xfrm>
            <a:off x="990600" y="1879600"/>
            <a:ext cx="102108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A 2→1→2 linear autoencoder has W = [0.6  0.8] (encoder, 1×2) and tied weights W′ = Wᵀ.
For input x = (1, 0)ᵀ, compute the code z, the reconstruction x̂, and the squared-error loss L = ‖x − x̂‖².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460B092-55CB-414E-8CD8-34613E4D3F89}"/>
              </a:ext>
            </a:extLst>
          </p:cNvPr>
          <p:cNvSpPr/>
          <p:nvPr/>
        </p:nvSpPr>
        <p:spPr>
          <a:xfrm>
            <a:off x="762000" y="2717800"/>
            <a:ext cx="10668000" cy="3352800"/>
          </a:xfrm>
          <a:prstGeom prst="roundRect">
            <a:avLst/>
          </a:prstGeom>
          <a:solidFill>
            <a:srgbClr val="F1F7EB"/>
          </a:solidFill>
          <a:ln w="15875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9CAA31-AD21-5141-855C-09557B57A7CC}"/>
              </a:ext>
            </a:extLst>
          </p:cNvPr>
          <p:cNvSpPr txBox="1"/>
          <p:nvPr/>
        </p:nvSpPr>
        <p:spPr>
          <a:xfrm>
            <a:off x="990600" y="28194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5A8A2E"/>
                </a:solidFill>
              </a:rPr>
              <a:t>Solution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696345-3266-4047-9018-E34580C6CB36}"/>
              </a:ext>
            </a:extLst>
          </p:cNvPr>
          <p:cNvSpPr txBox="1"/>
          <p:nvPr/>
        </p:nvSpPr>
        <p:spPr>
          <a:xfrm>
            <a:off x="990600" y="3124200"/>
            <a:ext cx="10210800" cy="284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Encode:  z = Wx = 0.6·1 + 0.8·0 = 0.6.
Decode:  x̂ = W′z = (0.6, 0.8)ᵀ · 0.6 = (0.36, 0.48)ᵀ.
Error:   e = x̂ − x = (0.36 − 1, 0.48 − 0) = (−0.64, 0.48).
Loss:    L = (−0.64)² + (0.48)² = 0.4096 + 0.2304 = 0.640.
Note: ‖W‖ = 1, so W projects onto the unit direction (0.6,0.8); x is only partly aligned with it, hence the error.</a:t>
            </a:r>
          </a:p>
        </p:txBody>
      </p:sp>
    </p:spTree>
    <p:extLst>
      <p:ext uri="{BB962C8B-B14F-4D97-AF65-F5344CB8AC3E}">
        <p14:creationId xmlns:p14="http://schemas.microsoft.com/office/powerpoint/2010/main" val="179516116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The Problem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A 2→1→2 tied linear AE: encoder W = [0.6, 0.8], decoder W′ = Wᵀ, input x = (1, 0). Find z, x̂, L.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Given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40000"/>
                <a:ext cx="6096000" cy="254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>
                                    <a:latin typeface="Cambria Math"/>
                                  </a:rPr>
                                  <m:t>𝟔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>
                                    <a:latin typeface="Cambria Math"/>
                                  </a:rPr>
                                  <m:t>𝟖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′=</m:t>
                      </m:r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ᵀ=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>
                                    <a:latin typeface="Cambria Math"/>
                                  </a:rPr>
                                  <m:t>𝟔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>
                                    <a:latin typeface="Cambria Math"/>
                                  </a:rPr>
                                  <m:t>𝟖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54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2 → 1 → 2 tied autoencoder</a:t>
            </a:r>
          </a:p>
        </p:txBody>
      </p:sp>
      <p:sp>
        <p:nvSpPr>
          <p:cNvPr id="200" name="edge"/>
          <p:cNvSpPr/>
          <p:nvPr/>
        </p:nvSpPr>
        <p:spPr>
          <a:xfrm rot="1162186">
            <a:off x="7571233" y="3514725"/>
            <a:ext cx="1723133" cy="1905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edge"/>
          <p:cNvSpPr/>
          <p:nvPr/>
        </p:nvSpPr>
        <p:spPr>
          <a:xfrm rot="-1162186">
            <a:off x="7571233" y="4086225"/>
            <a:ext cx="1723133" cy="1905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edge"/>
          <p:cNvSpPr/>
          <p:nvPr/>
        </p:nvSpPr>
        <p:spPr>
          <a:xfrm rot="-1162186">
            <a:off x="9196833" y="3514725"/>
            <a:ext cx="1723133" cy="19050"/>
          </a:xfrm>
          <a:prstGeom prst="rect">
            <a:avLst/>
          </a:prstGeom>
          <a:solidFill>
            <a:srgbClr val="E0D6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edge"/>
          <p:cNvSpPr/>
          <p:nvPr/>
        </p:nvSpPr>
        <p:spPr>
          <a:xfrm rot="1162186">
            <a:off x="9196833" y="4086225"/>
            <a:ext cx="1723133" cy="19050"/>
          </a:xfrm>
          <a:prstGeom prst="rect">
            <a:avLst/>
          </a:prstGeom>
          <a:solidFill>
            <a:srgbClr val="E0D6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node"/>
          <p:cNvSpPr/>
          <p:nvPr/>
        </p:nvSpPr>
        <p:spPr>
          <a:xfrm>
            <a:off x="7454900" y="3073400"/>
            <a:ext cx="330200" cy="330200"/>
          </a:xfrm>
          <a:prstGeom prst="ellipse">
            <a:avLst/>
          </a:prstGeom>
          <a:solidFill>
            <a:srgbClr val="00A7B5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5" name="node"/>
          <p:cNvSpPr/>
          <p:nvPr/>
        </p:nvSpPr>
        <p:spPr>
          <a:xfrm>
            <a:off x="7454900" y="4216400"/>
            <a:ext cx="330200" cy="330200"/>
          </a:xfrm>
          <a:prstGeom prst="ellipse">
            <a:avLst/>
          </a:prstGeom>
          <a:solidFill>
            <a:srgbClr val="00A7B5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6" name="node"/>
          <p:cNvSpPr/>
          <p:nvPr/>
        </p:nvSpPr>
        <p:spPr>
          <a:xfrm>
            <a:off x="9055100" y="3619500"/>
            <a:ext cx="381000" cy="381000"/>
          </a:xfrm>
          <a:prstGeom prst="ellipse">
            <a:avLst/>
          </a:prstGeom>
          <a:solidFill>
            <a:srgbClr val="4B2E83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7" name="node"/>
          <p:cNvSpPr/>
          <p:nvPr/>
        </p:nvSpPr>
        <p:spPr>
          <a:xfrm>
            <a:off x="10706100" y="3073400"/>
            <a:ext cx="330200" cy="330200"/>
          </a:xfrm>
          <a:prstGeom prst="ellipse">
            <a:avLst/>
          </a:prstGeom>
          <a:solidFill>
            <a:srgbClr val="85754D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8" name="node"/>
          <p:cNvSpPr/>
          <p:nvPr/>
        </p:nvSpPr>
        <p:spPr>
          <a:xfrm>
            <a:off x="10706100" y="4216400"/>
            <a:ext cx="330200" cy="330200"/>
          </a:xfrm>
          <a:prstGeom prst="ellipse">
            <a:avLst/>
          </a:prstGeom>
          <a:solidFill>
            <a:srgbClr val="85754D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9" name="Lx"/>
          <p:cNvSpPr txBox="1"/>
          <p:nvPr/>
        </p:nvSpPr>
        <p:spPr>
          <a:xfrm>
            <a:off x="7112000" y="47244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150" b="1" dirty="0">
                <a:solidFill>
                  <a:srgbClr val="00A7B5"/>
                </a:solidFill>
              </a:rPr>
              <a:t>x  (input)</a:t>
            </a:r>
          </a:p>
        </p:txBody>
      </p:sp>
      <p:sp>
        <p:nvSpPr>
          <p:cNvPr id="210" name="Lz"/>
          <p:cNvSpPr txBox="1"/>
          <p:nvPr/>
        </p:nvSpPr>
        <p:spPr>
          <a:xfrm>
            <a:off x="8826500" y="41910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150" b="1" dirty="0">
                <a:solidFill>
                  <a:srgbClr val="4B2E83"/>
                </a:solidFill>
              </a:rPr>
              <a:t>z</a:t>
            </a:r>
          </a:p>
        </p:txBody>
      </p:sp>
      <p:sp>
        <p:nvSpPr>
          <p:cNvPr id="211" name="Lo"/>
          <p:cNvSpPr txBox="1"/>
          <p:nvPr/>
        </p:nvSpPr>
        <p:spPr>
          <a:xfrm>
            <a:off x="10388600" y="47244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150" b="1" dirty="0">
                <a:solidFill>
                  <a:srgbClr val="85754D"/>
                </a:solidFill>
              </a:rPr>
              <a:t>x̂  (output)</a:t>
            </a:r>
          </a:p>
        </p:txBody>
      </p:sp>
      <p:sp>
        <p:nvSpPr>
          <p:cNvPr id="212" name="Lenc"/>
          <p:cNvSpPr txBox="1"/>
          <p:nvPr/>
        </p:nvSpPr>
        <p:spPr>
          <a:xfrm>
            <a:off x="7772400" y="28448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0000" lnSpcReduction="20000"/>
          </a:bodyPr>
          <a:lstStyle/>
          <a:p>
            <a:pPr algn="ctr"/>
            <a:r>
              <a:rPr lang="en-US" sz="1150" b="1" i="1" dirty="0">
                <a:solidFill>
                  <a:srgbClr val="7A6FA0"/>
                </a:solidFill>
              </a:rPr>
              <a:t>W</a:t>
            </a:r>
          </a:p>
        </p:txBody>
      </p:sp>
      <p:sp>
        <p:nvSpPr>
          <p:cNvPr id="213" name="Ldec"/>
          <p:cNvSpPr txBox="1"/>
          <p:nvPr/>
        </p:nvSpPr>
        <p:spPr>
          <a:xfrm>
            <a:off x="9804400" y="28448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0000" lnSpcReduction="20000"/>
          </a:bodyPr>
          <a:lstStyle/>
          <a:p>
            <a:pPr algn="ctr"/>
            <a:r>
              <a:rPr lang="en-US" sz="1150" b="1" i="1" dirty="0">
                <a:solidFill>
                  <a:srgbClr val="A8966A"/>
                </a:solidFill>
              </a:rPr>
              <a:t>Wᵀ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Tied weights mean the same vector both compresses (W) and reconstructs (Wᵀ).</a:t>
            </a:r>
          </a:p>
        </p:txBody>
      </p:sp>
    </p:spTree>
    <p:extLst>
      <p:ext uri="{BB962C8B-B14F-4D97-AF65-F5344CB8AC3E}">
        <p14:creationId xmlns:p14="http://schemas.microsoft.com/office/powerpoint/2010/main" val="14324051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Encode:  z = Wx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The code is a single dot product: z = Wx.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code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616200"/>
                <a:ext cx="6096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𝑧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r>
                        <a:rPr sz="2160">
                          <a:latin typeface="Cambria Math"/>
                        </a:rPr>
                        <m:t>𝑊𝑥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𝟔</m:t>
                                </m:r>
                              </m:e>
                              <m:e>
                                <m:r>
                                  <a:rPr sz="175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𝟖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 b="1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755" b="1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=0.6·1 + 0.8·0=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0.6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15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One dot product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z = ⟨W, x⟩, a scalar (the 1-D code).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333333"/>
                </a:solidFill>
              </a:rPr>
              <a:t>Only x₁ = 1 contributes; x₂ = 0 drops out.</a:t>
            </a:r>
          </a:p>
          <a:p>
            <a:pPr algn="l">
              <a:spcBef>
                <a:spcPts val="150"/>
              </a:spcBef>
            </a:pPr>
            <a:r>
              <a:rPr lang="en-US" sz="1300" b="1" dirty="0">
                <a:solidFill>
                  <a:srgbClr val="4B2E83"/>
                </a:solidFill>
              </a:rPr>
              <a:t>z = 0.6.</a:t>
            </a:r>
          </a:p>
          <a:p>
            <a:pPr algn="l">
              <a:spcBef>
                <a:spcPts val="150"/>
              </a:spcBef>
            </a:pPr>
            <a:r>
              <a:rPr lang="en-US" sz="1250" i="1" dirty="0">
                <a:solidFill>
                  <a:srgbClr val="4B2E83"/>
                </a:solidFill>
              </a:rPr>
              <a:t>The bottleneck squeezes 2 numbers into 1.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Encoding collapses the 2-D input to a single number z = 0.6 via the dot product Wx.</a:t>
            </a:r>
          </a:p>
        </p:txBody>
      </p:sp>
    </p:spTree>
    <p:extLst>
      <p:ext uri="{BB962C8B-B14F-4D97-AF65-F5344CB8AC3E}">
        <p14:creationId xmlns:p14="http://schemas.microsoft.com/office/powerpoint/2010/main" val="322745431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3 — Decode:  x̂ = W′z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Scale the tied decoder by the code: x̂ = W′z, with W′ = Wᵀ.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Reconstruct the input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616200"/>
                <a:ext cx="6096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𝑥</m:t>
                      </m:r>
                      <m:r>
                        <a:rPr sz="2160">
                          <a:latin typeface="Cambria Math"/>
                        </a:rPr>
                        <m:t>̂=</m:t>
                      </m:r>
                      <m:r>
                        <a:rPr sz="2160">
                          <a:latin typeface="Cambria Math"/>
                        </a:rPr>
                        <m:t>𝑊</m:t>
                      </m:r>
                      <m:r>
                        <a:rPr sz="2160">
                          <a:latin typeface="Cambria Math"/>
                        </a:rPr>
                        <m:t>′</m:t>
                      </m:r>
                      <m:r>
                        <a:rPr sz="2160">
                          <a:latin typeface="Cambria Math"/>
                        </a:rPr>
                        <m:t>𝑧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𝟔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𝟖</m:t>
                                </m:r>
                              </m:e>
                            </m:mr>
                          </m:m>
                        </m:e>
                      </m:d>
                      <m:r>
                        <a:rPr sz="2160">
                          <a:latin typeface="Cambria Math"/>
                        </a:rPr>
                        <m:t>·</m:t>
                      </m:r>
                      <m:r>
                        <a:rPr sz="2160" b="1">
                          <a:solidFill>
                            <a:srgbClr val="00A7B5"/>
                          </a:solidFill>
                          <a:latin typeface="Cambria Math"/>
                        </a:rPr>
                        <m:t>0.6</m:t>
                      </m:r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𝟑𝟔</m:t>
                                </m:r>
                              </m:e>
                            </m:m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𝟒𝟖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15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Back to 2-D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The decoder multiplies the scalar code by W′.</a:t>
            </a:r>
          </a:p>
          <a:p>
            <a:pPr algn="l">
              <a:spcBef>
                <a:spcPts val="150"/>
              </a:spcBef>
            </a:pPr>
            <a:r>
              <a:rPr lang="en-US" sz="1300" b="1" dirty="0">
                <a:solidFill>
                  <a:srgbClr val="333333"/>
                </a:solidFill>
              </a:rPr>
              <a:t>x̂ = 0.6·(0.6, 0.8) = (0.36, 0.48).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333333"/>
                </a:solidFill>
              </a:rPr>
              <a:t>x̂ lies along the weight direction (0.6, 0.8).</a:t>
            </a:r>
          </a:p>
          <a:p>
            <a:pPr algn="l">
              <a:spcBef>
                <a:spcPts val="150"/>
              </a:spcBef>
            </a:pPr>
            <a:r>
              <a:rPr lang="en-US" sz="1250" i="1" dirty="0">
                <a:solidFill>
                  <a:srgbClr val="4B2E83"/>
                </a:solidFill>
              </a:rPr>
              <a:t>It can only ever land on that line.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Decoding maps the code back to 2-D along the weight direction: x̂ = (0.36, 0.48).</a:t>
            </a:r>
          </a:p>
        </p:txBody>
      </p:sp>
    </p:spTree>
    <p:extLst>
      <p:ext uri="{BB962C8B-B14F-4D97-AF65-F5344CB8AC3E}">
        <p14:creationId xmlns:p14="http://schemas.microsoft.com/office/powerpoint/2010/main" val="108986092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4 — Error &amp; Loss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Compare x̂ to x and square the residual: L = ‖x̂ − x‖² = 0.640.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Residual and squared loss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65400"/>
                <a:ext cx="609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𝑒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̂ − </m:t>
                      </m:r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𝟑𝟔</m:t>
                                </m:r>
                              </m:e>
                            </m:mr>
                            <m:mr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𝟒𝟖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−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88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688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688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688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𝟔𝟒</m:t>
                                </m:r>
                              </m:e>
                            </m:mr>
                            <m:mr>
                              <m:e>
                                <m:r>
                                  <a:rPr sz="1688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688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688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𝟒𝟖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𝐿</m:t>
                      </m:r>
                      <m:r>
                        <a:rPr sz="2025">
                          <a:latin typeface="Cambria Math"/>
                        </a:rPr>
                        <m:t>=(−0.64)² + (0.48)²=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0.640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65400"/>
                <a:ext cx="6096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Why the error?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‖W‖ = 0.6² + 0.8² = 1, so W projects x onto the unit direction (0.6, 0.8).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x = (1, 0) is only partly aligned with it…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…so the orthogonal part becomes the error.</a:t>
            </a:r>
          </a:p>
          <a:p>
            <a:pPr algn="l">
              <a:spcBef>
                <a:spcPts val="140"/>
              </a:spcBef>
            </a:pPr>
            <a:r>
              <a:rPr lang="en-US" sz="1300" b="1" dirty="0">
                <a:solidFill>
                  <a:srgbClr val="D1578A"/>
                </a:solidFill>
              </a:rPr>
              <a:t>L = 0.640.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A 1-unit AE keeps only the projection onto its weight direction; the perpendicular part is lost as error (L = 0.640).</a:t>
            </a:r>
          </a:p>
        </p:txBody>
      </p:sp>
    </p:spTree>
    <p:extLst>
      <p:ext uri="{BB962C8B-B14F-4D97-AF65-F5344CB8AC3E}">
        <p14:creationId xmlns:p14="http://schemas.microsoft.com/office/powerpoint/2010/main" val="191241959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B43338-4A42-964D-B9EC-1E7D6EAAB038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066843-2279-C549-BB58-DD586B8AC01C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Exercise 2 — One Gradient Step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B4A47CB-25FC-604E-8CBC-1FF40988198A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AE · Exercise 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EDD86D9-4C32-AA49-B2E3-CFBD72AF1F97}"/>
              </a:ext>
            </a:extLst>
          </p:cNvPr>
          <p:cNvSpPr/>
          <p:nvPr/>
        </p:nvSpPr>
        <p:spPr>
          <a:xfrm>
            <a:off x="762000" y="1473200"/>
            <a:ext cx="10668000" cy="1219200"/>
          </a:xfrm>
          <a:prstGeom prst="roundRect">
            <a:avLst/>
          </a:prstGeom>
          <a:solidFill>
            <a:srgbClr val="F7F4EE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B84104-0A86-5540-B7DD-8CB77D49D7CB}"/>
              </a:ext>
            </a:extLst>
          </p:cNvPr>
          <p:cNvSpPr txBox="1"/>
          <p:nvPr/>
        </p:nvSpPr>
        <p:spPr>
          <a:xfrm>
            <a:off x="990600" y="15748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Problem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F02127-BA7F-7A40-B6C4-76DBC2697AD1}"/>
              </a:ext>
            </a:extLst>
          </p:cNvPr>
          <p:cNvSpPr txBox="1"/>
          <p:nvPr/>
        </p:nvSpPr>
        <p:spPr>
          <a:xfrm>
            <a:off x="990600" y="1879600"/>
            <a:ext cx="102108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Continue Exercise 1 (W′ = (0.6, 0.8)ᵀ, z = 0.6, e = x̂ − x = (−0.64, 0.48)).
Using loss L = ‖x − x̂‖² and learning rate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η = 0.5,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perform one gradient-descent update of the decoder W′
(treat z as fixed). Report W′_new.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09C6E1E-0B33-3B4D-B87B-F6E0F4F6B627}"/>
              </a:ext>
            </a:extLst>
          </p:cNvPr>
          <p:cNvSpPr/>
          <p:nvPr/>
        </p:nvSpPr>
        <p:spPr>
          <a:xfrm>
            <a:off x="762000" y="2870200"/>
            <a:ext cx="10668000" cy="3200400"/>
          </a:xfrm>
          <a:prstGeom prst="roundRect">
            <a:avLst/>
          </a:prstGeom>
          <a:solidFill>
            <a:srgbClr val="F1F7EB"/>
          </a:solidFill>
          <a:ln w="15875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2DDF33-9EE0-3D4D-B02F-73633DD3E017}"/>
              </a:ext>
            </a:extLst>
          </p:cNvPr>
          <p:cNvSpPr txBox="1"/>
          <p:nvPr/>
        </p:nvSpPr>
        <p:spPr>
          <a:xfrm>
            <a:off x="990600" y="29718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5A8A2E"/>
                </a:solidFill>
              </a:rPr>
              <a:t>Solution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9D2454-9AB5-B741-9572-8C1AE2423D1E}"/>
              </a:ext>
            </a:extLst>
          </p:cNvPr>
          <p:cNvSpPr txBox="1"/>
          <p:nvPr/>
        </p:nvSpPr>
        <p:spPr>
          <a:xfrm>
            <a:off x="990600" y="3276600"/>
            <a:ext cx="10210800" cy="2692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Gradient w.r.t. the decoder:  ∂L/∂W′ = 2 e z   (since x̂ = W′z, e = x̂ − x).
∂L/∂W′ = 2 · (−0.64, 0.48)ᵀ · 0.6 = (−0.768, 0.576)ᵀ.
Update:  W′_new = W′ −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η ∂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L/∂W′ = (0.6, 0.8) − 0.5·(−0.768, 0.576)
        = (0.6 + 0.384,  0.8 − 0.288) = (0.984, 0.512)ᵀ.
Check direction: the first component grew (push x̂₁ up toward x₁ = 1) and the second shrank (push x̂₂ down
toward x₂ = 0) — exactly the corrections the errors call for.</a:t>
            </a:r>
          </a:p>
        </p:txBody>
      </p:sp>
    </p:spTree>
    <p:extLst>
      <p:ext uri="{BB962C8B-B14F-4D97-AF65-F5344CB8AC3E}">
        <p14:creationId xmlns:p14="http://schemas.microsoft.com/office/powerpoint/2010/main" val="41833109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The Gradient Rule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Continue Exercise 1. One gradient step on the decoder W′, with learning rate η = 0.5.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Loss and its gradient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489200"/>
                <a:ext cx="6096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𝐿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160">
                              <a:latin typeface="Cambria Math"/>
                            </a:rPr>
                            <m:t>‖</m:t>
                          </m:r>
                          <m:r>
                            <a:rPr sz="2160">
                              <a:latin typeface="Cambria Math"/>
                            </a:rPr>
                            <m:t>𝑊</m:t>
                          </m:r>
                          <m:r>
                            <a:rPr sz="2160">
                              <a:latin typeface="Cambria Math"/>
                            </a:rPr>
                            <m:t>′</m:t>
                          </m:r>
                          <m:r>
                            <a:rPr sz="2160">
                              <a:latin typeface="Cambria Math"/>
                            </a:rPr>
                            <m:t>𝑧</m:t>
                          </m:r>
                          <m:r>
                            <a:rPr sz="2160">
                              <a:latin typeface="Cambria Math"/>
                            </a:rPr>
                            <m:t> − </m:t>
                          </m:r>
                          <m:r>
                            <a:rPr sz="2160">
                              <a:latin typeface="Cambria Math"/>
                            </a:rPr>
                            <m:t>𝑥</m:t>
                          </m:r>
                          <m:r>
                            <a:rPr sz="2160">
                              <a:latin typeface="Cambria Math"/>
                            </a:rPr>
                            <m:t>‖</m:t>
                          </m:r>
                        </m:e>
                        <m:sup>
                          <m:r>
                            <a:rPr sz="216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160">
                              <a:latin typeface="Cambria Math"/>
                            </a:rPr>
                            <m:t>𝜕</m:t>
                          </m:r>
                          <m:r>
                            <a:rPr sz="2160">
                              <a:latin typeface="Cambria Math"/>
                            </a:rPr>
                            <m:t>𝐿</m:t>
                          </m:r>
                        </m:num>
                        <m:den>
                          <m:r>
                            <a:rPr sz="2160">
                              <a:latin typeface="Cambria Math"/>
                            </a:rPr>
                            <m:t>𝜕</m:t>
                          </m:r>
                          <m:r>
                            <a:rPr sz="2160">
                              <a:latin typeface="Cambria Math"/>
                            </a:rPr>
                            <m:t>𝑊</m:t>
                          </m:r>
                          <m:r>
                            <a:rPr sz="2160">
                              <a:latin typeface="Cambria Math"/>
                            </a:rPr>
                            <m:t>′</m:t>
                          </m:r>
                        </m:den>
                      </m:f>
                      <m:r>
                        <a:rPr sz="2160">
                          <a:latin typeface="Cambria Math"/>
                        </a:rPr>
                        <m:t>=2(</m:t>
                      </m:r>
                      <m:r>
                        <a:rPr sz="2160">
                          <a:latin typeface="Cambria Math"/>
                        </a:rPr>
                        <m:t>𝑥</m:t>
                      </m:r>
                      <m:r>
                        <a:rPr sz="2160">
                          <a:latin typeface="Cambria Math"/>
                        </a:rPr>
                        <m:t>̂ − </m:t>
                      </m:r>
                      <m:r>
                        <a:rPr sz="2160">
                          <a:latin typeface="Cambria Math"/>
                        </a:rPr>
                        <m:t>𝑥</m:t>
                      </m:r>
                      <m:r>
                        <a:rPr sz="2160">
                          <a:latin typeface="Cambria Math"/>
                        </a:rPr>
                        <m:t>)</m:t>
                      </m:r>
                      <m:r>
                        <a:rPr sz="2160">
                          <a:latin typeface="Cambria Math"/>
                        </a:rPr>
                        <m:t>𝑧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2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𝑒𝑧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190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470400"/>
            <a:ext cx="5969000" cy="1041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</a:rPr>
              <a:t>from Ex 1:  e = (−0.64, 0.48),   z = 0.6</a:t>
            </a:r>
          </a:p>
          <a:p>
            <a:pPr algn="ctr">
              <a:spcBef>
                <a:spcPts val="140"/>
              </a:spcBef>
            </a:pPr>
            <a:r>
              <a:rPr lang="en-US" sz="1250" i="1" dirty="0">
                <a:solidFill>
                  <a:srgbClr val="666666"/>
                </a:solidFill>
              </a:rPr>
              <a:t>learning rate  η = 0.5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Where the rule comes from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Differentiate L = ‖W′z − x‖² w.r.t. W′.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333333"/>
                </a:solidFill>
              </a:rPr>
              <a:t>Chain rule → ∂L/∂W′ = 2(W′z − x)z = 2ez.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333333"/>
                </a:solidFill>
              </a:rPr>
              <a:t>e = x̂ − x is the residual; z is the (fixed) code.</a:t>
            </a:r>
          </a:p>
          <a:p>
            <a:pPr algn="l">
              <a:spcBef>
                <a:spcPts val="150"/>
              </a:spcBef>
            </a:pPr>
            <a:r>
              <a:rPr lang="en-US" sz="1250" i="1" dirty="0">
                <a:solidFill>
                  <a:srgbClr val="4B2E83"/>
                </a:solidFill>
              </a:rPr>
              <a:t>Then step: W′ ← W′ − η · ∂L/∂W′.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decoder gradient is 2ez — residual times code. Subtract η times it to reduce the loss.</a:t>
            </a:r>
          </a:p>
        </p:txBody>
      </p:sp>
    </p:spTree>
    <p:extLst>
      <p:ext uri="{BB962C8B-B14F-4D97-AF65-F5344CB8AC3E}">
        <p14:creationId xmlns:p14="http://schemas.microsoft.com/office/powerpoint/2010/main" val="395924056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Compute the Gradient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Plug the residual and code into 2ez to get the decoder gradient.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Evaluate 2ez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616200"/>
                <a:ext cx="6096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𝜕</m:t>
                      </m:r>
                      <m:r>
                        <a:rPr sz="2025">
                          <a:latin typeface="Cambria Math"/>
                        </a:rPr>
                        <m:t>𝐿</m:t>
                      </m:r>
                      <m:r>
                        <a:rPr sz="2025">
                          <a:latin typeface="Cambria Math"/>
                        </a:rPr>
                        <m:t>/</m:t>
                      </m:r>
                      <m:r>
                        <a:rPr sz="2025">
                          <a:latin typeface="Cambria Math"/>
                        </a:rPr>
                        <m:t>𝜕</m:t>
                      </m:r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′=2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𝟔𝟒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𝟒𝟖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(0.6)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𝟕𝟔𝟖</m:t>
                                </m:r>
                              </m:e>
                            </m:mr>
                            <m:mr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𝟓𝟕𝟔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15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Scale the residual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The factor 2z = 2·0.6 = 1.2 scales each residual entry.</a:t>
            </a:r>
          </a:p>
          <a:p>
            <a:pPr algn="l">
              <a:spcBef>
                <a:spcPts val="140"/>
              </a:spcBef>
            </a:pPr>
            <a:r>
              <a:rPr lang="en-US" sz="1300" b="1" dirty="0">
                <a:solidFill>
                  <a:srgbClr val="333333"/>
                </a:solidFill>
              </a:rPr>
              <a:t>1.2 · (−0.64) = −0.768</a:t>
            </a:r>
          </a:p>
          <a:p>
            <a:pPr algn="l">
              <a:spcBef>
                <a:spcPts val="80"/>
              </a:spcBef>
            </a:pPr>
            <a:r>
              <a:rPr lang="en-US" sz="1300" b="1" dirty="0">
                <a:solidFill>
                  <a:srgbClr val="333333"/>
                </a:solidFill>
              </a:rPr>
              <a:t>1.2 · ( 0.48) =  0.576</a:t>
            </a:r>
          </a:p>
          <a:p>
            <a:pPr algn="l">
              <a:spcBef>
                <a:spcPts val="150"/>
              </a:spcBef>
            </a:pPr>
            <a:r>
              <a:rPr lang="en-US" sz="1250" i="1" dirty="0">
                <a:solidFill>
                  <a:srgbClr val="4B2E83"/>
                </a:solidFill>
              </a:rPr>
              <a:t>This vector points uphill — descent moves the opposite way.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gradient ∂L/∂W′ = (−0.768, 0.576) is the residual scaled by 2z = 1.2.</a:t>
            </a:r>
          </a:p>
        </p:txBody>
      </p:sp>
    </p:spTree>
    <p:extLst>
      <p:ext uri="{BB962C8B-B14F-4D97-AF65-F5344CB8AC3E}">
        <p14:creationId xmlns:p14="http://schemas.microsoft.com/office/powerpoint/2010/main" val="85714755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3 — The Weight Update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Step downhill: W′ ← W′ − η·∂L/∂W′ with η = 0.5.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Take the descent step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40000"/>
                <a:ext cx="609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′←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𝟔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𝟖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− 0.5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𝟕𝟔𝟖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𝟓𝟕𝟔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𝟗𝟖𝟒</m:t>
                                </m:r>
                              </m:e>
                            </m:mr>
                            <m:mr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𝟓𝟏𝟐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Component by component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η·gradient = 0.5·(−0.768, 0.576) = (−0.384, 0.288).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Subtract from W′:</a:t>
            </a:r>
          </a:p>
          <a:p>
            <a:pPr algn="l">
              <a:spcBef>
                <a:spcPts val="80"/>
              </a:spcBef>
            </a:pPr>
            <a:r>
              <a:rPr lang="en-US" sz="1300" b="1" dirty="0">
                <a:solidFill>
                  <a:srgbClr val="333333"/>
                </a:solidFill>
              </a:rPr>
              <a:t>0.6 − (−0.384) = 0.984</a:t>
            </a:r>
          </a:p>
          <a:p>
            <a:pPr algn="l">
              <a:spcBef>
                <a:spcPts val="80"/>
              </a:spcBef>
            </a:pPr>
            <a:r>
              <a:rPr lang="en-US" sz="1300" b="1" dirty="0">
                <a:solidFill>
                  <a:srgbClr val="333333"/>
                </a:solidFill>
              </a:rPr>
              <a:t>0.8 − ( 0.288) = 0.512</a:t>
            </a:r>
          </a:p>
          <a:p>
            <a:pPr algn="l">
              <a:spcBef>
                <a:spcPts val="140"/>
              </a:spcBef>
            </a:pPr>
            <a:r>
              <a:rPr lang="en-US" sz="1250" i="1" dirty="0">
                <a:solidFill>
                  <a:srgbClr val="4B2E83"/>
                </a:solidFill>
              </a:rPr>
              <a:t>η = 0.5 is large → a big single step.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One gradient step moves the decoder weights to W′ = (0.984, 0.512).</a:t>
            </a:r>
          </a:p>
        </p:txBody>
      </p:sp>
    </p:spTree>
    <p:extLst>
      <p:ext uri="{BB962C8B-B14F-4D97-AF65-F5344CB8AC3E}">
        <p14:creationId xmlns:p14="http://schemas.microsoft.com/office/powerpoint/2010/main" val="291841738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4 — Reading the Update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w₁ grew (0.6 → 0.984) and w₂ shrank (0.8 → 0.512) — both toward the input x = (1, 0).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Before → after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40000"/>
                <a:ext cx="60960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′: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𝟔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𝟖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→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𝟗𝟖𝟒</m:t>
                                </m:r>
                              </m:e>
                            </m:mr>
                            <m:mr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𝟓𝟏𝟐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D1"/>
          <p:cNvSpPr txBox="1"/>
          <p:nvPr/>
        </p:nvSpPr>
        <p:spPr>
          <a:xfrm>
            <a:off x="1143000" y="4191000"/>
            <a:ext cx="5334000" cy="43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w₁:  0.6 → 0.984    </a:t>
            </a:r>
            <a:r>
              <a:rPr lang="en-US" sz="1400" b="1" dirty="0">
                <a:solidFill>
                  <a:srgbClr val="5C8A2E"/>
                </a:solidFill>
              </a:rPr>
              <a:t>↑ grew</a:t>
            </a:r>
          </a:p>
        </p:txBody>
      </p:sp>
      <p:sp>
        <p:nvSpPr>
          <p:cNvPr id="15" name="D2"/>
          <p:cNvSpPr txBox="1"/>
          <p:nvPr/>
        </p:nvSpPr>
        <p:spPr>
          <a:xfrm>
            <a:off x="1143000" y="4724400"/>
            <a:ext cx="5334000" cy="43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w₂:  0.8 → 0.512    </a:t>
            </a:r>
            <a:r>
              <a:rPr lang="en-US" sz="1400" b="1" dirty="0">
                <a:solidFill>
                  <a:srgbClr val="D1578A"/>
                </a:solidFill>
              </a:rPr>
              <a:t>↓ shrank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Weights move toward x</a:t>
            </a:r>
          </a:p>
        </p:txBody>
      </p:sp>
      <p:sp>
        <p:nvSpPr>
          <p:cNvPr id="40" name="Base"/>
          <p:cNvSpPr/>
          <p:nvPr/>
        </p:nvSpPr>
        <p:spPr>
          <a:xfrm>
            <a:off x="7467600" y="5080000"/>
            <a:ext cx="3556000" cy="381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w1b"/>
          <p:cNvSpPr/>
          <p:nvPr/>
        </p:nvSpPr>
        <p:spPr>
          <a:xfrm>
            <a:off x="7620000" y="3937000"/>
            <a:ext cx="508000" cy="1143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w1a"/>
          <p:cNvSpPr/>
          <p:nvPr/>
        </p:nvSpPr>
        <p:spPr>
          <a:xfrm>
            <a:off x="8178800" y="3200400"/>
            <a:ext cx="508000" cy="18796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w2b"/>
          <p:cNvSpPr/>
          <p:nvPr/>
        </p:nvSpPr>
        <p:spPr>
          <a:xfrm>
            <a:off x="9677400" y="3556000"/>
            <a:ext cx="508000" cy="1524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w2a"/>
          <p:cNvSpPr/>
          <p:nvPr/>
        </p:nvSpPr>
        <p:spPr>
          <a:xfrm>
            <a:off x="10236200" y="4102100"/>
            <a:ext cx="508000" cy="97790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gl1"/>
          <p:cNvSpPr txBox="1"/>
          <p:nvPr/>
        </p:nvSpPr>
        <p:spPr>
          <a:xfrm>
            <a:off x="7518400" y="5130800"/>
            <a:ext cx="121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250" b="1" dirty="0">
                <a:solidFill>
                  <a:srgbClr val="5C8A2E"/>
                </a:solidFill>
              </a:rPr>
              <a:t>w₁ ↑</a:t>
            </a:r>
          </a:p>
        </p:txBody>
      </p:sp>
      <p:sp>
        <p:nvSpPr>
          <p:cNvPr id="46" name="gl2"/>
          <p:cNvSpPr txBox="1"/>
          <p:nvPr/>
        </p:nvSpPr>
        <p:spPr>
          <a:xfrm>
            <a:off x="9575800" y="5130800"/>
            <a:ext cx="121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250" b="1" dirty="0">
                <a:solidFill>
                  <a:srgbClr val="D1578A"/>
                </a:solidFill>
              </a:rPr>
              <a:t>w₂ ↓</a:t>
            </a:r>
          </a:p>
        </p:txBody>
      </p:sp>
      <p:sp>
        <p:nvSpPr>
          <p:cNvPr id="47" name="leg"/>
          <p:cNvSpPr txBox="1"/>
          <p:nvPr/>
        </p:nvSpPr>
        <p:spPr>
          <a:xfrm>
            <a:off x="7188200" y="2692400"/>
            <a:ext cx="40386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0000" lnSpcReduction="20000"/>
          </a:bodyPr>
          <a:lstStyle/>
          <a:p>
            <a:pPr algn="ctr"/>
            <a:r>
              <a:rPr lang="en-US" sz="1150" i="1" dirty="0">
                <a:solidFill>
                  <a:srgbClr val="666666"/>
                </a:solidFill>
              </a:rPr>
              <a:t>grey = before · colour = after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Gradient descent nudges each weight toward reproducing x: w₁ up (x₁=1), w₂ down (x₂=0).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E4E4AF-7A3E-7843-AFFA-D437891FFBCB}"/>
              </a:ext>
            </a:extLst>
          </p:cNvPr>
          <p:cNvSpPr txBox="1"/>
          <p:nvPr/>
        </p:nvSpPr>
        <p:spPr>
          <a:xfrm>
            <a:off x="7569200" y="3683000"/>
            <a:ext cx="660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777777"/>
                </a:solidFill>
              </a:rPr>
              <a:t>0.60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C5F30B-08FA-A64C-A5B7-5FA4EA8FB504}"/>
              </a:ext>
            </a:extLst>
          </p:cNvPr>
          <p:cNvSpPr txBox="1"/>
          <p:nvPr/>
        </p:nvSpPr>
        <p:spPr>
          <a:xfrm>
            <a:off x="8102600" y="2946400"/>
            <a:ext cx="660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5C8A2E"/>
                </a:solidFill>
              </a:rPr>
              <a:t>0.98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BB0217-E322-5646-96DB-2CBECB2E6FB4}"/>
              </a:ext>
            </a:extLst>
          </p:cNvPr>
          <p:cNvSpPr txBox="1"/>
          <p:nvPr/>
        </p:nvSpPr>
        <p:spPr>
          <a:xfrm>
            <a:off x="9626600" y="3302000"/>
            <a:ext cx="660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777777"/>
                </a:solidFill>
              </a:rPr>
              <a:t>0.80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7B16DA-D8E7-CF44-B716-B058F3686F4A}"/>
              </a:ext>
            </a:extLst>
          </p:cNvPr>
          <p:cNvSpPr txBox="1"/>
          <p:nvPr/>
        </p:nvSpPr>
        <p:spPr>
          <a:xfrm>
            <a:off x="10160000" y="3848100"/>
            <a:ext cx="660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C13A78"/>
                </a:solidFill>
              </a:rPr>
              <a:t>0.51</a:t>
            </a:r>
          </a:p>
        </p:txBody>
      </p:sp>
    </p:spTree>
    <p:extLst>
      <p:ext uri="{BB962C8B-B14F-4D97-AF65-F5344CB8AC3E}">
        <p14:creationId xmlns:p14="http://schemas.microsoft.com/office/powerpoint/2010/main" val="357556336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996769-C7C7-774C-9E6D-99E1E46B95A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169B0A-D155-EB49-812E-4EC282D48592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Exercise 3 — Conceptual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E8C6AAA-96B0-6348-A062-3629BA5C8D1A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AE · Exercise 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1C8F2ED-E9D8-8B4F-8330-4F3ACC76A087}"/>
              </a:ext>
            </a:extLst>
          </p:cNvPr>
          <p:cNvSpPr/>
          <p:nvPr/>
        </p:nvSpPr>
        <p:spPr>
          <a:xfrm>
            <a:off x="762000" y="1473200"/>
            <a:ext cx="10668000" cy="1219200"/>
          </a:xfrm>
          <a:prstGeom prst="roundRect">
            <a:avLst/>
          </a:prstGeom>
          <a:solidFill>
            <a:srgbClr val="F7F4EE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29879A-4461-124F-87D3-7571E7AA8AA8}"/>
              </a:ext>
            </a:extLst>
          </p:cNvPr>
          <p:cNvSpPr txBox="1"/>
          <p:nvPr/>
        </p:nvSpPr>
        <p:spPr>
          <a:xfrm>
            <a:off x="990600" y="15748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Problem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F80F05-7917-A64F-AE83-18069A54BBEB}"/>
              </a:ext>
            </a:extLst>
          </p:cNvPr>
          <p:cNvSpPr txBox="1"/>
          <p:nvPr/>
        </p:nvSpPr>
        <p:spPr>
          <a:xfrm>
            <a:off x="990600" y="1879600"/>
            <a:ext cx="102108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Answer briefly: (a) When does a linear autoencoder coincide with PCA, and how does it differ even then?
(b) Why can stacking nonlinear layers beat PCA? (c) If the bottleneck width k equals the input dimension p
and there is no regularization, what does the AE learn — and why is that useless?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5C7F5B2-63A9-CA41-B45C-F0951847EFB6}"/>
              </a:ext>
            </a:extLst>
          </p:cNvPr>
          <p:cNvSpPr/>
          <p:nvPr/>
        </p:nvSpPr>
        <p:spPr>
          <a:xfrm>
            <a:off x="762000" y="2870200"/>
            <a:ext cx="10668000" cy="3200400"/>
          </a:xfrm>
          <a:prstGeom prst="roundRect">
            <a:avLst/>
          </a:prstGeom>
          <a:solidFill>
            <a:srgbClr val="F1F7EB"/>
          </a:solidFill>
          <a:ln w="15875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A5CDF4-B5EF-2D48-A8F7-91073DD27B17}"/>
              </a:ext>
            </a:extLst>
          </p:cNvPr>
          <p:cNvSpPr txBox="1"/>
          <p:nvPr/>
        </p:nvSpPr>
        <p:spPr>
          <a:xfrm>
            <a:off x="990600" y="29718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5A8A2E"/>
                </a:solidFill>
              </a:rPr>
              <a:t>Solution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14F714-48B7-5E44-8F13-63DB2A8F2832}"/>
              </a:ext>
            </a:extLst>
          </p:cNvPr>
          <p:cNvSpPr txBox="1"/>
          <p:nvPr/>
        </p:nvSpPr>
        <p:spPr>
          <a:xfrm>
            <a:off x="990600" y="3276600"/>
            <a:ext cx="10210800" cy="2692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(a) With identity activations and squared-error loss, the optimal linear AE spans the same top-k subspace
      as PCA and attains the same reconstruction error. Difference: its weight vectors are generally NOT the
      orthonormal, variance-ordered eigenvectors — only the subspace (not the individual axes) matches.
(b) Nonlinear activations let the encoder/decoder bend the data manifold, so a curved low-dim structure
      (e.g. a spiral) can be unrolled with small error — PCA, restricted to a flat subspace, cannot.
(c) With k = p and no regularization the AE can learn the identity map (W′W = I): zero reconstruction error
      but ZERO compression — the code just copies the input, so it carries no useful, reduced representation.
      This is why a bottleneck (k &lt; p) or a regularizer is essential.</a:t>
            </a:r>
          </a:p>
        </p:txBody>
      </p:sp>
    </p:spTree>
    <p:extLst>
      <p:ext uri="{BB962C8B-B14F-4D97-AF65-F5344CB8AC3E}">
        <p14:creationId xmlns:p14="http://schemas.microsoft.com/office/powerpoint/2010/main" val="226304137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100" b="1" dirty="0">
                <a:solidFill>
                  <a:srgbClr val="4B2E83"/>
                </a:solidFill>
              </a:rPr>
              <a:t>Step 1 — Three Conceptual Questions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Connecting autoencoders to PCA, the power of nonlinearity, and the role of the bottleneck.</a:t>
            </a:r>
          </a:p>
        </p:txBody>
      </p:sp>
      <p:sp>
        <p:nvSpPr>
          <p:cNvPr id="9" name="CardA"/>
          <p:cNvSpPr/>
          <p:nvPr/>
        </p:nvSpPr>
        <p:spPr>
          <a:xfrm>
            <a:off x="762000" y="1905000"/>
            <a:ext cx="10668000" cy="1168400"/>
          </a:xfrm>
          <a:prstGeom prst="roundRect">
            <a:avLst/>
          </a:prstGeom>
          <a:solidFill>
            <a:srgbClr val="F7F4FB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Dota"/>
          <p:cNvSpPr/>
          <p:nvPr/>
        </p:nvSpPr>
        <p:spPr>
          <a:xfrm>
            <a:off x="1016000" y="2184400"/>
            <a:ext cx="609600" cy="6096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QA"/>
          <p:cNvSpPr txBox="1"/>
          <p:nvPr/>
        </p:nvSpPr>
        <p:spPr>
          <a:xfrm>
            <a:off x="1854200" y="2057400"/>
            <a:ext cx="9423400" cy="88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600" b="1" dirty="0">
                <a:solidFill>
                  <a:srgbClr val="333333"/>
                </a:solidFill>
              </a:rPr>
              <a:t>When does a linear autoencoder coincide with PCA — and how do they still differ even then?</a:t>
            </a:r>
          </a:p>
        </p:txBody>
      </p:sp>
      <p:sp>
        <p:nvSpPr>
          <p:cNvPr id="13" name="CardB"/>
          <p:cNvSpPr/>
          <p:nvPr/>
        </p:nvSpPr>
        <p:spPr>
          <a:xfrm>
            <a:off x="762000" y="3149600"/>
            <a:ext cx="10668000" cy="1168400"/>
          </a:xfrm>
          <a:prstGeom prst="roundRect">
            <a:avLst/>
          </a:prstGeom>
          <a:solidFill>
            <a:srgbClr val="F7F4FB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Dotb"/>
          <p:cNvSpPr/>
          <p:nvPr/>
        </p:nvSpPr>
        <p:spPr>
          <a:xfrm>
            <a:off x="1016000" y="3429000"/>
            <a:ext cx="609600" cy="609600"/>
          </a:xfrm>
          <a:prstGeom prst="ellipse">
            <a:avLst/>
          </a:prstGeom>
          <a:solidFill>
            <a:srgbClr val="007A85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QB"/>
          <p:cNvSpPr txBox="1"/>
          <p:nvPr/>
        </p:nvSpPr>
        <p:spPr>
          <a:xfrm>
            <a:off x="1854200" y="3302000"/>
            <a:ext cx="9423400" cy="88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600" b="1" dirty="0">
                <a:solidFill>
                  <a:srgbClr val="333333"/>
                </a:solidFill>
              </a:rPr>
              <a:t>Why can stacking nonlinear layers let an autoencoder beat PCA?</a:t>
            </a:r>
          </a:p>
        </p:txBody>
      </p:sp>
      <p:sp>
        <p:nvSpPr>
          <p:cNvPr id="16" name="CardC"/>
          <p:cNvSpPr/>
          <p:nvPr/>
        </p:nvSpPr>
        <p:spPr>
          <a:xfrm>
            <a:off x="762000" y="4394200"/>
            <a:ext cx="10668000" cy="1244600"/>
          </a:xfrm>
          <a:prstGeom prst="roundRect">
            <a:avLst/>
          </a:prstGeom>
          <a:solidFill>
            <a:srgbClr val="F7F4FB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Dotc"/>
          <p:cNvSpPr/>
          <p:nvPr/>
        </p:nvSpPr>
        <p:spPr>
          <a:xfrm>
            <a:off x="1016000" y="4699000"/>
            <a:ext cx="609600" cy="609600"/>
          </a:xfrm>
          <a:prstGeom prst="ellipse">
            <a:avLst/>
          </a:prstGeom>
          <a:solidFill>
            <a:srgbClr val="C13A78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QC"/>
          <p:cNvSpPr txBox="1"/>
          <p:nvPr/>
        </p:nvSpPr>
        <p:spPr>
          <a:xfrm>
            <a:off x="1854200" y="4521200"/>
            <a:ext cx="9423400" cy="990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600" b="1" dirty="0">
                <a:solidFill>
                  <a:srgbClr val="333333"/>
                </a:solidFill>
              </a:rPr>
              <a:t>If the bottleneck has k = p units with no regularization, what does the AE learn — and why is it useless?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Three lenses: the PCA link, the power of nonlinearity, and why a bottleneck is essential.</a:t>
            </a:r>
          </a:p>
        </p:txBody>
      </p:sp>
    </p:spTree>
    <p:extLst>
      <p:ext uri="{BB962C8B-B14F-4D97-AF65-F5344CB8AC3E}">
        <p14:creationId xmlns:p14="http://schemas.microsoft.com/office/powerpoint/2010/main" val="316478925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200" b="1" dirty="0">
                <a:solidFill>
                  <a:srgbClr val="4B2E83"/>
                </a:solidFill>
              </a:rPr>
              <a:t>Step 2 — (a) Linear AE = PCA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With identity activations and squared error, the optimal linear AE spans PCA's top-k subspace.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Same subspace, same error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40000"/>
                <a:ext cx="6096000" cy="177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𝑠𝑝𝑎𝑛</m:t>
                      </m:r>
                      <m:r>
                        <a:rPr sz="2025">
                          <a:latin typeface="Cambria Math"/>
                        </a:rPr>
                        <m:t>(</m:t>
                      </m:r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)=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𝑠𝑝𝑎𝑛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{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𝑣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₁, … , 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𝑣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_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𝑘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𝑒𝑟𝑟</m:t>
                      </m:r>
                      <m:r>
                        <a:rPr sz="2025">
                          <a:latin typeface="Cambria Math"/>
                        </a:rPr>
                        <m:t>(</m:t>
                      </m:r>
                      <m:r>
                        <a:rPr sz="2025">
                          <a:latin typeface="Cambria Math"/>
                        </a:rPr>
                        <m:t>𝐴𝐸</m:t>
                      </m:r>
                      <m:r>
                        <a:rPr sz="2025">
                          <a:latin typeface="Cambria Math"/>
                        </a:rPr>
                        <m:t>)=</m:t>
                      </m:r>
                      <m:r>
                        <a:rPr sz="2025">
                          <a:latin typeface="Cambria Math"/>
                        </a:rPr>
                        <m:t>𝑒𝑟𝑟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(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𝑃𝐶𝐴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1778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889000" y="4419600"/>
            <a:ext cx="5715000" cy="1092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D1578A"/>
                </a:solidFill>
              </a:rPr>
              <a:t>but in general  W ≠ {v₁, … , v_k}</a:t>
            </a:r>
          </a:p>
          <a:p>
            <a:pPr algn="ctr">
              <a:spcBef>
                <a:spcPts val="120"/>
              </a:spcBef>
            </a:pPr>
            <a:r>
              <a:rPr lang="en-US" sz="1250" i="1" dirty="0">
                <a:solidFill>
                  <a:srgbClr val="666666"/>
                </a:solidFill>
              </a:rPr>
              <a:t>(any basis of that subspace is optimal)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How they still differ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Identity + squared loss → the AE solves PCA's low-rank problem.</a:t>
            </a:r>
          </a:p>
          <a:p>
            <a:pPr algn="l">
              <a:spcBef>
                <a:spcPts val="130"/>
              </a:spcBef>
            </a:pPr>
            <a:r>
              <a:rPr lang="en-US" sz="1300" dirty="0">
                <a:solidFill>
                  <a:srgbClr val="333333"/>
                </a:solidFill>
              </a:rPr>
              <a:t>It recovers the same subspace and the same reconstruction error.</a:t>
            </a:r>
          </a:p>
          <a:p>
            <a:pPr algn="l">
              <a:spcBef>
                <a:spcPts val="130"/>
              </a:spcBef>
            </a:pPr>
            <a:r>
              <a:rPr lang="en-US" sz="1300" dirty="0">
                <a:solidFill>
                  <a:srgbClr val="333333"/>
                </a:solidFill>
              </a:rPr>
              <a:t>But its weights need not be orthonormal or variance-ordered…</a:t>
            </a:r>
          </a:p>
          <a:p>
            <a:pPr algn="l">
              <a:spcBef>
                <a:spcPts val="130"/>
              </a:spcBef>
            </a:pPr>
            <a:r>
              <a:rPr lang="en-US" sz="1250" i="1" dirty="0">
                <a:solidFill>
                  <a:srgbClr val="4B2E83"/>
                </a:solidFill>
              </a:rPr>
              <a:t>…only PCA gives clean, ranked axes.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A linear AE matches PCA's subspace and error — but not its specific orthonormal, ordered axes.</a:t>
            </a:r>
          </a:p>
        </p:txBody>
      </p:sp>
    </p:spTree>
    <p:extLst>
      <p:ext uri="{BB962C8B-B14F-4D97-AF65-F5344CB8AC3E}">
        <p14:creationId xmlns:p14="http://schemas.microsoft.com/office/powerpoint/2010/main" val="141917799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000" b="1" dirty="0">
                <a:solidFill>
                  <a:srgbClr val="4B2E83"/>
                </a:solidFill>
              </a:rPr>
              <a:t>Step 3 — (b) Nonlinear AE Beats PCA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Nonlinear activations bend the mapping, unrolling curved structure a flat PCA subspace can't capture.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Flat vs curved</a:t>
            </a:r>
          </a:p>
        </p:txBody>
      </p:sp>
      <p:sp>
        <p:nvSpPr>
          <p:cNvPr id="23" name="LB"/>
          <p:cNvSpPr txBox="1"/>
          <p:nvPr/>
        </p:nvSpPr>
        <p:spPr>
          <a:xfrm>
            <a:off x="965200" y="2463800"/>
            <a:ext cx="5562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85754D"/>
                </a:solidFill>
              </a:rPr>
              <a:t>PCA fits a flat subspace</a:t>
            </a:r>
          </a:p>
          <a:p>
            <a:pPr algn="l">
              <a:spcBef>
                <a:spcPts val="50"/>
              </a:spcBef>
            </a:pPr>
            <a:r>
              <a:rPr lang="en-US" sz="1300" dirty="0">
                <a:solidFill>
                  <a:srgbClr val="333333"/>
                </a:solidFill>
              </a:rPr>
              <a:t>a line or plane — so a straight axis cuts across curved data, leaving large error.</a:t>
            </a:r>
          </a:p>
          <a:p>
            <a:pPr algn="l">
              <a:spcBef>
                <a:spcPts val="160"/>
              </a:spcBef>
            </a:pPr>
            <a:r>
              <a:rPr lang="en-US" sz="1400" b="1" dirty="0">
                <a:solidFill>
                  <a:srgbClr val="00838D"/>
                </a:solidFill>
              </a:rPr>
              <a:t>A nonlinear AE bends</a:t>
            </a:r>
          </a:p>
          <a:p>
            <a:pPr algn="l">
              <a:spcBef>
                <a:spcPts val="50"/>
              </a:spcBef>
            </a:pPr>
            <a:r>
              <a:rPr lang="en-US" sz="1300" dirty="0">
                <a:solidFill>
                  <a:srgbClr val="333333"/>
                </a:solidFill>
              </a:rPr>
              <a:t>tanh / ReLU layers warp the mapping to follow the manifold, e.g. unrolling a spiral into one coordinate.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ctr"/>
            <a:r>
              <a:rPr lang="en-US" sz="1350" b="1" dirty="0">
                <a:solidFill>
                  <a:srgbClr val="4B2E83"/>
                </a:solidFill>
              </a:rPr>
              <a:t>Spiral: PCA line vs AE curve</a:t>
            </a:r>
          </a:p>
        </p:txBody>
      </p:sp>
      <p:sp>
        <p:nvSpPr>
          <p:cNvPr id="40" name="PCAline"/>
          <p:cNvSpPr/>
          <p:nvPr/>
        </p:nvSpPr>
        <p:spPr>
          <a:xfrm>
            <a:off x="7772400" y="4216400"/>
            <a:ext cx="2667000" cy="50800"/>
          </a:xfrm>
          <a:prstGeom prst="rect">
            <a:avLst/>
          </a:prstGeom>
          <a:solidFill>
            <a:srgbClr val="B7A5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seg"/>
          <p:cNvSpPr/>
          <p:nvPr/>
        </p:nvSpPr>
        <p:spPr>
          <a:xfrm rot="4077542">
            <a:off x="9097436" y="3847337"/>
            <a:ext cx="149069" cy="635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seg"/>
          <p:cNvSpPr/>
          <p:nvPr/>
        </p:nvSpPr>
        <p:spPr>
          <a:xfrm rot="7399600">
            <a:off x="9036188" y="4004731"/>
            <a:ext cx="211374" cy="635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seg"/>
          <p:cNvSpPr/>
          <p:nvPr/>
        </p:nvSpPr>
        <p:spPr>
          <a:xfrm rot="10321488">
            <a:off x="8804621" y="4112500"/>
            <a:ext cx="280545" cy="635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seg"/>
          <p:cNvSpPr/>
          <p:nvPr/>
        </p:nvSpPr>
        <p:spPr>
          <a:xfrm rot="-8535999">
            <a:off x="8490280" y="4024080"/>
            <a:ext cx="352564" cy="635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seg"/>
          <p:cNvSpPr/>
          <p:nvPr/>
        </p:nvSpPr>
        <p:spPr>
          <a:xfrm rot="-5884862">
            <a:off x="8284211" y="3705319"/>
            <a:ext cx="425988" cy="635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" name="seg"/>
          <p:cNvSpPr/>
          <p:nvPr/>
        </p:nvSpPr>
        <p:spPr>
          <a:xfrm rot="-3285687">
            <a:off x="8361467" y="3290169"/>
            <a:ext cx="500199" cy="635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seg"/>
          <p:cNvSpPr/>
          <p:nvPr/>
        </p:nvSpPr>
        <p:spPr>
          <a:xfrm rot="-718638">
            <a:off x="8749612" y="3026246"/>
            <a:ext cx="574893" cy="635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7" name="seg"/>
          <p:cNvSpPr/>
          <p:nvPr/>
        </p:nvSpPr>
        <p:spPr>
          <a:xfrm rot="1827245">
            <a:off x="9273416" y="3131295"/>
            <a:ext cx="649903" cy="635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8" name="seg"/>
          <p:cNvSpPr/>
          <p:nvPr/>
        </p:nvSpPr>
        <p:spPr>
          <a:xfrm rot="4358477">
            <a:off x="9624094" y="3642048"/>
            <a:ext cx="725131" cy="635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9" name="dot"/>
          <p:cNvSpPr/>
          <p:nvPr/>
        </p:nvSpPr>
        <p:spPr>
          <a:xfrm>
            <a:off x="9074150" y="3740150"/>
            <a:ext cx="139700" cy="1397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" name="dot"/>
          <p:cNvSpPr/>
          <p:nvPr/>
        </p:nvSpPr>
        <p:spPr>
          <a:xfrm>
            <a:off x="9130091" y="3878324"/>
            <a:ext cx="139700" cy="1397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" name="dot"/>
          <p:cNvSpPr/>
          <p:nvPr/>
        </p:nvSpPr>
        <p:spPr>
          <a:xfrm>
            <a:off x="9013960" y="4054938"/>
            <a:ext cx="139700" cy="1397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2" name="dot"/>
          <p:cNvSpPr/>
          <p:nvPr/>
        </p:nvSpPr>
        <p:spPr>
          <a:xfrm>
            <a:off x="8736128" y="4093862"/>
            <a:ext cx="139700" cy="1397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" name="dot"/>
          <p:cNvSpPr/>
          <p:nvPr/>
        </p:nvSpPr>
        <p:spPr>
          <a:xfrm>
            <a:off x="8457297" y="3878098"/>
            <a:ext cx="139700" cy="1397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4" name="dot"/>
          <p:cNvSpPr/>
          <p:nvPr/>
        </p:nvSpPr>
        <p:spPr>
          <a:xfrm>
            <a:off x="8397414" y="3456340"/>
            <a:ext cx="139700" cy="1397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5" name="dot"/>
          <p:cNvSpPr/>
          <p:nvPr/>
        </p:nvSpPr>
        <p:spPr>
          <a:xfrm>
            <a:off x="8686020" y="3047798"/>
            <a:ext cx="139700" cy="1397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6" name="dot"/>
          <p:cNvSpPr/>
          <p:nvPr/>
        </p:nvSpPr>
        <p:spPr>
          <a:xfrm>
            <a:off x="9248398" y="2928494"/>
            <a:ext cx="139700" cy="1397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7" name="dot"/>
          <p:cNvSpPr/>
          <p:nvPr/>
        </p:nvSpPr>
        <p:spPr>
          <a:xfrm>
            <a:off x="9808637" y="3257896"/>
            <a:ext cx="139700" cy="1397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8" name="dot"/>
          <p:cNvSpPr/>
          <p:nvPr/>
        </p:nvSpPr>
        <p:spPr>
          <a:xfrm>
            <a:off x="10024982" y="3950001"/>
            <a:ext cx="139700" cy="1397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Lg1"/>
          <p:cNvSpPr txBox="1"/>
          <p:nvPr/>
        </p:nvSpPr>
        <p:spPr>
          <a:xfrm>
            <a:off x="7188200" y="5181600"/>
            <a:ext cx="40386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150" b="1" dirty="0">
                <a:solidFill>
                  <a:srgbClr val="00838D"/>
                </a:solidFill>
              </a:rPr>
              <a:t>▬ AE (nonlinear)    </a:t>
            </a:r>
            <a:r>
              <a:rPr lang="en-US" sz="1150" b="1" dirty="0">
                <a:solidFill>
                  <a:srgbClr val="85754D"/>
                </a:solidFill>
              </a:rPr>
              <a:t>▬ PCA (flat)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Nonlinearity lets an autoencoder follow curved manifolds — modelling structure PCA's straight axes miss.</a:t>
            </a:r>
          </a:p>
        </p:txBody>
      </p:sp>
    </p:spTree>
    <p:extLst>
      <p:ext uri="{BB962C8B-B14F-4D97-AF65-F5344CB8AC3E}">
        <p14:creationId xmlns:p14="http://schemas.microsoft.com/office/powerpoint/2010/main" val="417150276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000" b="1" dirty="0">
                <a:solidFill>
                  <a:srgbClr val="4B2E83"/>
                </a:solidFill>
              </a:rPr>
              <a:t>Step 4 — (c) No Bottleneck = Useless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With k = p units and no regularization, the AE can learn the identity — zero error, zero compression.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The identity 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14600"/>
                <a:ext cx="6096000" cy="12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1500">
                          <a:latin typeface="Cambria Math"/>
                        </a:rPr>
                        <m:t>𝑊</m:t>
                      </m:r>
                      <m:r>
                        <a:rPr sz="1500">
                          <a:latin typeface="Cambria Math"/>
                        </a:rPr>
                        <m:t>′</m:t>
                      </m:r>
                      <m:r>
                        <a:rPr sz="1500">
                          <a:latin typeface="Cambria Math"/>
                        </a:rPr>
                        <m:t>𝑊</m:t>
                      </m:r>
                      <m:r>
                        <a:rPr sz="1500">
                          <a:latin typeface="Cambria Math"/>
                        </a:rPr>
                        <m:t>=</m:t>
                      </m:r>
                      <m:r>
                        <a:rPr sz="1500" b="1">
                          <a:solidFill>
                            <a:srgbClr val="D1578A"/>
                          </a:solidFill>
                          <a:latin typeface="Cambria Math"/>
                        </a:rPr>
                        <m:t>𝐼</m:t>
                      </m:r>
                      <m:r>
                        <a:rPr sz="1500">
                          <a:latin typeface="Cambria Math"/>
                        </a:rPr>
                        <m:t>   ⇒   </m:t>
                      </m:r>
                      <m:r>
                        <a:rPr sz="1500">
                          <a:latin typeface="Cambria Math"/>
                        </a:rPr>
                        <m:t>𝑥</m:t>
                      </m:r>
                      <m:r>
                        <a:rPr sz="1500">
                          <a:latin typeface="Cambria Math"/>
                        </a:rPr>
                        <m:t>̂=</m:t>
                      </m:r>
                      <m:r>
                        <a:rPr sz="1500">
                          <a:latin typeface="Cambria Math"/>
                        </a:rPr>
                        <m:t>𝑊</m:t>
                      </m:r>
                      <m:r>
                        <a:rPr sz="1500">
                          <a:latin typeface="Cambria Math"/>
                        </a:rPr>
                        <m:t>′</m:t>
                      </m:r>
                      <m:r>
                        <a:rPr sz="1500">
                          <a:latin typeface="Cambria Math"/>
                        </a:rPr>
                        <m:t>𝑊𝑥</m:t>
                      </m:r>
                      <m:r>
                        <a:rPr sz="1500">
                          <a:latin typeface="Cambria Math"/>
                        </a:rPr>
                        <m:t>=</m:t>
                      </m:r>
                      <m:r>
                        <a:rPr sz="150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14600"/>
                <a:ext cx="6096000" cy="1219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889000" y="3810000"/>
            <a:ext cx="5715000" cy="170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7AB648"/>
                </a:solidFill>
              </a:rPr>
              <a:t>Reconstruction error = 0…</a:t>
            </a:r>
          </a:p>
          <a:p>
            <a:pPr algn="ctr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…but z = Wx has the same dimension as x.</a:t>
            </a:r>
          </a:p>
          <a:p>
            <a:pPr algn="ctr">
              <a:spcBef>
                <a:spcPts val="120"/>
              </a:spcBef>
            </a:pPr>
            <a:r>
              <a:rPr lang="en-US" sz="1300" b="1" dirty="0">
                <a:solidFill>
                  <a:srgbClr val="D1578A"/>
                </a:solidFill>
              </a:rPr>
              <a:t>The code just copies the input — nothing is compressed or learned.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Capacity vs compression</a:t>
            </a:r>
          </a:p>
        </p:txBody>
      </p:sp>
      <p:sp>
        <p:nvSpPr>
          <p:cNvPr id="40" name="in1"/>
          <p:cNvSpPr/>
          <p:nvPr/>
        </p:nvSpPr>
        <p:spPr>
          <a:xfrm>
            <a:off x="7594600" y="2616200"/>
            <a:ext cx="431800" cy="711200"/>
          </a:xfrm>
          <a:prstGeom prst="round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ar1"/>
          <p:cNvSpPr/>
          <p:nvPr/>
        </p:nvSpPr>
        <p:spPr>
          <a:xfrm>
            <a:off x="8077200" y="2844800"/>
            <a:ext cx="228600" cy="25400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cd1"/>
          <p:cNvSpPr/>
          <p:nvPr/>
        </p:nvSpPr>
        <p:spPr>
          <a:xfrm>
            <a:off x="8382000" y="2616200"/>
            <a:ext cx="431800" cy="7112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ar2"/>
          <p:cNvSpPr/>
          <p:nvPr/>
        </p:nvSpPr>
        <p:spPr>
          <a:xfrm>
            <a:off x="8864600" y="2844800"/>
            <a:ext cx="228600" cy="25400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out1"/>
          <p:cNvSpPr/>
          <p:nvPr/>
        </p:nvSpPr>
        <p:spPr>
          <a:xfrm>
            <a:off x="9169400" y="2616200"/>
            <a:ext cx="431800" cy="7112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l1"/>
          <p:cNvSpPr txBox="1"/>
          <p:nvPr/>
        </p:nvSpPr>
        <p:spPr>
          <a:xfrm>
            <a:off x="9702800" y="2616200"/>
            <a:ext cx="1574800" cy="711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k = p</a:t>
            </a:r>
          </a:p>
          <a:p>
            <a:pPr algn="l">
              <a:spcBef>
                <a:spcPts val="30"/>
              </a:spcBef>
            </a:pPr>
            <a:r>
              <a:rPr lang="en-US" sz="1200" b="1" dirty="0">
                <a:solidFill>
                  <a:srgbClr val="D1578A"/>
                </a:solidFill>
              </a:rPr>
              <a:t>copies input ✗</a:t>
            </a:r>
          </a:p>
        </p:txBody>
      </p:sp>
      <p:sp>
        <p:nvSpPr>
          <p:cNvPr id="5" name="in2"/>
          <p:cNvSpPr/>
          <p:nvPr/>
        </p:nvSpPr>
        <p:spPr>
          <a:xfrm>
            <a:off x="7594600" y="4191000"/>
            <a:ext cx="431800" cy="711200"/>
          </a:xfrm>
          <a:prstGeom prst="round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ar3"/>
          <p:cNvSpPr/>
          <p:nvPr/>
        </p:nvSpPr>
        <p:spPr>
          <a:xfrm>
            <a:off x="8077200" y="4419600"/>
            <a:ext cx="228600" cy="25400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cd2"/>
          <p:cNvSpPr/>
          <p:nvPr/>
        </p:nvSpPr>
        <p:spPr>
          <a:xfrm>
            <a:off x="8382000" y="4394200"/>
            <a:ext cx="431800" cy="3048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" name="ar4"/>
          <p:cNvSpPr/>
          <p:nvPr/>
        </p:nvSpPr>
        <p:spPr>
          <a:xfrm>
            <a:off x="8864600" y="4419600"/>
            <a:ext cx="228600" cy="25400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out2"/>
          <p:cNvSpPr/>
          <p:nvPr/>
        </p:nvSpPr>
        <p:spPr>
          <a:xfrm>
            <a:off x="9169400" y="4191000"/>
            <a:ext cx="431800" cy="7112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l2"/>
          <p:cNvSpPr txBox="1"/>
          <p:nvPr/>
        </p:nvSpPr>
        <p:spPr>
          <a:xfrm>
            <a:off x="9702800" y="4191000"/>
            <a:ext cx="1574800" cy="711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k &lt; p</a:t>
            </a:r>
          </a:p>
          <a:p>
            <a:pPr algn="l">
              <a:spcBef>
                <a:spcPts val="30"/>
              </a:spcBef>
            </a:pPr>
            <a:r>
              <a:rPr lang="en-US" sz="1200" b="1" dirty="0">
                <a:solidFill>
                  <a:srgbClr val="5C8A2E"/>
                </a:solidFill>
              </a:rPr>
              <a:t>compresses ✓</a:t>
            </a:r>
          </a:p>
        </p:txBody>
      </p:sp>
      <p:sp>
        <p:nvSpPr>
          <p:cNvPr id="56" name="fix"/>
          <p:cNvSpPr txBox="1"/>
          <p:nvPr/>
        </p:nvSpPr>
        <p:spPr>
          <a:xfrm>
            <a:off x="7188200" y="5080000"/>
            <a:ext cx="40386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i="1" dirty="0">
                <a:solidFill>
                  <a:srgbClr val="4B2E83"/>
                </a:solidFill>
              </a:rPr>
              <a:t>Fix: a bottleneck (k &lt; p) or a regularizer.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Compression needs a constraint: without a bottleneck or regularizer, a full-width AE just copies its input.</a:t>
            </a:r>
          </a:p>
        </p:txBody>
      </p:sp>
    </p:spTree>
    <p:extLst>
      <p:ext uri="{BB962C8B-B14F-4D97-AF65-F5344CB8AC3E}">
        <p14:creationId xmlns:p14="http://schemas.microsoft.com/office/powerpoint/2010/main" val="420225687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5 — Summary</a:t>
            </a:r>
          </a:p>
        </p:txBody>
      </p:sp>
      <p:sp>
        <p:nvSpPr>
          <p:cNvPr id="7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The PCA link, the power of nonlinearity, and the necessity of a bottleneck.</a:t>
            </a:r>
          </a:p>
        </p:txBody>
      </p:sp>
      <p:sp>
        <p:nvSpPr>
          <p:cNvPr id="10" name="Carda"/>
          <p:cNvSpPr/>
          <p:nvPr/>
        </p:nvSpPr>
        <p:spPr>
          <a:xfrm>
            <a:off x="762000" y="1905000"/>
            <a:ext cx="10668000" cy="1168400"/>
          </a:xfrm>
          <a:prstGeom prst="roundRect">
            <a:avLst/>
          </a:prstGeom>
          <a:solidFill>
            <a:srgbClr val="F7F4FB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Dota"/>
          <p:cNvSpPr/>
          <p:nvPr/>
        </p:nvSpPr>
        <p:spPr>
          <a:xfrm>
            <a:off x="1016000" y="2197100"/>
            <a:ext cx="584200" cy="584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Ta"/>
          <p:cNvSpPr txBox="1"/>
          <p:nvPr/>
        </p:nvSpPr>
        <p:spPr>
          <a:xfrm>
            <a:off x="1854200" y="1905000"/>
            <a:ext cx="9423400" cy="1168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Linear AE = PCA.  </a:t>
            </a:r>
            <a:r>
              <a:rPr lang="en-US" sz="1450" dirty="0">
                <a:solidFill>
                  <a:srgbClr val="333333"/>
                </a:solidFill>
              </a:rPr>
              <a:t>Same subspace and reconstruction error — but not the same orthonormal, ordered axes.</a:t>
            </a:r>
          </a:p>
        </p:txBody>
      </p:sp>
      <p:sp>
        <p:nvSpPr>
          <p:cNvPr id="14" name="Cardb"/>
          <p:cNvSpPr/>
          <p:nvPr/>
        </p:nvSpPr>
        <p:spPr>
          <a:xfrm>
            <a:off x="762000" y="3149600"/>
            <a:ext cx="10668000" cy="1168400"/>
          </a:xfrm>
          <a:prstGeom prst="roundRect">
            <a:avLst/>
          </a:prstGeom>
          <a:solidFill>
            <a:srgbClr val="F7F4FB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Dotb"/>
          <p:cNvSpPr/>
          <p:nvPr/>
        </p:nvSpPr>
        <p:spPr>
          <a:xfrm>
            <a:off x="1016000" y="3441700"/>
            <a:ext cx="584200" cy="584200"/>
          </a:xfrm>
          <a:prstGeom prst="ellipse">
            <a:avLst/>
          </a:prstGeom>
          <a:solidFill>
            <a:srgbClr val="007A85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Tb"/>
          <p:cNvSpPr txBox="1"/>
          <p:nvPr/>
        </p:nvSpPr>
        <p:spPr>
          <a:xfrm>
            <a:off x="1854200" y="3149600"/>
            <a:ext cx="9423400" cy="1168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Go nonlinear.  </a:t>
            </a:r>
            <a:r>
              <a:rPr lang="en-US" sz="1450" dirty="0">
                <a:solidFill>
                  <a:srgbClr val="333333"/>
                </a:solidFill>
              </a:rPr>
              <a:t>tanh / ReLU layers bend the mapping to follow curved manifolds PCA's flat axes miss.</a:t>
            </a:r>
          </a:p>
        </p:txBody>
      </p:sp>
      <p:sp>
        <p:nvSpPr>
          <p:cNvPr id="18" name="Cardc"/>
          <p:cNvSpPr/>
          <p:nvPr/>
        </p:nvSpPr>
        <p:spPr>
          <a:xfrm>
            <a:off x="762000" y="4394200"/>
            <a:ext cx="10668000" cy="1244600"/>
          </a:xfrm>
          <a:prstGeom prst="roundRect">
            <a:avLst/>
          </a:prstGeom>
          <a:solidFill>
            <a:srgbClr val="F7F4FB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Dotc"/>
          <p:cNvSpPr/>
          <p:nvPr/>
        </p:nvSpPr>
        <p:spPr>
          <a:xfrm>
            <a:off x="1016000" y="4724400"/>
            <a:ext cx="584200" cy="584200"/>
          </a:xfrm>
          <a:prstGeom prst="ellipse">
            <a:avLst/>
          </a:prstGeom>
          <a:solidFill>
            <a:srgbClr val="C13A78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Tc"/>
          <p:cNvSpPr txBox="1"/>
          <p:nvPr/>
        </p:nvSpPr>
        <p:spPr>
          <a:xfrm>
            <a:off x="1854200" y="4394200"/>
            <a:ext cx="9423400" cy="1244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Keep a bottleneck.  </a:t>
            </a:r>
            <a:r>
              <a:rPr lang="en-US" sz="1450" dirty="0">
                <a:solidFill>
                  <a:srgbClr val="333333"/>
                </a:solidFill>
              </a:rPr>
              <a:t>k = p with no regularizer just copies the input; real compression needs k &lt; p or a regularizer.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Autoencoders generalize PCA: identical when linear, more powerful when nonlinear — as long as a bottleneck forces real compression.</a:t>
            </a:r>
          </a:p>
        </p:txBody>
      </p:sp>
    </p:spTree>
    <p:extLst>
      <p:ext uri="{BB962C8B-B14F-4D97-AF65-F5344CB8AC3E}">
        <p14:creationId xmlns:p14="http://schemas.microsoft.com/office/powerpoint/2010/main" val="299607645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7E202DC-AF5B-7448-A154-3EC9CB177A1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24F902-E899-C642-84D2-494A8A42930B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The Four Methods at a Glance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3784A2-9DF1-024D-9202-8B90E8D9FC9A}"/>
              </a:ext>
            </a:extLst>
          </p:cNvPr>
          <p:cNvSpPr/>
          <p:nvPr/>
        </p:nvSpPr>
        <p:spPr>
          <a:xfrm>
            <a:off x="635000" y="1524000"/>
            <a:ext cx="1524000" cy="431800"/>
          </a:xfrm>
          <a:prstGeom prst="rect">
            <a:avLst/>
          </a:prstGeom>
          <a:solidFill>
            <a:srgbClr val="4B2E8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95A1F3-CF8F-5547-A0AE-85DEC9D73BE7}"/>
              </a:ext>
            </a:extLst>
          </p:cNvPr>
          <p:cNvSpPr txBox="1"/>
          <p:nvPr/>
        </p:nvSpPr>
        <p:spPr>
          <a:xfrm>
            <a:off x="711200" y="1562100"/>
            <a:ext cx="13716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Aspect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C1DFE9-CF58-C74B-A444-C5D1BC99740C}"/>
              </a:ext>
            </a:extLst>
          </p:cNvPr>
          <p:cNvSpPr/>
          <p:nvPr/>
        </p:nvSpPr>
        <p:spPr>
          <a:xfrm>
            <a:off x="2159000" y="1524000"/>
            <a:ext cx="2286000" cy="431800"/>
          </a:xfrm>
          <a:prstGeom prst="rect">
            <a:avLst/>
          </a:prstGeom>
          <a:solidFill>
            <a:srgbClr val="4B2E8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AD98C3-9F86-074A-8C34-E96A840F1118}"/>
              </a:ext>
            </a:extLst>
          </p:cNvPr>
          <p:cNvSpPr txBox="1"/>
          <p:nvPr/>
        </p:nvSpPr>
        <p:spPr>
          <a:xfrm>
            <a:off x="2235200" y="1562100"/>
            <a:ext cx="21336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PCA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2B8625-6952-A547-A605-19B839C00C0E}"/>
              </a:ext>
            </a:extLst>
          </p:cNvPr>
          <p:cNvSpPr/>
          <p:nvPr/>
        </p:nvSpPr>
        <p:spPr>
          <a:xfrm>
            <a:off x="4445000" y="1524000"/>
            <a:ext cx="2349500" cy="431800"/>
          </a:xfrm>
          <a:prstGeom prst="rect">
            <a:avLst/>
          </a:prstGeom>
          <a:solidFill>
            <a:srgbClr val="4B2E8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04692B-99C5-AA45-A8C3-1E1434924D00}"/>
              </a:ext>
            </a:extLst>
          </p:cNvPr>
          <p:cNvSpPr txBox="1"/>
          <p:nvPr/>
        </p:nvSpPr>
        <p:spPr>
          <a:xfrm>
            <a:off x="4521200" y="1562100"/>
            <a:ext cx="21971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Correspondence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D19E42-1A47-1D40-8A55-624A19E13561}"/>
              </a:ext>
            </a:extLst>
          </p:cNvPr>
          <p:cNvSpPr/>
          <p:nvPr/>
        </p:nvSpPr>
        <p:spPr>
          <a:xfrm>
            <a:off x="6794500" y="1524000"/>
            <a:ext cx="2413000" cy="431800"/>
          </a:xfrm>
          <a:prstGeom prst="rect">
            <a:avLst/>
          </a:prstGeom>
          <a:solidFill>
            <a:srgbClr val="4B2E8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2D8C6E-F3FB-6242-82C1-FE37A870C646}"/>
              </a:ext>
            </a:extLst>
          </p:cNvPr>
          <p:cNvSpPr txBox="1"/>
          <p:nvPr/>
        </p:nvSpPr>
        <p:spPr>
          <a:xfrm>
            <a:off x="6870700" y="1562100"/>
            <a:ext cx="22606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MDS (classical)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AE9663-330B-C841-88DF-1498487B1DB2}"/>
              </a:ext>
            </a:extLst>
          </p:cNvPr>
          <p:cNvSpPr/>
          <p:nvPr/>
        </p:nvSpPr>
        <p:spPr>
          <a:xfrm>
            <a:off x="9207500" y="1524000"/>
            <a:ext cx="2349500" cy="431800"/>
          </a:xfrm>
          <a:prstGeom prst="rect">
            <a:avLst/>
          </a:prstGeom>
          <a:solidFill>
            <a:srgbClr val="4B2E8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F7053D-F1C7-6E48-863C-A3AE3BDD2B49}"/>
              </a:ext>
            </a:extLst>
          </p:cNvPr>
          <p:cNvSpPr txBox="1"/>
          <p:nvPr/>
        </p:nvSpPr>
        <p:spPr>
          <a:xfrm>
            <a:off x="9283700" y="1562100"/>
            <a:ext cx="21971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Autoencoders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BFE19B-695F-1D44-B57C-AD9626F349FF}"/>
              </a:ext>
            </a:extLst>
          </p:cNvPr>
          <p:cNvSpPr/>
          <p:nvPr/>
        </p:nvSpPr>
        <p:spPr>
          <a:xfrm>
            <a:off x="635000" y="1955800"/>
            <a:ext cx="1524000" cy="584200"/>
          </a:xfrm>
          <a:prstGeom prst="rect">
            <a:avLst/>
          </a:prstGeom>
          <a:solidFill>
            <a:srgbClr val="EDE7F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F77804-8E51-4744-A95C-BF7599410510}"/>
              </a:ext>
            </a:extLst>
          </p:cNvPr>
          <p:cNvSpPr txBox="1"/>
          <p:nvPr/>
        </p:nvSpPr>
        <p:spPr>
          <a:xfrm>
            <a:off x="711200" y="1993900"/>
            <a:ext cx="13716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 b="1">
                <a:solidFill>
                  <a:srgbClr val="4B2E83"/>
                </a:solidFill>
              </a:rPr>
              <a:t>Input data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C3E5FE-7683-8348-A874-D7EE513175CA}"/>
              </a:ext>
            </a:extLst>
          </p:cNvPr>
          <p:cNvSpPr/>
          <p:nvPr/>
        </p:nvSpPr>
        <p:spPr>
          <a:xfrm>
            <a:off x="2159000" y="1955800"/>
            <a:ext cx="2286000" cy="5842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5FCAE1-ECBB-B945-8615-1BF1F9629EC7}"/>
              </a:ext>
            </a:extLst>
          </p:cNvPr>
          <p:cNvSpPr txBox="1"/>
          <p:nvPr/>
        </p:nvSpPr>
        <p:spPr>
          <a:xfrm>
            <a:off x="2235200" y="1993900"/>
            <a:ext cx="21336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Numeric matrix 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FD9C68-C720-EB4E-AEA8-3F559BC1C438}"/>
              </a:ext>
            </a:extLst>
          </p:cNvPr>
          <p:cNvSpPr/>
          <p:nvPr/>
        </p:nvSpPr>
        <p:spPr>
          <a:xfrm>
            <a:off x="4445000" y="1955800"/>
            <a:ext cx="2349500" cy="5842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AAD314-46D1-CD42-9F48-DBB74E3E616E}"/>
              </a:ext>
            </a:extLst>
          </p:cNvPr>
          <p:cNvSpPr txBox="1"/>
          <p:nvPr/>
        </p:nvSpPr>
        <p:spPr>
          <a:xfrm>
            <a:off x="4521200" y="1993900"/>
            <a:ext cx="21971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Contingency table 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1BD64B-CF23-C448-91A9-5B0CBB9FCB4B}"/>
              </a:ext>
            </a:extLst>
          </p:cNvPr>
          <p:cNvSpPr/>
          <p:nvPr/>
        </p:nvSpPr>
        <p:spPr>
          <a:xfrm>
            <a:off x="6794500" y="1955800"/>
            <a:ext cx="2413000" cy="5842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29A3AD-E934-1042-A6A6-162CE5671622}"/>
              </a:ext>
            </a:extLst>
          </p:cNvPr>
          <p:cNvSpPr txBox="1"/>
          <p:nvPr/>
        </p:nvSpPr>
        <p:spPr>
          <a:xfrm>
            <a:off x="6870700" y="1993900"/>
            <a:ext cx="22606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Distance / dissimilarity 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73CA13-B383-9140-9127-741843C9B438}"/>
              </a:ext>
            </a:extLst>
          </p:cNvPr>
          <p:cNvSpPr/>
          <p:nvPr/>
        </p:nvSpPr>
        <p:spPr>
          <a:xfrm>
            <a:off x="9207500" y="1955800"/>
            <a:ext cx="2349500" cy="5842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260A24-179D-3244-867C-A170064182E5}"/>
              </a:ext>
            </a:extLst>
          </p:cNvPr>
          <p:cNvSpPr txBox="1"/>
          <p:nvPr/>
        </p:nvSpPr>
        <p:spPr>
          <a:xfrm>
            <a:off x="9283700" y="1993900"/>
            <a:ext cx="21971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Numeric (any) X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07642EF-F9F9-BD44-B336-4972DB64045D}"/>
              </a:ext>
            </a:extLst>
          </p:cNvPr>
          <p:cNvSpPr/>
          <p:nvPr/>
        </p:nvSpPr>
        <p:spPr>
          <a:xfrm>
            <a:off x="635000" y="2540000"/>
            <a:ext cx="1524000" cy="508000"/>
          </a:xfrm>
          <a:prstGeom prst="rect">
            <a:avLst/>
          </a:prstGeom>
          <a:solidFill>
            <a:srgbClr val="EDE7F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BE4C6F-5F6B-8A46-8F55-D357C9EEB0BA}"/>
              </a:ext>
            </a:extLst>
          </p:cNvPr>
          <p:cNvSpPr txBox="1"/>
          <p:nvPr/>
        </p:nvSpPr>
        <p:spPr>
          <a:xfrm>
            <a:off x="711200" y="2578100"/>
            <a:ext cx="13716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 b="1">
                <a:solidFill>
                  <a:srgbClr val="4B2E83"/>
                </a:solidFill>
              </a:rPr>
              <a:t>Preserves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96B803B-AD72-8B40-9810-4D7A043E8D66}"/>
              </a:ext>
            </a:extLst>
          </p:cNvPr>
          <p:cNvSpPr/>
          <p:nvPr/>
        </p:nvSpPr>
        <p:spPr>
          <a:xfrm>
            <a:off x="2159000" y="2540000"/>
            <a:ext cx="2286000" cy="50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10A02F-76C5-0147-8EF6-ACF2E4EDAD11}"/>
              </a:ext>
            </a:extLst>
          </p:cNvPr>
          <p:cNvSpPr txBox="1"/>
          <p:nvPr/>
        </p:nvSpPr>
        <p:spPr>
          <a:xfrm>
            <a:off x="2235200" y="2578100"/>
            <a:ext cx="21336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Variance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1051F28-9A97-EC45-99B3-FD4695407712}"/>
              </a:ext>
            </a:extLst>
          </p:cNvPr>
          <p:cNvSpPr/>
          <p:nvPr/>
        </p:nvSpPr>
        <p:spPr>
          <a:xfrm>
            <a:off x="4445000" y="2540000"/>
            <a:ext cx="2349500" cy="50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0C4E283-2701-644B-A95E-7D6D9CF9B1D5}"/>
              </a:ext>
            </a:extLst>
          </p:cNvPr>
          <p:cNvSpPr txBox="1"/>
          <p:nvPr/>
        </p:nvSpPr>
        <p:spPr>
          <a:xfrm>
            <a:off x="4521200" y="2578100"/>
            <a:ext cx="21971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l-GR" sz="1350">
                <a:solidFill>
                  <a:srgbClr val="333333"/>
                </a:solidFill>
              </a:rPr>
              <a:t>χ² </a:t>
            </a:r>
            <a:r>
              <a:rPr lang="en-US" sz="1350">
                <a:solidFill>
                  <a:srgbClr val="333333"/>
                </a:solidFill>
              </a:rPr>
              <a:t>association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AFFDA58-16E2-4745-A4C3-B6B999DF7BE4}"/>
              </a:ext>
            </a:extLst>
          </p:cNvPr>
          <p:cNvSpPr/>
          <p:nvPr/>
        </p:nvSpPr>
        <p:spPr>
          <a:xfrm>
            <a:off x="6794500" y="2540000"/>
            <a:ext cx="2413000" cy="50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5C7E8C-A5AA-4B4D-8B15-909F60BC103B}"/>
              </a:ext>
            </a:extLst>
          </p:cNvPr>
          <p:cNvSpPr txBox="1"/>
          <p:nvPr/>
        </p:nvSpPr>
        <p:spPr>
          <a:xfrm>
            <a:off x="6870700" y="2578100"/>
            <a:ext cx="22606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Pairwise distances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A31C9D3-2AB4-B043-AE4E-8006E7F91B29}"/>
              </a:ext>
            </a:extLst>
          </p:cNvPr>
          <p:cNvSpPr/>
          <p:nvPr/>
        </p:nvSpPr>
        <p:spPr>
          <a:xfrm>
            <a:off x="9207500" y="2540000"/>
            <a:ext cx="2349500" cy="50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CF7BE21-83AD-574C-9F53-0A0F143E060D}"/>
              </a:ext>
            </a:extLst>
          </p:cNvPr>
          <p:cNvSpPr txBox="1"/>
          <p:nvPr/>
        </p:nvSpPr>
        <p:spPr>
          <a:xfrm>
            <a:off x="9283700" y="2578100"/>
            <a:ext cx="21971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Reconstruction fidelity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E165DC0-8F18-7D40-A2FA-9D428CF143F2}"/>
              </a:ext>
            </a:extLst>
          </p:cNvPr>
          <p:cNvSpPr/>
          <p:nvPr/>
        </p:nvSpPr>
        <p:spPr>
          <a:xfrm>
            <a:off x="635000" y="3048000"/>
            <a:ext cx="1524000" cy="431800"/>
          </a:xfrm>
          <a:prstGeom prst="rect">
            <a:avLst/>
          </a:prstGeom>
          <a:solidFill>
            <a:srgbClr val="EDE7F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2FACD7-6EF9-EF41-9B3E-C788DD105805}"/>
              </a:ext>
            </a:extLst>
          </p:cNvPr>
          <p:cNvSpPr txBox="1"/>
          <p:nvPr/>
        </p:nvSpPr>
        <p:spPr>
          <a:xfrm>
            <a:off x="711200" y="3086100"/>
            <a:ext cx="13716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 b="1">
                <a:solidFill>
                  <a:srgbClr val="4B2E83"/>
                </a:solidFill>
              </a:rPr>
              <a:t>Mapping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DFC05F1-2535-934E-A3F5-A4D84C930A56}"/>
              </a:ext>
            </a:extLst>
          </p:cNvPr>
          <p:cNvSpPr/>
          <p:nvPr/>
        </p:nvSpPr>
        <p:spPr>
          <a:xfrm>
            <a:off x="2159000" y="3048000"/>
            <a:ext cx="2286000" cy="4318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DED41B-0E37-884D-8CAB-D0426C4F23CB}"/>
              </a:ext>
            </a:extLst>
          </p:cNvPr>
          <p:cNvSpPr txBox="1"/>
          <p:nvPr/>
        </p:nvSpPr>
        <p:spPr>
          <a:xfrm>
            <a:off x="2235200" y="3086100"/>
            <a:ext cx="21336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Linear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780E08B-ADF7-9D44-8E2E-E4914289B03B}"/>
              </a:ext>
            </a:extLst>
          </p:cNvPr>
          <p:cNvSpPr/>
          <p:nvPr/>
        </p:nvSpPr>
        <p:spPr>
          <a:xfrm>
            <a:off x="4445000" y="3048000"/>
            <a:ext cx="2349500" cy="4318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585B1B-058E-E84F-8E13-43F8C96CC55A}"/>
              </a:ext>
            </a:extLst>
          </p:cNvPr>
          <p:cNvSpPr txBox="1"/>
          <p:nvPr/>
        </p:nvSpPr>
        <p:spPr>
          <a:xfrm>
            <a:off x="4521200" y="3086100"/>
            <a:ext cx="21971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Linear (of profiles)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DC76102-9D48-834E-B29C-BF3C24C1DFD6}"/>
              </a:ext>
            </a:extLst>
          </p:cNvPr>
          <p:cNvSpPr/>
          <p:nvPr/>
        </p:nvSpPr>
        <p:spPr>
          <a:xfrm>
            <a:off x="6794500" y="3048000"/>
            <a:ext cx="2413000" cy="4318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ACA122D-B433-4144-96A8-52CDD4494B37}"/>
              </a:ext>
            </a:extLst>
          </p:cNvPr>
          <p:cNvSpPr txBox="1"/>
          <p:nvPr/>
        </p:nvSpPr>
        <p:spPr>
          <a:xfrm>
            <a:off x="6870700" y="3086100"/>
            <a:ext cx="22606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Linear (classical)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570DAAC-20F1-FC47-8FB4-C4EC3F20014D}"/>
              </a:ext>
            </a:extLst>
          </p:cNvPr>
          <p:cNvSpPr/>
          <p:nvPr/>
        </p:nvSpPr>
        <p:spPr>
          <a:xfrm>
            <a:off x="9207500" y="3048000"/>
            <a:ext cx="2349500" cy="4318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9AD6DC1-A96B-E642-BB86-3BB95AD6496F}"/>
              </a:ext>
            </a:extLst>
          </p:cNvPr>
          <p:cNvSpPr txBox="1"/>
          <p:nvPr/>
        </p:nvSpPr>
        <p:spPr>
          <a:xfrm>
            <a:off x="9283700" y="3086100"/>
            <a:ext cx="21971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Nonlinear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737F146-AF26-5E4F-AF30-90F2D3CC2F38}"/>
              </a:ext>
            </a:extLst>
          </p:cNvPr>
          <p:cNvSpPr/>
          <p:nvPr/>
        </p:nvSpPr>
        <p:spPr>
          <a:xfrm>
            <a:off x="635000" y="3479800"/>
            <a:ext cx="1524000" cy="584200"/>
          </a:xfrm>
          <a:prstGeom prst="rect">
            <a:avLst/>
          </a:prstGeom>
          <a:solidFill>
            <a:srgbClr val="EDE7F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F10F26B-6D3E-C244-ACB0-27FA55DA687A}"/>
              </a:ext>
            </a:extLst>
          </p:cNvPr>
          <p:cNvSpPr txBox="1"/>
          <p:nvPr/>
        </p:nvSpPr>
        <p:spPr>
          <a:xfrm>
            <a:off x="711200" y="3517900"/>
            <a:ext cx="13716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 b="1">
                <a:solidFill>
                  <a:srgbClr val="4B2E83"/>
                </a:solidFill>
              </a:rPr>
              <a:t>Core operation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3027B97-D342-6B41-83A6-AF9667502D29}"/>
              </a:ext>
            </a:extLst>
          </p:cNvPr>
          <p:cNvSpPr/>
          <p:nvPr/>
        </p:nvSpPr>
        <p:spPr>
          <a:xfrm>
            <a:off x="2159000" y="3479800"/>
            <a:ext cx="2286000" cy="5842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1B3C761-63B1-5047-BB3B-65D30E5E27B7}"/>
              </a:ext>
            </a:extLst>
          </p:cNvPr>
          <p:cNvSpPr txBox="1"/>
          <p:nvPr/>
        </p:nvSpPr>
        <p:spPr>
          <a:xfrm>
            <a:off x="2235200" y="3517900"/>
            <a:ext cx="21336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Eigen-decomp of 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F2480D2-DCFB-8948-843B-654CC2C5CADD}"/>
              </a:ext>
            </a:extLst>
          </p:cNvPr>
          <p:cNvSpPr/>
          <p:nvPr/>
        </p:nvSpPr>
        <p:spPr>
          <a:xfrm>
            <a:off x="4445000" y="3479800"/>
            <a:ext cx="2349500" cy="5842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DEDCCBE-6C78-6E42-AE60-C0C7FE1F1530}"/>
              </a:ext>
            </a:extLst>
          </p:cNvPr>
          <p:cNvSpPr txBox="1"/>
          <p:nvPr/>
        </p:nvSpPr>
        <p:spPr>
          <a:xfrm>
            <a:off x="4521200" y="3517900"/>
            <a:ext cx="21971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SVD of residuals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3B0F1E6-041E-3C44-86F6-91AE6036EBC6}"/>
              </a:ext>
            </a:extLst>
          </p:cNvPr>
          <p:cNvSpPr/>
          <p:nvPr/>
        </p:nvSpPr>
        <p:spPr>
          <a:xfrm>
            <a:off x="6794500" y="3479800"/>
            <a:ext cx="2413000" cy="5842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E960FBA-33BF-FF40-9384-2F28AB707E65}"/>
              </a:ext>
            </a:extLst>
          </p:cNvPr>
          <p:cNvSpPr txBox="1"/>
          <p:nvPr/>
        </p:nvSpPr>
        <p:spPr>
          <a:xfrm>
            <a:off x="6870700" y="3517900"/>
            <a:ext cx="22606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Eigos of B=−½JD²J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18036F4-F597-D647-A8D7-39944579227E}"/>
              </a:ext>
            </a:extLst>
          </p:cNvPr>
          <p:cNvSpPr/>
          <p:nvPr/>
        </p:nvSpPr>
        <p:spPr>
          <a:xfrm>
            <a:off x="9207500" y="3479800"/>
            <a:ext cx="2349500" cy="5842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0456262-DD1E-D24B-8A7D-B70F2B4D334F}"/>
              </a:ext>
            </a:extLst>
          </p:cNvPr>
          <p:cNvSpPr txBox="1"/>
          <p:nvPr/>
        </p:nvSpPr>
        <p:spPr>
          <a:xfrm>
            <a:off x="9283700" y="3517900"/>
            <a:ext cx="21971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Gradient descent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8415E58-8671-954A-B036-E44EC6C8EF13}"/>
              </a:ext>
            </a:extLst>
          </p:cNvPr>
          <p:cNvSpPr/>
          <p:nvPr/>
        </p:nvSpPr>
        <p:spPr>
          <a:xfrm>
            <a:off x="635000" y="4064000"/>
            <a:ext cx="1524000" cy="508000"/>
          </a:xfrm>
          <a:prstGeom prst="rect">
            <a:avLst/>
          </a:prstGeom>
          <a:solidFill>
            <a:srgbClr val="EDE7F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C97A686-ECAB-AD46-91F5-7082A3D71B42}"/>
              </a:ext>
            </a:extLst>
          </p:cNvPr>
          <p:cNvSpPr txBox="1"/>
          <p:nvPr/>
        </p:nvSpPr>
        <p:spPr>
          <a:xfrm>
            <a:off x="711200" y="4102100"/>
            <a:ext cx="13716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 b="1">
                <a:solidFill>
                  <a:srgbClr val="4B2E83"/>
                </a:solidFill>
              </a:rPr>
              <a:t>Choose k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1146E23-7BD5-E847-9DB9-AB3589CB5A7E}"/>
              </a:ext>
            </a:extLst>
          </p:cNvPr>
          <p:cNvSpPr/>
          <p:nvPr/>
        </p:nvSpPr>
        <p:spPr>
          <a:xfrm>
            <a:off x="2159000" y="4064000"/>
            <a:ext cx="2286000" cy="5080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D56102C-42DC-654D-B8DE-B5176117DA1A}"/>
              </a:ext>
            </a:extLst>
          </p:cNvPr>
          <p:cNvSpPr txBox="1"/>
          <p:nvPr/>
        </p:nvSpPr>
        <p:spPr>
          <a:xfrm>
            <a:off x="2235200" y="4102100"/>
            <a:ext cx="21336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Scree / 80% var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DB0FD79-148B-154B-96AC-F2E79D02AEE0}"/>
              </a:ext>
            </a:extLst>
          </p:cNvPr>
          <p:cNvSpPr/>
          <p:nvPr/>
        </p:nvSpPr>
        <p:spPr>
          <a:xfrm>
            <a:off x="4445000" y="4064000"/>
            <a:ext cx="2349500" cy="5080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214FA00-A8A9-4F4B-AEC8-36A0402B20EE}"/>
              </a:ext>
            </a:extLst>
          </p:cNvPr>
          <p:cNvSpPr txBox="1"/>
          <p:nvPr/>
        </p:nvSpPr>
        <p:spPr>
          <a:xfrm>
            <a:off x="4521200" y="4102100"/>
            <a:ext cx="21971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Inertia share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960F987-FD1E-FE43-9802-EECEF346CB5F}"/>
              </a:ext>
            </a:extLst>
          </p:cNvPr>
          <p:cNvSpPr/>
          <p:nvPr/>
        </p:nvSpPr>
        <p:spPr>
          <a:xfrm>
            <a:off x="6794500" y="4064000"/>
            <a:ext cx="2413000" cy="5080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C1D306D-AB9B-084A-8A9E-9954FDFEEF1A}"/>
              </a:ext>
            </a:extLst>
          </p:cNvPr>
          <p:cNvSpPr txBox="1"/>
          <p:nvPr/>
        </p:nvSpPr>
        <p:spPr>
          <a:xfrm>
            <a:off x="6870700" y="4102100"/>
            <a:ext cx="22606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Stress / eigvals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61BA7E8-6020-1643-9DCE-B798EC7E2324}"/>
              </a:ext>
            </a:extLst>
          </p:cNvPr>
          <p:cNvSpPr/>
          <p:nvPr/>
        </p:nvSpPr>
        <p:spPr>
          <a:xfrm>
            <a:off x="9207500" y="4064000"/>
            <a:ext cx="2349500" cy="5080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E9DA168-F332-E34B-BC4C-B5A3FDEEAE5B}"/>
              </a:ext>
            </a:extLst>
          </p:cNvPr>
          <p:cNvSpPr txBox="1"/>
          <p:nvPr/>
        </p:nvSpPr>
        <p:spPr>
          <a:xfrm>
            <a:off x="9283700" y="4102100"/>
            <a:ext cx="21971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Search + val. loss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BC6DC3B-23F3-4248-B499-F54A96083CE7}"/>
              </a:ext>
            </a:extLst>
          </p:cNvPr>
          <p:cNvSpPr/>
          <p:nvPr/>
        </p:nvSpPr>
        <p:spPr>
          <a:xfrm>
            <a:off x="635000" y="4572000"/>
            <a:ext cx="1524000" cy="508000"/>
          </a:xfrm>
          <a:prstGeom prst="rect">
            <a:avLst/>
          </a:prstGeom>
          <a:solidFill>
            <a:srgbClr val="EDE7F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B6CBC11-E701-D146-BB94-CFD0D7ACE500}"/>
              </a:ext>
            </a:extLst>
          </p:cNvPr>
          <p:cNvSpPr txBox="1"/>
          <p:nvPr/>
        </p:nvSpPr>
        <p:spPr>
          <a:xfrm>
            <a:off x="711200" y="4610100"/>
            <a:ext cx="13716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 b="1">
                <a:solidFill>
                  <a:srgbClr val="4B2E83"/>
                </a:solidFill>
              </a:rPr>
              <a:t>Best for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D75BCAC-2C83-2242-AC52-C89A3427D5AC}"/>
              </a:ext>
            </a:extLst>
          </p:cNvPr>
          <p:cNvSpPr/>
          <p:nvPr/>
        </p:nvSpPr>
        <p:spPr>
          <a:xfrm>
            <a:off x="2159000" y="4572000"/>
            <a:ext cx="2286000" cy="50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0B2AD4A-0ACE-9543-BB19-5B53D176B7C8}"/>
              </a:ext>
            </a:extLst>
          </p:cNvPr>
          <p:cNvSpPr txBox="1"/>
          <p:nvPr/>
        </p:nvSpPr>
        <p:spPr>
          <a:xfrm>
            <a:off x="2235200" y="4610100"/>
            <a:ext cx="21336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Continuous features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D07DB27-589B-764C-A991-64603C0F9F06}"/>
              </a:ext>
            </a:extLst>
          </p:cNvPr>
          <p:cNvSpPr/>
          <p:nvPr/>
        </p:nvSpPr>
        <p:spPr>
          <a:xfrm>
            <a:off x="4445000" y="4572000"/>
            <a:ext cx="2349500" cy="50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B839195-BA05-B242-9587-4B84371A450A}"/>
              </a:ext>
            </a:extLst>
          </p:cNvPr>
          <p:cNvSpPr txBox="1"/>
          <p:nvPr/>
        </p:nvSpPr>
        <p:spPr>
          <a:xfrm>
            <a:off x="4521200" y="4610100"/>
            <a:ext cx="21971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Categorical cross-tabs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90D116B-A59D-D149-BAC8-B30BEB41B37E}"/>
              </a:ext>
            </a:extLst>
          </p:cNvPr>
          <p:cNvSpPr/>
          <p:nvPr/>
        </p:nvSpPr>
        <p:spPr>
          <a:xfrm>
            <a:off x="6794500" y="4572000"/>
            <a:ext cx="2413000" cy="50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E76237D-0E8C-E244-92AB-1D689105620C}"/>
              </a:ext>
            </a:extLst>
          </p:cNvPr>
          <p:cNvSpPr txBox="1"/>
          <p:nvPr/>
        </p:nvSpPr>
        <p:spPr>
          <a:xfrm>
            <a:off x="6870700" y="4610100"/>
            <a:ext cx="22606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Distances only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77272B7-9C55-8F43-A344-2077A80F5674}"/>
              </a:ext>
            </a:extLst>
          </p:cNvPr>
          <p:cNvSpPr/>
          <p:nvPr/>
        </p:nvSpPr>
        <p:spPr>
          <a:xfrm>
            <a:off x="9207500" y="4572000"/>
            <a:ext cx="2349500" cy="50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3FBA39E-4D6E-184A-BEB1-6C3930852EB9}"/>
              </a:ext>
            </a:extLst>
          </p:cNvPr>
          <p:cNvSpPr txBox="1"/>
          <p:nvPr/>
        </p:nvSpPr>
        <p:spPr>
          <a:xfrm>
            <a:off x="9283700" y="4610100"/>
            <a:ext cx="21971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Complex nonlinear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F9118C4-FE63-DE4D-9C3C-FF7A72ABADDC}"/>
              </a:ext>
            </a:extLst>
          </p:cNvPr>
          <p:cNvSpPr txBox="1"/>
          <p:nvPr/>
        </p:nvSpPr>
        <p:spPr>
          <a:xfrm>
            <a:off x="635000" y="5207000"/>
            <a:ext cx="1092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85754D"/>
                </a:solidFill>
              </a:rPr>
              <a:t>All four reduce dimensionality by finding a low-dim representation that best preserves a chosen notion of structure — variance, association, distance, or reconstruction.</a:t>
            </a:r>
          </a:p>
        </p:txBody>
      </p:sp>
    </p:spTree>
    <p:extLst>
      <p:ext uri="{BB962C8B-B14F-4D97-AF65-F5344CB8AC3E}">
        <p14:creationId xmlns:p14="http://schemas.microsoft.com/office/powerpoint/2010/main" val="286974747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3178730-897D-CC4E-8195-340BDFFEE8F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1E8FF2-3B6A-0941-9055-A9F9AC73436C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Which Method Should I Use?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F1F920-9AFB-C741-9673-2784BC7E6B6A}"/>
              </a:ext>
            </a:extLst>
          </p:cNvPr>
          <p:cNvSpPr txBox="1"/>
          <p:nvPr/>
        </p:nvSpPr>
        <p:spPr>
          <a:xfrm>
            <a:off x="762000" y="1473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85754D"/>
                </a:solidFill>
              </a:rPr>
              <a:t>Start from the data you have and the structure you care about.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6E4E3D7-A2E4-6746-B8A8-6FB3EB338A10}"/>
              </a:ext>
            </a:extLst>
          </p:cNvPr>
          <p:cNvSpPr/>
          <p:nvPr/>
        </p:nvSpPr>
        <p:spPr>
          <a:xfrm>
            <a:off x="762000" y="1930400"/>
            <a:ext cx="5207000" cy="1778000"/>
          </a:xfrm>
          <a:prstGeom prst="roundRect">
            <a:avLst/>
          </a:prstGeom>
          <a:solidFill>
            <a:srgbClr val="FBFAF7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4657FB-DE1A-D84C-88FE-5999C33B33DC}"/>
              </a:ext>
            </a:extLst>
          </p:cNvPr>
          <p:cNvSpPr/>
          <p:nvPr/>
        </p:nvSpPr>
        <p:spPr>
          <a:xfrm>
            <a:off x="762000" y="1930400"/>
            <a:ext cx="101600" cy="1778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77EE78-1B15-B140-9360-F56D1611D1B1}"/>
              </a:ext>
            </a:extLst>
          </p:cNvPr>
          <p:cNvSpPr txBox="1"/>
          <p:nvPr/>
        </p:nvSpPr>
        <p:spPr>
          <a:xfrm>
            <a:off x="1041400" y="2108200"/>
            <a:ext cx="2476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333333"/>
                </a:solidFill>
              </a:rPr>
              <a:t>Continuous variables,
linear structure?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B9B782-7B6B-304F-B7D4-7F9DFA44F720}"/>
              </a:ext>
            </a:extLst>
          </p:cNvPr>
          <p:cNvSpPr txBox="1"/>
          <p:nvPr/>
        </p:nvSpPr>
        <p:spPr>
          <a:xfrm>
            <a:off x="3810000" y="21336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→ PCA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AA281B-59A3-A743-A7D1-624C04A6F0D8}"/>
              </a:ext>
            </a:extLst>
          </p:cNvPr>
          <p:cNvSpPr txBox="1"/>
          <p:nvPr/>
        </p:nvSpPr>
        <p:spPr>
          <a:xfrm>
            <a:off x="1041400" y="2921000"/>
            <a:ext cx="46990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Maximize retained variance; fast, interpretable loadings. The default first thing to try.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1DB19FE-6A06-2043-B55E-191479EAA07A}"/>
              </a:ext>
            </a:extLst>
          </p:cNvPr>
          <p:cNvSpPr/>
          <p:nvPr/>
        </p:nvSpPr>
        <p:spPr>
          <a:xfrm>
            <a:off x="6223000" y="1930400"/>
            <a:ext cx="5207000" cy="1778000"/>
          </a:xfrm>
          <a:prstGeom prst="roundRect">
            <a:avLst/>
          </a:prstGeom>
          <a:solidFill>
            <a:srgbClr val="FBFAF7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8A805B-DEBD-5240-861D-AE0322FAB556}"/>
              </a:ext>
            </a:extLst>
          </p:cNvPr>
          <p:cNvSpPr/>
          <p:nvPr/>
        </p:nvSpPr>
        <p:spPr>
          <a:xfrm>
            <a:off x="6223000" y="1930400"/>
            <a:ext cx="101600" cy="1778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36E641-11A7-D346-AE26-A49C618903AB}"/>
              </a:ext>
            </a:extLst>
          </p:cNvPr>
          <p:cNvSpPr txBox="1"/>
          <p:nvPr/>
        </p:nvSpPr>
        <p:spPr>
          <a:xfrm>
            <a:off x="6502400" y="2108200"/>
            <a:ext cx="2476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333333"/>
                </a:solidFill>
              </a:rPr>
              <a:t>Counts in a
contingency table?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8DE51A-18FA-2F46-A4B7-99A383F4C65D}"/>
              </a:ext>
            </a:extLst>
          </p:cNvPr>
          <p:cNvSpPr txBox="1"/>
          <p:nvPr/>
        </p:nvSpPr>
        <p:spPr>
          <a:xfrm>
            <a:off x="9271000" y="21336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→ Correspondence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F51D24-D8F4-7B4C-88F0-DE76F0BA9682}"/>
              </a:ext>
            </a:extLst>
          </p:cNvPr>
          <p:cNvSpPr txBox="1"/>
          <p:nvPr/>
        </p:nvSpPr>
        <p:spPr>
          <a:xfrm>
            <a:off x="6502400" y="2921000"/>
            <a:ext cx="46990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Map row &amp; column categories by </a:t>
            </a:r>
            <a:r>
              <a:rPr lang="el-GR" sz="1400">
                <a:solidFill>
                  <a:srgbClr val="333333"/>
                </a:solidFill>
              </a:rPr>
              <a:t>χ² </a:t>
            </a:r>
            <a:r>
              <a:rPr lang="en-US" sz="1400">
                <a:solidFill>
                  <a:srgbClr val="333333"/>
                </a:solidFill>
              </a:rPr>
              <a:t>association. Built for categorical cross-tabulations.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4F875CA-A6BD-2541-983A-E31ED2FB4556}"/>
              </a:ext>
            </a:extLst>
          </p:cNvPr>
          <p:cNvSpPr/>
          <p:nvPr/>
        </p:nvSpPr>
        <p:spPr>
          <a:xfrm>
            <a:off x="762000" y="3937000"/>
            <a:ext cx="5207000" cy="1778000"/>
          </a:xfrm>
          <a:prstGeom prst="roundRect">
            <a:avLst/>
          </a:prstGeom>
          <a:solidFill>
            <a:srgbClr val="FBFAF7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464EF7-B300-4845-9C85-F3241CF36DD0}"/>
              </a:ext>
            </a:extLst>
          </p:cNvPr>
          <p:cNvSpPr/>
          <p:nvPr/>
        </p:nvSpPr>
        <p:spPr>
          <a:xfrm>
            <a:off x="762000" y="3937000"/>
            <a:ext cx="101600" cy="1778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D803D6-CD8B-3B41-B837-6B531B3589EC}"/>
              </a:ext>
            </a:extLst>
          </p:cNvPr>
          <p:cNvSpPr txBox="1"/>
          <p:nvPr/>
        </p:nvSpPr>
        <p:spPr>
          <a:xfrm>
            <a:off x="1041400" y="4114800"/>
            <a:ext cx="2476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333333"/>
                </a:solidFill>
              </a:rPr>
              <a:t>Only distances /
dissimilarities given?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5023CC-BB2A-874C-855E-44E59F187204}"/>
              </a:ext>
            </a:extLst>
          </p:cNvPr>
          <p:cNvSpPr txBox="1"/>
          <p:nvPr/>
        </p:nvSpPr>
        <p:spPr>
          <a:xfrm>
            <a:off x="3810000" y="41402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D1578A"/>
                </a:solidFill>
              </a:rPr>
              <a:t>→ MDS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AF5923-1AB6-2349-AE3A-A57C1CA70542}"/>
              </a:ext>
            </a:extLst>
          </p:cNvPr>
          <p:cNvSpPr txBox="1"/>
          <p:nvPr/>
        </p:nvSpPr>
        <p:spPr>
          <a:xfrm>
            <a:off x="1041400" y="4927600"/>
            <a:ext cx="46990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Recover coordinates from a distance matrix. Classical = metric; nonmetric for ranks.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C06B14D-A324-B142-BD30-65CFF4F33D91}"/>
              </a:ext>
            </a:extLst>
          </p:cNvPr>
          <p:cNvSpPr/>
          <p:nvPr/>
        </p:nvSpPr>
        <p:spPr>
          <a:xfrm>
            <a:off x="6223000" y="3937000"/>
            <a:ext cx="5207000" cy="1778000"/>
          </a:xfrm>
          <a:prstGeom prst="roundRect">
            <a:avLst/>
          </a:prstGeom>
          <a:solidFill>
            <a:srgbClr val="FBFAF7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2D8E149-CC72-5A47-885E-7494E217ECDA}"/>
              </a:ext>
            </a:extLst>
          </p:cNvPr>
          <p:cNvSpPr/>
          <p:nvPr/>
        </p:nvSpPr>
        <p:spPr>
          <a:xfrm>
            <a:off x="6223000" y="3937000"/>
            <a:ext cx="101600" cy="17780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3E3497-3B24-8845-BDC2-281BC976021B}"/>
              </a:ext>
            </a:extLst>
          </p:cNvPr>
          <p:cNvSpPr txBox="1"/>
          <p:nvPr/>
        </p:nvSpPr>
        <p:spPr>
          <a:xfrm>
            <a:off x="6502400" y="4114800"/>
            <a:ext cx="2476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333333"/>
                </a:solidFill>
              </a:rPr>
              <a:t>Nonlinear structure,
lots of data?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F049B8-1F79-1649-A673-0B3CFFB74238}"/>
              </a:ext>
            </a:extLst>
          </p:cNvPr>
          <p:cNvSpPr txBox="1"/>
          <p:nvPr/>
        </p:nvSpPr>
        <p:spPr>
          <a:xfrm>
            <a:off x="9271000" y="41402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7AB648"/>
                </a:solidFill>
              </a:rPr>
              <a:t>→ Autoencoders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7D3F55-1A78-794E-80AA-2133C6765A23}"/>
              </a:ext>
            </a:extLst>
          </p:cNvPr>
          <p:cNvSpPr txBox="1"/>
          <p:nvPr/>
        </p:nvSpPr>
        <p:spPr>
          <a:xfrm>
            <a:off x="6502400" y="4927600"/>
            <a:ext cx="46990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Learn a flexible nonlinear embedding. Needs tuning &amp; data, but most expressive.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4C0160-2FE9-9A40-85BE-76AF4D5FE6B0}"/>
              </a:ext>
            </a:extLst>
          </p:cNvPr>
          <p:cNvSpPr txBox="1"/>
          <p:nvPr/>
        </p:nvSpPr>
        <p:spPr>
          <a:xfrm>
            <a:off x="762000" y="5994400"/>
            <a:ext cx="1066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85754D"/>
                </a:solidFill>
              </a:rPr>
              <a:t>Tip: PCA, CA and classical MDS are mathematically close cousins (all eigen/SVD-based). Reach for autoencoders only when linear methods leave clear structure on the table.</a:t>
            </a:r>
          </a:p>
        </p:txBody>
      </p:sp>
    </p:spTree>
    <p:extLst>
      <p:ext uri="{BB962C8B-B14F-4D97-AF65-F5344CB8AC3E}">
        <p14:creationId xmlns:p14="http://schemas.microsoft.com/office/powerpoint/2010/main" val="1087325029"/>
      </p:ext>
    </p:extLst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4B2E83"/>
                </a:solidFill>
                <a:latin typeface="Encode Sans"/>
              </a:rPr>
              <a:t>Multidimensional Scaling</a:t>
            </a:r>
          </a:p>
          <a:p>
            <a:r>
              <a:rPr sz="3600" b="1">
                <a:solidFill>
                  <a:srgbClr val="4B2E83"/>
                </a:solidFill>
                <a:latin typeface="Encode Sans"/>
              </a:rPr>
              <a:t>and Autoencoders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85754D"/>
                </a:solidFill>
                <a:latin typeface="Encode Sans"/>
              </a:rPr>
              <a:t>BDATA 412: Advanced Data Visualization</a:t>
            </a:r>
          </a:p>
          <a:p>
            <a:r>
              <a:rPr sz="1800">
                <a:solidFill>
                  <a:srgbClr val="666666"/>
                </a:solidFill>
                <a:latin typeface="Encode Sans"/>
              </a:rPr>
              <a:t>University of Washington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394970-FCFA-F222-F4ED-8442DB25E364}"/>
              </a:ext>
            </a:extLst>
          </p:cNvPr>
          <p:cNvSpPr/>
          <p:nvPr/>
        </p:nvSpPr>
        <p:spPr>
          <a:xfrm>
            <a:off x="10668000" y="239844"/>
            <a:ext cx="1379096" cy="1349114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rPr lang="en-US" dirty="0"/>
              <a:t>7</a:t>
            </a:r>
            <a:endParaRPr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75876968803]">
  <a:themeElements>
    <a:clrScheme name="University of Washington">
      <a:dk1>
        <a:srgbClr val="333333"/>
      </a:dk1>
      <a:lt1>
        <a:srgbClr val="FFFFFF"/>
      </a:lt1>
      <a:dk2>
        <a:srgbClr val="4B2E83"/>
      </a:dk2>
      <a:lt2>
        <a:srgbClr val="F5F0EB"/>
      </a:lt2>
      <a:accent1>
        <a:srgbClr val="4B2E83"/>
      </a:accent1>
      <a:accent2>
        <a:srgbClr val="B7A57A"/>
      </a:accent2>
      <a:accent3>
        <a:srgbClr val="85754D"/>
      </a:accent3>
      <a:accent4>
        <a:srgbClr val="00A7B5"/>
      </a:accent4>
      <a:accent5>
        <a:srgbClr val="7AB648"/>
      </a:accent5>
      <a:accent6>
        <a:srgbClr val="D1578A"/>
      </a:accent6>
      <a:hlink>
        <a:srgbClr val="0563C1"/>
      </a:hlink>
      <a:folHlink>
        <a:srgbClr val="954F72"/>
      </a:folHlink>
    </a:clrScheme>
    <a:fontScheme name="Bellevue Colleg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c79faba-e8d3-4fb7-9062-0409eb8478fa}">
  <we:reference id="WA200010001" version="1.0.0.0" store="en-US" storeType="OMEX"/>
  <we:alternateReferences/>
  <we:properties>
    <we:property name="Microsoft.Office.CampaignId" value="&quot;none&quot;"/>
    <we:property name="claude.fileId" value="&quot;9777158b-f629-46ff-aa04-06fe8115a595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10189</TotalTime>
  <Words>28135</Words>
  <Application>Microsoft Macintosh PowerPoint</Application>
  <PresentationFormat>Widescreen</PresentationFormat>
  <Paragraphs>2699</Paragraphs>
  <Slides>241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241</vt:i4>
      </vt:variant>
    </vt:vector>
  </HeadingPairs>
  <TitlesOfParts>
    <vt:vector size="247" baseType="lpstr">
      <vt:lpstr>Aptos</vt:lpstr>
      <vt:lpstr>Arial</vt:lpstr>
      <vt:lpstr>Calibri</vt:lpstr>
      <vt:lpstr>Cambria Math</vt:lpstr>
      <vt:lpstr>Consolas</vt:lpstr>
      <vt:lpstr>Office Theme [1775876968803]</vt:lpstr>
      <vt:lpstr>Latent Variables &amp; Embeddings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Pedro Albuquerque</cp:lastModifiedBy>
  <cp:revision>151</cp:revision>
  <dcterms:created xsi:type="dcterms:W3CDTF">2018-06-07T21:39:02Z</dcterms:created>
  <dcterms:modified xsi:type="dcterms:W3CDTF">2026-06-21T16:57:13Z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