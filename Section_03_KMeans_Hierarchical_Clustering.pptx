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4" r:id="rId4"/>
  </p:sldMasterIdLst>
  <p:notesMasterIdLst>
    <p:notesMasterId r:id="rId116"/>
  </p:notesMasterIdLst>
  <p:sldIdLst>
    <p:sldId id="257" r:id="rId5"/>
    <p:sldId id="448" r:id="rId6"/>
    <p:sldId id="447" r:id="rId7"/>
    <p:sldId id="446" r:id="rId8"/>
    <p:sldId id="490" r:id="rId9"/>
    <p:sldId id="434" r:id="rId10"/>
    <p:sldId id="492" r:id="rId11"/>
    <p:sldId id="437" r:id="rId12"/>
    <p:sldId id="438" r:id="rId13"/>
    <p:sldId id="430" r:id="rId14"/>
    <p:sldId id="440" r:id="rId15"/>
    <p:sldId id="494" r:id="rId16"/>
    <p:sldId id="496" r:id="rId17"/>
    <p:sldId id="498" r:id="rId18"/>
    <p:sldId id="499" r:id="rId19"/>
    <p:sldId id="500" r:id="rId20"/>
    <p:sldId id="501" r:id="rId21"/>
    <p:sldId id="502" r:id="rId22"/>
    <p:sldId id="441" r:id="rId23"/>
    <p:sldId id="442" r:id="rId24"/>
    <p:sldId id="443" r:id="rId25"/>
    <p:sldId id="524" r:id="rId26"/>
    <p:sldId id="526" r:id="rId27"/>
    <p:sldId id="528" r:id="rId28"/>
    <p:sldId id="530" r:id="rId29"/>
    <p:sldId id="509" r:id="rId30"/>
    <p:sldId id="531" r:id="rId31"/>
    <p:sldId id="533" r:id="rId32"/>
    <p:sldId id="538" r:id="rId33"/>
    <p:sldId id="537" r:id="rId34"/>
    <p:sldId id="539" r:id="rId35"/>
    <p:sldId id="541" r:id="rId36"/>
    <p:sldId id="543" r:id="rId37"/>
    <p:sldId id="545" r:id="rId38"/>
    <p:sldId id="445" r:id="rId39"/>
    <p:sldId id="547" r:id="rId40"/>
    <p:sldId id="549" r:id="rId41"/>
    <p:sldId id="551" r:id="rId42"/>
    <p:sldId id="553" r:id="rId43"/>
    <p:sldId id="555" r:id="rId44"/>
    <p:sldId id="557" r:id="rId45"/>
    <p:sldId id="559" r:id="rId46"/>
    <p:sldId id="561" r:id="rId47"/>
    <p:sldId id="563" r:id="rId48"/>
    <p:sldId id="456" r:id="rId49"/>
    <p:sldId id="449" r:id="rId50"/>
    <p:sldId id="513" r:id="rId51"/>
    <p:sldId id="450" r:id="rId52"/>
    <p:sldId id="514" r:id="rId53"/>
    <p:sldId id="515" r:id="rId54"/>
    <p:sldId id="516" r:id="rId55"/>
    <p:sldId id="517" r:id="rId56"/>
    <p:sldId id="518" r:id="rId57"/>
    <p:sldId id="451" r:id="rId58"/>
    <p:sldId id="564" r:id="rId59"/>
    <p:sldId id="566" r:id="rId60"/>
    <p:sldId id="568" r:id="rId61"/>
    <p:sldId id="569" r:id="rId62"/>
    <p:sldId id="571" r:id="rId63"/>
    <p:sldId id="572" r:id="rId64"/>
    <p:sldId id="574" r:id="rId65"/>
    <p:sldId id="576" r:id="rId66"/>
    <p:sldId id="589" r:id="rId67"/>
    <p:sldId id="590" r:id="rId68"/>
    <p:sldId id="581" r:id="rId69"/>
    <p:sldId id="583" r:id="rId70"/>
    <p:sldId id="585" r:id="rId71"/>
    <p:sldId id="586" r:id="rId72"/>
    <p:sldId id="588" r:id="rId73"/>
    <p:sldId id="453" r:id="rId74"/>
    <p:sldId id="454" r:id="rId75"/>
    <p:sldId id="455" r:id="rId76"/>
    <p:sldId id="302" r:id="rId77"/>
    <p:sldId id="457" r:id="rId78"/>
    <p:sldId id="458" r:id="rId79"/>
    <p:sldId id="459" r:id="rId80"/>
    <p:sldId id="460" r:id="rId81"/>
    <p:sldId id="461" r:id="rId82"/>
    <p:sldId id="462" r:id="rId83"/>
    <p:sldId id="463" r:id="rId84"/>
    <p:sldId id="464" r:id="rId8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2E83"/>
    <a:srgbClr val="D1578A"/>
    <a:srgbClr val="F2C11E"/>
    <a:srgbClr val="FFE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64"/>
    <p:restoredTop sz="93827"/>
  </p:normalViewPr>
  <p:slideViewPr>
    <p:cSldViewPr snapToGrid="0" snapToObjects="1">
      <p:cViewPr varScale="1">
        <p:scale>
          <a:sx n="125" d="100"/>
          <a:sy n="125" d="100"/>
        </p:scale>
        <p:origin x="168" y="1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66.xml"/><Relationship Id="rId71" Type="http://schemas.openxmlformats.org/officeDocument/2006/relationships/slide" Target="slides/slide67.xml"/><Relationship Id="rId72" Type="http://schemas.openxmlformats.org/officeDocument/2006/relationships/slide" Target="slides/slide68.xml"/><Relationship Id="rId73" Type="http://schemas.openxmlformats.org/officeDocument/2006/relationships/slide" Target="slides/slide69.xml"/><Relationship Id="rId74" Type="http://schemas.openxmlformats.org/officeDocument/2006/relationships/slide" Target="slides/slide70.xml"/><Relationship Id="rId75" Type="http://schemas.openxmlformats.org/officeDocument/2006/relationships/slide" Target="slides/slide71.xml"/><Relationship Id="rId76" Type="http://schemas.openxmlformats.org/officeDocument/2006/relationships/slide" Target="slides/slide72.xml"/><Relationship Id="rId77" Type="http://schemas.openxmlformats.org/officeDocument/2006/relationships/slide" Target="slides/slide73.xml"/><Relationship Id="rId78" Type="http://schemas.openxmlformats.org/officeDocument/2006/relationships/slide" Target="slides/slide74.xml"/><Relationship Id="rId79" Type="http://schemas.openxmlformats.org/officeDocument/2006/relationships/slide" Target="slides/slide75.xml"/><Relationship Id="rId80" Type="http://schemas.openxmlformats.org/officeDocument/2006/relationships/slide" Target="slides/slide76.xml"/><Relationship Id="rId81" Type="http://schemas.openxmlformats.org/officeDocument/2006/relationships/slide" Target="slides/slide77.xml"/><Relationship Id="rId82" Type="http://schemas.openxmlformats.org/officeDocument/2006/relationships/slide" Target="slides/slide78.xml"/><Relationship Id="rId83" Type="http://schemas.openxmlformats.org/officeDocument/2006/relationships/slide" Target="slides/slide79.xml"/><Relationship Id="rId84" Type="http://schemas.openxmlformats.org/officeDocument/2006/relationships/slide" Target="slides/slide80.xml"/><Relationship Id="rId85" Type="http://schemas.openxmlformats.org/officeDocument/2006/relationships/slide" Target="slides/slide81.xml"/><Relationship Id="rId116" Type="http://schemas.openxmlformats.org/officeDocument/2006/relationships/notesMaster" Target="notesMasters/notesMaster1.xml"/><Relationship Id="rId117" Type="http://schemas.openxmlformats.org/officeDocument/2006/relationships/presProps" Target="presProps.xml"/><Relationship Id="rId118" Type="http://schemas.openxmlformats.org/officeDocument/2006/relationships/viewProps" Target="viewProps.xml"/><Relationship Id="rId119" Type="http://schemas.openxmlformats.org/officeDocument/2006/relationships/theme" Target="theme/theme1.xml"/><Relationship Id="rId120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/>
            </a:pPr>
            <a:r>
              <a:rPr lang="en-US" sz="1600"/>
              <a:t>Inertia J vs. k</a:t>
            </a:r>
          </a:p>
        </c:rich>
      </c:tx>
      <c:overlay val="0"/>
    </c:title>
    <c:autoTitleDeleted val="0"/>
    <c:plotArea>
      <c:layout/>
      <c:lineChart>
        <c:grouping val="standard"/>
        <c:varyColors val="1"/>
        <c:ser>
          <c:idx val="0"/>
          <c:order val="0"/>
          <c:tx>
            <c:v>J(k)</c:v>
          </c:tx>
          <c:marker>
            <c:symbol val="circle"/>
            <c:size val="6"/>
          </c:marker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strLit>
          </c:cat>
          <c:val>
            <c:numLit>
              <c:formatCode>General</c:formatCode>
              <c:ptCount val="6"/>
              <c:pt idx="0">
                <c:v>820</c:v>
              </c:pt>
              <c:pt idx="1">
                <c:v>340</c:v>
              </c:pt>
              <c:pt idx="2">
                <c:v>95</c:v>
              </c:pt>
              <c:pt idx="3">
                <c:v>78</c:v>
              </c:pt>
              <c:pt idx="4">
                <c:v>64</c:v>
              </c:pt>
              <c:pt idx="5">
                <c:v>55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4C17-B242-BD8D-663844BBD5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sz="1400"/>
                  <a:t>k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9E4F28-BF19-8E4B-A267-F456DA2B306E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F15BD0-F2D7-F343-84F0-98B3430FB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807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15BD0-F2D7-F343-84F0-98B3430FBE6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6879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15BD0-F2D7-F343-84F0-98B3430FBE6F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1900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15BD0-F2D7-F343-84F0-98B3430FBE6F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1900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15BD0-F2D7-F343-84F0-98B3430FBE6F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19002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TopAccentBar"/>
          <p:cNvSpPr/>
          <p:nvPr userDrawn="1"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GoldAccentLine"/>
          <p:cNvSpPr/>
          <p:nvPr userDrawn="1"/>
        </p:nvSpPr>
        <p:spPr>
          <a:xfrm>
            <a:off x="0" y="91440"/>
            <a:ext cx="12192000" cy="27432"/>
          </a:xfrm>
          <a:prstGeom prst="rect">
            <a:avLst/>
          </a:prstGeom>
          <a:solidFill>
            <a:srgbClr val="F2C0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BottomAccentBar"/>
          <p:cNvSpPr/>
          <p:nvPr userDrawn="1"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1" name="BCTopBar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2" name="BCSilverLine"/>
          <p:cNvSpPr/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3" name="BCBottomBar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4" name="BCLogo"/>
          <p:cNvSpPr/>
          <p:nvPr/>
        </p:nvSpPr>
        <p:spPr>
          <a:xfrm>
            <a:off x="9144000" y="64008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91440" bIns="0" anchor="ctr" anchorCtr="0"/>
          <a:lstStyle/>
          <a:p>
            <a:pPr algn="r"/>
            <a:endParaRPr lang="en-US" sz="900" b="1" spc="200" dirty="0">
              <a:solidFill>
                <a:srgbClr val="4B2E83"/>
              </a:solidFill>
              <a:latin typeface="Arial"/>
            </a:endParaRPr>
          </a:p>
        </p:txBody>
      </p:sp>
      <p:sp>
        <p:nvSpPr>
          <p:cNvPr id="2010" name="AuthorInfo"/>
          <p:cNvSpPr/>
          <p:nvPr/>
        </p:nvSpPr>
        <p:spPr>
          <a:xfrm>
            <a:off x="152400" y="6400800"/>
            <a:ext cx="85344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/>
          <a:lstStyle/>
          <a:p>
            <a:pPr algn="l"/>
            <a:r>
              <a:rPr lang="en-US" sz="900" dirty="0">
                <a:solidFill>
                  <a:srgbClr val="4B2E83"/>
                </a:solidFill>
                <a:latin typeface="+mn-lt"/>
              </a:rPr>
              <a:t>Pedro Albuquerque, PhD (</a:t>
            </a:r>
            <a:r>
              <a:rPr lang="en-US" sz="900" dirty="0" err="1">
                <a:solidFill>
                  <a:srgbClr val="4B2E83"/>
                </a:solidFill>
                <a:latin typeface="+mn-lt"/>
              </a:rPr>
              <a:t>pedroalb@uwb.edu</a:t>
            </a:r>
            <a:r>
              <a:rPr lang="en-US" sz="900" dirty="0">
                <a:solidFill>
                  <a:srgbClr val="4B2E83"/>
                </a:solidFill>
                <a:latin typeface="+mn-lt"/>
              </a:rPr>
              <a:t>)</a:t>
            </a:r>
          </a:p>
        </p:txBody>
      </p:sp>
      <p:pic>
        <p:nvPicPr>
          <p:cNvPr id="9" name="Picture 8" descr="A purple letters on a black background&#10;&#10;AI-generated content may be incorrect.">
            <a:extLst>
              <a:ext uri="{FF2B5EF4-FFF2-40B4-BE49-F238E27FC236}">
                <a16:creationId xmlns:a16="http://schemas.microsoft.com/office/drawing/2014/main" id="{E462ACF0-778E-E7EE-EC6D-064CC249F90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9372600" y="6473509"/>
            <a:ext cx="2743200" cy="21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9" r:id="rId4"/>
    <p:sldLayoutId id="2147483740" r:id="rId5"/>
    <p:sldLayoutId id="2147483741" r:id="rId6"/>
    <p:sldLayoutId id="2147483742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4B2E8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D374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D374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D374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74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74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rgbClr val="2D3748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0.png"/><Relationship Id="rId3" Type="http://schemas.openxmlformats.org/officeDocument/2006/relationships/image" Target="../media/image31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0.png"/><Relationship Id="rId3" Type="http://schemas.openxmlformats.org/officeDocument/2006/relationships/image" Target="../media/image380.png"/><Relationship Id="rId4" Type="http://schemas.openxmlformats.org/officeDocument/2006/relationships/image" Target="../media/image39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png"/><Relationship Id="rId3" Type="http://schemas.openxmlformats.org/officeDocument/2006/relationships/image" Target="../media/image420.png"/><Relationship Id="rId4" Type="http://schemas.openxmlformats.org/officeDocument/2006/relationships/image" Target="../media/image43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0.png"/><Relationship Id="rId3" Type="http://schemas.openxmlformats.org/officeDocument/2006/relationships/image" Target="../media/image450.png"/><Relationship Id="rId4" Type="http://schemas.openxmlformats.org/officeDocument/2006/relationships/image" Target="../media/image460.png"/><Relationship Id="rId5" Type="http://schemas.openxmlformats.org/officeDocument/2006/relationships/image" Target="../media/image47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0.png"/><Relationship Id="rId3" Type="http://schemas.openxmlformats.org/officeDocument/2006/relationships/image" Target="../media/image490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9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9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0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0.png"/><Relationship Id="rId3" Type="http://schemas.openxmlformats.org/officeDocument/2006/relationships/chart" Target="../charts/char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0.png"/><Relationship Id="rId3" Type="http://schemas.openxmlformats.org/officeDocument/2006/relationships/image" Target="../media/image540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0.png"/><Relationship Id="rId3" Type="http://schemas.openxmlformats.org/officeDocument/2006/relationships/image" Target="../media/image560.png"/><Relationship Id="rId4" Type="http://schemas.openxmlformats.org/officeDocument/2006/relationships/image" Target="../media/image570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0.png"/><Relationship Id="rId3" Type="http://schemas.openxmlformats.org/officeDocument/2006/relationships/image" Target="../media/image590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0.png"/><Relationship Id="rId3" Type="http://schemas.openxmlformats.org/officeDocument/2006/relationships/image" Target="../media/image610.png"/><Relationship Id="rId4" Type="http://schemas.openxmlformats.org/officeDocument/2006/relationships/image" Target="../media/image620.png"/><Relationship Id="rId5" Type="http://schemas.openxmlformats.org/officeDocument/2006/relationships/image" Target="../media/image630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0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0.png"/><Relationship Id="rId3" Type="http://schemas.openxmlformats.org/officeDocument/2006/relationships/image" Target="../media/image660.png"/><Relationship Id="rId4" Type="http://schemas.openxmlformats.org/officeDocument/2006/relationships/image" Target="../media/image670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0.png"/><Relationship Id="rId3" Type="http://schemas.openxmlformats.org/officeDocument/2006/relationships/image" Target="../media/image690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0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0.png"/><Relationship Id="rId3" Type="http://schemas.openxmlformats.org/officeDocument/2006/relationships/image" Target="../media/image720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0.png"/><Relationship Id="rId3" Type="http://schemas.openxmlformats.org/officeDocument/2006/relationships/image" Target="../media/image740.png"/><Relationship Id="rId4" Type="http://schemas.openxmlformats.org/officeDocument/2006/relationships/image" Target="../media/image7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algn="l"/>
            <a:r>
              <a:rPr lang="en-US" sz="3600" b="1">
                <a:solidFill>
                  <a:srgbClr val="FFFFFF"/>
                </a:solidFill>
                <a:latin typeface="Encode Sans"/>
              </a:rPr>
              <a:t>K-Means and</a:t>
            </a:r>
          </a:p>
          <a:p>
            <a:pPr algn="l"/>
            <a:r>
              <a:rPr lang="en-US" sz="3600" b="1">
                <a:solidFill>
                  <a:srgbClr val="FFFFFF"/>
                </a:solidFill>
                <a:latin typeface="Encode Sans"/>
              </a:rPr>
              <a:t>Hierarchical Clustering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l"/>
            <a:r>
              <a:rPr lang="en-US" sz="2000">
                <a:solidFill>
                  <a:srgbClr val="FFFFFF"/>
                </a:solidFill>
                <a:latin typeface="Encode Sans"/>
              </a:rPr>
              <a:t>BDATA 412: Advanced Data Visualization</a:t>
            </a:r>
          </a:p>
          <a:p>
            <a:pPr algn="l"/>
            <a:r>
              <a:rPr lang="en-US" sz="1800">
                <a:solidFill>
                  <a:srgbClr val="E8D3FF"/>
                </a:solidFill>
                <a:latin typeface="Encode Sans"/>
              </a:rPr>
              <a:t>University of Washington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A394970-FCFA-F222-F4ED-8442DB25E364}"/>
              </a:ext>
            </a:extLst>
          </p:cNvPr>
          <p:cNvSpPr/>
          <p:nvPr/>
        </p:nvSpPr>
        <p:spPr>
          <a:xfrm>
            <a:off x="10668000" y="239844"/>
            <a:ext cx="1379096" cy="1349114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rPr lang="en-US" dirty="0"/>
              <a:t>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0264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DF5A8-3D66-39AA-C0FB-6C6F8A4F1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Course Roadmap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E31EDFC-AE34-914A-B76F-E80BDA52C870}"/>
              </a:ext>
            </a:extLst>
          </p:cNvPr>
          <p:cNvSpPr/>
          <p:nvPr/>
        </p:nvSpPr>
        <p:spPr>
          <a:xfrm>
            <a:off x="838200" y="1879600"/>
            <a:ext cx="5143500" cy="1016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231A6DE-09B9-9A40-A953-A515B07C1602}"/>
              </a:ext>
            </a:extLst>
          </p:cNvPr>
          <p:cNvSpPr/>
          <p:nvPr/>
        </p:nvSpPr>
        <p:spPr>
          <a:xfrm>
            <a:off x="1016000" y="2070100"/>
            <a:ext cx="635000" cy="6350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5579302-D2BF-FF4F-8098-5AE688162E7A}"/>
                  </a:ext>
                </a:extLst>
              </p:cNvPr>
              <p:cNvSpPr txBox="1"/>
              <p:nvPr/>
            </p:nvSpPr>
            <p:spPr>
              <a:xfrm>
                <a:off x="1828800" y="2125990"/>
                <a:ext cx="3975100" cy="52322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  <a:latin typeface="Arial"/>
                  </a:rPr>
                  <a:t>Foundations</a:t>
                </a:r>
              </a:p>
              <a:p>
                <a:pPr>
                  <a:buNone/>
                </a:pPr>
                <a:r>
                  <a:rPr lang="en-US" sz="1200" dirty="0">
                    <a:solidFill>
                      <a:srgbClr val="595959"/>
                    </a:solidFill>
                  </a:rPr>
                  <a:t>Clusters, distance, norms, the data matrix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2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200">
                        <a:solidFill>
                          <a:srgbClr val="595959"/>
                        </a:solidFill>
                      </a:rPr>
                      <a:t>X</a:t>
                    </a:r>
                  </mc:Fallback>
                </mc:AlternateContent>
                <a:endParaRPr lang="en-US" sz="1200" dirty="0">
                  <a:solidFill>
                    <a:srgbClr val="595959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5579302-D2BF-FF4F-8098-5AE688162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2125990"/>
                <a:ext cx="3975100" cy="523220"/>
              </a:xfrm>
              <a:prstGeom prst="rect">
                <a:avLst/>
              </a:prstGeom>
              <a:blipFill>
                <a:blip r:embed="rId2"/>
                <a:stretch>
                  <a:fillRect l="-958" t="-2381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76554B3-DC40-1647-8314-FB760FBF9978}"/>
              </a:ext>
            </a:extLst>
          </p:cNvPr>
          <p:cNvSpPr/>
          <p:nvPr/>
        </p:nvSpPr>
        <p:spPr>
          <a:xfrm>
            <a:off x="6210300" y="1879600"/>
            <a:ext cx="5143500" cy="1016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213741F-CF40-2847-B9DA-DFA5ED06C120}"/>
              </a:ext>
            </a:extLst>
          </p:cNvPr>
          <p:cNvSpPr/>
          <p:nvPr/>
        </p:nvSpPr>
        <p:spPr>
          <a:xfrm>
            <a:off x="6388100" y="2070100"/>
            <a:ext cx="635000" cy="6350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6FE5BD-C7C9-3F4D-A601-2E80328620E7}"/>
              </a:ext>
            </a:extLst>
          </p:cNvPr>
          <p:cNvSpPr txBox="1"/>
          <p:nvPr/>
        </p:nvSpPr>
        <p:spPr>
          <a:xfrm>
            <a:off x="7200900" y="1981200"/>
            <a:ext cx="3975100" cy="812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K-Means</a:t>
            </a:r>
          </a:p>
          <a:p>
            <a:pPr>
              <a:buNone/>
            </a:pPr>
            <a:r>
              <a:rPr lang="en-US" sz="1200" dirty="0">
                <a:solidFill>
                  <a:srgbClr val="595959"/>
                </a:solidFill>
              </a:rPr>
              <a:t>Centroids, WCSS, Lloyd's algorithm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DBAE748-4989-DA4C-BDDA-C6DE3BF345A5}"/>
              </a:ext>
            </a:extLst>
          </p:cNvPr>
          <p:cNvSpPr/>
          <p:nvPr/>
        </p:nvSpPr>
        <p:spPr>
          <a:xfrm>
            <a:off x="838200" y="2997200"/>
            <a:ext cx="5143500" cy="1016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5560163-FC0B-B24C-A93D-0B0ED692559C}"/>
              </a:ext>
            </a:extLst>
          </p:cNvPr>
          <p:cNvSpPr/>
          <p:nvPr/>
        </p:nvSpPr>
        <p:spPr>
          <a:xfrm>
            <a:off x="1016000" y="3187700"/>
            <a:ext cx="635000" cy="6350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ADE7F8-2EBE-314D-9C4B-C4F8401BA070}"/>
              </a:ext>
            </a:extLst>
          </p:cNvPr>
          <p:cNvSpPr txBox="1"/>
          <p:nvPr/>
        </p:nvSpPr>
        <p:spPr>
          <a:xfrm>
            <a:off x="1828800" y="3098800"/>
            <a:ext cx="3975100" cy="812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7AB648"/>
                </a:solidFill>
                <a:latin typeface="Arial"/>
              </a:rPr>
              <a:t>Hierarchical</a:t>
            </a:r>
          </a:p>
          <a:p>
            <a:pPr>
              <a:buNone/>
            </a:pPr>
            <a:r>
              <a:rPr lang="en-US" sz="1200" dirty="0">
                <a:solidFill>
                  <a:srgbClr val="595959"/>
                </a:solidFill>
              </a:rPr>
              <a:t>Dendrograms, linkage, Lance-Williams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B5F3ECE-58FF-804C-A7AD-844A8BF6A465}"/>
              </a:ext>
            </a:extLst>
          </p:cNvPr>
          <p:cNvSpPr/>
          <p:nvPr/>
        </p:nvSpPr>
        <p:spPr>
          <a:xfrm>
            <a:off x="6210300" y="2997200"/>
            <a:ext cx="5143500" cy="1016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0DB6B99-A17B-0847-A1C6-53C1AAA655B3}"/>
              </a:ext>
            </a:extLst>
          </p:cNvPr>
          <p:cNvSpPr/>
          <p:nvPr/>
        </p:nvSpPr>
        <p:spPr>
          <a:xfrm>
            <a:off x="6388100" y="3187700"/>
            <a:ext cx="635000" cy="635000"/>
          </a:xfrm>
          <a:prstGeom prst="ellipse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53C9A1-74DD-F84C-9CDF-A3850C2C31A8}"/>
              </a:ext>
            </a:extLst>
          </p:cNvPr>
          <p:cNvSpPr txBox="1"/>
          <p:nvPr/>
        </p:nvSpPr>
        <p:spPr>
          <a:xfrm>
            <a:off x="7200900" y="3098800"/>
            <a:ext cx="3975100" cy="812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85754D"/>
                </a:solidFill>
                <a:latin typeface="Arial"/>
              </a:rPr>
              <a:t>DBSCAN</a:t>
            </a:r>
          </a:p>
          <a:p>
            <a:pPr>
              <a:buNone/>
            </a:pPr>
            <a:r>
              <a:rPr lang="en-US" sz="1200" dirty="0">
                <a:solidFill>
                  <a:srgbClr val="595959"/>
                </a:solidFill>
              </a:rPr>
              <a:t>Density, neighborhoods, reachability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1C5B4FC-2F91-E746-9F75-13BFA0BF6D3B}"/>
              </a:ext>
            </a:extLst>
          </p:cNvPr>
          <p:cNvSpPr/>
          <p:nvPr/>
        </p:nvSpPr>
        <p:spPr>
          <a:xfrm>
            <a:off x="838200" y="4114800"/>
            <a:ext cx="5143500" cy="1016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CADDD0C-ED2B-3042-ABAE-E19AF3FE7FD5}"/>
              </a:ext>
            </a:extLst>
          </p:cNvPr>
          <p:cNvSpPr/>
          <p:nvPr/>
        </p:nvSpPr>
        <p:spPr>
          <a:xfrm>
            <a:off x="1016000" y="4305300"/>
            <a:ext cx="635000" cy="6350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758484E-AEFE-844A-A8CA-9B6D6C1EABE6}"/>
                  </a:ext>
                </a:extLst>
              </p:cNvPr>
              <p:cNvSpPr txBox="1"/>
              <p:nvPr/>
            </p:nvSpPr>
            <p:spPr>
              <a:xfrm>
                <a:off x="1828800" y="4361190"/>
                <a:ext cx="3975100" cy="52322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D1578A"/>
                    </a:solidFill>
                    <a:latin typeface="Arial"/>
                  </a:rPr>
                  <a:t>t-SNE</a:t>
                </a:r>
              </a:p>
              <a:p>
                <a:pPr>
                  <a:buNone/>
                </a:pPr>
                <a:r>
                  <a:rPr lang="en-US" sz="1200" dirty="0">
                    <a:solidFill>
                      <a:srgbClr val="595959"/>
                    </a:solidFill>
                  </a:rPr>
                  <a:t>Affinities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2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𝐏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200">
                        <a:solidFill>
                          <a:srgbClr val="595959"/>
                        </a:solidFill>
                      </a:rPr>
                      <a:t>P</a:t>
                    </a:r>
                  </mc:Fallback>
                </mc:AlternateContent>
                <a:r>
                  <a:rPr lang="en-US" sz="1200" dirty="0">
                    <a:solidFill>
                      <a:srgbClr val="595959"/>
                    </a:solidFill>
                  </a:rPr>
                  <a:t>,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2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𝐐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200">
                        <a:solidFill>
                          <a:srgbClr val="595959"/>
                        </a:solidFill>
                      </a:rPr>
                      <a:t>Q</a:t>
                    </a:r>
                  </mc:Fallback>
                </mc:AlternateContent>
                <a:r>
                  <a:rPr lang="en-US" sz="1200" dirty="0">
                    <a:solidFill>
                      <a:srgbClr val="595959"/>
                    </a:solidFill>
                  </a:rPr>
                  <a:t>, KL divergence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758484E-AEFE-844A-A8CA-9B6D6C1EA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4361190"/>
                <a:ext cx="3975100" cy="523220"/>
              </a:xfrm>
              <a:prstGeom prst="rect">
                <a:avLst/>
              </a:prstGeom>
              <a:blipFill>
                <a:blip r:embed="rId3"/>
                <a:stretch>
                  <a:fillRect l="-958" t="-2381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C4AB70F-4E26-4947-9D77-B33F80EF1D33}"/>
              </a:ext>
            </a:extLst>
          </p:cNvPr>
          <p:cNvSpPr/>
          <p:nvPr/>
        </p:nvSpPr>
        <p:spPr>
          <a:xfrm>
            <a:off x="6210300" y="4114800"/>
            <a:ext cx="5143500" cy="1016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85754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47266D4-C9D5-754C-B172-D1083507B7BE}"/>
              </a:ext>
            </a:extLst>
          </p:cNvPr>
          <p:cNvSpPr/>
          <p:nvPr/>
        </p:nvSpPr>
        <p:spPr>
          <a:xfrm>
            <a:off x="6388100" y="4305300"/>
            <a:ext cx="635000" cy="6350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DF3D01D-B223-384E-87FA-643C285E9EF2}"/>
                  </a:ext>
                </a:extLst>
              </p:cNvPr>
              <p:cNvSpPr txBox="1"/>
              <p:nvPr/>
            </p:nvSpPr>
            <p:spPr>
              <a:xfrm>
                <a:off x="7200900" y="4361190"/>
                <a:ext cx="3975100" cy="52322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  <a:latin typeface="Arial"/>
                  </a:rPr>
                  <a:t>UMAP</a:t>
                </a:r>
              </a:p>
              <a:p>
                <a:pPr>
                  <a:buNone/>
                </a:pPr>
                <a:r>
                  <a:rPr lang="en-US" sz="1200" dirty="0">
                    <a:solidFill>
                      <a:srgbClr val="595959"/>
                    </a:solidFill>
                  </a:rPr>
                  <a:t>Fuzzy simplicial sets, graph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2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𝐀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200">
                        <a:solidFill>
                          <a:srgbClr val="595959"/>
                        </a:solidFill>
                      </a:rPr>
                      <a:t>A</a:t>
                    </a:r>
                  </mc:Fallback>
                </mc:AlternateContent>
                <a:endParaRPr lang="en-US" sz="1200" dirty="0">
                  <a:solidFill>
                    <a:srgbClr val="595959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DF3D01D-B223-384E-87FA-643C285E9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900" y="4361190"/>
                <a:ext cx="3975100" cy="523220"/>
              </a:xfrm>
              <a:prstGeom prst="rect">
                <a:avLst/>
              </a:prstGeom>
              <a:blipFill>
                <a:blip r:embed="rId4"/>
                <a:stretch>
                  <a:fillRect l="-637" t="-2381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C6445ED-31AF-154C-AB85-A01A191DD434}"/>
              </a:ext>
            </a:extLst>
          </p:cNvPr>
          <p:cNvSpPr/>
          <p:nvPr/>
        </p:nvSpPr>
        <p:spPr>
          <a:xfrm>
            <a:off x="838200" y="5232400"/>
            <a:ext cx="5143500" cy="1016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E6F841C-B184-814F-868C-C4F79AD28F3B}"/>
              </a:ext>
            </a:extLst>
          </p:cNvPr>
          <p:cNvSpPr/>
          <p:nvPr/>
        </p:nvSpPr>
        <p:spPr>
          <a:xfrm>
            <a:off x="1016000" y="5422900"/>
            <a:ext cx="635000" cy="6350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939781-5FBA-D74C-875D-A4AADBD8877C}"/>
              </a:ext>
            </a:extLst>
          </p:cNvPr>
          <p:cNvSpPr txBox="1"/>
          <p:nvPr/>
        </p:nvSpPr>
        <p:spPr>
          <a:xfrm>
            <a:off x="1828800" y="5334000"/>
            <a:ext cx="3975100" cy="812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4B2E83"/>
                </a:solidFill>
                <a:latin typeface="Arial"/>
              </a:rPr>
              <a:t>Profiling</a:t>
            </a:r>
          </a:p>
          <a:p>
            <a:pPr>
              <a:buNone/>
            </a:pPr>
            <a:r>
              <a:rPr lang="en-US" sz="1200" dirty="0">
                <a:solidFill>
                  <a:srgbClr val="595959"/>
                </a:solidFill>
              </a:rPr>
              <a:t>Cluster means, silhouette, validation</a:t>
            </a:r>
          </a:p>
        </p:txBody>
      </p:sp>
    </p:spTree>
    <p:extLst>
      <p:ext uri="{BB962C8B-B14F-4D97-AF65-F5344CB8AC3E}">
        <p14:creationId xmlns:p14="http://schemas.microsoft.com/office/powerpoint/2010/main" val="2903220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01E38AC-9949-3E4E-B35B-86041977236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44E220-8D4E-C74D-B8DC-098ED743938C}"/>
              </a:ext>
            </a:extLst>
          </p:cNvPr>
          <p:cNvSpPr/>
          <p:nvPr/>
        </p:nvSpPr>
        <p:spPr>
          <a:xfrm>
            <a:off x="1524000" y="3175000"/>
            <a:ext cx="1143000" cy="101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4B7F2F-6DBD-4A46-A4AA-6107B9D44DB2}"/>
              </a:ext>
            </a:extLst>
          </p:cNvPr>
          <p:cNvSpPr txBox="1"/>
          <p:nvPr/>
        </p:nvSpPr>
        <p:spPr>
          <a:xfrm>
            <a:off x="1524000" y="1905000"/>
            <a:ext cx="254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B7A57A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5D19A5-6DFB-D54B-A3C3-AC9970866096}"/>
              </a:ext>
            </a:extLst>
          </p:cNvPr>
          <p:cNvSpPr txBox="1"/>
          <p:nvPr/>
        </p:nvSpPr>
        <p:spPr>
          <a:xfrm>
            <a:off x="1498600" y="3492500"/>
            <a:ext cx="9144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5400" b="1">
                <a:solidFill>
                  <a:srgbClr val="FFFFFF"/>
                </a:solidFill>
                <a:latin typeface="Arial"/>
                <a:cs typeface="Arial"/>
              </a:rPr>
              <a:t>Foundations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7D028DF-44FF-1148-9FC3-1D9F8DF4696A}"/>
                  </a:ext>
                </a:extLst>
              </p:cNvPr>
              <p:cNvSpPr txBox="1"/>
              <p:nvPr/>
            </p:nvSpPr>
            <p:spPr>
              <a:xfrm>
                <a:off x="1524000" y="4699000"/>
                <a:ext cx="9144000" cy="430887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2200" dirty="0">
                    <a:solidFill>
                      <a:srgbClr val="F5F0EB"/>
                    </a:solidFill>
                    <a:latin typeface="Calibri"/>
                    <a:cs typeface="Calibri"/>
                  </a:rPr>
                  <a:t>Clusters, distance metrics, norms, and the data matrix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2200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2200">
                        <a:solidFill>
                          <a:srgbClr val="F5F0EB"/>
                        </a:solidFill>
                      </a:rPr>
                      <a:t>X</a:t>
                    </a:r>
                  </mc:Fallback>
                </mc:AlternateContent>
                <a:endParaRPr lang="en-US" sz="2200" dirty="0">
                  <a:solidFill>
                    <a:srgbClr val="F5F0EB"/>
                  </a:solidFill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7D028DF-44FF-1148-9FC3-1D9F8DF469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4699000"/>
                <a:ext cx="9144000" cy="430887"/>
              </a:xfrm>
              <a:prstGeom prst="rect">
                <a:avLst/>
              </a:prstGeom>
              <a:blipFill>
                <a:blip r:embed="rId2"/>
                <a:stretch>
                  <a:fillRect l="-971" t="-11429" b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5081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F9547-5519-9079-DA11-2628D1F38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Cluster?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B6B85C4-C281-ED4E-A42E-E6CD3296271A}"/>
              </a:ext>
            </a:extLst>
          </p:cNvPr>
          <p:cNvSpPr/>
          <p:nvPr/>
        </p:nvSpPr>
        <p:spPr>
          <a:xfrm>
            <a:off x="838200" y="1905000"/>
            <a:ext cx="5461000" cy="4191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4516B3-E8B1-A04D-9DB6-AFC3D1CEEE70}"/>
                  </a:ext>
                </a:extLst>
              </p:cNvPr>
              <p:cNvSpPr txBox="1"/>
              <p:nvPr/>
            </p:nvSpPr>
            <p:spPr>
              <a:xfrm>
                <a:off x="1092200" y="2235200"/>
                <a:ext cx="4953000" cy="276075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2200" b="1" dirty="0">
                    <a:solidFill>
                      <a:srgbClr val="4B2E83"/>
                    </a:solidFill>
                    <a:latin typeface="Arial"/>
                  </a:rPr>
                  <a:t>Definition</a:t>
                </a:r>
              </a:p>
              <a:p>
                <a:pPr>
                  <a:buNone/>
                </a:pPr>
                <a:r>
                  <a:rPr lang="en-US" sz="1900" dirty="0">
                    <a:solidFill>
                      <a:srgbClr val="333333"/>
                    </a:solidFill>
                  </a:rPr>
                  <a:t>A cluster is a subset of observations similar to one another and dissimilar to observations in other subsets.</a:t>
                </a:r>
              </a:p>
              <a:p>
                <a:pPr>
                  <a:buNone/>
                </a:pPr>
                <a:endParaRPr lang="en-US" sz="1200"/>
              </a:p>
              <a:p>
                <a:pPr>
                  <a:buNone/>
                </a:pPr>
                <a:r>
                  <a:rPr lang="en-US" sz="1900" dirty="0">
                    <a:solidFill>
                      <a:srgbClr val="333333"/>
                    </a:solidFill>
                  </a:rPr>
                  <a:t>Given the data matrix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US" sz="22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2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2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2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2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2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2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 … 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2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m:rPr>
                              <m:nor/>
                            </m:rPr>
                            <a:rPr lang="en-US" sz="2200">
                              <a:solidFill>
                                <a:srgbClr val="4B2E83"/>
                              </a:solidFill>
                            </a:rPr>
                            <m:t>T</m:t>
                          </m:r>
                        </m:sup>
                      </m:sSup>
                      <m:r>
                        <a:rPr lang="en-US" sz="22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2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2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2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sz="19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r>
                  <a:rPr lang="en-US" sz="1900" dirty="0">
                    <a:solidFill>
                      <a:srgbClr val="333333"/>
                    </a:solidFill>
                  </a:rPr>
                  <a:t>a clustering is a partition </a:t>
                </a:r>
                <a14:m>
                  <m:oMath xmlns:m="http://schemas.openxmlformats.org/officeDocument/2006/math"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9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19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 of the </a:t>
                </a:r>
                <a14:m>
                  <m:oMath xmlns:m="http://schemas.openxmlformats.org/officeDocument/2006/math"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 row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4516B3-E8B1-A04D-9DB6-AFC3D1CEE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200" y="2235200"/>
                <a:ext cx="4953000" cy="2760756"/>
              </a:xfrm>
              <a:prstGeom prst="rect">
                <a:avLst/>
              </a:prstGeom>
              <a:blipFill>
                <a:blip r:embed="rId2"/>
                <a:stretch>
                  <a:fillRect l="-1276" t="-1835" b="-2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DE840302-B41E-9E44-AB4D-FC5DA3F5E961}"/>
              </a:ext>
            </a:extLst>
          </p:cNvPr>
          <p:cNvSpPr/>
          <p:nvPr/>
        </p:nvSpPr>
        <p:spPr>
          <a:xfrm>
            <a:off x="7620000" y="2667000"/>
            <a:ext cx="165100" cy="1651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279C999-30AE-1F44-BC95-5EBA603CE11B}"/>
              </a:ext>
            </a:extLst>
          </p:cNvPr>
          <p:cNvSpPr/>
          <p:nvPr/>
        </p:nvSpPr>
        <p:spPr>
          <a:xfrm>
            <a:off x="7848600" y="2794000"/>
            <a:ext cx="165100" cy="1651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9D3E66A-142E-1645-B1F8-F7CA33EA9249}"/>
              </a:ext>
            </a:extLst>
          </p:cNvPr>
          <p:cNvSpPr/>
          <p:nvPr/>
        </p:nvSpPr>
        <p:spPr>
          <a:xfrm>
            <a:off x="7721600" y="2971800"/>
            <a:ext cx="165100" cy="1651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F821877-ECD0-BE4D-90A3-D045EDF984AD}"/>
              </a:ext>
            </a:extLst>
          </p:cNvPr>
          <p:cNvSpPr/>
          <p:nvPr/>
        </p:nvSpPr>
        <p:spPr>
          <a:xfrm>
            <a:off x="7950200" y="3022600"/>
            <a:ext cx="165100" cy="1651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B745DAD-FCB9-0B41-AAE2-6439164CD894}"/>
              </a:ext>
            </a:extLst>
          </p:cNvPr>
          <p:cNvSpPr/>
          <p:nvPr/>
        </p:nvSpPr>
        <p:spPr>
          <a:xfrm>
            <a:off x="7543800" y="2870200"/>
            <a:ext cx="165100" cy="1651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621A51D-9CD2-BF40-A8B0-B8DAFE00034E}"/>
              </a:ext>
            </a:extLst>
          </p:cNvPr>
          <p:cNvSpPr/>
          <p:nvPr/>
        </p:nvSpPr>
        <p:spPr>
          <a:xfrm>
            <a:off x="7797800" y="2565400"/>
            <a:ext cx="165100" cy="1651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7725204-A5BF-B74C-833C-DE80FE26C66A}"/>
              </a:ext>
            </a:extLst>
          </p:cNvPr>
          <p:cNvSpPr/>
          <p:nvPr/>
        </p:nvSpPr>
        <p:spPr>
          <a:xfrm>
            <a:off x="9652000" y="2540000"/>
            <a:ext cx="165100" cy="1651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F331E4E-72B1-4848-8A07-FBE8F55FE6BF}"/>
              </a:ext>
            </a:extLst>
          </p:cNvPr>
          <p:cNvSpPr/>
          <p:nvPr/>
        </p:nvSpPr>
        <p:spPr>
          <a:xfrm>
            <a:off x="9880600" y="2667000"/>
            <a:ext cx="165100" cy="1651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5E56F6F-7EA8-BA4C-981E-2BB73929C886}"/>
              </a:ext>
            </a:extLst>
          </p:cNvPr>
          <p:cNvSpPr/>
          <p:nvPr/>
        </p:nvSpPr>
        <p:spPr>
          <a:xfrm>
            <a:off x="9753600" y="2844800"/>
            <a:ext cx="165100" cy="1651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C56255E-25D6-214D-95E0-BCD1D934E831}"/>
              </a:ext>
            </a:extLst>
          </p:cNvPr>
          <p:cNvSpPr/>
          <p:nvPr/>
        </p:nvSpPr>
        <p:spPr>
          <a:xfrm>
            <a:off x="9982200" y="2895600"/>
            <a:ext cx="165100" cy="1651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4FAEDEE-1640-C749-B9CD-9B5765DC9EC9}"/>
              </a:ext>
            </a:extLst>
          </p:cNvPr>
          <p:cNvSpPr/>
          <p:nvPr/>
        </p:nvSpPr>
        <p:spPr>
          <a:xfrm>
            <a:off x="9575800" y="2743200"/>
            <a:ext cx="165100" cy="1651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8CE80A9-E092-5144-A91F-73BC007DEA38}"/>
              </a:ext>
            </a:extLst>
          </p:cNvPr>
          <p:cNvSpPr/>
          <p:nvPr/>
        </p:nvSpPr>
        <p:spPr>
          <a:xfrm>
            <a:off x="9829800" y="2438400"/>
            <a:ext cx="165100" cy="1651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E5F4F0E-C83F-D74E-8D9A-6288E3960FA7}"/>
              </a:ext>
            </a:extLst>
          </p:cNvPr>
          <p:cNvSpPr/>
          <p:nvPr/>
        </p:nvSpPr>
        <p:spPr>
          <a:xfrm>
            <a:off x="8636000" y="4572000"/>
            <a:ext cx="165100" cy="1651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144FF02-E3AF-6F47-8E9A-BFE00EC34AB8}"/>
              </a:ext>
            </a:extLst>
          </p:cNvPr>
          <p:cNvSpPr/>
          <p:nvPr/>
        </p:nvSpPr>
        <p:spPr>
          <a:xfrm>
            <a:off x="8864600" y="4699000"/>
            <a:ext cx="165100" cy="1651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178C15D-A925-4048-B40F-FE5E267A1A9B}"/>
              </a:ext>
            </a:extLst>
          </p:cNvPr>
          <p:cNvSpPr/>
          <p:nvPr/>
        </p:nvSpPr>
        <p:spPr>
          <a:xfrm>
            <a:off x="8737600" y="4876800"/>
            <a:ext cx="165100" cy="1651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0D0A208-1F46-B040-91E2-E63CC0DAE4AA}"/>
              </a:ext>
            </a:extLst>
          </p:cNvPr>
          <p:cNvSpPr/>
          <p:nvPr/>
        </p:nvSpPr>
        <p:spPr>
          <a:xfrm>
            <a:off x="8966200" y="4927600"/>
            <a:ext cx="165100" cy="1651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E8C1027-0D1C-CE43-A504-B63E082549CF}"/>
              </a:ext>
            </a:extLst>
          </p:cNvPr>
          <p:cNvSpPr/>
          <p:nvPr/>
        </p:nvSpPr>
        <p:spPr>
          <a:xfrm>
            <a:off x="8559800" y="4775200"/>
            <a:ext cx="165100" cy="1651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CB796E2-FB99-4F46-9947-E4D7A496D718}"/>
              </a:ext>
            </a:extLst>
          </p:cNvPr>
          <p:cNvSpPr/>
          <p:nvPr/>
        </p:nvSpPr>
        <p:spPr>
          <a:xfrm>
            <a:off x="8813800" y="4470400"/>
            <a:ext cx="165100" cy="1651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8C6657-DB9F-8442-B9EB-242BEF647DB1}"/>
              </a:ext>
            </a:extLst>
          </p:cNvPr>
          <p:cNvSpPr txBox="1"/>
          <p:nvPr/>
        </p:nvSpPr>
        <p:spPr>
          <a:xfrm>
            <a:off x="6858000" y="5461000"/>
            <a:ext cx="431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595959"/>
                </a:solidFill>
                <a:latin typeface="Calibri"/>
                <a:cs typeface="Calibri"/>
              </a:rPr>
              <a:t>Three clusters in feature space: points within a group are close; groups are far apart.</a:t>
            </a:r>
          </a:p>
        </p:txBody>
      </p:sp>
    </p:spTree>
    <p:extLst>
      <p:ext uri="{BB962C8B-B14F-4D97-AF65-F5344CB8AC3E}">
        <p14:creationId xmlns:p14="http://schemas.microsoft.com/office/powerpoint/2010/main" val="794583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67778-58EE-23A1-FEEB-01F500455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94" y="-457200"/>
            <a:ext cx="3932237" cy="1600200"/>
          </a:xfrm>
        </p:spPr>
        <p:txBody>
          <a:bodyPr/>
          <a:lstStyle/>
          <a:p>
            <a:r>
              <a:rPr lang="en-US" dirty="0"/>
              <a:t>Example: People, Features &amp; Clusters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0C5A5E7-3A32-584C-AF3E-328DDE0939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212924"/>
              </p:ext>
            </p:extLst>
          </p:nvPr>
        </p:nvGraphicFramePr>
        <p:xfrm>
          <a:off x="1905000" y="2006600"/>
          <a:ext cx="8382000" cy="271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193473812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68122062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1259990334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1952940066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445956435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Person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Age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Income (k€)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Spend Score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Cluster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02646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Ana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C₁</a:t>
                      </a:r>
                    </a:p>
                  </a:txBody>
                  <a:tcPr anchor="ctr">
                    <a:solidFill>
                      <a:srgbClr val="00A7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95554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Ben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C₁</a:t>
                      </a:r>
                    </a:p>
                  </a:txBody>
                  <a:tcPr anchor="ctr">
                    <a:solidFill>
                      <a:srgbClr val="00A7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56445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Cara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C₂</a:t>
                      </a:r>
                    </a:p>
                  </a:txBody>
                  <a:tcPr anchor="ctr">
                    <a:solidFill>
                      <a:srgbClr val="7AB6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90926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Dan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48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82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C₂</a:t>
                      </a:r>
                    </a:p>
                  </a:txBody>
                  <a:tcPr anchor="ctr">
                    <a:solidFill>
                      <a:srgbClr val="7AB6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47598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Eli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C₃</a:t>
                      </a:r>
                    </a:p>
                  </a:txBody>
                  <a:tcPr anchor="ctr">
                    <a:solidFill>
                      <a:srgbClr val="D157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33251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Fay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58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54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C₃</a:t>
                      </a:r>
                    </a:p>
                  </a:txBody>
                  <a:tcPr anchor="ctr">
                    <a:solidFill>
                      <a:srgbClr val="D157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18657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01FCD9A-D610-584D-A19B-57691D63400F}"/>
              </a:ext>
            </a:extLst>
          </p:cNvPr>
          <p:cNvSpPr txBox="1"/>
          <p:nvPr/>
        </p:nvSpPr>
        <p:spPr>
          <a:xfrm>
            <a:off x="1905000" y="5461000"/>
            <a:ext cx="8382000" cy="889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500" i="1">
                <a:solidFill>
                  <a:srgbClr val="595959"/>
                </a:solidFill>
                <a:latin typeface="Calibri"/>
                <a:cs typeface="Calibri"/>
              </a:rPr>
              <a:t>Each row is a person (observation); the feature columns form the data matrix X. People sharing a cluster have similar feature values — and differ from people in other clusters.</a:t>
            </a:r>
          </a:p>
        </p:txBody>
      </p:sp>
    </p:spTree>
    <p:extLst>
      <p:ext uri="{BB962C8B-B14F-4D97-AF65-F5344CB8AC3E}">
        <p14:creationId xmlns:p14="http://schemas.microsoft.com/office/powerpoint/2010/main" val="3226624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8BD5F-5957-A394-C2A3-FDF2EB5B9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Clustering as a Partition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012CC45-0B08-E649-8D60-27DC654DF75E}"/>
              </a:ext>
            </a:extLst>
          </p:cNvPr>
          <p:cNvSpPr/>
          <p:nvPr/>
        </p:nvSpPr>
        <p:spPr>
          <a:xfrm>
            <a:off x="838200" y="1905000"/>
            <a:ext cx="10515600" cy="4191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1163B9A-7643-954A-A4BE-D85F30027081}"/>
                  </a:ext>
                </a:extLst>
              </p:cNvPr>
              <p:cNvSpPr txBox="1"/>
              <p:nvPr/>
            </p:nvSpPr>
            <p:spPr>
              <a:xfrm>
                <a:off x="1143000" y="2184400"/>
                <a:ext cx="9906000" cy="2671501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2000" b="1" dirty="0">
                    <a:solidFill>
                      <a:srgbClr val="4B2E83"/>
                    </a:solidFill>
                    <a:latin typeface="Arial"/>
                  </a:rPr>
                  <a:t>A hard clustering of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b="1" dirty="0">
                    <a:solidFill>
                      <a:srgbClr val="4B2E83"/>
                    </a:solidFill>
                    <a:latin typeface="Arial"/>
                  </a:rPr>
                  <a:t> points into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b="1" dirty="0">
                    <a:solidFill>
                      <a:srgbClr val="4B2E83"/>
                    </a:solidFill>
                    <a:latin typeface="Arial"/>
                  </a:rPr>
                  <a:t> groups is a partition 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b="1" dirty="0">
                    <a:solidFill>
                      <a:srgbClr val="4B2E83"/>
                    </a:solidFill>
                    <a:latin typeface="Arial"/>
                  </a:rPr>
                  <a:t>  satisfying: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900" dirty="0">
                    <a:solidFill>
                      <a:srgbClr val="333333"/>
                    </a:solidFill>
                  </a:rPr>
                  <a:t>Coverage: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∪…∪</m:t>
                    </m:r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9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19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   (every point assigned)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900" dirty="0">
                    <a:solidFill>
                      <a:srgbClr val="333333"/>
                    </a:solidFill>
                  </a:rPr>
                  <a:t>Disjoint: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  for all  </a:t>
                </a:r>
                <a14:m>
                  <m:oMath xmlns:m="http://schemas.openxmlformats.org/officeDocument/2006/math"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   (no overlap)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900" dirty="0">
                    <a:solidFill>
                      <a:srgbClr val="333333"/>
                    </a:solidFill>
                  </a:rPr>
                  <a:t>Non-empty: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≠∅</m:t>
                    </m:r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  for all  </a:t>
                </a:r>
                <a14:m>
                  <m:oMath xmlns:m="http://schemas.openxmlformats.org/officeDocument/2006/math"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19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900" dirty="0"/>
              </a:p>
              <a:p>
                <a:pPr>
                  <a:buNone/>
                </a:pPr>
                <a:r>
                  <a:rPr lang="en-US" sz="1900" b="1" dirty="0">
                    <a:solidFill>
                      <a:srgbClr val="4B2E83"/>
                    </a:solidFill>
                  </a:rPr>
                  <a:t>Assignment matrix.  </a:t>
                </a:r>
                <a:r>
                  <a:rPr lang="en-US" sz="1900" dirty="0">
                    <a:solidFill>
                      <a:srgbClr val="333333"/>
                    </a:solidFill>
                  </a:rPr>
                  <a:t>Encode </a:t>
                </a:r>
                <a14:m>
                  <m:oMath xmlns:m="http://schemas.openxmlformats.org/officeDocument/2006/math"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 as a binary matrix </a:t>
                </a:r>
                <a14:m>
                  <m:oMath xmlns:m="http://schemas.openxmlformats.org/officeDocument/2006/math"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9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 iff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. Each row of </a:t>
                </a:r>
                <a14:m>
                  <m:oMath xmlns:m="http://schemas.openxmlformats.org/officeDocument/2006/math"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𝐙</m:t>
                    </m:r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 sums to 1:  </a:t>
                </a:r>
                <a14:m>
                  <m:oMath xmlns:m="http://schemas.openxmlformats.org/officeDocument/2006/math"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𝐙</m:t>
                    </m:r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.</a:t>
                </a:r>
              </a:p>
              <a:p>
                <a:pPr>
                  <a:buNone/>
                </a:pPr>
                <a:r>
                  <a:rPr lang="en-US" sz="1900" dirty="0">
                    <a:solidFill>
                      <a:srgbClr val="333333"/>
                    </a:solidFill>
                  </a:rPr>
                  <a:t>Soft clustering relaxes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 (responsibilities), rows still sum to 1.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1163B9A-7643-954A-A4BE-D85F30027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2184400"/>
                <a:ext cx="9906000" cy="2671501"/>
              </a:xfrm>
              <a:prstGeom prst="rect">
                <a:avLst/>
              </a:prstGeom>
              <a:blipFill>
                <a:blip r:embed="rId2"/>
                <a:stretch>
                  <a:fillRect l="-768" t="-943" r="-384" b="-23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4355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76409-13F4-CA71-CDF5-78C776D5B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109" y="-546100"/>
            <a:ext cx="10515600" cy="1320800"/>
          </a:xfrm>
        </p:spPr>
        <p:txBody>
          <a:bodyPr/>
          <a:lstStyle/>
          <a:p>
            <a:r>
              <a:rPr lang="en-US" dirty="0"/>
              <a:t>Exercise: Is It a Valid Clustering?</a:t>
            </a:r>
          </a:p>
        </p:txBody>
      </p:sp>
      <p:sp>
        <p:nvSpPr>
          <p:cNvPr id="100" name="Instruction"/>
          <p:cNvSpPr txBox="1"/>
          <p:nvPr/>
        </p:nvSpPr>
        <p:spPr>
          <a:xfrm>
            <a:off x="209909" y="8382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rtlCol="0" anchor="ctr"/>
          <a:lstStyle/>
          <a:p>
            <a:pPr>
              <a:buNone/>
            </a:pPr>
            <a:r>
              <a:rPr lang="en-US" sz="1600" i="1" dirty="0">
                <a:solidFill>
                  <a:srgbClr val="595959"/>
                </a:solidFill>
                <a:latin typeface="Calibri"/>
              </a:rPr>
              <a:t>For each candidate C, decide whether it is a valid hard clustering of {x₁,…,x₆}.  (Click to reveal each solution.)</a:t>
            </a:r>
          </a:p>
        </p:txBody>
      </p:sp>
      <p:sp>
        <p:nvSpPr>
          <p:cNvPr id="101" name="Exercise (a)"/>
          <p:cNvSpPr/>
          <p:nvPr/>
        </p:nvSpPr>
        <p:spPr>
          <a:xfrm>
            <a:off x="744747" y="1564256"/>
            <a:ext cx="5969000" cy="965200"/>
          </a:xfrm>
          <a:prstGeom prst="roundRect">
            <a:avLst>
              <a:gd name="adj" fmla="val 10000"/>
            </a:avLst>
          </a:prstGeom>
          <a:solidFill>
            <a:srgbClr val="F5F0EB"/>
          </a:solidFill>
          <a:ln>
            <a:noFill/>
          </a:ln>
        </p:spPr>
        <p:txBody>
          <a:bodyPr lIns="13716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  <a:latin typeface="Arial"/>
              </a:rPr>
              <a:t>(a)  </a:t>
            </a:r>
            <a:r>
              <a:rPr lang="en-US" sz="1600" dirty="0">
                <a:solidFill>
                  <a:srgbClr val="333333"/>
                </a:solidFill>
                <a:latin typeface="Arial"/>
              </a:rPr>
              <a:t>C₁={x₁,x₂},  C₂={x₃,x₄},  C₃={x₅,x₆}</a:t>
            </a:r>
          </a:p>
        </p:txBody>
      </p:sp>
      <p:sp>
        <p:nvSpPr>
          <p:cNvPr id="201" name="Solution (a)"/>
          <p:cNvSpPr/>
          <p:nvPr/>
        </p:nvSpPr>
        <p:spPr>
          <a:xfrm>
            <a:off x="6904247" y="1564256"/>
            <a:ext cx="4508500" cy="965200"/>
          </a:xfrm>
          <a:prstGeom prst="roundRect">
            <a:avLst>
              <a:gd name="adj" fmla="val 10000"/>
            </a:avLst>
          </a:prstGeom>
          <a:solidFill>
            <a:srgbClr val="7AB648"/>
          </a:solidFill>
          <a:ln>
            <a:noFill/>
          </a:ln>
        </p:spPr>
        <p:txBody>
          <a:bodyPr lIns="13716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✓ Valid  —  </a:t>
            </a:r>
            <a:r>
              <a:rPr lang="en-US" sz="1500" dirty="0">
                <a:solidFill>
                  <a:srgbClr val="FFFFFF"/>
                </a:solidFill>
                <a:latin typeface="Arial"/>
              </a:rPr>
              <a:t>covers all 6 · disjoint · none empty</a:t>
            </a:r>
          </a:p>
        </p:txBody>
      </p:sp>
      <p:sp>
        <p:nvSpPr>
          <p:cNvPr id="102" name="Exercise (b)"/>
          <p:cNvSpPr/>
          <p:nvPr/>
        </p:nvSpPr>
        <p:spPr>
          <a:xfrm>
            <a:off x="744747" y="2669156"/>
            <a:ext cx="5969000" cy="965200"/>
          </a:xfrm>
          <a:prstGeom prst="roundRect">
            <a:avLst>
              <a:gd name="adj" fmla="val 10000"/>
            </a:avLst>
          </a:prstGeom>
          <a:solidFill>
            <a:srgbClr val="F5F0EB"/>
          </a:solidFill>
          <a:ln>
            <a:noFill/>
          </a:ln>
        </p:spPr>
        <p:txBody>
          <a:bodyPr lIns="13716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  <a:latin typeface="Arial"/>
              </a:rPr>
              <a:t>(b)  </a:t>
            </a:r>
            <a:r>
              <a:rPr lang="en-US" sz="1600" dirty="0">
                <a:solidFill>
                  <a:srgbClr val="333333"/>
                </a:solidFill>
                <a:latin typeface="Arial"/>
              </a:rPr>
              <a:t>C₁={x₁,x₂,x₃},  C₂={x₃,x₄,x₅,x₆}</a:t>
            </a:r>
          </a:p>
        </p:txBody>
      </p:sp>
      <p:sp>
        <p:nvSpPr>
          <p:cNvPr id="202" name="Solution (b)"/>
          <p:cNvSpPr/>
          <p:nvPr/>
        </p:nvSpPr>
        <p:spPr>
          <a:xfrm>
            <a:off x="6904247" y="2669156"/>
            <a:ext cx="4508500" cy="965200"/>
          </a:xfrm>
          <a:prstGeom prst="roundRect">
            <a:avLst>
              <a:gd name="adj" fmla="val 10000"/>
            </a:avLst>
          </a:prstGeom>
          <a:solidFill>
            <a:srgbClr val="D1578A"/>
          </a:solidFill>
          <a:ln>
            <a:noFill/>
          </a:ln>
        </p:spPr>
        <p:txBody>
          <a:bodyPr lIns="13716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✗ Invalid  —  </a:t>
            </a:r>
            <a:r>
              <a:rPr lang="en-US" sz="1500" dirty="0">
                <a:solidFill>
                  <a:srgbClr val="FFFFFF"/>
                </a:solidFill>
                <a:latin typeface="Arial"/>
              </a:rPr>
              <a:t>Disjoint fails:  x₃ ∈ C₁ ∩ C₂</a:t>
            </a:r>
          </a:p>
        </p:txBody>
      </p:sp>
      <p:sp>
        <p:nvSpPr>
          <p:cNvPr id="103" name="Exercise (c)"/>
          <p:cNvSpPr/>
          <p:nvPr/>
        </p:nvSpPr>
        <p:spPr>
          <a:xfrm>
            <a:off x="744747" y="3774056"/>
            <a:ext cx="5969000" cy="965200"/>
          </a:xfrm>
          <a:prstGeom prst="roundRect">
            <a:avLst>
              <a:gd name="adj" fmla="val 10000"/>
            </a:avLst>
          </a:prstGeom>
          <a:solidFill>
            <a:srgbClr val="F5F0EB"/>
          </a:solidFill>
          <a:ln>
            <a:noFill/>
          </a:ln>
        </p:spPr>
        <p:txBody>
          <a:bodyPr lIns="13716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  <a:latin typeface="Arial"/>
              </a:rPr>
              <a:t>(c)  </a:t>
            </a:r>
            <a:r>
              <a:rPr lang="en-US" sz="1600" dirty="0">
                <a:solidFill>
                  <a:srgbClr val="333333"/>
                </a:solidFill>
                <a:latin typeface="Arial"/>
              </a:rPr>
              <a:t>C₁={x₁,x₂},  C₂={x₄,x₅,x₆}</a:t>
            </a:r>
          </a:p>
        </p:txBody>
      </p:sp>
      <p:sp>
        <p:nvSpPr>
          <p:cNvPr id="203" name="Solution (c)"/>
          <p:cNvSpPr/>
          <p:nvPr/>
        </p:nvSpPr>
        <p:spPr>
          <a:xfrm>
            <a:off x="6904247" y="3774056"/>
            <a:ext cx="4508500" cy="965200"/>
          </a:xfrm>
          <a:prstGeom prst="roundRect">
            <a:avLst>
              <a:gd name="adj" fmla="val 10000"/>
            </a:avLst>
          </a:prstGeom>
          <a:solidFill>
            <a:srgbClr val="D1578A"/>
          </a:solidFill>
          <a:ln>
            <a:noFill/>
          </a:ln>
        </p:spPr>
        <p:txBody>
          <a:bodyPr lIns="13716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✗ Invalid  —  </a:t>
            </a:r>
            <a:r>
              <a:rPr lang="en-US" sz="1500" dirty="0">
                <a:solidFill>
                  <a:srgbClr val="FFFFFF"/>
                </a:solidFill>
                <a:latin typeface="Arial"/>
              </a:rPr>
              <a:t>Coverage fails:  x₃ unassigned</a:t>
            </a:r>
          </a:p>
        </p:txBody>
      </p:sp>
      <p:sp>
        <p:nvSpPr>
          <p:cNvPr id="104" name="Exercise (d)"/>
          <p:cNvSpPr/>
          <p:nvPr/>
        </p:nvSpPr>
        <p:spPr>
          <a:xfrm>
            <a:off x="744747" y="4878956"/>
            <a:ext cx="5969000" cy="965200"/>
          </a:xfrm>
          <a:prstGeom prst="roundRect">
            <a:avLst>
              <a:gd name="adj" fmla="val 10000"/>
            </a:avLst>
          </a:prstGeom>
          <a:solidFill>
            <a:srgbClr val="F5F0EB"/>
          </a:solidFill>
          <a:ln>
            <a:noFill/>
          </a:ln>
        </p:spPr>
        <p:txBody>
          <a:bodyPr lIns="13716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  <a:latin typeface="Arial"/>
              </a:rPr>
              <a:t>(d)  </a:t>
            </a:r>
            <a:r>
              <a:rPr lang="en-US" sz="1600" dirty="0">
                <a:solidFill>
                  <a:srgbClr val="333333"/>
                </a:solidFill>
                <a:latin typeface="Arial"/>
              </a:rPr>
              <a:t>C₁={x₁,…,x₆},  C₂=∅</a:t>
            </a:r>
          </a:p>
        </p:txBody>
      </p:sp>
      <p:sp>
        <p:nvSpPr>
          <p:cNvPr id="204" name="Solution (d)"/>
          <p:cNvSpPr/>
          <p:nvPr/>
        </p:nvSpPr>
        <p:spPr>
          <a:xfrm>
            <a:off x="6904247" y="4878956"/>
            <a:ext cx="4508500" cy="965200"/>
          </a:xfrm>
          <a:prstGeom prst="roundRect">
            <a:avLst>
              <a:gd name="adj" fmla="val 10000"/>
            </a:avLst>
          </a:prstGeom>
          <a:solidFill>
            <a:srgbClr val="D1578A"/>
          </a:solidFill>
          <a:ln>
            <a:noFill/>
          </a:ln>
        </p:spPr>
        <p:txBody>
          <a:bodyPr lIns="13716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✗ Invalid  —  </a:t>
            </a:r>
            <a:r>
              <a:rPr lang="en-US" sz="1500" dirty="0">
                <a:solidFill>
                  <a:srgbClr val="FFFFFF"/>
                </a:solidFill>
                <a:latin typeface="Arial"/>
              </a:rPr>
              <a:t>Non-empty fails:  C₂ = ∅</a:t>
            </a:r>
          </a:p>
        </p:txBody>
      </p:sp>
    </p:spTree>
    <p:extLst>
      <p:ext uri="{BB962C8B-B14F-4D97-AF65-F5344CB8AC3E}">
        <p14:creationId xmlns:p14="http://schemas.microsoft.com/office/powerpoint/2010/main" val="1569932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  <p:bldP spid="202" grpId="0" animBg="1"/>
      <p:bldP spid="203" grpId="0" animBg="1"/>
      <p:bldP spid="20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D9DCE-B7EE-1082-04B8-27F48671E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Data Matrix 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D0465B-4C4F-8A4C-A2E1-E15FBA0AF544}"/>
                  </a:ext>
                </a:extLst>
              </p:cNvPr>
              <p:cNvSpPr txBox="1"/>
              <p:nvPr/>
            </p:nvSpPr>
            <p:spPr>
              <a:xfrm>
                <a:off x="838200" y="1905000"/>
                <a:ext cx="5080000" cy="230088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900" dirty="0">
                    <a:solidFill>
                      <a:srgbClr val="333333"/>
                    </a:solidFill>
                  </a:rPr>
                  <a:t>All clustering begins with the data matrix: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900" b="1" dirty="0">
                    <a:solidFill>
                      <a:srgbClr val="4B2E83"/>
                    </a:solidFill>
                  </a:rPr>
                  <a:t>Rows</a:t>
                </a:r>
                <a:r>
                  <a:rPr lang="en-US" sz="1900" dirty="0">
                    <a:solidFill>
                      <a:srgbClr val="333333"/>
                    </a:solidFill>
                  </a:rPr>
                  <a:t> =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900">
                        <a:solidFill>
                          <a:srgbClr val="333333"/>
                        </a:solidFill>
                      </a:rPr>
                      <a:t>n</a:t>
                    </a:r>
                  </mc:Fallback>
                </mc:AlternateContent>
                <a:r>
                  <a:rPr lang="en-US" sz="1900" dirty="0">
                    <a:solidFill>
                      <a:srgbClr val="333333"/>
                    </a:solidFill>
                  </a:rPr>
                  <a:t> observations.  Row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900">
                        <a:solidFill>
                          <a:srgbClr val="333333"/>
                        </a:solidFill>
                      </a:rPr>
                      <a:t>i</a:t>
                    </a:r>
                  </mc:Fallback>
                </mc:AlternateContent>
                <a:r>
                  <a:rPr lang="en-US" sz="1900" dirty="0">
                    <a:solidFill>
                      <a:srgbClr val="333333"/>
                    </a:solidFill>
                  </a:rPr>
                  <a:t> is the feature vector </a:t>
                </a:r>
                <mc:AlternateContent>
                  <mc:Choice Requires="a14"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sz="19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9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9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9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p>
                            <m:r>
                              <m:rPr>
                                <m:nor/>
                              </m:rPr>
                              <a:rPr lang="en-US" sz="1900">
                                <a:solidFill>
                                  <a:srgbClr val="333333"/>
                                </a:solidFill>
                              </a:rPr>
                              <m:t>T</m:t>
                            </m:r>
                          </m:sup>
                        </m:sSup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19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a14:m>
                  </mc:Choice>
                  <mc:Fallback xmlns:m="http://schemas.openxmlformats.org/officeDocument/2006/math" xmlns="">
                    <a:r>
                      <a:rPr lang="en-US" sz="1900">
                        <a:solidFill>
                          <a:srgbClr val="333333"/>
                        </a:solidFill>
                      </a:rPr>
                      <a:t>xᵢᵀ ∈ ℝᵈ</a:t>
                    </a:r>
                  </mc:Fallback>
                </mc:AlternateContent>
                <a:r>
                  <a:rPr lang="en-US" sz="19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900" b="1" dirty="0">
                    <a:solidFill>
                      <a:srgbClr val="4B2E83"/>
                    </a:solidFill>
                  </a:rPr>
                  <a:t>Columns</a:t>
                </a:r>
                <a:r>
                  <a:rPr lang="en-US" sz="1900" dirty="0">
                    <a:solidFill>
                      <a:srgbClr val="333333"/>
                    </a:solidFill>
                  </a:rPr>
                  <a:t> =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900">
                        <a:solidFill>
                          <a:srgbClr val="333333"/>
                        </a:solidFill>
                      </a:rPr>
                      <a:t>d</a:t>
                    </a:r>
                  </mc:Fallback>
                </mc:AlternateContent>
                <a:r>
                  <a:rPr lang="en-US" sz="1900" dirty="0">
                    <a:solidFill>
                      <a:srgbClr val="333333"/>
                    </a:solidFill>
                  </a:rPr>
                  <a:t> features (dimensions).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900" dirty="0">
                    <a:solidFill>
                      <a:srgbClr val="333333"/>
                    </a:solidFill>
                  </a:rPr>
                  <a:t>Entry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9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900">
                        <a:solidFill>
                          <a:srgbClr val="333333"/>
                        </a:solidFill>
                      </a:rPr>
                      <a:t>xᵢⱼ</a:t>
                    </a:r>
                  </mc:Fallback>
                </mc:AlternateContent>
                <a:r>
                  <a:rPr lang="en-US" sz="1900" dirty="0">
                    <a:solidFill>
                      <a:srgbClr val="333333"/>
                    </a:solidFill>
                  </a:rPr>
                  <a:t> is feature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900">
                        <a:solidFill>
                          <a:srgbClr val="333333"/>
                        </a:solidFill>
                      </a:rPr>
                      <a:t>j</a:t>
                    </a:r>
                  </mc:Fallback>
                </mc:AlternateContent>
                <a:r>
                  <a:rPr lang="en-US" sz="1900" dirty="0">
                    <a:solidFill>
                      <a:srgbClr val="333333"/>
                    </a:solidFill>
                  </a:rPr>
                  <a:t> of observation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900">
                        <a:solidFill>
                          <a:srgbClr val="333333"/>
                        </a:solidFill>
                      </a:rPr>
                      <a:t>i</a:t>
                    </a:r>
                  </mc:Fallback>
                </mc:AlternateContent>
                <a:r>
                  <a:rPr lang="en-US" sz="1900" dirty="0">
                    <a:solidFill>
                      <a:srgbClr val="333333"/>
                    </a:solidFill>
                  </a:rPr>
                  <a:t>.</a:t>
                </a:r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:r>
                  <a:rPr lang="en-US" sz="1900" dirty="0">
                    <a:solidFill>
                      <a:srgbClr val="333333"/>
                    </a:solidFill>
                  </a:rPr>
                  <a:t>Clustering groups the </a:t>
                </a:r>
                <a:r>
                  <a:rPr lang="en-US" sz="1900" b="1" dirty="0">
                    <a:solidFill>
                      <a:srgbClr val="4B2E83"/>
                    </a:solidFill>
                  </a:rPr>
                  <a:t>rows</a:t>
                </a:r>
                <a:r>
                  <a:rPr lang="en-US" sz="1900" dirty="0">
                    <a:solidFill>
                      <a:srgbClr val="333333"/>
                    </a:solidFill>
                  </a:rPr>
                  <a:t> of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900">
                        <a:solidFill>
                          <a:srgbClr val="333333"/>
                        </a:solidFill>
                      </a:rPr>
                      <a:t>X</a:t>
                    </a:r>
                  </mc:Fallback>
                </mc:AlternateContent>
                <a:r>
                  <a:rPr lang="en-US" sz="1900" dirty="0">
                    <a:solidFill>
                      <a:srgbClr val="333333"/>
                    </a:solidFill>
                  </a:rPr>
                  <a:t> by the geometry of </a:t>
                </a:r>
                <mc:AlternateContent>
                  <mc:Choice Requires="a14"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sz="19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a14:m>
                  </mc:Choice>
                  <mc:Fallback xmlns:m="http://schemas.openxmlformats.org/officeDocument/2006/math" xmlns="">
                    <a:r>
                      <a:rPr lang="en-US" sz="1900">
                        <a:solidFill>
                          <a:srgbClr val="333333"/>
                        </a:solidFill>
                      </a:rPr>
                      <a:t>ℝᵈ</a:t>
                    </a:r>
                  </mc:Fallback>
                </mc:AlternateContent>
                <a:r>
                  <a:rPr lang="en-US" sz="19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D0465B-4C4F-8A4C-A2E1-E15FBA0AF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5080000" cy="2300886"/>
              </a:xfrm>
              <a:prstGeom prst="rect">
                <a:avLst/>
              </a:prstGeom>
              <a:blipFill>
                <a:blip r:embed="rId2"/>
                <a:stretch>
                  <a:fillRect l="-1247" t="-1648" b="-32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762C061F-9F55-6E48-8034-42B764BD05F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969000" y="2349500"/>
              <a:ext cx="4826000" cy="2235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06500">
                      <a:extLst>
                        <a:ext uri="{9D8B030D-6E8A-4147-A177-3AD203B41FA5}">
                          <a16:colId xmlns:a16="http://schemas.microsoft.com/office/drawing/2014/main" val="1023535870"/>
                        </a:ext>
                      </a:extLst>
                    </a:gridCol>
                    <a:gridCol w="1206500">
                      <a:extLst>
                        <a:ext uri="{9D8B030D-6E8A-4147-A177-3AD203B41FA5}">
                          <a16:colId xmlns:a16="http://schemas.microsoft.com/office/drawing/2014/main" val="1390207998"/>
                        </a:ext>
                      </a:extLst>
                    </a:gridCol>
                    <a:gridCol w="1206500">
                      <a:extLst>
                        <a:ext uri="{9D8B030D-6E8A-4147-A177-3AD203B41FA5}">
                          <a16:colId xmlns:a16="http://schemas.microsoft.com/office/drawing/2014/main" val="3029638107"/>
                        </a:ext>
                      </a:extLst>
                    </a:gridCol>
                    <a:gridCol w="1206500">
                      <a:extLst>
                        <a:ext uri="{9D8B030D-6E8A-4147-A177-3AD203B41FA5}">
                          <a16:colId xmlns:a16="http://schemas.microsoft.com/office/drawing/2014/main" val="1038762642"/>
                        </a:ext>
                      </a:extLst>
                    </a:gridCol>
                  </a:tblGrid>
                  <a:tr h="5588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7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7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⋯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7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4001025"/>
                      </a:ext>
                    </a:extLst>
                  </a:tr>
                  <a:tr h="5588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7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7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⋯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7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2441076"/>
                      </a:ext>
                    </a:extLst>
                  </a:tr>
                  <a:tr h="558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⋮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⋮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⋱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⋮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9129633"/>
                      </a:ext>
                    </a:extLst>
                  </a:tr>
                  <a:tr h="5588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7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7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⋯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7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96635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762C061F-9F55-6E48-8034-42B764BD05F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969000" y="2349500"/>
              <a:ext cx="4826000" cy="2235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06500">
                      <a:extLst>
                        <a:ext uri="{9D8B030D-6E8A-4147-A177-3AD203B41FA5}">
                          <a16:colId xmlns:a16="http://schemas.microsoft.com/office/drawing/2014/main" val="1023535870"/>
                        </a:ext>
                      </a:extLst>
                    </a:gridCol>
                    <a:gridCol w="1206500">
                      <a:extLst>
                        <a:ext uri="{9D8B030D-6E8A-4147-A177-3AD203B41FA5}">
                          <a16:colId xmlns:a16="http://schemas.microsoft.com/office/drawing/2014/main" val="1390207998"/>
                        </a:ext>
                      </a:extLst>
                    </a:gridCol>
                    <a:gridCol w="1206500">
                      <a:extLst>
                        <a:ext uri="{9D8B030D-6E8A-4147-A177-3AD203B41FA5}">
                          <a16:colId xmlns:a16="http://schemas.microsoft.com/office/drawing/2014/main" val="3029638107"/>
                        </a:ext>
                      </a:extLst>
                    </a:gridCol>
                    <a:gridCol w="1206500">
                      <a:extLst>
                        <a:ext uri="{9D8B030D-6E8A-4147-A177-3AD203B41FA5}">
                          <a16:colId xmlns:a16="http://schemas.microsoft.com/office/drawing/2014/main" val="1038762642"/>
                        </a:ext>
                      </a:extLst>
                    </a:gridCol>
                  </a:tblGrid>
                  <a:tr h="558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3" t="-2273" r="-303158" b="-3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53" t="-2273" r="-203158" b="-3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⋯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1053" t="-2273" r="-3158" b="-30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4001025"/>
                      </a:ext>
                    </a:extLst>
                  </a:tr>
                  <a:tr h="558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3" t="-102273" r="-303158" b="-2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53" t="-102273" r="-203158" b="-2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⋯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1053" t="-102273" r="-3158" b="-20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2441076"/>
                      </a:ext>
                    </a:extLst>
                  </a:tr>
                  <a:tr h="558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⋮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⋮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⋱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⋮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9129633"/>
                      </a:ext>
                    </a:extLst>
                  </a:tr>
                  <a:tr h="558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3" t="-302273" r="-303158" b="-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53" t="-302273" r="-203158" b="-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⋯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1053" t="-302273" r="-3158" b="-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966358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21E7EF7-F088-0C43-B7B8-71B049220275}"/>
                  </a:ext>
                </a:extLst>
              </p:cNvPr>
              <p:cNvSpPr txBox="1"/>
              <p:nvPr/>
            </p:nvSpPr>
            <p:spPr>
              <a:xfrm>
                <a:off x="5969000" y="5143500"/>
                <a:ext cx="5080000" cy="35856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7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sz="17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17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7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17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7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17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X ∈ ℝⁿˣᵈ</a:t>
                    </a:r>
                  </mc:Fallback>
                </mc:AlternateContent>
                <a:r>
                  <a:rPr lang="en-US" sz="1700" dirty="0">
                    <a:solidFill>
                      <a:srgbClr val="4B2E83"/>
                    </a:solidFill>
                  </a:rPr>
                  <a:t>   (n rows = observations,  d cols = features)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21E7EF7-F088-0C43-B7B8-71B049220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000" y="5143500"/>
                <a:ext cx="5080000" cy="358560"/>
              </a:xfrm>
              <a:prstGeom prst="rect">
                <a:avLst/>
              </a:prstGeom>
              <a:blipFill>
                <a:blip r:embed="rId4"/>
                <a:stretch>
                  <a:fillRect t="-6897"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873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25FD1-C7D8-90B4-FB83-90BFDEB5B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Distance Matters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1DDAC2-6965-B847-BD09-0631262D41BC}"/>
                  </a:ext>
                </a:extLst>
              </p:cNvPr>
              <p:cNvSpPr txBox="1"/>
              <p:nvPr/>
            </p:nvSpPr>
            <p:spPr>
              <a:xfrm>
                <a:off x="838200" y="1905000"/>
                <a:ext cx="5588000" cy="276832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85750" indent="-285750">
                  <a:buFont typeface="Arial"/>
                  <a:buChar char="•"/>
                </a:pPr>
                <a:r>
                  <a:rPr lang="en-US" sz="1900" dirty="0">
                    <a:solidFill>
                      <a:srgbClr val="333333"/>
                    </a:solidFill>
                  </a:rPr>
                  <a:t>Every clustering algorithm answers one question: how close are two observations?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900" dirty="0">
                    <a:solidFill>
                      <a:srgbClr val="333333"/>
                    </a:solidFill>
                  </a:rPr>
                  <a:t>Closeness is measured by a distance </a:t>
                </a:r>
                <a14:m>
                  <m:oMath xmlns:m="http://schemas.openxmlformats.org/officeDocument/2006/math"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9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9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 on the rows of </a:t>
                </a:r>
                <a14:m>
                  <m:oMath xmlns:m="http://schemas.openxmlformats.org/officeDocument/2006/math"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900" dirty="0">
                    <a:solidFill>
                      <a:srgbClr val="333333"/>
                    </a:solidFill>
                  </a:rPr>
                  <a:t>The choice of distance defines the shape of clusters: spherical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), axis-aligned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), correlation-aware (Mahalanobis).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900" dirty="0">
                    <a:solidFill>
                      <a:srgbClr val="333333"/>
                    </a:solidFill>
                  </a:rPr>
                  <a:t>Change the metric and you change the clusters — the data does not change, the geometry does.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1DDAC2-6965-B847-BD09-0631262D4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5588000" cy="2768322"/>
              </a:xfrm>
              <a:prstGeom prst="rect">
                <a:avLst/>
              </a:prstGeom>
              <a:blipFill>
                <a:blip r:embed="rId2"/>
                <a:stretch>
                  <a:fillRect l="-909" t="-1370" r="-1591" b="-2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01965D8-E325-004C-9925-AF270E117614}"/>
              </a:ext>
            </a:extLst>
          </p:cNvPr>
          <p:cNvSpPr/>
          <p:nvPr/>
        </p:nvSpPr>
        <p:spPr>
          <a:xfrm>
            <a:off x="6477000" y="2032000"/>
            <a:ext cx="4876800" cy="3683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6AF4F3B-8168-404C-AEBE-6D57752AC886}"/>
                  </a:ext>
                </a:extLst>
              </p:cNvPr>
              <p:cNvSpPr txBox="1"/>
              <p:nvPr/>
            </p:nvSpPr>
            <p:spPr>
              <a:xfrm>
                <a:off x="6705600" y="3057892"/>
                <a:ext cx="4419600" cy="163121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Arial"/>
                  </a:rPr>
                  <a:t>The central object</a:t>
                </a:r>
              </a:p>
              <a:p>
                <a:pPr>
                  <a:buNone/>
                </a:pPr>
                <a:endParaRPr lang="en-US" sz="6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>
                          <a:solidFill>
                            <a:srgbClr val="F5F0EB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200">
                          <a:solidFill>
                            <a:srgbClr val="F5F0EB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sz="2200" i="1">
                              <a:solidFill>
                                <a:srgbClr val="F5F0E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>
                              <a:solidFill>
                                <a:srgbClr val="F5F0EB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200">
                              <a:solidFill>
                                <a:srgbClr val="F5F0EB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en-US" sz="2200">
                          <a:solidFill>
                            <a:srgbClr val="F5F0EB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200" i="1">
                              <a:solidFill>
                                <a:srgbClr val="F5F0E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>
                              <a:solidFill>
                                <a:srgbClr val="F5F0EB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200">
                              <a:solidFill>
                                <a:srgbClr val="F5F0EB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en-US" sz="2200">
                          <a:solidFill>
                            <a:srgbClr val="F5F0EB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F5F0E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>
                              <a:solidFill>
                                <a:srgbClr val="F5F0EB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b>
                          <m:r>
                            <a:rPr lang="en-US" sz="2200">
                              <a:solidFill>
                                <a:srgbClr val="F5F0EB"/>
                              </a:solidFill>
                              <a:latin typeface="Cambria Math" panose="02040503050406030204" pitchFamily="18" charset="0"/>
                            </a:rPr>
                            <m:t>≥0</m:t>
                          </m:r>
                        </m:sub>
                      </m:sSub>
                    </m:oMath>
                  </m:oMathPara>
                </a14:m>
                <a:endParaRPr lang="en-US" sz="600"/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:r>
                  <a:rPr lang="en-US" sz="1600" dirty="0">
                    <a:solidFill>
                      <a:srgbClr val="F5F0EB"/>
                    </a:solidFill>
                  </a:rPr>
                  <a:t>A metric satisfies: non-negativity, identity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F5F0EB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1600" i="1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sz="1600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US" sz="1600">
                        <a:solidFill>
                          <a:srgbClr val="F5F0EB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>
                    <a:solidFill>
                      <a:srgbClr val="F5F0EB"/>
                    </a:solidFill>
                  </a:rPr>
                  <a:t>, symmetry, and the triangle inequality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F5F0EB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1600" i="1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sz="1600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  <m:r>
                      <a:rPr lang="en-US" sz="1600">
                        <a:solidFill>
                          <a:srgbClr val="F5F0EB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600">
                        <a:solidFill>
                          <a:srgbClr val="F5F0EB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1600" i="1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sz="1600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sz="1600">
                        <a:solidFill>
                          <a:srgbClr val="F5F0EB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>
                        <a:solidFill>
                          <a:srgbClr val="F5F0EB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1600" i="1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sz="1600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F5F0EB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6AF4F3B-8168-404C-AEBE-6D57752AC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3057892"/>
                <a:ext cx="4419600" cy="1631216"/>
              </a:xfrm>
              <a:prstGeom prst="rect">
                <a:avLst/>
              </a:prstGeom>
              <a:blipFill>
                <a:blip r:embed="rId3"/>
                <a:stretch>
                  <a:fillRect l="-1146" t="-769" r="-287"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1486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0D288-A352-763D-1A31-B06529E09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Distance Metrics &amp; Norms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8278DF3-4EEA-064D-959F-C80BC8B684FD}"/>
              </a:ext>
            </a:extLst>
          </p:cNvPr>
          <p:cNvSpPr/>
          <p:nvPr/>
        </p:nvSpPr>
        <p:spPr>
          <a:xfrm>
            <a:off x="838200" y="1905000"/>
            <a:ext cx="5143500" cy="2032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899F08-4C09-AA43-9428-128B7BDB35D9}"/>
                  </a:ext>
                </a:extLst>
              </p:cNvPr>
              <p:cNvSpPr txBox="1"/>
              <p:nvPr/>
            </p:nvSpPr>
            <p:spPr>
              <a:xfrm>
                <a:off x="1016000" y="2006600"/>
                <a:ext cx="4787900" cy="1031051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sp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  <a:latin typeface="Arial"/>
                  </a:rPr>
                  <a:t>Euclidean  (L₂)</a:t>
                </a:r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sz="18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18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800" i="1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1800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sz="180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sz="1800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18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8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  <m:sub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600"/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Straight-line distance; spherical clusters.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899F08-4C09-AA43-9428-128B7BDB35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006600"/>
                <a:ext cx="4787900" cy="1031051"/>
              </a:xfrm>
              <a:prstGeom prst="rect">
                <a:avLst/>
              </a:prstGeom>
              <a:blipFill>
                <a:blip r:embed="rId2"/>
                <a:stretch>
                  <a:fillRect l="-1061" t="-48193" b="-139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1D4D8BE-B7B6-C64D-BF16-428DB22D29A0}"/>
              </a:ext>
            </a:extLst>
          </p:cNvPr>
          <p:cNvSpPr/>
          <p:nvPr/>
        </p:nvSpPr>
        <p:spPr>
          <a:xfrm>
            <a:off x="6210300" y="1905000"/>
            <a:ext cx="5143500" cy="2032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2A03F21-A667-D343-9A73-6EAE23C31DF5}"/>
                  </a:ext>
                </a:extLst>
              </p:cNvPr>
              <p:cNvSpPr txBox="1"/>
              <p:nvPr/>
            </p:nvSpPr>
            <p:spPr>
              <a:xfrm>
                <a:off x="6388100" y="2006600"/>
                <a:ext cx="4787900" cy="1031051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sp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00A7B5"/>
                    </a:solidFill>
                    <a:latin typeface="Arial"/>
                  </a:rPr>
                  <a:t>Manhattan  (L₁)</a:t>
                </a:r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8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8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18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8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  <m:sub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600"/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Grid distance; robust to outliers.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2A03F21-A667-D343-9A73-6EAE23C31D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100" y="2006600"/>
                <a:ext cx="4787900" cy="1031051"/>
              </a:xfrm>
              <a:prstGeom prst="rect">
                <a:avLst/>
              </a:prstGeom>
              <a:blipFill>
                <a:blip r:embed="rId3"/>
                <a:stretch>
                  <a:fillRect l="-796" t="-55422" b="-1325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5BF86A8-4483-C344-92D0-C172294F95CB}"/>
              </a:ext>
            </a:extLst>
          </p:cNvPr>
          <p:cNvSpPr/>
          <p:nvPr/>
        </p:nvSpPr>
        <p:spPr>
          <a:xfrm>
            <a:off x="838200" y="4114800"/>
            <a:ext cx="5143500" cy="2032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6252777-2781-2142-B2D7-E6539950A6D7}"/>
                  </a:ext>
                </a:extLst>
              </p:cNvPr>
              <p:cNvSpPr txBox="1"/>
              <p:nvPr/>
            </p:nvSpPr>
            <p:spPr>
              <a:xfrm>
                <a:off x="1016000" y="4216400"/>
                <a:ext cx="4787900" cy="1031051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sp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7AB648"/>
                    </a:solidFill>
                    <a:latin typeface="Arial"/>
                  </a:rPr>
                  <a:t>Chebyshev  (L∞)</a:t>
                </a:r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1800">
                              <a:solidFill>
                                <a:srgbClr val="333333"/>
                              </a:solidFill>
                            </a:rPr>
                            <m:t>max</m:t>
                          </m:r>
                        </m:e>
                        <m:sub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8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  <m:sub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</m:oMath>
                  </m:oMathPara>
                </a14:m>
                <a:endParaRPr lang="en-US" sz="600"/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Dominant-coordinate distance.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6252777-2781-2142-B2D7-E6539950A6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4216400"/>
                <a:ext cx="4787900" cy="1031051"/>
              </a:xfrm>
              <a:prstGeom prst="rect">
                <a:avLst/>
              </a:prstGeom>
              <a:blipFill>
                <a:blip r:embed="rId4"/>
                <a:stretch>
                  <a:fillRect l="-1061" t="-2439" b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D8DDEF1-86F8-7C44-9951-3507C8F5B27F}"/>
              </a:ext>
            </a:extLst>
          </p:cNvPr>
          <p:cNvSpPr/>
          <p:nvPr/>
        </p:nvSpPr>
        <p:spPr>
          <a:xfrm>
            <a:off x="6210300" y="4114800"/>
            <a:ext cx="5143500" cy="2032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B19B90C-8507-3348-9646-C9E296363878}"/>
                  </a:ext>
                </a:extLst>
              </p:cNvPr>
              <p:cNvSpPr txBox="1"/>
              <p:nvPr/>
            </p:nvSpPr>
            <p:spPr>
              <a:xfrm>
                <a:off x="6388100" y="4216400"/>
                <a:ext cx="4787900" cy="1031051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sp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D1578A"/>
                    </a:solidFill>
                    <a:latin typeface="Arial"/>
                  </a:rPr>
                  <a:t>Mahalanobis</a:t>
                </a:r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8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  <m:r>
                                    <a:rPr lang="en-US" sz="18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</m:d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sz="1800">
                                  <a:solidFill>
                                    <a:srgbClr val="333333"/>
                                  </a:solidFill>
                                </a:rPr>
                                <m:t>T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8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𝐒</m:t>
                              </m:r>
                            </m:e>
                            <m:sup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8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</m:rad>
                    </m:oMath>
                  </m:oMathPara>
                </a14:m>
                <a:endParaRPr lang="en-US" sz="600"/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Scales by covariance S; correlation-aware.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B19B90C-8507-3348-9646-C9E296363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100" y="4216400"/>
                <a:ext cx="4787900" cy="1031051"/>
              </a:xfrm>
              <a:prstGeom prst="rect">
                <a:avLst/>
              </a:prstGeom>
              <a:blipFill>
                <a:blip r:embed="rId5"/>
                <a:stretch>
                  <a:fillRect l="-796" t="-2439" b="-32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934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58058-D674-7C24-DA36-33762F1B6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Distance Matrix 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BC67404-D105-4740-87BD-50B8E1C53F80}"/>
                  </a:ext>
                </a:extLst>
              </p:cNvPr>
              <p:cNvSpPr txBox="1"/>
              <p:nvPr/>
            </p:nvSpPr>
            <p:spPr>
              <a:xfrm>
                <a:off x="838200" y="1905000"/>
                <a:ext cx="5207000" cy="291727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700" dirty="0">
                    <a:solidFill>
                      <a:srgbClr val="333333"/>
                    </a:solidFill>
                  </a:rPr>
                  <a:t>From the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rows of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we build the pairwise distance matrix:</a:t>
                </a:r>
              </a:p>
              <a:p>
                <a:pPr>
                  <a:buNone/>
                </a:pPr>
                <a:endParaRPr lang="en-US" sz="400" dirty="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0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0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0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400" dirty="0"/>
              </a:p>
              <a:p>
                <a:pPr>
                  <a:buNone/>
                </a:pPr>
                <a:endParaRPr lang="en-US" sz="400" dirty="0"/>
              </a:p>
              <a:p>
                <a:pPr marL="285750" indent="-28575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Symmetric: 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𝐃</m:t>
                    </m:r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1700">
                            <a:solidFill>
                              <a:srgbClr val="333333"/>
                            </a:solidFill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, 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Zero diagonal: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Stores all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num>
                      <m:den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pairwise distances — input to hierarchical clustering and DBSCAN.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  <m:sup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7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7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p>
                      <m:sSup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m:rPr>
                            <m:nor/>
                          </m:rPr>
                          <a:rPr lang="en-US" sz="1700">
                            <a:solidFill>
                              <a:srgbClr val="333333"/>
                            </a:solidFill>
                          </a:rPr>
                          <m:t>T</m:t>
                        </m:r>
                      </m:sup>
                    </m:sSup>
                    <m:sSub>
                      <m:sSub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 (the Gram matrix trick).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BC67404-D105-4740-87BD-50B8E1C53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5207000" cy="2917273"/>
              </a:xfrm>
              <a:prstGeom prst="rect">
                <a:avLst/>
              </a:prstGeom>
              <a:blipFill>
                <a:blip r:embed="rId2"/>
                <a:stretch>
                  <a:fillRect l="-973" t="-870" b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EBADC1F8-9EE4-FB49-98F2-84E8F7A271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4590184"/>
                  </p:ext>
                </p:extLst>
              </p:nvPr>
            </p:nvGraphicFramePr>
            <p:xfrm>
              <a:off x="6172200" y="2286000"/>
              <a:ext cx="5080000" cy="264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70000">
                      <a:extLst>
                        <a:ext uri="{9D8B030D-6E8A-4147-A177-3AD203B41FA5}">
                          <a16:colId xmlns:a16="http://schemas.microsoft.com/office/drawing/2014/main" val="2016037658"/>
                        </a:ext>
                      </a:extLst>
                    </a:gridCol>
                    <a:gridCol w="1270000">
                      <a:extLst>
                        <a:ext uri="{9D8B030D-6E8A-4147-A177-3AD203B41FA5}">
                          <a16:colId xmlns:a16="http://schemas.microsoft.com/office/drawing/2014/main" val="2413600512"/>
                        </a:ext>
                      </a:extLst>
                    </a:gridCol>
                    <a:gridCol w="1270000">
                      <a:extLst>
                        <a:ext uri="{9D8B030D-6E8A-4147-A177-3AD203B41FA5}">
                          <a16:colId xmlns:a16="http://schemas.microsoft.com/office/drawing/2014/main" val="2503525069"/>
                        </a:ext>
                      </a:extLst>
                    </a:gridCol>
                    <a:gridCol w="1270000">
                      <a:extLst>
                        <a:ext uri="{9D8B030D-6E8A-4147-A177-3AD203B41FA5}">
                          <a16:colId xmlns:a16="http://schemas.microsoft.com/office/drawing/2014/main" val="1096409705"/>
                        </a:ext>
                      </a:extLst>
                    </a:gridCol>
                  </a:tblGrid>
                  <a:tr h="6604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4B2E8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2453821"/>
                      </a:ext>
                    </a:extLst>
                  </a:tr>
                  <a:tr h="6604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4B2E8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3219281"/>
                      </a:ext>
                    </a:extLst>
                  </a:tr>
                  <a:tr h="6604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4B2E8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212509"/>
                      </a:ext>
                    </a:extLst>
                  </a:tr>
                  <a:tr h="6604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4B2E8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48697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EBADC1F8-9EE4-FB49-98F2-84E8F7A271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4590184"/>
                  </p:ext>
                </p:extLst>
              </p:nvPr>
            </p:nvGraphicFramePr>
            <p:xfrm>
              <a:off x="6172200" y="2286000"/>
              <a:ext cx="5080000" cy="264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70000">
                      <a:extLst>
                        <a:ext uri="{9D8B030D-6E8A-4147-A177-3AD203B41FA5}">
                          <a16:colId xmlns:a16="http://schemas.microsoft.com/office/drawing/2014/main" val="2016037658"/>
                        </a:ext>
                      </a:extLst>
                    </a:gridCol>
                    <a:gridCol w="1270000">
                      <a:extLst>
                        <a:ext uri="{9D8B030D-6E8A-4147-A177-3AD203B41FA5}">
                          <a16:colId xmlns:a16="http://schemas.microsoft.com/office/drawing/2014/main" val="2413600512"/>
                        </a:ext>
                      </a:extLst>
                    </a:gridCol>
                    <a:gridCol w="1270000">
                      <a:extLst>
                        <a:ext uri="{9D8B030D-6E8A-4147-A177-3AD203B41FA5}">
                          <a16:colId xmlns:a16="http://schemas.microsoft.com/office/drawing/2014/main" val="2503525069"/>
                        </a:ext>
                      </a:extLst>
                    </a:gridCol>
                    <a:gridCol w="1270000">
                      <a:extLst>
                        <a:ext uri="{9D8B030D-6E8A-4147-A177-3AD203B41FA5}">
                          <a16:colId xmlns:a16="http://schemas.microsoft.com/office/drawing/2014/main" val="1096409705"/>
                        </a:ext>
                      </a:extLst>
                    </a:gridCol>
                  </a:tblGrid>
                  <a:tr h="660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" t="-1923" r="-303000" b="-3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00" t="-1923" r="-203000" b="-3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000" t="-1923" r="-103000" b="-3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1000" t="-1923" r="-3000" b="-3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2453821"/>
                      </a:ext>
                    </a:extLst>
                  </a:tr>
                  <a:tr h="660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" t="-101923" r="-303000" b="-2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00" t="-101923" r="-203000" b="-2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000" t="-101923" r="-103000" b="-2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1000" t="-101923" r="-3000" b="-2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3219281"/>
                      </a:ext>
                    </a:extLst>
                  </a:tr>
                  <a:tr h="660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" t="-201923" r="-303000" b="-1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00" t="-201923" r="-203000" b="-1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000" t="-201923" r="-103000" b="-1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1000" t="-201923" r="-3000" b="-1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212509"/>
                      </a:ext>
                    </a:extLst>
                  </a:tr>
                  <a:tr h="660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" t="-301923" r="-303000" b="-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00" t="-301923" r="-203000" b="-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000" t="-301923" r="-103000" b="-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1000" t="-301923" r="-3000" b="-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486972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50743C2-8E9A-0D44-8520-9675CB068007}"/>
                  </a:ext>
                </a:extLst>
              </p:cNvPr>
              <p:cNvSpPr txBox="1"/>
              <p:nvPr/>
            </p:nvSpPr>
            <p:spPr>
              <a:xfrm>
                <a:off x="6172200" y="5080000"/>
                <a:ext cx="5080000" cy="37279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𝐃</m:t>
                    </m:r>
                    <m:r>
                      <a:rPr lang="en-US" sz="16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6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6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600" i="1" dirty="0">
                    <a:solidFill>
                      <a:srgbClr val="595959"/>
                    </a:solidFill>
                    <a:latin typeface="Calibri"/>
                  </a:rPr>
                  <a:t>  is symmetric (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𝐃</m:t>
                    </m:r>
                    <m:r>
                      <a:rPr lang="en-US" sz="16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595959"/>
                            </a:solidFill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sz="1600" i="1" dirty="0">
                    <a:solidFill>
                      <a:srgbClr val="595959"/>
                    </a:solidFill>
                    <a:latin typeface="Calibri"/>
                  </a:rPr>
                  <a:t>) with zero diagonal.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50743C2-8E9A-0D44-8520-9675CB068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5080000"/>
                <a:ext cx="5080000" cy="372794"/>
              </a:xfrm>
              <a:prstGeom prst="rect">
                <a:avLst/>
              </a:prstGeom>
              <a:blipFill>
                <a:blip r:embed="rId4"/>
                <a:stretch>
                  <a:fillRect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1862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320B4-4DD9-F13B-EEF9-2A2D63909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/>
              <a:t>Squared Distances: The Gram Matrix Trick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Body"/>
              <p:cNvSpPr txBox="1"/>
              <p:nvPr/>
            </p:nvSpPr>
            <p:spPr>
              <a:xfrm>
                <a:off x="838200" y="1905000"/>
                <a:ext cx="10515600" cy="431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rtlCol="0" anchor="t">
                <a:normAutofit/>
              </a:bodyPr>
              <a:lstStyle/>
              <a:p>
                <a:pPr>
                  <a:buNone/>
                </a:pPr>
                <a:r>
                  <a:rPr lang="en-US" sz="1700" dirty="0">
                    <a:solidFill>
                      <a:srgbClr val="333333"/>
                    </a:solidFill>
                  </a:rPr>
                  <a:t>For the squared L₂ distance, expand the Euclidean norm: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3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3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3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3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  <m:sup>
                          <m:r>
                            <a:rPr lang="en-US" sz="23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3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3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3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3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3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3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3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3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3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3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3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3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3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3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3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en-US" sz="23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3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3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3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nor/>
                            </m:rPr>
                            <a:rPr lang="en-US" sz="2300">
                              <a:solidFill>
                                <a:srgbClr val="4B2E83"/>
                              </a:solidFill>
                            </a:rPr>
                            <m:t>T</m:t>
                          </m:r>
                        </m:sup>
                      </m:sSup>
                      <m:sSub>
                        <m:sSubPr>
                          <m:ctrlPr>
                            <a:rPr lang="en-US" sz="23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3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400" dirty="0"/>
              </a:p>
              <a:p>
                <a:pPr>
                  <a:buNone/>
                </a:pPr>
                <a:r>
                  <a:rPr lang="en-US" sz="1700" dirty="0">
                    <a:solidFill>
                      <a:srgbClr val="333333"/>
                    </a:solidFill>
                  </a:rPr>
                  <a:t>Collect every inner product into the Gram matrix </a:t>
                </a:r>
                <a:r>
                  <a:rPr lang="en-US" sz="1700" b="1" dirty="0">
                    <a:solidFill>
                      <a:srgbClr val="333333"/>
                    </a:solidFill>
                  </a:rPr>
                  <a:t>G = XXᵀ</a:t>
                </a:r>
                <a:r>
                  <a:rPr lang="en-US" sz="1700" dirty="0">
                    <a:solidFill>
                      <a:srgbClr val="333333"/>
                    </a:solidFill>
                  </a:rPr>
                  <a:t>,  with entry Gᵢⱼ = xᵢᵀxⱼ: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𝐆</m:t>
                      </m:r>
                      <m:r>
                        <a:rPr lang="en-US" sz="23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3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sSup>
                        <m:sSupPr>
                          <m:ctrlPr>
                            <a:rPr lang="en-US" sz="23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3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en-US" sz="2300">
                              <a:solidFill>
                                <a:srgbClr val="4B2E83"/>
                              </a:solidFill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US" sz="400" dirty="0"/>
              </a:p>
              <a:p>
                <a:pPr marL="285750" indent="-28575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Diagonal of G holds the squared norms:  ‖xᵢ‖² = Gᵢᵢ.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All n² squared distances come from one matrix product XXᵀ — vectorized and BLAS-fast.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Matrix form:  D² = g·1ᵀ + 1·gᵀ − 2G,  where g = diag(G).</a:t>
                </a:r>
              </a:p>
            </p:txBody>
          </p:sp>
        </mc:Choice>
        <mc:Fallback xmlns="">
          <p:sp>
            <p:nvSpPr>
              <p:cNvPr id="50" name="Bod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4318000"/>
              </a:xfrm>
              <a:prstGeom prst="rect">
                <a:avLst/>
              </a:prstGeom>
              <a:blipFill>
                <a:blip r:embed="rId2"/>
                <a:stretch>
                  <a:fillRect l="-1327" t="-17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5844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561AF-AE7B-0421-F860-073849D98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/>
              <a:t>Example: A Distance via the Gram Trick</a:t>
            </a:r>
          </a:p>
        </p:txBody>
      </p:sp>
      <p:sp>
        <p:nvSpPr>
          <p:cNvPr id="60" name="Problem"/>
          <p:cNvSpPr txBox="1"/>
          <p:nvPr/>
        </p:nvSpPr>
        <p:spPr>
          <a:xfrm>
            <a:off x="838200" y="1905000"/>
            <a:ext cx="10515600" cy="1168400"/>
          </a:xfrm>
          <a:prstGeom prst="roundRect">
            <a:avLst>
              <a:gd name="adj" fmla="val 8000"/>
            </a:avLst>
          </a:prstGeom>
          <a:solidFill>
            <a:srgbClr val="F5F0EB"/>
          </a:solidFill>
          <a:ln>
            <a:noFill/>
          </a:ln>
        </p:spPr>
        <p:txBody>
          <a:bodyPr lIns="137160" tIns="45720" rIns="137160" bIns="45720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Problem.  </a:t>
            </a:r>
            <a:r>
              <a:rPr lang="en-US" sz="1700" dirty="0">
                <a:solidFill>
                  <a:srgbClr val="333333"/>
                </a:solidFill>
              </a:rPr>
              <a:t>Given xᵢ = (3, 4) and xⱼ = (0, 1) in ℝ², compute D²ᵢⱼ with the Gram trick.</a:t>
            </a:r>
          </a:p>
          <a:p>
            <a:pPr>
              <a:buNone/>
            </a:pPr>
            <a:r>
              <a:rPr lang="en-US" sz="1500" i="1" dirty="0">
                <a:solidFill>
                  <a:srgbClr val="595959"/>
                </a:solidFill>
              </a:rPr>
              <a:t>Click to reveal the solution.</a:t>
            </a:r>
          </a:p>
        </p:txBody>
      </p:sp>
      <p:sp>
        <p:nvSpPr>
          <p:cNvPr id="201" name="Solution Steps"/>
          <p:cNvSpPr txBox="1"/>
          <p:nvPr/>
        </p:nvSpPr>
        <p:spPr>
          <a:xfrm>
            <a:off x="838200" y="3327400"/>
            <a:ext cx="7061200" cy="2692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B2E83"/>
            </a:solidFill>
          </a:ln>
        </p:spPr>
        <p:txBody>
          <a:bodyPr lIns="137160" tIns="91440" rIns="91440" bIns="45720" rtlCol="0" anchor="t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Solution</a:t>
            </a:r>
          </a:p>
          <a:p>
            <a:pPr>
              <a:buNone/>
            </a:pPr>
            <a:r>
              <a:rPr lang="en-US" sz="1800" dirty="0">
                <a:solidFill>
                  <a:srgbClr val="333333"/>
                </a:solidFill>
              </a:rPr>
              <a:t>‖xᵢ‖² = 3² + 4² = 25</a:t>
            </a:r>
          </a:p>
          <a:p>
            <a:pPr>
              <a:buNone/>
            </a:pPr>
            <a:r>
              <a:rPr lang="en-US" sz="1800" dirty="0">
                <a:solidFill>
                  <a:srgbClr val="333333"/>
                </a:solidFill>
              </a:rPr>
              <a:t>‖xⱼ‖² = 0² + 1² = 1</a:t>
            </a:r>
          </a:p>
          <a:p>
            <a:pPr>
              <a:buNone/>
            </a:pPr>
            <a:r>
              <a:rPr lang="en-US" sz="1800" dirty="0">
                <a:solidFill>
                  <a:srgbClr val="333333"/>
                </a:solidFill>
              </a:rPr>
              <a:t>xᵢᵀxⱼ = 3·0 + 4·1 = 4</a:t>
            </a:r>
          </a:p>
          <a:p>
            <a:pPr>
              <a:buNone/>
            </a:pPr>
            <a:r>
              <a:rPr lang="en-US" sz="1800" b="1" dirty="0">
                <a:solidFill>
                  <a:srgbClr val="4B2E83"/>
                </a:solidFill>
              </a:rPr>
              <a:t>D²ᵢⱼ = 25 + 1 − 2·4 = 18</a:t>
            </a:r>
          </a:p>
        </p:txBody>
      </p:sp>
      <p:sp>
        <p:nvSpPr>
          <p:cNvPr id="202" name="Answer"/>
          <p:cNvSpPr txBox="1"/>
          <p:nvPr/>
        </p:nvSpPr>
        <p:spPr>
          <a:xfrm>
            <a:off x="8204200" y="3327400"/>
            <a:ext cx="3149600" cy="2692400"/>
          </a:xfrm>
          <a:prstGeom prst="roundRect">
            <a:avLst>
              <a:gd name="adj" fmla="val 8000"/>
            </a:avLst>
          </a:prstGeom>
          <a:solidFill>
            <a:srgbClr val="4B2E83"/>
          </a:solidFill>
          <a:ln>
            <a:noFill/>
          </a:ln>
        </p:spPr>
        <p:txBody>
          <a:bodyPr lIns="45720" tIns="45720" rIns="45720" bIns="45720" rtlCol="0" anchor="ctr">
            <a:norm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B7A57A"/>
                </a:solidFill>
              </a:rPr>
              <a:t>Result</a:t>
            </a:r>
          </a:p>
          <a:p>
            <a:pPr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D²ᵢⱼ = 18</a:t>
            </a:r>
          </a:p>
          <a:p>
            <a:pPr algn="ctr">
              <a:buNone/>
            </a:pPr>
            <a:r>
              <a:rPr lang="en-US" sz="1900" dirty="0">
                <a:solidFill>
                  <a:srgbClr val="FFFFFF"/>
                </a:solidFill>
              </a:rPr>
              <a:t>Dᵢⱼ = √18 ≈ 4.24</a:t>
            </a:r>
          </a:p>
        </p:txBody>
      </p:sp>
    </p:spTree>
    <p:extLst>
      <p:ext uri="{BB962C8B-B14F-4D97-AF65-F5344CB8AC3E}">
        <p14:creationId xmlns:p14="http://schemas.microsoft.com/office/powerpoint/2010/main" val="1973976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  <p:bldP spid="20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5F99A-DA37-E201-A8C7-ABDBA7B61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/>
              <a:t>Exercise: Build the Distance Matrix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BDC450D-1E03-CB43-A55E-EF5DB99615C6}"/>
              </a:ext>
            </a:extLst>
          </p:cNvPr>
          <p:cNvGraphicFramePr>
            <a:graphicFrameLocks noGrp="1"/>
          </p:cNvGraphicFramePr>
          <p:nvPr/>
        </p:nvGraphicFramePr>
        <p:xfrm>
          <a:off x="6172200" y="3352800"/>
          <a:ext cx="4978400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40067179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32318916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69917482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1017045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375840416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46567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318848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81179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097158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315925"/>
                  </a:ext>
                </a:extLst>
              </a:tr>
            </a:tbl>
          </a:graphicData>
        </a:graphic>
      </p:graphicFrame>
      <p:sp>
        <p:nvSpPr>
          <p:cNvPr id="60" name="Problem"/>
          <p:cNvSpPr txBox="1"/>
          <p:nvPr/>
        </p:nvSpPr>
        <p:spPr>
          <a:xfrm>
            <a:off x="838200" y="1905000"/>
            <a:ext cx="10515600" cy="1168400"/>
          </a:xfrm>
          <a:prstGeom prst="roundRect">
            <a:avLst>
              <a:gd name="adj" fmla="val 8000"/>
            </a:avLst>
          </a:prstGeom>
          <a:solidFill>
            <a:srgbClr val="F5F0EB"/>
          </a:solidFill>
          <a:ln>
            <a:noFill/>
          </a:ln>
        </p:spPr>
        <p:txBody>
          <a:bodyPr lIns="137160" tIns="45720" rIns="137160" bIns="45720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Problem.  </a:t>
            </a:r>
            <a:r>
              <a:rPr lang="en-US" sz="1700" dirty="0">
                <a:solidFill>
                  <a:srgbClr val="333333"/>
                </a:solidFill>
              </a:rPr>
              <a:t>For the four points below in ℝ², build the 4×4 Euclidean distance matrix D.</a:t>
            </a:r>
          </a:p>
          <a:p>
            <a:pPr>
              <a:buNone/>
            </a:pPr>
            <a:r>
              <a:rPr lang="en-US" sz="1500" i="1" dirty="0">
                <a:solidFill>
                  <a:srgbClr val="595959"/>
                </a:solidFill>
              </a:rPr>
              <a:t>Click to reveal the solution.</a:t>
            </a:r>
          </a:p>
        </p:txBody>
      </p:sp>
      <p:sp>
        <p:nvSpPr>
          <p:cNvPr id="61" name="Points"/>
          <p:cNvSpPr txBox="1"/>
          <p:nvPr/>
        </p:nvSpPr>
        <p:spPr>
          <a:xfrm>
            <a:off x="838200" y="3352800"/>
            <a:ext cx="48260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B2E83"/>
            </a:solidFill>
          </a:ln>
        </p:spPr>
        <p:txBody>
          <a:bodyPr lIns="137160" tIns="82296" rIns="91440" bIns="45720" rtlCol="0" anchor="t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Points</a:t>
            </a:r>
          </a:p>
          <a:p>
            <a:pPr>
              <a:buNone/>
            </a:pPr>
            <a:r>
              <a:rPr lang="en-US" sz="1800" dirty="0">
                <a:solidFill>
                  <a:srgbClr val="333333"/>
                </a:solidFill>
              </a:rPr>
              <a:t>a = (0, 0)  b = (3, 0)</a:t>
            </a:r>
          </a:p>
          <a:p>
            <a:pPr>
              <a:buNone/>
            </a:pPr>
            <a:r>
              <a:rPr lang="en-US" sz="1800" dirty="0">
                <a:solidFill>
                  <a:srgbClr val="333333"/>
                </a:solidFill>
              </a:rPr>
              <a:t>c = (0, 4)  d = (3, 4)</a:t>
            </a:r>
          </a:p>
          <a:p>
            <a:pPr>
              <a:buNone/>
            </a:pPr>
            <a:r>
              <a:rPr lang="en-US" sz="1600" i="1" dirty="0">
                <a:solidFill>
                  <a:srgbClr val="595959"/>
                </a:solidFill>
              </a:rPr>
              <a:t>Recall:  Dᵢⱼ = ‖xᵢ − xⱼ‖</a:t>
            </a:r>
          </a:p>
        </p:txBody>
      </p:sp>
    </p:spTree>
    <p:extLst>
      <p:ext uri="{BB962C8B-B14F-4D97-AF65-F5344CB8AC3E}">
        <p14:creationId xmlns:p14="http://schemas.microsoft.com/office/powerpoint/2010/main" val="1002608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39D12-B5D9-0C5B-33E3-4F6BF852E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/>
              <a:t>Solution — Step 1: Squared Norms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F4E01F0-CC43-014C-B2C6-9910AA3362C0}"/>
              </a:ext>
            </a:extLst>
          </p:cNvPr>
          <p:cNvSpPr/>
          <p:nvPr/>
        </p:nvSpPr>
        <p:spPr>
          <a:xfrm>
            <a:off x="838200" y="1905000"/>
            <a:ext cx="10515600" cy="7874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4B2E83"/>
                </a:solidFill>
                <a:latin typeface="Arial"/>
                <a:cs typeface="Arial"/>
              </a:rPr>
              <a:t>For L₂ (Gram trick):   D²ᵢⱼ = ‖xᵢ‖² + ‖xⱼ‖² − 2 xᵢᵀ xⱼ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212F093-890F-0844-8046-D18976C60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294862"/>
              </p:ext>
            </p:extLst>
          </p:nvPr>
        </p:nvGraphicFramePr>
        <p:xfrm>
          <a:off x="2921000" y="3200400"/>
          <a:ext cx="6350000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108423512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57303472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83940408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Point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xᵢ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‖xᵢ‖²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49916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(0, 0)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0² + 0² =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3657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b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(3, 0)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3² + 0² = 9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56395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(0, 4)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0² + 4² = 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84932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d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(3, 4)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3² + 4² = 25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5877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C736432-7207-1F46-9FFF-EFC8FFF94CEB}"/>
              </a:ext>
            </a:extLst>
          </p:cNvPr>
          <p:cNvSpPr txBox="1"/>
          <p:nvPr/>
        </p:nvSpPr>
        <p:spPr>
          <a:xfrm>
            <a:off x="2921000" y="5715000"/>
            <a:ext cx="6350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500" i="1">
                <a:solidFill>
                  <a:srgbClr val="595959"/>
                </a:solidFill>
                <a:latin typeface="Calibri"/>
                <a:cs typeface="Calibri"/>
              </a:rPr>
              <a:t>These four values become the diagonal of the Gram matrix G.</a:t>
            </a:r>
          </a:p>
        </p:txBody>
      </p:sp>
    </p:spTree>
    <p:extLst>
      <p:ext uri="{BB962C8B-B14F-4D97-AF65-F5344CB8AC3E}">
        <p14:creationId xmlns:p14="http://schemas.microsoft.com/office/powerpoint/2010/main" val="1536453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40453-196D-1FF4-A339-716557BEB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/>
              <a:t>Solution — Step 2: Gram Matrix G = XXᵀ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3B8FF4C-9C99-E34E-AA04-AFA0A1BD4382}"/>
              </a:ext>
            </a:extLst>
          </p:cNvPr>
          <p:cNvSpPr/>
          <p:nvPr/>
        </p:nvSpPr>
        <p:spPr>
          <a:xfrm>
            <a:off x="838200" y="1905000"/>
            <a:ext cx="10515600" cy="7874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4B2E83"/>
                </a:solidFill>
                <a:latin typeface="Arial"/>
                <a:cs typeface="Arial"/>
              </a:rPr>
              <a:t>For L₂ (Gram trick):   D²ᵢⱼ = ‖xᵢ‖² + ‖xⱼ‖² − 2 xᵢᵀ xⱼ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E098CA4-90D3-2B4E-8685-CB9A70FB7A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582621"/>
              </p:ext>
            </p:extLst>
          </p:nvPr>
        </p:nvGraphicFramePr>
        <p:xfrm>
          <a:off x="3810000" y="3251200"/>
          <a:ext cx="4978400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55411759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158949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358118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6056319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15903578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33239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312255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76085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97207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25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69192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B6CEE3E-54BB-EE4B-83F7-6C1540BA29E9}"/>
              </a:ext>
            </a:extLst>
          </p:cNvPr>
          <p:cNvSpPr txBox="1"/>
          <p:nvPr/>
        </p:nvSpPr>
        <p:spPr>
          <a:xfrm>
            <a:off x="1524000" y="5689600"/>
            <a:ext cx="9144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500" i="1">
                <a:solidFill>
                  <a:srgbClr val="595959"/>
                </a:solidFill>
                <a:latin typeface="Calibri"/>
                <a:cs typeface="Calibri"/>
              </a:rPr>
              <a:t>Gᵢⱼ = xᵢᵀ xⱼ — its diagonal equals the squared norms ‖xᵢ‖² from Step 1.</a:t>
            </a:r>
          </a:p>
        </p:txBody>
      </p:sp>
    </p:spTree>
    <p:extLst>
      <p:ext uri="{BB962C8B-B14F-4D97-AF65-F5344CB8AC3E}">
        <p14:creationId xmlns:p14="http://schemas.microsoft.com/office/powerpoint/2010/main" val="289641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508D1-BD8C-BBA9-E055-F8C0CE2A8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/>
              <a:t>Solution — Step 3: Squared Distances D²ᵢⱼ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D35C873-0BF6-C74D-9FBF-500D795E59D7}"/>
              </a:ext>
            </a:extLst>
          </p:cNvPr>
          <p:cNvSpPr/>
          <p:nvPr/>
        </p:nvSpPr>
        <p:spPr>
          <a:xfrm>
            <a:off x="838200" y="1905000"/>
            <a:ext cx="10515600" cy="7874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4B2E83"/>
                </a:solidFill>
                <a:latin typeface="Arial"/>
                <a:cs typeface="Arial"/>
              </a:rPr>
              <a:t>For L₂ (Gram trick):   D²ᵢⱼ = ‖xᵢ‖² + ‖xⱼ‖² − 2 xᵢᵀ xⱼ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11166C1-9FC8-8140-99CB-0AA2DB1307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332411"/>
              </p:ext>
            </p:extLst>
          </p:nvPr>
        </p:nvGraphicFramePr>
        <p:xfrm>
          <a:off x="3810000" y="3251200"/>
          <a:ext cx="4978400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410354723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1222635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0771552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4480366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681385398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D²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4137069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66942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489041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36543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25765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EB40E12-4876-2447-BFEF-58BD8BBB90DD}"/>
              </a:ext>
            </a:extLst>
          </p:cNvPr>
          <p:cNvSpPr txBox="1"/>
          <p:nvPr/>
        </p:nvSpPr>
        <p:spPr>
          <a:xfrm>
            <a:off x="1524000" y="5689600"/>
            <a:ext cx="9144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500" i="1">
                <a:solidFill>
                  <a:srgbClr val="595959"/>
                </a:solidFill>
                <a:latin typeface="Calibri"/>
                <a:cs typeface="Calibri"/>
              </a:rPr>
              <a:t>D²ᵢⱼ = ‖xᵢ‖² + ‖xⱼ‖² − 2Gᵢⱼ.   e.g.  D²(b,d) = 9 + 25 − 2(9) = 16.</a:t>
            </a:r>
          </a:p>
        </p:txBody>
      </p:sp>
    </p:spTree>
    <p:extLst>
      <p:ext uri="{BB962C8B-B14F-4D97-AF65-F5344CB8AC3E}">
        <p14:creationId xmlns:p14="http://schemas.microsoft.com/office/powerpoint/2010/main" val="1274200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4F39B-E99A-DBDA-1DFC-E1E4DDA68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/>
              <a:t>Solution — Step 4: Distance Matrix 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883939E-9B94-7C45-A6B5-35BCB1730E48}"/>
              </a:ext>
            </a:extLst>
          </p:cNvPr>
          <p:cNvSpPr/>
          <p:nvPr/>
        </p:nvSpPr>
        <p:spPr>
          <a:xfrm>
            <a:off x="838200" y="1905000"/>
            <a:ext cx="10515600" cy="7874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4B2E83"/>
                </a:solidFill>
                <a:latin typeface="Arial"/>
                <a:cs typeface="Arial"/>
              </a:rPr>
              <a:t>Take entrywise square roots:   Dᵢⱼ = √(D²ᵢⱼ)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16EEABB-A048-3A49-98E3-DAA10FA7D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942621"/>
              </p:ext>
            </p:extLst>
          </p:nvPr>
        </p:nvGraphicFramePr>
        <p:xfrm>
          <a:off x="3810000" y="3251200"/>
          <a:ext cx="4978400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17443491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9793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4821417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0825140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408663217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0086128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33489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080571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04606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434407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780F182-EE74-F144-B2A4-29FBB90951E5}"/>
              </a:ext>
            </a:extLst>
          </p:cNvPr>
          <p:cNvSpPr txBox="1"/>
          <p:nvPr/>
        </p:nvSpPr>
        <p:spPr>
          <a:xfrm>
            <a:off x="1524000" y="5689600"/>
            <a:ext cx="9144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500" i="1">
                <a:solidFill>
                  <a:srgbClr val="595959"/>
                </a:solidFill>
                <a:latin typeface="Calibri"/>
                <a:cs typeface="Calibri"/>
              </a:rPr>
              <a:t>Symmetric with zero diagonal — the 3-4-5 rectangle. This matches the exercise answer.</a:t>
            </a:r>
          </a:p>
        </p:txBody>
      </p:sp>
    </p:spTree>
    <p:extLst>
      <p:ext uri="{BB962C8B-B14F-4D97-AF65-F5344CB8AC3E}">
        <p14:creationId xmlns:p14="http://schemas.microsoft.com/office/powerpoint/2010/main" val="26634696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D1611-118A-1DF7-4581-76D69AF3A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Similarity vs. Dissimilarity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6FEADBB-8213-224E-B629-8C1C4935DF41}"/>
              </a:ext>
            </a:extLst>
          </p:cNvPr>
          <p:cNvSpPr/>
          <p:nvPr/>
        </p:nvSpPr>
        <p:spPr>
          <a:xfrm>
            <a:off x="838200" y="1905000"/>
            <a:ext cx="5143500" cy="4191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14700B-85F3-CD47-94F6-95D9D93F2077}"/>
                  </a:ext>
                </a:extLst>
              </p:cNvPr>
              <p:cNvSpPr txBox="1"/>
              <p:nvPr/>
            </p:nvSpPr>
            <p:spPr>
              <a:xfrm>
                <a:off x="1066800" y="2082800"/>
                <a:ext cx="4724400" cy="215417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900" b="1" dirty="0">
                    <a:solidFill>
                      <a:srgbClr val="00A7B5"/>
                    </a:solidFill>
                    <a:latin typeface="Arial"/>
                  </a:rPr>
                  <a:t>Dissimilarity  </a:t>
                </a:r>
                <a14:m>
                  <m:oMath xmlns:m="http://schemas.openxmlformats.org/officeDocument/2006/math">
                    <m:r>
                      <a:rPr lang="en-US" sz="1900">
                        <a:solidFill>
                          <a:srgbClr val="00A7B5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1900" i="1">
                            <a:solidFill>
                              <a:srgbClr val="00A7B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>
                            <a:solidFill>
                              <a:srgbClr val="00A7B5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sz="1900">
                            <a:solidFill>
                              <a:srgbClr val="00A7B5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900">
                            <a:solidFill>
                              <a:srgbClr val="00A7B5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</m:oMath>
                </a14:m>
                <a:endParaRPr lang="en-US" sz="1900" b="1" dirty="0">
                  <a:solidFill>
                    <a:srgbClr val="00A7B5"/>
                  </a:solidFill>
                  <a:latin typeface="Arial"/>
                </a:endParaRPr>
              </a:p>
              <a:p>
                <a:pPr>
                  <a:buNone/>
                </a:pPr>
                <a:endParaRPr lang="en-US" sz="700"/>
              </a:p>
              <a:p>
                <a:pPr marL="228600" indent="-22860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Small when points are alike, large when different.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Cosine distance: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1700">
                                <a:solidFill>
                                  <a:srgbClr val="333333"/>
                                </a:solidFill>
                              </a:rPr>
                              <m:t>T</m:t>
                            </m:r>
                          </m:sup>
                        </m:sSup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  <m:d>
                          <m:dPr>
                            <m:begChr m:val="‖"/>
                            <m:endChr m:val="‖"/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den>
                    </m:f>
                  </m:oMath>
                </a14:m>
                <a:endParaRPr lang="en-US" sz="1700" dirty="0">
                  <a:solidFill>
                    <a:srgbClr val="333333"/>
                  </a:solidFill>
                </a:endParaRPr>
              </a:p>
              <a:p>
                <a:pPr marL="228600" indent="-22860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Used directly by hierarchical clustering, DBSCAN.</a:t>
                </a:r>
              </a:p>
              <a:p>
                <a:pPr>
                  <a:buNone/>
                </a:pPr>
                <a:endParaRPr lang="en-US" sz="7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≥0,  </m:t>
                      </m:r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7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14700B-85F3-CD47-94F6-95D9D93F20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082800"/>
                <a:ext cx="4724400" cy="2154179"/>
              </a:xfrm>
              <a:prstGeom prst="rect">
                <a:avLst/>
              </a:prstGeom>
              <a:blipFill>
                <a:blip r:embed="rId2"/>
                <a:stretch>
                  <a:fillRect l="-1340" t="-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C3BBBA5-FCC5-FF43-83F3-A198697F65F7}"/>
              </a:ext>
            </a:extLst>
          </p:cNvPr>
          <p:cNvSpPr/>
          <p:nvPr/>
        </p:nvSpPr>
        <p:spPr>
          <a:xfrm>
            <a:off x="6210300" y="1905000"/>
            <a:ext cx="5143500" cy="4191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61C3AD-E82F-6047-A89F-321740B2BF6C}"/>
                  </a:ext>
                </a:extLst>
              </p:cNvPr>
              <p:cNvSpPr txBox="1"/>
              <p:nvPr/>
            </p:nvSpPr>
            <p:spPr>
              <a:xfrm>
                <a:off x="6438900" y="2082800"/>
                <a:ext cx="4724400" cy="236545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900" b="1" dirty="0">
                    <a:solidFill>
                      <a:srgbClr val="D1578A"/>
                    </a:solidFill>
                    <a:latin typeface="Arial"/>
                  </a:rPr>
                  <a:t>Similarity  </a:t>
                </a:r>
                <a14:m>
                  <m:oMath xmlns:m="http://schemas.openxmlformats.org/officeDocument/2006/math">
                    <m:r>
                      <a:rPr lang="en-US" sz="1900">
                        <a:solidFill>
                          <a:srgbClr val="D1578A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sz="1900" i="1">
                            <a:solidFill>
                              <a:srgbClr val="D1578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>
                            <a:solidFill>
                              <a:srgbClr val="D1578A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sz="1900">
                            <a:solidFill>
                              <a:srgbClr val="D1578A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900">
                            <a:solidFill>
                              <a:srgbClr val="D1578A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</m:oMath>
                </a14:m>
                <a:endParaRPr lang="en-US" sz="1900" b="1" dirty="0">
                  <a:solidFill>
                    <a:srgbClr val="D1578A"/>
                  </a:solidFill>
                  <a:latin typeface="Arial"/>
                </a:endParaRPr>
              </a:p>
              <a:p>
                <a:pPr>
                  <a:buNone/>
                </a:pPr>
                <a:endParaRPr lang="en-US" sz="700"/>
              </a:p>
              <a:p>
                <a:pPr marL="228600" indent="-22860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Large when points are alike, small when different.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Cosine similarity: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1700">
                                <a:solidFill>
                                  <a:srgbClr val="333333"/>
                                </a:solidFill>
                              </a:rPr>
                              <m:t>T</m:t>
                            </m:r>
                          </m:sup>
                        </m:sSup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  <m:d>
                          <m:dPr>
                            <m:begChr m:val="‖"/>
                            <m:endChr m:val="‖"/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den>
                    </m:f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−1,1</m:t>
                        </m:r>
                      </m:e>
                    </m:d>
                  </m:oMath>
                </a14:m>
                <a:endParaRPr lang="en-US" sz="1700" dirty="0">
                  <a:solidFill>
                    <a:srgbClr val="333333"/>
                  </a:solidFill>
                </a:endParaRPr>
              </a:p>
              <a:p>
                <a:pPr marL="228600" indent="-22860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Gaussian kernel: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700">
                        <a:solidFill>
                          <a:srgbClr val="333333"/>
                        </a:solidFill>
                      </a:rPr>
                      <m:t>exp</m:t>
                    </m:r>
                    <m:d>
                      <m:d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17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sz="17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n-US" sz="17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en-US" sz="17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700"/>
              </a:p>
              <a:p>
                <a:pPr algn="ctr">
                  <a:buNone/>
                </a:pPr>
                <a:r>
                  <a:rPr lang="en-US" sz="1800" dirty="0">
                    <a:solidFill>
                      <a:srgbClr val="333333"/>
                    </a:solidFill>
                  </a:rPr>
                  <a:t>Often  </a:t>
                </a:r>
                <a14:m>
                  <m:oMath xmlns:m="http://schemas.openxmlformats.org/officeDocument/2006/math">
                    <m:r>
                      <a:rPr lang="en-US" sz="1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sz="1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800" dirty="0">
                    <a:solidFill>
                      <a:srgbClr val="333333"/>
                    </a:solidFill>
                  </a:rPr>
                  <a:t>   or   </a:t>
                </a:r>
                <a14:m>
                  <m:oMath xmlns:m="http://schemas.openxmlformats.org/officeDocument/2006/math">
                    <m:r>
                      <a:rPr lang="en-US" sz="1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8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ctrlPr>
                              <a:rPr lang="en-US" sz="18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18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rad>
                  </m:oMath>
                </a14:m>
                <a:endParaRPr lang="en-US" sz="1800" dirty="0">
                  <a:solidFill>
                    <a:srgbClr val="333333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61C3AD-E82F-6047-A89F-321740B2B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2082800"/>
                <a:ext cx="4724400" cy="2365456"/>
              </a:xfrm>
              <a:prstGeom prst="rect">
                <a:avLst/>
              </a:prstGeom>
              <a:blipFill>
                <a:blip r:embed="rId3"/>
                <a:stretch>
                  <a:fillRect l="-1072" t="-1604" b="-2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12008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8C77B-947D-BD54-55E4-D8AA3770F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Standardization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E1304F-CB18-9E4B-BC46-E4E75B837C08}"/>
                  </a:ext>
                </a:extLst>
              </p:cNvPr>
              <p:cNvSpPr txBox="1"/>
              <p:nvPr/>
            </p:nvSpPr>
            <p:spPr>
              <a:xfrm>
                <a:off x="838200" y="1905000"/>
                <a:ext cx="10515600" cy="61555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700" dirty="0">
                    <a:solidFill>
                      <a:srgbClr val="333333"/>
                    </a:solidFill>
                  </a:rPr>
                  <a:t>Euclidean distance is dominated by large-scale features. A variable in dollars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) swamps one in years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). We rescale each column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to zero mean and unit variance: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E1304F-CB18-9E4B-BC46-E4E75B837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615553"/>
              </a:xfrm>
              <a:prstGeom prst="rect">
                <a:avLst/>
              </a:prstGeom>
              <a:blipFill>
                <a:blip r:embed="rId2"/>
                <a:stretch>
                  <a:fillRect l="-483" t="-4082" b="-122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53861D9-EE3E-FB49-BF37-15760B356132}"/>
              </a:ext>
            </a:extLst>
          </p:cNvPr>
          <p:cNvSpPr/>
          <p:nvPr/>
        </p:nvSpPr>
        <p:spPr>
          <a:xfrm>
            <a:off x="838200" y="2946400"/>
            <a:ext cx="10515600" cy="12192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15BA89-497B-C745-96F1-9D093ABE934C}"/>
                  </a:ext>
                </a:extLst>
              </p:cNvPr>
              <p:cNvSpPr txBox="1"/>
              <p:nvPr/>
            </p:nvSpPr>
            <p:spPr>
              <a:xfrm>
                <a:off x="1016000" y="3221550"/>
                <a:ext cx="10160000" cy="668901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20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20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0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0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sz="20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00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sz="20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0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000" dirty="0">
                    <a:solidFill>
                      <a:srgbClr val="FFFFFF"/>
                    </a:solidFill>
                  </a:rPr>
                  <a:t>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20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endParaRPr lang="en-US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15BA89-497B-C745-96F1-9D093ABE93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3221550"/>
                <a:ext cx="10160000" cy="668901"/>
              </a:xfrm>
              <a:prstGeom prst="rect">
                <a:avLst/>
              </a:prstGeom>
              <a:blipFill>
                <a:blip r:embed="rId3"/>
                <a:stretch>
                  <a:fillRect t="-50000" b="-85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5FABE2-6080-4042-AC02-0F465E2A65E1}"/>
                  </a:ext>
                </a:extLst>
              </p:cNvPr>
              <p:cNvSpPr txBox="1"/>
              <p:nvPr/>
            </p:nvSpPr>
            <p:spPr>
              <a:xfrm>
                <a:off x="838200" y="4419600"/>
                <a:ext cx="10515600" cy="101014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85750" indent="-28575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In matrix form: 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</m:acc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1600">
                                <a:solidFill>
                                  <a:srgbClr val="333333"/>
                                </a:solidFill>
                              </a:rPr>
                              <m:t>T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 where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𝚺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600">
                        <a:solidFill>
                          <a:srgbClr val="333333"/>
                        </a:solidFill>
                      </a:rPr>
                      <m:t>diag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sup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p>
                          <m:sSup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e>
                          <m:sup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After standardization every feature contributes equally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Alternatives: min-max scaling to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robust scaling by median / IQR.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5FABE2-6080-4042-AC02-0F465E2A6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419600"/>
                <a:ext cx="10515600" cy="1010148"/>
              </a:xfrm>
              <a:prstGeom prst="rect">
                <a:avLst/>
              </a:prstGeom>
              <a:blipFill>
                <a:blip r:embed="rId4"/>
                <a:stretch>
                  <a:fillRect l="-362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74396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0FCD7-3CBC-26BE-E843-E5A8723E4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Curse of Dimensionality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E1DC53-0338-4C4D-8DEB-73EA9ABF56F9}"/>
                  </a:ext>
                </a:extLst>
              </p:cNvPr>
              <p:cNvSpPr txBox="1"/>
              <p:nvPr/>
            </p:nvSpPr>
            <p:spPr>
              <a:xfrm>
                <a:off x="838200" y="1905000"/>
                <a:ext cx="5588000" cy="293702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57175" indent="-257175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As dimension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grows, pairwise distances concentrate: the nearest and farthest neighbors become almost equidistant.</a:t>
                </a:r>
              </a:p>
              <a:p>
                <a:pPr marL="257175" indent="-257175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Formally,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7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1700">
                                    <a:solidFill>
                                      <a:srgbClr val="333333"/>
                                    </a:solidFill>
                                  </a:rPr>
                                  <m:t>max</m:t>
                                </m:r>
                              </m:e>
                              <m:sub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17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7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7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1700">
                                    <a:solidFill>
                                      <a:srgbClr val="333333"/>
                                    </a:solidFill>
                                  </a:rPr>
                                  <m:t>min</m:t>
                                </m:r>
                              </m:e>
                              <m:sub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17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7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1700">
                                <a:solidFill>
                                  <a:srgbClr val="333333"/>
                                </a:solidFill>
                              </a:rPr>
                              <m:t>min</m:t>
                            </m:r>
                          </m:e>
                          <m:sub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d>
                          <m:dPr>
                            <m:begChr m:val="‖"/>
                            <m:endChr m:val="‖"/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7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as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for many distributions.</a:t>
                </a:r>
              </a:p>
              <a:p>
                <a:pPr marL="257175" indent="-257175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Volume escapes to the corners: a unit ball fills a vanishing fraction of the unit cube.</a:t>
                </a:r>
              </a:p>
              <a:p>
                <a:pPr marL="257175" indent="-257175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Consequence: Euclidean clustering degrades in high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. Reduce dimension first (t-SNE, UMAP, PCA) or use cosine/Mahalanobis distance.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E1DC53-0338-4C4D-8DEB-73EA9ABF5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5588000" cy="2937022"/>
              </a:xfrm>
              <a:prstGeom prst="rect">
                <a:avLst/>
              </a:prstGeom>
              <a:blipFill>
                <a:blip r:embed="rId2"/>
                <a:stretch>
                  <a:fillRect l="-682" t="-862" r="-1364" b="-12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B41443D-6724-394B-A049-92228AA4C3C3}"/>
              </a:ext>
            </a:extLst>
          </p:cNvPr>
          <p:cNvSpPr/>
          <p:nvPr/>
        </p:nvSpPr>
        <p:spPr>
          <a:xfrm>
            <a:off x="6604000" y="2133600"/>
            <a:ext cx="4749800" cy="3810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85754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625359-2344-9341-A0AF-CCE3756B82DC}"/>
                  </a:ext>
                </a:extLst>
              </p:cNvPr>
              <p:cNvSpPr txBox="1"/>
              <p:nvPr/>
            </p:nvSpPr>
            <p:spPr>
              <a:xfrm>
                <a:off x="6832600" y="2362200"/>
                <a:ext cx="4292600" cy="200619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800" b="1" dirty="0">
                    <a:solidFill>
                      <a:srgbClr val="85754D"/>
                    </a:solidFill>
                    <a:latin typeface="Arial"/>
                  </a:rPr>
                  <a:t>Distance concentration</a:t>
                </a:r>
              </a:p>
              <a:p>
                <a:pPr>
                  <a:buNone/>
                </a:pPr>
                <a:endParaRPr lang="en-US" sz="7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200">
                          <a:solidFill>
                            <a:srgbClr val="4B2E83"/>
                          </a:solidFill>
                        </a:rPr>
                        <m:t>E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2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  <m:sub>
                          <m:r>
                            <a:rPr lang="en-US" sz="22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ad>
                        <m:radPr>
                          <m:degHide m:val="on"/>
                          <m:ctrlPr>
                            <a:rPr lang="en-US" sz="22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2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rad>
                    </m:oMath>
                  </m:oMathPara>
                </a14:m>
                <a:endParaRPr lang="en-US" sz="700"/>
              </a:p>
              <a:p>
                <a:pPr>
                  <a:buNone/>
                </a:pPr>
                <a:endParaRPr lang="en-US" sz="7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For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with i.i.d. unit-variance entries, the expected norm grows like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ra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while the spread stays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>
                        <a:solidFill>
                          <a:srgbClr val="333333"/>
                        </a:solidFill>
                      </a:rPr>
                      <m:t>O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— so all points sit near a thin shell of radius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ra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625359-2344-9341-A0AF-CCE3756B8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600" y="2362200"/>
                <a:ext cx="4292600" cy="2006190"/>
              </a:xfrm>
              <a:prstGeom prst="rect">
                <a:avLst/>
              </a:prstGeom>
              <a:blipFill>
                <a:blip r:embed="rId3"/>
                <a:stretch>
                  <a:fillRect l="-1475" t="-1887" b="-2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53173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CE3C2-AC07-E805-A002-1C94673CD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 — Expand the Squared Distance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5B9BCC3-5DC2-8443-9721-1A45277A54D3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STEP 1 OF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6EB461-9982-C44E-99A5-39A3BE67078A}"/>
              </a:ext>
            </a:extLst>
          </p:cNvPr>
          <p:cNvSpPr txBox="1"/>
          <p:nvPr/>
        </p:nvSpPr>
        <p:spPr>
          <a:xfrm>
            <a:off x="838200" y="2235200"/>
            <a:ext cx="5461000" cy="221599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4B2E83"/>
                </a:solidFill>
              </a:rPr>
              <a:t>Idea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A Euclidean distance can’t be vectorized directly — the square root blocks it.</a:t>
            </a:r>
          </a:p>
          <a:p>
            <a:pPr>
              <a:buNone/>
            </a:pPr>
            <a:endParaRPr lang="en-US" sz="500"/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Square the distance and expand the norm. Every term becomes an inner product, and inner products are exactly what one matrix multiply delivers.</a:t>
            </a:r>
          </a:p>
          <a:p>
            <a:pPr>
              <a:buNone/>
            </a:pPr>
            <a:endParaRPr lang="en-US" sz="500"/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Goal: rewrite each distance using only dot products of the data points.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5E81161-4B38-DC42-AF70-C882A275A95B}"/>
              </a:ext>
            </a:extLst>
          </p:cNvPr>
          <p:cNvSpPr/>
          <p:nvPr/>
        </p:nvSpPr>
        <p:spPr>
          <a:xfrm>
            <a:off x="6477000" y="2235200"/>
            <a:ext cx="4876800" cy="38608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5CD55F-8964-4845-94E1-967AA9A2F46C}"/>
                  </a:ext>
                </a:extLst>
              </p:cNvPr>
              <p:cNvSpPr txBox="1"/>
              <p:nvPr/>
            </p:nvSpPr>
            <p:spPr>
              <a:xfrm>
                <a:off x="6705600" y="2438400"/>
                <a:ext cx="4419600" cy="136531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</a:rPr>
                  <a:t>Expand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Sup>
                        <m:sSub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1600"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Only inner products remain — ready to vectorize.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5CD55F-8964-4845-94E1-967AA9A2F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2438400"/>
                <a:ext cx="4419600" cy="1365310"/>
              </a:xfrm>
              <a:prstGeom prst="rect">
                <a:avLst/>
              </a:prstGeom>
              <a:blipFill>
                <a:blip r:embed="rId2"/>
                <a:stretch>
                  <a:fillRect l="-860" t="-1852" b="-4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85138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CE3C2-AC07-E805-A002-1C94673CD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 — Collect Into the Gram Matrix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5B9BCC3-5DC2-8443-9721-1A45277A54D3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STEP 2 OF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6EB461-9982-C44E-99A5-39A3BE67078A}"/>
                  </a:ext>
                </a:extLst>
              </p:cNvPr>
              <p:cNvSpPr txBox="1"/>
              <p:nvPr/>
            </p:nvSpPr>
            <p:spPr>
              <a:xfrm>
                <a:off x="838200" y="2235200"/>
                <a:ext cx="5461000" cy="176150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</a:rPr>
                  <a:t>Idea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Stack the three points as rows of the data matrix X (3×2):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Then every inner product is a single entry of the Gram matrix: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6EB461-9982-C44E-99A5-39A3BE670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35200"/>
                <a:ext cx="5461000" cy="1761508"/>
              </a:xfrm>
              <a:prstGeom prst="rect">
                <a:avLst/>
              </a:prstGeom>
              <a:blipFill>
                <a:blip r:embed="rId2"/>
                <a:stretch>
                  <a:fillRect l="-698" t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5E81161-4B38-DC42-AF70-C882A275A95B}"/>
              </a:ext>
            </a:extLst>
          </p:cNvPr>
          <p:cNvSpPr/>
          <p:nvPr/>
        </p:nvSpPr>
        <p:spPr>
          <a:xfrm>
            <a:off x="6477000" y="2235200"/>
            <a:ext cx="4876800" cy="38608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5CD55F-8964-4845-94E1-967AA9A2F46C}"/>
                  </a:ext>
                </a:extLst>
              </p:cNvPr>
              <p:cNvSpPr txBox="1"/>
              <p:nvPr/>
            </p:nvSpPr>
            <p:spPr>
              <a:xfrm>
                <a:off x="6705600" y="2438400"/>
                <a:ext cx="4419600" cy="183614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</a:rPr>
                  <a:t>Build the Gram matrix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16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One matrix product gives all n² inner products — vectorized and BLAS-fast.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5CD55F-8964-4845-94E1-967AA9A2F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2438400"/>
                <a:ext cx="4419600" cy="1836144"/>
              </a:xfrm>
              <a:prstGeom prst="rect">
                <a:avLst/>
              </a:prstGeom>
              <a:blipFill>
                <a:blip r:embed="rId3"/>
                <a:stretch>
                  <a:fillRect l="-860" t="-1379"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87608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CE3C2-AC07-E805-A002-1C94673CD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 — Diagonal &amp; Matrix Form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5B9BCC3-5DC2-8443-9721-1A45277A54D3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STEP 3 OF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6EB461-9982-C44E-99A5-39A3BE67078A}"/>
                  </a:ext>
                </a:extLst>
              </p:cNvPr>
              <p:cNvSpPr txBox="1"/>
              <p:nvPr/>
            </p:nvSpPr>
            <p:spPr>
              <a:xfrm>
                <a:off x="838200" y="2235200"/>
                <a:ext cx="5461000" cy="176150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</a:rPr>
                  <a:t>Idea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The diagonal of G holds the squared norms: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𝑖𝑖</m:t>
                          </m:r>
                        </m:sub>
                      </m:sSub>
                    </m:oMath>
                  </m:oMathPara>
                </a14:m>
                <a:endParaRPr lang="en-US" sz="16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Collect them into the vector g = diag(G):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𝑑𝑖𝑎𝑔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6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6EB461-9982-C44E-99A5-39A3BE670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35200"/>
                <a:ext cx="5461000" cy="1761508"/>
              </a:xfrm>
              <a:prstGeom prst="rect">
                <a:avLst/>
              </a:prstGeom>
              <a:blipFill>
                <a:blip r:embed="rId2"/>
                <a:stretch>
                  <a:fillRect l="-698" t="-1439" b="-2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5E81161-4B38-DC42-AF70-C882A275A95B}"/>
              </a:ext>
            </a:extLst>
          </p:cNvPr>
          <p:cNvSpPr/>
          <p:nvPr/>
        </p:nvSpPr>
        <p:spPr>
          <a:xfrm>
            <a:off x="6477000" y="2235200"/>
            <a:ext cx="4876800" cy="38608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5CD55F-8964-4845-94E1-967AA9A2F46C}"/>
                  </a:ext>
                </a:extLst>
              </p:cNvPr>
              <p:cNvSpPr txBox="1"/>
              <p:nvPr/>
            </p:nvSpPr>
            <p:spPr>
              <a:xfrm>
                <a:off x="6705600" y="2438400"/>
                <a:ext cx="4419600" cy="145700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</a:rPr>
                  <a:t>Matrix form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sSup>
                        <m:sSup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+1·</m:t>
                      </m:r>
                      <m:sSup>
                        <m:sSup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sz="16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with 1 = all-ones vector.</a:t>
                </a:r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Entrywise this is just: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5CD55F-8964-4845-94E1-967AA9A2F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2438400"/>
                <a:ext cx="4419600" cy="1457002"/>
              </a:xfrm>
              <a:prstGeom prst="rect">
                <a:avLst/>
              </a:prstGeom>
              <a:blipFill>
                <a:blip r:embed="rId3"/>
                <a:stretch>
                  <a:fillRect l="-860" t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63334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CE3C2-AC07-E805-A002-1C94673CD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— Plug In and Recover 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5B9BCC3-5DC2-8443-9721-1A45277A54D3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STEP 4 OF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6EB461-9982-C44E-99A5-39A3BE67078A}"/>
                  </a:ext>
                </a:extLst>
              </p:cNvPr>
              <p:cNvSpPr txBox="1"/>
              <p:nvPr/>
            </p:nvSpPr>
            <p:spPr>
              <a:xfrm>
                <a:off x="838200" y="2235200"/>
                <a:ext cx="5461000" cy="128214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</a:rPr>
                  <a:t>Plug in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With g = (0, 9, 16), add the diagonal terms and subtract 2G: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6EB461-9982-C44E-99A5-39A3BE670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35200"/>
                <a:ext cx="5461000" cy="1282146"/>
              </a:xfrm>
              <a:prstGeom prst="rect">
                <a:avLst/>
              </a:prstGeom>
              <a:blipFill>
                <a:blip r:embed="rId2"/>
                <a:stretch>
                  <a:fillRect l="-698" t="-1980" b="-2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5E81161-4B38-DC42-AF70-C882A275A95B}"/>
              </a:ext>
            </a:extLst>
          </p:cNvPr>
          <p:cNvSpPr/>
          <p:nvPr/>
        </p:nvSpPr>
        <p:spPr>
          <a:xfrm>
            <a:off x="6477000" y="2235200"/>
            <a:ext cx="4876800" cy="38608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5CD55F-8964-4845-94E1-967AA9A2F46C}"/>
                  </a:ext>
                </a:extLst>
              </p:cNvPr>
              <p:cNvSpPr txBox="1"/>
              <p:nvPr/>
            </p:nvSpPr>
            <p:spPr>
              <a:xfrm>
                <a:off x="6705600" y="2438400"/>
                <a:ext cx="4419600" cy="183614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</a:rPr>
                  <a:t>Result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Take the elementwise square root: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The entire distance matrix from one product XXᵀ — symmetric, with zero diagonal.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5CD55F-8964-4845-94E1-967AA9A2F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2438400"/>
                <a:ext cx="4419600" cy="1836144"/>
              </a:xfrm>
              <a:prstGeom prst="rect">
                <a:avLst/>
              </a:prstGeom>
              <a:blipFill>
                <a:blip r:embed="rId3"/>
                <a:stretch>
                  <a:fillRect l="-860" t="-1379"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94056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FA2B2-FFBE-C66D-CF9F-DB9FDAB6E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/>
              <a:t>Exercise 1: Standardization in Matrix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Problem"/>
              <p:cNvSpPr/>
              <p:nvPr/>
            </p:nvSpPr>
            <p:spPr>
              <a:xfrm>
                <a:off x="838200" y="1905000"/>
                <a:ext cx="10515600" cy="1549400"/>
              </a:xfrm>
              <a:prstGeom prst="roundRect">
                <a:avLst>
                  <a:gd name="adj" fmla="val 6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137160" tIns="45720" rIns="137160" bIns="45720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Problem.  </a:t>
                </a:r>
                <a:r>
                  <a:rPr lang="en-US" sz="1700" dirty="0">
                    <a:solidFill>
                      <a:srgbClr val="333333"/>
                    </a:solidFill>
                  </a:rPr>
                  <a:t>A data matrix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has rows = observations. Express the z-score standardization Z using only matrix operations: which matrix centers the columns, and which rescales them?</a:t>
                </a:r>
              </a:p>
              <a:p>
                <a:pPr>
                  <a:buNone/>
                </a:pPr>
                <a:r>
                  <a:rPr lang="en-US" sz="1500" i="1" dirty="0">
                    <a:solidFill>
                      <a:srgbClr val="595959"/>
                    </a:solidFill>
                  </a:rPr>
                  <a:t>(Click to reveal the solution.)</a:t>
                </a:r>
              </a:p>
            </p:txBody>
          </p:sp>
        </mc:Choice>
        <mc:Fallback xmlns="">
          <p:sp>
            <p:nvSpPr>
              <p:cNvPr id="60" name="Proble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1549400"/>
              </a:xfrm>
              <a:prstGeom prst="roundRect">
                <a:avLst>
                  <a:gd name="adj" fmla="val 6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1" name="Solution"/>
              <p:cNvSpPr/>
              <p:nvPr/>
            </p:nvSpPr>
            <p:spPr>
              <a:xfrm>
                <a:off x="838200" y="3505200"/>
                <a:ext cx="10515600" cy="26924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Solution</a:t>
                </a:r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Center the columns (H), then rescale each to unit standard deviation (S):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𝐇𝐗</m:t>
                      </m:r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𝐇</m:t>
                      </m:r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𝐈</m:t>
                          </m:r>
                        </m:e>
                        <m:sub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b>
                        <m:sSubPr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b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b>
                              <m:r>
                                <a:rPr lang="en-US" sz="18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nor/>
                            </m:rPr>
                            <a:rPr lang="en-US" sz="1800">
                              <a:solidFill>
                                <a:srgbClr val="4B2E83"/>
                              </a:solidFill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US" sz="400" dirty="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p>
                        <m:sSupPr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𝐒</m:t>
                          </m:r>
                        </m:e>
                        <m:sup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𝐒</m:t>
                      </m:r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𝑑𝑖𝑎𝑔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8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8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400" dirty="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5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⇒ </m:t>
                      </m:r>
                      <m:r>
                        <a:rPr lang="en-US" sz="195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US" sz="195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95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𝐇𝐗</m:t>
                      </m:r>
                      <m:sSup>
                        <m:sSupPr>
                          <m:ctrlPr>
                            <a:rPr lang="en-US" sz="195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5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𝐒</m:t>
                          </m:r>
                        </m:e>
                        <m:sup>
                          <m:r>
                            <a:rPr lang="en-US" sz="195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400" dirty="0"/>
              </a:p>
            </p:txBody>
          </p:sp>
        </mc:Choice>
        <mc:Fallback xmlns=""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505200"/>
                <a:ext cx="10515600" cy="2692400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771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48085-5958-846D-5454-5E9A27EC0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2 — Step 1: Set Up the Centering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/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1 OF 4  ·  Centering operator:  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𝐇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sSup>
                      <m:sSup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1500">
                            <a:solidFill>
                              <a:srgbClr val="4B2E83"/>
                            </a:solidFill>
                          </a:rPr>
                          <m:t>T</m:t>
                        </m:r>
                      </m:sup>
                    </m:sSup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Problem"/>
              <p:cNvSpPr/>
              <p:nvPr/>
            </p:nvSpPr>
            <p:spPr>
              <a:xfrm>
                <a:off x="838200" y="2514600"/>
                <a:ext cx="10515600" cy="1905000"/>
              </a:xfrm>
              <a:prstGeom prst="roundRect">
                <a:avLst>
                  <a:gd name="adj" fmla="val 6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Idea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Center each column by subtracting its mean, so every feature has mean zero. Start from the 3×2 data matrix: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5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"/>
              </a:p>
            </p:txBody>
          </p:sp>
        </mc:Choice>
        <mc:Fallback>
          <p:sp>
            <p:nvSpPr>
              <p:cNvPr id="60" name="Proble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514600"/>
                <a:ext cx="10515600" cy="1905000"/>
              </a:xfrm>
              <a:prstGeom prst="roundRect">
                <a:avLst>
                  <a:gd name="adj" fmla="val 6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470400"/>
                <a:ext cx="10515600" cy="19812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Goal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Find the column-mean vector and the centered matrix: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, 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𝐇𝐗</m:t>
                      </m:r>
                    </m:oMath>
                  </m:oMathPara>
                </a14:m>
                <a:endParaRPr lang="en-US" sz="400"/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470400"/>
                <a:ext cx="10515600" cy="1981200"/>
              </a:xfrm>
              <a:prstGeom prst="roundRect">
                <a:avLst>
                  <a:gd name="adj" fmla="val 5000"/>
                </a:avLst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4357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48085-5958-846D-5454-5E9A27EC0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2 — Step 2: Column Means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/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2 OF 4  ·  Column means:  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1500">
                            <a:solidFill>
                              <a:srgbClr val="4B2E83"/>
                            </a:solidFill>
                          </a:rPr>
                          <m:t>T</m:t>
                        </m:r>
                      </m:sup>
                    </m:sSup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Problem"/>
          <p:cNvSpPr/>
          <p:nvPr/>
        </p:nvSpPr>
        <p:spPr>
          <a:xfrm>
            <a:off x="838200" y="2514600"/>
            <a:ext cx="10515600" cy="19050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 lIns="137160" tIns="36576" rIns="137160" bIns="36576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Idea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Average each column: sum the entries down each column, then divide by the number of rows n = 3.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470400"/>
                <a:ext cx="10515600" cy="19812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Work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Sum each column, then divide by n = 3: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(1 + 3 + 5,  10 + 20 + 30) = (9,  60)</m:t>
                      </m:r>
                    </m:oMath>
                  </m:oMathPara>
                </a14:m>
                <a:endParaRPr lang="en-US" sz="4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(9,  60) = (3,  20)</m:t>
                      </m:r>
                    </m:oMath>
                  </m:oMathPara>
                </a14:m>
                <a:endParaRPr lang="en-US" sz="400"/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470400"/>
                <a:ext cx="10515600" cy="1981200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9940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48085-5958-846D-5454-5E9A27EC0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2 — Step 3: Subtract the Means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/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3 OF 4  ·  Centered matrix: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1500">
                            <a:solidFill>
                              <a:srgbClr val="4B2E83"/>
                            </a:solidFill>
                          </a:rPr>
                          <m:t>T</m:t>
                        </m:r>
                      </m:sup>
                    </m:sSup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𝐇𝐗</m:t>
                    </m:r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Problem"/>
          <p:cNvSpPr/>
          <p:nvPr/>
        </p:nvSpPr>
        <p:spPr>
          <a:xfrm>
            <a:off x="838200" y="2514600"/>
            <a:ext cx="10515600" cy="19050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 lIns="137160" tIns="36576" rIns="137160" bIns="36576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Idea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Broadcast the mean vector μ across all three rows and subtract it from X — this is exactly the centered matrix HX.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470400"/>
                <a:ext cx="10515600" cy="19812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Work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4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−10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"/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470400"/>
                <a:ext cx="10515600" cy="1981200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2503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48085-5958-846D-5454-5E9A27EC0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2 — Step 4: Check &amp; Standardize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/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4 OF 4  ·  Each column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now has mean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Problem"/>
          <p:cNvSpPr/>
          <p:nvPr/>
        </p:nvSpPr>
        <p:spPr>
          <a:xfrm>
            <a:off x="838200" y="2514600"/>
            <a:ext cx="10515600" cy="19050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 lIns="137160" tIns="36576" rIns="137160" bIns="36576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Why it matters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Every column of the centered matrix now sums to zero, so the data is mean-centered — exactly what covariance estimation and PCA require.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470400"/>
                <a:ext cx="10515600" cy="19812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Standardize next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Divide each centered column by its standard deviation to put every feature on one scale: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𝐇𝐗</m:t>
                      </m:r>
                      <m:sSup>
                        <m:sSupPr>
                          <m:ctrlPr>
                            <a:rPr lang="en-US" sz="17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𝐒</m:t>
                          </m:r>
                        </m:e>
                        <m:sup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400"/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470400"/>
                <a:ext cx="10515600" cy="1981200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9609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F809-31D6-4F0C-5D15-32EF2A1F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3 — Step 1: Set Up the Scaling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erence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>
                <a:normAutofit/>
              </a:bodyPr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1 OF 4  ·  Standardize:  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sSup>
                      <m:sSup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p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   (S = diag of column std-devs)</a:t>
                </a:r>
              </a:p>
            </p:txBody>
          </p:sp>
        </mc:Choice>
        <mc:Fallback>
          <p:sp>
            <p:nvSpPr>
              <p:cNvPr id="59" name="Referenc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Problem"/>
          <p:cNvSpPr/>
          <p:nvPr/>
        </p:nvSpPr>
        <p:spPr>
          <a:xfrm>
            <a:off x="838200" y="2489200"/>
            <a:ext cx="10515600" cy="15748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 lIns="137160" tIns="36576" rIns="137160" bIns="36576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Idea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Centering in Exercise 2 removed the mean. The columns still have different spreads, so now rescale each one by its own standard deviation σ.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Goal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Recall the centered matrix from Exercise 2: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−10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Build the scale matrix S = diag(σ), then divide each column by its σ.</a:t>
                </a:r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7858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F809-31D6-4F0C-5D15-32EF2A1F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3 — Step 2: Column Standard Deviations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erence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>
                <a:normAutofit/>
              </a:bodyPr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2 OF 4  ·  Sample std-dev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 − 1</m:t>
                            </m:r>
                          </m:den>
                        </m:f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1500" i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15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5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erenc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 t="-34043" b="-7872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Problem"/>
          <p:cNvSpPr/>
          <p:nvPr/>
        </p:nvSpPr>
        <p:spPr>
          <a:xfrm>
            <a:off x="838200" y="2489200"/>
            <a:ext cx="10515600" cy="15748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 lIns="137160" tIns="36576" rIns="137160" bIns="36576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Idea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Each centered column already has mean 0, so its variance is the mean of its squares. Divide the sum of squares by n − 1 = 2, then take the square root.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Work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4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4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(−2)² + 0² + 2²</m:t>
                              </m:r>
                            </m:num>
                            <m:den>
                              <m:r>
                                <a:rPr lang="en-US" sz="14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rad>
                      <m:r>
                        <a:rPr lang="en-US" sz="14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4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4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sz="14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rad>
                      <m:r>
                        <a:rPr lang="en-US" sz="14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4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4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4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(−10)² + 0² + 10²</m:t>
                              </m:r>
                            </m:num>
                            <m:den>
                              <m:r>
                                <a:rPr lang="en-US" sz="14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rad>
                      <m:r>
                        <a:rPr lang="en-US" sz="14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4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4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200</m:t>
                              </m:r>
                            </m:num>
                            <m:den>
                              <m:r>
                                <a:rPr lang="en-US" sz="14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rad>
                      <m:r>
                        <a:rPr lang="en-US" sz="14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US" sz="4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=(2,  10)</m:t>
                      </m:r>
                    </m:oMath>
                  </m:oMathPara>
                </a14:m>
                <a:endParaRPr lang="en-US" sz="400"/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8207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F809-31D6-4F0C-5D15-32EF2A1F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3 — Step 3: Build the Scaling Matrix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erence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>
                <a:normAutofit/>
              </a:bodyPr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3 OF 4  · 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𝑑𝑖𝑎𝑔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),  </m:t>
                    </m:r>
                    <m:sSup>
                      <m:sSup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p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𝑑𝑖𝑎𝑔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erenc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Problem"/>
          <p:cNvSpPr/>
          <p:nvPr/>
        </p:nvSpPr>
        <p:spPr>
          <a:xfrm>
            <a:off x="838200" y="2489200"/>
            <a:ext cx="10515600" cy="15748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 lIns="137160" tIns="36576" rIns="137160" bIns="36576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Idea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Place the standard deviations on the diagonal of S. Its inverse simply reciprocates each diagonal entry — the off-diagonals stay zero.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Work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𝐒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𝑑𝑖𝑎𝑔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(2, 10)=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𝐒</m:t>
                          </m:r>
                        </m:e>
                        <m:sup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𝑑𝑖𝑎𝑔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, </m:t>
                      </m:r>
                      <m:f>
                        <m:fPr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sz="15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5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5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15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5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5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"/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0500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F809-31D6-4F0C-5D15-32EF2A1F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3 — Step 4: Scale to Unit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erence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>
                <a:normAutofit/>
              </a:bodyPr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4 OF 4  · 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sSup>
                      <m:sSup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p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   →  every column: mean 0, variance 1</a:t>
                </a:r>
              </a:p>
            </p:txBody>
          </p:sp>
        </mc:Choice>
        <mc:Fallback>
          <p:sp>
            <p:nvSpPr>
              <p:cNvPr id="59" name="Referenc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Problem"/>
          <p:cNvSpPr/>
          <p:nvPr/>
        </p:nvSpPr>
        <p:spPr>
          <a:xfrm>
            <a:off x="838200" y="2489200"/>
            <a:ext cx="10515600" cy="15748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 lIns="137160" tIns="36576" rIns="137160" bIns="36576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Idea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Multiply on the right by S⁻¹ to divide each column by its σ. The result Z has mean 0 and unit variance in every column — fully standardized.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Work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US" sz="13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3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3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−10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3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3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3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sz="13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3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3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13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3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3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3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3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"/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7638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8C74C-12B1-A002-5180-0AF59C0CC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Foundations — Exercises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7D236A4-3215-B443-87F4-B71ECDF00651}"/>
              </a:ext>
            </a:extLst>
          </p:cNvPr>
          <p:cNvSpPr/>
          <p:nvPr/>
        </p:nvSpPr>
        <p:spPr>
          <a:xfrm>
            <a:off x="838200" y="2311400"/>
            <a:ext cx="558800" cy="5588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BA4E4CC-C964-794D-8FC7-043D6668A2A9}"/>
              </a:ext>
            </a:extLst>
          </p:cNvPr>
          <p:cNvSpPr/>
          <p:nvPr/>
        </p:nvSpPr>
        <p:spPr>
          <a:xfrm>
            <a:off x="1625600" y="1905000"/>
            <a:ext cx="9728200" cy="13716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FC52EF1-C68A-A24C-8DBF-DBB71C1F1799}"/>
                  </a:ext>
                </a:extLst>
              </p:cNvPr>
              <p:cNvSpPr txBox="1"/>
              <p:nvPr/>
            </p:nvSpPr>
            <p:spPr>
              <a:xfrm>
                <a:off x="1854200" y="2281292"/>
                <a:ext cx="9296400" cy="61901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</a:rPr>
                  <a:t>Distance matrix.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Given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4,6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1,6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compute the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3×3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Euclidean matrix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𝐃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 Verify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𝐃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and zero diagonal.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FC52EF1-C68A-A24C-8DBF-DBB71C1F1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2281292"/>
                <a:ext cx="9296400" cy="619016"/>
              </a:xfrm>
              <a:prstGeom prst="rect">
                <a:avLst/>
              </a:prstGeom>
              <a:blipFill>
                <a:blip r:embed="rId2"/>
                <a:stretch>
                  <a:fillRect l="-273" t="-2000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BF06B69C-FA29-F348-B46B-96F3A5CDDA3D}"/>
              </a:ext>
            </a:extLst>
          </p:cNvPr>
          <p:cNvSpPr/>
          <p:nvPr/>
        </p:nvSpPr>
        <p:spPr>
          <a:xfrm>
            <a:off x="838200" y="3835400"/>
            <a:ext cx="558800" cy="5588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3EF680A-E102-F348-8879-6BA11261B459}"/>
              </a:ext>
            </a:extLst>
          </p:cNvPr>
          <p:cNvSpPr/>
          <p:nvPr/>
        </p:nvSpPr>
        <p:spPr>
          <a:xfrm>
            <a:off x="1625600" y="3429000"/>
            <a:ext cx="9728200" cy="13716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D4F7637-398E-3B47-9DE0-2BA87A5BE6BB}"/>
                  </a:ext>
                </a:extLst>
              </p:cNvPr>
              <p:cNvSpPr txBox="1"/>
              <p:nvPr/>
            </p:nvSpPr>
            <p:spPr>
              <a:xfrm>
                <a:off x="1854200" y="3822412"/>
                <a:ext cx="9296400" cy="58477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</a:rPr>
                  <a:t>Metric comparison.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For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2,0,1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0,3,1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 Order them and explain why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D4F7637-398E-3B47-9DE0-2BA87A5BE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3822412"/>
                <a:ext cx="9296400" cy="584775"/>
              </a:xfrm>
              <a:prstGeom prst="rect">
                <a:avLst/>
              </a:prstGeom>
              <a:blipFill>
                <a:blip r:embed="rId3"/>
                <a:stretch>
                  <a:fillRect l="-273" r="-273" b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6AC05425-830A-BF49-9AF9-88FDDEADAB80}"/>
              </a:ext>
            </a:extLst>
          </p:cNvPr>
          <p:cNvSpPr/>
          <p:nvPr/>
        </p:nvSpPr>
        <p:spPr>
          <a:xfrm>
            <a:off x="838200" y="5359400"/>
            <a:ext cx="558800" cy="5588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E3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BF72888-5237-8941-8FFD-72ABF83D454F}"/>
              </a:ext>
            </a:extLst>
          </p:cNvPr>
          <p:cNvSpPr/>
          <p:nvPr/>
        </p:nvSpPr>
        <p:spPr>
          <a:xfrm>
            <a:off x="1625600" y="4953000"/>
            <a:ext cx="9728200" cy="13716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1BF50D1-D57D-DB4A-A05C-99829708E560}"/>
                  </a:ext>
                </a:extLst>
              </p:cNvPr>
              <p:cNvSpPr txBox="1"/>
              <p:nvPr/>
            </p:nvSpPr>
            <p:spPr>
              <a:xfrm>
                <a:off x="1854200" y="5346412"/>
                <a:ext cx="9296400" cy="58477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</a:rPr>
                  <a:t>Standardization.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Feature column has values (10, 20, 30, 40). Compute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and the z-scored vector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 Show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1BF50D1-D57D-DB4A-A05C-99829708E5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5346412"/>
                <a:ext cx="9296400" cy="584775"/>
              </a:xfrm>
              <a:prstGeom prst="rect">
                <a:avLst/>
              </a:prstGeom>
              <a:blipFill>
                <a:blip r:embed="rId4"/>
                <a:stretch>
                  <a:fillRect l="-3138" t="-22917" b="-1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08075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F809-31D6-4F0C-5D15-32EF2A1F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1: Distance Matrix — Step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erence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>
                <a:normAutofit/>
              </a:bodyPr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1 OF 3  ·  Euclidean distance entries: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erenc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Problem"/>
          <p:cNvSpPr/>
          <p:nvPr/>
        </p:nvSpPr>
        <p:spPr>
          <a:xfrm>
            <a:off x="838200" y="2489200"/>
            <a:ext cx="10515600" cy="15748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 lIns="137160" tIns="36576" rIns="137160" bIns="36576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Approach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Three points in ℝ²:   a = (1, 2),   b = (4, 6),   c = (1, 6). Build the 3×3 matrix D of pairwise Euclidean distances.</a:t>
            </a:r>
          </a:p>
        </p:txBody>
      </p:sp>
      <p:sp>
        <p:nvSpPr>
          <p:cNvPr id="201" name="Solution"/>
          <p:cNvSpPr/>
          <p:nvPr/>
        </p:nvSpPr>
        <p:spPr>
          <a:xfrm>
            <a:off x="838200" y="4140200"/>
            <a:ext cx="10515600" cy="2311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B2E83"/>
            </a:solidFill>
          </a:ln>
        </p:spPr>
        <p:txBody>
          <a:bodyPr lIns="137160" tIns="36576" rIns="137160" bIns="36576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Setup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D is 3×3, symmetric, with a zero diagonal — the distance from a point to itself is 0.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So only three numbers determine D:  d(a, b),  d(a, c),  and  d(b, c).</a:t>
            </a:r>
          </a:p>
        </p:txBody>
      </p:sp>
    </p:spTree>
    <p:extLst>
      <p:ext uri="{BB962C8B-B14F-4D97-AF65-F5344CB8AC3E}">
        <p14:creationId xmlns:p14="http://schemas.microsoft.com/office/powerpoint/2010/main" val="1428288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F809-31D6-4F0C-5D15-32EF2A1F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1: Distance Matrix — Step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erence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>
                <a:normAutofit/>
              </a:bodyPr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2 OF 3  ·  Euclidean formula:  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𝛥</m:t>
                            </m:r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𝛥</m:t>
                            </m:r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erenc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Problem"/>
          <p:cNvSpPr/>
          <p:nvPr/>
        </p:nvSpPr>
        <p:spPr>
          <a:xfrm>
            <a:off x="838200" y="2489200"/>
            <a:ext cx="10515600" cy="15748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 lIns="137160" tIns="36576" rIns="137160" bIns="36576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Approach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Compute the straight-line distance between each pair from their coordinate differences Δx and Δy.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Work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(4−1)² + (6−2)²</m:t>
                          </m:r>
                        </m:e>
                      </m:rad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9 + 16</m:t>
                          </m:r>
                        </m:e>
                      </m:rad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e>
                      </m:rad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4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0² + (6−2)²</m:t>
                          </m:r>
                        </m:e>
                      </m:rad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e>
                      </m:rad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4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(4−1)² + 0²</m:t>
                          </m:r>
                        </m:e>
                      </m:rad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rad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400"/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7951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F809-31D6-4F0C-5D15-32EF2A1F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1: Distance Matrix — Step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erence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>
                <a:normAutofit/>
              </a:bodyPr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3 OF 3  ·  Verify  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𝐃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1500">
                            <a:solidFill>
                              <a:srgbClr val="4B2E83"/>
                            </a:solidFill>
                          </a:rPr>
                          <m:t>T</m:t>
                        </m:r>
                      </m:sup>
                    </m:sSup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, 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𝑑𝑖𝑎𝑔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𝐃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erenc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Problem"/>
          <p:cNvSpPr/>
          <p:nvPr/>
        </p:nvSpPr>
        <p:spPr>
          <a:xfrm>
            <a:off x="838200" y="2489200"/>
            <a:ext cx="10515600" cy="15748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 lIns="137160" tIns="36576" rIns="137160" bIns="36576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Approach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Order the points a, b, c. Place each distance symmetrically (Dᵢⱼ = Dⱼᵢ); the diagonal is 0 since a point is zero distance from itself.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Result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𝐃</m:t>
                      </m:r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7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"/>
              </a:p>
              <a:p>
                <a:pPr algn="ctr">
                  <a:buNone/>
                </a:pPr>
                <a:r>
                  <a:rPr lang="en-US" sz="1500" i="1" dirty="0">
                    <a:solidFill>
                      <a:srgbClr val="333333"/>
                    </a:solidFill>
                  </a:rPr>
                  <a:t>Symmetric (D = Dᵀ) with zero diagonal — a valid Euclidean distance matrix.</a:t>
                </a:r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2583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F809-31D6-4F0C-5D15-32EF2A1F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2: Metric Comparison — Step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erence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>
                <a:normAutofit/>
              </a:bodyPr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1 OF 3  ·  every norm acts on the same difference  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erenc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Problem"/>
          <p:cNvSpPr/>
          <p:nvPr/>
        </p:nvSpPr>
        <p:spPr>
          <a:xfrm>
            <a:off x="838200" y="2489200"/>
            <a:ext cx="10515600" cy="15748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 lIns="137160" tIns="36576" rIns="137160" bIns="36576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Approach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Two vectors in ℝ³:   a = (2, 0, 1),   b = (0, 3, 1). The L₁, L₂ and L∞ norms all measure the same difference vector — so compute it once.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Work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=(2−0,  0−3,  1−1)=(2,  −3,  0)</m:t>
                      </m:r>
                    </m:oMath>
                  </m:oMathPara>
                </a14:m>
                <a:endParaRPr lang="en-US" sz="400"/>
              </a:p>
              <a:p>
                <a:pPr algn="ctr">
                  <a:buNone/>
                </a:pPr>
                <a:r>
                  <a:rPr lang="en-US" sz="1500" i="1" dirty="0">
                    <a:solidFill>
                      <a:srgbClr val="333333"/>
                    </a:solidFill>
                  </a:rPr>
                  <a:t>This one vector feeds all three norm calculations.</a:t>
                </a:r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4003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F809-31D6-4F0C-5D15-32EF2A1F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2: Metric Comparison — Step 2</a:t>
            </a:r>
          </a:p>
        </p:txBody>
      </p:sp>
      <p:sp>
        <p:nvSpPr>
          <p:cNvPr id="59" name="Reference"/>
          <p:cNvSpPr/>
          <p:nvPr/>
        </p:nvSpPr>
        <p:spPr>
          <a:xfrm>
            <a:off x="838200" y="1854200"/>
            <a:ext cx="10515600" cy="584200"/>
          </a:xfrm>
          <a:prstGeom prst="roundRect">
            <a:avLst>
              <a:gd name="adj" fmla="val 18000"/>
            </a:avLst>
          </a:prstGeom>
          <a:solidFill>
            <a:srgbClr val="F5F0EB"/>
          </a:solidFill>
          <a:ln>
            <a:noFill/>
          </a:ln>
        </p:spPr>
        <p:txBody>
          <a:bodyPr lIns="91440" tIns="0" rIns="91440" bIns="0" rtlCol="0" anchor="ctr">
            <a:norm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4B2E83"/>
                </a:solidFill>
              </a:rPr>
              <a:t>STEP 2 OF 3   ·   L₁ = Σ|xᵢ|   ·   L₂ = √(Σ xᵢ²)   ·   L∞ = max|xᵢ|</a:t>
            </a:r>
          </a:p>
        </p:txBody>
      </p:sp>
      <p:sp>
        <p:nvSpPr>
          <p:cNvPr id="60" name="Problem"/>
          <p:cNvSpPr/>
          <p:nvPr/>
        </p:nvSpPr>
        <p:spPr>
          <a:xfrm>
            <a:off x="838200" y="2489200"/>
            <a:ext cx="10515600" cy="15748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 lIns="137160" tIns="36576" rIns="137160" bIns="36576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Approach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L₁ sums the absolute values, L₂ is the root of the summed squares, and L∞ takes the single largest absolute component.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Work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  <m:sub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=|2| + |−3| + |0|=5</m:t>
                      </m:r>
                    </m:oMath>
                  </m:oMathPara>
                </a14:m>
                <a:endParaRPr lang="en-US" sz="3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  <m:sub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2² + (−3)² + 0²</m:t>
                          </m:r>
                        </m:e>
                      </m:rad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e>
                      </m:rad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≈3.61</m:t>
                      </m:r>
                    </m:oMath>
                  </m:oMathPara>
                </a14:m>
                <a:endParaRPr lang="en-US" sz="3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  <m:sub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(|2|, |−3|, |0|)=3</m:t>
                      </m:r>
                    </m:oMath>
                  </m:oMathPara>
                </a14:m>
                <a:endParaRPr lang="en-US" sz="300"/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3930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F809-31D6-4F0C-5D15-32EF2A1F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2: Metric Comparison — Step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erence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>
                <a:normAutofit/>
              </a:bodyPr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3 OF 3  ·  General ordering: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erenc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Problem"/>
          <p:cNvSpPr/>
          <p:nvPr/>
        </p:nvSpPr>
        <p:spPr>
          <a:xfrm>
            <a:off x="838200" y="2489200"/>
            <a:ext cx="10515600" cy="15748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 lIns="137160" tIns="36576" rIns="137160" bIns="36576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Approach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Rank the three values from Step 2, then connect the result to the general norm inequality.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Result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5≥</m:t>
                      </m:r>
                      <m:rad>
                        <m:radPr>
                          <m:degHide m:val="on"/>
                          <m:ctrlPr>
                            <a:rPr lang="en-US" sz="17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e>
                      </m:rad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≈3.61≥3</m:t>
                      </m:r>
                    </m:oMath>
                  </m:oMathPara>
                </a14:m>
                <a:endParaRPr lang="en-US" sz="400" dirty="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So  L₁ ≥ L₂ ≥ L∞, matching the general rule.</a:t>
                </a:r>
              </a:p>
              <a:p>
                <a:pPr algn="ctr">
                  <a:buNone/>
                </a:pPr>
                <a:r>
                  <a:rPr lang="en-US" sz="1500" i="1" dirty="0">
                    <a:solidFill>
                      <a:srgbClr val="333333"/>
                    </a:solidFill>
                  </a:rPr>
                  <a:t>As p grows, large components are down-weighted, so the p-norm shrinks.</a:t>
                </a:r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9934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F809-31D6-4F0C-5D15-32EF2A1F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3: Standardization — Step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erence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>
                <a:normAutofit/>
              </a:bodyPr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1 OF 3  ·  Mean:  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Σ"/>
                        <m:limLoc m:val="subSup"/>
                        <m:supHide m:val="on"/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erenc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 t="-12766" b="-404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Problem"/>
          <p:cNvSpPr/>
          <p:nvPr/>
        </p:nvSpPr>
        <p:spPr>
          <a:xfrm>
            <a:off x="838200" y="2489200"/>
            <a:ext cx="10515600" cy="15748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 lIns="137160" tIns="36576" rIns="137160" bIns="36576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Approach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A single feature column with four values:   x = (10, 20, 30, 40). Start by computing the mean μ.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Work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10 + 20 + 30 + 40</m:t>
                          </m:r>
                        </m:num>
                        <m:den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num>
                        <m:den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=25</m:t>
                      </m:r>
                    </m:oMath>
                  </m:oMathPara>
                </a14:m>
                <a:endParaRPr lang="en-US" sz="400"/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4649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F809-31D6-4F0C-5D15-32EF2A1F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3: Standardization — Step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erence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>
                <a:normAutofit/>
              </a:bodyPr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2 OF 3  ·  Population std-dev:  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Σ"/>
                            <m:limLoc m:val="subSup"/>
                            <m:supHide m:val="on"/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1500" i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5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500" i="1">
                                            <a:solidFill>
                                              <a:srgbClr val="4B2E8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500">
                                            <a:solidFill>
                                              <a:srgbClr val="4B2E8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500">
                                            <a:solidFill>
                                              <a:srgbClr val="4B2E8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15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5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erenc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 t="-8511" b="-425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Problem"/>
          <p:cNvSpPr/>
          <p:nvPr/>
        </p:nvSpPr>
        <p:spPr>
          <a:xfrm>
            <a:off x="838200" y="2489200"/>
            <a:ext cx="10515600" cy="15748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 lIns="137160" tIns="36576" rIns="137160" bIns="36576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Approach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Deviations from μ = 25 are (−15, −5, 5, 15). Average their squares, then take the square root.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Work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(−15)² + (−5)² + 5² + 15²</m:t>
                              </m:r>
                            </m:num>
                            <m:den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4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500</m:t>
                              </m:r>
                            </m:num>
                            <m:den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rad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125</m:t>
                          </m:r>
                        </m:e>
                      </m:rad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≈11.18</m:t>
                      </m:r>
                    </m:oMath>
                  </m:oMathPara>
                </a14:m>
                <a:endParaRPr lang="en-US" sz="400"/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2340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F809-31D6-4F0C-5D15-32EF2A1F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3: Standardization — Step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erence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>
                <a:normAutofit/>
              </a:bodyPr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3 OF 3  ·  z-score: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erenc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Problem"/>
          <p:cNvSpPr/>
          <p:nvPr/>
        </p:nvSpPr>
        <p:spPr>
          <a:xfrm>
            <a:off x="838200" y="2489200"/>
            <a:ext cx="10515600" cy="15748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 lIns="137160" tIns="36576" rIns="137160" bIns="36576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Approach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Divide each deviation (−15, −5, 5, 15) by σ ≈ 11.18. Because the deviations already sum to zero, the z-scores must as well.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Result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(−15, −5, 5, 15)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125</m:t>
                              </m:r>
                            </m:e>
                          </m:rad>
                        </m:den>
                      </m:f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≈(−1.34, −0.45, 0.45, 1.34)</m:t>
                      </m:r>
                    </m:oMath>
                  </m:oMathPara>
                </a14:m>
                <a:endParaRPr lang="en-US" sz="4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Σ"/>
                          <m:limLoc m:val="subSup"/>
                          <m:sup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sz="15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5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400"/>
              </a:p>
              <a:p>
                <a:pPr algn="ctr">
                  <a:buNone/>
                </a:pPr>
                <a:r>
                  <a:rPr lang="en-US" sz="1500" i="1" dirty="0">
                    <a:solidFill>
                      <a:srgbClr val="333333"/>
                    </a:solidFill>
                  </a:rPr>
                  <a:t>Σ(xᵢ − μ) = Σxᵢ − nμ = 100 − 100 = 0, so the z-scores sum to zero.</a:t>
                </a:r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381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BA033E-0AE9-3042-AECA-4AD7FD64CF5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FDF0A1-BB11-994B-B3B6-C04B9713F4CD}"/>
              </a:ext>
            </a:extLst>
          </p:cNvPr>
          <p:cNvSpPr/>
          <p:nvPr/>
        </p:nvSpPr>
        <p:spPr>
          <a:xfrm>
            <a:off x="838200" y="3810000"/>
            <a:ext cx="1524000" cy="101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E6E27-A384-C746-B0F3-409768D6BE32}"/>
              </a:ext>
            </a:extLst>
          </p:cNvPr>
          <p:cNvSpPr txBox="1"/>
          <p:nvPr/>
        </p:nvSpPr>
        <p:spPr>
          <a:xfrm>
            <a:off x="838200" y="1905000"/>
            <a:ext cx="381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B7A57A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81EFB9-0417-A643-9A39-4BB994330A24}"/>
              </a:ext>
            </a:extLst>
          </p:cNvPr>
          <p:cNvSpPr txBox="1"/>
          <p:nvPr/>
        </p:nvSpPr>
        <p:spPr>
          <a:xfrm>
            <a:off x="787400" y="2857500"/>
            <a:ext cx="889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5400" b="1">
                <a:solidFill>
                  <a:srgbClr val="FFFFFF"/>
                </a:solidFill>
                <a:latin typeface="Arial"/>
                <a:cs typeface="Arial"/>
              </a:rPr>
              <a:t>K-Means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0D4AC8B-FB0A-F646-BD65-634E3AE8484A}"/>
                  </a:ext>
                </a:extLst>
              </p:cNvPr>
              <p:cNvSpPr txBox="1"/>
              <p:nvPr/>
            </p:nvSpPr>
            <p:spPr>
              <a:xfrm>
                <a:off x="838200" y="4127500"/>
                <a:ext cx="9652000" cy="40562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2000" dirty="0">
                    <a:solidFill>
                      <a:srgbClr val="F5F0EB"/>
                    </a:solidFill>
                    <a:latin typeface="Calibri"/>
                    <a:cs typeface="Calibri"/>
                  </a:rPr>
                  <a:t>Centroid-based partitioning: minimizing within-cluster variance via Lloyd's algorithm in </a:t>
                </a:r>
                <mc:AlternateContent>
                  <mc:Choice Requires="a14"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sz="2000" i="1">
                                <a:solidFill>
                                  <a:srgbClr val="F5F0E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>
                                <a:solidFill>
                                  <a:srgbClr val="F5F0EB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000">
                                <a:solidFill>
                                  <a:srgbClr val="F5F0EB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a14:m>
                  </mc:Choice>
                  <mc:Fallback xmlns:m="http://schemas.openxmlformats.org/officeDocument/2006/math" xmlns="">
                    <a:r>
                      <a:rPr lang="en-US" sz="2000">
                        <a:solidFill>
                          <a:srgbClr val="F5F0EB"/>
                        </a:solidFill>
                      </a:rPr>
                      <a:t>ℝᵈ</a:t>
                    </a:r>
                  </mc:Fallback>
                </mc:AlternateContent>
                <a:endParaRPr lang="en-US" sz="2000" dirty="0">
                  <a:solidFill>
                    <a:srgbClr val="F5F0EB"/>
                  </a:solidFill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0D4AC8B-FB0A-F646-BD65-634E3AE84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27500"/>
                <a:ext cx="9652000" cy="405624"/>
              </a:xfrm>
              <a:prstGeom prst="rect">
                <a:avLst/>
              </a:prstGeom>
              <a:blipFill>
                <a:blip r:embed="rId2"/>
                <a:stretch>
                  <a:fillRect l="-788" t="-5882" b="-205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54563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E4C7F-3450-4290-CD0D-9D53AE517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K-Means: The Objective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86C7C7-41A3-F042-87AF-5DA1C2748AB4}"/>
                  </a:ext>
                </a:extLst>
              </p:cNvPr>
              <p:cNvSpPr txBox="1"/>
              <p:nvPr/>
            </p:nvSpPr>
            <p:spPr>
              <a:xfrm>
                <a:off x="838200" y="1879600"/>
                <a:ext cx="10515600" cy="61555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28600" indent="-22860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K-means partitions the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rows of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clusters by minimizing the total </a:t>
                </a:r>
                <a:r>
                  <a:rPr lang="en-US" sz="1700" b="1" dirty="0">
                    <a:solidFill>
                      <a:srgbClr val="4B2E83"/>
                    </a:solidFill>
                  </a:rPr>
                  <a:t>within-cluster sum of squares </a:t>
                </a:r>
                <a:r>
                  <a:rPr lang="en-US" sz="1700" dirty="0">
                    <a:solidFill>
                      <a:srgbClr val="333333"/>
                    </a:solidFill>
                  </a:rPr>
                  <a:t>(WCSS), also called inertia: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86C7C7-41A3-F042-87AF-5DA1C2748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79600"/>
                <a:ext cx="10515600" cy="615553"/>
              </a:xfrm>
              <a:prstGeom prst="rect">
                <a:avLst/>
              </a:prstGeom>
              <a:blipFill>
                <a:blip r:embed="rId2"/>
                <a:stretch>
                  <a:fillRect l="-362" t="-2000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2957323-FE80-144F-89B0-F0AE06FCCFA4}"/>
              </a:ext>
            </a:extLst>
          </p:cNvPr>
          <p:cNvSpPr/>
          <p:nvPr/>
        </p:nvSpPr>
        <p:spPr>
          <a:xfrm>
            <a:off x="838200" y="2946400"/>
            <a:ext cx="10515600" cy="13208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8F888C-1B1F-2248-A062-618475C00FBA}"/>
                  </a:ext>
                </a:extLst>
              </p:cNvPr>
              <p:cNvSpPr txBox="1"/>
              <p:nvPr/>
            </p:nvSpPr>
            <p:spPr>
              <a:xfrm>
                <a:off x="1016000" y="3127822"/>
                <a:ext cx="10160000" cy="95795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22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22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sz="2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sz="22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2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2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2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22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sz="2200" i="1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200" i="1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200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200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20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200" i="1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200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𝝁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200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2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22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8F888C-1B1F-2248-A062-618475C00F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3127822"/>
                <a:ext cx="10160000" cy="957955"/>
              </a:xfrm>
              <a:prstGeom prst="rect">
                <a:avLst/>
              </a:prstGeom>
              <a:blipFill>
                <a:blip r:embed="rId3"/>
                <a:stretch>
                  <a:fillRect t="-121053" b="-16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49A8354-2ED3-E046-B141-4255D436A059}"/>
                  </a:ext>
                </a:extLst>
              </p:cNvPr>
              <p:cNvSpPr txBox="1"/>
              <p:nvPr/>
            </p:nvSpPr>
            <p:spPr>
              <a:xfrm>
                <a:off x="838200" y="4546600"/>
                <a:ext cx="10515600" cy="96494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28600" indent="-228600"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den>
                    </m:f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  <m:sup/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 is the centroid (mean vector) of cluster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28600" indent="-228600"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is non-convex in the assignments — finding the global optimum is NP-hard.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Lloyd's algorithm minimizes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by alternating two steps, each of which can only decrease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49A8354-2ED3-E046-B141-4255D436A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546600"/>
                <a:ext cx="10515600" cy="964944"/>
              </a:xfrm>
              <a:prstGeom prst="rect">
                <a:avLst/>
              </a:prstGeom>
              <a:blipFill>
                <a:blip r:embed="rId4"/>
                <a:stretch>
                  <a:fillRect l="-362" t="-35526"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8965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664DE-C5AB-B659-065D-EAA82FB03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Lloyd's Algorithm: History &amp; Intuition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691512-B290-BF47-8633-D380896E46AD}"/>
              </a:ext>
            </a:extLst>
          </p:cNvPr>
          <p:cNvSpPr txBox="1"/>
          <p:nvPr/>
        </p:nvSpPr>
        <p:spPr>
          <a:xfrm>
            <a:off x="838200" y="1905000"/>
            <a:ext cx="10515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i="1" dirty="0">
                <a:solidFill>
                  <a:srgbClr val="333333"/>
                </a:solidFill>
              </a:rPr>
              <a:t>From 1950s signal quantization to the workhorse of modern clustering.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BBC8808-4177-C64C-8090-9884C2C01D01}"/>
              </a:ext>
            </a:extLst>
          </p:cNvPr>
          <p:cNvSpPr/>
          <p:nvPr/>
        </p:nvSpPr>
        <p:spPr>
          <a:xfrm>
            <a:off x="838200" y="2540000"/>
            <a:ext cx="5143500" cy="3175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6B01B6-C7C6-B240-8033-E172EABF461A}"/>
              </a:ext>
            </a:extLst>
          </p:cNvPr>
          <p:cNvSpPr/>
          <p:nvPr/>
        </p:nvSpPr>
        <p:spPr>
          <a:xfrm>
            <a:off x="838200" y="2540000"/>
            <a:ext cx="5143500" cy="533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 Bit of History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CB162F-8C44-8A4F-87F2-06F4A4242B25}"/>
              </a:ext>
            </a:extLst>
          </p:cNvPr>
          <p:cNvSpPr txBox="1"/>
          <p:nvPr/>
        </p:nvSpPr>
        <p:spPr>
          <a:xfrm>
            <a:off x="1016000" y="3175000"/>
            <a:ext cx="4787900" cy="164673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>
              <a:lnSpc>
                <a:spcPts val="1900"/>
              </a:lnSpc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Devised by Stuart Lloyd at Bell Labs in 1957 to quantize signals for pulse-code modulation (PCM).</a:t>
            </a:r>
          </a:p>
          <a:p>
            <a:pPr marL="228600" indent="-228600">
              <a:lnSpc>
                <a:spcPts val="1900"/>
              </a:lnSpc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Circulated internally for years — formally published only in 1982.</a:t>
            </a:r>
          </a:p>
          <a:p>
            <a:pPr marL="228600" indent="-228600">
              <a:lnSpc>
                <a:spcPts val="1900"/>
              </a:lnSpc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Found independently by Forgy (1965); MacQueen (1967) coined the name “k-means.”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3F036FF-8614-0141-BA30-87D5931ACD7B}"/>
              </a:ext>
            </a:extLst>
          </p:cNvPr>
          <p:cNvSpPr/>
          <p:nvPr/>
        </p:nvSpPr>
        <p:spPr>
          <a:xfrm>
            <a:off x="6210300" y="2540000"/>
            <a:ext cx="5143500" cy="3175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D4EE4C-077A-E348-8CCD-19117ECE287C}"/>
              </a:ext>
            </a:extLst>
          </p:cNvPr>
          <p:cNvSpPr/>
          <p:nvPr/>
        </p:nvSpPr>
        <p:spPr>
          <a:xfrm>
            <a:off x="6210300" y="2540000"/>
            <a:ext cx="5143500" cy="533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The Core Intuition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F690EA-EDFB-4A46-86B5-F9A44A496DD2}"/>
              </a:ext>
            </a:extLst>
          </p:cNvPr>
          <p:cNvSpPr txBox="1"/>
          <p:nvPr/>
        </p:nvSpPr>
        <p:spPr>
          <a:xfrm>
            <a:off x="6388100" y="3175000"/>
            <a:ext cx="4787900" cy="189038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>
              <a:lnSpc>
                <a:spcPts val="1900"/>
              </a:lnSpc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Pick k centroids, then alternate two cheap steps:</a:t>
            </a:r>
          </a:p>
          <a:p>
            <a:pPr marL="457200" lvl="1" indent="-228600">
              <a:lnSpc>
                <a:spcPts val="1700"/>
              </a:lnSpc>
              <a:spcBef>
                <a:spcPts val="200"/>
              </a:spcBef>
              <a:buFont typeface="Arial"/>
              <a:buChar char="–"/>
            </a:pPr>
            <a:r>
              <a:rPr lang="en-US" sz="1400" dirty="0">
                <a:solidFill>
                  <a:srgbClr val="333333"/>
                </a:solidFill>
              </a:rPr>
              <a:t>Assign each point to its nearest centroid.</a:t>
            </a:r>
          </a:p>
          <a:p>
            <a:pPr marL="457200" lvl="1" indent="-228600">
              <a:lnSpc>
                <a:spcPts val="1700"/>
              </a:lnSpc>
              <a:spcBef>
                <a:spcPts val="200"/>
              </a:spcBef>
              <a:buFont typeface="Arial"/>
              <a:buChar char="–"/>
            </a:pPr>
            <a:r>
              <a:rPr lang="en-US" sz="1400" dirty="0">
                <a:solidFill>
                  <a:srgbClr val="333333"/>
                </a:solidFill>
              </a:rPr>
              <a:t>Recompute each centroid as the mean of its points.</a:t>
            </a:r>
          </a:p>
          <a:p>
            <a:pPr marL="228600" indent="-228600">
              <a:lnSpc>
                <a:spcPts val="1900"/>
              </a:lnSpc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Every step lowers the within-cluster SSE — so it can only improve.</a:t>
            </a:r>
          </a:p>
          <a:p>
            <a:pPr marL="228600" indent="-228600">
              <a:lnSpc>
                <a:spcPts val="1900"/>
              </a:lnSpc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A form of coordinate descent: it hill-climbs to a local optimum.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4E1928-F631-B042-ADEB-5FB4025C1AD0}"/>
              </a:ext>
            </a:extLst>
          </p:cNvPr>
          <p:cNvSpPr txBox="1"/>
          <p:nvPr/>
        </p:nvSpPr>
        <p:spPr>
          <a:xfrm>
            <a:off x="838200" y="5867400"/>
            <a:ext cx="10515600" cy="55399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en-US" sz="1500" i="1" dirty="0">
                <a:solidFill>
                  <a:srgbClr val="595959"/>
                </a:solidFill>
              </a:rPr>
              <a:t>Simple, fast, and guaranteed to converge — but only to a local optimum, so we run several random restarts.</a:t>
            </a:r>
          </a:p>
        </p:txBody>
      </p:sp>
    </p:spTree>
    <p:extLst>
      <p:ext uri="{BB962C8B-B14F-4D97-AF65-F5344CB8AC3E}">
        <p14:creationId xmlns:p14="http://schemas.microsoft.com/office/powerpoint/2010/main" val="12172132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664DE-C5AB-B659-065D-EAA82FB03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Lloyd's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691512-B290-BF47-8633-D380896E46AD}"/>
                  </a:ext>
                </a:extLst>
              </p:cNvPr>
              <p:cNvSpPr txBox="1"/>
              <p:nvPr/>
            </p:nvSpPr>
            <p:spPr>
              <a:xfrm>
                <a:off x="838200" y="1905000"/>
                <a:ext cx="10515600" cy="33855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Initialize centroids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then alternate until assignments stop changing: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691512-B290-BF47-8633-D380896E4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338554"/>
              </a:xfrm>
              <a:prstGeom prst="rect">
                <a:avLst/>
              </a:prstGeom>
              <a:blipFill>
                <a:blip r:embed="rId2"/>
                <a:stretch>
                  <a:fillRect l="-362" t="-7407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BBC8808-4177-C64C-8090-9884C2C01D01}"/>
              </a:ext>
            </a:extLst>
          </p:cNvPr>
          <p:cNvSpPr/>
          <p:nvPr/>
        </p:nvSpPr>
        <p:spPr>
          <a:xfrm>
            <a:off x="838200" y="2540000"/>
            <a:ext cx="5143500" cy="3175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6B01B6-C7C6-B240-8033-E172EABF461A}"/>
              </a:ext>
            </a:extLst>
          </p:cNvPr>
          <p:cNvSpPr/>
          <p:nvPr/>
        </p:nvSpPr>
        <p:spPr>
          <a:xfrm>
            <a:off x="838200" y="2540000"/>
            <a:ext cx="5143500" cy="533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Arial"/>
                <a:cs typeface="Arial"/>
              </a:rPr>
              <a:t>1.  Assignment Step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CB162F-8C44-8A4F-87F2-06F4A4242B25}"/>
                  </a:ext>
                </a:extLst>
              </p:cNvPr>
              <p:cNvSpPr txBox="1"/>
              <p:nvPr/>
            </p:nvSpPr>
            <p:spPr>
              <a:xfrm>
                <a:off x="1016000" y="3175000"/>
                <a:ext cx="4787900" cy="126464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Assign each point to its nearest centroid:</a:t>
                </a:r>
              </a:p>
              <a:p>
                <a:pPr>
                  <a:buNone/>
                </a:pPr>
                <a:endParaRPr lang="en-US" sz="4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1800">
                              <a:solidFill>
                                <a:srgbClr val="4B2E83"/>
                              </a:solidFill>
                            </a:rPr>
                            <m:t>argmin</m:t>
                          </m:r>
                        </m:e>
                        <m:sub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18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8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8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sz="18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US" sz="18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"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Fixes the binary assignment matrix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𝐙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   Cost: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>
                        <a:solidFill>
                          <a:srgbClr val="333333"/>
                        </a:solidFill>
                      </a:rPr>
                      <m:t>O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 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 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/ iter.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CB162F-8C44-8A4F-87F2-06F4A4242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3175000"/>
                <a:ext cx="4787900" cy="1264642"/>
              </a:xfrm>
              <a:prstGeom prst="rect">
                <a:avLst/>
              </a:prstGeom>
              <a:blipFill>
                <a:blip r:embed="rId3"/>
                <a:stretch>
                  <a:fillRect l="-796" t="-2000" r="-265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3F036FF-8614-0141-BA30-87D5931ACD7B}"/>
              </a:ext>
            </a:extLst>
          </p:cNvPr>
          <p:cNvSpPr/>
          <p:nvPr/>
        </p:nvSpPr>
        <p:spPr>
          <a:xfrm>
            <a:off x="6210300" y="2540000"/>
            <a:ext cx="5143500" cy="3175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D4EE4C-077A-E348-8CCD-19117ECE287C}"/>
              </a:ext>
            </a:extLst>
          </p:cNvPr>
          <p:cNvSpPr/>
          <p:nvPr/>
        </p:nvSpPr>
        <p:spPr>
          <a:xfrm>
            <a:off x="6210300" y="2540000"/>
            <a:ext cx="5143500" cy="533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Arial"/>
                <a:cs typeface="Arial"/>
              </a:rPr>
              <a:t>2.  Update Step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0F690EA-EDFB-4A46-86B5-F9A44A496DD2}"/>
                  </a:ext>
                </a:extLst>
              </p:cNvPr>
              <p:cNvSpPr txBox="1"/>
              <p:nvPr/>
            </p:nvSpPr>
            <p:spPr>
              <a:xfrm>
                <a:off x="6388100" y="3175000"/>
                <a:ext cx="4787900" cy="167289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Recompute each centroid as the cluster mean:</a:t>
                </a:r>
              </a:p>
              <a:p>
                <a:pPr>
                  <a:buNone/>
                </a:pPr>
                <a:endParaRPr lang="en-US" sz="4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18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8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8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8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8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400"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The LA least-squares solution minimizing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</m:d>
                          </m:e>
                          <m:sup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   Cost: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>
                        <a:solidFill>
                          <a:srgbClr val="333333"/>
                        </a:solidFill>
                      </a:rPr>
                      <m:t>O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 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/ iter.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0F690EA-EDFB-4A46-86B5-F9A44A496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100" y="3175000"/>
                <a:ext cx="4787900" cy="1672894"/>
              </a:xfrm>
              <a:prstGeom prst="rect">
                <a:avLst/>
              </a:prstGeom>
              <a:blipFill>
                <a:blip r:embed="rId4"/>
                <a:stretch>
                  <a:fillRect l="-796" t="-38636" r="-3183" b="-424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94E1928-F631-B042-ADEB-5FB4025C1AD0}"/>
                  </a:ext>
                </a:extLst>
              </p:cNvPr>
              <p:cNvSpPr txBox="1"/>
              <p:nvPr/>
            </p:nvSpPr>
            <p:spPr>
              <a:xfrm>
                <a:off x="838200" y="5867400"/>
                <a:ext cx="10515600" cy="55399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500" i="1" dirty="0">
                    <a:solidFill>
                      <a:srgbClr val="595959"/>
                    </a:solidFill>
                  </a:rPr>
                  <a:t>Each step is non-increasing in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1500" i="1" dirty="0">
                    <a:solidFill>
                      <a:srgbClr val="595959"/>
                    </a:solidFill>
                  </a:rPr>
                  <a:t>, so k-means converges to a local minimum in finitely many iterations. Restart from several initializations and keep the lowest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1500" i="1" dirty="0">
                    <a:solidFill>
                      <a:srgbClr val="595959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94E1928-F631-B042-ADEB-5FB4025C1A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867400"/>
                <a:ext cx="10515600" cy="553998"/>
              </a:xfrm>
              <a:prstGeom prst="rect">
                <a:avLst/>
              </a:prstGeom>
              <a:blipFill>
                <a:blip r:embed="rId5"/>
                <a:stretch>
                  <a:fillRect l="-362" t="-4545" b="-11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26955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FBEA2-74FB-D8FF-FC4E-51818388A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Lloyd's Algorithm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849B20-FE34-3D45-B49F-4D3A83204F2D}"/>
              </a:ext>
            </a:extLst>
          </p:cNvPr>
          <p:cNvSpPr/>
          <p:nvPr/>
        </p:nvSpPr>
        <p:spPr>
          <a:xfrm>
            <a:off x="6350000" y="1549400"/>
            <a:ext cx="4572000" cy="457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89028F-59EE-5842-86E0-5A8A9D7B274C}"/>
              </a:ext>
            </a:extLst>
          </p:cNvPr>
          <p:cNvSpPr/>
          <p:nvPr/>
        </p:nvSpPr>
        <p:spPr>
          <a:xfrm>
            <a:off x="6345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14FAAD-4629-7440-AF8A-F197776DC9BD}"/>
              </a:ext>
            </a:extLst>
          </p:cNvPr>
          <p:cNvSpPr/>
          <p:nvPr/>
        </p:nvSpPr>
        <p:spPr>
          <a:xfrm>
            <a:off x="6350000" y="6116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CBF7C3-3B94-4043-B28E-5EC5FC318ECC}"/>
              </a:ext>
            </a:extLst>
          </p:cNvPr>
          <p:cNvSpPr/>
          <p:nvPr/>
        </p:nvSpPr>
        <p:spPr>
          <a:xfrm>
            <a:off x="68024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0A1B41-23B5-CC41-80E4-5774670F6F05}"/>
              </a:ext>
            </a:extLst>
          </p:cNvPr>
          <p:cNvSpPr/>
          <p:nvPr/>
        </p:nvSpPr>
        <p:spPr>
          <a:xfrm>
            <a:off x="6350000" y="56594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1B4A3B-6338-504F-8DD8-557FCAE6F927}"/>
              </a:ext>
            </a:extLst>
          </p:cNvPr>
          <p:cNvSpPr/>
          <p:nvPr/>
        </p:nvSpPr>
        <p:spPr>
          <a:xfrm>
            <a:off x="72596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1E2EDF-AD29-7044-A193-7ED1FEF9E0BB}"/>
              </a:ext>
            </a:extLst>
          </p:cNvPr>
          <p:cNvSpPr/>
          <p:nvPr/>
        </p:nvSpPr>
        <p:spPr>
          <a:xfrm>
            <a:off x="6350000" y="52022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429A9D-DE84-E246-8018-F25E62544330}"/>
              </a:ext>
            </a:extLst>
          </p:cNvPr>
          <p:cNvSpPr/>
          <p:nvPr/>
        </p:nvSpPr>
        <p:spPr>
          <a:xfrm>
            <a:off x="77168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C651E2-3D96-D148-B03D-86D6DEBDE421}"/>
              </a:ext>
            </a:extLst>
          </p:cNvPr>
          <p:cNvSpPr/>
          <p:nvPr/>
        </p:nvSpPr>
        <p:spPr>
          <a:xfrm>
            <a:off x="6350000" y="47450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BF956B-85B3-E448-8CA4-C23D197A6447}"/>
              </a:ext>
            </a:extLst>
          </p:cNvPr>
          <p:cNvSpPr/>
          <p:nvPr/>
        </p:nvSpPr>
        <p:spPr>
          <a:xfrm>
            <a:off x="81740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FA3AE8-9A09-E64F-93AF-5672271741D7}"/>
              </a:ext>
            </a:extLst>
          </p:cNvPr>
          <p:cNvSpPr/>
          <p:nvPr/>
        </p:nvSpPr>
        <p:spPr>
          <a:xfrm>
            <a:off x="6350000" y="42878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C6F204-E74B-1F40-99D8-B3E91F9A5487}"/>
              </a:ext>
            </a:extLst>
          </p:cNvPr>
          <p:cNvSpPr/>
          <p:nvPr/>
        </p:nvSpPr>
        <p:spPr>
          <a:xfrm>
            <a:off x="8631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EB75F1-AC4E-B549-B7A2-8B3761B440AC}"/>
              </a:ext>
            </a:extLst>
          </p:cNvPr>
          <p:cNvSpPr/>
          <p:nvPr/>
        </p:nvSpPr>
        <p:spPr>
          <a:xfrm>
            <a:off x="6350000" y="3830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8D271E-0984-F646-8759-E07C2EC92B17}"/>
              </a:ext>
            </a:extLst>
          </p:cNvPr>
          <p:cNvSpPr/>
          <p:nvPr/>
        </p:nvSpPr>
        <p:spPr>
          <a:xfrm>
            <a:off x="90884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FBB1F9F-EF0F-C949-A433-E8B7E3E015AD}"/>
              </a:ext>
            </a:extLst>
          </p:cNvPr>
          <p:cNvSpPr/>
          <p:nvPr/>
        </p:nvSpPr>
        <p:spPr>
          <a:xfrm>
            <a:off x="6350000" y="33734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A14B96-FA07-234A-B343-812137C46688}"/>
              </a:ext>
            </a:extLst>
          </p:cNvPr>
          <p:cNvSpPr/>
          <p:nvPr/>
        </p:nvSpPr>
        <p:spPr>
          <a:xfrm>
            <a:off x="95456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72EE30-58B8-4041-9D56-1DD3AA8D3FFF}"/>
              </a:ext>
            </a:extLst>
          </p:cNvPr>
          <p:cNvSpPr/>
          <p:nvPr/>
        </p:nvSpPr>
        <p:spPr>
          <a:xfrm>
            <a:off x="6350000" y="29162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D7D504-0AB7-1241-9361-AA827CDF6665}"/>
              </a:ext>
            </a:extLst>
          </p:cNvPr>
          <p:cNvSpPr/>
          <p:nvPr/>
        </p:nvSpPr>
        <p:spPr>
          <a:xfrm>
            <a:off x="100028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D97575-39AA-A34A-BC8E-B80AD0350C99}"/>
              </a:ext>
            </a:extLst>
          </p:cNvPr>
          <p:cNvSpPr/>
          <p:nvPr/>
        </p:nvSpPr>
        <p:spPr>
          <a:xfrm>
            <a:off x="6350000" y="24590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000B324-B755-5042-9842-8CFF145FB35F}"/>
              </a:ext>
            </a:extLst>
          </p:cNvPr>
          <p:cNvSpPr/>
          <p:nvPr/>
        </p:nvSpPr>
        <p:spPr>
          <a:xfrm>
            <a:off x="104600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B6C86E5-0633-D744-B5DA-7D3307F66F4D}"/>
              </a:ext>
            </a:extLst>
          </p:cNvPr>
          <p:cNvSpPr/>
          <p:nvPr/>
        </p:nvSpPr>
        <p:spPr>
          <a:xfrm>
            <a:off x="6350000" y="20018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0A0C5-3C9E-364C-B2AC-650F402ABA86}"/>
              </a:ext>
            </a:extLst>
          </p:cNvPr>
          <p:cNvSpPr/>
          <p:nvPr/>
        </p:nvSpPr>
        <p:spPr>
          <a:xfrm>
            <a:off x="10917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2DDD268-2E40-B043-854E-BB0CE0A2F410}"/>
              </a:ext>
            </a:extLst>
          </p:cNvPr>
          <p:cNvSpPr/>
          <p:nvPr/>
        </p:nvSpPr>
        <p:spPr>
          <a:xfrm>
            <a:off x="6350000" y="1544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D0E722-58AF-4044-B184-3D2B3BD4FCED}"/>
              </a:ext>
            </a:extLst>
          </p:cNvPr>
          <p:cNvSpPr/>
          <p:nvPr/>
        </p:nvSpPr>
        <p:spPr>
          <a:xfrm>
            <a:off x="6350000" y="1549400"/>
            <a:ext cx="4572000" cy="4572000"/>
          </a:xfrm>
          <a:prstGeom prst="rect">
            <a:avLst/>
          </a:prstGeom>
          <a:noFill/>
          <a:ln w="15875" cap="flat" cmpd="sng" algn="ctr">
            <a:solidFill>
              <a:srgbClr val="8080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FFF84C-A538-184B-AC73-0996462E3A1E}"/>
              </a:ext>
            </a:extLst>
          </p:cNvPr>
          <p:cNvSpPr txBox="1"/>
          <p:nvPr/>
        </p:nvSpPr>
        <p:spPr>
          <a:xfrm>
            <a:off x="6197600" y="6159500"/>
            <a:ext cx="304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DD2E43-21CC-4A45-9D45-C893225D2C29}"/>
              </a:ext>
            </a:extLst>
          </p:cNvPr>
          <p:cNvSpPr txBox="1"/>
          <p:nvPr/>
        </p:nvSpPr>
        <p:spPr>
          <a:xfrm>
            <a:off x="5943600" y="6019800"/>
            <a:ext cx="330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675070-C59C-944B-89DA-D0D213C8FB51}"/>
              </a:ext>
            </a:extLst>
          </p:cNvPr>
          <p:cNvSpPr txBox="1"/>
          <p:nvPr/>
        </p:nvSpPr>
        <p:spPr>
          <a:xfrm>
            <a:off x="7112000" y="6159500"/>
            <a:ext cx="304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5B490D8-2C28-2643-B39B-87484FF19903}"/>
              </a:ext>
            </a:extLst>
          </p:cNvPr>
          <p:cNvSpPr txBox="1"/>
          <p:nvPr/>
        </p:nvSpPr>
        <p:spPr>
          <a:xfrm>
            <a:off x="5943600" y="5105400"/>
            <a:ext cx="330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75D023-217A-034B-9F4E-C52A252D324A}"/>
              </a:ext>
            </a:extLst>
          </p:cNvPr>
          <p:cNvSpPr txBox="1"/>
          <p:nvPr/>
        </p:nvSpPr>
        <p:spPr>
          <a:xfrm>
            <a:off x="8026400" y="6159500"/>
            <a:ext cx="304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96EA0-E7AC-EE4C-B716-51B4156E712A}"/>
              </a:ext>
            </a:extLst>
          </p:cNvPr>
          <p:cNvSpPr txBox="1"/>
          <p:nvPr/>
        </p:nvSpPr>
        <p:spPr>
          <a:xfrm>
            <a:off x="5943600" y="4191000"/>
            <a:ext cx="330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3457A9-8089-4847-87E5-B1498422F574}"/>
              </a:ext>
            </a:extLst>
          </p:cNvPr>
          <p:cNvSpPr txBox="1"/>
          <p:nvPr/>
        </p:nvSpPr>
        <p:spPr>
          <a:xfrm>
            <a:off x="8940800" y="6159500"/>
            <a:ext cx="304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2A59026-DDB1-0E4B-8162-CB879CDD5577}"/>
              </a:ext>
            </a:extLst>
          </p:cNvPr>
          <p:cNvSpPr txBox="1"/>
          <p:nvPr/>
        </p:nvSpPr>
        <p:spPr>
          <a:xfrm>
            <a:off x="5943600" y="3276600"/>
            <a:ext cx="330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78EC06-FFF6-2A4B-ADF7-97D97619C178}"/>
              </a:ext>
            </a:extLst>
          </p:cNvPr>
          <p:cNvSpPr txBox="1"/>
          <p:nvPr/>
        </p:nvSpPr>
        <p:spPr>
          <a:xfrm>
            <a:off x="9855200" y="6159500"/>
            <a:ext cx="304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D4E892D-92BA-1D45-A5EF-2F71FD621734}"/>
              </a:ext>
            </a:extLst>
          </p:cNvPr>
          <p:cNvSpPr txBox="1"/>
          <p:nvPr/>
        </p:nvSpPr>
        <p:spPr>
          <a:xfrm>
            <a:off x="5943600" y="2362200"/>
            <a:ext cx="330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1A25373-E501-6642-8A71-EEC704DEB4F4}"/>
              </a:ext>
            </a:extLst>
          </p:cNvPr>
          <p:cNvSpPr txBox="1"/>
          <p:nvPr/>
        </p:nvSpPr>
        <p:spPr>
          <a:xfrm>
            <a:off x="10769600" y="6159500"/>
            <a:ext cx="4318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D9B4DA-7922-2241-BA35-AFDE597AEE7C}"/>
              </a:ext>
            </a:extLst>
          </p:cNvPr>
          <p:cNvSpPr txBox="1"/>
          <p:nvPr/>
        </p:nvSpPr>
        <p:spPr>
          <a:xfrm>
            <a:off x="5943600" y="1447800"/>
            <a:ext cx="4318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10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219FF06-0B99-1642-ACAF-FC09D3425754}"/>
              </a:ext>
            </a:extLst>
          </p:cNvPr>
          <p:cNvSpPr/>
          <p:nvPr/>
        </p:nvSpPr>
        <p:spPr>
          <a:xfrm>
            <a:off x="6946900" y="2603500"/>
            <a:ext cx="177800" cy="177800"/>
          </a:xfrm>
          <a:prstGeom prst="ellipse">
            <a:avLst/>
          </a:prstGeom>
          <a:solidFill>
            <a:srgbClr val="BFBFB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FAEE7CC-0A2F-0340-9E04-44AE8F31C372}"/>
              </a:ext>
            </a:extLst>
          </p:cNvPr>
          <p:cNvSpPr/>
          <p:nvPr/>
        </p:nvSpPr>
        <p:spPr>
          <a:xfrm>
            <a:off x="7266940" y="2192019"/>
            <a:ext cx="177800" cy="177800"/>
          </a:xfrm>
          <a:prstGeom prst="ellipse">
            <a:avLst/>
          </a:prstGeom>
          <a:solidFill>
            <a:srgbClr val="BFBFB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A5F51D1-7ED0-914E-BBFC-5AE61EDBE802}"/>
              </a:ext>
            </a:extLst>
          </p:cNvPr>
          <p:cNvSpPr/>
          <p:nvPr/>
        </p:nvSpPr>
        <p:spPr>
          <a:xfrm>
            <a:off x="6718300" y="3014979"/>
            <a:ext cx="177800" cy="177800"/>
          </a:xfrm>
          <a:prstGeom prst="ellipse">
            <a:avLst/>
          </a:prstGeom>
          <a:solidFill>
            <a:srgbClr val="BFBFB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7174CF1-3E37-8C4F-A0D4-8E4B93B2C40A}"/>
              </a:ext>
            </a:extLst>
          </p:cNvPr>
          <p:cNvSpPr/>
          <p:nvPr/>
        </p:nvSpPr>
        <p:spPr>
          <a:xfrm>
            <a:off x="7541259" y="2740660"/>
            <a:ext cx="177800" cy="177800"/>
          </a:xfrm>
          <a:prstGeom prst="ellipse">
            <a:avLst/>
          </a:prstGeom>
          <a:solidFill>
            <a:srgbClr val="BFBFB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D4759CC-BBE5-C04D-B7DC-5AE397ED4259}"/>
              </a:ext>
            </a:extLst>
          </p:cNvPr>
          <p:cNvSpPr/>
          <p:nvPr/>
        </p:nvSpPr>
        <p:spPr>
          <a:xfrm>
            <a:off x="9827260" y="2283460"/>
            <a:ext cx="177800" cy="177800"/>
          </a:xfrm>
          <a:prstGeom prst="ellipse">
            <a:avLst/>
          </a:prstGeom>
          <a:solidFill>
            <a:srgbClr val="BFBFB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4BFDEA2-2EB6-9848-9A16-A0B60AB9E353}"/>
              </a:ext>
            </a:extLst>
          </p:cNvPr>
          <p:cNvSpPr/>
          <p:nvPr/>
        </p:nvSpPr>
        <p:spPr>
          <a:xfrm>
            <a:off x="10193020" y="2649220"/>
            <a:ext cx="177800" cy="177800"/>
          </a:xfrm>
          <a:prstGeom prst="ellipse">
            <a:avLst/>
          </a:prstGeom>
          <a:solidFill>
            <a:srgbClr val="BFBFB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B6F3F92-15C9-3949-832F-80867A006D21}"/>
              </a:ext>
            </a:extLst>
          </p:cNvPr>
          <p:cNvSpPr/>
          <p:nvPr/>
        </p:nvSpPr>
        <p:spPr>
          <a:xfrm>
            <a:off x="9552940" y="2923540"/>
            <a:ext cx="177800" cy="177800"/>
          </a:xfrm>
          <a:prstGeom prst="ellipse">
            <a:avLst/>
          </a:prstGeom>
          <a:solidFill>
            <a:srgbClr val="BFBFB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08F9A6B-2FBD-F949-AB01-067181C2B0FB}"/>
              </a:ext>
            </a:extLst>
          </p:cNvPr>
          <p:cNvSpPr/>
          <p:nvPr/>
        </p:nvSpPr>
        <p:spPr>
          <a:xfrm>
            <a:off x="10330180" y="2100579"/>
            <a:ext cx="177800" cy="177800"/>
          </a:xfrm>
          <a:prstGeom prst="ellipse">
            <a:avLst/>
          </a:prstGeom>
          <a:solidFill>
            <a:srgbClr val="BFBFB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85AFA2C2-711D-6B44-AEFD-55EA08E53447}"/>
              </a:ext>
            </a:extLst>
          </p:cNvPr>
          <p:cNvSpPr/>
          <p:nvPr/>
        </p:nvSpPr>
        <p:spPr>
          <a:xfrm>
            <a:off x="8181340" y="5209540"/>
            <a:ext cx="177800" cy="177800"/>
          </a:xfrm>
          <a:prstGeom prst="ellipse">
            <a:avLst/>
          </a:prstGeom>
          <a:solidFill>
            <a:srgbClr val="BFBFB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F2183EE-53D4-D74C-A439-72ED7BF96AAF}"/>
              </a:ext>
            </a:extLst>
          </p:cNvPr>
          <p:cNvSpPr/>
          <p:nvPr/>
        </p:nvSpPr>
        <p:spPr>
          <a:xfrm>
            <a:off x="8547100" y="4843780"/>
            <a:ext cx="177800" cy="177800"/>
          </a:xfrm>
          <a:prstGeom prst="ellipse">
            <a:avLst/>
          </a:prstGeom>
          <a:solidFill>
            <a:srgbClr val="BFBFB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83FFEEB-F0F9-8A41-AEA0-FF41CD727877}"/>
              </a:ext>
            </a:extLst>
          </p:cNvPr>
          <p:cNvSpPr/>
          <p:nvPr/>
        </p:nvSpPr>
        <p:spPr>
          <a:xfrm>
            <a:off x="7907020" y="5483860"/>
            <a:ext cx="177800" cy="177800"/>
          </a:xfrm>
          <a:prstGeom prst="ellipse">
            <a:avLst/>
          </a:prstGeom>
          <a:solidFill>
            <a:srgbClr val="BFBFB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144AE8B6-C472-4F43-A79A-9B0DDE1DA690}"/>
              </a:ext>
            </a:extLst>
          </p:cNvPr>
          <p:cNvSpPr/>
          <p:nvPr/>
        </p:nvSpPr>
        <p:spPr>
          <a:xfrm>
            <a:off x="8821419" y="5300980"/>
            <a:ext cx="177800" cy="177800"/>
          </a:xfrm>
          <a:prstGeom prst="ellipse">
            <a:avLst/>
          </a:prstGeom>
          <a:solidFill>
            <a:srgbClr val="BFBFB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5-Point Star 52">
            <a:extLst>
              <a:ext uri="{FF2B5EF4-FFF2-40B4-BE49-F238E27FC236}">
                <a16:creationId xmlns:a16="http://schemas.microsoft.com/office/drawing/2014/main" id="{044F95D2-4966-924E-A9AB-AC8C58D077A5}"/>
              </a:ext>
            </a:extLst>
          </p:cNvPr>
          <p:cNvSpPr/>
          <p:nvPr/>
        </p:nvSpPr>
        <p:spPr>
          <a:xfrm>
            <a:off x="7785100" y="3898900"/>
            <a:ext cx="330200" cy="330200"/>
          </a:xfrm>
          <a:prstGeom prst="star5">
            <a:avLst/>
          </a:prstGeom>
          <a:solidFill>
            <a:srgbClr val="4B2E83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5-Point Star 53">
            <a:extLst>
              <a:ext uri="{FF2B5EF4-FFF2-40B4-BE49-F238E27FC236}">
                <a16:creationId xmlns:a16="http://schemas.microsoft.com/office/drawing/2014/main" id="{33E046D6-1C12-BD4A-94A0-74E1255C8B00}"/>
              </a:ext>
            </a:extLst>
          </p:cNvPr>
          <p:cNvSpPr/>
          <p:nvPr/>
        </p:nvSpPr>
        <p:spPr>
          <a:xfrm>
            <a:off x="8242300" y="3441700"/>
            <a:ext cx="330200" cy="330200"/>
          </a:xfrm>
          <a:prstGeom prst="star5">
            <a:avLst/>
          </a:prstGeom>
          <a:solidFill>
            <a:srgbClr val="00A7B5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5-Point Star 54">
            <a:extLst>
              <a:ext uri="{FF2B5EF4-FFF2-40B4-BE49-F238E27FC236}">
                <a16:creationId xmlns:a16="http://schemas.microsoft.com/office/drawing/2014/main" id="{6120FF36-B994-E948-92DA-6FB47EE80C84}"/>
              </a:ext>
            </a:extLst>
          </p:cNvPr>
          <p:cNvSpPr/>
          <p:nvPr/>
        </p:nvSpPr>
        <p:spPr>
          <a:xfrm>
            <a:off x="8699500" y="4127500"/>
            <a:ext cx="330200" cy="330200"/>
          </a:xfrm>
          <a:prstGeom prst="star5">
            <a:avLst/>
          </a:prstGeom>
          <a:solidFill>
            <a:srgbClr val="7AB648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D44CE72-30DB-A948-8555-38B667CA8E27}"/>
              </a:ext>
            </a:extLst>
          </p:cNvPr>
          <p:cNvSpPr txBox="1"/>
          <p:nvPr/>
        </p:nvSpPr>
        <p:spPr>
          <a:xfrm>
            <a:off x="609600" y="1930400"/>
            <a:ext cx="5207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4B2E83"/>
                </a:solidFill>
              </a:rPr>
              <a:t>Step 0 · Initialize centroids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41F5D06-FD84-0546-89BF-3710126C2F6B}"/>
              </a:ext>
            </a:extLst>
          </p:cNvPr>
          <p:cNvSpPr txBox="1"/>
          <p:nvPr/>
        </p:nvSpPr>
        <p:spPr>
          <a:xfrm>
            <a:off x="609600" y="2603500"/>
            <a:ext cx="52070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Place k = 3 centroids </a:t>
            </a:r>
            <a:r>
              <a:rPr lang="el-GR" sz="1600">
                <a:solidFill>
                  <a:srgbClr val="333333"/>
                </a:solidFill>
              </a:rPr>
              <a:t>μ₁, μ₂, μ₃ </a:t>
            </a:r>
            <a:r>
              <a:rPr lang="en-US" sz="1600">
                <a:solidFill>
                  <a:srgbClr val="333333"/>
                </a:solidFill>
              </a:rPr>
              <a:t>at starting positions. Every point is still unassigned — the two-step loop has not run yet.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2F2D20C-31E5-F147-B2E8-0E0457E47F3E}"/>
              </a:ext>
            </a:extLst>
          </p:cNvPr>
          <p:cNvSpPr/>
          <p:nvPr/>
        </p:nvSpPr>
        <p:spPr>
          <a:xfrm>
            <a:off x="711200" y="4800600"/>
            <a:ext cx="203200" cy="203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86E727-6D15-F548-9853-2CD4A9A32FC1}"/>
              </a:ext>
            </a:extLst>
          </p:cNvPr>
          <p:cNvSpPr txBox="1"/>
          <p:nvPr/>
        </p:nvSpPr>
        <p:spPr>
          <a:xfrm>
            <a:off x="1016000" y="4762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1AAE7BB-730D-074F-9F8A-05637B425096}"/>
              </a:ext>
            </a:extLst>
          </p:cNvPr>
          <p:cNvSpPr/>
          <p:nvPr/>
        </p:nvSpPr>
        <p:spPr>
          <a:xfrm>
            <a:off x="711200" y="5181600"/>
            <a:ext cx="203200" cy="2032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6B3C008-4F36-C542-A089-BF35249EC5CB}"/>
              </a:ext>
            </a:extLst>
          </p:cNvPr>
          <p:cNvSpPr txBox="1"/>
          <p:nvPr/>
        </p:nvSpPr>
        <p:spPr>
          <a:xfrm>
            <a:off x="1016000" y="5143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2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5803881-E915-A84B-8DB1-A3EB551B220C}"/>
              </a:ext>
            </a:extLst>
          </p:cNvPr>
          <p:cNvSpPr/>
          <p:nvPr/>
        </p:nvSpPr>
        <p:spPr>
          <a:xfrm>
            <a:off x="711200" y="5562600"/>
            <a:ext cx="203200" cy="2032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753B388-61F1-B845-AD72-6B2257CEEF78}"/>
              </a:ext>
            </a:extLst>
          </p:cNvPr>
          <p:cNvSpPr txBox="1"/>
          <p:nvPr/>
        </p:nvSpPr>
        <p:spPr>
          <a:xfrm>
            <a:off x="1016000" y="5524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3</a:t>
            </a:r>
          </a:p>
        </p:txBody>
      </p:sp>
      <p:sp>
        <p:nvSpPr>
          <p:cNvPr id="64" name="5-Point Star 63">
            <a:extLst>
              <a:ext uri="{FF2B5EF4-FFF2-40B4-BE49-F238E27FC236}">
                <a16:creationId xmlns:a16="http://schemas.microsoft.com/office/drawing/2014/main" id="{621664AE-CE7D-0A4A-A6C6-0266604B9627}"/>
              </a:ext>
            </a:extLst>
          </p:cNvPr>
          <p:cNvSpPr/>
          <p:nvPr/>
        </p:nvSpPr>
        <p:spPr>
          <a:xfrm>
            <a:off x="698500" y="5943600"/>
            <a:ext cx="228600" cy="228600"/>
          </a:xfrm>
          <a:prstGeom prst="star5">
            <a:avLst/>
          </a:prstGeom>
          <a:solidFill>
            <a:srgbClr val="595959"/>
          </a:solidFill>
          <a:ln w="12700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62FD7DE-7AC2-AE44-BA71-840C1A600754}"/>
              </a:ext>
            </a:extLst>
          </p:cNvPr>
          <p:cNvSpPr txBox="1"/>
          <p:nvPr/>
        </p:nvSpPr>
        <p:spPr>
          <a:xfrm>
            <a:off x="1016000" y="5905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Centroid (cluster mean)</a:t>
            </a:r>
          </a:p>
        </p:txBody>
      </p:sp>
    </p:spTree>
    <p:extLst>
      <p:ext uri="{BB962C8B-B14F-4D97-AF65-F5344CB8AC3E}">
        <p14:creationId xmlns:p14="http://schemas.microsoft.com/office/powerpoint/2010/main" val="25334152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BE657-81BC-0B2E-4122-85BC74C0E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Lloyd's Algorithm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472D34-E76C-0549-AB30-16DF16C4ADE6}"/>
              </a:ext>
            </a:extLst>
          </p:cNvPr>
          <p:cNvSpPr/>
          <p:nvPr/>
        </p:nvSpPr>
        <p:spPr>
          <a:xfrm>
            <a:off x="6350000" y="1549400"/>
            <a:ext cx="4572000" cy="457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C917A0-1918-7A49-B255-72806C94F604}"/>
              </a:ext>
            </a:extLst>
          </p:cNvPr>
          <p:cNvSpPr/>
          <p:nvPr/>
        </p:nvSpPr>
        <p:spPr>
          <a:xfrm>
            <a:off x="6345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0EDB24-ACD3-5E43-A10C-8ACBEA665410}"/>
              </a:ext>
            </a:extLst>
          </p:cNvPr>
          <p:cNvSpPr/>
          <p:nvPr/>
        </p:nvSpPr>
        <p:spPr>
          <a:xfrm>
            <a:off x="6350000" y="6116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627F0B-55D8-684E-9FDE-48723F325483}"/>
              </a:ext>
            </a:extLst>
          </p:cNvPr>
          <p:cNvSpPr/>
          <p:nvPr/>
        </p:nvSpPr>
        <p:spPr>
          <a:xfrm>
            <a:off x="68024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7A5DD-4CF6-1641-A238-912B6D174E91}"/>
              </a:ext>
            </a:extLst>
          </p:cNvPr>
          <p:cNvSpPr/>
          <p:nvPr/>
        </p:nvSpPr>
        <p:spPr>
          <a:xfrm>
            <a:off x="6350000" y="56594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FF0C4E-0DCB-F14C-8D1C-39B94BDB2294}"/>
              </a:ext>
            </a:extLst>
          </p:cNvPr>
          <p:cNvSpPr/>
          <p:nvPr/>
        </p:nvSpPr>
        <p:spPr>
          <a:xfrm>
            <a:off x="72596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83F9AD-53FF-0F4D-A6C9-2D0C0C4B0700}"/>
              </a:ext>
            </a:extLst>
          </p:cNvPr>
          <p:cNvSpPr/>
          <p:nvPr/>
        </p:nvSpPr>
        <p:spPr>
          <a:xfrm>
            <a:off x="6350000" y="52022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AE50F1-3022-3040-B1AA-07765ED19A9C}"/>
              </a:ext>
            </a:extLst>
          </p:cNvPr>
          <p:cNvSpPr/>
          <p:nvPr/>
        </p:nvSpPr>
        <p:spPr>
          <a:xfrm>
            <a:off x="77168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58E4BB-7470-1043-99A2-374F9C40E2CF}"/>
              </a:ext>
            </a:extLst>
          </p:cNvPr>
          <p:cNvSpPr/>
          <p:nvPr/>
        </p:nvSpPr>
        <p:spPr>
          <a:xfrm>
            <a:off x="6350000" y="47450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6C4A10-0806-444F-ADB6-F91F6F796EEE}"/>
              </a:ext>
            </a:extLst>
          </p:cNvPr>
          <p:cNvSpPr/>
          <p:nvPr/>
        </p:nvSpPr>
        <p:spPr>
          <a:xfrm>
            <a:off x="81740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EF84E7-1228-F042-9250-F335AB3E4B55}"/>
              </a:ext>
            </a:extLst>
          </p:cNvPr>
          <p:cNvSpPr/>
          <p:nvPr/>
        </p:nvSpPr>
        <p:spPr>
          <a:xfrm>
            <a:off x="6350000" y="42878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96EA69-3FE3-8F4E-9747-710C78BFFBBB}"/>
              </a:ext>
            </a:extLst>
          </p:cNvPr>
          <p:cNvSpPr/>
          <p:nvPr/>
        </p:nvSpPr>
        <p:spPr>
          <a:xfrm>
            <a:off x="8631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081F2B-952A-1C42-B05B-DE709A700618}"/>
              </a:ext>
            </a:extLst>
          </p:cNvPr>
          <p:cNvSpPr/>
          <p:nvPr/>
        </p:nvSpPr>
        <p:spPr>
          <a:xfrm>
            <a:off x="6350000" y="3830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08EC4A-4B4C-814F-B3EC-86E5A2B11665}"/>
              </a:ext>
            </a:extLst>
          </p:cNvPr>
          <p:cNvSpPr/>
          <p:nvPr/>
        </p:nvSpPr>
        <p:spPr>
          <a:xfrm>
            <a:off x="90884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C3963B-62E3-A341-B1DE-2409E735C3FF}"/>
              </a:ext>
            </a:extLst>
          </p:cNvPr>
          <p:cNvSpPr/>
          <p:nvPr/>
        </p:nvSpPr>
        <p:spPr>
          <a:xfrm>
            <a:off x="6350000" y="33734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1C4CF2-F5F0-4F42-BE5C-5AA349F16023}"/>
              </a:ext>
            </a:extLst>
          </p:cNvPr>
          <p:cNvSpPr/>
          <p:nvPr/>
        </p:nvSpPr>
        <p:spPr>
          <a:xfrm>
            <a:off x="95456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1032F6C-B0D8-EF43-B986-A7377835B5F2}"/>
              </a:ext>
            </a:extLst>
          </p:cNvPr>
          <p:cNvSpPr/>
          <p:nvPr/>
        </p:nvSpPr>
        <p:spPr>
          <a:xfrm>
            <a:off x="6350000" y="29162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5CCD556-C8F2-9F4F-9F33-C3C934B020D5}"/>
              </a:ext>
            </a:extLst>
          </p:cNvPr>
          <p:cNvSpPr/>
          <p:nvPr/>
        </p:nvSpPr>
        <p:spPr>
          <a:xfrm>
            <a:off x="100028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3E512FB-E498-6B41-B147-E56E79E20D01}"/>
              </a:ext>
            </a:extLst>
          </p:cNvPr>
          <p:cNvSpPr/>
          <p:nvPr/>
        </p:nvSpPr>
        <p:spPr>
          <a:xfrm>
            <a:off x="6350000" y="24590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B4F46BD-290C-994A-8EE4-6B9500C2856A}"/>
              </a:ext>
            </a:extLst>
          </p:cNvPr>
          <p:cNvSpPr/>
          <p:nvPr/>
        </p:nvSpPr>
        <p:spPr>
          <a:xfrm>
            <a:off x="104600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9AE30A2-12C6-D446-A98A-E4977629A5BD}"/>
              </a:ext>
            </a:extLst>
          </p:cNvPr>
          <p:cNvSpPr/>
          <p:nvPr/>
        </p:nvSpPr>
        <p:spPr>
          <a:xfrm>
            <a:off x="6350000" y="20018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287E40-EFC7-644B-9638-49503A5ADEC1}"/>
              </a:ext>
            </a:extLst>
          </p:cNvPr>
          <p:cNvSpPr/>
          <p:nvPr/>
        </p:nvSpPr>
        <p:spPr>
          <a:xfrm>
            <a:off x="10917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674F4BB-5047-D84C-9701-2FA9D4042777}"/>
              </a:ext>
            </a:extLst>
          </p:cNvPr>
          <p:cNvSpPr/>
          <p:nvPr/>
        </p:nvSpPr>
        <p:spPr>
          <a:xfrm>
            <a:off x="6350000" y="1544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261008-0F91-E14F-AD23-0BB9CEA4D9B3}"/>
              </a:ext>
            </a:extLst>
          </p:cNvPr>
          <p:cNvSpPr/>
          <p:nvPr/>
        </p:nvSpPr>
        <p:spPr>
          <a:xfrm>
            <a:off x="6350000" y="1549400"/>
            <a:ext cx="4572000" cy="4572000"/>
          </a:xfrm>
          <a:prstGeom prst="rect">
            <a:avLst/>
          </a:prstGeom>
          <a:noFill/>
          <a:ln w="15875" cap="flat" cmpd="sng" algn="ctr">
            <a:solidFill>
              <a:srgbClr val="8080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0609C8-9B7C-3D45-A72D-A8E61DED6CC2}"/>
              </a:ext>
            </a:extLst>
          </p:cNvPr>
          <p:cNvSpPr txBox="1"/>
          <p:nvPr/>
        </p:nvSpPr>
        <p:spPr>
          <a:xfrm>
            <a:off x="61722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73EC447-FC12-4D43-B535-29C022E5392B}"/>
              </a:ext>
            </a:extLst>
          </p:cNvPr>
          <p:cNvSpPr txBox="1"/>
          <p:nvPr/>
        </p:nvSpPr>
        <p:spPr>
          <a:xfrm>
            <a:off x="5892800" y="60198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1E494E-4545-F142-B863-CEE13AE934C0}"/>
              </a:ext>
            </a:extLst>
          </p:cNvPr>
          <p:cNvSpPr txBox="1"/>
          <p:nvPr/>
        </p:nvSpPr>
        <p:spPr>
          <a:xfrm>
            <a:off x="70866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67D295-D3B4-964D-AA92-8275CDD8F7B1}"/>
              </a:ext>
            </a:extLst>
          </p:cNvPr>
          <p:cNvSpPr txBox="1"/>
          <p:nvPr/>
        </p:nvSpPr>
        <p:spPr>
          <a:xfrm>
            <a:off x="5892800" y="51054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3A827F-C388-134F-9DB8-56447C66E920}"/>
              </a:ext>
            </a:extLst>
          </p:cNvPr>
          <p:cNvSpPr txBox="1"/>
          <p:nvPr/>
        </p:nvSpPr>
        <p:spPr>
          <a:xfrm>
            <a:off x="80010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43967A-056A-C544-9D62-256A6B435C0B}"/>
              </a:ext>
            </a:extLst>
          </p:cNvPr>
          <p:cNvSpPr txBox="1"/>
          <p:nvPr/>
        </p:nvSpPr>
        <p:spPr>
          <a:xfrm>
            <a:off x="5892800" y="41910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079FA8D-D22F-0D4F-985E-7D74BBE53D76}"/>
              </a:ext>
            </a:extLst>
          </p:cNvPr>
          <p:cNvSpPr txBox="1"/>
          <p:nvPr/>
        </p:nvSpPr>
        <p:spPr>
          <a:xfrm>
            <a:off x="89154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D469EA-43AA-EF48-B44D-DCE237F1C6C0}"/>
              </a:ext>
            </a:extLst>
          </p:cNvPr>
          <p:cNvSpPr txBox="1"/>
          <p:nvPr/>
        </p:nvSpPr>
        <p:spPr>
          <a:xfrm>
            <a:off x="5892800" y="32766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885917-8B36-E243-9104-01832FBF0DBB}"/>
              </a:ext>
            </a:extLst>
          </p:cNvPr>
          <p:cNvSpPr txBox="1"/>
          <p:nvPr/>
        </p:nvSpPr>
        <p:spPr>
          <a:xfrm>
            <a:off x="98298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60C374F-552A-6B4B-8F32-3667663F4544}"/>
              </a:ext>
            </a:extLst>
          </p:cNvPr>
          <p:cNvSpPr txBox="1"/>
          <p:nvPr/>
        </p:nvSpPr>
        <p:spPr>
          <a:xfrm>
            <a:off x="5892800" y="23622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D1BF4B9-8F59-3F47-BB8D-ACD20C11EB8E}"/>
              </a:ext>
            </a:extLst>
          </p:cNvPr>
          <p:cNvSpPr txBox="1"/>
          <p:nvPr/>
        </p:nvSpPr>
        <p:spPr>
          <a:xfrm>
            <a:off x="107442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D61F85D-327B-894E-9341-D53120BF4AAE}"/>
              </a:ext>
            </a:extLst>
          </p:cNvPr>
          <p:cNvSpPr txBox="1"/>
          <p:nvPr/>
        </p:nvSpPr>
        <p:spPr>
          <a:xfrm>
            <a:off x="5892800" y="14478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10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8DF986F-9C23-854A-92CA-0C859710AF67}"/>
              </a:ext>
            </a:extLst>
          </p:cNvPr>
          <p:cNvSpPr/>
          <p:nvPr/>
        </p:nvSpPr>
        <p:spPr>
          <a:xfrm>
            <a:off x="6946900" y="2603500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98DE4C1-5A39-134E-BBC4-869BBAAFB377}"/>
              </a:ext>
            </a:extLst>
          </p:cNvPr>
          <p:cNvSpPr/>
          <p:nvPr/>
        </p:nvSpPr>
        <p:spPr>
          <a:xfrm>
            <a:off x="7266940" y="2192019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7BA0042-0A97-9747-94D7-94FCD6316AA5}"/>
              </a:ext>
            </a:extLst>
          </p:cNvPr>
          <p:cNvSpPr/>
          <p:nvPr/>
        </p:nvSpPr>
        <p:spPr>
          <a:xfrm>
            <a:off x="6718300" y="3014979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92EEAFA-E90C-B041-98BD-BDE91B9617C6}"/>
              </a:ext>
            </a:extLst>
          </p:cNvPr>
          <p:cNvSpPr/>
          <p:nvPr/>
        </p:nvSpPr>
        <p:spPr>
          <a:xfrm>
            <a:off x="7541259" y="274066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786B0AC-F100-524F-A715-AE650DB55D59}"/>
              </a:ext>
            </a:extLst>
          </p:cNvPr>
          <p:cNvSpPr/>
          <p:nvPr/>
        </p:nvSpPr>
        <p:spPr>
          <a:xfrm>
            <a:off x="9827260" y="228346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80975C4-EF04-5F4A-ACBD-C814FC705A8C}"/>
              </a:ext>
            </a:extLst>
          </p:cNvPr>
          <p:cNvSpPr/>
          <p:nvPr/>
        </p:nvSpPr>
        <p:spPr>
          <a:xfrm>
            <a:off x="10193020" y="264922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74CA5B4-4AD9-FA44-BF5A-E9802DA1423B}"/>
              </a:ext>
            </a:extLst>
          </p:cNvPr>
          <p:cNvSpPr/>
          <p:nvPr/>
        </p:nvSpPr>
        <p:spPr>
          <a:xfrm>
            <a:off x="9552940" y="292354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10FF9B4-F892-AD47-B6E6-6E60E6327E34}"/>
              </a:ext>
            </a:extLst>
          </p:cNvPr>
          <p:cNvSpPr/>
          <p:nvPr/>
        </p:nvSpPr>
        <p:spPr>
          <a:xfrm>
            <a:off x="10330180" y="2100579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B52F983-1B18-9547-A548-29890A2B452B}"/>
              </a:ext>
            </a:extLst>
          </p:cNvPr>
          <p:cNvSpPr/>
          <p:nvPr/>
        </p:nvSpPr>
        <p:spPr>
          <a:xfrm>
            <a:off x="8181340" y="520954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ADC0C30-6C2D-7A4E-84D6-17E8A9204D3D}"/>
              </a:ext>
            </a:extLst>
          </p:cNvPr>
          <p:cNvSpPr/>
          <p:nvPr/>
        </p:nvSpPr>
        <p:spPr>
          <a:xfrm>
            <a:off x="8547100" y="484378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1DE612B-C035-0E43-AC45-E3FD12DF9AB3}"/>
              </a:ext>
            </a:extLst>
          </p:cNvPr>
          <p:cNvSpPr/>
          <p:nvPr/>
        </p:nvSpPr>
        <p:spPr>
          <a:xfrm>
            <a:off x="7907020" y="5483860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B50664A-416E-414F-A08A-B6D9F8E73955}"/>
              </a:ext>
            </a:extLst>
          </p:cNvPr>
          <p:cNvSpPr/>
          <p:nvPr/>
        </p:nvSpPr>
        <p:spPr>
          <a:xfrm>
            <a:off x="8821419" y="530098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5-Point Star 52">
            <a:extLst>
              <a:ext uri="{FF2B5EF4-FFF2-40B4-BE49-F238E27FC236}">
                <a16:creationId xmlns:a16="http://schemas.microsoft.com/office/drawing/2014/main" id="{F892AE73-B5DA-1B4E-A2E2-E75268B8A60D}"/>
              </a:ext>
            </a:extLst>
          </p:cNvPr>
          <p:cNvSpPr/>
          <p:nvPr/>
        </p:nvSpPr>
        <p:spPr>
          <a:xfrm>
            <a:off x="7785100" y="3898900"/>
            <a:ext cx="330200" cy="330200"/>
          </a:xfrm>
          <a:prstGeom prst="star5">
            <a:avLst/>
          </a:prstGeom>
          <a:solidFill>
            <a:srgbClr val="4B2E83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5-Point Star 53">
            <a:extLst>
              <a:ext uri="{FF2B5EF4-FFF2-40B4-BE49-F238E27FC236}">
                <a16:creationId xmlns:a16="http://schemas.microsoft.com/office/drawing/2014/main" id="{91454927-5E3C-CE4B-A7E6-9F031A4254A3}"/>
              </a:ext>
            </a:extLst>
          </p:cNvPr>
          <p:cNvSpPr/>
          <p:nvPr/>
        </p:nvSpPr>
        <p:spPr>
          <a:xfrm>
            <a:off x="8242300" y="3441700"/>
            <a:ext cx="330200" cy="330200"/>
          </a:xfrm>
          <a:prstGeom prst="star5">
            <a:avLst/>
          </a:prstGeom>
          <a:solidFill>
            <a:srgbClr val="00A7B5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5-Point Star 54">
            <a:extLst>
              <a:ext uri="{FF2B5EF4-FFF2-40B4-BE49-F238E27FC236}">
                <a16:creationId xmlns:a16="http://schemas.microsoft.com/office/drawing/2014/main" id="{ACB011EC-7490-9A4E-BED5-8E60955427A2}"/>
              </a:ext>
            </a:extLst>
          </p:cNvPr>
          <p:cNvSpPr/>
          <p:nvPr/>
        </p:nvSpPr>
        <p:spPr>
          <a:xfrm>
            <a:off x="8699500" y="4127500"/>
            <a:ext cx="330200" cy="330200"/>
          </a:xfrm>
          <a:prstGeom prst="star5">
            <a:avLst/>
          </a:prstGeom>
          <a:solidFill>
            <a:srgbClr val="7AB648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C54D5D5-E5E6-BF47-9241-AD844D65D6E9}"/>
              </a:ext>
            </a:extLst>
          </p:cNvPr>
          <p:cNvSpPr txBox="1"/>
          <p:nvPr/>
        </p:nvSpPr>
        <p:spPr>
          <a:xfrm>
            <a:off x="609600" y="1930400"/>
            <a:ext cx="5207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4B2E83"/>
                </a:solidFill>
              </a:rPr>
              <a:t>Step 1 · Assignment (iteration 1)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8217B1B-333F-8044-BF4F-407BF4552CC4}"/>
              </a:ext>
            </a:extLst>
          </p:cNvPr>
          <p:cNvSpPr txBox="1"/>
          <p:nvPr/>
        </p:nvSpPr>
        <p:spPr>
          <a:xfrm>
            <a:off x="609600" y="2603500"/>
            <a:ext cx="52070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Assign each point to its nearest centroid:  cᵢ = argminₖ ‖xᵢ − </a:t>
            </a:r>
            <a:r>
              <a:rPr lang="el-GR" sz="1600">
                <a:solidFill>
                  <a:srgbClr val="333333"/>
                </a:solidFill>
              </a:rPr>
              <a:t>μ</a:t>
            </a:r>
            <a:r>
              <a:rPr lang="en-US" sz="1600">
                <a:solidFill>
                  <a:srgbClr val="333333"/>
                </a:solidFill>
              </a:rPr>
              <a:t>ₖ‖².  Point colours now show the current cluster membership.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3662C5C-273F-C14B-9968-859462D1BEED}"/>
              </a:ext>
            </a:extLst>
          </p:cNvPr>
          <p:cNvSpPr/>
          <p:nvPr/>
        </p:nvSpPr>
        <p:spPr>
          <a:xfrm>
            <a:off x="711200" y="4800600"/>
            <a:ext cx="203200" cy="203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E9B4462-20B8-8F42-8C94-08777CD65D56}"/>
              </a:ext>
            </a:extLst>
          </p:cNvPr>
          <p:cNvSpPr txBox="1"/>
          <p:nvPr/>
        </p:nvSpPr>
        <p:spPr>
          <a:xfrm>
            <a:off x="1016000" y="4762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7E85EAA-FF3C-3146-BFAC-44191546345D}"/>
              </a:ext>
            </a:extLst>
          </p:cNvPr>
          <p:cNvSpPr/>
          <p:nvPr/>
        </p:nvSpPr>
        <p:spPr>
          <a:xfrm>
            <a:off x="711200" y="5181600"/>
            <a:ext cx="203200" cy="2032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93FD862-E8B4-C949-8319-E890792E250B}"/>
              </a:ext>
            </a:extLst>
          </p:cNvPr>
          <p:cNvSpPr txBox="1"/>
          <p:nvPr/>
        </p:nvSpPr>
        <p:spPr>
          <a:xfrm>
            <a:off x="1016000" y="5143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2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E13CC32-48A7-884B-8E65-42269723427D}"/>
              </a:ext>
            </a:extLst>
          </p:cNvPr>
          <p:cNvSpPr/>
          <p:nvPr/>
        </p:nvSpPr>
        <p:spPr>
          <a:xfrm>
            <a:off x="711200" y="5562600"/>
            <a:ext cx="203200" cy="2032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1822E29-E86E-514F-846D-9CD65E61FE85}"/>
              </a:ext>
            </a:extLst>
          </p:cNvPr>
          <p:cNvSpPr txBox="1"/>
          <p:nvPr/>
        </p:nvSpPr>
        <p:spPr>
          <a:xfrm>
            <a:off x="1016000" y="5524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3</a:t>
            </a:r>
          </a:p>
        </p:txBody>
      </p:sp>
      <p:sp>
        <p:nvSpPr>
          <p:cNvPr id="64" name="5-Point Star 63">
            <a:extLst>
              <a:ext uri="{FF2B5EF4-FFF2-40B4-BE49-F238E27FC236}">
                <a16:creationId xmlns:a16="http://schemas.microsoft.com/office/drawing/2014/main" id="{14F94029-0322-5141-80BB-63CC9561E8DD}"/>
              </a:ext>
            </a:extLst>
          </p:cNvPr>
          <p:cNvSpPr/>
          <p:nvPr/>
        </p:nvSpPr>
        <p:spPr>
          <a:xfrm>
            <a:off x="698500" y="5943600"/>
            <a:ext cx="228600" cy="228600"/>
          </a:xfrm>
          <a:prstGeom prst="star5">
            <a:avLst/>
          </a:prstGeom>
          <a:solidFill>
            <a:srgbClr val="595959"/>
          </a:solidFill>
          <a:ln w="12700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B787C6D-DB5B-B849-9E8D-D8408BD94326}"/>
              </a:ext>
            </a:extLst>
          </p:cNvPr>
          <p:cNvSpPr txBox="1"/>
          <p:nvPr/>
        </p:nvSpPr>
        <p:spPr>
          <a:xfrm>
            <a:off x="1016000" y="5905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Centroid (cluster mean)</a:t>
            </a:r>
          </a:p>
        </p:txBody>
      </p:sp>
    </p:spTree>
    <p:extLst>
      <p:ext uri="{BB962C8B-B14F-4D97-AF65-F5344CB8AC3E}">
        <p14:creationId xmlns:p14="http://schemas.microsoft.com/office/powerpoint/2010/main" val="1581755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3A1CE-2C78-1D49-A4F7-25ADF318F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Lloyd's Algorithm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1DC363-8A49-BE41-BE00-9F9D2EE1E25C}"/>
              </a:ext>
            </a:extLst>
          </p:cNvPr>
          <p:cNvSpPr/>
          <p:nvPr/>
        </p:nvSpPr>
        <p:spPr>
          <a:xfrm>
            <a:off x="6350000" y="1549400"/>
            <a:ext cx="4572000" cy="457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6149D7-E250-294B-BAC9-1BB430D20A94}"/>
              </a:ext>
            </a:extLst>
          </p:cNvPr>
          <p:cNvSpPr/>
          <p:nvPr/>
        </p:nvSpPr>
        <p:spPr>
          <a:xfrm>
            <a:off x="6345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560CC2-9146-CD46-A58D-20E7E620BD35}"/>
              </a:ext>
            </a:extLst>
          </p:cNvPr>
          <p:cNvSpPr/>
          <p:nvPr/>
        </p:nvSpPr>
        <p:spPr>
          <a:xfrm>
            <a:off x="6350000" y="6116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CB8DD9-2F11-6E44-898D-4BC427DF34D1}"/>
              </a:ext>
            </a:extLst>
          </p:cNvPr>
          <p:cNvSpPr/>
          <p:nvPr/>
        </p:nvSpPr>
        <p:spPr>
          <a:xfrm>
            <a:off x="68024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B48FE5-3918-F344-A7AD-CA90C6D04A96}"/>
              </a:ext>
            </a:extLst>
          </p:cNvPr>
          <p:cNvSpPr/>
          <p:nvPr/>
        </p:nvSpPr>
        <p:spPr>
          <a:xfrm>
            <a:off x="6350000" y="56594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A1D58F-61A8-654A-AFE5-16359FCF00D0}"/>
              </a:ext>
            </a:extLst>
          </p:cNvPr>
          <p:cNvSpPr/>
          <p:nvPr/>
        </p:nvSpPr>
        <p:spPr>
          <a:xfrm>
            <a:off x="72596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7E9639-1C49-0C4F-8935-D44DFFC5E4E1}"/>
              </a:ext>
            </a:extLst>
          </p:cNvPr>
          <p:cNvSpPr/>
          <p:nvPr/>
        </p:nvSpPr>
        <p:spPr>
          <a:xfrm>
            <a:off x="6350000" y="52022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FB7241-2E59-FA42-9F71-E9BAD2762F20}"/>
              </a:ext>
            </a:extLst>
          </p:cNvPr>
          <p:cNvSpPr/>
          <p:nvPr/>
        </p:nvSpPr>
        <p:spPr>
          <a:xfrm>
            <a:off x="77168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C1EEB4-27C2-FE4E-94B7-FA91FE4DEDBA}"/>
              </a:ext>
            </a:extLst>
          </p:cNvPr>
          <p:cNvSpPr/>
          <p:nvPr/>
        </p:nvSpPr>
        <p:spPr>
          <a:xfrm>
            <a:off x="6350000" y="47450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402062-1471-3248-9A5C-C1F5C4290B49}"/>
              </a:ext>
            </a:extLst>
          </p:cNvPr>
          <p:cNvSpPr/>
          <p:nvPr/>
        </p:nvSpPr>
        <p:spPr>
          <a:xfrm>
            <a:off x="81740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A34F3C-5ED1-7549-B4C2-42BC8ABC08EC}"/>
              </a:ext>
            </a:extLst>
          </p:cNvPr>
          <p:cNvSpPr/>
          <p:nvPr/>
        </p:nvSpPr>
        <p:spPr>
          <a:xfrm>
            <a:off x="6350000" y="42878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CE1B08-4AF9-4544-B083-953A07A97C79}"/>
              </a:ext>
            </a:extLst>
          </p:cNvPr>
          <p:cNvSpPr/>
          <p:nvPr/>
        </p:nvSpPr>
        <p:spPr>
          <a:xfrm>
            <a:off x="8631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60BABF-7EC4-EF48-817D-C0FB16BC0EBF}"/>
              </a:ext>
            </a:extLst>
          </p:cNvPr>
          <p:cNvSpPr/>
          <p:nvPr/>
        </p:nvSpPr>
        <p:spPr>
          <a:xfrm>
            <a:off x="6350000" y="3830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2AC487-52F0-AE4B-B69D-32914479C4BE}"/>
              </a:ext>
            </a:extLst>
          </p:cNvPr>
          <p:cNvSpPr/>
          <p:nvPr/>
        </p:nvSpPr>
        <p:spPr>
          <a:xfrm>
            <a:off x="90884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729367-620F-7C41-8C6F-6CDC149D53DE}"/>
              </a:ext>
            </a:extLst>
          </p:cNvPr>
          <p:cNvSpPr/>
          <p:nvPr/>
        </p:nvSpPr>
        <p:spPr>
          <a:xfrm>
            <a:off x="6350000" y="33734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FDF7D1-935D-BF4A-8D90-DC8E194CF7BF}"/>
              </a:ext>
            </a:extLst>
          </p:cNvPr>
          <p:cNvSpPr/>
          <p:nvPr/>
        </p:nvSpPr>
        <p:spPr>
          <a:xfrm>
            <a:off x="95456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271AB2-3FDB-8D43-837C-EA5C43178AC5}"/>
              </a:ext>
            </a:extLst>
          </p:cNvPr>
          <p:cNvSpPr/>
          <p:nvPr/>
        </p:nvSpPr>
        <p:spPr>
          <a:xfrm>
            <a:off x="6350000" y="29162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311A091-E804-9341-8604-E4ADC3B76300}"/>
              </a:ext>
            </a:extLst>
          </p:cNvPr>
          <p:cNvSpPr/>
          <p:nvPr/>
        </p:nvSpPr>
        <p:spPr>
          <a:xfrm>
            <a:off x="100028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4AFEAA-1160-D449-B843-6D8804D7ADED}"/>
              </a:ext>
            </a:extLst>
          </p:cNvPr>
          <p:cNvSpPr/>
          <p:nvPr/>
        </p:nvSpPr>
        <p:spPr>
          <a:xfrm>
            <a:off x="6350000" y="24590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02CEB9A-4242-F64C-A696-BC1BBD521CE3}"/>
              </a:ext>
            </a:extLst>
          </p:cNvPr>
          <p:cNvSpPr/>
          <p:nvPr/>
        </p:nvSpPr>
        <p:spPr>
          <a:xfrm>
            <a:off x="104600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4E09ED0-A2DA-DB4A-8AE4-1E9E60A8ADF5}"/>
              </a:ext>
            </a:extLst>
          </p:cNvPr>
          <p:cNvSpPr/>
          <p:nvPr/>
        </p:nvSpPr>
        <p:spPr>
          <a:xfrm>
            <a:off x="6350000" y="20018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E2C02C0-4504-334E-BB67-35C839F02449}"/>
              </a:ext>
            </a:extLst>
          </p:cNvPr>
          <p:cNvSpPr/>
          <p:nvPr/>
        </p:nvSpPr>
        <p:spPr>
          <a:xfrm>
            <a:off x="10917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63525FD-ECD4-C441-A71E-709A0ECBA316}"/>
              </a:ext>
            </a:extLst>
          </p:cNvPr>
          <p:cNvSpPr/>
          <p:nvPr/>
        </p:nvSpPr>
        <p:spPr>
          <a:xfrm>
            <a:off x="6350000" y="1544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E9B6321-6F20-8A4F-8BBD-8B5D49340BE9}"/>
              </a:ext>
            </a:extLst>
          </p:cNvPr>
          <p:cNvSpPr/>
          <p:nvPr/>
        </p:nvSpPr>
        <p:spPr>
          <a:xfrm>
            <a:off x="6350000" y="1549400"/>
            <a:ext cx="4572000" cy="4572000"/>
          </a:xfrm>
          <a:prstGeom prst="rect">
            <a:avLst/>
          </a:prstGeom>
          <a:noFill/>
          <a:ln w="15875" cap="flat" cmpd="sng" algn="ctr">
            <a:solidFill>
              <a:srgbClr val="8080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C8AAB6-6D28-244D-8DC9-87394D019C78}"/>
              </a:ext>
            </a:extLst>
          </p:cNvPr>
          <p:cNvSpPr txBox="1"/>
          <p:nvPr/>
        </p:nvSpPr>
        <p:spPr>
          <a:xfrm>
            <a:off x="61722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ACC6B8B-C87A-9245-B029-52356703DB11}"/>
              </a:ext>
            </a:extLst>
          </p:cNvPr>
          <p:cNvSpPr txBox="1"/>
          <p:nvPr/>
        </p:nvSpPr>
        <p:spPr>
          <a:xfrm>
            <a:off x="5892800" y="60198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82C916-6A8F-6B40-BE30-6AB137DA959C}"/>
              </a:ext>
            </a:extLst>
          </p:cNvPr>
          <p:cNvSpPr txBox="1"/>
          <p:nvPr/>
        </p:nvSpPr>
        <p:spPr>
          <a:xfrm>
            <a:off x="70866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573A22-810E-D54F-A1FD-B225F2D4B98A}"/>
              </a:ext>
            </a:extLst>
          </p:cNvPr>
          <p:cNvSpPr txBox="1"/>
          <p:nvPr/>
        </p:nvSpPr>
        <p:spPr>
          <a:xfrm>
            <a:off x="5892800" y="51054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AE62E23-E94F-CE40-80EA-05CAC9A9E5F7}"/>
              </a:ext>
            </a:extLst>
          </p:cNvPr>
          <p:cNvSpPr txBox="1"/>
          <p:nvPr/>
        </p:nvSpPr>
        <p:spPr>
          <a:xfrm>
            <a:off x="80010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E82457-DFFD-9943-B014-8C94FAA93F38}"/>
              </a:ext>
            </a:extLst>
          </p:cNvPr>
          <p:cNvSpPr txBox="1"/>
          <p:nvPr/>
        </p:nvSpPr>
        <p:spPr>
          <a:xfrm>
            <a:off x="5892800" y="41910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2F4E732-744B-444C-949E-0C0AE6D0DB0E}"/>
              </a:ext>
            </a:extLst>
          </p:cNvPr>
          <p:cNvSpPr txBox="1"/>
          <p:nvPr/>
        </p:nvSpPr>
        <p:spPr>
          <a:xfrm>
            <a:off x="89154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B42E5D-D599-2D49-9E00-2EE3BB8CD017}"/>
              </a:ext>
            </a:extLst>
          </p:cNvPr>
          <p:cNvSpPr txBox="1"/>
          <p:nvPr/>
        </p:nvSpPr>
        <p:spPr>
          <a:xfrm>
            <a:off x="5892800" y="32766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95DCC89-0490-F047-9239-2ECA5734533A}"/>
              </a:ext>
            </a:extLst>
          </p:cNvPr>
          <p:cNvSpPr txBox="1"/>
          <p:nvPr/>
        </p:nvSpPr>
        <p:spPr>
          <a:xfrm>
            <a:off x="98298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FC103E-F858-7C4B-8417-1A8DBF767745}"/>
              </a:ext>
            </a:extLst>
          </p:cNvPr>
          <p:cNvSpPr txBox="1"/>
          <p:nvPr/>
        </p:nvSpPr>
        <p:spPr>
          <a:xfrm>
            <a:off x="5892800" y="23622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49D5F9-4B3D-884A-9710-4FCA1340F81F}"/>
              </a:ext>
            </a:extLst>
          </p:cNvPr>
          <p:cNvSpPr txBox="1"/>
          <p:nvPr/>
        </p:nvSpPr>
        <p:spPr>
          <a:xfrm>
            <a:off x="107442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9C4678-E799-9144-A456-1DA29F076E47}"/>
              </a:ext>
            </a:extLst>
          </p:cNvPr>
          <p:cNvSpPr txBox="1"/>
          <p:nvPr/>
        </p:nvSpPr>
        <p:spPr>
          <a:xfrm>
            <a:off x="5892800" y="14478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10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E09B69F-1153-B94B-A5AD-E4FB4849487E}"/>
              </a:ext>
            </a:extLst>
          </p:cNvPr>
          <p:cNvSpPr/>
          <p:nvPr/>
        </p:nvSpPr>
        <p:spPr>
          <a:xfrm>
            <a:off x="6946900" y="2603500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E89BFB0-7624-8140-BF45-9F295B578806}"/>
              </a:ext>
            </a:extLst>
          </p:cNvPr>
          <p:cNvSpPr/>
          <p:nvPr/>
        </p:nvSpPr>
        <p:spPr>
          <a:xfrm>
            <a:off x="7266940" y="2192019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045E11C-8BD8-AF46-8407-77A2FC55B3FC}"/>
              </a:ext>
            </a:extLst>
          </p:cNvPr>
          <p:cNvSpPr/>
          <p:nvPr/>
        </p:nvSpPr>
        <p:spPr>
          <a:xfrm>
            <a:off x="6718300" y="3014979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FA50C4E-A151-844E-A5FE-5DCD97A883F4}"/>
              </a:ext>
            </a:extLst>
          </p:cNvPr>
          <p:cNvSpPr/>
          <p:nvPr/>
        </p:nvSpPr>
        <p:spPr>
          <a:xfrm>
            <a:off x="7541259" y="274066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935D2E4-E218-FF43-BDCC-B3C3FFE4CE75}"/>
              </a:ext>
            </a:extLst>
          </p:cNvPr>
          <p:cNvSpPr/>
          <p:nvPr/>
        </p:nvSpPr>
        <p:spPr>
          <a:xfrm>
            <a:off x="9827260" y="228346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980889A-3F6D-1145-83CE-788726B02E45}"/>
              </a:ext>
            </a:extLst>
          </p:cNvPr>
          <p:cNvSpPr/>
          <p:nvPr/>
        </p:nvSpPr>
        <p:spPr>
          <a:xfrm>
            <a:off x="10193020" y="264922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026CD77-640D-6046-98CF-00D9B16A9723}"/>
              </a:ext>
            </a:extLst>
          </p:cNvPr>
          <p:cNvSpPr/>
          <p:nvPr/>
        </p:nvSpPr>
        <p:spPr>
          <a:xfrm>
            <a:off x="9552940" y="292354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5E8A4C5-EDD0-B340-9491-C477DA33B7F6}"/>
              </a:ext>
            </a:extLst>
          </p:cNvPr>
          <p:cNvSpPr/>
          <p:nvPr/>
        </p:nvSpPr>
        <p:spPr>
          <a:xfrm>
            <a:off x="10330180" y="2100579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1725189-1441-3247-8ADF-D5133BF43B94}"/>
              </a:ext>
            </a:extLst>
          </p:cNvPr>
          <p:cNvSpPr/>
          <p:nvPr/>
        </p:nvSpPr>
        <p:spPr>
          <a:xfrm>
            <a:off x="8181340" y="520954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5AE0639-7B8C-3A46-AF68-F18BA6BBC30F}"/>
              </a:ext>
            </a:extLst>
          </p:cNvPr>
          <p:cNvSpPr/>
          <p:nvPr/>
        </p:nvSpPr>
        <p:spPr>
          <a:xfrm>
            <a:off x="8547100" y="484378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B332F95-E541-8947-99A3-797539C10C86}"/>
              </a:ext>
            </a:extLst>
          </p:cNvPr>
          <p:cNvSpPr/>
          <p:nvPr/>
        </p:nvSpPr>
        <p:spPr>
          <a:xfrm>
            <a:off x="7907020" y="5483860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27CFCCB-EA31-7940-BCDD-52C1F25FA0FE}"/>
              </a:ext>
            </a:extLst>
          </p:cNvPr>
          <p:cNvSpPr/>
          <p:nvPr/>
        </p:nvSpPr>
        <p:spPr>
          <a:xfrm>
            <a:off x="8821419" y="530098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5-Point Star 52">
            <a:extLst>
              <a:ext uri="{FF2B5EF4-FFF2-40B4-BE49-F238E27FC236}">
                <a16:creationId xmlns:a16="http://schemas.microsoft.com/office/drawing/2014/main" id="{14ABBE81-CB2F-274A-819A-814A09852AFC}"/>
              </a:ext>
            </a:extLst>
          </p:cNvPr>
          <p:cNvSpPr/>
          <p:nvPr/>
        </p:nvSpPr>
        <p:spPr>
          <a:xfrm>
            <a:off x="7810500" y="3924300"/>
            <a:ext cx="279400" cy="279400"/>
          </a:xfrm>
          <a:prstGeom prst="star5">
            <a:avLst/>
          </a:prstGeom>
          <a:solidFill>
            <a:srgbClr val="F2F2F2"/>
          </a:solidFill>
          <a:ln w="12700" cap="flat" cmpd="sng" algn="ctr">
            <a:solidFill>
              <a:srgbClr val="9A9A9A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5-Point Star 53">
            <a:extLst>
              <a:ext uri="{FF2B5EF4-FFF2-40B4-BE49-F238E27FC236}">
                <a16:creationId xmlns:a16="http://schemas.microsoft.com/office/drawing/2014/main" id="{C1E0359A-FA84-254C-B550-4270DE4B3452}"/>
              </a:ext>
            </a:extLst>
          </p:cNvPr>
          <p:cNvSpPr/>
          <p:nvPr/>
        </p:nvSpPr>
        <p:spPr>
          <a:xfrm>
            <a:off x="8267700" y="3467100"/>
            <a:ext cx="279400" cy="279400"/>
          </a:xfrm>
          <a:prstGeom prst="star5">
            <a:avLst/>
          </a:prstGeom>
          <a:solidFill>
            <a:srgbClr val="F2F2F2"/>
          </a:solidFill>
          <a:ln w="12700" cap="flat" cmpd="sng" algn="ctr">
            <a:solidFill>
              <a:srgbClr val="9A9A9A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5-Point Star 54">
            <a:extLst>
              <a:ext uri="{FF2B5EF4-FFF2-40B4-BE49-F238E27FC236}">
                <a16:creationId xmlns:a16="http://schemas.microsoft.com/office/drawing/2014/main" id="{5046A891-C3E7-0C40-8495-AFA443BB5400}"/>
              </a:ext>
            </a:extLst>
          </p:cNvPr>
          <p:cNvSpPr/>
          <p:nvPr/>
        </p:nvSpPr>
        <p:spPr>
          <a:xfrm>
            <a:off x="8724900" y="4152900"/>
            <a:ext cx="279400" cy="279400"/>
          </a:xfrm>
          <a:prstGeom prst="star5">
            <a:avLst/>
          </a:prstGeom>
          <a:solidFill>
            <a:srgbClr val="F2F2F2"/>
          </a:solidFill>
          <a:ln w="12700" cap="flat" cmpd="sng" algn="ctr">
            <a:solidFill>
              <a:srgbClr val="9A9A9A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5-Point Star 55">
            <a:extLst>
              <a:ext uri="{FF2B5EF4-FFF2-40B4-BE49-F238E27FC236}">
                <a16:creationId xmlns:a16="http://schemas.microsoft.com/office/drawing/2014/main" id="{16018D0A-73D6-934E-86D9-4858D0FA8CD8}"/>
              </a:ext>
            </a:extLst>
          </p:cNvPr>
          <p:cNvSpPr/>
          <p:nvPr/>
        </p:nvSpPr>
        <p:spPr>
          <a:xfrm>
            <a:off x="7113016" y="3624579"/>
            <a:ext cx="330200" cy="330200"/>
          </a:xfrm>
          <a:prstGeom prst="star5">
            <a:avLst/>
          </a:prstGeom>
          <a:solidFill>
            <a:srgbClr val="4B2E83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7" name="5-Point Star 56">
            <a:extLst>
              <a:ext uri="{FF2B5EF4-FFF2-40B4-BE49-F238E27FC236}">
                <a16:creationId xmlns:a16="http://schemas.microsoft.com/office/drawing/2014/main" id="{F77DFE9D-310F-5C47-92CB-391395B89261}"/>
              </a:ext>
            </a:extLst>
          </p:cNvPr>
          <p:cNvSpPr/>
          <p:nvPr/>
        </p:nvSpPr>
        <p:spPr>
          <a:xfrm>
            <a:off x="9042400" y="2403856"/>
            <a:ext cx="330200" cy="330200"/>
          </a:xfrm>
          <a:prstGeom prst="star5">
            <a:avLst/>
          </a:prstGeom>
          <a:solidFill>
            <a:srgbClr val="00A7B5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5-Point Star 57">
            <a:extLst>
              <a:ext uri="{FF2B5EF4-FFF2-40B4-BE49-F238E27FC236}">
                <a16:creationId xmlns:a16="http://schemas.microsoft.com/office/drawing/2014/main" id="{C1CB0CCA-87DF-3A44-83D6-4D26CF53D781}"/>
              </a:ext>
            </a:extLst>
          </p:cNvPr>
          <p:cNvSpPr/>
          <p:nvPr/>
        </p:nvSpPr>
        <p:spPr>
          <a:xfrm>
            <a:off x="8438896" y="5041900"/>
            <a:ext cx="330200" cy="330200"/>
          </a:xfrm>
          <a:prstGeom prst="star5">
            <a:avLst/>
          </a:prstGeom>
          <a:solidFill>
            <a:srgbClr val="7AB648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6D4344E-D9B3-D245-91EF-ABDE90728AB7}"/>
              </a:ext>
            </a:extLst>
          </p:cNvPr>
          <p:cNvSpPr txBox="1"/>
          <p:nvPr/>
        </p:nvSpPr>
        <p:spPr>
          <a:xfrm>
            <a:off x="609600" y="1930400"/>
            <a:ext cx="5207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4B2E83"/>
                </a:solidFill>
              </a:rPr>
              <a:t>Step 2 · Update (iteration 1)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16AFB38-F04B-9849-A9FB-A31750094D59}"/>
              </a:ext>
            </a:extLst>
          </p:cNvPr>
          <p:cNvSpPr txBox="1"/>
          <p:nvPr/>
        </p:nvSpPr>
        <p:spPr>
          <a:xfrm>
            <a:off x="609600" y="2603500"/>
            <a:ext cx="52070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Move each centroid to the mean of its assigned points:  </a:t>
            </a:r>
            <a:r>
              <a:rPr lang="el-GR" sz="1600">
                <a:solidFill>
                  <a:srgbClr val="333333"/>
                </a:solidFill>
              </a:rPr>
              <a:t>μ</a:t>
            </a:r>
            <a:r>
              <a:rPr lang="en-US" sz="1600">
                <a:solidFill>
                  <a:srgbClr val="333333"/>
                </a:solidFill>
              </a:rPr>
              <a:t>ₖ = (1/|Cₖ|) </a:t>
            </a:r>
            <a:r>
              <a:rPr lang="el-GR" sz="1600">
                <a:solidFill>
                  <a:srgbClr val="333333"/>
                </a:solidFill>
              </a:rPr>
              <a:t>Σ </a:t>
            </a:r>
            <a:r>
              <a:rPr lang="en-US" sz="1600">
                <a:solidFill>
                  <a:srgbClr val="333333"/>
                </a:solidFill>
              </a:rPr>
              <a:t>xᵢ.  Hollow markers show the previous centroid positions.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2FEBE86-8B06-5F4F-A6C3-EA88A21D63AB}"/>
              </a:ext>
            </a:extLst>
          </p:cNvPr>
          <p:cNvSpPr/>
          <p:nvPr/>
        </p:nvSpPr>
        <p:spPr>
          <a:xfrm>
            <a:off x="711200" y="4724400"/>
            <a:ext cx="203200" cy="203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F09E1BF-A15B-3C44-9F80-47C812922471}"/>
              </a:ext>
            </a:extLst>
          </p:cNvPr>
          <p:cNvSpPr txBox="1"/>
          <p:nvPr/>
        </p:nvSpPr>
        <p:spPr>
          <a:xfrm>
            <a:off x="1016000" y="46863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1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E5937C7-BB70-444E-BAD1-14DED01F8898}"/>
              </a:ext>
            </a:extLst>
          </p:cNvPr>
          <p:cNvSpPr/>
          <p:nvPr/>
        </p:nvSpPr>
        <p:spPr>
          <a:xfrm>
            <a:off x="711200" y="5080000"/>
            <a:ext cx="203200" cy="2032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0D98524-6F7C-904D-A892-22BAC22A34DF}"/>
              </a:ext>
            </a:extLst>
          </p:cNvPr>
          <p:cNvSpPr txBox="1"/>
          <p:nvPr/>
        </p:nvSpPr>
        <p:spPr>
          <a:xfrm>
            <a:off x="1016000" y="50419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2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539DEE7-CC0C-9342-A243-518275ADE6C0}"/>
              </a:ext>
            </a:extLst>
          </p:cNvPr>
          <p:cNvSpPr/>
          <p:nvPr/>
        </p:nvSpPr>
        <p:spPr>
          <a:xfrm>
            <a:off x="711200" y="5435600"/>
            <a:ext cx="203200" cy="2032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D2C001B-42CD-C844-981D-B1219781482E}"/>
              </a:ext>
            </a:extLst>
          </p:cNvPr>
          <p:cNvSpPr txBox="1"/>
          <p:nvPr/>
        </p:nvSpPr>
        <p:spPr>
          <a:xfrm>
            <a:off x="1016000" y="5397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3</a:t>
            </a:r>
          </a:p>
        </p:txBody>
      </p:sp>
      <p:sp>
        <p:nvSpPr>
          <p:cNvPr id="67" name="5-Point Star 66">
            <a:extLst>
              <a:ext uri="{FF2B5EF4-FFF2-40B4-BE49-F238E27FC236}">
                <a16:creationId xmlns:a16="http://schemas.microsoft.com/office/drawing/2014/main" id="{8DCA6CE5-00DC-8840-8B87-2C971E75FB0F}"/>
              </a:ext>
            </a:extLst>
          </p:cNvPr>
          <p:cNvSpPr/>
          <p:nvPr/>
        </p:nvSpPr>
        <p:spPr>
          <a:xfrm>
            <a:off x="698500" y="5791200"/>
            <a:ext cx="228600" cy="228600"/>
          </a:xfrm>
          <a:prstGeom prst="star5">
            <a:avLst/>
          </a:prstGeom>
          <a:solidFill>
            <a:srgbClr val="595959"/>
          </a:solidFill>
          <a:ln w="12700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D535375-076C-CD4B-AAB9-4DE1C34BE9FF}"/>
              </a:ext>
            </a:extLst>
          </p:cNvPr>
          <p:cNvSpPr txBox="1"/>
          <p:nvPr/>
        </p:nvSpPr>
        <p:spPr>
          <a:xfrm>
            <a:off x="1016000" y="57531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New centroid</a:t>
            </a:r>
          </a:p>
        </p:txBody>
      </p:sp>
      <p:sp>
        <p:nvSpPr>
          <p:cNvPr id="69" name="5-Point Star 68">
            <a:extLst>
              <a:ext uri="{FF2B5EF4-FFF2-40B4-BE49-F238E27FC236}">
                <a16:creationId xmlns:a16="http://schemas.microsoft.com/office/drawing/2014/main" id="{D99A426B-422F-D34F-84BD-1A652C68E17F}"/>
              </a:ext>
            </a:extLst>
          </p:cNvPr>
          <p:cNvSpPr/>
          <p:nvPr/>
        </p:nvSpPr>
        <p:spPr>
          <a:xfrm>
            <a:off x="698500" y="6146800"/>
            <a:ext cx="228600" cy="228600"/>
          </a:xfrm>
          <a:prstGeom prst="star5">
            <a:avLst/>
          </a:prstGeom>
          <a:solidFill>
            <a:srgbClr val="F2F2F2"/>
          </a:solidFill>
          <a:ln w="12700" cap="flat" cmpd="sng" algn="ctr">
            <a:solidFill>
              <a:srgbClr val="9A9A9A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D838CBA-6812-1D4B-AAAA-48F9B786C9A3}"/>
              </a:ext>
            </a:extLst>
          </p:cNvPr>
          <p:cNvSpPr txBox="1"/>
          <p:nvPr/>
        </p:nvSpPr>
        <p:spPr>
          <a:xfrm>
            <a:off x="1016000" y="61087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Previous centroid</a:t>
            </a:r>
          </a:p>
        </p:txBody>
      </p:sp>
    </p:spTree>
    <p:extLst>
      <p:ext uri="{BB962C8B-B14F-4D97-AF65-F5344CB8AC3E}">
        <p14:creationId xmlns:p14="http://schemas.microsoft.com/office/powerpoint/2010/main" val="11335835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10B27-1D0A-3A69-4566-A9AC5669A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Lloyd's Algorithm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6D3E0D-8087-1341-9484-CFDE4DD98FE7}"/>
              </a:ext>
            </a:extLst>
          </p:cNvPr>
          <p:cNvSpPr/>
          <p:nvPr/>
        </p:nvSpPr>
        <p:spPr>
          <a:xfrm>
            <a:off x="6350000" y="1549400"/>
            <a:ext cx="4572000" cy="457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F9BF76-A76E-AE4E-9686-9BE5ED951636}"/>
              </a:ext>
            </a:extLst>
          </p:cNvPr>
          <p:cNvSpPr/>
          <p:nvPr/>
        </p:nvSpPr>
        <p:spPr>
          <a:xfrm>
            <a:off x="6345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BB4DD9-F467-B94D-9D79-2033813281AB}"/>
              </a:ext>
            </a:extLst>
          </p:cNvPr>
          <p:cNvSpPr/>
          <p:nvPr/>
        </p:nvSpPr>
        <p:spPr>
          <a:xfrm>
            <a:off x="6350000" y="6116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D72C31-8274-8E4F-A97A-84CB0DBE1AF9}"/>
              </a:ext>
            </a:extLst>
          </p:cNvPr>
          <p:cNvSpPr/>
          <p:nvPr/>
        </p:nvSpPr>
        <p:spPr>
          <a:xfrm>
            <a:off x="68024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8E2484-C3D1-854D-9B32-3F32A5A1D120}"/>
              </a:ext>
            </a:extLst>
          </p:cNvPr>
          <p:cNvSpPr/>
          <p:nvPr/>
        </p:nvSpPr>
        <p:spPr>
          <a:xfrm>
            <a:off x="6350000" y="56594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E26971-E8F1-E240-B0FA-50A5D7D109D1}"/>
              </a:ext>
            </a:extLst>
          </p:cNvPr>
          <p:cNvSpPr/>
          <p:nvPr/>
        </p:nvSpPr>
        <p:spPr>
          <a:xfrm>
            <a:off x="72596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FBFF4B-5F09-6A4B-9581-D0BA3CB39DB0}"/>
              </a:ext>
            </a:extLst>
          </p:cNvPr>
          <p:cNvSpPr/>
          <p:nvPr/>
        </p:nvSpPr>
        <p:spPr>
          <a:xfrm>
            <a:off x="6350000" y="52022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9226EE-DD7B-D14E-A35B-E34912EE842B}"/>
              </a:ext>
            </a:extLst>
          </p:cNvPr>
          <p:cNvSpPr/>
          <p:nvPr/>
        </p:nvSpPr>
        <p:spPr>
          <a:xfrm>
            <a:off x="77168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3F77F7-B67F-4548-90A8-61D1C15015C4}"/>
              </a:ext>
            </a:extLst>
          </p:cNvPr>
          <p:cNvSpPr/>
          <p:nvPr/>
        </p:nvSpPr>
        <p:spPr>
          <a:xfrm>
            <a:off x="6350000" y="47450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7C041A-61CB-624A-B692-42A9EAB4CEDF}"/>
              </a:ext>
            </a:extLst>
          </p:cNvPr>
          <p:cNvSpPr/>
          <p:nvPr/>
        </p:nvSpPr>
        <p:spPr>
          <a:xfrm>
            <a:off x="81740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3C440E-9981-274A-8123-D5BAA94868A4}"/>
              </a:ext>
            </a:extLst>
          </p:cNvPr>
          <p:cNvSpPr/>
          <p:nvPr/>
        </p:nvSpPr>
        <p:spPr>
          <a:xfrm>
            <a:off x="6350000" y="42878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E9AD3D-247B-4F43-998F-4F47AE1D7136}"/>
              </a:ext>
            </a:extLst>
          </p:cNvPr>
          <p:cNvSpPr/>
          <p:nvPr/>
        </p:nvSpPr>
        <p:spPr>
          <a:xfrm>
            <a:off x="8631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86A0A7-95FA-E748-B2A1-4C343137CD68}"/>
              </a:ext>
            </a:extLst>
          </p:cNvPr>
          <p:cNvSpPr/>
          <p:nvPr/>
        </p:nvSpPr>
        <p:spPr>
          <a:xfrm>
            <a:off x="6350000" y="3830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05D577-5007-A24D-A409-0C2954EB31A6}"/>
              </a:ext>
            </a:extLst>
          </p:cNvPr>
          <p:cNvSpPr/>
          <p:nvPr/>
        </p:nvSpPr>
        <p:spPr>
          <a:xfrm>
            <a:off x="90884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71DED3-1D9E-EA4C-BE88-477CD916882A}"/>
              </a:ext>
            </a:extLst>
          </p:cNvPr>
          <p:cNvSpPr/>
          <p:nvPr/>
        </p:nvSpPr>
        <p:spPr>
          <a:xfrm>
            <a:off x="6350000" y="33734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CBF759-F77E-A943-80C5-B79B1673CE04}"/>
              </a:ext>
            </a:extLst>
          </p:cNvPr>
          <p:cNvSpPr/>
          <p:nvPr/>
        </p:nvSpPr>
        <p:spPr>
          <a:xfrm>
            <a:off x="95456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CD4ECF-B168-F745-BC8B-40B354B4D48B}"/>
              </a:ext>
            </a:extLst>
          </p:cNvPr>
          <p:cNvSpPr/>
          <p:nvPr/>
        </p:nvSpPr>
        <p:spPr>
          <a:xfrm>
            <a:off x="6350000" y="29162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C5A054-EB54-9B44-8B73-A107EEE5555F}"/>
              </a:ext>
            </a:extLst>
          </p:cNvPr>
          <p:cNvSpPr/>
          <p:nvPr/>
        </p:nvSpPr>
        <p:spPr>
          <a:xfrm>
            <a:off x="100028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F7D4EB-98CA-B747-9F3A-C217789CC31F}"/>
              </a:ext>
            </a:extLst>
          </p:cNvPr>
          <p:cNvSpPr/>
          <p:nvPr/>
        </p:nvSpPr>
        <p:spPr>
          <a:xfrm>
            <a:off x="6350000" y="24590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744AA27-156F-E64C-AB85-7AF48BAD35A8}"/>
              </a:ext>
            </a:extLst>
          </p:cNvPr>
          <p:cNvSpPr/>
          <p:nvPr/>
        </p:nvSpPr>
        <p:spPr>
          <a:xfrm>
            <a:off x="104600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CC1FE26-DE7A-C942-85FA-D6A7EFF242F9}"/>
              </a:ext>
            </a:extLst>
          </p:cNvPr>
          <p:cNvSpPr/>
          <p:nvPr/>
        </p:nvSpPr>
        <p:spPr>
          <a:xfrm>
            <a:off x="6350000" y="20018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31A64B-126B-7A4B-8F28-FE256EE0C24F}"/>
              </a:ext>
            </a:extLst>
          </p:cNvPr>
          <p:cNvSpPr/>
          <p:nvPr/>
        </p:nvSpPr>
        <p:spPr>
          <a:xfrm>
            <a:off x="10917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B58E87-E2F4-2344-81B5-089F985F7727}"/>
              </a:ext>
            </a:extLst>
          </p:cNvPr>
          <p:cNvSpPr/>
          <p:nvPr/>
        </p:nvSpPr>
        <p:spPr>
          <a:xfrm>
            <a:off x="6350000" y="1544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410AC3-4531-E24B-97AA-1597762B4EBA}"/>
              </a:ext>
            </a:extLst>
          </p:cNvPr>
          <p:cNvSpPr/>
          <p:nvPr/>
        </p:nvSpPr>
        <p:spPr>
          <a:xfrm>
            <a:off x="6350000" y="1549400"/>
            <a:ext cx="4572000" cy="4572000"/>
          </a:xfrm>
          <a:prstGeom prst="rect">
            <a:avLst/>
          </a:prstGeom>
          <a:noFill/>
          <a:ln w="15875" cap="flat" cmpd="sng" algn="ctr">
            <a:solidFill>
              <a:srgbClr val="8080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4ACE32-33DB-5D47-871F-4021D36563F6}"/>
              </a:ext>
            </a:extLst>
          </p:cNvPr>
          <p:cNvSpPr txBox="1"/>
          <p:nvPr/>
        </p:nvSpPr>
        <p:spPr>
          <a:xfrm>
            <a:off x="61722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1B6B31B-4955-DB4B-AA2A-D2B8D0D2B427}"/>
              </a:ext>
            </a:extLst>
          </p:cNvPr>
          <p:cNvSpPr txBox="1"/>
          <p:nvPr/>
        </p:nvSpPr>
        <p:spPr>
          <a:xfrm>
            <a:off x="5892800" y="60198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E37FC3-621A-164D-ABF9-0946B5552E3C}"/>
              </a:ext>
            </a:extLst>
          </p:cNvPr>
          <p:cNvSpPr txBox="1"/>
          <p:nvPr/>
        </p:nvSpPr>
        <p:spPr>
          <a:xfrm>
            <a:off x="70866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3C4F2F-BA7B-A046-B0AC-3909A80D0ABC}"/>
              </a:ext>
            </a:extLst>
          </p:cNvPr>
          <p:cNvSpPr txBox="1"/>
          <p:nvPr/>
        </p:nvSpPr>
        <p:spPr>
          <a:xfrm>
            <a:off x="5892800" y="51054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0F7BC1-9494-E844-8416-C7240D31A810}"/>
              </a:ext>
            </a:extLst>
          </p:cNvPr>
          <p:cNvSpPr txBox="1"/>
          <p:nvPr/>
        </p:nvSpPr>
        <p:spPr>
          <a:xfrm>
            <a:off x="80010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DA3704F-CB71-7E41-B6FF-CF0EF9CA165F}"/>
              </a:ext>
            </a:extLst>
          </p:cNvPr>
          <p:cNvSpPr txBox="1"/>
          <p:nvPr/>
        </p:nvSpPr>
        <p:spPr>
          <a:xfrm>
            <a:off x="5892800" y="41910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EB892D-8601-C843-AF39-E318DC9BF41F}"/>
              </a:ext>
            </a:extLst>
          </p:cNvPr>
          <p:cNvSpPr txBox="1"/>
          <p:nvPr/>
        </p:nvSpPr>
        <p:spPr>
          <a:xfrm>
            <a:off x="89154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330B8B2-DD8A-4747-B3B7-572F14721789}"/>
              </a:ext>
            </a:extLst>
          </p:cNvPr>
          <p:cNvSpPr txBox="1"/>
          <p:nvPr/>
        </p:nvSpPr>
        <p:spPr>
          <a:xfrm>
            <a:off x="5892800" y="32766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BC4B18D-86C2-354F-B2BC-D22A595AF935}"/>
              </a:ext>
            </a:extLst>
          </p:cNvPr>
          <p:cNvSpPr txBox="1"/>
          <p:nvPr/>
        </p:nvSpPr>
        <p:spPr>
          <a:xfrm>
            <a:off x="98298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84B537-B3E1-1142-B374-9EEC89B672A6}"/>
              </a:ext>
            </a:extLst>
          </p:cNvPr>
          <p:cNvSpPr txBox="1"/>
          <p:nvPr/>
        </p:nvSpPr>
        <p:spPr>
          <a:xfrm>
            <a:off x="5892800" y="23622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2353556-417C-D34E-A94E-3F37EB9B31F5}"/>
              </a:ext>
            </a:extLst>
          </p:cNvPr>
          <p:cNvSpPr txBox="1"/>
          <p:nvPr/>
        </p:nvSpPr>
        <p:spPr>
          <a:xfrm>
            <a:off x="107442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C0185A-E46D-204F-8FB7-EDDE1C62107A}"/>
              </a:ext>
            </a:extLst>
          </p:cNvPr>
          <p:cNvSpPr txBox="1"/>
          <p:nvPr/>
        </p:nvSpPr>
        <p:spPr>
          <a:xfrm>
            <a:off x="5892800" y="14478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10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447C919-4351-AF42-A6ED-46B1DC16D5A8}"/>
              </a:ext>
            </a:extLst>
          </p:cNvPr>
          <p:cNvSpPr/>
          <p:nvPr/>
        </p:nvSpPr>
        <p:spPr>
          <a:xfrm>
            <a:off x="6946900" y="2603500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AD9DC18-0998-7147-9D94-2E5D687AC045}"/>
              </a:ext>
            </a:extLst>
          </p:cNvPr>
          <p:cNvSpPr/>
          <p:nvPr/>
        </p:nvSpPr>
        <p:spPr>
          <a:xfrm>
            <a:off x="7266940" y="2192019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B7EA5B0-FBF2-534B-BBE6-8B251831AFBA}"/>
              </a:ext>
            </a:extLst>
          </p:cNvPr>
          <p:cNvSpPr/>
          <p:nvPr/>
        </p:nvSpPr>
        <p:spPr>
          <a:xfrm>
            <a:off x="6718300" y="3014979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16AF952-B2F0-094F-914A-90A073FCB775}"/>
              </a:ext>
            </a:extLst>
          </p:cNvPr>
          <p:cNvSpPr/>
          <p:nvPr/>
        </p:nvSpPr>
        <p:spPr>
          <a:xfrm>
            <a:off x="7541259" y="2740660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C6848C1-DBAC-BF4A-9561-AF91569819B4}"/>
              </a:ext>
            </a:extLst>
          </p:cNvPr>
          <p:cNvSpPr/>
          <p:nvPr/>
        </p:nvSpPr>
        <p:spPr>
          <a:xfrm>
            <a:off x="9827260" y="228346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D83FAF9-6209-3740-88F8-CED890CE7B3D}"/>
              </a:ext>
            </a:extLst>
          </p:cNvPr>
          <p:cNvSpPr/>
          <p:nvPr/>
        </p:nvSpPr>
        <p:spPr>
          <a:xfrm>
            <a:off x="10193020" y="264922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754BC5B-ACA2-564A-9539-5D9E8AD049E1}"/>
              </a:ext>
            </a:extLst>
          </p:cNvPr>
          <p:cNvSpPr/>
          <p:nvPr/>
        </p:nvSpPr>
        <p:spPr>
          <a:xfrm>
            <a:off x="9552940" y="292354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C4520DE-7DA2-9B40-AB07-DB64ED4FEDF1}"/>
              </a:ext>
            </a:extLst>
          </p:cNvPr>
          <p:cNvSpPr/>
          <p:nvPr/>
        </p:nvSpPr>
        <p:spPr>
          <a:xfrm>
            <a:off x="10330180" y="2100579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0CB2D68-B18F-964C-A332-5E0BC27D0B81}"/>
              </a:ext>
            </a:extLst>
          </p:cNvPr>
          <p:cNvSpPr/>
          <p:nvPr/>
        </p:nvSpPr>
        <p:spPr>
          <a:xfrm>
            <a:off x="8181340" y="520954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63E6346-35A2-B540-83A9-9ABFD24B1B7B}"/>
              </a:ext>
            </a:extLst>
          </p:cNvPr>
          <p:cNvSpPr/>
          <p:nvPr/>
        </p:nvSpPr>
        <p:spPr>
          <a:xfrm>
            <a:off x="8547100" y="484378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EABA225-FABF-E544-BBE7-67CD6DFB8D87}"/>
              </a:ext>
            </a:extLst>
          </p:cNvPr>
          <p:cNvSpPr/>
          <p:nvPr/>
        </p:nvSpPr>
        <p:spPr>
          <a:xfrm>
            <a:off x="7907020" y="548386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0B0356D-23E9-1841-84F2-52D8479FAE5F}"/>
              </a:ext>
            </a:extLst>
          </p:cNvPr>
          <p:cNvSpPr/>
          <p:nvPr/>
        </p:nvSpPr>
        <p:spPr>
          <a:xfrm>
            <a:off x="8821419" y="530098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5-Point Star 52">
            <a:extLst>
              <a:ext uri="{FF2B5EF4-FFF2-40B4-BE49-F238E27FC236}">
                <a16:creationId xmlns:a16="http://schemas.microsoft.com/office/drawing/2014/main" id="{6FC95A51-D46B-B84B-94C1-22D000C23E99}"/>
              </a:ext>
            </a:extLst>
          </p:cNvPr>
          <p:cNvSpPr/>
          <p:nvPr/>
        </p:nvSpPr>
        <p:spPr>
          <a:xfrm>
            <a:off x="7113016" y="3624579"/>
            <a:ext cx="330200" cy="330200"/>
          </a:xfrm>
          <a:prstGeom prst="star5">
            <a:avLst/>
          </a:prstGeom>
          <a:solidFill>
            <a:srgbClr val="4B2E83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5-Point Star 53">
            <a:extLst>
              <a:ext uri="{FF2B5EF4-FFF2-40B4-BE49-F238E27FC236}">
                <a16:creationId xmlns:a16="http://schemas.microsoft.com/office/drawing/2014/main" id="{B175A891-12AE-544E-ACCA-2E5E78092B90}"/>
              </a:ext>
            </a:extLst>
          </p:cNvPr>
          <p:cNvSpPr/>
          <p:nvPr/>
        </p:nvSpPr>
        <p:spPr>
          <a:xfrm>
            <a:off x="9042400" y="2403856"/>
            <a:ext cx="330200" cy="330200"/>
          </a:xfrm>
          <a:prstGeom prst="star5">
            <a:avLst/>
          </a:prstGeom>
          <a:solidFill>
            <a:srgbClr val="00A7B5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5-Point Star 54">
            <a:extLst>
              <a:ext uri="{FF2B5EF4-FFF2-40B4-BE49-F238E27FC236}">
                <a16:creationId xmlns:a16="http://schemas.microsoft.com/office/drawing/2014/main" id="{4A2640A9-66A6-694B-91EA-22B246D71DAC}"/>
              </a:ext>
            </a:extLst>
          </p:cNvPr>
          <p:cNvSpPr/>
          <p:nvPr/>
        </p:nvSpPr>
        <p:spPr>
          <a:xfrm>
            <a:off x="8438896" y="5041900"/>
            <a:ext cx="330200" cy="330200"/>
          </a:xfrm>
          <a:prstGeom prst="star5">
            <a:avLst/>
          </a:prstGeom>
          <a:solidFill>
            <a:srgbClr val="7AB648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92713B5-7F3F-EF40-81FE-8EF923A14750}"/>
              </a:ext>
            </a:extLst>
          </p:cNvPr>
          <p:cNvSpPr txBox="1"/>
          <p:nvPr/>
        </p:nvSpPr>
        <p:spPr>
          <a:xfrm>
            <a:off x="609600" y="1930400"/>
            <a:ext cx="5207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4B2E83"/>
                </a:solidFill>
              </a:rPr>
              <a:t>Step 1 · Assignment (iteration 2)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5E3059F-86D5-6649-A1B7-00EE346628E2}"/>
              </a:ext>
            </a:extLst>
          </p:cNvPr>
          <p:cNvSpPr txBox="1"/>
          <p:nvPr/>
        </p:nvSpPr>
        <p:spPr>
          <a:xfrm>
            <a:off x="609600" y="2603500"/>
            <a:ext cx="52070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Re-assign every point to the nearest updated centroid. Memberships sharpen — the three clusters now separate cleanly.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174FDE6-DE95-E442-9193-8DA81A0C40B2}"/>
              </a:ext>
            </a:extLst>
          </p:cNvPr>
          <p:cNvSpPr/>
          <p:nvPr/>
        </p:nvSpPr>
        <p:spPr>
          <a:xfrm>
            <a:off x="711200" y="4800600"/>
            <a:ext cx="203200" cy="203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51601E1-09EA-0241-81C5-5F953FAFDA35}"/>
              </a:ext>
            </a:extLst>
          </p:cNvPr>
          <p:cNvSpPr txBox="1"/>
          <p:nvPr/>
        </p:nvSpPr>
        <p:spPr>
          <a:xfrm>
            <a:off x="1016000" y="4762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F22B024-64B9-EB49-A9A6-23B6C7C84FCE}"/>
              </a:ext>
            </a:extLst>
          </p:cNvPr>
          <p:cNvSpPr/>
          <p:nvPr/>
        </p:nvSpPr>
        <p:spPr>
          <a:xfrm>
            <a:off x="711200" y="5181600"/>
            <a:ext cx="203200" cy="2032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628D25C-8C79-F342-92D4-1860A4A1D069}"/>
              </a:ext>
            </a:extLst>
          </p:cNvPr>
          <p:cNvSpPr txBox="1"/>
          <p:nvPr/>
        </p:nvSpPr>
        <p:spPr>
          <a:xfrm>
            <a:off x="1016000" y="5143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2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3D7E83D-1727-834D-9A90-847919A53C77}"/>
              </a:ext>
            </a:extLst>
          </p:cNvPr>
          <p:cNvSpPr/>
          <p:nvPr/>
        </p:nvSpPr>
        <p:spPr>
          <a:xfrm>
            <a:off x="711200" y="5562600"/>
            <a:ext cx="203200" cy="2032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E5ED740-D471-D048-A77F-9A95D28BABFC}"/>
              </a:ext>
            </a:extLst>
          </p:cNvPr>
          <p:cNvSpPr txBox="1"/>
          <p:nvPr/>
        </p:nvSpPr>
        <p:spPr>
          <a:xfrm>
            <a:off x="1016000" y="5524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3</a:t>
            </a:r>
          </a:p>
        </p:txBody>
      </p:sp>
      <p:sp>
        <p:nvSpPr>
          <p:cNvPr id="64" name="5-Point Star 63">
            <a:extLst>
              <a:ext uri="{FF2B5EF4-FFF2-40B4-BE49-F238E27FC236}">
                <a16:creationId xmlns:a16="http://schemas.microsoft.com/office/drawing/2014/main" id="{DC5F106F-D46F-1647-BF8F-85C2E0435DCE}"/>
              </a:ext>
            </a:extLst>
          </p:cNvPr>
          <p:cNvSpPr/>
          <p:nvPr/>
        </p:nvSpPr>
        <p:spPr>
          <a:xfrm>
            <a:off x="698500" y="5943600"/>
            <a:ext cx="228600" cy="228600"/>
          </a:xfrm>
          <a:prstGeom prst="star5">
            <a:avLst/>
          </a:prstGeom>
          <a:solidFill>
            <a:srgbClr val="595959"/>
          </a:solidFill>
          <a:ln w="12700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B92BA79-25D4-FC4E-A5D9-B520648EE4CC}"/>
              </a:ext>
            </a:extLst>
          </p:cNvPr>
          <p:cNvSpPr txBox="1"/>
          <p:nvPr/>
        </p:nvSpPr>
        <p:spPr>
          <a:xfrm>
            <a:off x="1016000" y="5905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Centroid (cluster mean)</a:t>
            </a:r>
          </a:p>
        </p:txBody>
      </p:sp>
    </p:spTree>
    <p:extLst>
      <p:ext uri="{BB962C8B-B14F-4D97-AF65-F5344CB8AC3E}">
        <p14:creationId xmlns:p14="http://schemas.microsoft.com/office/powerpoint/2010/main" val="21899899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97247-20F7-B770-AF3F-A2823B53A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Lloyd's Algorithm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4F3332-CF62-834A-9B90-48279B4A893E}"/>
              </a:ext>
            </a:extLst>
          </p:cNvPr>
          <p:cNvSpPr/>
          <p:nvPr/>
        </p:nvSpPr>
        <p:spPr>
          <a:xfrm>
            <a:off x="6350000" y="1549400"/>
            <a:ext cx="4572000" cy="457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371E3A-B5A9-8F4D-BFAF-C7BB9DE5184E}"/>
              </a:ext>
            </a:extLst>
          </p:cNvPr>
          <p:cNvSpPr/>
          <p:nvPr/>
        </p:nvSpPr>
        <p:spPr>
          <a:xfrm>
            <a:off x="6345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421E76-E8EB-184C-AD90-A02D0F564A9C}"/>
              </a:ext>
            </a:extLst>
          </p:cNvPr>
          <p:cNvSpPr/>
          <p:nvPr/>
        </p:nvSpPr>
        <p:spPr>
          <a:xfrm>
            <a:off x="6350000" y="6116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E1960E-65AC-914E-B8E2-F9F86105F15C}"/>
              </a:ext>
            </a:extLst>
          </p:cNvPr>
          <p:cNvSpPr/>
          <p:nvPr/>
        </p:nvSpPr>
        <p:spPr>
          <a:xfrm>
            <a:off x="68024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1BCC66-8F28-2743-8639-678A9B728475}"/>
              </a:ext>
            </a:extLst>
          </p:cNvPr>
          <p:cNvSpPr/>
          <p:nvPr/>
        </p:nvSpPr>
        <p:spPr>
          <a:xfrm>
            <a:off x="6350000" y="56594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5C2FCC-7A36-154E-95F1-0C2BB7AAAE5C}"/>
              </a:ext>
            </a:extLst>
          </p:cNvPr>
          <p:cNvSpPr/>
          <p:nvPr/>
        </p:nvSpPr>
        <p:spPr>
          <a:xfrm>
            <a:off x="72596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A84C27-FC72-FB47-9611-400695B66CFC}"/>
              </a:ext>
            </a:extLst>
          </p:cNvPr>
          <p:cNvSpPr/>
          <p:nvPr/>
        </p:nvSpPr>
        <p:spPr>
          <a:xfrm>
            <a:off x="6350000" y="52022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5872D9-6B19-FA41-9C73-847089B365B0}"/>
              </a:ext>
            </a:extLst>
          </p:cNvPr>
          <p:cNvSpPr/>
          <p:nvPr/>
        </p:nvSpPr>
        <p:spPr>
          <a:xfrm>
            <a:off x="77168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CDC05D-B76C-BB46-A9FF-26D45D5DBAA8}"/>
              </a:ext>
            </a:extLst>
          </p:cNvPr>
          <p:cNvSpPr/>
          <p:nvPr/>
        </p:nvSpPr>
        <p:spPr>
          <a:xfrm>
            <a:off x="6350000" y="47450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35EA70-8E3E-9B47-BC5C-387C5F870898}"/>
              </a:ext>
            </a:extLst>
          </p:cNvPr>
          <p:cNvSpPr/>
          <p:nvPr/>
        </p:nvSpPr>
        <p:spPr>
          <a:xfrm>
            <a:off x="81740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77D838-BDC3-F548-88A9-0579E0A99C32}"/>
              </a:ext>
            </a:extLst>
          </p:cNvPr>
          <p:cNvSpPr/>
          <p:nvPr/>
        </p:nvSpPr>
        <p:spPr>
          <a:xfrm>
            <a:off x="6350000" y="42878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C9FC85-941B-F047-B599-C68906F320D3}"/>
              </a:ext>
            </a:extLst>
          </p:cNvPr>
          <p:cNvSpPr/>
          <p:nvPr/>
        </p:nvSpPr>
        <p:spPr>
          <a:xfrm>
            <a:off x="8631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903E62-2A9F-8F48-AC39-B4FF16FF4E5A}"/>
              </a:ext>
            </a:extLst>
          </p:cNvPr>
          <p:cNvSpPr/>
          <p:nvPr/>
        </p:nvSpPr>
        <p:spPr>
          <a:xfrm>
            <a:off x="6350000" y="3830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2C319C-4368-6B43-BE14-CA9FAEF018BC}"/>
              </a:ext>
            </a:extLst>
          </p:cNvPr>
          <p:cNvSpPr/>
          <p:nvPr/>
        </p:nvSpPr>
        <p:spPr>
          <a:xfrm>
            <a:off x="90884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4389F7-9634-9B4D-9750-781BC589BC2F}"/>
              </a:ext>
            </a:extLst>
          </p:cNvPr>
          <p:cNvSpPr/>
          <p:nvPr/>
        </p:nvSpPr>
        <p:spPr>
          <a:xfrm>
            <a:off x="6350000" y="33734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0B7B57-023E-9241-8B27-3B0CD4FFDDF9}"/>
              </a:ext>
            </a:extLst>
          </p:cNvPr>
          <p:cNvSpPr/>
          <p:nvPr/>
        </p:nvSpPr>
        <p:spPr>
          <a:xfrm>
            <a:off x="95456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72377E-1742-EA40-BA86-7858508EFC19}"/>
              </a:ext>
            </a:extLst>
          </p:cNvPr>
          <p:cNvSpPr/>
          <p:nvPr/>
        </p:nvSpPr>
        <p:spPr>
          <a:xfrm>
            <a:off x="6350000" y="29162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B511181-4481-DF46-9383-5B99AC8933E8}"/>
              </a:ext>
            </a:extLst>
          </p:cNvPr>
          <p:cNvSpPr/>
          <p:nvPr/>
        </p:nvSpPr>
        <p:spPr>
          <a:xfrm>
            <a:off x="100028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B9EE720-34D8-F44D-AAC7-FCAAEB02CDE4}"/>
              </a:ext>
            </a:extLst>
          </p:cNvPr>
          <p:cNvSpPr/>
          <p:nvPr/>
        </p:nvSpPr>
        <p:spPr>
          <a:xfrm>
            <a:off x="6350000" y="24590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D456C0-B989-0D4C-ABDA-2E69A50611C3}"/>
              </a:ext>
            </a:extLst>
          </p:cNvPr>
          <p:cNvSpPr/>
          <p:nvPr/>
        </p:nvSpPr>
        <p:spPr>
          <a:xfrm>
            <a:off x="104600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B38A073-460D-5345-A828-1FF9BB312E97}"/>
              </a:ext>
            </a:extLst>
          </p:cNvPr>
          <p:cNvSpPr/>
          <p:nvPr/>
        </p:nvSpPr>
        <p:spPr>
          <a:xfrm>
            <a:off x="6350000" y="20018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F47D2E6-8B35-0D43-BBC2-CE0B448837CC}"/>
              </a:ext>
            </a:extLst>
          </p:cNvPr>
          <p:cNvSpPr/>
          <p:nvPr/>
        </p:nvSpPr>
        <p:spPr>
          <a:xfrm>
            <a:off x="10917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5A86E2-7156-3842-AA15-5C78308D004A}"/>
              </a:ext>
            </a:extLst>
          </p:cNvPr>
          <p:cNvSpPr/>
          <p:nvPr/>
        </p:nvSpPr>
        <p:spPr>
          <a:xfrm>
            <a:off x="6350000" y="1544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7834694-19E2-FF41-92C7-60DB6B29D07A}"/>
              </a:ext>
            </a:extLst>
          </p:cNvPr>
          <p:cNvSpPr/>
          <p:nvPr/>
        </p:nvSpPr>
        <p:spPr>
          <a:xfrm>
            <a:off x="6350000" y="1549400"/>
            <a:ext cx="4572000" cy="4572000"/>
          </a:xfrm>
          <a:prstGeom prst="rect">
            <a:avLst/>
          </a:prstGeom>
          <a:noFill/>
          <a:ln w="15875" cap="flat" cmpd="sng" algn="ctr">
            <a:solidFill>
              <a:srgbClr val="8080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219809-059B-754A-B3C1-46A2A3EFC306}"/>
              </a:ext>
            </a:extLst>
          </p:cNvPr>
          <p:cNvSpPr txBox="1"/>
          <p:nvPr/>
        </p:nvSpPr>
        <p:spPr>
          <a:xfrm>
            <a:off x="61722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8DFAEC-4E1B-9749-8489-95B46D3F327E}"/>
              </a:ext>
            </a:extLst>
          </p:cNvPr>
          <p:cNvSpPr txBox="1"/>
          <p:nvPr/>
        </p:nvSpPr>
        <p:spPr>
          <a:xfrm>
            <a:off x="5892800" y="60198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30A1843-4024-F040-8A5A-89AE1B16F7A8}"/>
              </a:ext>
            </a:extLst>
          </p:cNvPr>
          <p:cNvSpPr txBox="1"/>
          <p:nvPr/>
        </p:nvSpPr>
        <p:spPr>
          <a:xfrm>
            <a:off x="70866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BCA8B5-ACDD-C347-987C-D2E5A710D0C6}"/>
              </a:ext>
            </a:extLst>
          </p:cNvPr>
          <p:cNvSpPr txBox="1"/>
          <p:nvPr/>
        </p:nvSpPr>
        <p:spPr>
          <a:xfrm>
            <a:off x="5892800" y="51054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F08F79-4DF2-3140-9E03-2771D715D291}"/>
              </a:ext>
            </a:extLst>
          </p:cNvPr>
          <p:cNvSpPr txBox="1"/>
          <p:nvPr/>
        </p:nvSpPr>
        <p:spPr>
          <a:xfrm>
            <a:off x="80010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6E778B7-4A61-CC49-92DE-9373FF8015B6}"/>
              </a:ext>
            </a:extLst>
          </p:cNvPr>
          <p:cNvSpPr txBox="1"/>
          <p:nvPr/>
        </p:nvSpPr>
        <p:spPr>
          <a:xfrm>
            <a:off x="5892800" y="41910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D28647F-5DFC-2E4E-8AB8-AD90655B9B7D}"/>
              </a:ext>
            </a:extLst>
          </p:cNvPr>
          <p:cNvSpPr txBox="1"/>
          <p:nvPr/>
        </p:nvSpPr>
        <p:spPr>
          <a:xfrm>
            <a:off x="89154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ECFC83-FC56-384D-AEE0-7E532151A523}"/>
              </a:ext>
            </a:extLst>
          </p:cNvPr>
          <p:cNvSpPr txBox="1"/>
          <p:nvPr/>
        </p:nvSpPr>
        <p:spPr>
          <a:xfrm>
            <a:off x="5892800" y="32766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F7DFC19-ADC7-FF40-AB96-338E33E11496}"/>
              </a:ext>
            </a:extLst>
          </p:cNvPr>
          <p:cNvSpPr txBox="1"/>
          <p:nvPr/>
        </p:nvSpPr>
        <p:spPr>
          <a:xfrm>
            <a:off x="98298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D610F5-4847-564E-9FB1-829FE564D085}"/>
              </a:ext>
            </a:extLst>
          </p:cNvPr>
          <p:cNvSpPr txBox="1"/>
          <p:nvPr/>
        </p:nvSpPr>
        <p:spPr>
          <a:xfrm>
            <a:off x="5892800" y="23622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3C65DE2-0D0A-EE49-BEA2-A778BE11FE6A}"/>
              </a:ext>
            </a:extLst>
          </p:cNvPr>
          <p:cNvSpPr txBox="1"/>
          <p:nvPr/>
        </p:nvSpPr>
        <p:spPr>
          <a:xfrm>
            <a:off x="107442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5966853-3ABC-504F-B74F-AE7BCB60AACD}"/>
              </a:ext>
            </a:extLst>
          </p:cNvPr>
          <p:cNvSpPr txBox="1"/>
          <p:nvPr/>
        </p:nvSpPr>
        <p:spPr>
          <a:xfrm>
            <a:off x="5892800" y="14478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10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AF7CA05-BBDD-454B-A144-28974931D821}"/>
              </a:ext>
            </a:extLst>
          </p:cNvPr>
          <p:cNvSpPr/>
          <p:nvPr/>
        </p:nvSpPr>
        <p:spPr>
          <a:xfrm>
            <a:off x="6946900" y="2603500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8D93CF1-42BA-7A49-B188-FE42E0BC3054}"/>
              </a:ext>
            </a:extLst>
          </p:cNvPr>
          <p:cNvSpPr/>
          <p:nvPr/>
        </p:nvSpPr>
        <p:spPr>
          <a:xfrm>
            <a:off x="7266940" y="2192019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F9B0A3D-2F4F-BB41-AAD1-C2C17BCC5E91}"/>
              </a:ext>
            </a:extLst>
          </p:cNvPr>
          <p:cNvSpPr/>
          <p:nvPr/>
        </p:nvSpPr>
        <p:spPr>
          <a:xfrm>
            <a:off x="6718300" y="3014979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BCADEA0-E5DD-8F4E-AAFB-B050957B112A}"/>
              </a:ext>
            </a:extLst>
          </p:cNvPr>
          <p:cNvSpPr/>
          <p:nvPr/>
        </p:nvSpPr>
        <p:spPr>
          <a:xfrm>
            <a:off x="7541259" y="2740660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7399183-DC9B-0043-998C-ACCD7EEF9F02}"/>
              </a:ext>
            </a:extLst>
          </p:cNvPr>
          <p:cNvSpPr/>
          <p:nvPr/>
        </p:nvSpPr>
        <p:spPr>
          <a:xfrm>
            <a:off x="9827260" y="228346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F777128-28FC-4F4C-82BD-6D2AF2751226}"/>
              </a:ext>
            </a:extLst>
          </p:cNvPr>
          <p:cNvSpPr/>
          <p:nvPr/>
        </p:nvSpPr>
        <p:spPr>
          <a:xfrm>
            <a:off x="10193020" y="264922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C1F073A-3ABD-244F-9423-96883FDD3A7B}"/>
              </a:ext>
            </a:extLst>
          </p:cNvPr>
          <p:cNvSpPr/>
          <p:nvPr/>
        </p:nvSpPr>
        <p:spPr>
          <a:xfrm>
            <a:off x="9552940" y="292354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21B164A-D68E-E94E-8C06-15CB41D11DB9}"/>
              </a:ext>
            </a:extLst>
          </p:cNvPr>
          <p:cNvSpPr/>
          <p:nvPr/>
        </p:nvSpPr>
        <p:spPr>
          <a:xfrm>
            <a:off x="10330180" y="2100579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856F779-EE47-AC4D-9D44-BE7D00D6CC6B}"/>
              </a:ext>
            </a:extLst>
          </p:cNvPr>
          <p:cNvSpPr/>
          <p:nvPr/>
        </p:nvSpPr>
        <p:spPr>
          <a:xfrm>
            <a:off x="8181340" y="520954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E353354-88A8-3B46-A48E-792052BC433B}"/>
              </a:ext>
            </a:extLst>
          </p:cNvPr>
          <p:cNvSpPr/>
          <p:nvPr/>
        </p:nvSpPr>
        <p:spPr>
          <a:xfrm>
            <a:off x="8547100" y="484378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432861E-AA9E-6044-B5D3-CB606FD42EBF}"/>
              </a:ext>
            </a:extLst>
          </p:cNvPr>
          <p:cNvSpPr/>
          <p:nvPr/>
        </p:nvSpPr>
        <p:spPr>
          <a:xfrm>
            <a:off x="7907020" y="548386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3C1A00C-407E-D94D-98D1-03CF5C05236B}"/>
              </a:ext>
            </a:extLst>
          </p:cNvPr>
          <p:cNvSpPr/>
          <p:nvPr/>
        </p:nvSpPr>
        <p:spPr>
          <a:xfrm>
            <a:off x="8821419" y="530098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5-Point Star 52">
            <a:extLst>
              <a:ext uri="{FF2B5EF4-FFF2-40B4-BE49-F238E27FC236}">
                <a16:creationId xmlns:a16="http://schemas.microsoft.com/office/drawing/2014/main" id="{D165C777-03FE-2945-AB29-5D2444873227}"/>
              </a:ext>
            </a:extLst>
          </p:cNvPr>
          <p:cNvSpPr/>
          <p:nvPr/>
        </p:nvSpPr>
        <p:spPr>
          <a:xfrm>
            <a:off x="7138416" y="3649979"/>
            <a:ext cx="279400" cy="279400"/>
          </a:xfrm>
          <a:prstGeom prst="star5">
            <a:avLst/>
          </a:prstGeom>
          <a:solidFill>
            <a:srgbClr val="F2F2F2"/>
          </a:solidFill>
          <a:ln w="12700" cap="flat" cmpd="sng" algn="ctr">
            <a:solidFill>
              <a:srgbClr val="9A9A9A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5-Point Star 53">
            <a:extLst>
              <a:ext uri="{FF2B5EF4-FFF2-40B4-BE49-F238E27FC236}">
                <a16:creationId xmlns:a16="http://schemas.microsoft.com/office/drawing/2014/main" id="{845A55E5-A176-364A-AC04-C6B889BE04EC}"/>
              </a:ext>
            </a:extLst>
          </p:cNvPr>
          <p:cNvSpPr/>
          <p:nvPr/>
        </p:nvSpPr>
        <p:spPr>
          <a:xfrm>
            <a:off x="9067800" y="2429256"/>
            <a:ext cx="279400" cy="279400"/>
          </a:xfrm>
          <a:prstGeom prst="star5">
            <a:avLst/>
          </a:prstGeom>
          <a:solidFill>
            <a:srgbClr val="F2F2F2"/>
          </a:solidFill>
          <a:ln w="12700" cap="flat" cmpd="sng" algn="ctr">
            <a:solidFill>
              <a:srgbClr val="9A9A9A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5-Point Star 54">
            <a:extLst>
              <a:ext uri="{FF2B5EF4-FFF2-40B4-BE49-F238E27FC236}">
                <a16:creationId xmlns:a16="http://schemas.microsoft.com/office/drawing/2014/main" id="{E0380E65-A6BB-0241-BE9C-2ECE504C0196}"/>
              </a:ext>
            </a:extLst>
          </p:cNvPr>
          <p:cNvSpPr/>
          <p:nvPr/>
        </p:nvSpPr>
        <p:spPr>
          <a:xfrm>
            <a:off x="8464296" y="5067300"/>
            <a:ext cx="279400" cy="279400"/>
          </a:xfrm>
          <a:prstGeom prst="star5">
            <a:avLst/>
          </a:prstGeom>
          <a:solidFill>
            <a:srgbClr val="F2F2F2"/>
          </a:solidFill>
          <a:ln w="12700" cap="flat" cmpd="sng" algn="ctr">
            <a:solidFill>
              <a:srgbClr val="9A9A9A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5-Point Star 55">
            <a:extLst>
              <a:ext uri="{FF2B5EF4-FFF2-40B4-BE49-F238E27FC236}">
                <a16:creationId xmlns:a16="http://schemas.microsoft.com/office/drawing/2014/main" id="{976B677C-8AB8-7341-888B-58315058D2E0}"/>
              </a:ext>
            </a:extLst>
          </p:cNvPr>
          <p:cNvSpPr/>
          <p:nvPr/>
        </p:nvSpPr>
        <p:spPr>
          <a:xfrm>
            <a:off x="7044436" y="2563876"/>
            <a:ext cx="330200" cy="330200"/>
          </a:xfrm>
          <a:prstGeom prst="star5">
            <a:avLst/>
          </a:prstGeom>
          <a:solidFill>
            <a:srgbClr val="4B2E83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7" name="5-Point Star 56">
            <a:extLst>
              <a:ext uri="{FF2B5EF4-FFF2-40B4-BE49-F238E27FC236}">
                <a16:creationId xmlns:a16="http://schemas.microsoft.com/office/drawing/2014/main" id="{09E18DDE-678F-D149-B066-87FAA8841A1A}"/>
              </a:ext>
            </a:extLst>
          </p:cNvPr>
          <p:cNvSpPr/>
          <p:nvPr/>
        </p:nvSpPr>
        <p:spPr>
          <a:xfrm>
            <a:off x="9897364" y="2413000"/>
            <a:ext cx="330200" cy="330200"/>
          </a:xfrm>
          <a:prstGeom prst="star5">
            <a:avLst/>
          </a:prstGeom>
          <a:solidFill>
            <a:srgbClr val="00A7B5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5-Point Star 57">
            <a:extLst>
              <a:ext uri="{FF2B5EF4-FFF2-40B4-BE49-F238E27FC236}">
                <a16:creationId xmlns:a16="http://schemas.microsoft.com/office/drawing/2014/main" id="{569B87E2-DE21-5944-A145-E7943B69BA59}"/>
              </a:ext>
            </a:extLst>
          </p:cNvPr>
          <p:cNvSpPr/>
          <p:nvPr/>
        </p:nvSpPr>
        <p:spPr>
          <a:xfrm>
            <a:off x="8288020" y="5133340"/>
            <a:ext cx="330200" cy="330200"/>
          </a:xfrm>
          <a:prstGeom prst="star5">
            <a:avLst/>
          </a:prstGeom>
          <a:solidFill>
            <a:srgbClr val="7AB648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FD46945-3B57-5A4B-9AEB-1509F523CC76}"/>
              </a:ext>
            </a:extLst>
          </p:cNvPr>
          <p:cNvSpPr txBox="1"/>
          <p:nvPr/>
        </p:nvSpPr>
        <p:spPr>
          <a:xfrm>
            <a:off x="609600" y="1930400"/>
            <a:ext cx="5207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4B2E83"/>
                </a:solidFill>
              </a:rPr>
              <a:t>Step 2 · Update (iteration 2) — converged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CC7A50E-85CA-B149-AC7F-9E0B25F371E9}"/>
              </a:ext>
            </a:extLst>
          </p:cNvPr>
          <p:cNvSpPr txBox="1"/>
          <p:nvPr/>
        </p:nvSpPr>
        <p:spPr>
          <a:xfrm>
            <a:off x="609600" y="2603500"/>
            <a:ext cx="52070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Centroids settle on the final cluster means. The next assignment would not change, so Lloyd's algorithm has converged to a local minimum of J.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31650C1-F888-A54A-BA37-8C9E83EA6FB4}"/>
              </a:ext>
            </a:extLst>
          </p:cNvPr>
          <p:cNvSpPr/>
          <p:nvPr/>
        </p:nvSpPr>
        <p:spPr>
          <a:xfrm>
            <a:off x="711200" y="4724400"/>
            <a:ext cx="203200" cy="203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431683F-4BDE-8D49-AA2A-70181EA3CBBF}"/>
              </a:ext>
            </a:extLst>
          </p:cNvPr>
          <p:cNvSpPr txBox="1"/>
          <p:nvPr/>
        </p:nvSpPr>
        <p:spPr>
          <a:xfrm>
            <a:off x="1016000" y="46863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1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2504F8D-B9F8-094B-B185-A51B4FE7DB2E}"/>
              </a:ext>
            </a:extLst>
          </p:cNvPr>
          <p:cNvSpPr/>
          <p:nvPr/>
        </p:nvSpPr>
        <p:spPr>
          <a:xfrm>
            <a:off x="711200" y="5080000"/>
            <a:ext cx="203200" cy="2032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E85AEEB-024B-8B40-A29B-4D178E56AE44}"/>
              </a:ext>
            </a:extLst>
          </p:cNvPr>
          <p:cNvSpPr txBox="1"/>
          <p:nvPr/>
        </p:nvSpPr>
        <p:spPr>
          <a:xfrm>
            <a:off x="1016000" y="50419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2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AD8B3EF-C987-1840-B898-78FAD94822ED}"/>
              </a:ext>
            </a:extLst>
          </p:cNvPr>
          <p:cNvSpPr/>
          <p:nvPr/>
        </p:nvSpPr>
        <p:spPr>
          <a:xfrm>
            <a:off x="711200" y="5435600"/>
            <a:ext cx="203200" cy="2032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A7C9349-9715-704F-9296-2EA7029177C4}"/>
              </a:ext>
            </a:extLst>
          </p:cNvPr>
          <p:cNvSpPr txBox="1"/>
          <p:nvPr/>
        </p:nvSpPr>
        <p:spPr>
          <a:xfrm>
            <a:off x="1016000" y="5397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3</a:t>
            </a:r>
          </a:p>
        </p:txBody>
      </p:sp>
      <p:sp>
        <p:nvSpPr>
          <p:cNvPr id="67" name="5-Point Star 66">
            <a:extLst>
              <a:ext uri="{FF2B5EF4-FFF2-40B4-BE49-F238E27FC236}">
                <a16:creationId xmlns:a16="http://schemas.microsoft.com/office/drawing/2014/main" id="{311D76CF-80EE-7342-9D72-B0707FDF4FE7}"/>
              </a:ext>
            </a:extLst>
          </p:cNvPr>
          <p:cNvSpPr/>
          <p:nvPr/>
        </p:nvSpPr>
        <p:spPr>
          <a:xfrm>
            <a:off x="698500" y="5791200"/>
            <a:ext cx="228600" cy="228600"/>
          </a:xfrm>
          <a:prstGeom prst="star5">
            <a:avLst/>
          </a:prstGeom>
          <a:solidFill>
            <a:srgbClr val="595959"/>
          </a:solidFill>
          <a:ln w="12700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93E78C8-1AE3-F94A-9394-35FBB03DDEBC}"/>
              </a:ext>
            </a:extLst>
          </p:cNvPr>
          <p:cNvSpPr txBox="1"/>
          <p:nvPr/>
        </p:nvSpPr>
        <p:spPr>
          <a:xfrm>
            <a:off x="1016000" y="57531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Final centroid</a:t>
            </a:r>
          </a:p>
        </p:txBody>
      </p:sp>
      <p:sp>
        <p:nvSpPr>
          <p:cNvPr id="69" name="5-Point Star 68">
            <a:extLst>
              <a:ext uri="{FF2B5EF4-FFF2-40B4-BE49-F238E27FC236}">
                <a16:creationId xmlns:a16="http://schemas.microsoft.com/office/drawing/2014/main" id="{3A0FA0A3-9336-914C-814C-27E5FF060134}"/>
              </a:ext>
            </a:extLst>
          </p:cNvPr>
          <p:cNvSpPr/>
          <p:nvPr/>
        </p:nvSpPr>
        <p:spPr>
          <a:xfrm>
            <a:off x="698500" y="6146800"/>
            <a:ext cx="228600" cy="228600"/>
          </a:xfrm>
          <a:prstGeom prst="star5">
            <a:avLst/>
          </a:prstGeom>
          <a:solidFill>
            <a:srgbClr val="F2F2F2"/>
          </a:solidFill>
          <a:ln w="12700" cap="flat" cmpd="sng" algn="ctr">
            <a:solidFill>
              <a:srgbClr val="9A9A9A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7C61E18-C82D-E34F-AF00-EE1105897532}"/>
              </a:ext>
            </a:extLst>
          </p:cNvPr>
          <p:cNvSpPr txBox="1"/>
          <p:nvPr/>
        </p:nvSpPr>
        <p:spPr>
          <a:xfrm>
            <a:off x="1016000" y="61087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Previous centroid</a:t>
            </a:r>
          </a:p>
        </p:txBody>
      </p:sp>
    </p:spTree>
    <p:extLst>
      <p:ext uri="{BB962C8B-B14F-4D97-AF65-F5344CB8AC3E}">
        <p14:creationId xmlns:p14="http://schemas.microsoft.com/office/powerpoint/2010/main" val="27056470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4BC71-86F7-326E-297A-E2C79013B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Initialization: k-means++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13F33D-294A-1B45-BEA3-9636A12D436B}"/>
                  </a:ext>
                </a:extLst>
              </p:cNvPr>
              <p:cNvSpPr txBox="1"/>
              <p:nvPr/>
            </p:nvSpPr>
            <p:spPr>
              <a:xfrm>
                <a:off x="838200" y="1905000"/>
                <a:ext cx="5588000" cy="206210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Random initialization can place two centroids in the same true cluster, trapping Lloyd in a bad local minimum.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k-means++ spreads initial centroids using a probability proportional to squared distance from the nearest chosen centroid.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Guarantees expected cost within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>
                        <a:solidFill>
                          <a:srgbClr val="333333"/>
                        </a:solidFill>
                      </a:rPr>
                      <m:t>O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 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of the optimum — a provable approximation bound.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Standard default in scikit-learn (init='k-means++').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13F33D-294A-1B45-BEA3-9636A12D43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5588000" cy="2062103"/>
              </a:xfrm>
              <a:prstGeom prst="rect">
                <a:avLst/>
              </a:prstGeom>
              <a:blipFill>
                <a:blip r:embed="rId2"/>
                <a:stretch>
                  <a:fillRect l="-682" t="-1227" r="-682" b="-2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1BCF88F-9170-4946-92E9-9156CE8994AD}"/>
              </a:ext>
            </a:extLst>
          </p:cNvPr>
          <p:cNvSpPr/>
          <p:nvPr/>
        </p:nvSpPr>
        <p:spPr>
          <a:xfrm>
            <a:off x="6477000" y="2133600"/>
            <a:ext cx="4826000" cy="3810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5A0134-2540-3A47-AC8B-590F4B834797}"/>
                  </a:ext>
                </a:extLst>
              </p:cNvPr>
              <p:cNvSpPr txBox="1"/>
              <p:nvPr/>
            </p:nvSpPr>
            <p:spPr>
              <a:xfrm>
                <a:off x="6705600" y="2336800"/>
                <a:ext cx="4368800" cy="196977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00A7B5"/>
                    </a:solidFill>
                    <a:latin typeface="Arial"/>
                  </a:rPr>
                  <a:t>The procedure</a:t>
                </a:r>
              </a:p>
              <a:p>
                <a:pPr marL="285750" indent="-285750">
                  <a:buFont typeface="Arial"/>
                  <a:buAutoNum type="arabicPeriod"/>
                </a:pPr>
                <a:r>
                  <a:rPr lang="en-US" sz="1500" dirty="0">
                    <a:solidFill>
                      <a:srgbClr val="333333"/>
                    </a:solidFill>
                  </a:rPr>
                  <a:t>Pick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uniformly at random from the rows of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85750" indent="-285750">
                  <a:buFont typeface="Arial"/>
                  <a:buAutoNum type="arabicPeriod"/>
                </a:pPr>
                <a:r>
                  <a:rPr lang="en-US" sz="1500" dirty="0">
                    <a:solidFill>
                      <a:srgbClr val="333333"/>
                    </a:solidFill>
                  </a:rPr>
                  <a:t>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, let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500">
                            <a:solidFill>
                              <a:srgbClr val="333333"/>
                            </a:solidFill>
                          </a:rPr>
                          <m:t>min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sub>
                    </m:sSub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</m:d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85750" indent="-285750">
                  <a:buFont typeface="Arial"/>
                  <a:buAutoNum type="arabicPeriod"/>
                </a:pPr>
                <a:r>
                  <a:rPr lang="en-US" sz="1500" dirty="0">
                    <a:solidFill>
                      <a:srgbClr val="333333"/>
                    </a:solidFill>
                  </a:rPr>
                  <a:t>Choose the next centroid with probability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5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5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d>
                                  <m:dPr>
                                    <m:ctrlPr>
                                      <a:rPr lang="en-US" sz="15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5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5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sz="15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85750" indent="-285750">
                  <a:buFont typeface="Arial"/>
                  <a:buAutoNum type="arabicPeriod"/>
                </a:pPr>
                <a:r>
                  <a:rPr lang="en-US" sz="1500" dirty="0">
                    <a:solidFill>
                      <a:srgbClr val="333333"/>
                    </a:solidFill>
                  </a:rPr>
                  <a:t>Repeat until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centroids are chosen, then run Lloyd.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5A0134-2540-3A47-AC8B-590F4B834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2336800"/>
                <a:ext cx="4368800" cy="1969770"/>
              </a:xfrm>
              <a:prstGeom prst="rect">
                <a:avLst/>
              </a:prstGeom>
              <a:blipFill>
                <a:blip r:embed="rId3"/>
                <a:stretch>
                  <a:fillRect l="-870" t="-641"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6660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D4203-A4B5-49E1-C318-46EC2E5AC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Lloyd Iteration — Step 1: Assignment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49AD91F-1E0A-9B45-965D-1DA625264117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1 OF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1ECA4E-8A4B-5142-85B1-AA700994DEAB}"/>
              </a:ext>
            </a:extLst>
          </p:cNvPr>
          <p:cNvSpPr txBox="1"/>
          <p:nvPr/>
        </p:nvSpPr>
        <p:spPr>
          <a:xfrm>
            <a:off x="838200" y="2235200"/>
            <a:ext cx="5461000" cy="135421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Assign each point to its nearest centroid</a:t>
            </a:r>
          </a:p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Compare every point to both centroids μ₁ = (1, 1) and μ₂ = (8, 8), and pick the smaller squared distance.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The three low points fall to cluster 1; the three high points fall to cluster 2.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4EA595A-7452-3441-8D31-9A33D79C733A}"/>
              </a:ext>
            </a:extLst>
          </p:cNvPr>
          <p:cNvSpPr/>
          <p:nvPr/>
        </p:nvSpPr>
        <p:spPr>
          <a:xfrm>
            <a:off x="6477000" y="2235200"/>
            <a:ext cx="4876800" cy="3860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9483B0-6C59-F941-881D-B34157A52DD6}"/>
              </a:ext>
            </a:extLst>
          </p:cNvPr>
          <p:cNvSpPr txBox="1"/>
          <p:nvPr/>
        </p:nvSpPr>
        <p:spPr>
          <a:xfrm>
            <a:off x="6705600" y="2438400"/>
            <a:ext cx="4445000" cy="136960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Assignment</a:t>
            </a:r>
          </a:p>
          <a:p>
            <a:pPr>
              <a:buNone/>
            </a:pPr>
            <a:endParaRPr lang="en-US" sz="300"/>
          </a:p>
          <a:p>
            <a:pPr>
              <a:buNone/>
            </a:pPr>
            <a:r>
              <a:rPr lang="en-US" sz="1500" b="1" dirty="0">
                <a:solidFill>
                  <a:srgbClr val="1F6FB2"/>
                </a:solidFill>
              </a:rPr>
              <a:t>Cluster 1  →  μ₁</a:t>
            </a:r>
            <a:endParaRPr lang="en-US" sz="1500"/>
          </a:p>
          <a:p>
            <a:pPr>
              <a:buNone/>
            </a:pPr>
            <a:r>
              <a:rPr lang="en-US" sz="1500" dirty="0">
                <a:solidFill>
                  <a:srgbClr val="1F6FB2"/>
                </a:solidFill>
                <a:latin typeface="Cambria Math"/>
              </a:rPr>
              <a:t>x₁=(1,1)   x₂=(1,2)   x₃=(2,1)</a:t>
            </a:r>
            <a:endParaRPr lang="en-US" sz="1500"/>
          </a:p>
          <a:p>
            <a:pPr>
              <a:buNone/>
            </a:pPr>
            <a:endParaRPr lang="en-US" sz="400"/>
          </a:p>
          <a:p>
            <a:pPr>
              <a:buNone/>
            </a:pPr>
            <a:r>
              <a:rPr lang="en-US" sz="1500" b="1" dirty="0">
                <a:solidFill>
                  <a:srgbClr val="E8833A"/>
                </a:solidFill>
              </a:rPr>
              <a:t>Cluster 2  →  μ₂</a:t>
            </a:r>
            <a:endParaRPr lang="en-US" sz="1500"/>
          </a:p>
          <a:p>
            <a:pPr>
              <a:buNone/>
            </a:pPr>
            <a:r>
              <a:rPr lang="en-US" sz="1500" dirty="0">
                <a:solidFill>
                  <a:srgbClr val="E8833A"/>
                </a:solidFill>
                <a:latin typeface="Cambria Math"/>
              </a:rPr>
              <a:t>x₄=(8,8)   x₅=(9,8)   x₆=(8,9)</a:t>
            </a: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6393552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D4203-A4B5-49E1-C318-46EC2E5AC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Lloyd Iteration — Step 2: Update Centroids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49AD91F-1E0A-9B45-965D-1DA625264117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2 OF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1ECA4E-8A4B-5142-85B1-AA700994DEAB}"/>
              </a:ext>
            </a:extLst>
          </p:cNvPr>
          <p:cNvSpPr txBox="1"/>
          <p:nvPr/>
        </p:nvSpPr>
        <p:spPr>
          <a:xfrm>
            <a:off x="838200" y="2235200"/>
            <a:ext cx="5461000" cy="112338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Recompute each centroid as the cluster mean</a:t>
            </a:r>
          </a:p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Average the points assigned to each cluster, coordinate by coordinate.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Both centroids move toward the centre of their three points.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4EA595A-7452-3441-8D31-9A33D79C733A}"/>
              </a:ext>
            </a:extLst>
          </p:cNvPr>
          <p:cNvSpPr/>
          <p:nvPr/>
        </p:nvSpPr>
        <p:spPr>
          <a:xfrm>
            <a:off x="6477000" y="2235200"/>
            <a:ext cx="4876800" cy="3860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9483B0-6C59-F941-881D-B34157A52DD6}"/>
              </a:ext>
            </a:extLst>
          </p:cNvPr>
          <p:cNvSpPr txBox="1"/>
          <p:nvPr/>
        </p:nvSpPr>
        <p:spPr>
          <a:xfrm>
            <a:off x="6705600" y="2438400"/>
            <a:ext cx="4445000" cy="18312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Update</a:t>
            </a:r>
          </a:p>
          <a:p>
            <a:pPr>
              <a:buNone/>
            </a:pPr>
            <a:endParaRPr lang="en-US" sz="300"/>
          </a:p>
          <a:p>
            <a:pPr>
              <a:buNone/>
            </a:pPr>
            <a:r>
              <a:rPr lang="en-US" sz="1500" b="1" dirty="0">
                <a:solidFill>
                  <a:srgbClr val="1F6FB2"/>
                </a:solidFill>
              </a:rPr>
              <a:t>Cluster 1</a:t>
            </a:r>
            <a:endParaRPr lang="en-US" sz="1500"/>
          </a:p>
          <a:p>
            <a:pPr>
              <a:buNone/>
            </a:pPr>
            <a:r>
              <a:rPr lang="en-US" sz="1500" dirty="0">
                <a:solidFill>
                  <a:srgbClr val="1F6FB2"/>
                </a:solidFill>
                <a:latin typeface="Cambria Math"/>
              </a:rPr>
              <a:t>μ₁ = (1+1+2, 1+2+1) / 3</a:t>
            </a:r>
            <a:endParaRPr lang="en-US" sz="1500"/>
          </a:p>
          <a:p>
            <a:pPr>
              <a:buNone/>
            </a:pPr>
            <a:r>
              <a:rPr lang="en-US" sz="1500" dirty="0">
                <a:solidFill>
                  <a:srgbClr val="1F6FB2"/>
                </a:solidFill>
                <a:latin typeface="Cambria Math"/>
              </a:rPr>
              <a:t>     = (4, 4) / 3 = (1.33, 1.33)</a:t>
            </a:r>
            <a:endParaRPr lang="en-US" sz="1500"/>
          </a:p>
          <a:p>
            <a:pPr>
              <a:buNone/>
            </a:pPr>
            <a:endParaRPr lang="en-US" sz="400"/>
          </a:p>
          <a:p>
            <a:pPr>
              <a:buNone/>
            </a:pPr>
            <a:r>
              <a:rPr lang="en-US" sz="1500" b="1" dirty="0">
                <a:solidFill>
                  <a:srgbClr val="E8833A"/>
                </a:solidFill>
              </a:rPr>
              <a:t>Cluster 2</a:t>
            </a:r>
            <a:endParaRPr lang="en-US" sz="1500"/>
          </a:p>
          <a:p>
            <a:pPr>
              <a:buNone/>
            </a:pPr>
            <a:r>
              <a:rPr lang="en-US" sz="1500" dirty="0">
                <a:solidFill>
                  <a:srgbClr val="E8833A"/>
                </a:solidFill>
                <a:latin typeface="Cambria Math"/>
              </a:rPr>
              <a:t>μ₂ = (8+9+8, 8+8+9) / 3</a:t>
            </a:r>
            <a:endParaRPr lang="en-US" sz="1500"/>
          </a:p>
          <a:p>
            <a:pPr>
              <a:buNone/>
            </a:pPr>
            <a:r>
              <a:rPr lang="en-US" sz="1500" dirty="0">
                <a:solidFill>
                  <a:srgbClr val="E8833A"/>
                </a:solidFill>
                <a:latin typeface="Cambria Math"/>
              </a:rPr>
              <a:t>     = (25, 25) / 3 = (8.33, 8.33)</a:t>
            </a: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5840289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D4203-A4B5-49E1-C318-46EC2E5AC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Lloyd Iteration — Step 3: Inertia &amp; Convergence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49AD91F-1E0A-9B45-965D-1DA625264117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3 OF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1ECA4E-8A4B-5142-85B1-AA700994DEAB}"/>
              </a:ext>
            </a:extLst>
          </p:cNvPr>
          <p:cNvSpPr txBox="1"/>
          <p:nvPr/>
        </p:nvSpPr>
        <p:spPr>
          <a:xfrm>
            <a:off x="838200" y="2235200"/>
            <a:ext cx="5461000" cy="135421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Measure the within-cluster spread</a:t>
            </a:r>
          </a:p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Inertia J adds up the squared distance from every point to its own centroid.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Re-assigning with the updated centroids keeps every point in the same cluster, so the algorithm has converged in one iteration.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4EA595A-7452-3441-8D31-9A33D79C733A}"/>
              </a:ext>
            </a:extLst>
          </p:cNvPr>
          <p:cNvSpPr/>
          <p:nvPr/>
        </p:nvSpPr>
        <p:spPr>
          <a:xfrm>
            <a:off x="6477000" y="2235200"/>
            <a:ext cx="4876800" cy="3860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9483B0-6C59-F941-881D-B34157A52DD6}"/>
              </a:ext>
            </a:extLst>
          </p:cNvPr>
          <p:cNvSpPr txBox="1"/>
          <p:nvPr/>
        </p:nvSpPr>
        <p:spPr>
          <a:xfrm>
            <a:off x="6705600" y="2438400"/>
            <a:ext cx="4445000" cy="143116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Inertia</a:t>
            </a:r>
          </a:p>
          <a:p>
            <a:pPr>
              <a:buNone/>
            </a:pPr>
            <a:endParaRPr lang="en-US" sz="300"/>
          </a:p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Cluster 1 spread:  </a:t>
            </a:r>
            <a:r>
              <a:rPr lang="en-US" sz="1500" b="1" dirty="0">
                <a:solidFill>
                  <a:srgbClr val="1F6FB2"/>
                </a:solidFill>
                <a:latin typeface="Cambria Math"/>
              </a:rPr>
              <a:t>1.33</a:t>
            </a:r>
            <a:endParaRPr lang="en-US" sz="1500"/>
          </a:p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Cluster 2 spread:  </a:t>
            </a:r>
            <a:r>
              <a:rPr lang="en-US" sz="1500" b="1" dirty="0">
                <a:solidFill>
                  <a:srgbClr val="E8833A"/>
                </a:solidFill>
                <a:latin typeface="Cambria Math"/>
              </a:rPr>
              <a:t>1.33</a:t>
            </a:r>
            <a:endParaRPr lang="en-US" sz="1500"/>
          </a:p>
          <a:p>
            <a:pPr>
              <a:buNone/>
            </a:pPr>
            <a:endParaRPr lang="en-US" sz="400"/>
          </a:p>
          <a:p>
            <a:pPr>
              <a:buNone/>
            </a:pPr>
            <a:r>
              <a:rPr lang="en-US" sz="1500" b="1" dirty="0">
                <a:solidFill>
                  <a:srgbClr val="333333"/>
                </a:solidFill>
                <a:latin typeface="Cambria Math"/>
              </a:rPr>
              <a:t>J = 1.33 + 1.33 = 2.67</a:t>
            </a:r>
            <a:endParaRPr lang="en-US" sz="1500"/>
          </a:p>
          <a:p>
            <a:pPr>
              <a:buNone/>
            </a:pPr>
            <a:endParaRPr lang="en-US" sz="400"/>
          </a:p>
          <a:p>
            <a:pPr>
              <a:buNone/>
            </a:pPr>
            <a:r>
              <a:rPr lang="en-US" sz="1500" b="1" dirty="0">
                <a:solidFill>
                  <a:srgbClr val="00A7B5"/>
                </a:solidFill>
              </a:rPr>
              <a:t>Assignments unchanged  ⇒  converged</a:t>
            </a: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66968390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790EF-7222-5516-02A9-8FD250F89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Form — Step 1: Stack the Data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922C87D-17C9-E741-820D-E9A2EDF08D1B}"/>
              </a:ext>
            </a:extLst>
          </p:cNvPr>
          <p:cNvSpPr/>
          <p:nvPr/>
        </p:nvSpPr>
        <p:spPr>
          <a:xfrm>
            <a:off x="609600" y="1905000"/>
            <a:ext cx="1219200" cy="330200"/>
          </a:xfrm>
          <a:prstGeom prst="roundRect">
            <a:avLst/>
          </a:prstGeom>
          <a:solidFill>
            <a:srgbClr val="0A7C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1 OF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9414DE-BF21-534C-BDA4-C9E87AF796E9}"/>
              </a:ext>
            </a:extLst>
          </p:cNvPr>
          <p:cNvSpPr txBox="1"/>
          <p:nvPr/>
        </p:nvSpPr>
        <p:spPr>
          <a:xfrm>
            <a:off x="609600" y="2336800"/>
            <a:ext cx="5461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Rows are data points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F578D9-00D4-C64E-8A83-CAB1EA9DFBCF}"/>
              </a:ext>
            </a:extLst>
          </p:cNvPr>
          <p:cNvSpPr txBox="1"/>
          <p:nvPr/>
        </p:nvSpPr>
        <p:spPr>
          <a:xfrm>
            <a:off x="609600" y="2844800"/>
            <a:ext cx="5461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Stack the six observations x₁…x₆ as the rows of the data matrix X.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X is 6×2: six points, two features per point.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75730A-8D89-F84E-88E3-1F952EE4054E}"/>
              </a:ext>
            </a:extLst>
          </p:cNvPr>
          <p:cNvSpPr txBox="1"/>
          <p:nvPr/>
        </p:nvSpPr>
        <p:spPr>
          <a:xfrm>
            <a:off x="609600" y="4546600"/>
            <a:ext cx="546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Each column is one feature dimension.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Eq200"/>
              <p:cNvSpPr txBox="1"/>
              <p:nvPr/>
            </p:nvSpPr>
            <p:spPr>
              <a:xfrm>
                <a:off x="6604000" y="1905000"/>
                <a:ext cx="4724400" cy="3810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𝑋</m:t>
                      </m:r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00" name="Eq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0" y="1905000"/>
                <a:ext cx="4724400" cy="381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671475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790EF-7222-5516-02A9-8FD250F89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Form — Step 2: Stack the Centroids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922C87D-17C9-E741-820D-E9A2EDF08D1B}"/>
              </a:ext>
            </a:extLst>
          </p:cNvPr>
          <p:cNvSpPr/>
          <p:nvPr/>
        </p:nvSpPr>
        <p:spPr>
          <a:xfrm>
            <a:off x="609600" y="1905000"/>
            <a:ext cx="1219200" cy="330200"/>
          </a:xfrm>
          <a:prstGeom prst="roundRect">
            <a:avLst/>
          </a:prstGeom>
          <a:solidFill>
            <a:srgbClr val="0A7C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2 OF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9414DE-BF21-534C-BDA4-C9E87AF796E9}"/>
              </a:ext>
            </a:extLst>
          </p:cNvPr>
          <p:cNvSpPr txBox="1"/>
          <p:nvPr/>
        </p:nvSpPr>
        <p:spPr>
          <a:xfrm>
            <a:off x="609600" y="2336800"/>
            <a:ext cx="5461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Rows are centroids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F578D9-00D4-C64E-8A83-CAB1EA9DFBCF}"/>
              </a:ext>
            </a:extLst>
          </p:cNvPr>
          <p:cNvSpPr txBox="1"/>
          <p:nvPr/>
        </p:nvSpPr>
        <p:spPr>
          <a:xfrm>
            <a:off x="609600" y="2844800"/>
            <a:ext cx="5461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Stack the two initial centroids μ₁ = (1, 1) and μ₂ = (8, 8) as the rows of M⁽⁰⁾ (2×2).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Cluster 1 = blue, cluster 2 = orange. We keep this colour coding throughout.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75730A-8D89-F84E-88E3-1F952EE4054E}"/>
              </a:ext>
            </a:extLst>
          </p:cNvPr>
          <p:cNvSpPr txBox="1"/>
          <p:nvPr/>
        </p:nvSpPr>
        <p:spPr>
          <a:xfrm>
            <a:off x="609600" y="4546600"/>
            <a:ext cx="546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One row per cluster centre.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Eq200"/>
              <p:cNvSpPr txBox="1"/>
              <p:nvPr/>
            </p:nvSpPr>
            <p:spPr>
              <a:xfrm>
                <a:off x="6604000" y="1905000"/>
                <a:ext cx="4724400" cy="3810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𝑀</m:t>
                          </m:r>
                        </m:e>
                        <m:sup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(0)</m:t>
                          </m:r>
                        </m:sup>
                      </m:sSup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00" name="Eq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0" y="1905000"/>
                <a:ext cx="4724400" cy="381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028265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BC98E-25B1-8191-D0D4-6A8C37E04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Matrix — Step 1: The Formula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470BC85-511F-0344-860A-EB28405AE367}"/>
              </a:ext>
            </a:extLst>
          </p:cNvPr>
          <p:cNvSpPr/>
          <p:nvPr/>
        </p:nvSpPr>
        <p:spPr>
          <a:xfrm>
            <a:off x="609600" y="1905000"/>
            <a:ext cx="1219200" cy="330200"/>
          </a:xfrm>
          <a:prstGeom prst="roundRect">
            <a:avLst/>
          </a:prstGeom>
          <a:solidFill>
            <a:srgbClr val="0A7C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1 OF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095726-7DFA-CA4E-814D-579B3E42B0A5}"/>
              </a:ext>
            </a:extLst>
          </p:cNvPr>
          <p:cNvSpPr txBox="1"/>
          <p:nvPr/>
        </p:nvSpPr>
        <p:spPr>
          <a:xfrm>
            <a:off x="609600" y="2336800"/>
            <a:ext cx="5461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Every point to every centroid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AFCA49-F08A-9B43-835C-8A43C92E1E04}"/>
              </a:ext>
            </a:extLst>
          </p:cNvPr>
          <p:cNvSpPr txBox="1"/>
          <p:nvPr/>
        </p:nvSpPr>
        <p:spPr>
          <a:xfrm>
            <a:off x="609600" y="2844800"/>
            <a:ext cx="5461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Build a 6×2 matrix D. Entry D(i, k) is the squared Euclidean distance from point xᵢ to centroid μₖ.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Column 1 measures distance to μ₁ (blue); column 2 to μ₂ (orange).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CCA934-AF4C-CA4C-BBF0-F609D4FC0421}"/>
              </a:ext>
            </a:extLst>
          </p:cNvPr>
          <p:cNvSpPr txBox="1"/>
          <p:nvPr/>
        </p:nvSpPr>
        <p:spPr>
          <a:xfrm>
            <a:off x="609600" y="4368800"/>
            <a:ext cx="546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Smaller entry in a row = the nearer centroid.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Eq200"/>
              <p:cNvSpPr txBox="1"/>
              <p:nvPr/>
            </p:nvSpPr>
            <p:spPr>
              <a:xfrm>
                <a:off x="6350000" y="2159000"/>
                <a:ext cx="5003800" cy="3302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𝑖𝑘</m:t>
                          </m:r>
                        </m:sub>
                      </m:sSub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7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7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800"/>
              </a:p>
              <a:p>
                <a:pPr>
                  <a:buNone/>
                </a:pPr>
                <a:endParaRPr lang="en-US" sz="8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7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7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𝑘</m:t>
                                  </m:r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7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7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𝑘</m:t>
                                  </m:r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800"/>
              </a:p>
            </p:txBody>
          </p:sp>
        </mc:Choice>
        <mc:Fallback>
          <p:sp>
            <p:nvSpPr>
              <p:cNvPr id="200" name="Eq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0" y="2159000"/>
                <a:ext cx="5003800" cy="330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291395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BC98E-25B1-8191-D0D4-6A8C37E04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Matrix — Step 2: Compute Column 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470BC85-511F-0344-860A-EB28405AE367}"/>
              </a:ext>
            </a:extLst>
          </p:cNvPr>
          <p:cNvSpPr/>
          <p:nvPr/>
        </p:nvSpPr>
        <p:spPr>
          <a:xfrm>
            <a:off x="609600" y="1905000"/>
            <a:ext cx="1219200" cy="330200"/>
          </a:xfrm>
          <a:prstGeom prst="roundRect">
            <a:avLst/>
          </a:prstGeom>
          <a:solidFill>
            <a:srgbClr val="0A7C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2 OF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095726-7DFA-CA4E-814D-579B3E42B0A5}"/>
              </a:ext>
            </a:extLst>
          </p:cNvPr>
          <p:cNvSpPr txBox="1"/>
          <p:nvPr/>
        </p:nvSpPr>
        <p:spPr>
          <a:xfrm>
            <a:off x="609600" y="2336800"/>
            <a:ext cx="5461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Distances to μ₁ = (1, 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AFCA49-F08A-9B43-835C-8A43C92E1E04}"/>
              </a:ext>
            </a:extLst>
          </p:cNvPr>
          <p:cNvSpPr txBox="1"/>
          <p:nvPr/>
        </p:nvSpPr>
        <p:spPr>
          <a:xfrm>
            <a:off x="609600" y="2844800"/>
            <a:ext cx="5461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Set k = 1 and apply the formula to each point. For x₂ = (1, 2):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Repeating for all six points fills column 1 of 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CCA934-AF4C-CA4C-BBF0-F609D4FC0421}"/>
              </a:ext>
            </a:extLst>
          </p:cNvPr>
          <p:cNvSpPr txBox="1"/>
          <p:nvPr/>
        </p:nvSpPr>
        <p:spPr>
          <a:xfrm>
            <a:off x="609600" y="4368800"/>
            <a:ext cx="546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Column 1 = squared distances to μ₁.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Eq200"/>
              <p:cNvSpPr txBox="1"/>
              <p:nvPr/>
            </p:nvSpPr>
            <p:spPr>
              <a:xfrm>
                <a:off x="6350000" y="2159000"/>
                <a:ext cx="5003800" cy="3302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21</m:t>
                          </m:r>
                        </m:sub>
                      </m:sSub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1−1</m:t>
                              </m:r>
                            </m:e>
                          </m:d>
                        </m:e>
                        <m:sup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2−1</m:t>
                              </m:r>
                            </m:e>
                          </m:d>
                        </m:e>
                        <m:sup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=0+1=1</m:t>
                      </m:r>
                    </m:oMath>
                  </m:oMathPara>
                </a14:m>
                <a:endParaRPr lang="en-US" sz="800"/>
              </a:p>
              <a:p>
                <a:pPr>
                  <a:buNone/>
                </a:pPr>
                <a:endParaRPr lang="en-US" sz="9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solidFill>
                            <a:srgbClr val="1F6FB2"/>
                          </a:solidFill>
                          <a:latin typeface="Cambria Math"/>
                        </a:rPr>
                        <m:t>𝑑</m:t>
                      </m:r>
                      <m:r>
                        <a:rPr lang="en-US" sz="1700">
                          <a:solidFill>
                            <a:srgbClr val="1F6FB2"/>
                          </a:solidFill>
                          <a:latin typeface="Cambria Math"/>
                        </a:rPr>
                        <m:t>(·, </m:t>
                      </m:r>
                      <m:r>
                        <a:rPr lang="en-US" sz="1700">
                          <a:solidFill>
                            <a:srgbClr val="1F6FB2"/>
                          </a:solidFill>
                          <a:latin typeface="Cambria Math"/>
                        </a:rPr>
                        <m:t>𝜇</m:t>
                      </m:r>
                      <m:r>
                        <a:rPr lang="en-US" sz="1700">
                          <a:solidFill>
                            <a:srgbClr val="1F6FB2"/>
                          </a:solidFill>
                          <a:latin typeface="Cambria Math"/>
                        </a:rPr>
                        <m:t>₁)=</m:t>
                      </m:r>
                      <m:sSup>
                        <m:sSup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6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7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1700">
                                        <a:solidFill>
                                          <a:srgbClr val="1F6FB2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1F6FB2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1F6FB2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1F6FB2"/>
                                        </a:solidFill>
                                        <a:latin typeface="Cambria Math"/>
                                      </a:rPr>
                                      <m:t>98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1F6FB2"/>
                                        </a:solidFill>
                                        <a:latin typeface="Cambria Math"/>
                                      </a:rPr>
                                      <m:t>113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1F6FB2"/>
                                        </a:solidFill>
                                        <a:latin typeface="Cambria Math"/>
                                      </a:rPr>
                                      <m:t>113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800"/>
              </a:p>
            </p:txBody>
          </p:sp>
        </mc:Choice>
        <mc:Fallback>
          <p:sp>
            <p:nvSpPr>
              <p:cNvPr id="200" name="Eq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0" y="2159000"/>
                <a:ext cx="5003800" cy="330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076210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BC98E-25B1-8191-D0D4-6A8C37E04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Matrix — Step 3: Assemble 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470BC85-511F-0344-860A-EB28405AE367}"/>
              </a:ext>
            </a:extLst>
          </p:cNvPr>
          <p:cNvSpPr/>
          <p:nvPr/>
        </p:nvSpPr>
        <p:spPr>
          <a:xfrm>
            <a:off x="609600" y="1905000"/>
            <a:ext cx="1219200" cy="330200"/>
          </a:xfrm>
          <a:prstGeom prst="roundRect">
            <a:avLst/>
          </a:prstGeom>
          <a:solidFill>
            <a:srgbClr val="0A7C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3 OF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095726-7DFA-CA4E-814D-579B3E42B0A5}"/>
              </a:ext>
            </a:extLst>
          </p:cNvPr>
          <p:cNvSpPr txBox="1"/>
          <p:nvPr/>
        </p:nvSpPr>
        <p:spPr>
          <a:xfrm>
            <a:off x="609600" y="2336800"/>
            <a:ext cx="5461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All distances at once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AFCA49-F08A-9B43-835C-8A43C92E1E04}"/>
              </a:ext>
            </a:extLst>
          </p:cNvPr>
          <p:cNvSpPr txBox="1"/>
          <p:nvPr/>
        </p:nvSpPr>
        <p:spPr>
          <a:xfrm>
            <a:off x="609600" y="2844800"/>
            <a:ext cx="5461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Column 1 = distances to μ₁ (blue); column 2 = distances to μ₂ (orange).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The smaller value in each row (bold) marks the nearer centroid.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CCA934-AF4C-CA4C-BBF0-F609D4FC0421}"/>
              </a:ext>
            </a:extLst>
          </p:cNvPr>
          <p:cNvSpPr txBox="1"/>
          <p:nvPr/>
        </p:nvSpPr>
        <p:spPr>
          <a:xfrm>
            <a:off x="609600" y="4368800"/>
            <a:ext cx="546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Bold entries preview the assignment in the next step.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Eq200"/>
              <p:cNvSpPr txBox="1"/>
              <p:nvPr/>
            </p:nvSpPr>
            <p:spPr>
              <a:xfrm>
                <a:off x="6350000" y="2159000"/>
                <a:ext cx="5003800" cy="3302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𝐷</m:t>
                      </m:r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700" b="1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98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 b="1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85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 b="1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85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98</m:t>
                                </m:r>
                              </m:e>
                              <m:e>
                                <m:r>
                                  <a:rPr lang="en-US" sz="1700" b="1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113</m:t>
                                </m:r>
                              </m:e>
                              <m:e>
                                <m:r>
                                  <a:rPr lang="en-US" sz="1700" b="1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113</m:t>
                                </m:r>
                              </m:e>
                              <m:e>
                                <m:r>
                                  <a:rPr lang="en-US" sz="1700" b="1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800"/>
              </a:p>
            </p:txBody>
          </p:sp>
        </mc:Choice>
        <mc:Fallback>
          <p:sp>
            <p:nvSpPr>
              <p:cNvPr id="200" name="Eq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0" y="2159000"/>
                <a:ext cx="5003800" cy="330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481142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033A-3E00-72BA-B17B-4DAD0360F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— Step 1: Nearest Centroid (argmin)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0A669A5-123F-554A-84A3-C18B2B93F0BE}"/>
              </a:ext>
            </a:extLst>
          </p:cNvPr>
          <p:cNvSpPr/>
          <p:nvPr/>
        </p:nvSpPr>
        <p:spPr>
          <a:xfrm>
            <a:off x="609600" y="1905000"/>
            <a:ext cx="1219200" cy="330200"/>
          </a:xfrm>
          <a:prstGeom prst="roundRect">
            <a:avLst/>
          </a:prstGeom>
          <a:solidFill>
            <a:srgbClr val="0A7C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1 OF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5E252C-B0C1-3041-A6AA-2632D963D700}"/>
              </a:ext>
            </a:extLst>
          </p:cNvPr>
          <p:cNvSpPr txBox="1"/>
          <p:nvPr/>
        </p:nvSpPr>
        <p:spPr>
          <a:xfrm>
            <a:off x="609600" y="2336800"/>
            <a:ext cx="558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Pick the nearest centroid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D65808-EE54-AA4E-BD45-50DA632AB6B4}"/>
              </a:ext>
            </a:extLst>
          </p:cNvPr>
          <p:cNvSpPr txBox="1"/>
          <p:nvPr/>
        </p:nvSpPr>
        <p:spPr>
          <a:xfrm>
            <a:off x="609600" y="2844800"/>
            <a:ext cx="5588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For each row of D, the assignment cᵢ is the column index of the smaller squared distance — the nearer centroid.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Rows 1–3 → cluster 1 (blue);  rows 4–6 → cluster 2 (orange).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D79302-A7D6-FD47-A67A-13978F160F57}"/>
              </a:ext>
            </a:extLst>
          </p:cNvPr>
          <p:cNvSpPr txBox="1"/>
          <p:nvPr/>
        </p:nvSpPr>
        <p:spPr>
          <a:xfrm>
            <a:off x="609600" y="4470400"/>
            <a:ext cx="558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c records each point’s cluster label.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Eq200"/>
              <p:cNvSpPr txBox="1"/>
              <p:nvPr/>
            </p:nvSpPr>
            <p:spPr>
              <a:xfrm>
                <a:off x="6413500" y="2159000"/>
                <a:ext cx="4940300" cy="3302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𝑎𝑟𝑔</m:t>
                          </m:r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𝑚𝑖𝑛</m:t>
                          </m:r>
                        </m:e>
                        <m:sub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𝑖𝑘</m:t>
                          </m:r>
                        </m:sub>
                      </m:sSub>
                    </m:oMath>
                  </m:oMathPara>
                </a14:m>
                <a:endParaRPr lang="en-US" sz="800"/>
              </a:p>
              <a:p>
                <a:pPr>
                  <a:buNone/>
                </a:pPr>
                <a:endParaRPr lang="en-US" sz="9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𝑐</m:t>
                      </m:r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6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7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1700">
                                        <a:solidFill>
                                          <a:srgbClr val="1F6FB2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1F6FB2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1F6FB2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E8833A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E8833A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E8833A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800"/>
              </a:p>
            </p:txBody>
          </p:sp>
        </mc:Choice>
        <mc:Fallback>
          <p:sp>
            <p:nvSpPr>
              <p:cNvPr id="200" name="Eq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00" y="2159000"/>
                <a:ext cx="4940300" cy="330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445625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033A-3E00-72BA-B17B-4DAD0360F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— Step 2: One-Hot Matrix Z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0A669A5-123F-554A-84A3-C18B2B93F0BE}"/>
              </a:ext>
            </a:extLst>
          </p:cNvPr>
          <p:cNvSpPr/>
          <p:nvPr/>
        </p:nvSpPr>
        <p:spPr>
          <a:xfrm>
            <a:off x="609600" y="1905000"/>
            <a:ext cx="1219200" cy="330200"/>
          </a:xfrm>
          <a:prstGeom prst="roundRect">
            <a:avLst/>
          </a:prstGeom>
          <a:solidFill>
            <a:srgbClr val="0A7C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2 OF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5E252C-B0C1-3041-A6AA-2632D963D700}"/>
              </a:ext>
            </a:extLst>
          </p:cNvPr>
          <p:cNvSpPr txBox="1"/>
          <p:nvPr/>
        </p:nvSpPr>
        <p:spPr>
          <a:xfrm>
            <a:off x="609600" y="2336800"/>
            <a:ext cx="558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Encode labels as a binary matrix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D65808-EE54-AA4E-BD45-50DA632AB6B4}"/>
              </a:ext>
            </a:extLst>
          </p:cNvPr>
          <p:cNvSpPr txBox="1"/>
          <p:nvPr/>
        </p:nvSpPr>
        <p:spPr>
          <a:xfrm>
            <a:off x="609600" y="2844800"/>
            <a:ext cx="5588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Z is 6×2. Row i puts a 1 in the assigned column and 0 elsewhere — the one-hot code of cᵢ.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Each column sum is the cluster size: 3 and 3.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D79302-A7D6-FD47-A67A-13978F160F57}"/>
              </a:ext>
            </a:extLst>
          </p:cNvPr>
          <p:cNvSpPr txBox="1"/>
          <p:nvPr/>
        </p:nvSpPr>
        <p:spPr>
          <a:xfrm>
            <a:off x="609600" y="4470400"/>
            <a:ext cx="558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Z turns the assignment into linear algebra.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Eq200"/>
              <p:cNvSpPr txBox="1"/>
              <p:nvPr/>
            </p:nvSpPr>
            <p:spPr>
              <a:xfrm>
                <a:off x="6413500" y="2159000"/>
                <a:ext cx="4940300" cy="3302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𝑍</m:t>
                      </m:r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700" b="1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 b="1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 b="1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700" b="1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700" b="1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700" b="1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800"/>
              </a:p>
            </p:txBody>
          </p:sp>
        </mc:Choice>
        <mc:Fallback>
          <p:sp>
            <p:nvSpPr>
              <p:cNvPr id="200" name="Eq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00" y="2159000"/>
                <a:ext cx="4940300" cy="330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437516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07D51-A499-6424-C096-66746A688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— Step 1: Cluster Sums ZᵀX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91DE7F9-8A61-3F4A-9F36-DB34018EF8EE}"/>
              </a:ext>
            </a:extLst>
          </p:cNvPr>
          <p:cNvSpPr/>
          <p:nvPr/>
        </p:nvSpPr>
        <p:spPr>
          <a:xfrm>
            <a:off x="609600" y="1905000"/>
            <a:ext cx="1219200" cy="330200"/>
          </a:xfrm>
          <a:prstGeom prst="roundRect">
            <a:avLst/>
          </a:prstGeom>
          <a:solidFill>
            <a:srgbClr val="0A7C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1 OF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C874EA-9818-6C4C-BADF-CF876F7DE344}"/>
              </a:ext>
            </a:extLst>
          </p:cNvPr>
          <p:cNvSpPr txBox="1"/>
          <p:nvPr/>
        </p:nvSpPr>
        <p:spPr>
          <a:xfrm>
            <a:off x="2032000" y="1917700"/>
            <a:ext cx="558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Each row of Zᵀ picks its cluster’s points and adds them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9D3251-E2ED-FA4B-A962-0555DF07679C}"/>
              </a:ext>
            </a:extLst>
          </p:cNvPr>
          <p:cNvSpPr txBox="1"/>
          <p:nvPr/>
        </p:nvSpPr>
        <p:spPr>
          <a:xfrm>
            <a:off x="609600" y="5054600"/>
            <a:ext cx="5588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500" dirty="0">
                <a:solidFill>
                  <a:srgbClr val="333333"/>
                </a:solidFill>
              </a:rPr>
              <a:t>Row 1 (blue) = [1 1 1 0 0 0] selects x₁,x₂,x₃ → sum (4, 4).  Row 2 (orange) = [0 0 0 1 1 1] selects x₄,x₅,x₆ → sum (25, 25).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Eq200"/>
              <p:cNvSpPr txBox="1"/>
              <p:nvPr/>
            </p:nvSpPr>
            <p:spPr>
              <a:xfrm>
                <a:off x="609600" y="2667000"/>
                <a:ext cx="10972800" cy="2286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𝑍</m:t>
                          </m:r>
                        </m:e>
                        <m:sup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𝑋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25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25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800"/>
              </a:p>
            </p:txBody>
          </p:sp>
        </mc:Choice>
        <mc:Fallback>
          <p:sp>
            <p:nvSpPr>
              <p:cNvPr id="200" name="Eq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667000"/>
                <a:ext cx="109728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173003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07D51-A499-6424-C096-66746A688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— Step 2: Cluster Sizes &amp; Divide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91DE7F9-8A61-3F4A-9F36-DB34018EF8EE}"/>
              </a:ext>
            </a:extLst>
          </p:cNvPr>
          <p:cNvSpPr/>
          <p:nvPr/>
        </p:nvSpPr>
        <p:spPr>
          <a:xfrm>
            <a:off x="609600" y="1905000"/>
            <a:ext cx="1219200" cy="330200"/>
          </a:xfrm>
          <a:prstGeom prst="roundRect">
            <a:avLst/>
          </a:prstGeom>
          <a:solidFill>
            <a:srgbClr val="0A7C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2 OF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C874EA-9818-6C4C-BADF-CF876F7DE344}"/>
              </a:ext>
            </a:extLst>
          </p:cNvPr>
          <p:cNvSpPr txBox="1"/>
          <p:nvPr/>
        </p:nvSpPr>
        <p:spPr>
          <a:xfrm>
            <a:off x="2032000" y="1917700"/>
            <a:ext cx="558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Zᵀ1 counts each cluster, then divide the sums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9D3251-E2ED-FA4B-A962-0555DF07679C}"/>
              </a:ext>
            </a:extLst>
          </p:cNvPr>
          <p:cNvSpPr txBox="1"/>
          <p:nvPr/>
        </p:nvSpPr>
        <p:spPr>
          <a:xfrm>
            <a:off x="609600" y="5054600"/>
            <a:ext cx="5588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500" dirty="0">
                <a:solidFill>
                  <a:srgbClr val="333333"/>
                </a:solidFill>
              </a:rPr>
              <a:t>Each cluster has Nₖ = 3 points. Dividing row k of ZᵀX by Nₖ gives the new centroid μₖ.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Eq200"/>
              <p:cNvSpPr txBox="1"/>
              <p:nvPr/>
            </p:nvSpPr>
            <p:spPr>
              <a:xfrm>
                <a:off x="609600" y="2667000"/>
                <a:ext cx="10972800" cy="2286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𝑍</m:t>
                          </m:r>
                        </m:e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1600">
                          <a:solidFill>
                            <a:srgbClr val="333333"/>
                          </a:solidFill>
                          <a:latin typeface="Cambria Math"/>
                        </a:rPr>
                        <m:t>1=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600">
                          <a:solidFill>
                            <a:srgbClr val="888888"/>
                          </a:solidFill>
                          <a:latin typeface="Cambria Math"/>
                        </a:rPr>
                        <m:t>  (</m:t>
                      </m:r>
                      <m:r>
                        <a:rPr lang="en-US" sz="1600">
                          <a:solidFill>
                            <a:srgbClr val="888888"/>
                          </a:solidFill>
                          <a:latin typeface="Cambria Math"/>
                        </a:rPr>
                        <m:t>𝑐𝑙𝑢𝑠𝑡𝑒𝑟</m:t>
                      </m:r>
                      <m:r>
                        <a:rPr lang="en-US" sz="1600">
                          <a:solidFill>
                            <a:srgbClr val="888888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600">
                          <a:solidFill>
                            <a:srgbClr val="888888"/>
                          </a:solidFill>
                          <a:latin typeface="Cambria Math"/>
                        </a:rPr>
                        <m:t>𝑠𝑖𝑧𝑒𝑠</m:t>
                      </m:r>
                      <m:r>
                        <a:rPr lang="en-US" sz="1600">
                          <a:solidFill>
                            <a:srgbClr val="888888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800"/>
              </a:p>
              <a:p>
                <a:pPr>
                  <a:buNone/>
                </a:pPr>
                <a:endParaRPr lang="en-US" sz="8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𝑀</m:t>
                          </m:r>
                        </m:e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(1)</m:t>
                          </m:r>
                        </m:sup>
                      </m:sSup>
                      <m:r>
                        <a:rPr lang="en-US" sz="16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sz="1600" i="1">
                                        <a:solidFill>
                                          <a:srgbClr val="1F6FB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>
                                        <a:solidFill>
                                          <a:srgbClr val="1F6FB2"/>
                                        </a:solidFill>
                                        <a:latin typeface="Cambria Math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US" sz="1600">
                                        <a:solidFill>
                                          <a:srgbClr val="1F6FB2"/>
                                        </a:solidFill>
                                        <a:latin typeface="Cambria Math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sz="1600" i="1">
                                        <a:solidFill>
                                          <a:srgbClr val="1F6FB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>
                                        <a:solidFill>
                                          <a:srgbClr val="1F6FB2"/>
                                        </a:solidFill>
                                        <a:latin typeface="Cambria Math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US" sz="1600">
                                        <a:solidFill>
                                          <a:srgbClr val="1F6FB2"/>
                                        </a:solidFill>
                                        <a:latin typeface="Cambria Math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sz="1600" i="1">
                                        <a:solidFill>
                                          <a:srgbClr val="E8833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>
                                        <a:solidFill>
                                          <a:srgbClr val="E8833A"/>
                                        </a:solidFill>
                                        <a:latin typeface="Cambria Math"/>
                                      </a:rPr>
                                      <m:t>25</m:t>
                                    </m:r>
                                  </m:num>
                                  <m:den>
                                    <m:r>
                                      <a:rPr lang="en-US" sz="1600">
                                        <a:solidFill>
                                          <a:srgbClr val="E8833A"/>
                                        </a:solidFill>
                                        <a:latin typeface="Cambria Math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sz="1600" i="1">
                                        <a:solidFill>
                                          <a:srgbClr val="E8833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>
                                        <a:solidFill>
                                          <a:srgbClr val="E8833A"/>
                                        </a:solidFill>
                                        <a:latin typeface="Cambria Math"/>
                                      </a:rPr>
                                      <m:t>25</m:t>
                                    </m:r>
                                  </m:num>
                                  <m:den>
                                    <m:r>
                                      <a:rPr lang="en-US" sz="1600">
                                        <a:solidFill>
                                          <a:srgbClr val="E8833A"/>
                                        </a:solidFill>
                                        <a:latin typeface="Cambria Math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800"/>
              </a:p>
            </p:txBody>
          </p:sp>
        </mc:Choice>
        <mc:Fallback>
          <p:sp>
            <p:nvSpPr>
              <p:cNvPr id="200" name="Eq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667000"/>
                <a:ext cx="109728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51821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07D51-A499-6424-C096-66746A688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— Step 3: New Centroids M⁽¹⁾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91DE7F9-8A61-3F4A-9F36-DB34018EF8EE}"/>
              </a:ext>
            </a:extLst>
          </p:cNvPr>
          <p:cNvSpPr/>
          <p:nvPr/>
        </p:nvSpPr>
        <p:spPr>
          <a:xfrm>
            <a:off x="609600" y="1905000"/>
            <a:ext cx="1219200" cy="330200"/>
          </a:xfrm>
          <a:prstGeom prst="roundRect">
            <a:avLst/>
          </a:prstGeom>
          <a:solidFill>
            <a:srgbClr val="0A7C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3 OF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C874EA-9818-6C4C-BADF-CF876F7DE344}"/>
              </a:ext>
            </a:extLst>
          </p:cNvPr>
          <p:cNvSpPr txBox="1"/>
          <p:nvPr/>
        </p:nvSpPr>
        <p:spPr>
          <a:xfrm>
            <a:off x="2032000" y="1917700"/>
            <a:ext cx="558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Each centroid moves to its cluster mean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9D3251-E2ED-FA4B-A962-0555DF07679C}"/>
              </a:ext>
            </a:extLst>
          </p:cNvPr>
          <p:cNvSpPr txBox="1"/>
          <p:nvPr/>
        </p:nvSpPr>
        <p:spPr>
          <a:xfrm>
            <a:off x="609600" y="5054600"/>
            <a:ext cx="5588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500" dirty="0">
                <a:solidFill>
                  <a:srgbClr val="333333"/>
                </a:solidFill>
              </a:rPr>
              <a:t>Centroids shift toward their points. Re-running the assignment leaves every cluster unchanged — the iteration has converged.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Eq200"/>
              <p:cNvSpPr txBox="1"/>
              <p:nvPr/>
            </p:nvSpPr>
            <p:spPr>
              <a:xfrm>
                <a:off x="609600" y="2667000"/>
                <a:ext cx="10972800" cy="2286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𝑀</m:t>
                          </m:r>
                        </m:e>
                        <m:sup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(0)</m:t>
                          </m:r>
                        </m:sup>
                      </m:sSup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5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 → </m:t>
                      </m:r>
                      <m:sSup>
                        <m:sSup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𝑀</m:t>
                          </m:r>
                        </m:e>
                        <m:sup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(1)</m:t>
                          </m:r>
                        </m:sup>
                      </m:sSup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5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1.33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1.33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8.33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8.33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800"/>
              </a:p>
            </p:txBody>
          </p:sp>
        </mc:Choice>
        <mc:Fallback>
          <p:sp>
            <p:nvSpPr>
              <p:cNvPr id="200" name="Eq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667000"/>
                <a:ext cx="109728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942316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79BDB-EEFC-8759-075C-7535C138E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Inertia — Step 1: Keep Each Point’s Own Distance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F7DF0B9-74E3-9A4C-A1B9-36A7E0C42BB4}"/>
              </a:ext>
            </a:extLst>
          </p:cNvPr>
          <p:cNvSpPr/>
          <p:nvPr/>
        </p:nvSpPr>
        <p:spPr>
          <a:xfrm>
            <a:off x="609600" y="1905000"/>
            <a:ext cx="1219200" cy="330200"/>
          </a:xfrm>
          <a:prstGeom prst="roundRect">
            <a:avLst/>
          </a:prstGeom>
          <a:solidFill>
            <a:srgbClr val="0A7C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1 OF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E9A3F4-0386-C340-AC3C-72228418C0F8}"/>
              </a:ext>
            </a:extLst>
          </p:cNvPr>
          <p:cNvSpPr txBox="1"/>
          <p:nvPr/>
        </p:nvSpPr>
        <p:spPr>
          <a:xfrm>
            <a:off x="2032000" y="1917700"/>
            <a:ext cx="558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Z ⊙ D keeps each point’s distance to its own centroid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BE3E75-592A-404A-9521-C6001A352A36}"/>
              </a:ext>
            </a:extLst>
          </p:cNvPr>
          <p:cNvSpPr txBox="1"/>
          <p:nvPr/>
        </p:nvSpPr>
        <p:spPr>
          <a:xfrm>
            <a:off x="609600" y="5054600"/>
            <a:ext cx="5588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500" dirty="0">
                <a:solidFill>
                  <a:srgbClr val="333333"/>
                </a:solidFill>
              </a:rPr>
              <a:t>The element-wise product masks D with Z: where Z = 1 the squared distance (to the updated centroid M⁽¹⁾) is kept; everywhere else it becomes 0.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Eq200"/>
              <p:cNvSpPr txBox="1"/>
              <p:nvPr/>
            </p:nvSpPr>
            <p:spPr>
              <a:xfrm>
                <a:off x="609600" y="2489200"/>
                <a:ext cx="10972800" cy="24892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𝑍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⊙</m:t>
                      </m:r>
                      <m:sSup>
                        <m:sSup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  <m:sup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(1)</m:t>
                          </m:r>
                        </m:sup>
                      </m:sSup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5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0.22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0.56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0.56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0.22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0.56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0.56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800"/>
              </a:p>
            </p:txBody>
          </p:sp>
        </mc:Choice>
        <mc:Fallback>
          <p:sp>
            <p:nvSpPr>
              <p:cNvPr id="200" name="Eq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489200"/>
                <a:ext cx="10972800" cy="24892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343045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79BDB-EEFC-8759-075C-7535C138E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Inertia — Step 2: Sum to Get J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F7DF0B9-74E3-9A4C-A1B9-36A7E0C42BB4}"/>
              </a:ext>
            </a:extLst>
          </p:cNvPr>
          <p:cNvSpPr/>
          <p:nvPr/>
        </p:nvSpPr>
        <p:spPr>
          <a:xfrm>
            <a:off x="609600" y="1905000"/>
            <a:ext cx="1219200" cy="330200"/>
          </a:xfrm>
          <a:prstGeom prst="roundRect">
            <a:avLst/>
          </a:prstGeom>
          <a:solidFill>
            <a:srgbClr val="0A7C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2 OF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E9A3F4-0386-C340-AC3C-72228418C0F8}"/>
              </a:ext>
            </a:extLst>
          </p:cNvPr>
          <p:cNvSpPr txBox="1"/>
          <p:nvPr/>
        </p:nvSpPr>
        <p:spPr>
          <a:xfrm>
            <a:off x="2032000" y="1917700"/>
            <a:ext cx="558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Add every kept entry → total inertia J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BE3E75-592A-404A-9521-C6001A352A36}"/>
              </a:ext>
            </a:extLst>
          </p:cNvPr>
          <p:cNvSpPr txBox="1"/>
          <p:nvPr/>
        </p:nvSpPr>
        <p:spPr>
          <a:xfrm>
            <a:off x="609600" y="5054600"/>
            <a:ext cx="5588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500" dirty="0">
                <a:solidFill>
                  <a:srgbClr val="333333"/>
                </a:solidFill>
              </a:rPr>
              <a:t>Each cluster contributes 1.33. Re-running assignment with M⁽¹⁾ leaves Z unchanged — the iteration has converged.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Eq200"/>
              <p:cNvSpPr txBox="1"/>
              <p:nvPr/>
            </p:nvSpPr>
            <p:spPr>
              <a:xfrm>
                <a:off x="609600" y="2489200"/>
                <a:ext cx="10972800" cy="24892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𝐽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>
                              <a:solidFill>
                                <a:srgbClr val="1F6FB2"/>
                              </a:solidFill>
                              <a:latin typeface="Cambria Math"/>
                            </a:rPr>
                            <m:t>0.22 + 0.56 + 0.56</m:t>
                          </m:r>
                        </m:e>
                      </m:d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>
                              <a:solidFill>
                                <a:srgbClr val="E8833A"/>
                              </a:solidFill>
                              <a:latin typeface="Cambria Math"/>
                            </a:rPr>
                            <m:t>0.22 + 0.56 + 0.56</m:t>
                          </m:r>
                        </m:e>
                      </m:d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500">
                          <a:solidFill>
                            <a:srgbClr val="1F6FB2"/>
                          </a:solidFill>
                          <a:latin typeface="Cambria Math"/>
                        </a:rPr>
                        <m:t>1.33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1500">
                          <a:solidFill>
                            <a:srgbClr val="E8833A"/>
                          </a:solidFill>
                          <a:latin typeface="Cambria Math"/>
                        </a:rPr>
                        <m:t>1.33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/>
                        </a:rPr>
                        <m:t>2.67</m:t>
                      </m:r>
                    </m:oMath>
                  </m:oMathPara>
                </a14:m>
                <a:endParaRPr lang="en-US" sz="800"/>
              </a:p>
            </p:txBody>
          </p:sp>
        </mc:Choice>
        <mc:Fallback>
          <p:sp>
            <p:nvSpPr>
              <p:cNvPr id="200" name="Eq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489200"/>
                <a:ext cx="10972800" cy="24892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72662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4C068-D16F-EAE0-2394-84E9736D7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2: Choosing k (Elbow)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774B6F0-E81A-CB4D-92A1-9A44F5048298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0C8DA17-B8B1-8744-BE75-887A66DB6F98}"/>
                  </a:ext>
                </a:extLst>
              </p:cNvPr>
              <p:cNvSpPr txBox="1"/>
              <p:nvPr/>
            </p:nvSpPr>
            <p:spPr>
              <a:xfrm>
                <a:off x="838200" y="2159000"/>
                <a:ext cx="4724400" cy="216982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</a:rPr>
                  <a:t>Task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Run k-means for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=1…6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and plot inertia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 Pick the 'elbow' where marginal gain drops.</a:t>
                </a:r>
              </a:p>
              <a:p>
                <a:pPr>
                  <a:buNone/>
                </a:pPr>
                <a:endParaRPr lang="en-US" sz="70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</a:rPr>
                  <a:t>Reading the curve</a:t>
                </a:r>
              </a:p>
              <a:p>
                <a:pPr marL="228600" indent="-228600"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always decreases as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grows.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The elbow at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is where adding clusters stops cutting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sharply.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Beyond the elbow, extra clusters only split noise.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0C8DA17-B8B1-8744-BE75-887A66DB6F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59000"/>
                <a:ext cx="4724400" cy="2169825"/>
              </a:xfrm>
              <a:prstGeom prst="rect">
                <a:avLst/>
              </a:prstGeom>
              <a:blipFill>
                <a:blip r:embed="rId2"/>
                <a:stretch>
                  <a:fillRect l="-804" t="-581" b="-2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1" name="ElbowChart"/>
          <p:cNvGraphicFramePr/>
          <p:nvPr/>
        </p:nvGraphicFramePr>
        <p:xfrm>
          <a:off x="5715000" y="2222500"/>
          <a:ext cx="5638800" cy="3873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416507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E6425-5FB7-0074-DBD4-0EED5D59E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3: Scaling Changes Clusters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6485515-52A8-6F48-A7AB-D2AB61120D7E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5D77E30-28E2-774E-A8DD-DE4E5B3ECC12}"/>
              </a:ext>
            </a:extLst>
          </p:cNvPr>
          <p:cNvSpPr/>
          <p:nvPr/>
        </p:nvSpPr>
        <p:spPr>
          <a:xfrm>
            <a:off x="838200" y="2311400"/>
            <a:ext cx="5143500" cy="3784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B2403E-899C-2846-B4AE-E36853C71188}"/>
                  </a:ext>
                </a:extLst>
              </p:cNvPr>
              <p:cNvSpPr txBox="1"/>
              <p:nvPr/>
            </p:nvSpPr>
            <p:spPr>
              <a:xfrm>
                <a:off x="1066800" y="2514600"/>
                <a:ext cx="4724400" cy="182492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800" b="1" dirty="0">
                    <a:solidFill>
                      <a:srgbClr val="B7A57A"/>
                    </a:solidFill>
                    <a:latin typeface="Arial"/>
                  </a:rPr>
                  <a:t>Raw features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Age (20–60) and Income ($20k–$120k).</a:t>
                </a:r>
              </a:p>
              <a:p>
                <a:pPr>
                  <a:buNone/>
                </a:pPr>
                <a:endParaRPr lang="en-US" sz="5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7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7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sz="1700">
                                      <a:solidFill>
                                        <a:srgbClr val="333333"/>
                                      </a:solidFill>
                                    </a:rPr>
                                    <m:t>Δage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7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sz="1700">
                                      <a:solidFill>
                                        <a:srgbClr val="333333"/>
                                      </a:solidFill>
                                    </a:rPr>
                                    <m:t>Δincome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500"/>
              </a:p>
              <a:p>
                <a:pPr>
                  <a:buNone/>
                </a:pPr>
                <a:endParaRPr lang="en-US" sz="5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Income spans ~100,000 while age spans ~40. The squared income term dominates the norm — clusters split almost entirely on income.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B2403E-899C-2846-B4AE-E36853C71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514600"/>
                <a:ext cx="4724400" cy="1824923"/>
              </a:xfrm>
              <a:prstGeom prst="rect">
                <a:avLst/>
              </a:prstGeom>
              <a:blipFill>
                <a:blip r:embed="rId2"/>
                <a:stretch>
                  <a:fillRect l="-1072" t="-2083" b="-34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30968C8-568C-9F46-A09F-8E688BD3BE40}"/>
              </a:ext>
            </a:extLst>
          </p:cNvPr>
          <p:cNvSpPr/>
          <p:nvPr/>
        </p:nvSpPr>
        <p:spPr>
          <a:xfrm>
            <a:off x="6210300" y="2311400"/>
            <a:ext cx="5143500" cy="3784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65439D6-55DB-1F4F-ADD2-734737AA96E9}"/>
                  </a:ext>
                </a:extLst>
              </p:cNvPr>
              <p:cNvSpPr txBox="1"/>
              <p:nvPr/>
            </p:nvSpPr>
            <p:spPr>
              <a:xfrm>
                <a:off x="6438900" y="2514600"/>
                <a:ext cx="4724400" cy="201574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800" b="1" dirty="0">
                    <a:solidFill>
                      <a:srgbClr val="00A7B5"/>
                    </a:solidFill>
                    <a:latin typeface="Arial"/>
                  </a:rPr>
                  <a:t>Standardized (z-score)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Each column rescaled to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  <a:p>
                <a:pPr>
                  <a:buNone/>
                </a:pPr>
                <a:endParaRPr lang="en-US" sz="5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sz="17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</m:d>
                        </m:num>
                        <m:den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en-US" sz="500"/>
              </a:p>
              <a:p>
                <a:pPr>
                  <a:buNone/>
                </a:pPr>
                <a:endParaRPr lang="en-US" sz="5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Both features now contribute equally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1600">
                                <a:solidFill>
                                  <a:srgbClr val="333333"/>
                                </a:solidFill>
                              </a:rPr>
                              <m:t>·</m:t>
                            </m:r>
                          </m:e>
                        </m:d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 Clusters reflect joint age–income structure. Always standardize before a Euclidean k-means.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65439D6-55DB-1F4F-ADD2-734737AA9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2514600"/>
                <a:ext cx="4724400" cy="2015745"/>
              </a:xfrm>
              <a:prstGeom prst="rect">
                <a:avLst/>
              </a:prstGeom>
              <a:blipFill>
                <a:blip r:embed="rId3"/>
                <a:stretch>
                  <a:fillRect l="-804" t="-1887" b="-3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989147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DB7D4-E544-DA87-3344-F06957D6E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K-Means — Exercises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80C9E46-303C-A241-A9E0-B0BFC127D1B7}"/>
              </a:ext>
            </a:extLst>
          </p:cNvPr>
          <p:cNvSpPr/>
          <p:nvPr/>
        </p:nvSpPr>
        <p:spPr>
          <a:xfrm>
            <a:off x="838200" y="2362200"/>
            <a:ext cx="558800" cy="5588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C4F5889-DB10-F444-B72A-CD0C2F831E99}"/>
              </a:ext>
            </a:extLst>
          </p:cNvPr>
          <p:cNvSpPr/>
          <p:nvPr/>
        </p:nvSpPr>
        <p:spPr>
          <a:xfrm>
            <a:off x="1625600" y="1905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9EBBA6-4617-5B4B-8502-C18CF6A348A8}"/>
                  </a:ext>
                </a:extLst>
              </p:cNvPr>
              <p:cNvSpPr txBox="1"/>
              <p:nvPr/>
            </p:nvSpPr>
            <p:spPr>
              <a:xfrm>
                <a:off x="1854200" y="2349212"/>
                <a:ext cx="9296400" cy="58477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</a:rPr>
                  <a:t>Two iterations.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Points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1,0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5,5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6,5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init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1,0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 Run Lloyd to convergence and give final centroids and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9EBBA6-4617-5B4B-8502-C18CF6A34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2349212"/>
                <a:ext cx="9296400" cy="584775"/>
              </a:xfrm>
              <a:prstGeom prst="rect">
                <a:avLst/>
              </a:prstGeom>
              <a:blipFill>
                <a:blip r:embed="rId2"/>
                <a:stretch>
                  <a:fillRect l="-273" t="-2128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1C7CC26C-4A3B-5F4A-BC2E-E0B35E420014}"/>
              </a:ext>
            </a:extLst>
          </p:cNvPr>
          <p:cNvSpPr/>
          <p:nvPr/>
        </p:nvSpPr>
        <p:spPr>
          <a:xfrm>
            <a:off x="838200" y="3886200"/>
            <a:ext cx="558800" cy="5588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6877246-760D-F341-99F2-3DC31B5F4ACA}"/>
              </a:ext>
            </a:extLst>
          </p:cNvPr>
          <p:cNvSpPr/>
          <p:nvPr/>
        </p:nvSpPr>
        <p:spPr>
          <a:xfrm>
            <a:off x="1625600" y="3429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8E152F7-68A6-464C-B39E-3396E280D55C}"/>
                  </a:ext>
                </a:extLst>
              </p:cNvPr>
              <p:cNvSpPr txBox="1"/>
              <p:nvPr/>
            </p:nvSpPr>
            <p:spPr>
              <a:xfrm>
                <a:off x="1854200" y="3873212"/>
                <a:ext cx="9296400" cy="58477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</a:rPr>
                  <a:t>Bad initialization.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Using the same data, show that init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1,0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can converge to a worse local optimum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6,5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 Compare both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values.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8E152F7-68A6-464C-B39E-3396E280D5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3873212"/>
                <a:ext cx="9296400" cy="584775"/>
              </a:xfrm>
              <a:prstGeom prst="rect">
                <a:avLst/>
              </a:prstGeom>
              <a:blipFill>
                <a:blip r:embed="rId3"/>
                <a:stretch>
                  <a:fillRect l="-273" t="-2128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D801405B-854B-264C-8F72-CCF72CB4858D}"/>
              </a:ext>
            </a:extLst>
          </p:cNvPr>
          <p:cNvSpPr/>
          <p:nvPr/>
        </p:nvSpPr>
        <p:spPr>
          <a:xfrm>
            <a:off x="838200" y="5410200"/>
            <a:ext cx="558800" cy="5588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E3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9180288-627F-D347-9868-59141ECDEF9D}"/>
              </a:ext>
            </a:extLst>
          </p:cNvPr>
          <p:cNvSpPr/>
          <p:nvPr/>
        </p:nvSpPr>
        <p:spPr>
          <a:xfrm>
            <a:off x="1625600" y="4953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08A6F2D-4901-3F4B-9C40-C11F3FFA1E03}"/>
                  </a:ext>
                </a:extLst>
              </p:cNvPr>
              <p:cNvSpPr txBox="1"/>
              <p:nvPr/>
            </p:nvSpPr>
            <p:spPr>
              <a:xfrm>
                <a:off x="1854200" y="5300775"/>
                <a:ext cx="9296400" cy="77764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</a:rPr>
                  <a:t>k-means++ probabilities.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Given chosen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and points at distances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0,2,7,8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compute the selection probability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p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for each remaining point.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08A6F2D-4901-3F4B-9C40-C11F3FFA1E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5300775"/>
                <a:ext cx="9296400" cy="777649"/>
              </a:xfrm>
              <a:prstGeom prst="rect">
                <a:avLst/>
              </a:prstGeom>
              <a:blipFill>
                <a:blip r:embed="rId4"/>
                <a:stretch>
                  <a:fillRect l="-273" t="-1613" b="-5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822299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A011686-373C-AB40-8B73-B9B089EB0B7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CF067B-99AD-C144-99E2-593684F72CE0}"/>
              </a:ext>
            </a:extLst>
          </p:cNvPr>
          <p:cNvSpPr/>
          <p:nvPr/>
        </p:nvSpPr>
        <p:spPr>
          <a:xfrm>
            <a:off x="838200" y="3810000"/>
            <a:ext cx="1524000" cy="101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A9FDD6-BE41-B54A-A5DC-B1F290D465EA}"/>
              </a:ext>
            </a:extLst>
          </p:cNvPr>
          <p:cNvSpPr txBox="1"/>
          <p:nvPr/>
        </p:nvSpPr>
        <p:spPr>
          <a:xfrm>
            <a:off x="838200" y="1905000"/>
            <a:ext cx="381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4B2E83"/>
                </a:solidFill>
                <a:latin typeface="Arial"/>
                <a:cs typeface="Arial"/>
              </a:rPr>
              <a:t>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516E9D-13EA-7242-956E-3021E45EDA1C}"/>
              </a:ext>
            </a:extLst>
          </p:cNvPr>
          <p:cNvSpPr txBox="1"/>
          <p:nvPr/>
        </p:nvSpPr>
        <p:spPr>
          <a:xfrm>
            <a:off x="787400" y="2857500"/>
            <a:ext cx="9652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5200" b="1">
                <a:solidFill>
                  <a:srgbClr val="FFFFFF"/>
                </a:solidFill>
                <a:latin typeface="Arial"/>
                <a:cs typeface="Arial"/>
              </a:rPr>
              <a:t>Hierarchical Clustering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5159D4-56D3-E044-BBCE-0DFEEDC41F73}"/>
              </a:ext>
            </a:extLst>
          </p:cNvPr>
          <p:cNvSpPr txBox="1"/>
          <p:nvPr/>
        </p:nvSpPr>
        <p:spPr>
          <a:xfrm>
            <a:off x="838200" y="4127500"/>
            <a:ext cx="9906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  <a:latin typeface="Calibri"/>
                <a:cs typeface="Calibri"/>
              </a:rPr>
              <a:t>Agglomerative merging, linkage criteria, and the dendrogram — a nested family of partitions</a:t>
            </a:r>
          </a:p>
        </p:txBody>
      </p:sp>
    </p:spTree>
    <p:extLst>
      <p:ext uri="{BB962C8B-B14F-4D97-AF65-F5344CB8AC3E}">
        <p14:creationId xmlns:p14="http://schemas.microsoft.com/office/powerpoint/2010/main" val="102850369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B4FC1-D696-DF26-B0F8-4D8BFDD99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Agglomerative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376EAA0-86B2-4F45-ABA4-A170B17E7ED6}"/>
                  </a:ext>
                </a:extLst>
              </p:cNvPr>
              <p:cNvSpPr txBox="1"/>
              <p:nvPr/>
            </p:nvSpPr>
            <p:spPr>
              <a:xfrm>
                <a:off x="838200" y="1905000"/>
                <a:ext cx="5588000" cy="218521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28600" indent="-22860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Agglomerative = bottom-up. Start with each of the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333333"/>
                        </a:solidFill>
                      </a:rPr>
                      <a:t>n</a:t>
                    </a:r>
                  </mc:Fallback>
                </mc:AlternateContent>
                <a:r>
                  <a:rPr lang="en-US" sz="1700" dirty="0">
                    <a:solidFill>
                      <a:srgbClr val="333333"/>
                    </a:solidFill>
                  </a:rPr>
                  <a:t> points as its own singleton cluster.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Repeatedly merge the two closest clusters until one cluster remains.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Produces a full hierarchy of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333333"/>
                        </a:solidFill>
                      </a:rPr>
                      <a:t>n</a:t>
                    </a:r>
                  </mc:Fallback>
                </mc:AlternateContent>
                <a:r>
                  <a:rPr lang="en-US" sz="1700" dirty="0">
                    <a:solidFill>
                      <a:srgbClr val="333333"/>
                    </a:solidFill>
                  </a:rPr>
                  <a:t> nested partitions — no need to pre-specify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333333"/>
                        </a:solidFill>
                      </a:rPr>
                      <a:t>k</a:t>
                    </a:r>
                  </mc:Fallback>
                </mc:AlternateContent>
                <a:r>
                  <a:rPr lang="en-US" sz="17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Cut the hierarchy at any height to obtain a flat clustering.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Driven entirely by the distance matrix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333333"/>
                        </a:solidFill>
                      </a:rPr>
                      <a:t>D</a:t>
                    </a:r>
                  </mc:Fallback>
                </mc:AlternateContent>
                <a:r>
                  <a:rPr lang="en-US" sz="1700" dirty="0">
                    <a:solidFill>
                      <a:srgbClr val="333333"/>
                    </a:solidFill>
                  </a:rPr>
                  <a:t> and a linkage rule.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376EAA0-86B2-4F45-ABA4-A170B17E7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5588000" cy="2185214"/>
              </a:xfrm>
              <a:prstGeom prst="rect">
                <a:avLst/>
              </a:prstGeom>
              <a:blipFill>
                <a:blip r:embed="rId2"/>
                <a:stretch>
                  <a:fillRect l="-682" t="-1156" r="-1364" b="-23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AF4F689-8891-3B44-90C2-B85781AC8004}"/>
              </a:ext>
            </a:extLst>
          </p:cNvPr>
          <p:cNvSpPr/>
          <p:nvPr/>
        </p:nvSpPr>
        <p:spPr>
          <a:xfrm>
            <a:off x="6604000" y="2032000"/>
            <a:ext cx="4749800" cy="39624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2BFA5F-084D-0440-A28D-280385E5135A}"/>
                  </a:ext>
                </a:extLst>
              </p:cNvPr>
              <p:cNvSpPr txBox="1"/>
              <p:nvPr/>
            </p:nvSpPr>
            <p:spPr>
              <a:xfrm>
                <a:off x="6832600" y="2235200"/>
                <a:ext cx="4445000" cy="180049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7AB648"/>
                    </a:solidFill>
                    <a:latin typeface="Arial"/>
                  </a:rPr>
                  <a:t>Algorithm</a:t>
                </a:r>
              </a:p>
              <a:p>
                <a:pPr marL="285750" indent="-285750">
                  <a:buFont typeface="Arial"/>
                  <a:buAutoNum type="arabicPeriod"/>
                </a:pPr>
                <a:r>
                  <a:rPr lang="en-US" sz="1500" dirty="0">
                    <a:solidFill>
                      <a:srgbClr val="333333"/>
                    </a:solidFill>
                  </a:rPr>
                  <a:t>Compute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D ∈ ℝⁿˣⁿ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from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X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85750" indent="-285750">
                  <a:buFont typeface="Arial"/>
                  <a:buAutoNum type="arabicPeriod"/>
                </a:pPr>
                <a:r>
                  <a:rPr lang="en-US" sz="1500" dirty="0">
                    <a:solidFill>
                      <a:srgbClr val="333333"/>
                    </a:solidFill>
                  </a:rPr>
                  <a:t>Each point is its own cluster: 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|C| = n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85750" indent="-285750">
                  <a:buFont typeface="Arial"/>
                  <a:buAutoNum type="arabicPeriod"/>
                </a:pPr>
                <a:r>
                  <a:rPr lang="en-US" sz="1500" dirty="0">
                    <a:solidFill>
                      <a:srgbClr val="333333"/>
                    </a:solidFill>
                  </a:rPr>
                  <a:t>Find the pair 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(Cₐ, Cᵇ)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minimizing linkage distance.</a:t>
                </a:r>
              </a:p>
              <a:p>
                <a:pPr marL="285750" indent="-285750">
                  <a:buFont typeface="Arial"/>
                  <a:buAutoNum type="arabicPeriod"/>
                </a:pPr>
                <a:r>
                  <a:rPr lang="en-US" sz="1500" dirty="0">
                    <a:solidFill>
                      <a:srgbClr val="333333"/>
                    </a:solidFill>
                  </a:rPr>
                  <a:t>Merge them; update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D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for the new cluster.</a:t>
                </a:r>
              </a:p>
              <a:p>
                <a:pPr marL="285750" indent="-285750">
                  <a:buFont typeface="Arial"/>
                  <a:buAutoNum type="arabicPeriod"/>
                </a:pPr>
                <a:r>
                  <a:rPr lang="en-US" sz="1500" dirty="0">
                    <a:solidFill>
                      <a:srgbClr val="333333"/>
                    </a:solidFill>
                  </a:rPr>
                  <a:t>Repeat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n−1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times, recording merge heights.</a:t>
                </a:r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500" i="1" dirty="0">
                    <a:solidFill>
                      <a:srgbClr val="595959"/>
                    </a:solidFill>
                  </a:rPr>
                  <a:t>Cost: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500">
                            <a:solidFill>
                              <a:srgbClr val="333333"/>
                            </a:solidFill>
                          </a:rPr>
                          <m:t>O</m:t>
                        </m:r>
                        <m:d>
                          <m:d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595959"/>
                        </a:solidFill>
                      </a:rPr>
                      <a:t>O(n³)</a:t>
                    </a:r>
                  </mc:Fallback>
                </mc:AlternateContent>
                <a:r>
                  <a:rPr lang="en-US" sz="1500" i="1" dirty="0">
                    <a:solidFill>
                      <a:srgbClr val="595959"/>
                    </a:solidFill>
                  </a:rPr>
                  <a:t> naive,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500">
                            <a:solidFill>
                              <a:srgbClr val="333333"/>
                            </a:solidFill>
                          </a:rPr>
                          <m:t>O</m:t>
                        </m:r>
                        <m:d>
                          <m:d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US" sz="1500">
                                <a:solidFill>
                                  <a:srgbClr val="333333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500">
                                <a:solidFill>
                                  <a:srgbClr val="333333"/>
                                </a:solidFill>
                              </a:rPr>
                              <m:t>log</m:t>
                            </m:r>
                            <m:r>
                              <m:rPr>
                                <m:nor/>
                              </m:rPr>
                              <a:rPr lang="en-US" sz="1500">
                                <a:solidFill>
                                  <a:srgbClr val="333333"/>
                                </a:solidFill>
                              </a:rPr>
                              <m:t> </m:t>
                            </m:r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595959"/>
                        </a:solidFill>
                      </a:rPr>
                      <a:t>O(n² log n)</a:t>
                    </a:r>
                  </mc:Fallback>
                </mc:AlternateContent>
                <a:r>
                  <a:rPr lang="en-US" sz="1500" i="1" dirty="0">
                    <a:solidFill>
                      <a:srgbClr val="595959"/>
                    </a:solidFill>
                  </a:rPr>
                  <a:t> with priority queues.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2BFA5F-084D-0440-A28D-280385E513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600" y="2235200"/>
                <a:ext cx="4445000" cy="1800493"/>
              </a:xfrm>
              <a:prstGeom prst="rect">
                <a:avLst/>
              </a:prstGeom>
              <a:blipFill>
                <a:blip r:embed="rId3"/>
                <a:stretch>
                  <a:fillRect l="-855" t="-1408" b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921101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AC7F8-78C4-07DF-5EB3-F7E998EFC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Linkage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ECFFD45-69BD-BB44-99DA-C3AA441EFFC6}"/>
              </a:ext>
            </a:extLst>
          </p:cNvPr>
          <p:cNvSpPr/>
          <p:nvPr/>
        </p:nvSpPr>
        <p:spPr>
          <a:xfrm>
            <a:off x="838200" y="1905000"/>
            <a:ext cx="5143500" cy="2336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A27551-AF21-E24C-B977-4D27C83C6458}"/>
              </a:ext>
            </a:extLst>
          </p:cNvPr>
          <p:cNvSpPr/>
          <p:nvPr/>
        </p:nvSpPr>
        <p:spPr>
          <a:xfrm>
            <a:off x="838200" y="1905000"/>
            <a:ext cx="5143500" cy="4318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Single (min)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FC73200-28AC-8D4F-91DB-2343B999DAA8}"/>
                  </a:ext>
                </a:extLst>
              </p:cNvPr>
              <p:cNvSpPr txBox="1"/>
              <p:nvPr/>
            </p:nvSpPr>
            <p:spPr>
              <a:xfrm>
                <a:off x="990600" y="2438400"/>
                <a:ext cx="4838700" cy="86844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sz="1600">
                              <a:solidFill>
                                <a:srgbClr val="4B2E83"/>
                              </a:solidFill>
                            </a:rPr>
                            <m:t>min</m:t>
                          </m:r>
                          <m:d>
                            <m:dPr>
                              <m:begChr m:val="‖"/>
                              <m:endChr m:val="‖"/>
                              <m:ctrlPr>
                                <a:rPr lang="en-US" sz="16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1600">
                              <a:solidFill>
                                <a:srgbClr val="4B2E83"/>
                              </a:solidFill>
                            </a:rPr>
                            <m:t> 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1600">
                              <a:solidFill>
                                <a:srgbClr val="4B2E83"/>
                              </a:solidFill>
                            </a:rPr>
                            <m:t> 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4B2E83"/>
                        </a:solidFill>
                      </a:rPr>
                      <a:t>d(A,B) = min ‖xᵢ − xⱼ‖,  i∈A, j∈B</a:t>
                    </a:r>
                  </mc:Fallback>
                </mc:AlternateContent>
                <a:endParaRPr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400" dirty="0">
                    <a:solidFill>
                      <a:srgbClr val="333333"/>
                    </a:solidFill>
                  </a:rPr>
                  <a:t>Nearest pair across clusters. Finds elongated, chain-like clusters but suffers from chaining.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FC73200-28AC-8D4F-91DB-2343B999D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2438400"/>
                <a:ext cx="4838700" cy="868443"/>
              </a:xfrm>
              <a:prstGeom prst="rect">
                <a:avLst/>
              </a:prstGeom>
              <a:blipFill>
                <a:blip r:embed="rId2"/>
                <a:stretch>
                  <a:fillRect l="-525" b="-7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F0731BD-AF9A-D245-BD44-8F4DB5C9ADBF}"/>
              </a:ext>
            </a:extLst>
          </p:cNvPr>
          <p:cNvSpPr/>
          <p:nvPr/>
        </p:nvSpPr>
        <p:spPr>
          <a:xfrm>
            <a:off x="6210300" y="1905000"/>
            <a:ext cx="5143500" cy="2336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CD761D-EFA5-7D42-94C7-9A15D7291DBA}"/>
              </a:ext>
            </a:extLst>
          </p:cNvPr>
          <p:cNvSpPr/>
          <p:nvPr/>
        </p:nvSpPr>
        <p:spPr>
          <a:xfrm>
            <a:off x="6210300" y="1905000"/>
            <a:ext cx="5143500" cy="4318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Complete (max)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76A4CB-5C73-184C-A3DA-03D804D3F6B6}"/>
                  </a:ext>
                </a:extLst>
              </p:cNvPr>
              <p:cNvSpPr txBox="1"/>
              <p:nvPr/>
            </p:nvSpPr>
            <p:spPr>
              <a:xfrm>
                <a:off x="6362700" y="2438400"/>
                <a:ext cx="4838700" cy="86844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sz="1600">
                              <a:solidFill>
                                <a:srgbClr val="4B2E83"/>
                              </a:solidFill>
                            </a:rPr>
                            <m:t>max</m:t>
                          </m:r>
                          <m:d>
                            <m:dPr>
                              <m:begChr m:val="‖"/>
                              <m:endChr m:val="‖"/>
                              <m:ctrlPr>
                                <a:rPr lang="en-US" sz="16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1600">
                              <a:solidFill>
                                <a:srgbClr val="4B2E83"/>
                              </a:solidFill>
                            </a:rPr>
                            <m:t> 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1600">
                              <a:solidFill>
                                <a:srgbClr val="4B2E83"/>
                              </a:solidFill>
                            </a:rPr>
                            <m:t> 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4B2E83"/>
                        </a:solidFill>
                      </a:rPr>
                      <a:t>d(A,B) = max ‖xᵢ − xⱼ‖,  i∈A, j∈B</a:t>
                    </a:r>
                  </mc:Fallback>
                </mc:AlternateContent>
                <a:endParaRPr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400" dirty="0">
                    <a:solidFill>
                      <a:srgbClr val="333333"/>
                    </a:solidFill>
                  </a:rPr>
                  <a:t>Farthest pair. Produces compact, roughly equal-diameter clusters; sensitive to outliers.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76A4CB-5C73-184C-A3DA-03D804D3F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2700" y="2438400"/>
                <a:ext cx="4838700" cy="868443"/>
              </a:xfrm>
              <a:prstGeom prst="rect">
                <a:avLst/>
              </a:prstGeom>
              <a:blipFill>
                <a:blip r:embed="rId3"/>
                <a:stretch>
                  <a:fillRect l="-524" b="-7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208C4ED-F7C6-CC4E-89BD-8650E249B640}"/>
              </a:ext>
            </a:extLst>
          </p:cNvPr>
          <p:cNvSpPr/>
          <p:nvPr/>
        </p:nvSpPr>
        <p:spPr>
          <a:xfrm>
            <a:off x="838200" y="4013200"/>
            <a:ext cx="5143500" cy="2336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D9B2F7-A2E3-5841-996E-FF52E7CAD9F7}"/>
              </a:ext>
            </a:extLst>
          </p:cNvPr>
          <p:cNvSpPr/>
          <p:nvPr/>
        </p:nvSpPr>
        <p:spPr>
          <a:xfrm>
            <a:off x="838200" y="4013200"/>
            <a:ext cx="5143500" cy="4318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Average (UPGMA)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39D19AA-1001-F441-8711-B918E1A3E20A}"/>
                  </a:ext>
                </a:extLst>
              </p:cNvPr>
              <p:cNvSpPr txBox="1"/>
              <p:nvPr/>
            </p:nvSpPr>
            <p:spPr>
              <a:xfrm>
                <a:off x="990600" y="4546600"/>
                <a:ext cx="4838700" cy="118654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6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6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6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sz="16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16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6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6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4B2E83"/>
                        </a:solidFill>
                      </a:rPr>
                      <a:t>d(A,B) = (1/|A||B|) Σ ‖xᵢ − xⱼ‖</a:t>
                    </a:r>
                  </mc:Fallback>
                </mc:AlternateContent>
                <a:endParaRPr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400" dirty="0">
                    <a:solidFill>
                      <a:srgbClr val="333333"/>
                    </a:solidFill>
                  </a:rPr>
                  <a:t>Mean of all cross-pair distances. A balanced compromise between single and complete.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39D19AA-1001-F441-8711-B918E1A3E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4546600"/>
                <a:ext cx="4838700" cy="1186543"/>
              </a:xfrm>
              <a:prstGeom prst="rect">
                <a:avLst/>
              </a:prstGeom>
              <a:blipFill>
                <a:blip r:embed="rId4"/>
                <a:stretch>
                  <a:fillRect l="-525" t="-72340" b="-595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E6535DE-09EA-2E49-A0D8-0A1EB0A42FA5}"/>
              </a:ext>
            </a:extLst>
          </p:cNvPr>
          <p:cNvSpPr/>
          <p:nvPr/>
        </p:nvSpPr>
        <p:spPr>
          <a:xfrm>
            <a:off x="6210300" y="4013200"/>
            <a:ext cx="5143500" cy="2336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FF4CF8-A9AC-E741-BC2C-FB130CE14F17}"/>
              </a:ext>
            </a:extLst>
          </p:cNvPr>
          <p:cNvSpPr/>
          <p:nvPr/>
        </p:nvSpPr>
        <p:spPr>
          <a:xfrm>
            <a:off x="6210300" y="4013200"/>
            <a:ext cx="5143500" cy="4318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Ward (variance)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5BBFFE6-AE8F-E34F-A670-26F95DC651E0}"/>
                  </a:ext>
                </a:extLst>
              </p:cNvPr>
              <p:cNvSpPr txBox="1"/>
              <p:nvPr/>
            </p:nvSpPr>
            <p:spPr>
              <a:xfrm>
                <a:off x="6362700" y="4546600"/>
                <a:ext cx="4838700" cy="109388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1600">
                              <a:solidFill>
                                <a:srgbClr val="4B2E83"/>
                              </a:solidFill>
                            </a:rPr>
                            <m:t>Δ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6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6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6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6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6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</m:den>
                          </m:f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16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sz="16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sz="16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4B2E83"/>
                        </a:solidFill>
                      </a:rPr>
                      <a:t>Δ = (|A||B|/(|A|+|B|)) ‖μA − μB‖²</a:t>
                    </a:r>
                  </mc:Fallback>
                </mc:AlternateContent>
                <a:endParaRPr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400" dirty="0">
                    <a:solidFill>
                      <a:srgbClr val="333333"/>
                    </a:solidFill>
                  </a:rPr>
                  <a:t>Merge that minimizes the increase in within-cluster variance. Tends to give spherical clusters.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5BBFFE6-AE8F-E34F-A670-26F95DC651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2700" y="4546600"/>
                <a:ext cx="4838700" cy="1093889"/>
              </a:xfrm>
              <a:prstGeom prst="rect">
                <a:avLst/>
              </a:prstGeom>
              <a:blipFill>
                <a:blip r:embed="rId5"/>
                <a:stretch>
                  <a:fillRect l="-524" b="-45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316201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C94CC-CD05-F65D-1FDD-4316F9CE2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Dendrogram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ED09E45-B391-8146-893D-B8061A51DB31}"/>
                  </a:ext>
                </a:extLst>
              </p:cNvPr>
              <p:cNvSpPr txBox="1"/>
              <p:nvPr/>
            </p:nvSpPr>
            <p:spPr>
              <a:xfrm>
                <a:off x="838200" y="1879600"/>
                <a:ext cx="4724400" cy="2800767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A dendrogram is a binary tree recording the full merge sequence.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Leaves are the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n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singleton points; the root is the single all-inclusive cluster.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Each merge is drawn at a height equal to the linkage distance at which it occurred.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Cutting horizontally at a chosen height yields a flat clustering — the number of vertical lines crossed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= k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Long vertical edges signal well-separated clusters; short ones signal weak structure.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ED09E45-B391-8146-893D-B8061A51D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79600"/>
                <a:ext cx="4724400" cy="2800767"/>
              </a:xfrm>
              <a:prstGeom prst="rect">
                <a:avLst/>
              </a:prstGeom>
              <a:blipFill>
                <a:blip r:embed="rId2"/>
                <a:stretch>
                  <a:fillRect l="-804" t="-450" r="-1072" b="-18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5046212-24EF-0C46-A068-F1A1035BA9C0}"/>
              </a:ext>
            </a:extLst>
          </p:cNvPr>
          <p:cNvSpPr/>
          <p:nvPr/>
        </p:nvSpPr>
        <p:spPr>
          <a:xfrm>
            <a:off x="5740400" y="2095500"/>
            <a:ext cx="5613400" cy="4000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11D9F2-C2BD-F840-84C2-879E4B7CF4AD}"/>
              </a:ext>
            </a:extLst>
          </p:cNvPr>
          <p:cNvSpPr/>
          <p:nvPr/>
        </p:nvSpPr>
        <p:spPr>
          <a:xfrm>
            <a:off x="6271260" y="4699000"/>
            <a:ext cx="30480" cy="7620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2774BE-B57E-4844-8AA6-96E9DD0AAD0B}"/>
              </a:ext>
            </a:extLst>
          </p:cNvPr>
          <p:cNvSpPr/>
          <p:nvPr/>
        </p:nvSpPr>
        <p:spPr>
          <a:xfrm>
            <a:off x="6906259" y="4699000"/>
            <a:ext cx="30480" cy="7620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762B85-511F-3A46-A413-01FB0AC7EB49}"/>
              </a:ext>
            </a:extLst>
          </p:cNvPr>
          <p:cNvSpPr/>
          <p:nvPr/>
        </p:nvSpPr>
        <p:spPr>
          <a:xfrm>
            <a:off x="6286500" y="4683760"/>
            <a:ext cx="635000" cy="3048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B84C95-5E0D-7E4A-B912-8DA986C44696}"/>
              </a:ext>
            </a:extLst>
          </p:cNvPr>
          <p:cNvSpPr/>
          <p:nvPr/>
        </p:nvSpPr>
        <p:spPr>
          <a:xfrm>
            <a:off x="9319260" y="4445000"/>
            <a:ext cx="30480" cy="10160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FEB852-F73D-8F4F-BD18-44AF0FE63D38}"/>
              </a:ext>
            </a:extLst>
          </p:cNvPr>
          <p:cNvSpPr/>
          <p:nvPr/>
        </p:nvSpPr>
        <p:spPr>
          <a:xfrm>
            <a:off x="10398760" y="4445000"/>
            <a:ext cx="30480" cy="10160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549FEF-F193-154C-BBC1-B7EF495C046D}"/>
              </a:ext>
            </a:extLst>
          </p:cNvPr>
          <p:cNvSpPr/>
          <p:nvPr/>
        </p:nvSpPr>
        <p:spPr>
          <a:xfrm>
            <a:off x="9334500" y="4429760"/>
            <a:ext cx="1079500" cy="3048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C75281-69CF-1048-8B68-1646E33D5EDE}"/>
              </a:ext>
            </a:extLst>
          </p:cNvPr>
          <p:cNvSpPr/>
          <p:nvPr/>
        </p:nvSpPr>
        <p:spPr>
          <a:xfrm>
            <a:off x="6588759" y="3810000"/>
            <a:ext cx="30480" cy="889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F877A1-19B9-9140-B4B8-F59E996B837F}"/>
              </a:ext>
            </a:extLst>
          </p:cNvPr>
          <p:cNvSpPr/>
          <p:nvPr/>
        </p:nvSpPr>
        <p:spPr>
          <a:xfrm>
            <a:off x="8112759" y="3810000"/>
            <a:ext cx="30480" cy="165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F2B850-284C-0540-8805-62FCAFCC7674}"/>
              </a:ext>
            </a:extLst>
          </p:cNvPr>
          <p:cNvSpPr/>
          <p:nvPr/>
        </p:nvSpPr>
        <p:spPr>
          <a:xfrm>
            <a:off x="6604000" y="3794760"/>
            <a:ext cx="1524000" cy="3048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53071C-7D7F-F04D-A272-5BFB35AB860F}"/>
              </a:ext>
            </a:extLst>
          </p:cNvPr>
          <p:cNvSpPr/>
          <p:nvPr/>
        </p:nvSpPr>
        <p:spPr>
          <a:xfrm>
            <a:off x="7350759" y="2921000"/>
            <a:ext cx="30480" cy="889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A7C471-97A2-6F46-B8BC-AE88865F0DD4}"/>
              </a:ext>
            </a:extLst>
          </p:cNvPr>
          <p:cNvSpPr/>
          <p:nvPr/>
        </p:nvSpPr>
        <p:spPr>
          <a:xfrm>
            <a:off x="9859010" y="2921000"/>
            <a:ext cx="30480" cy="1524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270FD2-B764-8946-A702-C785D38E08A9}"/>
              </a:ext>
            </a:extLst>
          </p:cNvPr>
          <p:cNvSpPr/>
          <p:nvPr/>
        </p:nvSpPr>
        <p:spPr>
          <a:xfrm>
            <a:off x="7366000" y="2905760"/>
            <a:ext cx="2508250" cy="3048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69DF4E-834D-0442-BE35-C4E98002EEC9}"/>
              </a:ext>
            </a:extLst>
          </p:cNvPr>
          <p:cNvSpPr txBox="1"/>
          <p:nvPr/>
        </p:nvSpPr>
        <p:spPr>
          <a:xfrm>
            <a:off x="6159500" y="5511800"/>
            <a:ext cx="25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</a:rPr>
              <a:t>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35FBC9-5C87-D14B-897B-7BE5109A1D7D}"/>
              </a:ext>
            </a:extLst>
          </p:cNvPr>
          <p:cNvSpPr txBox="1"/>
          <p:nvPr/>
        </p:nvSpPr>
        <p:spPr>
          <a:xfrm>
            <a:off x="6794500" y="5511800"/>
            <a:ext cx="25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</a:rPr>
              <a:t>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9D40AB-280D-8B40-B146-FD71E8FF1FB9}"/>
              </a:ext>
            </a:extLst>
          </p:cNvPr>
          <p:cNvSpPr txBox="1"/>
          <p:nvPr/>
        </p:nvSpPr>
        <p:spPr>
          <a:xfrm>
            <a:off x="8001000" y="5511800"/>
            <a:ext cx="25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</a:rPr>
              <a:t>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8C46C7-5A5F-D44F-8CAC-32968F20ADAD}"/>
              </a:ext>
            </a:extLst>
          </p:cNvPr>
          <p:cNvSpPr txBox="1"/>
          <p:nvPr/>
        </p:nvSpPr>
        <p:spPr>
          <a:xfrm>
            <a:off x="9207500" y="5511800"/>
            <a:ext cx="25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</a:rPr>
              <a:t>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014F0B-0857-4745-92CF-3B192A65FDFA}"/>
              </a:ext>
            </a:extLst>
          </p:cNvPr>
          <p:cNvSpPr txBox="1"/>
          <p:nvPr/>
        </p:nvSpPr>
        <p:spPr>
          <a:xfrm>
            <a:off x="10287000" y="5511800"/>
            <a:ext cx="25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</a:rPr>
              <a:t>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066EE1-A56F-6447-B841-61EC6B130D83}"/>
              </a:ext>
            </a:extLst>
          </p:cNvPr>
          <p:cNvSpPr txBox="1"/>
          <p:nvPr/>
        </p:nvSpPr>
        <p:spPr>
          <a:xfrm>
            <a:off x="5778500" y="2349500"/>
            <a:ext cx="203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i="1">
                <a:solidFill>
                  <a:srgbClr val="595959"/>
                </a:solidFill>
              </a:rPr>
              <a:t>height = merge distance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5013DD-E520-5745-A999-AC077032C7CA}"/>
              </a:ext>
            </a:extLst>
          </p:cNvPr>
          <p:cNvSpPr/>
          <p:nvPr/>
        </p:nvSpPr>
        <p:spPr>
          <a:xfrm>
            <a:off x="5969000" y="3365500"/>
            <a:ext cx="5207000" cy="1905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6226CB-0110-D94C-8C20-9B40AE5802A2}"/>
              </a:ext>
            </a:extLst>
          </p:cNvPr>
          <p:cNvSpPr txBox="1"/>
          <p:nvPr/>
        </p:nvSpPr>
        <p:spPr>
          <a:xfrm>
            <a:off x="9652000" y="3149600"/>
            <a:ext cx="1524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D1578A"/>
                </a:solidFill>
              </a:rPr>
              <a:t>cut → 3 clusters</a:t>
            </a:r>
          </a:p>
        </p:txBody>
      </p:sp>
    </p:spTree>
    <p:extLst>
      <p:ext uri="{BB962C8B-B14F-4D97-AF65-F5344CB8AC3E}">
        <p14:creationId xmlns:p14="http://schemas.microsoft.com/office/powerpoint/2010/main" val="412043737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4208C-03FC-A9E2-EA71-CDB13C4C0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Updating Distances: Lance–Williams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C7AA66A-6F86-5049-8B67-0832A3A64DAA}"/>
              </a:ext>
            </a:extLst>
          </p:cNvPr>
          <p:cNvSpPr/>
          <p:nvPr/>
        </p:nvSpPr>
        <p:spPr>
          <a:xfrm>
            <a:off x="838200" y="1905000"/>
            <a:ext cx="10515600" cy="9144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A5087B-5F55-2E41-BC93-CACCA91CA86B}"/>
                  </a:ext>
                </a:extLst>
              </p:cNvPr>
              <p:cNvSpPr txBox="1"/>
              <p:nvPr/>
            </p:nvSpPr>
            <p:spPr>
              <a:xfrm>
                <a:off x="1016000" y="2162145"/>
                <a:ext cx="10160000" cy="40011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0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>
                          <a:solidFill>
                            <a:srgbClr val="FFFFFF"/>
                          </a:solidFill>
                        </a:rPr>
                        <m:t> </m:t>
                      </m:r>
                      <m:r>
                        <a:rPr lang="en-US" sz="20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20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>
                          <a:solidFill>
                            <a:srgbClr val="FFFFFF"/>
                          </a:solidFill>
                        </a:rPr>
                        <m:t> </m:t>
                      </m:r>
                      <m:r>
                        <a:rPr lang="en-US" sz="20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0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m:rPr>
                          <m:nor/>
                        </m:rPr>
                        <a:rPr lang="en-US" sz="2000">
                          <a:solidFill>
                            <a:srgbClr val="FFFFFF"/>
                          </a:solidFill>
                        </a:rPr>
                        <m:t> </m:t>
                      </m:r>
                      <m:r>
                        <a:rPr lang="en-US" sz="20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0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m:rPr>
                          <m:nor/>
                        </m:rPr>
                        <a:rPr lang="en-US" sz="2000">
                          <a:solidFill>
                            <a:srgbClr val="FFFFFF"/>
                          </a:solidFill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0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0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A5087B-5F55-2E41-BC93-CACCA91CA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162145"/>
                <a:ext cx="10160000" cy="400110"/>
              </a:xfrm>
              <a:prstGeom prst="rect">
                <a:avLst/>
              </a:prstGeom>
              <a:blipFill>
                <a:blip r:embed="rId2"/>
                <a:stretch>
                  <a:fillRect t="-6250"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9CD80F-ED4B-6345-B1BE-B29B78C0B12C}"/>
                  </a:ext>
                </a:extLst>
              </p:cNvPr>
              <p:cNvSpPr txBox="1"/>
              <p:nvPr/>
            </p:nvSpPr>
            <p:spPr>
              <a:xfrm>
                <a:off x="838200" y="3022600"/>
                <a:ext cx="10515600" cy="33855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A single recurrence updates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𝐃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after each merge — coefficients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define the linkage: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9CD80F-ED4B-6345-B1BE-B29B78C0B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022600"/>
                <a:ext cx="10515600" cy="338554"/>
              </a:xfrm>
              <a:prstGeom prst="rect">
                <a:avLst/>
              </a:prstGeom>
              <a:blipFill>
                <a:blip r:embed="rId3"/>
                <a:stretch>
                  <a:fillRect l="-362" t="-7407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1244F8A3-2500-854F-9563-BCDA14F100B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8710806"/>
                  </p:ext>
                </p:extLst>
              </p:nvPr>
            </p:nvGraphicFramePr>
            <p:xfrm>
              <a:off x="838200" y="3657600"/>
              <a:ext cx="10515600" cy="235629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2384432393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974207848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1412743069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1467781197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604319137"/>
                        </a:ext>
                      </a:extLst>
                    </a:gridCol>
                  </a:tblGrid>
                  <a:tr h="431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rgbClr val="FFFFFF"/>
                              </a:solidFill>
                            </a:rPr>
                            <a:t>Linkage</a:t>
                          </a:r>
                        </a:p>
                      </a:txBody>
                      <a:tcPr anchor="ctr">
                        <a:solidFill>
                          <a:srgbClr val="4B2E8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4B2E8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4B2E8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4B2E8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4B2E8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0411434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300">
                              <a:solidFill>
                                <a:srgbClr val="333333"/>
                              </a:solidFill>
                              <a:latin typeface="Calibri"/>
                              <a:cs typeface="Calibri"/>
                            </a:rPr>
                            <a:t>Single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3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3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13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8464432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300">
                              <a:solidFill>
                                <a:srgbClr val="333333"/>
                              </a:solidFill>
                              <a:latin typeface="Calibri"/>
                              <a:cs typeface="Calibri"/>
                            </a:rPr>
                            <a:t>Complete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3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3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13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7691025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300">
                              <a:solidFill>
                                <a:srgbClr val="333333"/>
                              </a:solidFill>
                              <a:latin typeface="Calibri"/>
                              <a:cs typeface="Calibri"/>
                            </a:rPr>
                            <a:t>Average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3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13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3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d>
                                  </m:num>
                                  <m:den>
                                    <m:d>
                                      <m:dPr>
                                        <m:ctrlPr>
                                          <a:rPr lang="en-US" sz="13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1300" i="1">
                                                <a:solidFill>
                                                  <a:srgbClr val="33333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600">
                                                <a:solidFill>
                                                  <a:srgbClr val="33333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</m:d>
                                        <m:r>
                                          <a:rPr lang="en-US" sz="16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1600" i="1">
                                                <a:solidFill>
                                                  <a:srgbClr val="33333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600">
                                                <a:solidFill>
                                                  <a:srgbClr val="33333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𝐵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3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13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3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d>
                                  </m:num>
                                  <m:den>
                                    <m:d>
                                      <m:dPr>
                                        <m:ctrlPr>
                                          <a:rPr lang="en-US" sz="13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1300" i="1">
                                                <a:solidFill>
                                                  <a:srgbClr val="33333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600">
                                                <a:solidFill>
                                                  <a:srgbClr val="33333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</m:d>
                                        <m:r>
                                          <a:rPr lang="en-US" sz="16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1600" i="1">
                                                <a:solidFill>
                                                  <a:srgbClr val="33333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600">
                                                <a:solidFill>
                                                  <a:srgbClr val="33333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𝐵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0628215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300">
                              <a:solidFill>
                                <a:srgbClr val="333333"/>
                              </a:solidFill>
                              <a:latin typeface="Calibri"/>
                              <a:cs typeface="Calibri"/>
                            </a:rPr>
                            <a:t>Ward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3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13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3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d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13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3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3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13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3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d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13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3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13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13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3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4684318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1244F8A3-2500-854F-9563-BCDA14F100B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8710806"/>
                  </p:ext>
                </p:extLst>
              </p:nvPr>
            </p:nvGraphicFramePr>
            <p:xfrm>
              <a:off x="838200" y="3657600"/>
              <a:ext cx="10515600" cy="235629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2384432393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974207848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1412743069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1467781197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604319137"/>
                        </a:ext>
                      </a:extLst>
                    </a:gridCol>
                  </a:tblGrid>
                  <a:tr h="431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rgbClr val="FFFFFF"/>
                              </a:solidFill>
                            </a:rPr>
                            <a:t>Linkage</a:t>
                          </a:r>
                        </a:p>
                      </a:txBody>
                      <a:tcPr anchor="ctr">
                        <a:solidFill>
                          <a:srgbClr val="4B2E8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1212" t="-2941" r="-303030" b="-4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0000" t="-2941" r="-201205" b="-4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1818" t="-2941" r="-102424" b="-4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99398" t="-2941" r="-1807" b="-4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0411434"/>
                      </a:ext>
                    </a:extLst>
                  </a:tr>
                  <a:tr h="462344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300">
                              <a:solidFill>
                                <a:srgbClr val="333333"/>
                              </a:solidFill>
                              <a:latin typeface="Calibri"/>
                              <a:cs typeface="Calibri"/>
                            </a:rPr>
                            <a:t>Single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1212" t="-94595" r="-303030" b="-313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0000" t="-94595" r="-201205" b="-313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1818" t="-94595" r="-102424" b="-313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99398" t="-94595" r="-1807" b="-3135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8464432"/>
                      </a:ext>
                    </a:extLst>
                  </a:tr>
                  <a:tr h="462344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300">
                              <a:solidFill>
                                <a:srgbClr val="333333"/>
                              </a:solidFill>
                              <a:latin typeface="Calibri"/>
                              <a:cs typeface="Calibri"/>
                            </a:rPr>
                            <a:t>Complete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1212" t="-200000" r="-303030" b="-2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0000" t="-200000" r="-201205" b="-2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1818" t="-200000" r="-102424" b="-2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99398" t="-200000" r="-1807" b="-2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7691025"/>
                      </a:ext>
                    </a:extLst>
                  </a:tr>
                  <a:tr h="52660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300">
                              <a:solidFill>
                                <a:srgbClr val="333333"/>
                              </a:solidFill>
                              <a:latin typeface="Calibri"/>
                              <a:cs typeface="Calibri"/>
                            </a:rPr>
                            <a:t>Average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1212" t="-257143" r="-303030" b="-9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0000" t="-257143" r="-201205" b="-9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1818" t="-257143" r="-102424" b="-9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99398" t="-257143" r="-1807" b="-904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0628215"/>
                      </a:ext>
                    </a:extLst>
                  </a:tr>
                  <a:tr h="47320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300">
                              <a:solidFill>
                                <a:srgbClr val="333333"/>
                              </a:solidFill>
                              <a:latin typeface="Calibri"/>
                              <a:cs typeface="Calibri"/>
                            </a:rPr>
                            <a:t>Ward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1212" t="-405405" r="-303030" b="-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0000" t="-405405" r="-201205" b="-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1818" t="-405405" r="-102424" b="-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99398" t="-405405" r="-1807" b="-27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4684318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4426273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ACE2-7166-729C-F0B4-6DA4433F1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1: Single-Linkage by Hand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356314F-F287-284E-8153-2F756948527C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A986C1-4827-E744-A4A2-137806E11DB9}"/>
                  </a:ext>
                </a:extLst>
              </p:cNvPr>
              <p:cNvSpPr txBox="1"/>
              <p:nvPr/>
            </p:nvSpPr>
            <p:spPr>
              <a:xfrm>
                <a:off x="838200" y="2235200"/>
                <a:ext cx="5080000" cy="1656287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Distance matrix over points A, B, C, D:</a:t>
                </a:r>
              </a:p>
              <a:p>
                <a:pPr>
                  <a:buNone/>
                </a:pPr>
                <a:endParaRPr lang="en-US" sz="300"/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𝐃</m:t>
                          </m:r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7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333333"/>
                        </a:solidFill>
                      </a:rPr>
                      <a:t>D over A,B,C,D</a:t>
                    </a:r>
                  </mc:Fallback>
                </mc:AlternateContent>
                <a:endParaRPr lang="en-US" sz="300"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Build the single-linkage hierarchy and give merge heights.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A986C1-4827-E744-A4A2-137806E11D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35200"/>
                <a:ext cx="5080000" cy="1656287"/>
              </a:xfrm>
              <a:prstGeom prst="rect">
                <a:avLst/>
              </a:prstGeom>
              <a:blipFill>
                <a:blip r:embed="rId2"/>
                <a:stretch>
                  <a:fillRect l="-748" t="-1527" b="-3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5916530-0FC4-CC49-A564-EE78439FCF1B}"/>
              </a:ext>
            </a:extLst>
          </p:cNvPr>
          <p:cNvSpPr/>
          <p:nvPr/>
        </p:nvSpPr>
        <p:spPr>
          <a:xfrm>
            <a:off x="5969000" y="2235200"/>
            <a:ext cx="5384800" cy="3860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C9C2883-7300-7C43-A413-3D3065DB5466}"/>
                  </a:ext>
                </a:extLst>
              </p:cNvPr>
              <p:cNvSpPr txBox="1"/>
              <p:nvPr/>
            </p:nvSpPr>
            <p:spPr>
              <a:xfrm>
                <a:off x="6197600" y="2438400"/>
                <a:ext cx="5080000" cy="195130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7AB648"/>
                    </a:solidFill>
                    <a:latin typeface="Arial"/>
                  </a:rPr>
                  <a:t>Solution</a:t>
                </a:r>
              </a:p>
              <a:p>
                <a:pPr marL="285750" indent="-285750">
                  <a:buFont typeface="Arial"/>
                  <a:buAutoNum type="arabicPeriod"/>
                </a:pPr>
                <a:r>
                  <a:rPr lang="en-US" sz="1400" dirty="0">
                    <a:solidFill>
                      <a:srgbClr val="333333"/>
                    </a:solidFill>
                  </a:rPr>
                  <a:t>Min entry = 2 → merge 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lang="en-US" sz="14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1400">
                                <a:solidFill>
                                  <a:srgbClr val="333333"/>
                                </a:solidFill>
                              </a:rPr>
                              <m:t>A</m:t>
                            </m:r>
                            <m:r>
                              <a:rPr lang="en-US" sz="14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en-US" sz="1400">
                                <a:solidFill>
                                  <a:srgbClr val="333333"/>
                                </a:solidFill>
                              </a:rPr>
                              <m:t>B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400">
                        <a:solidFill>
                          <a:srgbClr val="333333"/>
                        </a:solidFill>
                      </a:rPr>
                      <a:t>{A,B}</a:t>
                    </a:r>
                  </mc:Fallback>
                </mc:AlternateContent>
                <a:r>
                  <a:rPr lang="en-US" sz="1400" dirty="0">
                    <a:solidFill>
                      <a:srgbClr val="333333"/>
                    </a:solidFill>
                  </a:rPr>
                  <a:t> at height 2.</a:t>
                </a:r>
              </a:p>
              <a:p>
                <a:pPr marL="285750" indent="-285750">
                  <a:buFont typeface="Arial"/>
                  <a:buAutoNum type="arabicPeriod"/>
                </a:pPr>
                <a:r>
                  <a:rPr lang="en-US" sz="1400" dirty="0">
                    <a:solidFill>
                      <a:srgbClr val="333333"/>
                    </a:solidFill>
                  </a:rPr>
                  <a:t>Update (single = min):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sz="14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1400">
                                <a:solidFill>
                                  <a:srgbClr val="333333"/>
                                </a:solidFill>
                              </a:rPr>
                              <m:t>AB</m:t>
                            </m:r>
                            <m:r>
                              <a:rPr lang="en-US" sz="14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en-US" sz="1400">
                                <a:solidFill>
                                  <a:srgbClr val="333333"/>
                                </a:solidFill>
                              </a:rPr>
                              <m:t>C</m:t>
                            </m:r>
                          </m:e>
                        </m:d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sz="1400">
                            <a:solidFill>
                              <a:srgbClr val="333333"/>
                            </a:solidFill>
                          </a:rPr>
                          <m:t>min</m:t>
                        </m:r>
                        <m:d>
                          <m:dPr>
                            <m:ctrlPr>
                              <a:rPr lang="en-US" sz="14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6,5</m:t>
                            </m:r>
                          </m:e>
                        </m:d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=5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400">
                        <a:solidFill>
                          <a:srgbClr val="333333"/>
                        </a:solidFill>
                      </a:rPr>
                      <a:t>d(AB,C)=min(6,5)=5</a:t>
                    </a:r>
                  </mc:Fallback>
                </mc:AlternateContent>
                <a:r>
                  <a:rPr lang="en-US" sz="1400" dirty="0">
                    <a:solidFill>
                      <a:srgbClr val="333333"/>
                    </a:solidFill>
                  </a:rPr>
                  <a:t>;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sz="14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1400">
                                <a:solidFill>
                                  <a:srgbClr val="333333"/>
                                </a:solidFill>
                              </a:rPr>
                              <m:t>AB</m:t>
                            </m:r>
                            <m:r>
                              <a:rPr lang="en-US" sz="14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en-US" sz="1400">
                                <a:solidFill>
                                  <a:srgbClr val="333333"/>
                                </a:solidFill>
                              </a:rPr>
                              <m:t>D</m:t>
                            </m:r>
                          </m:e>
                        </m:d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sz="1400">
                            <a:solidFill>
                              <a:srgbClr val="333333"/>
                            </a:solidFill>
                          </a:rPr>
                          <m:t>min</m:t>
                        </m:r>
                        <m:d>
                          <m:dPr>
                            <m:ctrlPr>
                              <a:rPr lang="en-US" sz="14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10,9</m:t>
                            </m:r>
                          </m:e>
                        </m:d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=9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400">
                        <a:solidFill>
                          <a:srgbClr val="333333"/>
                        </a:solidFill>
                      </a:rPr>
                      <a:t>d(AB,D)=min(10,9)=9</a:t>
                    </a:r>
                  </mc:Fallback>
                </mc:AlternateContent>
                <a:r>
                  <a:rPr lang="en-US" sz="14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85750" indent="-285750">
                  <a:buFont typeface="Arial"/>
                  <a:buAutoNum type="arabicPeriod"/>
                </a:pPr>
                <a:r>
                  <a:rPr lang="en-US" sz="1400" dirty="0">
                    <a:solidFill>
                      <a:srgbClr val="333333"/>
                    </a:solidFill>
                  </a:rPr>
                  <a:t>Now min = 4 → merge 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lang="en-US" sz="14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1400">
                                <a:solidFill>
                                  <a:srgbClr val="333333"/>
                                </a:solidFill>
                              </a:rPr>
                              <m:t>C</m:t>
                            </m:r>
                            <m:r>
                              <a:rPr lang="en-US" sz="14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en-US" sz="1400">
                                <a:solidFill>
                                  <a:srgbClr val="333333"/>
                                </a:solidFill>
                              </a:rPr>
                              <m:t>D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400">
                        <a:solidFill>
                          <a:srgbClr val="333333"/>
                        </a:solidFill>
                      </a:rPr>
                      <a:t>{C,D}</a:t>
                    </a:r>
                  </mc:Fallback>
                </mc:AlternateContent>
                <a:r>
                  <a:rPr lang="en-US" sz="1400" dirty="0">
                    <a:solidFill>
                      <a:srgbClr val="333333"/>
                    </a:solidFill>
                  </a:rPr>
                  <a:t> at height 4.</a:t>
                </a:r>
              </a:p>
              <a:p>
                <a:pPr marL="285750" indent="-285750">
                  <a:buFont typeface="Arial"/>
                  <a:buAutoNum type="arabicPeriod"/>
                </a:pP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sz="14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1400">
                                <a:solidFill>
                                  <a:srgbClr val="333333"/>
                                </a:solidFill>
                              </a:rPr>
                              <m:t>AB</m:t>
                            </m:r>
                            <m:r>
                              <a:rPr lang="en-US" sz="14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en-US" sz="1400">
                                <a:solidFill>
                                  <a:srgbClr val="333333"/>
                                </a:solidFill>
                              </a:rPr>
                              <m:t>CD</m:t>
                            </m:r>
                          </m:e>
                        </m:d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sz="1400">
                            <a:solidFill>
                              <a:srgbClr val="333333"/>
                            </a:solidFill>
                          </a:rPr>
                          <m:t>min</m:t>
                        </m:r>
                        <m:d>
                          <m:dPr>
                            <m:ctrlPr>
                              <a:rPr lang="en-US" sz="14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d>
                              <m:dPr>
                                <m:ctrlPr>
                                  <a:rPr lang="en-US" sz="14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-US" sz="1400">
                                    <a:solidFill>
                                      <a:srgbClr val="333333"/>
                                    </a:solidFill>
                                  </a:rPr>
                                  <m:t>AB</m:t>
                                </m:r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en-US" sz="1400">
                                    <a:solidFill>
                                      <a:srgbClr val="333333"/>
                                    </a:solidFill>
                                  </a:rPr>
                                  <m:t>C</m:t>
                                </m:r>
                              </m:e>
                            </m:d>
                            <m:r>
                              <a:rPr lang="en-US" sz="14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4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d>
                              <m:dPr>
                                <m:ctrlPr>
                                  <a:rPr lang="en-US" sz="14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-US" sz="1400">
                                    <a:solidFill>
                                      <a:srgbClr val="333333"/>
                                    </a:solidFill>
                                  </a:rPr>
                                  <m:t>AB</m:t>
                                </m:r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en-US" sz="1400">
                                    <a:solidFill>
                                      <a:srgbClr val="333333"/>
                                    </a:solidFill>
                                  </a:rPr>
                                  <m:t>D</m:t>
                                </m:r>
                              </m:e>
                            </m:d>
                          </m:e>
                        </m:d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=5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400">
                        <a:solidFill>
                          <a:srgbClr val="333333"/>
                        </a:solidFill>
                      </a:rPr>
                      <a:t>d(AB,CD)=min(d(AB,C),d(AB,D))=5</a:t>
                    </a:r>
                  </mc:Fallback>
                </mc:AlternateContent>
                <a:endParaRPr lang="en-US" sz="1400" dirty="0">
                  <a:solidFill>
                    <a:srgbClr val="333333"/>
                  </a:solidFill>
                </a:endParaRPr>
              </a:p>
              <a:p>
                <a:pPr marL="285750" indent="-285750">
                  <a:buFont typeface="Arial"/>
                  <a:buAutoNum type="arabicPeriod"/>
                </a:pPr>
                <a:r>
                  <a:rPr lang="en-US" sz="1400" dirty="0">
                    <a:solidFill>
                      <a:srgbClr val="333333"/>
                    </a:solidFill>
                  </a:rPr>
                  <a:t>Merge 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lang="en-US" sz="14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1400">
                                <a:solidFill>
                                  <a:srgbClr val="333333"/>
                                </a:solidFill>
                              </a:rPr>
                              <m:t>AB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400">
                        <a:solidFill>
                          <a:srgbClr val="333333"/>
                        </a:solidFill>
                      </a:rPr>
                      <a:t>{AB}</a:t>
                    </a:r>
                  </mc:Fallback>
                </mc:AlternateContent>
                <a:r>
                  <a:rPr lang="en-US" sz="1400" dirty="0">
                    <a:solidFill>
                      <a:srgbClr val="333333"/>
                    </a:solidFill>
                  </a:rPr>
                  <a:t>, 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lang="en-US" sz="14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1400">
                                <a:solidFill>
                                  <a:srgbClr val="333333"/>
                                </a:solidFill>
                              </a:rPr>
                              <m:t>CD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400">
                        <a:solidFill>
                          <a:srgbClr val="333333"/>
                        </a:solidFill>
                      </a:rPr>
                      <a:t>{CD}</a:t>
                    </a:r>
                  </mc:Fallback>
                </mc:AlternateContent>
                <a:r>
                  <a:rPr lang="en-US" sz="1400" dirty="0">
                    <a:solidFill>
                      <a:srgbClr val="333333"/>
                    </a:solidFill>
                  </a:rPr>
                  <a:t> at height 5 → root.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Order: (AB)@2, (CD)@4, root@5.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C9C2883-7300-7C43-A413-3D3065DB5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600" y="2438400"/>
                <a:ext cx="5080000" cy="1951303"/>
              </a:xfrm>
              <a:prstGeom prst="rect">
                <a:avLst/>
              </a:prstGeom>
              <a:blipFill>
                <a:blip r:embed="rId3"/>
                <a:stretch>
                  <a:fillRect l="-748" t="-1299" b="-3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51559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8E745-098E-563A-15D6-D9DA1D12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2: Ward vs Single Linkage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CDC838E-4858-474B-9AA0-0177C2568EA5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F99D5E1-B4F9-A94B-91B2-84D6CB50DA96}"/>
              </a:ext>
            </a:extLst>
          </p:cNvPr>
          <p:cNvSpPr/>
          <p:nvPr/>
        </p:nvSpPr>
        <p:spPr>
          <a:xfrm>
            <a:off x="838200" y="2235200"/>
            <a:ext cx="5143500" cy="3860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85754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F4971D-D860-114F-8E7A-66C3BC75E690}"/>
              </a:ext>
            </a:extLst>
          </p:cNvPr>
          <p:cNvSpPr/>
          <p:nvPr/>
        </p:nvSpPr>
        <p:spPr>
          <a:xfrm>
            <a:off x="838200" y="2235200"/>
            <a:ext cx="5143500" cy="457200"/>
          </a:xfrm>
          <a:prstGeom prst="rect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Single linkage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662FB0-FE31-0A42-9D82-9875D7813C9D}"/>
              </a:ext>
            </a:extLst>
          </p:cNvPr>
          <p:cNvSpPr txBox="1"/>
          <p:nvPr/>
        </p:nvSpPr>
        <p:spPr>
          <a:xfrm>
            <a:off x="1066800" y="2844800"/>
            <a:ext cx="4724400" cy="156966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Merge criterion: nearest single pair across clusters.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On two interlocking crescents, follows the local chain — recovers the non-convex moons.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Vulnerable to a single bridging point that chains two true clusters together.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Cluster sizes can be very unbalanced.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841A5C0-A8CC-7044-BE00-AD90B32DDB61}"/>
              </a:ext>
            </a:extLst>
          </p:cNvPr>
          <p:cNvSpPr/>
          <p:nvPr/>
        </p:nvSpPr>
        <p:spPr>
          <a:xfrm>
            <a:off x="6210300" y="2235200"/>
            <a:ext cx="5143500" cy="3860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C9D738-46B7-8B48-A38E-1B027F1863EE}"/>
              </a:ext>
            </a:extLst>
          </p:cNvPr>
          <p:cNvSpPr/>
          <p:nvPr/>
        </p:nvSpPr>
        <p:spPr>
          <a:xfrm>
            <a:off x="6210300" y="2235200"/>
            <a:ext cx="5143500" cy="4572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Ward linkage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0AA2489-1ABF-0741-9BD0-3F508D16530E}"/>
                  </a:ext>
                </a:extLst>
              </p:cNvPr>
              <p:cNvSpPr txBox="1"/>
              <p:nvPr/>
            </p:nvSpPr>
            <p:spPr>
              <a:xfrm>
                <a:off x="6438900" y="2844800"/>
                <a:ext cx="4724400" cy="181588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Merge criterion: minimize increase in total within-cluster variance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</m:d>
                          </m:e>
                          <m:sup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On the same moons, cuts straight across — prefers compact, spherical blobs.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Robust to chaining; resistant to single bridging points.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Tends to produce balanced, similar-size clusters.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0AA2489-1ABF-0741-9BD0-3F508D1653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2844800"/>
                <a:ext cx="4724400" cy="1815882"/>
              </a:xfrm>
              <a:prstGeom prst="rect">
                <a:avLst/>
              </a:prstGeom>
              <a:blipFill>
                <a:blip r:embed="rId2"/>
                <a:stretch>
                  <a:fillRect l="-536" t="-7639" b="-34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830709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DBAC4-E413-5112-EAEC-2FB4975EE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3: Cophenetic Correlation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01DB285-279F-924A-A634-C32FC602723D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23FBB3F-DD8E-4B47-AFEE-1A21914BDE8E}"/>
                  </a:ext>
                </a:extLst>
              </p:cNvPr>
              <p:cNvSpPr txBox="1"/>
              <p:nvPr/>
            </p:nvSpPr>
            <p:spPr>
              <a:xfrm>
                <a:off x="838200" y="2235200"/>
                <a:ext cx="5080000" cy="2120837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The cophenetic distance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is the merge height at which points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first join the same cluster.</a:t>
                </a:r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The cophenetic correlation measures how faithfully the dendrogram preserves the original distances: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>
                          <a:solidFill>
                            <a:srgbClr val="333333"/>
                          </a:solidFill>
                        </a:rPr>
                        <m:t>CCC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600">
                          <a:solidFill>
                            <a:srgbClr val="333333"/>
                          </a:solidFill>
                        </a:rPr>
                        <m:t>corr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600">
                              <a:solidFill>
                                <a:srgbClr val="333333"/>
                              </a:solidFill>
                            </a:rPr>
                            <m:t>vec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𝐃</m:t>
                              </m:r>
                            </m:e>
                          </m:d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1600">
                              <a:solidFill>
                                <a:srgbClr val="333333"/>
                              </a:solidFill>
                            </a:rPr>
                            <m:t>vec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𝐂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300"/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𝐃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= original distances,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𝐂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= cophenetic distances (both flattened over the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num>
                      <m:den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pairs).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23FBB3F-DD8E-4B47-AFEE-1A21914BD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35200"/>
                <a:ext cx="5080000" cy="2120837"/>
              </a:xfrm>
              <a:prstGeom prst="rect">
                <a:avLst/>
              </a:prstGeom>
              <a:blipFill>
                <a:blip r:embed="rId2"/>
                <a:stretch>
                  <a:fillRect l="-748" t="-1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B4CF060-F677-2E45-9B6C-A3A4092EE297}"/>
              </a:ext>
            </a:extLst>
          </p:cNvPr>
          <p:cNvSpPr/>
          <p:nvPr/>
        </p:nvSpPr>
        <p:spPr>
          <a:xfrm>
            <a:off x="5969000" y="2235200"/>
            <a:ext cx="5384800" cy="3860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D89907-8B02-A242-B842-C1365BD7D7AA}"/>
                  </a:ext>
                </a:extLst>
              </p:cNvPr>
              <p:cNvSpPr txBox="1"/>
              <p:nvPr/>
            </p:nvSpPr>
            <p:spPr>
              <a:xfrm>
                <a:off x="6197600" y="2438400"/>
                <a:ext cx="5080000" cy="215443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7AB648"/>
                    </a:solidFill>
                    <a:latin typeface="Arial"/>
                  </a:rPr>
                  <a:t>Interpretation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Using Example 1 heights: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A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B</m:t>
                        </m:r>
                      </m:e>
                    </m:d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  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C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D</m:t>
                        </m:r>
                      </m:e>
                    </m:d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600">
                              <a:solidFill>
                                <a:srgbClr val="333333"/>
                              </a:solidFill>
                            </a:rPr>
                            <m:t>A</m:t>
                          </m:r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1600">
                              <a:solidFill>
                                <a:srgbClr val="333333"/>
                              </a:solidFill>
                            </a:rPr>
                            <m:t>C</m:t>
                          </m:r>
                        </m:e>
                      </m:d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600">
                              <a:solidFill>
                                <a:srgbClr val="333333"/>
                              </a:solidFill>
                            </a:rPr>
                            <m:t>A</m:t>
                          </m:r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1600">
                              <a:solidFill>
                                <a:srgbClr val="333333"/>
                              </a:solidFill>
                            </a:rPr>
                            <m:t>D</m:t>
                          </m:r>
                        </m:e>
                      </m:d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600">
                              <a:solidFill>
                                <a:srgbClr val="333333"/>
                              </a:solidFill>
                            </a:rPr>
                            <m:t>B</m:t>
                          </m:r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1600">
                              <a:solidFill>
                                <a:srgbClr val="333333"/>
                              </a:solidFill>
                            </a:rPr>
                            <m:t>C</m:t>
                          </m:r>
                        </m:e>
                      </m:d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600">
                              <a:solidFill>
                                <a:srgbClr val="333333"/>
                              </a:solidFill>
                            </a:rPr>
                            <m:t>B</m:t>
                          </m:r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1600">
                              <a:solidFill>
                                <a:srgbClr val="333333"/>
                              </a:solidFill>
                            </a:rPr>
                            <m:t>D</m:t>
                          </m:r>
                        </m:e>
                      </m:d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16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Pearson-correlate these 6 cophenetic values against the 6 original distances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2,6,10,5,9,4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>
                        <a:solidFill>
                          <a:srgbClr val="333333"/>
                        </a:solidFill>
                      </a:rPr>
                      <m:t>CCC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≈0.96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here — close to 1 means the tree is a trustworthy summary of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𝐃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 Use it to compare linkages.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D89907-8B02-A242-B842-C1365BD7D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600" y="2438400"/>
                <a:ext cx="5080000" cy="2154436"/>
              </a:xfrm>
              <a:prstGeom prst="rect">
                <a:avLst/>
              </a:prstGeom>
              <a:blipFill>
                <a:blip r:embed="rId3"/>
                <a:stretch>
                  <a:fillRect l="-748" t="-1176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787799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A2355-76C4-9AE1-DAB3-32C1BBD5A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Hierarchical — Exercises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ADB6FB0-EFEB-7044-9972-5297745ADE5A}"/>
              </a:ext>
            </a:extLst>
          </p:cNvPr>
          <p:cNvSpPr/>
          <p:nvPr/>
        </p:nvSpPr>
        <p:spPr>
          <a:xfrm>
            <a:off x="838200" y="2362200"/>
            <a:ext cx="558800" cy="5588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AB7ABAF-6622-444E-9BA9-86DB463C26A6}"/>
              </a:ext>
            </a:extLst>
          </p:cNvPr>
          <p:cNvSpPr/>
          <p:nvPr/>
        </p:nvSpPr>
        <p:spPr>
          <a:xfrm>
            <a:off x="1625600" y="1905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79A1A5-21E6-B549-B4EB-6DB0AE5B3AE3}"/>
                  </a:ext>
                </a:extLst>
              </p:cNvPr>
              <p:cNvSpPr txBox="1"/>
              <p:nvPr/>
            </p:nvSpPr>
            <p:spPr>
              <a:xfrm>
                <a:off x="1854200" y="2349212"/>
                <a:ext cx="9296400" cy="58477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7AB648"/>
                    </a:solidFill>
                  </a:rPr>
                  <a:t>Complete linkage.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Repeat the Example 1 distance matrix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1600">
                                <a:solidFill>
                                  <a:srgbClr val="333333"/>
                                </a:solidFill>
                              </a:rPr>
                              <m:t>A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en-US" sz="1600">
                                <a:solidFill>
                                  <a:srgbClr val="333333"/>
                                </a:solidFill>
                              </a:rPr>
                              <m:t>B</m:t>
                            </m:r>
                          </m:e>
                        </m:d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=2, </m:t>
                        </m:r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A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–</m:t>
                        </m:r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C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=6, </m:t>
                        </m:r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A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–</m:t>
                        </m:r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D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=10, </m:t>
                        </m:r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B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–</m:t>
                        </m:r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C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=5, </m:t>
                        </m:r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B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–</m:t>
                        </m:r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D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=9, </m:t>
                        </m:r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C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–</m:t>
                        </m:r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D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=4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but use COMPLETE linkage. Give the merge order and heights.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79A1A5-21E6-B549-B4EB-6DB0AE5B3A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2349212"/>
                <a:ext cx="9296400" cy="584775"/>
              </a:xfrm>
              <a:prstGeom prst="rect">
                <a:avLst/>
              </a:prstGeom>
              <a:blipFill>
                <a:blip r:embed="rId2"/>
                <a:stretch>
                  <a:fillRect l="-273" t="-61702" b="-10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487361D0-C8E8-FC46-A823-7A5560EDD89B}"/>
              </a:ext>
            </a:extLst>
          </p:cNvPr>
          <p:cNvSpPr/>
          <p:nvPr/>
        </p:nvSpPr>
        <p:spPr>
          <a:xfrm>
            <a:off x="838200" y="3886200"/>
            <a:ext cx="558800" cy="5588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43ECF5B-316C-B944-AD47-F27BC4B6EBFE}"/>
              </a:ext>
            </a:extLst>
          </p:cNvPr>
          <p:cNvSpPr/>
          <p:nvPr/>
        </p:nvSpPr>
        <p:spPr>
          <a:xfrm>
            <a:off x="1625600" y="3429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17FE5E-6A0E-D84F-B4A8-4E5BF1E294E2}"/>
                  </a:ext>
                </a:extLst>
              </p:cNvPr>
              <p:cNvSpPr txBox="1"/>
              <p:nvPr/>
            </p:nvSpPr>
            <p:spPr>
              <a:xfrm>
                <a:off x="1854200" y="3822493"/>
                <a:ext cx="9296400" cy="68621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7AB648"/>
                    </a:solidFill>
                  </a:rPr>
                  <a:t>Lance–Williams check.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Verify that the single-linkage update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AB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C</m:t>
                        </m:r>
                      </m:e>
                    </m:d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follows from the Lance–Williams formula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17FE5E-6A0E-D84F-B4A8-4E5BF1E29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3822493"/>
                <a:ext cx="9296400" cy="686213"/>
              </a:xfrm>
              <a:prstGeom prst="rect">
                <a:avLst/>
              </a:prstGeom>
              <a:blipFill>
                <a:blip r:embed="rId3"/>
                <a:stretch>
                  <a:fillRect l="-273" b="-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6454DB15-FFC6-0B46-B797-659D0B1E40ED}"/>
              </a:ext>
            </a:extLst>
          </p:cNvPr>
          <p:cNvSpPr/>
          <p:nvPr/>
        </p:nvSpPr>
        <p:spPr>
          <a:xfrm>
            <a:off x="838200" y="5410200"/>
            <a:ext cx="558800" cy="5588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E3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E1E1A7C-8A80-C044-B1E5-FC8F264E83D7}"/>
              </a:ext>
            </a:extLst>
          </p:cNvPr>
          <p:cNvSpPr/>
          <p:nvPr/>
        </p:nvSpPr>
        <p:spPr>
          <a:xfrm>
            <a:off x="1625600" y="4953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7F433EA-EFDF-0E4E-A23B-4114A5C883AA}"/>
                  </a:ext>
                </a:extLst>
              </p:cNvPr>
              <p:cNvSpPr txBox="1"/>
              <p:nvPr/>
            </p:nvSpPr>
            <p:spPr>
              <a:xfrm>
                <a:off x="1854200" y="5397212"/>
                <a:ext cx="9296400" cy="58477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7AB648"/>
                    </a:solidFill>
                  </a:rPr>
                  <a:t>Cut the tree.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Given a dendrogram with merge heights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2,4,5,9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state how many clusters result from a horizontal cut at height 4.5 and at height 6.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7F433EA-EFDF-0E4E-A23B-4114A5C883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5397212"/>
                <a:ext cx="9296400" cy="584775"/>
              </a:xfrm>
              <a:prstGeom prst="rect">
                <a:avLst/>
              </a:prstGeom>
              <a:blipFill>
                <a:blip r:embed="rId4"/>
                <a:stretch>
                  <a:fillRect l="-273" t="-2128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5195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5876968803]">
  <a:themeElements>
    <a:clrScheme name="University of Washington">
      <a:dk1>
        <a:srgbClr val="333333"/>
      </a:dk1>
      <a:lt1>
        <a:srgbClr val="FFFFFF"/>
      </a:lt1>
      <a:dk2>
        <a:srgbClr val="4B2E83"/>
      </a:dk2>
      <a:lt2>
        <a:srgbClr val="F5F0EB"/>
      </a:lt2>
      <a:accent1>
        <a:srgbClr val="4B2E83"/>
      </a:accent1>
      <a:accent2>
        <a:srgbClr val="B7A57A"/>
      </a:accent2>
      <a:accent3>
        <a:srgbClr val="85754D"/>
      </a:accent3>
      <a:accent4>
        <a:srgbClr val="00A7B5"/>
      </a:accent4>
      <a:accent5>
        <a:srgbClr val="7AB648"/>
      </a:accent5>
      <a:accent6>
        <a:srgbClr val="D1578A"/>
      </a:accent6>
      <a:hlink>
        <a:srgbClr val="0563C1"/>
      </a:hlink>
      <a:folHlink>
        <a:srgbClr val="954F72"/>
      </a:folHlink>
    </a:clrScheme>
    <a:fontScheme name="Bellevue Colleg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c79faba-e8d3-4fb7-9062-0409eb8478fa}">
  <we:reference id="WA200010001" version="1.0.0.0" store="en-US" storeType="OMEX"/>
  <we:alternateReferences/>
  <we:properties>
    <we:property name="Microsoft.Office.CampaignId" value="&quot;none&quot;"/>
    <we:property name="Office.AutoShowTaskpaneWithDocument" value="true"/>
    <we:property name="claude.fileId" value="&quot;9777158b-f629-46ff-aa04-06fe8115a595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6204</TotalTime>
  <Words>9350</Words>
  <Application>Microsoft Macintosh PowerPoint</Application>
  <PresentationFormat>Widescreen</PresentationFormat>
  <Paragraphs>1382</Paragraphs>
  <Slides>111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111</vt:i4>
      </vt:variant>
    </vt:vector>
  </HeadingPairs>
  <TitlesOfParts>
    <vt:vector size="117" baseType="lpstr">
      <vt:lpstr>Aptos</vt:lpstr>
      <vt:lpstr>Arial</vt:lpstr>
      <vt:lpstr>Calibri</vt:lpstr>
      <vt:lpstr>Cambria Math</vt:lpstr>
      <vt:lpstr>Consolas</vt:lpstr>
      <vt:lpstr>Office Theme [1775876968803]</vt:lpstr>
      <vt:lpstr>Cluster Analysis A Linear-Algebra Approach to Unsupervised Learning</vt:lpstr>
      <vt:lpstr>Course Roadmap</vt:lpstr>
      <vt:lpstr>PowerPoint Presentation</vt:lpstr>
      <vt:lpstr>What Is a Cluster?</vt:lpstr>
      <vt:lpstr>Example: People, Features &amp; Clusters</vt:lpstr>
      <vt:lpstr>Clustering as a Partition</vt:lpstr>
      <vt:lpstr>Exercise: Is It a Valid Clustering?</vt:lpstr>
      <vt:lpstr>The Data Matrix X</vt:lpstr>
      <vt:lpstr>Why Distance Matters</vt:lpstr>
      <vt:lpstr>Distance Metrics &amp; Norms</vt:lpstr>
      <vt:lpstr>The Distance Matrix D</vt:lpstr>
      <vt:lpstr>Squared Distances: The Gram Matrix Trick</vt:lpstr>
      <vt:lpstr>Example: A Distance via the Gram Trick</vt:lpstr>
      <vt:lpstr>Exercise: Build the Distance Matrix</vt:lpstr>
      <vt:lpstr>Solution — Step 1: Squared Norms</vt:lpstr>
      <vt:lpstr>Solution — Step 2: Gram Matrix G = XXᵀ</vt:lpstr>
      <vt:lpstr>Solution — Step 3: Squared Distances D²ᵢⱼ</vt:lpstr>
      <vt:lpstr>Solution — Step 4: Distance Matrix D</vt:lpstr>
      <vt:lpstr>Similarity vs. Dissimilarity</vt:lpstr>
      <vt:lpstr>Standardization</vt:lpstr>
      <vt:lpstr>The Curse of Dimensionality</vt:lpstr>
      <vt:lpstr>Step 1 — Expand the Squared Distance</vt:lpstr>
      <vt:lpstr>Step 2 — Collect Into the Gram Matrix</vt:lpstr>
      <vt:lpstr>Step 3 — Diagonal &amp; Matrix Form</vt:lpstr>
      <vt:lpstr>Step 4 — Plug In and Recover D</vt:lpstr>
      <vt:lpstr>Exercise 1: Standardization in Matrix Form</vt:lpstr>
      <vt:lpstr>Exercise 2 — Step 1: Set Up the Centering</vt:lpstr>
      <vt:lpstr>Exercise 2 — Step 2: Column Means</vt:lpstr>
      <vt:lpstr>Exercise 2 — Step 3: Subtract the Means</vt:lpstr>
      <vt:lpstr>Exercise 2 — Step 4: Check &amp; Standardize</vt:lpstr>
      <vt:lpstr>Exercise 3 — Step 1: Set Up the Scaling</vt:lpstr>
      <vt:lpstr>Exercise 3 — Step 2: Column Standard Deviations</vt:lpstr>
      <vt:lpstr>Exercise 3 — Step 3: Build the Scaling Matrix</vt:lpstr>
      <vt:lpstr>Exercise 3 — Step 4: Scale to Unit Variance</vt:lpstr>
      <vt:lpstr>Foundations — Exercises</vt:lpstr>
      <vt:lpstr>Exercise 1: Distance Matrix — Step 1</vt:lpstr>
      <vt:lpstr>Exercise 1: Distance Matrix — Step 2</vt:lpstr>
      <vt:lpstr>Exercise 1: Distance Matrix — Step 3</vt:lpstr>
      <vt:lpstr>Exercise 2: Metric Comparison — Step 1</vt:lpstr>
      <vt:lpstr>Exercise 2: Metric Comparison — Step 2</vt:lpstr>
      <vt:lpstr>Exercise 2: Metric Comparison — Step 3</vt:lpstr>
      <vt:lpstr>Exercise 3: Standardization — Step 1</vt:lpstr>
      <vt:lpstr>Exercise 3: Standardization — Step 2</vt:lpstr>
      <vt:lpstr>Exercise 3: Standardization — Step 3</vt:lpstr>
      <vt:lpstr>PowerPoint Presentation</vt:lpstr>
      <vt:lpstr>K-Means: The Objective</vt:lpstr>
      <vt:lpstr>Lloyd's Algorithm: History &amp; Intuition</vt:lpstr>
      <vt:lpstr>Lloyd's Algorithm</vt:lpstr>
      <vt:lpstr>Lloyd's Algorithm</vt:lpstr>
      <vt:lpstr>Lloyd's Algorithm</vt:lpstr>
      <vt:lpstr>Lloyd's Algorithm</vt:lpstr>
      <vt:lpstr>Lloyd's Algorithm</vt:lpstr>
      <vt:lpstr>Lloyd's Algorithm</vt:lpstr>
      <vt:lpstr>Initialization: k-means++</vt:lpstr>
      <vt:lpstr>Lloyd Iteration — Step 1: Assignment</vt:lpstr>
      <vt:lpstr>Lloyd Iteration — Step 2: Update Centroids</vt:lpstr>
      <vt:lpstr>Lloyd Iteration — Step 3: Inertia &amp; Convergence</vt:lpstr>
      <vt:lpstr>Matrix Form — Step 1: Stack the Data</vt:lpstr>
      <vt:lpstr>Matrix Form — Step 2: Stack the Centroids</vt:lpstr>
      <vt:lpstr>Distance Matrix — Step 1: The Formula</vt:lpstr>
      <vt:lpstr>Distance Matrix — Step 2: Compute Column 1</vt:lpstr>
      <vt:lpstr>Distance Matrix — Step 3: Assemble D</vt:lpstr>
      <vt:lpstr>Assignment — Step 1: Nearest Centroid (argmin)</vt:lpstr>
      <vt:lpstr>Assignment — Step 2: One-Hot Matrix Z</vt:lpstr>
      <vt:lpstr>Update — Step 1: Cluster Sums ZᵀX</vt:lpstr>
      <vt:lpstr>Update — Step 2: Cluster Sizes &amp; Divide</vt:lpstr>
      <vt:lpstr>Update — Step 3: New Centroids M⁽¹⁾</vt:lpstr>
      <vt:lpstr>Inertia — Step 1: Keep Each Point’s Own Distance</vt:lpstr>
      <vt:lpstr>Inertia — Step 2: Sum to Get J</vt:lpstr>
      <vt:lpstr>Example 2: Choosing k (Elbow)</vt:lpstr>
      <vt:lpstr>Example 3: Scaling Changes Clusters</vt:lpstr>
      <vt:lpstr>K-Means — Exercises</vt:lpstr>
      <vt:lpstr>PowerPoint Presentation</vt:lpstr>
      <vt:lpstr>Agglomerative Clustering</vt:lpstr>
      <vt:lpstr>Types of Linkage</vt:lpstr>
      <vt:lpstr>The Dendrogram</vt:lpstr>
      <vt:lpstr>Updating Distances: Lance–Williams</vt:lpstr>
      <vt:lpstr>Example 1: Single-Linkage by Hand</vt:lpstr>
      <vt:lpstr>Example 2: Ward vs Single Linkage</vt:lpstr>
      <vt:lpstr>Example 3: Cophenetic Correlation</vt:lpstr>
      <vt:lpstr>Hierarchical — Exercises</vt:lpstr>
      <vt:lpstr>PowerPoint Presentation</vt:lpstr>
      <vt:lpstr>Density: Core, Border &amp; Noise</vt:lpstr>
      <vt:lpstr>DBSCAN Algorithm</vt:lpstr>
      <vt:lpstr>Example 1: Point Classification</vt:lpstr>
      <vt:lpstr>Example 2: Choosing ε (k-distance)</vt:lpstr>
      <vt:lpstr>Example 3: Non-Convex Shapes</vt:lpstr>
      <vt:lpstr>DBSCAN — Exercises</vt:lpstr>
      <vt:lpstr>PowerPoint Presentation</vt:lpstr>
      <vt:lpstr>t-SNE: High-D vs Low-D Affinities</vt:lpstr>
      <vt:lpstr>t-SNE: Cost &amp; Gradient</vt:lpstr>
      <vt:lpstr>Example 1: Computing an Affinity</vt:lpstr>
      <vt:lpstr>Example 2: Perplexity &amp; Bandwidth</vt:lpstr>
      <vt:lpstr>Example 3: One Gradient Step</vt:lpstr>
      <vt:lpstr>t-SNE — Exercises</vt:lpstr>
      <vt:lpstr>PowerPoint Presentation</vt:lpstr>
      <vt:lpstr>UMAP: High-Dimensional Graph</vt:lpstr>
      <vt:lpstr>UMAP: Low-D Layout &amp; Cost</vt:lpstr>
      <vt:lpstr>Example 1: Local Connectivity ρᵢ</vt:lpstr>
      <vt:lpstr>Example 2: Fuzzy Union</vt:lpstr>
      <vt:lpstr>Example 3: Low-D Weight qᵢⱼ</vt:lpstr>
      <vt:lpstr>UMAP — Exercises</vt:lpstr>
      <vt:lpstr>PowerPoint Presentation</vt:lpstr>
      <vt:lpstr>Centroids, Medoids &amp; Profiles</vt:lpstr>
      <vt:lpstr>Validation: Silhouette &amp; F-Statistic</vt:lpstr>
      <vt:lpstr>Example 1: Silhouette of a Point</vt:lpstr>
      <vt:lpstr>Example 2: Centroid z-Profile</vt:lpstr>
      <vt:lpstr>Example 3: F-Statistic Feature Ranking</vt:lpstr>
      <vt:lpstr>Clustering Profiling — Exercises</vt:lpstr>
      <vt:lpstr>Choosing a Method</vt:lpstr>
      <vt:lpstr>From Clusters to Personas: Naming Ideas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Pedro Albuquerque</cp:lastModifiedBy>
  <cp:revision>150</cp:revision>
  <dcterms:created xsi:type="dcterms:W3CDTF">2018-06-07T21:39:02Z</dcterms:created>
  <dcterms:modified xsi:type="dcterms:W3CDTF">2026-06-11T21:42:17Z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