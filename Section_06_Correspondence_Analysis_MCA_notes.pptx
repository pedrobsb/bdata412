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dia/image194.svg" ContentType="image/svg+xml"/>
  <Override PartName="/ppt/media/image195.svg" ContentType="image/svg+xml"/>
  <Override PartName="/ppt/media/image197.svg" ContentType="image/svg+xml"/>
  <Override PartName="/ppt/media/image199.svg" ContentType="image/svg+xml"/>
  <Override PartName="/ppt/media/image202.svg" ContentType="image/svg+xml"/>
  <Override PartName="/ppt/media/image204.svg" ContentType="image/svg+xml"/>
  <Override PartName="/ppt/media/image207.svg" ContentType="image/svg+xml"/>
  <Override PartName="/ppt/media/image208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Relationship Id="rId6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4" r:id="rId4"/>
  </p:sldMasterIdLst>
  <p:notesMasterIdLst>
    <p:notesMasterId r:id="rId246"/>
  </p:notesMasterIdLst>
  <p:sldIdLst>
    <p:sldId id="965" r:id="rId72"/>
    <p:sldId id="966" r:id="rId73"/>
    <p:sldId id="545" r:id="rId84"/>
    <p:sldId id="967" r:id="rId74"/>
    <p:sldId id="726" r:id="rId85"/>
    <p:sldId id="968" r:id="rId75"/>
    <p:sldId id="743" r:id="rId86"/>
    <p:sldId id="969" r:id="rId76"/>
    <p:sldId id="744" r:id="rId87"/>
    <p:sldId id="970" r:id="rId77"/>
    <p:sldId id="745" r:id="rId88"/>
    <p:sldId id="971" r:id="rId78"/>
    <p:sldId id="746" r:id="rId89"/>
    <p:sldId id="972" r:id="rId79"/>
    <p:sldId id="738" r:id="rId90"/>
    <p:sldId id="973" r:id="rId80"/>
    <p:sldId id="737" r:id="rId91"/>
    <p:sldId id="974" r:id="rId81"/>
    <p:sldId id="736" r:id="rId92"/>
    <p:sldId id="975" r:id="rId82"/>
    <p:sldId id="729" r:id="rId93"/>
    <p:sldId id="976" r:id="rId83"/>
    <p:sldId id="735" r:id="rId94"/>
    <p:sldId id="977" r:id="rId71"/>
    <p:sldId id="733" r:id="rId95"/>
    <p:sldId id="978" r:id="rId70"/>
    <p:sldId id="454" r:id="rId96"/>
    <p:sldId id="979" r:id="rId69"/>
    <p:sldId id="544" r:id="rId97"/>
    <p:sldId id="980" r:id="rId68"/>
    <p:sldId id="533" r:id="rId98"/>
    <p:sldId id="981" r:id="rId67"/>
    <p:sldId id="534" r:id="rId99"/>
    <p:sldId id="982" r:id="rId66"/>
    <p:sldId id="535" r:id="rId100"/>
    <p:sldId id="983" r:id="rId65"/>
    <p:sldId id="675" r:id="rId101"/>
    <p:sldId id="984" r:id="rId64"/>
    <p:sldId id="676" r:id="rId102"/>
    <p:sldId id="985" r:id="rId63"/>
    <p:sldId id="677" r:id="rId103"/>
    <p:sldId id="986" r:id="rId62"/>
    <p:sldId id="678" r:id="rId104"/>
    <p:sldId id="987" r:id="rId61"/>
    <p:sldId id="679" r:id="rId105"/>
    <p:sldId id="988" r:id="rId60"/>
    <p:sldId id="680" r:id="rId106"/>
    <p:sldId id="989" r:id="rId59"/>
    <p:sldId id="685" r:id="rId107"/>
    <p:sldId id="990" r:id="rId58"/>
    <p:sldId id="686" r:id="rId108"/>
    <p:sldId id="991" r:id="rId57"/>
    <p:sldId id="687" r:id="rId109"/>
    <p:sldId id="992" r:id="rId56"/>
    <p:sldId id="688" r:id="rId110"/>
    <p:sldId id="993" r:id="rId55"/>
    <p:sldId id="689" r:id="rId111"/>
    <p:sldId id="994" r:id="rId54"/>
    <p:sldId id="694" r:id="rId112"/>
    <p:sldId id="995" r:id="rId53"/>
    <p:sldId id="696" r:id="rId113"/>
    <p:sldId id="996" r:id="rId52"/>
    <p:sldId id="697" r:id="rId114"/>
    <p:sldId id="997" r:id="rId51"/>
    <p:sldId id="698" r:id="rId115"/>
    <p:sldId id="998" r:id="rId50"/>
    <p:sldId id="699" r:id="rId116"/>
    <p:sldId id="999" r:id="rId49"/>
    <p:sldId id="703" r:id="rId117"/>
    <p:sldId id="1000" r:id="rId48"/>
    <p:sldId id="704" r:id="rId118"/>
    <p:sldId id="1001" r:id="rId47"/>
    <p:sldId id="705" r:id="rId119"/>
    <p:sldId id="1002" r:id="rId46"/>
    <p:sldId id="706" r:id="rId120"/>
    <p:sldId id="1003" r:id="rId45"/>
    <p:sldId id="710" r:id="rId121"/>
    <p:sldId id="1004" r:id="rId44"/>
    <p:sldId id="711" r:id="rId122"/>
    <p:sldId id="1005" r:id="rId43"/>
    <p:sldId id="712" r:id="rId123"/>
    <p:sldId id="1006" r:id="rId42"/>
    <p:sldId id="713" r:id="rId124"/>
    <p:sldId id="1007" r:id="rId41"/>
    <p:sldId id="717" r:id="rId125"/>
    <p:sldId id="1008" r:id="rId40"/>
    <p:sldId id="718" r:id="rId126"/>
    <p:sldId id="1009" r:id="rId39"/>
    <p:sldId id="719" r:id="rId127"/>
    <p:sldId id="1010" r:id="rId38"/>
    <p:sldId id="721" r:id="rId128"/>
    <p:sldId id="1011" r:id="rId37"/>
    <p:sldId id="507" r:id="rId129"/>
    <p:sldId id="1012" r:id="rId36"/>
    <p:sldId id="499" r:id="rId130"/>
    <p:sldId id="1013" r:id="rId35"/>
    <p:sldId id="509" r:id="rId131"/>
    <p:sldId id="1014" r:id="rId34"/>
    <p:sldId id="510" r:id="rId132"/>
    <p:sldId id="1015" r:id="rId33"/>
    <p:sldId id="511" r:id="rId133"/>
    <p:sldId id="1016" r:id="rId32"/>
    <p:sldId id="953" r:id="rId134"/>
    <p:sldId id="1017" r:id="rId31"/>
    <p:sldId id="954" r:id="rId135"/>
    <p:sldId id="1018" r:id="rId30"/>
    <p:sldId id="955" r:id="rId136"/>
    <p:sldId id="1019" r:id="rId29"/>
    <p:sldId id="956" r:id="rId137"/>
    <p:sldId id="1020" r:id="rId28"/>
    <p:sldId id="957" r:id="rId138"/>
    <p:sldId id="1021" r:id="rId27"/>
    <p:sldId id="958" r:id="rId139"/>
    <p:sldId id="1022" r:id="rId26"/>
    <p:sldId id="959" r:id="rId140"/>
    <p:sldId id="1023" r:id="rId25"/>
    <p:sldId id="960" r:id="rId141"/>
    <p:sldId id="1024" r:id="rId24"/>
    <p:sldId id="961" r:id="rId142"/>
    <p:sldId id="1025" r:id="rId23"/>
    <p:sldId id="962" r:id="rId143"/>
    <p:sldId id="1026" r:id="rId22"/>
    <p:sldId id="963" r:id="rId144"/>
    <p:sldId id="1027" r:id="rId21"/>
    <p:sldId id="964" r:id="rId145"/>
    <p:sldId id="1028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1578A"/>
    <a:srgbClr val="4B2E83"/>
    <a:srgbClr val="F2C11E"/>
    <a:srgbClr val="FFE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3"/>
    <p:restoredTop sz="93836"/>
  </p:normalViewPr>
  <p:slideViewPr>
    <p:cSldViewPr snapToGrid="0" snapToObjects="1">
      <p:cViewPr varScale="1">
        <p:scale>
          <a:sx n="91" d="100"/>
          <a:sy n="91" d="100"/>
        </p:scale>
        <p:origin x="192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20" Type="http://schemas.openxmlformats.org/officeDocument/2006/relationships/slide" Target="slides/slide126.xml"/><Relationship Id="rId21" Type="http://schemas.openxmlformats.org/officeDocument/2006/relationships/slide" Target="slides/slide125.xml"/><Relationship Id="rId22" Type="http://schemas.openxmlformats.org/officeDocument/2006/relationships/slide" Target="slides/slide124.xml"/><Relationship Id="rId23" Type="http://schemas.openxmlformats.org/officeDocument/2006/relationships/slide" Target="slides/slide123.xml"/><Relationship Id="rId24" Type="http://schemas.openxmlformats.org/officeDocument/2006/relationships/slide" Target="slides/slide122.xml"/><Relationship Id="rId25" Type="http://schemas.openxmlformats.org/officeDocument/2006/relationships/slide" Target="slides/slide121.xml"/><Relationship Id="rId26" Type="http://schemas.openxmlformats.org/officeDocument/2006/relationships/slide" Target="slides/slide120.xml"/><Relationship Id="rId27" Type="http://schemas.openxmlformats.org/officeDocument/2006/relationships/slide" Target="slides/slide119.xml"/><Relationship Id="rId28" Type="http://schemas.openxmlformats.org/officeDocument/2006/relationships/slide" Target="slides/slide118.xml"/><Relationship Id="rId29" Type="http://schemas.openxmlformats.org/officeDocument/2006/relationships/slide" Target="slides/slide117.xml"/><Relationship Id="rId30" Type="http://schemas.openxmlformats.org/officeDocument/2006/relationships/slide" Target="slides/slide116.xml"/><Relationship Id="rId31" Type="http://schemas.openxmlformats.org/officeDocument/2006/relationships/slide" Target="slides/slide115.xml"/><Relationship Id="rId32" Type="http://schemas.openxmlformats.org/officeDocument/2006/relationships/slide" Target="slides/slide114.xml"/><Relationship Id="rId33" Type="http://schemas.openxmlformats.org/officeDocument/2006/relationships/slide" Target="slides/slide113.xml"/><Relationship Id="rId34" Type="http://schemas.openxmlformats.org/officeDocument/2006/relationships/slide" Target="slides/slide112.xml"/><Relationship Id="rId35" Type="http://schemas.openxmlformats.org/officeDocument/2006/relationships/slide" Target="slides/slide111.xml"/><Relationship Id="rId36" Type="http://schemas.openxmlformats.org/officeDocument/2006/relationships/slide" Target="slides/slide110.xml"/><Relationship Id="rId37" Type="http://schemas.openxmlformats.org/officeDocument/2006/relationships/slide" Target="slides/slide109.xml"/><Relationship Id="rId38" Type="http://schemas.openxmlformats.org/officeDocument/2006/relationships/slide" Target="slides/slide108.xml"/><Relationship Id="rId39" Type="http://schemas.openxmlformats.org/officeDocument/2006/relationships/slide" Target="slides/slide107.xml"/><Relationship Id="rId40" Type="http://schemas.openxmlformats.org/officeDocument/2006/relationships/slide" Target="slides/slide106.xml"/><Relationship Id="rId41" Type="http://schemas.openxmlformats.org/officeDocument/2006/relationships/slide" Target="slides/slide105.xml"/><Relationship Id="rId42" Type="http://schemas.openxmlformats.org/officeDocument/2006/relationships/slide" Target="slides/slide104.xml"/><Relationship Id="rId43" Type="http://schemas.openxmlformats.org/officeDocument/2006/relationships/slide" Target="slides/slide103.xml"/><Relationship Id="rId44" Type="http://schemas.openxmlformats.org/officeDocument/2006/relationships/slide" Target="slides/slide102.xml"/><Relationship Id="rId45" Type="http://schemas.openxmlformats.org/officeDocument/2006/relationships/slide" Target="slides/slide101.xml"/><Relationship Id="rId46" Type="http://schemas.openxmlformats.org/officeDocument/2006/relationships/slide" Target="slides/slide100.xml"/><Relationship Id="rId47" Type="http://schemas.openxmlformats.org/officeDocument/2006/relationships/slide" Target="slides/slide99.xml"/><Relationship Id="rId48" Type="http://schemas.openxmlformats.org/officeDocument/2006/relationships/slide" Target="slides/slide98.xml"/><Relationship Id="rId49" Type="http://schemas.openxmlformats.org/officeDocument/2006/relationships/slide" Target="slides/slide97.xml"/><Relationship Id="rId50" Type="http://schemas.openxmlformats.org/officeDocument/2006/relationships/slide" Target="slides/slide96.xml"/><Relationship Id="rId51" Type="http://schemas.openxmlformats.org/officeDocument/2006/relationships/slide" Target="slides/slide95.xml"/><Relationship Id="rId52" Type="http://schemas.openxmlformats.org/officeDocument/2006/relationships/slide" Target="slides/slide94.xml"/><Relationship Id="rId53" Type="http://schemas.openxmlformats.org/officeDocument/2006/relationships/slide" Target="slides/slide93.xml"/><Relationship Id="rId54" Type="http://schemas.openxmlformats.org/officeDocument/2006/relationships/slide" Target="slides/slide92.xml"/><Relationship Id="rId55" Type="http://schemas.openxmlformats.org/officeDocument/2006/relationships/slide" Target="slides/slide91.xml"/><Relationship Id="rId56" Type="http://schemas.openxmlformats.org/officeDocument/2006/relationships/slide" Target="slides/slide90.xml"/><Relationship Id="rId57" Type="http://schemas.openxmlformats.org/officeDocument/2006/relationships/slide" Target="slides/slide89.xml"/><Relationship Id="rId58" Type="http://schemas.openxmlformats.org/officeDocument/2006/relationships/slide" Target="slides/slide88.xml"/><Relationship Id="rId59" Type="http://schemas.openxmlformats.org/officeDocument/2006/relationships/slide" Target="slides/slide87.xml"/><Relationship Id="rId60" Type="http://schemas.openxmlformats.org/officeDocument/2006/relationships/slide" Target="slides/slide86.xml"/><Relationship Id="rId61" Type="http://schemas.openxmlformats.org/officeDocument/2006/relationships/slide" Target="slides/slide85.xml"/><Relationship Id="rId62" Type="http://schemas.openxmlformats.org/officeDocument/2006/relationships/slide" Target="slides/slide84.xml"/><Relationship Id="rId63" Type="http://schemas.openxmlformats.org/officeDocument/2006/relationships/slide" Target="slides/slide83.xml"/><Relationship Id="rId64" Type="http://schemas.openxmlformats.org/officeDocument/2006/relationships/slide" Target="slides/slide82.xml"/><Relationship Id="rId65" Type="http://schemas.openxmlformats.org/officeDocument/2006/relationships/slide" Target="slides/slide81.xml"/><Relationship Id="rId66" Type="http://schemas.openxmlformats.org/officeDocument/2006/relationships/slide" Target="slides/slide80.xml"/><Relationship Id="rId67" Type="http://schemas.openxmlformats.org/officeDocument/2006/relationships/slide" Target="slides/slide79.xml"/><Relationship Id="rId68" Type="http://schemas.openxmlformats.org/officeDocument/2006/relationships/slide" Target="slides/slide78.xml"/><Relationship Id="rId69" Type="http://schemas.openxmlformats.org/officeDocument/2006/relationships/slide" Target="slides/slide77.xml"/><Relationship Id="rId70" Type="http://schemas.openxmlformats.org/officeDocument/2006/relationships/slide" Target="slides/slide76.xml"/><Relationship Id="rId71" Type="http://schemas.openxmlformats.org/officeDocument/2006/relationships/slide" Target="slides/slide75.xml"/><Relationship Id="rId72" Type="http://schemas.openxmlformats.org/officeDocument/2006/relationships/slide" Target="slides/slide63.xml"/><Relationship Id="rId73" Type="http://schemas.openxmlformats.org/officeDocument/2006/relationships/slide" Target="slides/slide64.xml"/><Relationship Id="rId74" Type="http://schemas.openxmlformats.org/officeDocument/2006/relationships/slide" Target="slides/slide65.xml"/><Relationship Id="rId75" Type="http://schemas.openxmlformats.org/officeDocument/2006/relationships/slide" Target="slides/slide66.xml"/><Relationship Id="rId76" Type="http://schemas.openxmlformats.org/officeDocument/2006/relationships/slide" Target="slides/slide67.xml"/><Relationship Id="rId77" Type="http://schemas.openxmlformats.org/officeDocument/2006/relationships/slide" Target="slides/slide68.xml"/><Relationship Id="rId78" Type="http://schemas.openxmlformats.org/officeDocument/2006/relationships/slide" Target="slides/slide69.xml"/><Relationship Id="rId79" Type="http://schemas.openxmlformats.org/officeDocument/2006/relationships/slide" Target="slides/slide70.xml"/><Relationship Id="rId80" Type="http://schemas.openxmlformats.org/officeDocument/2006/relationships/slide" Target="slides/slide71.xml"/><Relationship Id="rId81" Type="http://schemas.openxmlformats.org/officeDocument/2006/relationships/slide" Target="slides/slide72.xml"/><Relationship Id="rId82" Type="http://schemas.openxmlformats.org/officeDocument/2006/relationships/slide" Target="slides/slide73.xml"/><Relationship Id="rId83" Type="http://schemas.openxmlformats.org/officeDocument/2006/relationships/slide" Target="slides/slide74.xml"/><Relationship Id="rId84" Type="http://schemas.openxmlformats.org/officeDocument/2006/relationships/slide" Target="slides/slide2.xml"/><Relationship Id="rId85" Type="http://schemas.openxmlformats.org/officeDocument/2006/relationships/slide" Target="slides/slide3.xml"/><Relationship Id="rId86" Type="http://schemas.openxmlformats.org/officeDocument/2006/relationships/slide" Target="slides/slide4.xml"/><Relationship Id="rId87" Type="http://schemas.openxmlformats.org/officeDocument/2006/relationships/slide" Target="slides/slide5.xml"/><Relationship Id="rId88" Type="http://schemas.openxmlformats.org/officeDocument/2006/relationships/slide" Target="slides/slide6.xml"/><Relationship Id="rId89" Type="http://schemas.openxmlformats.org/officeDocument/2006/relationships/slide" Target="slides/slide7.xml"/><Relationship Id="rId90" Type="http://schemas.openxmlformats.org/officeDocument/2006/relationships/slide" Target="slides/slide8.xml"/><Relationship Id="rId91" Type="http://schemas.openxmlformats.org/officeDocument/2006/relationships/slide" Target="slides/slide9.xml"/><Relationship Id="rId92" Type="http://schemas.openxmlformats.org/officeDocument/2006/relationships/slide" Target="slides/slide10.xml"/><Relationship Id="rId93" Type="http://schemas.openxmlformats.org/officeDocument/2006/relationships/slide" Target="slides/slide11.xml"/><Relationship Id="rId94" Type="http://schemas.openxmlformats.org/officeDocument/2006/relationships/slide" Target="slides/slide12.xml"/><Relationship Id="rId95" Type="http://schemas.openxmlformats.org/officeDocument/2006/relationships/slide" Target="slides/slide13.xml"/><Relationship Id="rId96" Type="http://schemas.openxmlformats.org/officeDocument/2006/relationships/slide" Target="slides/slide14.xml"/><Relationship Id="rId97" Type="http://schemas.openxmlformats.org/officeDocument/2006/relationships/slide" Target="slides/slide15.xml"/><Relationship Id="rId98" Type="http://schemas.openxmlformats.org/officeDocument/2006/relationships/slide" Target="slides/slide16.xml"/><Relationship Id="rId99" Type="http://schemas.openxmlformats.org/officeDocument/2006/relationships/slide" Target="slides/slide17.xml"/><Relationship Id="rId100" Type="http://schemas.openxmlformats.org/officeDocument/2006/relationships/slide" Target="slides/slide18.xml"/><Relationship Id="rId101" Type="http://schemas.openxmlformats.org/officeDocument/2006/relationships/slide" Target="slides/slide19.xml"/><Relationship Id="rId102" Type="http://schemas.openxmlformats.org/officeDocument/2006/relationships/slide" Target="slides/slide20.xml"/><Relationship Id="rId103" Type="http://schemas.openxmlformats.org/officeDocument/2006/relationships/slide" Target="slides/slide21.xml"/><Relationship Id="rId104" Type="http://schemas.openxmlformats.org/officeDocument/2006/relationships/slide" Target="slides/slide22.xml"/><Relationship Id="rId105" Type="http://schemas.openxmlformats.org/officeDocument/2006/relationships/slide" Target="slides/slide23.xml"/><Relationship Id="rId106" Type="http://schemas.openxmlformats.org/officeDocument/2006/relationships/slide" Target="slides/slide24.xml"/><Relationship Id="rId107" Type="http://schemas.openxmlformats.org/officeDocument/2006/relationships/slide" Target="slides/slide25.xml"/><Relationship Id="rId108" Type="http://schemas.openxmlformats.org/officeDocument/2006/relationships/slide" Target="slides/slide26.xml"/><Relationship Id="rId109" Type="http://schemas.openxmlformats.org/officeDocument/2006/relationships/slide" Target="slides/slide27.xml"/><Relationship Id="rId110" Type="http://schemas.openxmlformats.org/officeDocument/2006/relationships/slide" Target="slides/slide28.xml"/><Relationship Id="rId111" Type="http://schemas.openxmlformats.org/officeDocument/2006/relationships/slide" Target="slides/slide29.xml"/><Relationship Id="rId112" Type="http://schemas.openxmlformats.org/officeDocument/2006/relationships/slide" Target="slides/slide30.xml"/><Relationship Id="rId113" Type="http://schemas.openxmlformats.org/officeDocument/2006/relationships/slide" Target="slides/slide31.xml"/><Relationship Id="rId114" Type="http://schemas.openxmlformats.org/officeDocument/2006/relationships/slide" Target="slides/slide32.xml"/><Relationship Id="rId115" Type="http://schemas.openxmlformats.org/officeDocument/2006/relationships/slide" Target="slides/slide33.xml"/><Relationship Id="rId116" Type="http://schemas.openxmlformats.org/officeDocument/2006/relationships/slide" Target="slides/slide34.xml"/><Relationship Id="rId117" Type="http://schemas.openxmlformats.org/officeDocument/2006/relationships/slide" Target="slides/slide35.xml"/><Relationship Id="rId118" Type="http://schemas.openxmlformats.org/officeDocument/2006/relationships/slide" Target="slides/slide36.xml"/><Relationship Id="rId119" Type="http://schemas.openxmlformats.org/officeDocument/2006/relationships/slide" Target="slides/slide37.xml"/><Relationship Id="rId120" Type="http://schemas.openxmlformats.org/officeDocument/2006/relationships/slide" Target="slides/slide38.xml"/><Relationship Id="rId121" Type="http://schemas.openxmlformats.org/officeDocument/2006/relationships/slide" Target="slides/slide39.xml"/><Relationship Id="rId122" Type="http://schemas.openxmlformats.org/officeDocument/2006/relationships/slide" Target="slides/slide40.xml"/><Relationship Id="rId123" Type="http://schemas.openxmlformats.org/officeDocument/2006/relationships/slide" Target="slides/slide41.xml"/><Relationship Id="rId124" Type="http://schemas.openxmlformats.org/officeDocument/2006/relationships/slide" Target="slides/slide42.xml"/><Relationship Id="rId125" Type="http://schemas.openxmlformats.org/officeDocument/2006/relationships/slide" Target="slides/slide43.xml"/><Relationship Id="rId126" Type="http://schemas.openxmlformats.org/officeDocument/2006/relationships/slide" Target="slides/slide44.xml"/><Relationship Id="rId127" Type="http://schemas.openxmlformats.org/officeDocument/2006/relationships/slide" Target="slides/slide45.xml"/><Relationship Id="rId128" Type="http://schemas.openxmlformats.org/officeDocument/2006/relationships/slide" Target="slides/slide46.xml"/><Relationship Id="rId129" Type="http://schemas.openxmlformats.org/officeDocument/2006/relationships/slide" Target="slides/slide47.xml"/><Relationship Id="rId130" Type="http://schemas.openxmlformats.org/officeDocument/2006/relationships/slide" Target="slides/slide48.xml"/><Relationship Id="rId131" Type="http://schemas.openxmlformats.org/officeDocument/2006/relationships/slide" Target="slides/slide49.xml"/><Relationship Id="rId132" Type="http://schemas.openxmlformats.org/officeDocument/2006/relationships/slide" Target="slides/slide50.xml"/><Relationship Id="rId133" Type="http://schemas.openxmlformats.org/officeDocument/2006/relationships/slide" Target="slides/slide51.xml"/><Relationship Id="rId134" Type="http://schemas.openxmlformats.org/officeDocument/2006/relationships/slide" Target="slides/slide52.xml"/><Relationship Id="rId135" Type="http://schemas.openxmlformats.org/officeDocument/2006/relationships/slide" Target="slides/slide53.xml"/><Relationship Id="rId136" Type="http://schemas.openxmlformats.org/officeDocument/2006/relationships/slide" Target="slides/slide54.xml"/><Relationship Id="rId137" Type="http://schemas.openxmlformats.org/officeDocument/2006/relationships/slide" Target="slides/slide55.xml"/><Relationship Id="rId138" Type="http://schemas.openxmlformats.org/officeDocument/2006/relationships/slide" Target="slides/slide56.xml"/><Relationship Id="rId139" Type="http://schemas.openxmlformats.org/officeDocument/2006/relationships/slide" Target="slides/slide57.xml"/><Relationship Id="rId140" Type="http://schemas.openxmlformats.org/officeDocument/2006/relationships/slide" Target="slides/slide58.xml"/><Relationship Id="rId141" Type="http://schemas.openxmlformats.org/officeDocument/2006/relationships/slide" Target="slides/slide59.xml"/><Relationship Id="rId142" Type="http://schemas.openxmlformats.org/officeDocument/2006/relationships/slide" Target="slides/slide60.xml"/><Relationship Id="rId143" Type="http://schemas.openxmlformats.org/officeDocument/2006/relationships/slide" Target="slides/slide61.xml"/><Relationship Id="rId144" Type="http://schemas.openxmlformats.org/officeDocument/2006/relationships/slide" Target="slides/slide62.xml"/><Relationship Id="rId145" Type="http://schemas.openxmlformats.org/officeDocument/2006/relationships/slide" Target="slides/slide63.xml"/><Relationship Id="rId246" Type="http://schemas.openxmlformats.org/officeDocument/2006/relationships/notesMaster" Target="notesMasters/notesMaster1.xml"/><Relationship Id="rId247" Type="http://schemas.openxmlformats.org/officeDocument/2006/relationships/presProps" Target="presProps.xml"/><Relationship Id="rId248" Type="http://schemas.openxmlformats.org/officeDocument/2006/relationships/viewProps" Target="viewProps.xml"/><Relationship Id="rId249" Type="http://schemas.openxmlformats.org/officeDocument/2006/relationships/theme" Target="theme/theme1.xml"/><Relationship Id="rId250" Type="http://schemas.openxmlformats.org/officeDocument/2006/relationships/tableStyles" Target="tableStyles.xml"/></Relationships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title>
      <c:tx>
        <c:rich>
          <a:bodyPr/>
          <a:lstStyle/>
          <a:p>
            <a:pPr>
              <a:defRPr sz="1600" b="1"/>
            </a:pPr>
            <a:r>
              <a:rPr lang="en-US" sz="1600" b="1"/>
              <a:t>Inertia by dimension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v>% of inertia</c:v>
          </c:tx>
          <c:invertIfNegative val="1"/>
          <c:dPt>
            <c:idx val="0"/>
            <c:invertIfNegative val="0"/>
            <c:bubble3D val="0"/>
            <c:spPr>
              <a:solidFill>
                <a:srgbClr val="4B2E83"/>
              </a:solidFill>
            </c:spPr>
            <c:extLst>
              <c:ext xmlns:c16="http://schemas.microsoft.com/office/drawing/2014/chart" uri="{C3380CC4-5D6E-409C-BE32-E72D297353CC}">
                <c16:uniqueId val="{00000001-4288-F841-B858-8FC4A5C9D25A}"/>
              </c:ext>
            </c:extLst>
          </c:dPt>
          <c:dPt>
            <c:idx val="1"/>
            <c:invertIfNegative val="0"/>
            <c:bubble3D val="0"/>
            <c:spPr>
              <a:solidFill>
                <a:srgbClr val="00A7B5"/>
              </a:solidFill>
            </c:spPr>
            <c:extLst>
              <c:ext xmlns:c16="http://schemas.microsoft.com/office/drawing/2014/chart" uri="{C3380CC4-5D6E-409C-BE32-E72D297353CC}">
                <c16:uniqueId val="{00000003-4288-F841-B858-8FC4A5C9D25A}"/>
              </c:ext>
            </c:extLst>
          </c:dPt>
          <c:dPt>
            <c:idx val="2"/>
            <c:invertIfNegative val="0"/>
            <c:bubble3D val="0"/>
            <c:spPr>
              <a:solidFill>
                <a:srgbClr val="B7A57A"/>
              </a:solidFill>
            </c:spPr>
            <c:extLst>
              <c:ext xmlns:c16="http://schemas.microsoft.com/office/drawing/2014/chart" uri="{C3380CC4-5D6E-409C-BE32-E72D297353CC}">
                <c16:uniqueId val="{00000005-4288-F841-B858-8FC4A5C9D25A}"/>
              </c:ext>
            </c:extLst>
          </c:dPt>
          <c:dLbls>
            <c:numFmt formatCode="0&quot;%&quot;" sourceLinked="0"/>
            <c:spPr>
              <a:noFill/>
            </c:spPr>
            <c:txPr>
              <a:bodyPr/>
              <a:lstStyle/>
              <a:p>
                <a:pPr>
                  <a:defRPr sz="1400" b="1"/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Dim 1</c:v>
              </c:pt>
              <c:pt idx="1">
                <c:v>Dim 2</c:v>
              </c:pt>
              <c:pt idx="2">
                <c:v>Dim 3</c:v>
              </c:pt>
            </c:strLit>
          </c:cat>
          <c:val>
            <c:numLit>
              <c:formatCode>General</c:formatCode>
              <c:ptCount val="3"/>
              <c:pt idx="0">
                <c:v>61</c:v>
              </c:pt>
              <c:pt idx="1">
                <c:v>28</c:v>
              </c:pt>
              <c:pt idx="2">
                <c:v>11</c:v>
              </c:pt>
            </c:numLit>
          </c:val>
          <c:extLst>
            <c:ext xmlns:c16="http://schemas.microsoft.com/office/drawing/2014/chart" uri="{C3380CC4-5D6E-409C-BE32-E72D297353CC}">
              <c16:uniqueId val="{00000006-4288-F841-B858-8FC4A5C9D2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11"/>
        <c:axId val="222"/>
      </c:barChart>
      <c:catAx>
        <c:axId val="11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222"/>
        <c:crosses val="autoZero"/>
        <c:auto val="1"/>
        <c:lblAlgn val="ctr"/>
        <c:lblOffset val="100"/>
        <c:noMultiLvlLbl val="1"/>
      </c:catAx>
      <c:valAx>
        <c:axId val="222"/>
        <c:scaling>
          <c:orientation val="minMax"/>
          <c:max val="70"/>
          <c:min val="0"/>
        </c:scaling>
        <c:delete val="0"/>
        <c:axPos val="l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/>
            </a:pPr>
            <a:endParaRPr lang="en-US"/>
          </a:p>
        </c:txPr>
        <c:crossAx val="111"/>
        <c:crosses val="autoZero"/>
        <c:crossBetween val="between"/>
      </c:valAx>
    </c:plotArea>
    <c:plotVisOnly val="1"/>
    <c:dispBlanksAs val="zero"/>
    <c:showDLblsOverMax val="1"/>
  </c:chart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P+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-0.88800000000000001</c:v>
              </c:pt>
            </c:numLit>
          </c:xVal>
          <c:yVal>
            <c:numLit>
              <c:formatCode>General</c:formatCode>
              <c:ptCount val="1"/>
              <c:pt idx="0">
                <c:v>0.46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0-27C0-B946-8B29-FE874399CD4C}"/>
            </c:ext>
          </c:extLst>
        </c:ser>
        <c:ser>
          <c:idx val="1"/>
          <c:order val="1"/>
          <c:tx>
            <c:v>P−</c:v>
          </c:tx>
          <c:spPr>
            <a:ln w="0">
              <a:noFill/>
            </a:ln>
          </c:spPr>
          <c:marker>
            <c:symbol val="circle"/>
            <c:size val="9"/>
            <c:spPr>
              <a:solidFill>
                <a:srgbClr val="4B2E83"/>
              </a:solidFill>
              <a:ln w="9525">
                <a:solidFill>
                  <a:srgbClr val="4B2E83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4B2E83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0.88800000000000001</c:v>
              </c:pt>
            </c:numLit>
          </c:xVal>
          <c:yVal>
            <c:numLit>
              <c:formatCode>General</c:formatCode>
              <c:ptCount val="1"/>
              <c:pt idx="0">
                <c:v>-0.46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1-27C0-B946-8B29-FE874399CD4C}"/>
            </c:ext>
          </c:extLst>
        </c:ser>
        <c:ser>
          <c:idx val="2"/>
          <c:order val="2"/>
          <c:tx>
            <c:v>G+</c:v>
          </c:tx>
          <c:spPr>
            <a:ln w="0">
              <a:noFill/>
            </a:ln>
          </c:spPr>
          <c:marker>
            <c:symbol val="diamond"/>
            <c:size val="9"/>
            <c:spPr>
              <a:solidFill>
                <a:srgbClr val="00A7B5"/>
              </a:solidFill>
              <a:ln w="9525">
                <a:solidFill>
                  <a:srgbClr val="00A7B5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00A7B5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-0.51300000000000001</c:v>
              </c:pt>
            </c:numLit>
          </c:xVal>
          <c:yVal>
            <c:numLit>
              <c:formatCode>General</c:formatCode>
              <c:ptCount val="1"/>
              <c:pt idx="0">
                <c:v>-0.26500000000000001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2-27C0-B946-8B29-FE874399CD4C}"/>
            </c:ext>
          </c:extLst>
        </c:ser>
        <c:ser>
          <c:idx val="3"/>
          <c:order val="3"/>
          <c:tx>
            <c:v>G−</c:v>
          </c:tx>
          <c:spPr>
            <a:ln w="0">
              <a:noFill/>
            </a:ln>
          </c:spPr>
          <c:marker>
            <c:symbol val="diamond"/>
            <c:size val="9"/>
            <c:spPr>
              <a:solidFill>
                <a:srgbClr val="00A7B5"/>
              </a:solidFill>
              <a:ln w="9525">
                <a:solidFill>
                  <a:srgbClr val="00A7B5"/>
                </a:solidFill>
              </a:ln>
            </c:spPr>
          </c:marker>
          <c:dLbls>
            <c:spPr>
              <a:noFill/>
              <a:ln>
                <a:noFill/>
              </a:ln>
            </c:spPr>
            <c:txPr>
              <a:bodyPr/>
              <a:lstStyle/>
              <a:p>
                <a:pPr>
                  <a:defRPr sz="1400" b="1">
                    <a:solidFill>
                      <a:srgbClr val="00A7B5"/>
                    </a:solidFill>
                  </a:defRPr>
                </a:pPr>
                <a:endParaRPr lang="en-US"/>
              </a:p>
            </c:txPr>
            <c:dLblPos val="t"/>
            <c:showLegendKey val="0"/>
            <c:showVal val="0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General</c:formatCode>
              <c:ptCount val="1"/>
              <c:pt idx="0">
                <c:v>1.538</c:v>
              </c:pt>
            </c:numLit>
          </c:xVal>
          <c:yVal>
            <c:numLit>
              <c:formatCode>General</c:formatCode>
              <c:ptCount val="1"/>
              <c:pt idx="0">
                <c:v>0.79600000000000004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3-27C0-B946-8B29-FE874399CD4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11"/>
        <c:axId val="222"/>
      </c:scatterChart>
      <c:valAx>
        <c:axId val="111"/>
        <c:scaling>
          <c:orientation val="minMax"/>
          <c:max val="2.1"/>
          <c:min val="-1.6"/>
        </c:scaling>
        <c:delete val="0"/>
        <c:axPos val="b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1">
                    <a:solidFill>
                      <a:srgbClr val="333333"/>
                    </a:solidFill>
                  </a:defRPr>
                </a:pPr>
                <a:r>
                  <a:rPr lang="en-US" sz="1400" b="1">
                    <a:solidFill>
                      <a:srgbClr val="333333"/>
                    </a:solidFill>
                  </a:rPr>
                  <a:t>Axis 1  (79%)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222"/>
        <c:crossesAt val="0"/>
        <c:crossBetween val="midCat"/>
        <c:majorUnit val="1"/>
      </c:valAx>
      <c:valAx>
        <c:axId val="222"/>
        <c:scaling>
          <c:orientation val="minMax"/>
          <c:max val="1.3"/>
          <c:min val="-1"/>
        </c:scaling>
        <c:delete val="0"/>
        <c:axPos val="l"/>
        <c:majorGridlines>
          <c:spPr>
            <a:ln w="9525">
              <a:solidFill>
                <a:srgbClr val="EAE6F0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400" b="1">
                    <a:solidFill>
                      <a:srgbClr val="333333"/>
                    </a:solidFill>
                  </a:defRPr>
                </a:pPr>
                <a:r>
                  <a:rPr lang="en-US" sz="1400" b="1">
                    <a:solidFill>
                      <a:srgbClr val="333333"/>
                    </a:solidFill>
                  </a:rPr>
                  <a:t>Axis 2  (21%)</a:t>
                </a:r>
              </a:p>
            </c:rich>
          </c:tx>
          <c:overlay val="0"/>
        </c:title>
        <c:numFmt formatCode="0.0" sourceLinked="0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666666"/>
                </a:solidFill>
              </a:defRPr>
            </a:pPr>
            <a:endParaRPr lang="en-US"/>
          </a:p>
        </c:txPr>
        <c:crossAx val="111"/>
        <c:crossesAt val="0"/>
        <c:crossBetween val="midCat"/>
        <c:majorUnit val="0.5"/>
      </c:valAx>
      <c:spPr>
        <a:noFill/>
        <a:ln>
          <a:noFill/>
        </a:ln>
      </c:spPr>
    </c:plotArea>
    <c:plotVisOnly val="1"/>
    <c:dispBlanksAs val="gap"/>
    <c:showDLblsOverMax val="1"/>
  </c:chart>
  <c:spPr>
    <a:solidFill>
      <a:srgbClr val="FFFFFF"/>
    </a:solidFill>
    <a:ln>
      <a:solidFill>
        <a:srgbClr val="B7A57A"/>
      </a:solidFill>
    </a:ln>
  </c:spPr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9E4F28-BF19-8E4B-A267-F456DA2B306E}" type="datetimeFigureOut">
              <a:rPr lang="en-US" smtClean="0"/>
              <a:t>6/19/26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15BD0-F2D7-F343-84F0-98B3430FBE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1807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6/19/26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  <p:sp>
        <p:nvSpPr>
          <p:cNvPr id="100" name="TopAccentBar"/>
          <p:cNvSpPr/>
          <p:nvPr userDrawn="1"/>
        </p:nvSpPr>
        <p:spPr>
          <a:xfrm>
            <a:off x="0" y="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ldAccentLine"/>
          <p:cNvSpPr/>
          <p:nvPr userDrawn="1"/>
        </p:nvSpPr>
        <p:spPr>
          <a:xfrm>
            <a:off x="0" y="91440"/>
            <a:ext cx="12192000" cy="27432"/>
          </a:xfrm>
          <a:prstGeom prst="rect">
            <a:avLst/>
          </a:prstGeom>
          <a:solidFill>
            <a:srgbClr val="F2C01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2" name="BottomAccentBar"/>
          <p:cNvSpPr/>
          <p:nvPr userDrawn="1"/>
        </p:nvSpPr>
        <p:spPr>
          <a:xfrm>
            <a:off x="0" y="6766560"/>
            <a:ext cx="12192000" cy="9144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1" name="BCTopBar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2" name="BCSilverLine"/>
          <p:cNvSpPr/>
          <p:nvPr/>
        </p:nvSpPr>
        <p:spPr>
          <a:xfrm>
            <a:off x="0" y="76200"/>
            <a:ext cx="12192000" cy="19050"/>
          </a:xfrm>
          <a:prstGeom prst="rect">
            <a:avLst/>
          </a:prstGeom>
          <a:solidFill>
            <a:srgbClr val="A7A9A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3" name="BCBottomBar"/>
          <p:cNvSpPr/>
          <p:nvPr/>
        </p:nvSpPr>
        <p:spPr>
          <a:xfrm>
            <a:off x="0" y="6781800"/>
            <a:ext cx="1219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04" name="BCLogo"/>
          <p:cNvSpPr/>
          <p:nvPr/>
        </p:nvSpPr>
        <p:spPr>
          <a:xfrm>
            <a:off x="9144000" y="6400800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91440" bIns="0" anchor="ctr" anchorCtr="0"/>
          <a:lstStyle/>
          <a:p>
            <a:pPr algn="r"/>
            <a:endParaRPr lang="en-US" sz="900" b="1" spc="200" dirty="0">
              <a:solidFill>
                <a:srgbClr val="4B2E83"/>
              </a:solidFill>
              <a:latin typeface="Arial"/>
            </a:endParaRPr>
          </a:p>
        </p:txBody>
      </p:sp>
      <p:sp>
        <p:nvSpPr>
          <p:cNvPr id="2010" name="AuthorInfo"/>
          <p:cNvSpPr/>
          <p:nvPr/>
        </p:nvSpPr>
        <p:spPr>
          <a:xfrm>
            <a:off x="152400" y="6400800"/>
            <a:ext cx="8534400" cy="304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 anchorCtr="0"/>
          <a:lstStyle/>
          <a:p>
            <a:pPr algn="l"/>
            <a:r>
              <a:rPr lang="en-US" sz="900" dirty="0">
                <a:solidFill>
                  <a:srgbClr val="4B2E83"/>
                </a:solidFill>
                <a:latin typeface="+mn-lt"/>
              </a:rPr>
              <a:t>Pedro Albuquerque, PhD (</a:t>
            </a:r>
            <a:r>
              <a:rPr lang="en-US" sz="900" dirty="0" err="1">
                <a:solidFill>
                  <a:srgbClr val="4B2E83"/>
                </a:solidFill>
                <a:latin typeface="+mn-lt"/>
              </a:rPr>
              <a:t>pedroalb@uwb.edu</a:t>
            </a:r>
            <a:r>
              <a:rPr lang="en-US" sz="900" dirty="0">
                <a:solidFill>
                  <a:srgbClr val="4B2E83"/>
                </a:solidFill>
                <a:latin typeface="+mn-lt"/>
              </a:rPr>
              <a:t>)</a:t>
            </a:r>
          </a:p>
        </p:txBody>
      </p:sp>
      <p:pic>
        <p:nvPicPr>
          <p:cNvPr id="9" name="Picture 8" descr="A purple letters on a black background&#10;&#10;AI-generated content may be incorrect.">
            <a:extLst>
              <a:ext uri="{FF2B5EF4-FFF2-40B4-BE49-F238E27FC236}">
                <a16:creationId xmlns:a16="http://schemas.microsoft.com/office/drawing/2014/main" id="{E462ACF0-778E-E7EE-EC6D-064CC249F90F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72600" y="6473509"/>
            <a:ext cx="2743200" cy="21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7" r:id="rId2"/>
    <p:sldLayoutId id="2147483739" r:id="rId3"/>
    <p:sldLayoutId id="2147483740" r:id="rId4"/>
    <p:sldLayoutId id="2147483741" r:id="rId5"/>
    <p:sldLayoutId id="2147483742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4B2E83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D3748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D3748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D3748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D3748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rgbClr val="2D3748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40.png"/><Relationship Id="rId3" Type="http://schemas.openxmlformats.org/officeDocument/2006/relationships/image" Target="../media/image45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8.png"/><Relationship Id="rId3" Type="http://schemas.openxmlformats.org/officeDocument/2006/relationships/image" Target="../media/image159.png"/><Relationship Id="rId4" Type="http://schemas.openxmlformats.org/officeDocument/2006/relationships/image" Target="../media/image16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60.png"/><Relationship Id="rId3" Type="http://schemas.openxmlformats.org/officeDocument/2006/relationships/image" Target="../media/image470.png"/><Relationship Id="rId4" Type="http://schemas.openxmlformats.org/officeDocument/2006/relationships/image" Target="../media/image480.png"/><Relationship Id="rId5" Type="http://schemas.openxmlformats.org/officeDocument/2006/relationships/image" Target="../media/image49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00.png"/><Relationship Id="rId3" Type="http://schemas.openxmlformats.org/officeDocument/2006/relationships/image" Target="../media/image510.png"/><Relationship Id="rId4" Type="http://schemas.openxmlformats.org/officeDocument/2006/relationships/image" Target="../media/image52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30.png"/><Relationship Id="rId3" Type="http://schemas.openxmlformats.org/officeDocument/2006/relationships/image" Target="../media/image540.png"/><Relationship Id="rId4" Type="http://schemas.openxmlformats.org/officeDocument/2006/relationships/image" Target="../media/image550.png"/><Relationship Id="rId5" Type="http://schemas.openxmlformats.org/officeDocument/2006/relationships/image" Target="../media/image56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70.png"/><Relationship Id="rId3" Type="http://schemas.openxmlformats.org/officeDocument/2006/relationships/image" Target="../media/image580.png"/><Relationship Id="rId4" Type="http://schemas.openxmlformats.org/officeDocument/2006/relationships/image" Target="../media/image590.png"/><Relationship Id="rId5" Type="http://schemas.openxmlformats.org/officeDocument/2006/relationships/image" Target="../media/image60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2.png"/><Relationship Id="rId3" Type="http://schemas.openxmlformats.org/officeDocument/2006/relationships/image" Target="../media/image163.png"/><Relationship Id="rId4" Type="http://schemas.openxmlformats.org/officeDocument/2006/relationships/image" Target="../media/image16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5.png"/><Relationship Id="rId3" Type="http://schemas.openxmlformats.org/officeDocument/2006/relationships/image" Target="../media/image16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7.png"/><Relationship Id="rId3" Type="http://schemas.openxmlformats.org/officeDocument/2006/relationships/image" Target="../media/image16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9.png"/><Relationship Id="rId3" Type="http://schemas.openxmlformats.org/officeDocument/2006/relationships/image" Target="../media/image17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3.png"/><Relationship Id="rId3" Type="http://schemas.openxmlformats.org/officeDocument/2006/relationships/image" Target="../media/image174.png"/><Relationship Id="rId4" Type="http://schemas.openxmlformats.org/officeDocument/2006/relationships/image" Target="../media/image17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8.png"/><Relationship Id="rId3" Type="http://schemas.openxmlformats.org/officeDocument/2006/relationships/image" Target="../media/image17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chart" Target="../charts/char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2.png"/><Relationship Id="rId3" Type="http://schemas.openxmlformats.org/officeDocument/2006/relationships/image" Target="../media/image183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4.png"/><Relationship Id="rId3" Type="http://schemas.openxmlformats.org/officeDocument/2006/relationships/image" Target="../media/image18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6.png"/><Relationship Id="rId3" Type="http://schemas.openxmlformats.org/officeDocument/2006/relationships/image" Target="../media/image187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8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89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1.png"/><Relationship Id="rId3" Type="http://schemas.openxmlformats.org/officeDocument/2006/relationships/image" Target="../media/image19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80.png"/><Relationship Id="rId3" Type="http://schemas.openxmlformats.org/officeDocument/2006/relationships/image" Target="../media/image790.png"/><Relationship Id="rId4" Type="http://schemas.openxmlformats.org/officeDocument/2006/relationships/image" Target="../media/image800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10.png"/><Relationship Id="rId3" Type="http://schemas.openxmlformats.org/officeDocument/2006/relationships/image" Target="../media/image820.png"/><Relationship Id="rId4" Type="http://schemas.openxmlformats.org/officeDocument/2006/relationships/image" Target="../media/image830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40.png"/><Relationship Id="rId3" Type="http://schemas.openxmlformats.org/officeDocument/2006/relationships/image" Target="../media/image850.png"/><Relationship Id="rId4" Type="http://schemas.openxmlformats.org/officeDocument/2006/relationships/image" Target="../media/image860.png"/><Relationship Id="rId5" Type="http://schemas.openxmlformats.org/officeDocument/2006/relationships/image" Target="../media/image8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3.png"/><Relationship Id="rId3" Type="http://schemas.openxmlformats.org/officeDocument/2006/relationships/image" Target="../media/image194.svg"/><Relationship Id="rId4" Type="http://schemas.openxmlformats.org/officeDocument/2006/relationships/image" Target="../media/image195.sv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6.png"/><Relationship Id="rId3" Type="http://schemas.openxmlformats.org/officeDocument/2006/relationships/image" Target="../media/image197.sv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8.png"/><Relationship Id="rId3" Type="http://schemas.openxmlformats.org/officeDocument/2006/relationships/image" Target="../media/image199.sv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1.png"/><Relationship Id="rId3" Type="http://schemas.openxmlformats.org/officeDocument/2006/relationships/image" Target="../media/image202.sv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3.png"/><Relationship Id="rId3" Type="http://schemas.openxmlformats.org/officeDocument/2006/relationships/image" Target="../media/image204.sv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5.png"/><Relationship Id="rId3" Type="http://schemas.openxmlformats.org/officeDocument/2006/relationships/chart" Target="../charts/chart8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6.png"/><Relationship Id="rId3" Type="http://schemas.openxmlformats.org/officeDocument/2006/relationships/image" Target="../media/image207.svg"/><Relationship Id="rId4" Type="http://schemas.openxmlformats.org/officeDocument/2006/relationships/image" Target="../media/image208.sv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9.png"/><Relationship Id="rId3" Type="http://schemas.openxmlformats.org/officeDocument/2006/relationships/image" Target="../media/image197.sv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1.png"/><Relationship Id="rId3" Type="http://schemas.openxmlformats.org/officeDocument/2006/relationships/image" Target="../media/image199.sv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2.png"/><Relationship Id="rId3" Type="http://schemas.openxmlformats.org/officeDocument/2006/relationships/image" Target="../media/image202.sv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13.png"/><Relationship Id="rId3" Type="http://schemas.openxmlformats.org/officeDocument/2006/relationships/image" Target="../media/image204.sv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Correspondence Analysis — The Core Idea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CA is "PCA for categorical data": it turns a contingency table of counts into a low-dimensional map where row and column categories with similar profiles sit close together.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D91DA5-E7B0-6D48-AE8E-478D51679487}"/>
              </a:ext>
            </a:extLst>
          </p:cNvPr>
          <p:cNvSpPr/>
          <p:nvPr/>
        </p:nvSpPr>
        <p:spPr>
          <a:xfrm>
            <a:off x="7620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6E5E1-52F3-FC47-8135-893463C8B2C7}"/>
              </a:ext>
            </a:extLst>
          </p:cNvPr>
          <p:cNvSpPr txBox="1"/>
          <p:nvPr/>
        </p:nvSpPr>
        <p:spPr>
          <a:xfrm>
            <a:off x="9398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Input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B9361-27F0-4A44-B3B4-03DD987C6265}"/>
              </a:ext>
            </a:extLst>
          </p:cNvPr>
          <p:cNvSpPr txBox="1"/>
          <p:nvPr/>
        </p:nvSpPr>
        <p:spPr>
          <a:xfrm>
            <a:off x="939800" y="2692400"/>
            <a:ext cx="3073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 two-way contingency table N (counts) — e.g., brands × attributes, regions × responses.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A86975-12E4-F243-AF7B-1AB8D287326A}"/>
              </a:ext>
            </a:extLst>
          </p:cNvPr>
          <p:cNvSpPr/>
          <p:nvPr/>
        </p:nvSpPr>
        <p:spPr>
          <a:xfrm>
            <a:off x="43815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CBA28-036B-CB4F-9480-9A2C2922D8CB}"/>
              </a:ext>
            </a:extLst>
          </p:cNvPr>
          <p:cNvSpPr txBox="1"/>
          <p:nvPr/>
        </p:nvSpPr>
        <p:spPr>
          <a:xfrm>
            <a:off x="45593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What it preserves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D8A21-D962-F34C-B0BA-21289AB73D2B}"/>
                  </a:ext>
                </a:extLst>
              </p:cNvPr>
              <p:cNvSpPr txBox="1"/>
              <p:nvPr/>
            </p:nvSpPr>
            <p:spPr>
              <a:xfrm>
                <a:off x="4559300" y="2692400"/>
                <a:ext cx="3073400" cy="79938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distances between row profiles (and between column profiles), not raw Euclidean distance.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D8A21-D962-F34C-B0BA-21289AB73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2692400"/>
                <a:ext cx="3073400" cy="799386"/>
              </a:xfrm>
              <a:prstGeom prst="rect">
                <a:avLst/>
              </a:prstGeom>
              <a:blipFill>
                <a:blip r:embed="rId2"/>
                <a:stretch>
                  <a:fillRect l="-826" r="-1240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0E589C-2284-8F4D-9A5C-CB000E2B56C1}"/>
              </a:ext>
            </a:extLst>
          </p:cNvPr>
          <p:cNvSpPr/>
          <p:nvPr/>
        </p:nvSpPr>
        <p:spPr>
          <a:xfrm>
            <a:off x="80010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449E8-F20B-1B46-9310-20F8BE8648E6}"/>
              </a:ext>
            </a:extLst>
          </p:cNvPr>
          <p:cNvSpPr txBox="1"/>
          <p:nvPr/>
        </p:nvSpPr>
        <p:spPr>
          <a:xfrm>
            <a:off x="8178800" y="2311400"/>
            <a:ext cx="30734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D1578A"/>
                </a:solidFill>
              </a:rPr>
              <a:t>Output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EA3022-7B5B-874D-911A-7C2BB054BFC3}"/>
              </a:ext>
            </a:extLst>
          </p:cNvPr>
          <p:cNvSpPr txBox="1"/>
          <p:nvPr/>
        </p:nvSpPr>
        <p:spPr>
          <a:xfrm>
            <a:off x="8178800" y="2692400"/>
            <a:ext cx="30734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A biplot: rows and columns as points in the same space; proximity ⇒ association.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4F21C17-D3D5-B24D-8F6A-4B91257D9AFF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53D11E-72F2-CD43-B08B-06125D848A17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Central concept — profiles &amp; inertia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B46787-4B14-E046-8EEE-E57E10DC7622}"/>
                  </a:ext>
                </a:extLst>
              </p:cNvPr>
              <p:cNvSpPr txBox="1"/>
              <p:nvPr/>
            </p:nvSpPr>
            <p:spPr>
              <a:xfrm>
                <a:off x="990600" y="4470400"/>
                <a:ext cx="10210800" cy="117051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• Row profile = a row divided by its total (a conditional distribution across columns).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• If two rows have identical profiles, they coincide in the map; rows far from the centroid are 'distinctive'.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• Total inertia = </a:t>
                </a:r>
                <a14:m>
                  <m:oMath xmlns:m="http://schemas.openxmlformats.org/officeDocument/2006/math"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𝜒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measures how far the table departs from independence — CA decomposes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 this inertia into orthogonal dimensions, exactly as PCA decomposes variance.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B46787-4B14-E046-8EEE-E57E10DC7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470400"/>
                <a:ext cx="10210800" cy="1170513"/>
              </a:xfrm>
              <a:prstGeom prst="rect">
                <a:avLst/>
              </a:prstGeom>
              <a:blipFill>
                <a:blip r:embed="rId3"/>
                <a:stretch>
                  <a:fillRect l="-248" t="-1064" b="-42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803366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Correspondence Analysis — The Intuition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CA is PCA for categorical contingency tables — it turns a cross-tab into a map.</a:t>
            </a:r>
          </a:p>
        </p:txBody>
      </p:sp>
      <p:sp>
        <p:nvSpPr>
          <p:cNvPr id="160" name="tblLabel"/>
          <p:cNvSpPr txBox="1"/>
          <p:nvPr/>
        </p:nvSpPr>
        <p:spPr>
          <a:xfrm>
            <a:off x="762000" y="1905000"/>
            <a:ext cx="5207000" cy="330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The data: a contingency table</a:t>
            </a:r>
          </a:p>
        </p:txBody>
      </p:sp>
      <p:sp>
        <p:nvSpPr>
          <p:cNvPr id="161" name="cAsks"/>
          <p:cNvSpPr/>
          <p:nvPr/>
        </p:nvSpPr>
        <p:spPr>
          <a:xfrm>
            <a:off x="6350000" y="1905000"/>
            <a:ext cx="5080000" cy="21082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What CA asks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Which rows have similar distributions across the columns?</a:t>
            </a:r>
          </a:p>
          <a:p>
            <a:pPr marL="228600" indent="-228600" algn="l">
              <a:spcBef>
                <a:spcPts val="3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Which columns tend to be associated with which rows?</a:t>
            </a:r>
          </a:p>
        </p:txBody>
      </p:sp>
      <p:sp>
        <p:nvSpPr>
          <p:cNvPr id="162" name="cGet"/>
          <p:cNvSpPr/>
          <p:nvPr/>
        </p:nvSpPr>
        <p:spPr>
          <a:xfrm>
            <a:off x="6350000" y="4191000"/>
            <a:ext cx="5080000" cy="2235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What you get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A low-dimensional map — usually 2-D — where rows with similar profiles sit close together, and so do similar columns. A row near a column suggests they are associated.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B006696-3D95-4C4C-9CA3-954C3F42D3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1108205"/>
              </p:ext>
            </p:extLst>
          </p:nvPr>
        </p:nvGraphicFramePr>
        <p:xfrm>
          <a:off x="762000" y="2387600"/>
          <a:ext cx="5080000" cy="2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360492787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416099373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613601764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741753797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algn="ctr"/>
                      <a:endParaRPr lang="en-US"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Cat A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Cat B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Cat C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45061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707A"/>
                          </a:solidFill>
                        </a:rPr>
                        <a:t>Group 1</a:t>
                      </a:r>
                    </a:p>
                  </a:txBody>
                  <a:tcPr anchor="ctr"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2769119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707A"/>
                          </a:solidFill>
                        </a:rPr>
                        <a:t>Group 2</a:t>
                      </a:r>
                    </a:p>
                  </a:txBody>
                  <a:tcPr anchor="ctr"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93087962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00707A"/>
                          </a:solidFill>
                        </a:rPr>
                        <a:t>Group 3</a:t>
                      </a:r>
                    </a:p>
                  </a:txBody>
                  <a:tcPr anchor="ctr">
                    <a:solidFill>
                      <a:srgbClr val="EAF6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>
                          <a:solidFill>
                            <a:srgbClr val="333333"/>
                          </a:solidFill>
                        </a:rPr>
                        <a:t>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2510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61082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The χ² Test for Contingency Tables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Testing whether two categorical variables are independent.</a:t>
            </a:r>
          </a:p>
        </p:txBody>
      </p:sp>
      <p:sp>
        <p:nvSpPr>
          <p:cNvPr id="160" name="cH0"/>
          <p:cNvSpPr/>
          <p:nvPr/>
        </p:nvSpPr>
        <p:spPr>
          <a:xfrm>
            <a:off x="762000" y="19050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H₀  —  Null hypothesis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The row and column variables are independent: the observed counts match what independence would predict.</a:t>
            </a:r>
          </a:p>
        </p:txBody>
      </p:sp>
      <p:sp>
        <p:nvSpPr>
          <p:cNvPr id="161" name="cH1"/>
          <p:cNvSpPr/>
          <p:nvPr/>
        </p:nvSpPr>
        <p:spPr>
          <a:xfrm>
            <a:off x="762000" y="35560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H₁  —  Alternative hypothesis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The two variables are associated: the observed counts depart from the independence pattern.</a:t>
            </a:r>
          </a:p>
        </p:txBody>
      </p:sp>
      <p:sp>
        <p:nvSpPr>
          <p:cNvPr id="162" name="cIdea"/>
          <p:cNvSpPr/>
          <p:nvPr/>
        </p:nvSpPr>
        <p:spPr>
          <a:xfrm>
            <a:off x="762000" y="5207000"/>
            <a:ext cx="10668000" cy="1219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The idea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Compare each observed count O with the count E expected under independence. Large gaps are evidence of association.</a:t>
            </a:r>
          </a:p>
        </p:txBody>
      </p:sp>
    </p:spTree>
    <p:extLst>
      <p:ext uri="{BB962C8B-B14F-4D97-AF65-F5344CB8AC3E}">
        <p14:creationId xmlns:p14="http://schemas.microsoft.com/office/powerpoint/2010/main" val="23886939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The Test Statistic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Total squared departure from independence, scaled by the expected counts.</a:t>
            </a:r>
          </a:p>
        </p:txBody>
      </p:sp>
      <p:sp>
        <p:nvSpPr>
          <p:cNvPr id="160" name="cE"/>
          <p:cNvSpPr/>
          <p:nvPr/>
        </p:nvSpPr>
        <p:spPr>
          <a:xfrm>
            <a:off x="762000" y="1879600"/>
            <a:ext cx="10668000" cy="14224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73152" rIns="137160" bIns="73152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Expected counts under H₀</a:t>
            </a:r>
          </a:p>
          <a:p>
            <a:pPr algn="ctr"/>
            <a:r>
              <a:rPr lang="en-US" sz="1800" b="1">
                <a:solidFill>
                  <a:srgbClr val="2B2B2B"/>
                </a:solidFill>
                <a:latin typeface="Cambria Math"/>
              </a:rPr>
              <a:t>Eᵢⱼ = (rowᵢ × colⱼ) ⁄ n</a:t>
            </a:r>
          </a:p>
        </p:txBody>
      </p:sp>
      <p:sp>
        <p:nvSpPr>
          <p:cNvPr id="161" name="cChi"/>
          <p:cNvSpPr/>
          <p:nvPr/>
        </p:nvSpPr>
        <p:spPr>
          <a:xfrm>
            <a:off x="762000" y="3454400"/>
            <a:ext cx="10668000" cy="1778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73152" rIns="137160" bIns="73152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The χ² statistic</a:t>
            </a:r>
          </a:p>
          <a:p>
            <a:pPr algn="ctr"/>
            <a:r>
              <a:rPr lang="en-US" sz="1900" b="1">
                <a:solidFill>
                  <a:srgbClr val="2B2B2B"/>
                </a:solidFill>
                <a:latin typeface="Cambria Math"/>
              </a:rPr>
              <a:t>χ² = ∑ᵢ ∑ⱼ (Oᵢⱼ − Eᵢⱼ)² ⁄ Eᵢⱼ</a:t>
            </a:r>
          </a:p>
          <a:p>
            <a:pPr algn="ctr"/>
            <a:r>
              <a:rPr lang="en-US" sz="1450" i="1">
                <a:solidFill>
                  <a:srgbClr val="85754D"/>
                </a:solidFill>
              </a:rPr>
              <a:t>sums the standardized squared gaps over every cell</a:t>
            </a:r>
          </a:p>
        </p:txBody>
      </p:sp>
      <p:sp>
        <p:nvSpPr>
          <p:cNvPr id="162" name="cDec"/>
          <p:cNvSpPr/>
          <p:nvPr/>
        </p:nvSpPr>
        <p:spPr>
          <a:xfrm>
            <a:off x="762000" y="5384800"/>
            <a:ext cx="10668000" cy="10414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73152" rIns="137160" bIns="73152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Distribution and decision</a:t>
            </a:r>
          </a:p>
          <a:p>
            <a:pPr algn="ctr"/>
            <a:r>
              <a:rPr lang="en-US" sz="1450" i="1">
                <a:solidFill>
                  <a:srgbClr val="333333"/>
                </a:solidFill>
              </a:rPr>
              <a:t>Under H₀, χ² follows a χ² distribution with df = (I−1)(J−1). Reject H₀ when χ² exceeds the critical value (p </a:t>
            </a:r>
          </a:p>
        </p:txBody>
      </p:sp>
    </p:spTree>
    <p:extLst>
      <p:ext uri="{BB962C8B-B14F-4D97-AF65-F5344CB8AC3E}">
        <p14:creationId xmlns:p14="http://schemas.microsoft.com/office/powerpoint/2010/main" val="2667551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— Step 1: The Data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Is hair color associated with eye color?  (n = 100)</a:t>
            </a:r>
          </a:p>
        </p:txBody>
      </p:sp>
      <p:sp>
        <p:nvSpPr>
          <p:cNvPr id="160" name="tblLabel"/>
          <p:cNvSpPr txBox="1"/>
          <p:nvPr/>
        </p:nvSpPr>
        <p:spPr>
          <a:xfrm>
            <a:off x="762000" y="1930400"/>
            <a:ext cx="5588000" cy="330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Observed counts (O)</a:t>
            </a:r>
          </a:p>
        </p:txBody>
      </p:sp>
      <p:sp>
        <p:nvSpPr>
          <p:cNvPr id="161" name="cHyp"/>
          <p:cNvSpPr/>
          <p:nvPr/>
        </p:nvSpPr>
        <p:spPr>
          <a:xfrm>
            <a:off x="6858000" y="2260600"/>
            <a:ext cx="4572000" cy="3810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The hypotheses</a:t>
            </a:r>
          </a:p>
          <a:p>
            <a:pPr algn="l">
              <a:spcBef>
                <a:spcPts val="400"/>
              </a:spcBef>
            </a:pPr>
            <a:r>
              <a:rPr lang="en-US" sz="1600" b="1">
                <a:solidFill>
                  <a:srgbClr val="4B2E83"/>
                </a:solidFill>
              </a:rPr>
              <a:t>H₀  (independence)</a:t>
            </a:r>
          </a:p>
          <a:p>
            <a:pPr algn="l">
              <a:spcBef>
                <a:spcPts val="100"/>
              </a:spcBef>
            </a:pPr>
            <a:r>
              <a:rPr lang="en-US" sz="1500" b="0">
                <a:solidFill>
                  <a:srgbClr val="333333"/>
                </a:solidFill>
              </a:rPr>
              <a:t>Hair color and eye color are independent — no association.</a:t>
            </a:r>
          </a:p>
          <a:p>
            <a:pPr algn="l">
              <a:spcBef>
                <a:spcPts val="500"/>
              </a:spcBef>
            </a:pPr>
            <a:r>
              <a:rPr lang="en-US" sz="1600" b="1">
                <a:solidFill>
                  <a:srgbClr val="00A7B5"/>
                </a:solidFill>
              </a:rPr>
              <a:t>H₁  (association)</a:t>
            </a:r>
          </a:p>
          <a:p>
            <a:pPr algn="l">
              <a:spcBef>
                <a:spcPts val="100"/>
              </a:spcBef>
            </a:pPr>
            <a:r>
              <a:rPr lang="en-US" sz="1500" b="0">
                <a:solidFill>
                  <a:srgbClr val="333333"/>
                </a:solidFill>
              </a:rPr>
              <a:t>Hair color and eye color are associated.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D7DEC69-BD1C-E44E-8E41-5A594D96A4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80094"/>
              </p:ext>
            </p:extLst>
          </p:nvPr>
        </p:nvGraphicFramePr>
        <p:xfrm>
          <a:off x="762000" y="2387600"/>
          <a:ext cx="5588000" cy="233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58964774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866164286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621516148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86708991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/>
                      <a:endParaRPr lang="en-US"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Brown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13481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Fair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40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958125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Dark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60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15835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Total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40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60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/>
                        <a:t>100</a:t>
                      </a:r>
                    </a:p>
                  </a:txBody>
                  <a:tcPr anchor="ctr">
                    <a:solidFill>
                      <a:srgbClr val="F7F3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8970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51945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A9AE7D2-6295-A046-8B20-3CD7A98C8DCB}"/>
              </a:ext>
            </a:extLst>
          </p:cNvPr>
          <p:cNvSpPr/>
          <p:nvPr/>
        </p:nvSpPr>
        <p:spPr>
          <a:xfrm>
            <a:off x="762000" y="1905000"/>
            <a:ext cx="5588000" cy="45212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— Step 2: Expected Counts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Under H₀, each cell's expected count is row × column ÷ 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9D91DE-56E9-C841-A4DD-EDD411600203}"/>
              </a:ext>
            </a:extLst>
          </p:cNvPr>
          <p:cNvSpPr txBox="1"/>
          <p:nvPr/>
        </p:nvSpPr>
        <p:spPr>
          <a:xfrm>
            <a:off x="990600" y="2057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The rule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746C9-ABCC-3743-B271-8559C4A843EF}"/>
              </a:ext>
            </a:extLst>
          </p:cNvPr>
          <p:cNvSpPr txBox="1"/>
          <p:nvPr/>
        </p:nvSpPr>
        <p:spPr>
          <a:xfrm>
            <a:off x="990600" y="2514600"/>
            <a:ext cx="5130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b="1">
                <a:solidFill>
                  <a:srgbClr val="2B2B2B"/>
                </a:solidFill>
              </a:rPr>
              <a:t>Eᵢⱼ = (rowᵢ × colⱼ) / 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2C6987-AF49-D544-95C4-71831229A9CB}"/>
              </a:ext>
            </a:extLst>
          </p:cNvPr>
          <p:cNvSpPr txBox="1"/>
          <p:nvPr/>
        </p:nvSpPr>
        <p:spPr>
          <a:xfrm>
            <a:off x="990600" y="3200400"/>
            <a:ext cx="5080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Cell by cell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B0E1DA-26ED-DF41-A36C-3BA2415C8EC2}"/>
              </a:ext>
            </a:extLst>
          </p:cNvPr>
          <p:cNvSpPr txBox="1"/>
          <p:nvPr/>
        </p:nvSpPr>
        <p:spPr>
          <a:xfrm>
            <a:off x="990600" y="3632200"/>
            <a:ext cx="5207000" cy="228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E(Fair, Blue)  = 40 × 40 / 100 = 16
E(Fair, Brown) = 40 × 60 / 100 = 24
E(Dark, Blue)  = 60 × 40 / 100 = 24
E(Dark, Brown) = 60 × 60 / 100 = 36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155763-0337-414E-95C9-F5C86BA76610}"/>
              </a:ext>
            </a:extLst>
          </p:cNvPr>
          <p:cNvSpPr txBox="1"/>
          <p:nvPr/>
        </p:nvSpPr>
        <p:spPr>
          <a:xfrm>
            <a:off x="7112000" y="24130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Expected counts (E)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901E6CC2-7A42-6D46-92B7-85ED089DD2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232517"/>
              </p:ext>
            </p:extLst>
          </p:nvPr>
        </p:nvGraphicFramePr>
        <p:xfrm>
          <a:off x="7112000" y="2794000"/>
          <a:ext cx="4191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000">
                  <a:extLst>
                    <a:ext uri="{9D8B030D-6E8A-4147-A177-3AD203B41FA5}">
                      <a16:colId xmlns:a16="http://schemas.microsoft.com/office/drawing/2014/main" val="1697395341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67533515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3518185036"/>
                    </a:ext>
                  </a:extLst>
                </a:gridCol>
              </a:tblGrid>
              <a:tr h="584200">
                <a:tc>
                  <a:txBody>
                    <a:bodyPr/>
                    <a:lstStyle/>
                    <a:p>
                      <a:pPr algn="ctr"/>
                      <a:endParaRPr lang="en-US"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Blue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Brown</a:t>
                      </a:r>
                    </a:p>
                  </a:txBody>
                  <a:tcPr anchor="ctr">
                    <a:solidFill>
                      <a:srgbClr val="00A7B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107532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Fair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1527379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4B2E83"/>
                          </a:solidFill>
                        </a:rPr>
                        <a:t>Dark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/>
                        <a:t>36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0407755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84F95A49-8B67-4048-8D6A-0AA5CA4E6555}"/>
              </a:ext>
            </a:extLst>
          </p:cNvPr>
          <p:cNvSpPr txBox="1"/>
          <p:nvPr/>
        </p:nvSpPr>
        <p:spPr>
          <a:xfrm>
            <a:off x="1016000" y="5130800"/>
            <a:ext cx="5130800" cy="1117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400" i="1">
                <a:solidFill>
                  <a:srgbClr val="85754D"/>
                </a:solidFill>
              </a:rPr>
              <a:t>Expected counts are what we'd see if hair and eye color were perfectly independent. The </a:t>
            </a:r>
            <a:r>
              <a:rPr lang="el-GR" sz="1400" i="1">
                <a:solidFill>
                  <a:srgbClr val="85754D"/>
                </a:solidFill>
              </a:rPr>
              <a:t>χ² </a:t>
            </a:r>
            <a:r>
              <a:rPr lang="en-US" sz="1400" i="1">
                <a:solidFill>
                  <a:srgbClr val="85754D"/>
                </a:solidFill>
              </a:rPr>
              <a:t>statistic measures how far the observed counts stray from these.</a:t>
            </a:r>
          </a:p>
        </p:txBody>
      </p:sp>
    </p:spTree>
    <p:extLst>
      <p:ext uri="{BB962C8B-B14F-4D97-AF65-F5344CB8AC3E}">
        <p14:creationId xmlns:p14="http://schemas.microsoft.com/office/powerpoint/2010/main" val="23578012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CEC650E-94FA-9E43-8384-EBC5A4E3CAB8}"/>
              </a:ext>
            </a:extLst>
          </p:cNvPr>
          <p:cNvSpPr/>
          <p:nvPr/>
        </p:nvSpPr>
        <p:spPr>
          <a:xfrm>
            <a:off x="762000" y="5105400"/>
            <a:ext cx="10668000" cy="1320800"/>
          </a:xfrm>
          <a:prstGeom prst="roundRect">
            <a:avLst/>
          </a:prstGeom>
          <a:solidFill>
            <a:srgbClr val="F7F3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90B5F02-99EF-1C47-ADC2-37B6D35BDC7A}"/>
              </a:ext>
            </a:extLst>
          </p:cNvPr>
          <p:cNvSpPr/>
          <p:nvPr/>
        </p:nvSpPr>
        <p:spPr>
          <a:xfrm>
            <a:off x="762000" y="1905000"/>
            <a:ext cx="10668000" cy="30226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Example — Step 3: The </a:t>
            </a:r>
            <a:r>
              <a:rPr lang="el-GR" sz="2600" b="1">
                <a:solidFill>
                  <a:srgbClr val="4B2E83"/>
                </a:solidFill>
              </a:rPr>
              <a:t>χ² </a:t>
            </a:r>
            <a:r>
              <a:rPr lang="en-US" sz="2600" b="1">
                <a:solidFill>
                  <a:srgbClr val="4B2E83"/>
                </a:solidFill>
              </a:rPr>
              <a:t>Statistic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Add up (O − E)² / E across all four cells.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709ADE-7524-B941-B153-085D6626B7D1}"/>
              </a:ext>
            </a:extLst>
          </p:cNvPr>
          <p:cNvSpPr txBox="1"/>
          <p:nvPr/>
        </p:nvSpPr>
        <p:spPr>
          <a:xfrm>
            <a:off x="1016000" y="2057400"/>
            <a:ext cx="10287000" cy="3556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Cell contributions   (O − E)² / 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394973-3B40-424F-AE18-5FBEDA0AB477}"/>
              </a:ext>
            </a:extLst>
          </p:cNvPr>
          <p:cNvSpPr txBox="1"/>
          <p:nvPr/>
        </p:nvSpPr>
        <p:spPr>
          <a:xfrm>
            <a:off x="1016000" y="2540000"/>
            <a:ext cx="10287000" cy="228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</a:rPr>
              <a:t>(30 − 16)² / 16  =  12.25
(10 − 24)² / 24  =  8.17
(10 − 24)² / 24  =  8.17
(50 − 36)² / 36  =  5.44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ED3D70-7CA9-D94C-B78E-6070B709E9DC}"/>
              </a:ext>
            </a:extLst>
          </p:cNvPr>
          <p:cNvSpPr txBox="1"/>
          <p:nvPr/>
        </p:nvSpPr>
        <p:spPr>
          <a:xfrm>
            <a:off x="1016000" y="5232400"/>
            <a:ext cx="10287000" cy="304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Total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9B73451-B587-5A4E-8E33-47C421E12840}"/>
              </a:ext>
            </a:extLst>
          </p:cNvPr>
          <p:cNvSpPr txBox="1"/>
          <p:nvPr/>
        </p:nvSpPr>
        <p:spPr>
          <a:xfrm>
            <a:off x="1016000" y="5588000"/>
            <a:ext cx="10287000" cy="5588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l-GR" sz="1900" b="1">
                <a:solidFill>
                  <a:srgbClr val="7AB648"/>
                </a:solidFill>
              </a:rPr>
              <a:t>χ²  =  12.25 + 8.17 + 8.17 + 5.44  =  34.03</a:t>
            </a:r>
            <a:endParaRPr lang="en-US" sz="1900" b="1">
              <a:solidFill>
                <a:srgbClr val="7AB64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636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0CA7527-5914-BA45-A219-DC4ACC53798A}"/>
              </a:ext>
            </a:extLst>
          </p:cNvPr>
          <p:cNvSpPr/>
          <p:nvPr/>
        </p:nvSpPr>
        <p:spPr>
          <a:xfrm>
            <a:off x="762000" y="4216400"/>
            <a:ext cx="10668000" cy="2209800"/>
          </a:xfrm>
          <a:prstGeom prst="roundRect">
            <a:avLst/>
          </a:prstGeom>
          <a:solidFill>
            <a:srgbClr val="F7F3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34E5015-1FD6-1242-BCB2-4A7876C65D83}"/>
              </a:ext>
            </a:extLst>
          </p:cNvPr>
          <p:cNvSpPr/>
          <p:nvPr/>
        </p:nvSpPr>
        <p:spPr>
          <a:xfrm>
            <a:off x="6223000" y="1905000"/>
            <a:ext cx="5207000" cy="1981200"/>
          </a:xfrm>
          <a:prstGeom prst="roundRect">
            <a:avLst/>
          </a:prstGeom>
          <a:solidFill>
            <a:srgbClr val="EAF6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CE3B023-6EB4-AD41-9902-2958CED59F14}"/>
              </a:ext>
            </a:extLst>
          </p:cNvPr>
          <p:cNvSpPr/>
          <p:nvPr/>
        </p:nvSpPr>
        <p:spPr>
          <a:xfrm>
            <a:off x="762000" y="1905000"/>
            <a:ext cx="5207000" cy="19812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Example — Step 4: Degrees of Freedom &amp; Decision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Compare the statistic with the critical value.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5E5FD2-812B-B84F-ABD9-18F26A208196}"/>
              </a:ext>
            </a:extLst>
          </p:cNvPr>
          <p:cNvSpPr txBox="1"/>
          <p:nvPr/>
        </p:nvSpPr>
        <p:spPr>
          <a:xfrm>
            <a:off x="1016000" y="2082800"/>
            <a:ext cx="4749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Degrees of freedom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030A99-0AF9-5549-A247-4097787AFEAB}"/>
              </a:ext>
            </a:extLst>
          </p:cNvPr>
          <p:cNvSpPr txBox="1"/>
          <p:nvPr/>
        </p:nvSpPr>
        <p:spPr>
          <a:xfrm>
            <a:off x="1016000" y="2667000"/>
            <a:ext cx="4749800" cy="1016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700">
                <a:solidFill>
                  <a:srgbClr val="333333"/>
                </a:solidFill>
              </a:rPr>
              <a:t>df = (I − 1)(J − 1)
= (2 − 1)(2 − 1) = 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721A1A0-8585-8F4E-878C-15BDE0BEB3C3}"/>
              </a:ext>
            </a:extLst>
          </p:cNvPr>
          <p:cNvSpPr txBox="1"/>
          <p:nvPr/>
        </p:nvSpPr>
        <p:spPr>
          <a:xfrm>
            <a:off x="6477000" y="2082800"/>
            <a:ext cx="47498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Critical value  (</a:t>
            </a:r>
            <a:r>
              <a:rPr lang="el-GR" sz="1600" b="1">
                <a:solidFill>
                  <a:srgbClr val="00A7B5"/>
                </a:solidFill>
              </a:rPr>
              <a:t>α = 0.05)</a:t>
            </a:r>
            <a:endParaRPr lang="en-US" sz="1600" b="1">
              <a:solidFill>
                <a:srgbClr val="00A7B5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62A5E0-83C7-2541-9595-C15DF1FFB12E}"/>
              </a:ext>
            </a:extLst>
          </p:cNvPr>
          <p:cNvSpPr txBox="1"/>
          <p:nvPr/>
        </p:nvSpPr>
        <p:spPr>
          <a:xfrm>
            <a:off x="6477000" y="2819400"/>
            <a:ext cx="47498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l-GR" b="1">
                <a:solidFill>
                  <a:srgbClr val="333333"/>
                </a:solidFill>
              </a:rPr>
              <a:t>χ²(0.05, </a:t>
            </a:r>
            <a:r>
              <a:rPr lang="en-US" b="1">
                <a:solidFill>
                  <a:srgbClr val="333333"/>
                </a:solidFill>
              </a:rPr>
              <a:t>df = 1) = 3.84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67A4F3-4221-6A47-AC31-A093089F18CC}"/>
              </a:ext>
            </a:extLst>
          </p:cNvPr>
          <p:cNvSpPr txBox="1"/>
          <p:nvPr/>
        </p:nvSpPr>
        <p:spPr>
          <a:xfrm>
            <a:off x="1016000" y="43942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Decision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404AB3D-43CF-8945-9043-B1C59A6854F8}"/>
              </a:ext>
            </a:extLst>
          </p:cNvPr>
          <p:cNvSpPr txBox="1"/>
          <p:nvPr/>
        </p:nvSpPr>
        <p:spPr>
          <a:xfrm>
            <a:off x="1016000" y="4927600"/>
            <a:ext cx="10287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l-GR" sz="1900" b="1">
                <a:solidFill>
                  <a:srgbClr val="7AB648"/>
                </a:solidFill>
              </a:rPr>
              <a:t>χ² = 34.03   &gt;   3.84    ⇒    </a:t>
            </a:r>
            <a:r>
              <a:rPr lang="en-US" sz="1900" b="1">
                <a:solidFill>
                  <a:srgbClr val="7AB648"/>
                </a:solidFill>
              </a:rPr>
              <a:t>reject H₀   (p &lt; 0.001)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A8F8291-9BC4-884E-A176-B2DF28616B09}"/>
              </a:ext>
            </a:extLst>
          </p:cNvPr>
          <p:cNvSpPr txBox="1"/>
          <p:nvPr/>
        </p:nvSpPr>
        <p:spPr>
          <a:xfrm>
            <a:off x="1016000" y="5689600"/>
            <a:ext cx="10287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The data show a strong association between hair color and eye color.</a:t>
            </a:r>
          </a:p>
        </p:txBody>
      </p:sp>
    </p:spTree>
    <p:extLst>
      <p:ext uri="{BB962C8B-B14F-4D97-AF65-F5344CB8AC3E}">
        <p14:creationId xmlns:p14="http://schemas.microsoft.com/office/powerpoint/2010/main" val="25316838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8DD6D44-F39C-9B4F-BE57-DB8C2C8B173C}"/>
              </a:ext>
            </a:extLst>
          </p:cNvPr>
          <p:cNvSpPr/>
          <p:nvPr/>
        </p:nvSpPr>
        <p:spPr>
          <a:xfrm>
            <a:off x="762000" y="5080000"/>
            <a:ext cx="10668000" cy="1346200"/>
          </a:xfrm>
          <a:prstGeom prst="roundRect">
            <a:avLst/>
          </a:prstGeom>
          <a:solidFill>
            <a:srgbClr val="F7F3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F5BBC60-2079-2B44-853F-FAED461FA5D2}"/>
              </a:ext>
            </a:extLst>
          </p:cNvPr>
          <p:cNvSpPr/>
          <p:nvPr/>
        </p:nvSpPr>
        <p:spPr>
          <a:xfrm>
            <a:off x="762000" y="3454400"/>
            <a:ext cx="10668000" cy="1473200"/>
          </a:xfrm>
          <a:prstGeom prst="roundRect">
            <a:avLst/>
          </a:prstGeom>
          <a:solidFill>
            <a:srgbClr val="EAF6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5DB957A-C26A-4E4C-BD72-55709BC52B57}"/>
              </a:ext>
            </a:extLst>
          </p:cNvPr>
          <p:cNvSpPr/>
          <p:nvPr/>
        </p:nvSpPr>
        <p:spPr>
          <a:xfrm>
            <a:off x="762000" y="1905000"/>
            <a:ext cx="10668000" cy="13970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Connecting the </a:t>
            </a:r>
            <a:r>
              <a:rPr lang="el-GR" sz="2600" b="1">
                <a:solidFill>
                  <a:srgbClr val="4B2E83"/>
                </a:solidFill>
              </a:rPr>
              <a:t>χ² </a:t>
            </a:r>
            <a:r>
              <a:rPr lang="en-US" sz="2600" b="1">
                <a:solidFill>
                  <a:srgbClr val="4B2E83"/>
                </a:solidFill>
              </a:rPr>
              <a:t>Test and CA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Correspondence Analysis decomposes the very same </a:t>
            </a:r>
            <a:r>
              <a:rPr lang="el-GR" sz="1500" i="1">
                <a:solidFill>
                  <a:srgbClr val="85754D"/>
                </a:solidFill>
              </a:rPr>
              <a:t>χ².</a:t>
            </a:r>
            <a:endParaRPr lang="en-US" sz="1500" i="1">
              <a:solidFill>
                <a:srgbClr val="85754D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59DEC9D-F0A8-0546-B4B3-1DB431044958}"/>
              </a:ext>
            </a:extLst>
          </p:cNvPr>
          <p:cNvSpPr txBox="1"/>
          <p:nvPr/>
        </p:nvSpPr>
        <p:spPr>
          <a:xfrm>
            <a:off x="1016000" y="20574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Same quantity, two views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F63859-C1F4-0344-91F4-67E24787406C}"/>
              </a:ext>
            </a:extLst>
          </p:cNvPr>
          <p:cNvSpPr txBox="1"/>
          <p:nvPr/>
        </p:nvSpPr>
        <p:spPr>
          <a:xfrm>
            <a:off x="1016000" y="2565400"/>
            <a:ext cx="10287000" cy="508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l-GR" b="1">
                <a:solidFill>
                  <a:srgbClr val="2B2B2B"/>
                </a:solidFill>
              </a:rPr>
              <a:t>χ² = </a:t>
            </a:r>
            <a:r>
              <a:rPr lang="en-US" b="1">
                <a:solidFill>
                  <a:srgbClr val="2B2B2B"/>
                </a:solidFill>
              </a:rPr>
              <a:t>n × total inertia      ⇒      total inertia = </a:t>
            </a:r>
            <a:r>
              <a:rPr lang="el-GR" b="1">
                <a:solidFill>
                  <a:srgbClr val="2B2B2B"/>
                </a:solidFill>
              </a:rPr>
              <a:t>χ² / </a:t>
            </a:r>
            <a:r>
              <a:rPr lang="en-US" b="1">
                <a:solidFill>
                  <a:srgbClr val="2B2B2B"/>
                </a:solidFill>
              </a:rPr>
              <a:t>n = 34.03 / 100 = 0.3403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D831B3-6A19-604C-8EF7-023D2EFDB48B}"/>
              </a:ext>
            </a:extLst>
          </p:cNvPr>
          <p:cNvSpPr txBox="1"/>
          <p:nvPr/>
        </p:nvSpPr>
        <p:spPr>
          <a:xfrm>
            <a:off x="1016000" y="36068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What CA adds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A28797-A2E3-FB43-B470-9BB461999212}"/>
              </a:ext>
            </a:extLst>
          </p:cNvPr>
          <p:cNvSpPr txBox="1"/>
          <p:nvPr/>
        </p:nvSpPr>
        <p:spPr>
          <a:xfrm>
            <a:off x="1016000" y="4038600"/>
            <a:ext cx="10287000" cy="7620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CA splits the total inertia into orthogonal dimensions — the principal inertias </a:t>
            </a:r>
            <a:r>
              <a:rPr lang="el-GR" sz="1500">
                <a:solidFill>
                  <a:srgbClr val="333333"/>
                </a:solidFill>
              </a:rPr>
              <a:t>σ²</a:t>
            </a:r>
            <a:r>
              <a:rPr lang="en-US" sz="1500">
                <a:solidFill>
                  <a:srgbClr val="333333"/>
                </a:solidFill>
              </a:rPr>
              <a:t>ₖ that sum to the total. Each dimension captures part of the association.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8979B8-3A86-6D46-B72F-EBB7FE279172}"/>
              </a:ext>
            </a:extLst>
          </p:cNvPr>
          <p:cNvSpPr txBox="1"/>
          <p:nvPr/>
        </p:nvSpPr>
        <p:spPr>
          <a:xfrm>
            <a:off x="1016000" y="5207000"/>
            <a:ext cx="10287000" cy="330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The big picture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3F665A-54DF-CC4F-B3E2-6F0F076ADDD1}"/>
              </a:ext>
            </a:extLst>
          </p:cNvPr>
          <p:cNvSpPr txBox="1"/>
          <p:nvPr/>
        </p:nvSpPr>
        <p:spPr>
          <a:xfrm>
            <a:off x="1016000" y="5638800"/>
            <a:ext cx="10287000" cy="711200"/>
          </a:xfrm>
          <a:prstGeom prst="rect">
            <a:avLst/>
          </a:prstGeom>
          <a:noFill/>
          <a:ln>
            <a:noFill/>
          </a:ln>
        </p:spPr>
        <p:txBody>
          <a:bodyPr vertOverflow="overflow" vert="horz" wrap="square" lIns="0" tIns="0" rIns="0" bIns="0" rtlCol="0" anchor="t" anchorCtr="0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The </a:t>
            </a:r>
            <a:r>
              <a:rPr lang="el-GR" sz="1500">
                <a:solidFill>
                  <a:srgbClr val="333333"/>
                </a:solidFill>
              </a:rPr>
              <a:t>χ² </a:t>
            </a:r>
            <a:r>
              <a:rPr lang="en-US" sz="1500">
                <a:solidFill>
                  <a:srgbClr val="333333"/>
                </a:solidFill>
              </a:rPr>
              <a:t>test tells you IF an association exists; CA shows you WHERE it comes from — which rows and columns drive it, and on which dimensions.</a:t>
            </a:r>
          </a:p>
        </p:txBody>
      </p:sp>
    </p:spTree>
    <p:extLst>
      <p:ext uri="{BB962C8B-B14F-4D97-AF65-F5344CB8AC3E}">
        <p14:creationId xmlns:p14="http://schemas.microsoft.com/office/powerpoint/2010/main" val="1997141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Reading a CA Map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85754D"/>
                </a:solidFill>
              </a:rPr>
              <a:t>CA is "PCA for categorical data": it turns a contingency table of counts into a low-dimensional map where row and column categories with similar profiles sit close together.</a:t>
            </a:r>
          </a:p>
        </p:txBody>
      </p:sp>
      <p:sp>
        <p:nvSpPr>
          <p:cNvPr id="162" name="cTake"/>
          <p:cNvSpPr/>
          <p:nvPr/>
        </p:nvSpPr>
        <p:spPr>
          <a:xfrm>
            <a:off x="762000" y="5181600"/>
            <a:ext cx="10668000" cy="1244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100584" rIns="137160" bIns="100584" anchor="ctr"/>
          <a:lstStyle/>
          <a:p>
            <a:pPr algn="ctr"/>
            <a:r>
              <a:rPr lang="en-US" sz="1650" b="1">
                <a:solidFill>
                  <a:srgbClr val="85754D"/>
                </a:solidFill>
              </a:rPr>
              <a:t>CA turns a cross-tab into a picture of which row and column categories go together.</a:t>
            </a:r>
          </a:p>
        </p:txBody>
      </p:sp>
      <p:sp>
        <p:nvSpPr>
          <p:cNvPr id="160" name="cProx"/>
          <p:cNvSpPr/>
          <p:nvPr/>
        </p:nvSpPr>
        <p:spPr>
          <a:xfrm>
            <a:off x="762000" y="1905000"/>
            <a:ext cx="5334000" cy="30988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100584" rIns="137160" bIns="100584" anchor="t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Proximity = similarity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Rows close together have similar column profiles.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Columns close together have similar row profiles.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A row point near a column point suggests the two categories are associated.</a:t>
            </a:r>
          </a:p>
        </p:txBody>
      </p:sp>
      <p:sp>
        <p:nvSpPr>
          <p:cNvPr id="161" name="cDist"/>
          <p:cNvSpPr/>
          <p:nvPr/>
        </p:nvSpPr>
        <p:spPr>
          <a:xfrm>
            <a:off x="6350000" y="1905000"/>
            <a:ext cx="5080000" cy="30988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100584" rIns="137160" bIns="100584" anchor="t"/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Distance from the origin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Points near the origin match the average, the independence pattern.</a:t>
            </a:r>
          </a:p>
          <a:p>
            <a:pPr marL="228600" indent="-228600" algn="l">
              <a:spcBef>
                <a:spcPts val="400"/>
              </a:spcBef>
              <a:buFont typeface="Arial"/>
              <a:buChar char="•"/>
            </a:pPr>
            <a:r>
              <a:rPr lang="en-US" sz="1550">
                <a:solidFill>
                  <a:srgbClr val="333333"/>
                </a:solidFill>
              </a:rPr>
              <a:t>Points far from the origin contribute more to the association structure.</a:t>
            </a:r>
          </a:p>
        </p:txBody>
      </p:sp>
    </p:spTree>
    <p:extLst>
      <p:ext uri="{BB962C8B-B14F-4D97-AF65-F5344CB8AC3E}">
        <p14:creationId xmlns:p14="http://schemas.microsoft.com/office/powerpoint/2010/main" val="17295735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CA Decomposes the Pearson χ²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CA does not maximize counts; it studies deviations from independence.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1"/>
              <p:cNvSpPr/>
              <p:nvPr/>
            </p:nvSpPr>
            <p:spPr>
              <a:xfrm>
                <a:off x="762000" y="1879600"/>
                <a:ext cx="10668000" cy="1219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1 · Proportions and masses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/>
                        </a:rPr>
                        <m:t>𝑃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 i="1">
                              <a:latin typeface="Cambria Math"/>
                            </a:rPr>
                            <m:t>𝑁</m:t>
                          </m:r>
                        </m:num>
                        <m:den>
                          <m:r>
                            <a:rPr lang="en-US" sz="1700" i="1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sz="1700">
                          <a:latin typeface="Cambria Math"/>
                        </a:rPr>
                        <m:t>        </m:t>
                      </m:r>
                      <m:r>
                        <a:rPr lang="en-US" sz="1700" i="1">
                          <a:latin typeface="Cambria Math"/>
                        </a:rPr>
                        <m:t>𝑟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r>
                        <a:rPr lang="en-US" sz="1700" i="1">
                          <a:latin typeface="Cambria Math"/>
                        </a:rPr>
                        <m:t>𝑃</m:t>
                      </m:r>
                      <m:r>
                        <a:rPr lang="en-US" sz="1700">
                          <a:latin typeface="Cambria Math"/>
                        </a:rPr>
                        <m:t>1        </m:t>
                      </m:r>
                      <m:r>
                        <a:rPr lang="en-US" sz="1700" i="1">
                          <a:latin typeface="Cambria Math"/>
                        </a:rPr>
                        <m:t>𝑐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i="1">
                              <a:latin typeface="Cambria Math"/>
                            </a:rPr>
                            <m:t>𝑃</m:t>
                          </m:r>
                        </m:e>
                        <m:sup>
                          <m:r>
                            <a:rPr sz="110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00">
                          <a:latin typeface="Cambria Math"/>
                        </a:rPr>
                        <m:t>1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879600"/>
                <a:ext cx="10668000" cy="1219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2"/>
              <p:cNvSpPr/>
              <p:nvPr/>
            </p:nvSpPr>
            <p:spPr>
              <a:xfrm>
                <a:off x="762000" y="3251200"/>
                <a:ext cx="10668000" cy="1651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2 · Standardized residuals (departure from independence rcᵀ)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/>
                        </a:rPr>
                        <m:t>𝑆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7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1250" i="1">
                              <a:latin typeface="Cambria Math"/>
                            </a:rPr>
                            <m:t>𝑟</m:t>
                          </m:r>
                        </m:sub>
                        <m:sup>
                          <m:r>
                            <a:rPr sz="1250">
                              <a:latin typeface="Cambria Math"/>
                            </a:rPr>
                            <m:t>−1/2</m:t>
                          </m:r>
                        </m:sup>
                      </m:sSubSup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700" i="1">
                              <a:latin typeface="Cambria Math"/>
                            </a:rPr>
                            <m:t>𝑃</m:t>
                          </m:r>
                          <m:r>
                            <a:rPr lang="en-US" sz="1700">
                              <a:latin typeface="Cambria Math"/>
                            </a:rPr>
                            <m:t> − </m:t>
                          </m:r>
                          <m:r>
                            <a:rPr lang="en-US" sz="1700" i="1">
                              <a:latin typeface="Cambria Math"/>
                            </a:rPr>
                            <m:t>𝑟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700" i="1">
                                  <a:latin typeface="Cambria Math"/>
                                </a:rPr>
                                <m:t>𝑐</m:t>
                              </m:r>
                            </m:e>
                            <m:sup>
                              <m:r>
                                <a:rPr sz="1100">
                                  <a:latin typeface="Cambria Math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700" i="1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1250" i="1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1250">
                              <a:latin typeface="Cambria Math"/>
                            </a:rPr>
                            <m:t>−1/2</m:t>
                          </m:r>
                        </m:sup>
                      </m:sSubSup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</p:txBody>
          </p:sp>
        </mc:Choice>
        <mc:Fallback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251200"/>
                <a:ext cx="10668000" cy="1651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c3"/>
              <p:cNvSpPr/>
              <p:nvPr/>
            </p:nvSpPr>
            <p:spPr>
              <a:xfrm>
                <a:off x="762000" y="5054600"/>
                <a:ext cx="10668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85754D"/>
                    </a:solidFill>
                  </a:rPr>
                  <a:t>3 · SVD gives the principal inertias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/>
                        </a:rPr>
                        <m:t>𝑆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r>
                        <a:rPr lang="en-US" sz="1700" i="1">
                          <a:latin typeface="Cambria Math"/>
                        </a:rPr>
                        <m:t>𝑈</m:t>
                      </m:r>
                      <m:r>
                        <a:rPr lang="en-US" sz="1700" i="1"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i="1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110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lang="en-US" sz="1700">
                          <a:latin typeface="Cambria Math"/>
                        </a:rPr>
                        <m:t>          </m:t>
                      </m:r>
                      <m:r>
                        <a:rPr lang="en-US" sz="1700">
                          <a:latin typeface="Cambria Math"/>
                        </a:rPr>
                        <m:t>𝑡𝑜𝑡𝑎𝑙</m:t>
                      </m:r>
                      <m:r>
                        <a:rPr lang="en-US" sz="1700">
                          <a:latin typeface="Cambria Math"/>
                        </a:rPr>
                        <m:t> </m:t>
                      </m:r>
                      <m:r>
                        <a:rPr lang="en-US" sz="1700">
                          <a:latin typeface="Cambria Math"/>
                        </a:rPr>
                        <m:t>𝑖𝑛𝑒𝑟𝑡𝑖𝑎</m:t>
                      </m:r>
                      <m:r>
                        <a:rPr lang="en-US" sz="1700">
                          <a:latin typeface="Cambria Math"/>
                        </a:rPr>
                        <m:t> = </m:t>
                      </m:r>
                      <m:r>
                        <a:rPr lang="en-US" sz="1700"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700" i="1">
                              <a:latin typeface="Cambria Math"/>
                            </a:rPr>
                            <m:t>𝜎</m:t>
                          </m:r>
                        </m:e>
                        <m:sup>
                          <m:r>
                            <a:rPr sz="11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1700">
                          <a:latin typeface="Cambria Math"/>
                        </a:rPr>
                        <m:t>ₖ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700">
                              <a:latin typeface="Cambria Math"/>
                            </a:rPr>
                            <m:t>𝜒</m:t>
                          </m:r>
                          <m:r>
                            <a:rPr lang="en-US" sz="1700">
                              <a:latin typeface="Cambria Math"/>
                            </a:rPr>
                            <m:t>²</m:t>
                          </m:r>
                        </m:num>
                        <m:den>
                          <m:r>
                            <a:rPr lang="en-US" sz="1700" i="1">
                              <a:latin typeface="Cambria Math"/>
                            </a:rPr>
                            <m:t>𝑛</m:t>
                          </m:r>
                        </m:den>
                      </m:f>
                      <m:r>
                        <a:rPr lang="en-US" sz="1700">
                          <a:latin typeface="Cambria Math"/>
                        </a:rPr>
                        <m:t>     ⇒     </m:t>
                      </m:r>
                      <m:r>
                        <a:rPr lang="en-US" sz="1700">
                          <a:latin typeface="Cambria Math"/>
                        </a:rPr>
                        <m:t>𝜒</m:t>
                      </m:r>
                      <m:r>
                        <a:rPr lang="en-US" sz="1700">
                          <a:latin typeface="Cambria Math"/>
                        </a:rPr>
                        <m:t>² = </m:t>
                      </m:r>
                      <m:r>
                        <a:rPr lang="en-US" sz="1700">
                          <a:latin typeface="Cambria Math"/>
                        </a:rPr>
                        <m:t>𝑛</m:t>
                      </m:r>
                      <m:r>
                        <a:rPr lang="en-US" sz="1700">
                          <a:latin typeface="Cambria Math"/>
                        </a:rPr>
                        <m:t> · </m:t>
                      </m:r>
                      <m:r>
                        <a:rPr lang="en-US" sz="1700">
                          <a:latin typeface="Cambria Math"/>
                        </a:rPr>
                        <m:t>𝑖𝑛𝑒𝑟𝑡𝑖𝑎</m:t>
                      </m:r>
                    </m:oMath>
                  </m:oMathPara>
                </a14:m>
                <a:endParaRPr lang="en-US" sz="1500" b="1">
                  <a:solidFill>
                    <a:srgbClr val="85754D"/>
                  </a:solidFill>
                </a:endParaRPr>
              </a:p>
            </p:txBody>
          </p:sp>
        </mc:Choice>
        <mc:Fallback>
          <p:sp>
            <p:nvSpPr>
              <p:cNvPr id="162" name="c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054600"/>
                <a:ext cx="10668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7615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600" b="1">
                <a:solidFill>
                  <a:srgbClr val="4B2E83"/>
                </a:solidFill>
              </a:rPr>
              <a:t>CA Decomposes the Pearson χ²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533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i="1">
                <a:solidFill>
                  <a:srgbClr val="85754D"/>
                </a:solidFill>
              </a:rPr>
              <a:t>CA does not maximize counts; it studies deviations from independence.</a:t>
            </a:r>
          </a:p>
        </p:txBody>
      </p:sp>
      <p:sp>
        <p:nvSpPr>
          <p:cNvPr id="160" name="cObj"/>
          <p:cNvSpPr/>
          <p:nvPr/>
        </p:nvSpPr>
        <p:spPr>
          <a:xfrm>
            <a:off x="762000" y="1905000"/>
            <a:ext cx="10668000" cy="1270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The objective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CA finds the dimensions that capture the largest share of χ² inertia. The first axis explains the largest departure from independence; each later axis is orthogonal and explains the largest remaining part.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A0253D5-D0E9-8F4D-87EB-37C27E42968D}"/>
              </a:ext>
            </a:extLst>
          </p:cNvPr>
          <p:cNvSpPr/>
          <p:nvPr/>
        </p:nvSpPr>
        <p:spPr>
          <a:xfrm>
            <a:off x="762000" y="3327400"/>
            <a:ext cx="5207000" cy="1930400"/>
          </a:xfrm>
          <a:prstGeom prst="roundRect">
            <a:avLst/>
          </a:prstGeom>
          <a:solidFill>
            <a:srgbClr val="F3EF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E262C4-A654-3D4E-8712-29BC9862AC90}"/>
              </a:ext>
            </a:extLst>
          </p:cNvPr>
          <p:cNvSpPr txBox="1"/>
          <p:nvPr/>
        </p:nvSpPr>
        <p:spPr>
          <a:xfrm>
            <a:off x="990600" y="3479800"/>
            <a:ext cx="4826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PCA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EC0579-CD8D-2D49-8EBA-325AB08EE27C}"/>
              </a:ext>
            </a:extLst>
          </p:cNvPr>
          <p:cNvSpPr txBox="1"/>
          <p:nvPr/>
        </p:nvSpPr>
        <p:spPr>
          <a:xfrm>
            <a:off x="990600" y="3886200"/>
            <a:ext cx="4826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•  Maximizes variance
•  Uses Euclidean distance
•  For continuous variables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2FDB5-F38E-0742-B018-C9BEA7B64676}"/>
              </a:ext>
            </a:extLst>
          </p:cNvPr>
          <p:cNvSpPr/>
          <p:nvPr/>
        </p:nvSpPr>
        <p:spPr>
          <a:xfrm>
            <a:off x="6350000" y="3327400"/>
            <a:ext cx="5080000" cy="1930400"/>
          </a:xfrm>
          <a:prstGeom prst="roundRect">
            <a:avLst/>
          </a:prstGeom>
          <a:solidFill>
            <a:srgbClr val="EAF6F7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8626A7-8352-724D-8B18-75DC9C3E0758}"/>
              </a:ext>
            </a:extLst>
          </p:cNvPr>
          <p:cNvSpPr txBox="1"/>
          <p:nvPr/>
        </p:nvSpPr>
        <p:spPr>
          <a:xfrm>
            <a:off x="6578600" y="3479800"/>
            <a:ext cx="4572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CA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92A8CC-87FA-C84B-BED7-46A1884968C3}"/>
              </a:ext>
            </a:extLst>
          </p:cNvPr>
          <p:cNvSpPr txBox="1"/>
          <p:nvPr/>
        </p:nvSpPr>
        <p:spPr>
          <a:xfrm>
            <a:off x="6578600" y="3886200"/>
            <a:ext cx="4572000" cy="1270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>
                <a:solidFill>
                  <a:srgbClr val="333333"/>
                </a:solidFill>
              </a:rPr>
              <a:t>•  Maximizes </a:t>
            </a:r>
            <a:r>
              <a:rPr lang="el-GR" sz="1500">
                <a:solidFill>
                  <a:srgbClr val="333333"/>
                </a:solidFill>
              </a:rPr>
              <a:t>χ² </a:t>
            </a:r>
            <a:r>
              <a:rPr lang="en-US" sz="1500">
                <a:solidFill>
                  <a:srgbClr val="333333"/>
                </a:solidFill>
              </a:rPr>
              <a:t>inertia
•  Uses chi-square distance
•  For categorical profiles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D33C2D0-D100-F841-A092-C00CA4247B60}"/>
              </a:ext>
            </a:extLst>
          </p:cNvPr>
          <p:cNvSpPr/>
          <p:nvPr/>
        </p:nvSpPr>
        <p:spPr>
          <a:xfrm>
            <a:off x="762000" y="5384800"/>
            <a:ext cx="10668000" cy="1041400"/>
          </a:xfrm>
          <a:prstGeom prst="roundRect">
            <a:avLst/>
          </a:prstGeom>
          <a:solidFill>
            <a:srgbClr val="F7F3EC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ctr" anchorCtr="0"/>
          <a:lstStyle/>
          <a:p>
            <a:pPr algn="l"/>
            <a:r>
              <a:rPr lang="en-US" sz="1600" b="1">
                <a:solidFill>
                  <a:srgbClr val="85754D"/>
                </a:solidFill>
              </a:rPr>
              <a:t>CA shows which row and column categories are responsible for the association in a contingency table.</a:t>
            </a:r>
          </a:p>
        </p:txBody>
      </p:sp>
    </p:spTree>
    <p:extLst>
      <p:ext uri="{BB962C8B-B14F-4D97-AF65-F5344CB8AC3E}">
        <p14:creationId xmlns:p14="http://schemas.microsoft.com/office/powerpoint/2010/main" val="257041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E2E3B10-354E-DE4D-BAFA-33021ADAD9A8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34B011A-59BD-1244-AD8C-380C035AECF1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Correspondence Analysis — Reading the 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26605B-B363-984E-BF5D-24BBE0D139C9}"/>
              </a:ext>
            </a:extLst>
          </p:cNvPr>
          <p:cNvSpPr/>
          <p:nvPr/>
        </p:nvSpPr>
        <p:spPr>
          <a:xfrm>
            <a:off x="762000" y="1574800"/>
            <a:ext cx="5334000" cy="4521200"/>
          </a:xfrm>
          <a:prstGeom prst="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FA28D17-FDC2-4C41-A1A7-6C8512DACD10}"/>
              </a:ext>
            </a:extLst>
          </p:cNvPr>
          <p:cNvSpPr/>
          <p:nvPr/>
        </p:nvSpPr>
        <p:spPr>
          <a:xfrm>
            <a:off x="1016000" y="3810000"/>
            <a:ext cx="4826000" cy="25400"/>
          </a:xfrm>
          <a:prstGeom prst="rect">
            <a:avLst/>
          </a:prstGeom>
          <a:solidFill>
            <a:srgbClr val="9999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6F0D201-E5C6-8E40-8FD1-ADAB7C6C7CD2}"/>
              </a:ext>
            </a:extLst>
          </p:cNvPr>
          <p:cNvSpPr/>
          <p:nvPr/>
        </p:nvSpPr>
        <p:spPr>
          <a:xfrm>
            <a:off x="3429000" y="1778000"/>
            <a:ext cx="25400" cy="4089400"/>
          </a:xfrm>
          <a:prstGeom prst="rect">
            <a:avLst/>
          </a:prstGeom>
          <a:solidFill>
            <a:srgbClr val="999999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E58E808-1901-A74D-9D82-28B594DDD881}"/>
              </a:ext>
            </a:extLst>
          </p:cNvPr>
          <p:cNvSpPr txBox="1"/>
          <p:nvPr/>
        </p:nvSpPr>
        <p:spPr>
          <a:xfrm>
            <a:off x="4826000" y="38608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85754D"/>
                </a:solidFill>
              </a:rPr>
              <a:t>Dim 1 (58%)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D07132-9019-7349-B8F5-76CF587DDA65}"/>
              </a:ext>
            </a:extLst>
          </p:cNvPr>
          <p:cNvSpPr txBox="1"/>
          <p:nvPr/>
        </p:nvSpPr>
        <p:spPr>
          <a:xfrm>
            <a:off x="3530600" y="18034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85754D"/>
                </a:solidFill>
              </a:rPr>
              <a:t>Dim 2 (27%)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0C702EB-C33A-1D47-BDE4-02DE5A33181D}"/>
              </a:ext>
            </a:extLst>
          </p:cNvPr>
          <p:cNvSpPr/>
          <p:nvPr/>
        </p:nvSpPr>
        <p:spPr>
          <a:xfrm>
            <a:off x="1905000" y="2540000"/>
            <a:ext cx="152400" cy="152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38890E8-1E30-9A4E-8F83-251B62063100}"/>
              </a:ext>
            </a:extLst>
          </p:cNvPr>
          <p:cNvSpPr txBox="1"/>
          <p:nvPr/>
        </p:nvSpPr>
        <p:spPr>
          <a:xfrm>
            <a:off x="2082800" y="2476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R: Young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90F9B3C-33D4-B54B-8D85-7765A8F48A8C}"/>
              </a:ext>
            </a:extLst>
          </p:cNvPr>
          <p:cNvSpPr/>
          <p:nvPr/>
        </p:nvSpPr>
        <p:spPr>
          <a:xfrm>
            <a:off x="3810000" y="3175000"/>
            <a:ext cx="152400" cy="152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E4F8838-73B9-F64A-AD6C-688D2CAC915E}"/>
              </a:ext>
            </a:extLst>
          </p:cNvPr>
          <p:cNvSpPr txBox="1"/>
          <p:nvPr/>
        </p:nvSpPr>
        <p:spPr>
          <a:xfrm>
            <a:off x="3987800" y="3111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R: Mid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E2B88AA-29C7-044D-A30D-9F0078AE79CE}"/>
              </a:ext>
            </a:extLst>
          </p:cNvPr>
          <p:cNvSpPr/>
          <p:nvPr/>
        </p:nvSpPr>
        <p:spPr>
          <a:xfrm>
            <a:off x="4826000" y="4572000"/>
            <a:ext cx="152400" cy="1524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223EBA-C5D2-E34A-8C9E-E08DFD2B345E}"/>
              </a:ext>
            </a:extLst>
          </p:cNvPr>
          <p:cNvSpPr txBox="1"/>
          <p:nvPr/>
        </p:nvSpPr>
        <p:spPr>
          <a:xfrm>
            <a:off x="5003800" y="4508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4B2E83"/>
                </a:solidFill>
              </a:rPr>
              <a:t>R: Senior</a:t>
            </a:r>
          </a:p>
        </p:txBody>
      </p:sp>
      <p:sp>
        <p:nvSpPr>
          <p:cNvPr id="17" name="Triangle 16">
            <a:extLst>
              <a:ext uri="{FF2B5EF4-FFF2-40B4-BE49-F238E27FC236}">
                <a16:creationId xmlns:a16="http://schemas.microsoft.com/office/drawing/2014/main" id="{EB577668-547E-7142-9A60-EBE49A13DCFB}"/>
              </a:ext>
            </a:extLst>
          </p:cNvPr>
          <p:cNvSpPr/>
          <p:nvPr/>
        </p:nvSpPr>
        <p:spPr>
          <a:xfrm>
            <a:off x="2159000" y="2286000"/>
            <a:ext cx="165100" cy="165100"/>
          </a:xfrm>
          <a:prstGeom prst="triangl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FB00D1-1CFB-D543-BF20-018930F5D16B}"/>
              </a:ext>
            </a:extLst>
          </p:cNvPr>
          <p:cNvSpPr txBox="1"/>
          <p:nvPr/>
        </p:nvSpPr>
        <p:spPr>
          <a:xfrm>
            <a:off x="2336800" y="2222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00A7B5"/>
                </a:solidFill>
              </a:rPr>
              <a:t>C: Sport</a:t>
            </a:r>
          </a:p>
        </p:txBody>
      </p:sp>
      <p:sp>
        <p:nvSpPr>
          <p:cNvPr id="19" name="Triangle 18">
            <a:extLst>
              <a:ext uri="{FF2B5EF4-FFF2-40B4-BE49-F238E27FC236}">
                <a16:creationId xmlns:a16="http://schemas.microsoft.com/office/drawing/2014/main" id="{3856198E-35D5-E543-B585-D6D8FDB119D7}"/>
              </a:ext>
            </a:extLst>
          </p:cNvPr>
          <p:cNvSpPr/>
          <p:nvPr/>
        </p:nvSpPr>
        <p:spPr>
          <a:xfrm>
            <a:off x="4064000" y="3429000"/>
            <a:ext cx="165100" cy="165100"/>
          </a:xfrm>
          <a:prstGeom prst="triangl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74C96FA-981D-1E41-A96D-C19B2E1562D4}"/>
              </a:ext>
            </a:extLst>
          </p:cNvPr>
          <p:cNvSpPr txBox="1"/>
          <p:nvPr/>
        </p:nvSpPr>
        <p:spPr>
          <a:xfrm>
            <a:off x="4241800" y="33655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>
                <a:solidFill>
                  <a:srgbClr val="00A7B5"/>
                </a:solidFill>
              </a:rPr>
              <a:t>C: Sedan</a:t>
            </a:r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4D0EC271-50E7-1147-8BC6-F9101F66F63D}"/>
              </a:ext>
            </a:extLst>
          </p:cNvPr>
          <p:cNvSpPr/>
          <p:nvPr/>
        </p:nvSpPr>
        <p:spPr>
          <a:xfrm>
            <a:off x="5080000" y="4826000"/>
            <a:ext cx="165100" cy="165100"/>
          </a:xfrm>
          <a:prstGeom prst="triangl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091658-ACD3-CC4C-BAC7-728F73BA161C}"/>
              </a:ext>
            </a:extLst>
          </p:cNvPr>
          <p:cNvSpPr txBox="1"/>
          <p:nvPr/>
        </p:nvSpPr>
        <p:spPr>
          <a:xfrm>
            <a:off x="5245100" y="4787900"/>
            <a:ext cx="1143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 b="1" dirty="0">
                <a:solidFill>
                  <a:srgbClr val="00A7B5"/>
                </a:solidFill>
              </a:rPr>
              <a:t>C: Luxury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066994E-2AB0-9240-BA57-5577A83204AC}"/>
              </a:ext>
            </a:extLst>
          </p:cNvPr>
          <p:cNvSpPr txBox="1"/>
          <p:nvPr/>
        </p:nvSpPr>
        <p:spPr>
          <a:xfrm>
            <a:off x="939800" y="5740400"/>
            <a:ext cx="508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333333"/>
                </a:solidFill>
              </a:rPr>
              <a:t>● rows (e.g. age groups)    ▲ columns (e.g. car type)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21EF402-9B55-7C4F-88AB-7353FF5E825F}"/>
              </a:ext>
            </a:extLst>
          </p:cNvPr>
          <p:cNvSpPr txBox="1"/>
          <p:nvPr/>
        </p:nvSpPr>
        <p:spPr>
          <a:xfrm>
            <a:off x="6350000" y="16256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How to read it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E35E5FA-7CFD-CA41-AC22-76048A39E8A8}"/>
              </a:ext>
            </a:extLst>
          </p:cNvPr>
          <p:cNvSpPr txBox="1"/>
          <p:nvPr/>
        </p:nvSpPr>
        <p:spPr>
          <a:xfrm>
            <a:off x="6350000" y="2006600"/>
            <a:ext cx="5080000" cy="4064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• Near the origin = average profile (close to independence); far out = distinctive.
• Row–row / col–col proximity ⇒ similar profiles.
• Row near a column point ⇒ that combination occurs more than independence predicts (positive association).
• Axis % = share of total inertia explained by that dimension; report them like PCA variance.
• Caution (symmetric map): row–column distances are only suggestive — strictly, interpret each cloud's geometry separately.</a:t>
            </a:r>
          </a:p>
        </p:txBody>
      </p:sp>
    </p:spTree>
    <p:extLst>
      <p:ext uri="{BB962C8B-B14F-4D97-AF65-F5344CB8AC3E}">
        <p14:creationId xmlns:p14="http://schemas.microsoft.com/office/powerpoint/2010/main" val="4617190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DBEF722-4649-FA49-87E6-F8FC5F434E52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F7104D-555E-0540-AA65-FDE8DD3661F4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CA — How Many Dimensions to Keep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94CE35-6C98-4D49-A50B-012333311F97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The map has at most K = min(I−1, J−1) dimensions for an I×J table. Choose how many to display.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AD3A903-1859-5A40-883B-D8C5901D5CA3}"/>
              </a:ext>
            </a:extLst>
          </p:cNvPr>
          <p:cNvSpPr/>
          <p:nvPr/>
        </p:nvSpPr>
        <p:spPr>
          <a:xfrm>
            <a:off x="7620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3825BB0-5EA5-9E44-B040-021E455D74DE}"/>
              </a:ext>
            </a:extLst>
          </p:cNvPr>
          <p:cNvSpPr txBox="1"/>
          <p:nvPr/>
        </p:nvSpPr>
        <p:spPr>
          <a:xfrm>
            <a:off x="9144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Inertia explained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24DB41-7566-3942-9F1A-7744E13D1EFC}"/>
                  </a:ext>
                </a:extLst>
              </p:cNvPr>
              <p:cNvSpPr txBox="1"/>
              <p:nvPr/>
            </p:nvSpPr>
            <p:spPr>
              <a:xfrm>
                <a:off x="914400" y="2717800"/>
                <a:ext cx="2235200" cy="91480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Each dimension k explains </a:t>
                </a:r>
                <a14:m>
                  <m:oMath xmlns:m="http://schemas.openxmlformats.org/officeDocument/2006/math"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of total inertia. Keep enough to reach ~70–80%.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7D24DB41-7566-3942-9F1A-7744E13D1E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717800"/>
                <a:ext cx="2235200" cy="914802"/>
              </a:xfrm>
              <a:prstGeom prst="rect">
                <a:avLst/>
              </a:prstGeom>
              <a:blipFill>
                <a:blip r:embed="rId2"/>
                <a:stretch>
                  <a:fillRect l="-565" t="-1370" b="-54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E4B0C7FB-9D95-0840-8100-63DCC59791D4}"/>
              </a:ext>
            </a:extLst>
          </p:cNvPr>
          <p:cNvSpPr/>
          <p:nvPr/>
        </p:nvSpPr>
        <p:spPr>
          <a:xfrm>
            <a:off x="34798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F81D5E-8684-F943-9605-8C8F49339CD1}"/>
              </a:ext>
            </a:extLst>
          </p:cNvPr>
          <p:cNvSpPr txBox="1"/>
          <p:nvPr/>
        </p:nvSpPr>
        <p:spPr>
          <a:xfrm>
            <a:off x="36322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Scree of inertia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7FEAB3-3B3C-E74D-9CB3-6BF46258FB9A}"/>
                  </a:ext>
                </a:extLst>
              </p:cNvPr>
              <p:cNvSpPr txBox="1"/>
              <p:nvPr/>
            </p:nvSpPr>
            <p:spPr>
              <a:xfrm>
                <a:off x="3632200" y="2717800"/>
                <a:ext cx="2235200" cy="98623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Plot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vs</m:t>
                    </m:r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a:rPr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; keep dimensions before the elbow — same logic as PCA's scree plot.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F37FEAB3-3B3C-E74D-9CB3-6BF46258FB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2200" y="2717800"/>
                <a:ext cx="2235200" cy="986232"/>
              </a:xfrm>
              <a:prstGeom prst="rect">
                <a:avLst/>
              </a:prstGeom>
              <a:blipFill>
                <a:blip r:embed="rId3"/>
                <a:stretch>
                  <a:fillRect l="-565" r="-1130" b="-5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2A49352-5C67-EF47-9FF0-825E39A1E521}"/>
              </a:ext>
            </a:extLst>
          </p:cNvPr>
          <p:cNvSpPr/>
          <p:nvPr/>
        </p:nvSpPr>
        <p:spPr>
          <a:xfrm>
            <a:off x="61976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E1B5969-BE63-A545-8EC3-EC52E0CD354F}"/>
              </a:ext>
            </a:extLst>
          </p:cNvPr>
          <p:cNvSpPr txBox="1"/>
          <p:nvPr/>
        </p:nvSpPr>
        <p:spPr>
          <a:xfrm>
            <a:off x="63500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Average rule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D67CDF-D1D1-1A47-AA44-3920A2CFB603}"/>
                  </a:ext>
                </a:extLst>
              </p:cNvPr>
              <p:cNvSpPr txBox="1"/>
              <p:nvPr/>
            </p:nvSpPr>
            <p:spPr>
              <a:xfrm>
                <a:off x="6350000" y="2717800"/>
                <a:ext cx="2235200" cy="106279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rgbClr val="333333"/>
                    </a:solidFill>
                  </a:rPr>
                  <a:t>Keep dimensions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 &gt; </m:t>
                    </m:r>
                    <m:acc>
                      <m:accPr>
                        <m:chr m:val="̄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, where </a:t>
                </a: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 = (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total</m:t>
                    </m:r>
                    <m:r>
                      <a:rPr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inertia</m:t>
                    </m:r>
                    <m:r>
                      <a:rPr>
                        <a:latin typeface="Cambria Math" panose="02040503050406030204" pitchFamily="18" charset="0"/>
                      </a:rPr>
                      <m:t>)/</m:t>
                    </m:r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en-US" sz="1350" dirty="0">
                    <a:solidFill>
                      <a:srgbClr val="333333"/>
                    </a:solidFill>
                  </a:rPr>
                  <a:t>  (CA analogue of Kaiser).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9D67CDF-D1D1-1A47-AA44-3920A2CFB6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0" y="2717800"/>
                <a:ext cx="2235200" cy="1062791"/>
              </a:xfrm>
              <a:prstGeom prst="rect">
                <a:avLst/>
              </a:prstGeom>
              <a:blipFill>
                <a:blip r:embed="rId4"/>
                <a:stretch>
                  <a:fillRect l="-1705" t="-1190" b="-47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9ABBEE2-4904-2B47-A15B-8A32584D4B72}"/>
              </a:ext>
            </a:extLst>
          </p:cNvPr>
          <p:cNvSpPr/>
          <p:nvPr/>
        </p:nvSpPr>
        <p:spPr>
          <a:xfrm>
            <a:off x="8915400" y="1981200"/>
            <a:ext cx="2540000" cy="1778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5C4D4A5-C0E5-8F4C-9D66-B3C8DCA9AA8C}"/>
              </a:ext>
            </a:extLst>
          </p:cNvPr>
          <p:cNvSpPr txBox="1"/>
          <p:nvPr/>
        </p:nvSpPr>
        <p:spPr>
          <a:xfrm>
            <a:off x="9067800" y="2133600"/>
            <a:ext cx="22352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Interpretability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8EB5D2-AD22-014C-AE18-89BFA770A0F1}"/>
              </a:ext>
            </a:extLst>
          </p:cNvPr>
          <p:cNvSpPr txBox="1"/>
          <p:nvPr/>
        </p:nvSpPr>
        <p:spPr>
          <a:xfrm>
            <a:off x="9067800" y="2717800"/>
            <a:ext cx="2235200" cy="92333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50" dirty="0">
                <a:solidFill>
                  <a:srgbClr val="333333"/>
                </a:solidFill>
              </a:rPr>
              <a:t>Two dimensions are usually plotted for a readable biplot; a 3rd only if clearly meaningful.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FFE74F72-465B-CE4B-B659-74A6F8CBE072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FB09EDD-D35E-4744-BB12-E3206FCF3E1F}"/>
              </a:ext>
            </a:extLst>
          </p:cNvPr>
          <p:cNvSpPr txBox="1"/>
          <p:nvPr/>
        </p:nvSpPr>
        <p:spPr>
          <a:xfrm>
            <a:off x="990600" y="4114800"/>
            <a:ext cx="889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Worked illustration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AF935-809E-BD4D-9881-5F7703296F7B}"/>
                  </a:ext>
                </a:extLst>
              </p:cNvPr>
              <p:cNvSpPr txBox="1"/>
              <p:nvPr/>
            </p:nvSpPr>
            <p:spPr>
              <a:xfrm>
                <a:off x="990600" y="4470400"/>
                <a:ext cx="10210800" cy="113338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A 4×5 table ⇒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𝐾</m:t>
                    </m:r>
                    <m:r>
                      <a:rPr>
                        <a:latin typeface="Cambria Math" panose="02040503050406030204" pitchFamily="18" charset="0"/>
                      </a:rPr>
                      <m:t>= </m:t>
                    </m:r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min</m:t>
                    </m:r>
                    <m:r>
                      <a:rPr>
                        <a:latin typeface="Cambria Math" panose="02040503050406030204" pitchFamily="18" charset="0"/>
                      </a:rPr>
                      <m:t>(3,4) = 3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possible dimensions. Suppose principal inertias</a:t>
                </a:r>
              </a:p>
              <a:p>
                <a:pPr algn="l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𝜆</m:t>
                    </m:r>
                    <m:r>
                      <a:rPr>
                        <a:latin typeface="Cambria Math" panose="02040503050406030204" pitchFamily="18" charset="0"/>
                      </a:rPr>
                      <m:t>= (0.182, 0.071, 0.014)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,  total inertia = 0.267.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Shares: Dim1 = 68.2%, Dim2 = 26.6%, Dim3 = 5.2%.  Dim1+Dim2 = 94.8% ⇒ a 2-D map is more than adequate.</a:t>
                </a:r>
              </a:p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Average rule: </a:t>
                </a:r>
                <a14:m>
                  <m:oMath xmlns:m="http://schemas.openxmlformats.org/officeDocument/2006/math">
                    <m:acc>
                      <m:accPr>
                        <m:chr m:val="̄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</m:acc>
                    <m:r>
                      <a:rPr>
                        <a:latin typeface="Cambria Math" panose="02040503050406030204" pitchFamily="18" charset="0"/>
                      </a:rPr>
                      <m:t> = 0.267/3 = 0.089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; only Dim1 (0.182) exceeds it — but we still plot Dim2 for a 2-D picture.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2EAF935-809E-BD4D-9881-5F7703296F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4470400"/>
                <a:ext cx="10210800" cy="1133387"/>
              </a:xfrm>
              <a:prstGeom prst="rect">
                <a:avLst/>
              </a:prstGeom>
              <a:blipFill>
                <a:blip r:embed="rId5"/>
                <a:stretch>
                  <a:fillRect l="-248" b="-43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96187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DEB1A5-A085-6C4B-A3C0-C11601D788D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E6B95-3758-7E47-85AB-872A66C8710A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CA — Matrix Formulation (1): Profiles &amp; Inertia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A9FE9-A40B-A446-A25A-04A80EF8205B}"/>
              </a:ext>
            </a:extLst>
          </p:cNvPr>
          <p:cNvSpPr txBox="1"/>
          <p:nvPr/>
        </p:nvSpPr>
        <p:spPr>
          <a:xfrm>
            <a:off x="762000" y="1473200"/>
            <a:ext cx="10668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i="1">
                <a:solidFill>
                  <a:srgbClr val="85754D"/>
                </a:solidFill>
              </a:rPr>
              <a:t>Start from the I×J count table N with grand total n. Work with proportions, masses, and expected values.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A1556D-1F7B-404B-A4A0-4DD161332BD1}"/>
              </a:ext>
            </a:extLst>
          </p:cNvPr>
          <p:cNvSpPr txBox="1"/>
          <p:nvPr/>
        </p:nvSpPr>
        <p:spPr>
          <a:xfrm>
            <a:off x="762000" y="18796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Correspondence matrix &amp; masses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CC2D8-A988-804D-B93E-D3CACA445080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/>
              <p:nvPr/>
            </p:nvSpPr>
            <p:spPr>
              <a:xfrm>
                <a:off x="939800" y="2311400"/>
                <a:ext cx="4978400" cy="140686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defRPr sz="125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    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sums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to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1)</m:t>
                      </m:r>
                    </m:oMath>
                  </m:oMathPara>
                </a14:m>
                <a:endParaRPr/>
              </a:p>
              <a:p>
                <a:pPr algn="l">
                  <a:defRPr sz="125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mass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  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mass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/>
              </a:p>
              <a:p>
                <a:pPr algn="l">
                  <a:defRPr sz="125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vectors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>
                  <a:defRPr sz="125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>
                          <a:latin typeface="Cambria Math" panose="02040503050406030204" pitchFamily="18" charset="0"/>
                        </a:rPr>
                        <m:t>), 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>
                  <a:defRPr sz="125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Expected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311400"/>
                <a:ext cx="4978400" cy="1406860"/>
              </a:xfrm>
              <a:prstGeom prst="rect">
                <a:avLst/>
              </a:prstGeom>
              <a:blipFill>
                <a:blip r:embed="rId2"/>
                <a:stretch>
                  <a:fillRect t="-25893" b="-31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D1E14EB-7147-D44E-990E-C94A3EC6ABCB}"/>
              </a:ext>
            </a:extLst>
          </p:cNvPr>
          <p:cNvSpPr txBox="1"/>
          <p:nvPr/>
        </p:nvSpPr>
        <p:spPr>
          <a:xfrm>
            <a:off x="6350000" y="18796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Profiles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139F237-B712-7B49-B79D-3CF32F0230E9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/>
              <p:nvPr/>
            </p:nvSpPr>
            <p:spPr>
              <a:xfrm>
                <a:off x="6527800" y="2311400"/>
                <a:ext cx="4724400" cy="1628266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profile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  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profile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  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Row profiles live in the simplex of column categories; their weighted average (centroid) = c.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2311400"/>
                <a:ext cx="4724400" cy="1628266"/>
              </a:xfrm>
              <a:prstGeom prst="rect">
                <a:avLst/>
              </a:prstGeom>
              <a:blipFill>
                <a:blip r:embed="rId3"/>
                <a:stretch>
                  <a:fillRect l="-536" b="-30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05944F7-CC50-3243-8FEE-7C310B729F96}"/>
              </a:ext>
            </a:extLst>
          </p:cNvPr>
          <p:cNvSpPr txBox="1"/>
          <p:nvPr/>
        </p:nvSpPr>
        <p:spPr>
          <a:xfrm>
            <a:off x="762000" y="42672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Total inertia = </a:t>
            </a:r>
            <a:r>
              <a:rPr lang="el-GR" sz="1450" b="1">
                <a:solidFill>
                  <a:srgbClr val="7AB648"/>
                </a:solidFill>
              </a:rPr>
              <a:t>χ²/</a:t>
            </a:r>
            <a:r>
              <a:rPr lang="en-US" sz="1450" b="1">
                <a:solidFill>
                  <a:srgbClr val="7AB648"/>
                </a:solidFill>
              </a:rPr>
              <a:t>n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2FC04EC-E136-884D-BC4E-A005E319B255}"/>
              </a:ext>
            </a:extLst>
          </p:cNvPr>
          <p:cNvSpPr/>
          <p:nvPr/>
        </p:nvSpPr>
        <p:spPr>
          <a:xfrm>
            <a:off x="762000" y="4572000"/>
            <a:ext cx="10668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/>
              <p:nvPr/>
            </p:nvSpPr>
            <p:spPr>
              <a:xfrm>
                <a:off x="939800" y="4699000"/>
                <a:ext cx="10312400" cy="151939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𝜒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/>
                      </m:nary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/>
                      </m:nary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𝑖𝑗</m:t>
                              </m:r>
                            </m:sub>
                          </m:sSub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/>
              </a:p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inertia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 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𝜒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  <m:sup/>
                        <m:e/>
                      </m:nary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/>
                      </m:nary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𝑖𝑗</m:t>
                                      </m:r>
                                    </m:sub>
                                  </m:s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𝑟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sSub>
                                    <m:sSubPr>
                                      <m:ctrlPr>
                                        <a:rPr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e>
                                    <m:sub>
                                      <m:r>
                                        <a:rPr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/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Φ² = weighted sum of squared χ²-distances of row profiles to their centroid c.</a:t>
                </a: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CA finds orthogonal axes that successively capture the largest share of this total inertia.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699000"/>
                <a:ext cx="10312400" cy="1519390"/>
              </a:xfrm>
              <a:prstGeom prst="rect">
                <a:avLst/>
              </a:prstGeom>
              <a:blipFill>
                <a:blip r:embed="rId4"/>
                <a:stretch>
                  <a:fillRect l="-123" t="-40000" b="-4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483524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C418EE9-0D35-834C-968C-571FB2B35E5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E7D219-9FE0-3F4F-A730-9B4B59F1F2F6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CA — Matrix Formulation (2): SVD &amp; Coordinates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CD60DE-E52A-E84E-8E48-5E341D9D1130}"/>
              </a:ext>
            </a:extLst>
          </p:cNvPr>
          <p:cNvSpPr txBox="1"/>
          <p:nvPr/>
        </p:nvSpPr>
        <p:spPr>
          <a:xfrm>
            <a:off x="762000" y="15240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Step 1 — Standardized residual matrix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E69293F-3CF9-2643-94AE-D5FE5362D872}"/>
              </a:ext>
            </a:extLst>
          </p:cNvPr>
          <p:cNvSpPr/>
          <p:nvPr/>
        </p:nvSpPr>
        <p:spPr>
          <a:xfrm>
            <a:off x="762000" y="1828800"/>
            <a:ext cx="10668000" cy="9144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3C964D-8DE2-E84D-A100-E5523F112DE0}"/>
                  </a:ext>
                </a:extLst>
              </p:cNvPr>
              <p:cNvSpPr txBox="1"/>
              <p:nvPr/>
            </p:nvSpPr>
            <p:spPr>
              <a:xfrm>
                <a:off x="939800" y="1955800"/>
                <a:ext cx="10312400" cy="8880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𝑆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d>
                      <m:d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  <m:sSup>
                          <m:s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</m:e>
                    </m:d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 standardized residuals,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𝑖𝑗</m:t>
                            </m:r>
                          </m:sub>
                        </m:sSub>
                        <m:r>
                          <a:rPr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b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e>
                        </m:rad>
                      </m:den>
                    </m:f>
                  </m:oMath>
                </a14:m>
                <a:endParaRPr lang="en-US" sz="13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Note: 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subSup"/>
                        <m:supHide m:val="on"/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/>
                      <m:e/>
                    </m:nary>
                    <m:sSubSup>
                      <m:sSub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𝛷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= total inertia.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83C964D-8DE2-E84D-A100-E5523F112D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1955800"/>
                <a:ext cx="10312400" cy="888000"/>
              </a:xfrm>
              <a:prstGeom prst="rect">
                <a:avLst/>
              </a:prstGeom>
              <a:blipFill>
                <a:blip r:embed="rId2"/>
                <a:stretch>
                  <a:fillRect l="-123" b="-661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B957CAC-9BC6-7D4D-8464-13C41CF10A2F}"/>
              </a:ext>
            </a:extLst>
          </p:cNvPr>
          <p:cNvSpPr txBox="1"/>
          <p:nvPr/>
        </p:nvSpPr>
        <p:spPr>
          <a:xfrm>
            <a:off x="762000" y="2844800"/>
            <a:ext cx="533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Step 2 — SVD of 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CF129D6-CC8A-6C4C-9270-4294C3DE3467}"/>
              </a:ext>
            </a:extLst>
          </p:cNvPr>
          <p:cNvSpPr/>
          <p:nvPr/>
        </p:nvSpPr>
        <p:spPr>
          <a:xfrm>
            <a:off x="762000" y="3149600"/>
            <a:ext cx="5334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F8EB22-1DBE-9F46-BBFD-960668270215}"/>
                  </a:ext>
                </a:extLst>
              </p:cNvPr>
              <p:cNvSpPr txBox="1"/>
              <p:nvPr/>
            </p:nvSpPr>
            <p:spPr>
              <a:xfrm>
                <a:off x="939800" y="3276600"/>
                <a:ext cx="4978400" cy="12954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, 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≥</m:t>
                          </m:r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>
                              <a:latin typeface="Cambria Math" panose="02040503050406030204" pitchFamily="18" charset="0"/>
                            </a:rPr>
                            <m:t>≥…</m:t>
                          </m:r>
                        </m:e>
                      </m:d>
                    </m:oMath>
                  </m:oMathPara>
                </a14:m>
                <a:endParaRPr/>
              </a:p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Principal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inertias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</m:oMath>
                  </m:oMathPara>
                </a14:m>
                <a:endParaRPr/>
              </a:p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/>
                      </m:nary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𝛷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/>
              </a:p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axis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share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𝛷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7F8EB22-1DBE-9F46-BBFD-960668270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3276600"/>
                <a:ext cx="4978400" cy="1295400"/>
              </a:xfrm>
              <a:prstGeom prst="rect">
                <a:avLst/>
              </a:prstGeom>
              <a:blipFill>
                <a:blip r:embed="rId3"/>
                <a:stretch>
                  <a:fillRect t="-24510" b="-480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A28B7C32-5CEA-8B42-BF4B-9E2E31ECDA46}"/>
              </a:ext>
            </a:extLst>
          </p:cNvPr>
          <p:cNvSpPr txBox="1"/>
          <p:nvPr/>
        </p:nvSpPr>
        <p:spPr>
          <a:xfrm>
            <a:off x="6350000" y="2844800"/>
            <a:ext cx="508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Step 3 — Principal coordinates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C28FDE0-77EC-4C45-A08C-0F085BA37925}"/>
              </a:ext>
            </a:extLst>
          </p:cNvPr>
          <p:cNvSpPr/>
          <p:nvPr/>
        </p:nvSpPr>
        <p:spPr>
          <a:xfrm>
            <a:off x="6350000" y="3149600"/>
            <a:ext cx="5080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A40094-1C7A-9E4E-9A32-7E3FA1CCD485}"/>
                  </a:ext>
                </a:extLst>
              </p:cNvPr>
              <p:cNvSpPr txBox="1"/>
              <p:nvPr/>
            </p:nvSpPr>
            <p:spPr>
              <a:xfrm>
                <a:off x="6527800" y="3276600"/>
                <a:ext cx="4724400" cy="107131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Rows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𝑈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>
                  <a:defRPr sz="13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Cols</m:t>
                      </m:r>
                      <m:r>
                        <a:rPr>
                          <a:latin typeface="Cambria Math" panose="02040503050406030204" pitchFamily="18" charset="0"/>
                        </a:rPr>
                        <m:t>: 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𝑉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  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Plot columns k=1,2 of F and G</a:t>
                </a: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→ the symmetric CA map.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B8A40094-1C7A-9E4E-9A32-7E3FA1CCD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3276600"/>
                <a:ext cx="4724400" cy="1071319"/>
              </a:xfrm>
              <a:prstGeom prst="rect">
                <a:avLst/>
              </a:prstGeom>
              <a:blipFill>
                <a:blip r:embed="rId4"/>
                <a:stretch>
                  <a:fillRect l="-268" b="-35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D5F266D6-42E2-AB4A-92C8-8782E73AC34D}"/>
              </a:ext>
            </a:extLst>
          </p:cNvPr>
          <p:cNvSpPr txBox="1"/>
          <p:nvPr/>
        </p:nvSpPr>
        <p:spPr>
          <a:xfrm>
            <a:off x="762000" y="4749800"/>
            <a:ext cx="1066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Diagnostics — contributions &amp; quality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959F18E-F7CC-0643-8F19-D60FD8FA80D5}"/>
              </a:ext>
            </a:extLst>
          </p:cNvPr>
          <p:cNvSpPr/>
          <p:nvPr/>
        </p:nvSpPr>
        <p:spPr>
          <a:xfrm>
            <a:off x="762000" y="5054600"/>
            <a:ext cx="10668000" cy="1016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F77022-855D-6F49-9A55-436610319A67}"/>
                  </a:ext>
                </a:extLst>
              </p:cNvPr>
              <p:cNvSpPr txBox="1"/>
              <p:nvPr/>
            </p:nvSpPr>
            <p:spPr>
              <a:xfrm>
                <a:off x="939800" y="5181600"/>
                <a:ext cx="10312400" cy="1078372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Contribution of row i to axis k: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𝐶𝑇𝑅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sSubSup>
                          <m:sSub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sz="12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(which categories build an axis)</a:t>
                </a: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Quality (cos²):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𝐶𝑂𝑅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𝑖𝑘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num>
                      <m:den>
                        <m:nary>
                          <m:naryPr>
                            <m:chr m:val="∑"/>
                            <m:limLoc m:val="subSup"/>
                            <m:supHide m:val="on"/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  <m:sup/>
                          <m:e/>
                        </m:nary>
                        <m:sSubSup>
                          <m:sSubSup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𝑖𝑘</m:t>
                            </m:r>
                          </m:sub>
                          <m:sup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den>
                    </m:f>
                  </m:oMath>
                </a14:m>
                <a:r>
                  <a:rPr lang="en-US" sz="12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(how well point i is shown)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7F77022-855D-6F49-9A55-436610319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5181600"/>
                <a:ext cx="10312400" cy="1078372"/>
              </a:xfrm>
              <a:prstGeom prst="rect">
                <a:avLst/>
              </a:prstGeom>
              <a:blipFill>
                <a:blip r:embed="rId5"/>
                <a:stretch>
                  <a:fillRect l="-123" b="-4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25517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72723A7-D9F5-3849-A815-D302339F98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052483-074A-6247-949B-08934904AEA4}"/>
              </a:ext>
            </a:extLst>
          </p:cNvPr>
          <p:cNvSpPr txBox="1"/>
          <p:nvPr/>
        </p:nvSpPr>
        <p:spPr>
          <a:xfrm>
            <a:off x="762000" y="711200"/>
            <a:ext cx="10668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CA — Computation Algorithm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7B212253-DDE7-9F4D-8E16-BF32A32488A7}"/>
              </a:ext>
            </a:extLst>
          </p:cNvPr>
          <p:cNvSpPr/>
          <p:nvPr/>
        </p:nvSpPr>
        <p:spPr>
          <a:xfrm>
            <a:off x="7620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A561C8F-7AE4-0F49-8D77-CA177D2C7373}"/>
              </a:ext>
            </a:extLst>
          </p:cNvPr>
          <p:cNvSpPr/>
          <p:nvPr/>
        </p:nvSpPr>
        <p:spPr>
          <a:xfrm>
            <a:off x="939800" y="1803400"/>
            <a:ext cx="431800" cy="431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638D8C-1129-1846-B7E3-BA00AC7263D1}"/>
              </a:ext>
            </a:extLst>
          </p:cNvPr>
          <p:cNvSpPr txBox="1"/>
          <p:nvPr/>
        </p:nvSpPr>
        <p:spPr>
          <a:xfrm>
            <a:off x="14732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Build P = N/n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B5CC97-B4D5-8C4C-BE87-A19B7DA5716C}"/>
              </a:ext>
            </a:extLst>
          </p:cNvPr>
          <p:cNvSpPr txBox="1"/>
          <p:nvPr/>
        </p:nvSpPr>
        <p:spPr>
          <a:xfrm>
            <a:off x="939800" y="23622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Divide the contingency table by its grand total.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66788D60-633E-9749-BFCC-7797D77B2108}"/>
              </a:ext>
            </a:extLst>
          </p:cNvPr>
          <p:cNvSpPr/>
          <p:nvPr/>
        </p:nvSpPr>
        <p:spPr>
          <a:xfrm>
            <a:off x="43815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23A45B0-BABE-4040-ACB8-FB0A2634E4B0}"/>
              </a:ext>
            </a:extLst>
          </p:cNvPr>
          <p:cNvSpPr/>
          <p:nvPr/>
        </p:nvSpPr>
        <p:spPr>
          <a:xfrm>
            <a:off x="4559300" y="1803400"/>
            <a:ext cx="431800" cy="431800"/>
          </a:xfrm>
          <a:prstGeom prst="ellipse">
            <a:avLst/>
          </a:prstGeom>
          <a:solidFill>
            <a:srgbClr val="00A7B5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83A4C5-E1E1-3249-BB82-E4B5809C162F}"/>
              </a:ext>
            </a:extLst>
          </p:cNvPr>
          <p:cNvSpPr txBox="1"/>
          <p:nvPr/>
        </p:nvSpPr>
        <p:spPr>
          <a:xfrm>
            <a:off x="50927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Masses r, 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E4134F-F31B-D24D-A23E-7901CEBE61BF}"/>
                  </a:ext>
                </a:extLst>
              </p:cNvPr>
              <p:cNvSpPr txBox="1"/>
              <p:nvPr/>
            </p:nvSpPr>
            <p:spPr>
              <a:xfrm>
                <a:off x="4559300" y="2362200"/>
                <a:ext cx="3073400" cy="639278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Row sums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𝑟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r>
                      <a:rPr>
                        <a:latin typeface="Cambria Math" panose="02040503050406030204" pitchFamily="18" charset="0"/>
                      </a:rPr>
                      <m:t>𝑃</m:t>
                    </m:r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, col sums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𝑐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; form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𝑟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BE4134F-F31B-D24D-A23E-7901CEBE6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2362200"/>
                <a:ext cx="3073400" cy="639278"/>
              </a:xfrm>
              <a:prstGeom prst="rect">
                <a:avLst/>
              </a:prstGeom>
              <a:blipFill>
                <a:blip r:embed="rId2"/>
                <a:stretch>
                  <a:fillRect l="-826" b="-9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51C2F45A-ED35-6F4D-9006-CF2F4D15EF13}"/>
              </a:ext>
            </a:extLst>
          </p:cNvPr>
          <p:cNvSpPr/>
          <p:nvPr/>
        </p:nvSpPr>
        <p:spPr>
          <a:xfrm>
            <a:off x="8001000" y="16256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3557043-2555-0848-8F2A-6A170F924F44}"/>
              </a:ext>
            </a:extLst>
          </p:cNvPr>
          <p:cNvSpPr/>
          <p:nvPr/>
        </p:nvSpPr>
        <p:spPr>
          <a:xfrm>
            <a:off x="8178800" y="1803400"/>
            <a:ext cx="431800" cy="431800"/>
          </a:xfrm>
          <a:prstGeom prst="ellipse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32DD145-CF77-414E-BC2B-8F7DA8A24217}"/>
              </a:ext>
            </a:extLst>
          </p:cNvPr>
          <p:cNvSpPr txBox="1"/>
          <p:nvPr/>
        </p:nvSpPr>
        <p:spPr>
          <a:xfrm>
            <a:off x="8712200" y="18288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7AB648"/>
                </a:solidFill>
              </a:rPr>
              <a:t>Residual matrix 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80BC6B-8DCC-4141-8952-3735A89A8DA2}"/>
                  </a:ext>
                </a:extLst>
              </p:cNvPr>
              <p:cNvSpPr txBox="1"/>
              <p:nvPr/>
            </p:nvSpPr>
            <p:spPr>
              <a:xfrm>
                <a:off x="8178800" y="2362200"/>
                <a:ext cx="3073400" cy="49327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B380BC6B-8DCC-4141-8952-3735A89A8D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800" y="2362200"/>
                <a:ext cx="3073400" cy="4932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C23FC7F4-F1D1-0647-A2DD-66C4FC3CD5F0}"/>
              </a:ext>
            </a:extLst>
          </p:cNvPr>
          <p:cNvSpPr/>
          <p:nvPr/>
        </p:nvSpPr>
        <p:spPr>
          <a:xfrm>
            <a:off x="7620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291CF9E6-4F99-654F-A0F5-6F866708A49C}"/>
              </a:ext>
            </a:extLst>
          </p:cNvPr>
          <p:cNvSpPr/>
          <p:nvPr/>
        </p:nvSpPr>
        <p:spPr>
          <a:xfrm>
            <a:off x="939800" y="3937000"/>
            <a:ext cx="431800" cy="431800"/>
          </a:xfrm>
          <a:prstGeom prst="ellipse">
            <a:avLst/>
          </a:prstGeom>
          <a:solidFill>
            <a:srgbClr val="D1578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2743824-2D85-2E4C-BCA9-A85010274BF2}"/>
              </a:ext>
            </a:extLst>
          </p:cNvPr>
          <p:cNvSpPr txBox="1"/>
          <p:nvPr/>
        </p:nvSpPr>
        <p:spPr>
          <a:xfrm>
            <a:off x="14732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D1578A"/>
                </a:solidFill>
              </a:rPr>
              <a:t>SVD  S = U Dₐ Vᵀ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A9CDCF-B349-8F4F-BA16-BCA460AF5FFE}"/>
                  </a:ext>
                </a:extLst>
              </p:cNvPr>
              <p:cNvSpPr txBox="1"/>
              <p:nvPr/>
            </p:nvSpPr>
            <p:spPr>
              <a:xfrm>
                <a:off x="939800" y="4495800"/>
                <a:ext cx="3073400" cy="787267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Principal inertias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; shares </a:t>
                </a:r>
                <a14:m>
                  <m:oMath xmlns:m="http://schemas.openxmlformats.org/officeDocument/2006/math">
                    <m:f>
                      <m:f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num>
                      <m:den>
                        <m:r>
                          <m:rPr>
                            <m:sty m:val="p"/>
                          </m:rPr>
                          <a:rPr>
                            <a:latin typeface="Cambria Math" panose="02040503050406030204" pitchFamily="18" charset="0"/>
                          </a:rPr>
                          <m:t>Σ</m:t>
                        </m:r>
                        <m:r>
                          <a:rPr>
                            <a:latin typeface="Cambria Math" panose="02040503050406030204" pitchFamily="18" charset="0"/>
                          </a:rPr>
                          <m:t>𝜆</m:t>
                        </m:r>
                      </m:den>
                    </m:f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5A9CDCF-B349-8F4F-BA16-BCA460AF5F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495800"/>
                <a:ext cx="3073400" cy="787267"/>
              </a:xfrm>
              <a:prstGeom prst="rect">
                <a:avLst/>
              </a:prstGeom>
              <a:blipFill>
                <a:blip r:embed="rId4"/>
                <a:stretch>
                  <a:fillRect l="-4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40A2D9F7-1D5C-6C45-9F4C-B93F0B1AFCF7}"/>
              </a:ext>
            </a:extLst>
          </p:cNvPr>
          <p:cNvSpPr/>
          <p:nvPr/>
        </p:nvSpPr>
        <p:spPr>
          <a:xfrm>
            <a:off x="43815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8706900-1C9F-AA42-9573-D790DD1C49EB}"/>
              </a:ext>
            </a:extLst>
          </p:cNvPr>
          <p:cNvSpPr/>
          <p:nvPr/>
        </p:nvSpPr>
        <p:spPr>
          <a:xfrm>
            <a:off x="4559300" y="3937000"/>
            <a:ext cx="431800" cy="431800"/>
          </a:xfrm>
          <a:prstGeom prst="ellipse">
            <a:avLst/>
          </a:prstGeom>
          <a:solidFill>
            <a:srgbClr val="85754D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1F77223-ACBA-9D4B-B921-F255926BE306}"/>
              </a:ext>
            </a:extLst>
          </p:cNvPr>
          <p:cNvSpPr txBox="1"/>
          <p:nvPr/>
        </p:nvSpPr>
        <p:spPr>
          <a:xfrm>
            <a:off x="50927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Coordinates F, 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B47A93-EC37-E544-B33F-C8D6F92DB193}"/>
                  </a:ext>
                </a:extLst>
              </p:cNvPr>
              <p:cNvSpPr txBox="1"/>
              <p:nvPr/>
            </p:nvSpPr>
            <p:spPr>
              <a:xfrm>
                <a:off x="4559300" y="4495800"/>
                <a:ext cx="3073400" cy="47038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𝐹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𝑈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,  </a:t>
                </a:r>
                <a14:m>
                  <m:oMath xmlns:m="http://schemas.openxmlformats.org/officeDocument/2006/math">
                    <m:r>
                      <a:rPr>
                        <a:latin typeface="Cambria Math" panose="02040503050406030204" pitchFamily="18" charset="0"/>
                      </a:rPr>
                      <m:t>𝐺</m:t>
                    </m:r>
                    <m:r>
                      <a:rPr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sSub>
                          <m:sSub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>
                                <a:latin typeface="Cambria Math" panose="02040503050406030204" pitchFamily="18" charset="0"/>
                              </a:rPr>
                              <m:t>𝑐</m:t>
                            </m:r>
                          </m:sub>
                        </m:sSub>
                      </m:e>
                      <m:sup>
                        <m:f>
                          <m:fPr>
                            <m:ctrlPr>
                              <a:rPr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𝑉</m:t>
                    </m:r>
                    <m:sSub>
                      <m:sSub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en-US" sz="14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.</a:t>
                </a: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3B47A93-EC37-E544-B33F-C8D6F92DB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4495800"/>
                <a:ext cx="3073400" cy="470385"/>
              </a:xfrm>
              <a:prstGeom prst="rect">
                <a:avLst/>
              </a:prstGeom>
              <a:blipFill>
                <a:blip r:embed="rId5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7CE7D2C7-BEE7-B144-800B-64746D381236}"/>
              </a:ext>
            </a:extLst>
          </p:cNvPr>
          <p:cNvSpPr/>
          <p:nvPr/>
        </p:nvSpPr>
        <p:spPr>
          <a:xfrm>
            <a:off x="8001000" y="3759200"/>
            <a:ext cx="3429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D8D2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0A9A636-F2C9-9248-A91C-EF32DD63617A}"/>
              </a:ext>
            </a:extLst>
          </p:cNvPr>
          <p:cNvSpPr/>
          <p:nvPr/>
        </p:nvSpPr>
        <p:spPr>
          <a:xfrm>
            <a:off x="8178800" y="3937000"/>
            <a:ext cx="431800" cy="431800"/>
          </a:xfrm>
          <a:prstGeom prst="ellipse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B6BABD4-473C-0744-A2CE-C91E40A8A05A}"/>
              </a:ext>
            </a:extLst>
          </p:cNvPr>
          <p:cNvSpPr txBox="1"/>
          <p:nvPr/>
        </p:nvSpPr>
        <p:spPr>
          <a:xfrm>
            <a:off x="8712200" y="3962400"/>
            <a:ext cx="2565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Plot &amp; diagnose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9D518C5-6156-4B45-9EF7-F707566B68C1}"/>
              </a:ext>
            </a:extLst>
          </p:cNvPr>
          <p:cNvSpPr txBox="1"/>
          <p:nvPr/>
        </p:nvSpPr>
        <p:spPr>
          <a:xfrm>
            <a:off x="8178800" y="4495800"/>
            <a:ext cx="3073400" cy="1066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  <a:latin typeface="Cambria Math"/>
                <a:ea typeface="Cambria Math"/>
              </a:rPr>
              <a:t>Plot dims 1–2; report contributions &amp; cos² quality.</a:t>
            </a:r>
          </a:p>
        </p:txBody>
      </p:sp>
    </p:spTree>
    <p:extLst>
      <p:ext uri="{BB962C8B-B14F-4D97-AF65-F5344CB8AC3E}">
        <p14:creationId xmlns:p14="http://schemas.microsoft.com/office/powerpoint/2010/main" val="13050749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F91961F-A398-6D43-98EA-80B8161D3B9F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A5C8EC5-B8C5-FE4E-82D8-1803C4C54CFD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1: Table &amp; Masses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CC6AA41-7A1D-5E4E-9C54-B3CD7E1B0BB8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1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1S1A"/>
              <p:cNvSpPr/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Contingency table  N   (Hair × Eye)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𝑁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rows = Fair, Dark · columns = Blue, Brown · totals 40/60, grand total n = 100</a:t>
                </a:r>
              </a:p>
            </p:txBody>
          </p:sp>
        </mc:Choice>
        <mc:Fallback>
          <p:sp>
            <p:nvSpPr>
              <p:cNvPr id="160" name="CA1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A1S1B"/>
              <p:cNvSpPr/>
              <p:nvPr/>
            </p:nvSpPr>
            <p:spPr>
              <a:xfrm>
                <a:off x="762000" y="3378200"/>
                <a:ext cx="10668000" cy="14986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Correspondence matrix  P = N / 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𝑃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0.30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0.10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0.10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0.50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CA1S1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78200"/>
                <a:ext cx="10668000" cy="14986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CA1S1C"/>
              <p:cNvSpPr/>
              <p:nvPr/>
            </p:nvSpPr>
            <p:spPr>
              <a:xfrm>
                <a:off x="762000" y="49784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Masses (margins of P)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𝑟</m:t>
                      </m:r>
                      <m:r>
                        <a:rPr sz="1600">
                          <a:latin typeface="Cambria Math"/>
                        </a:rPr>
                        <m:t> = (0.40, 0.60)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𝑐</m:t>
                      </m:r>
                      <m:r>
                        <a:rPr sz="1600">
                          <a:latin typeface="Cambria Math"/>
                        </a:rPr>
                        <m:t> = (0.40, 0.60)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CA1S1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9784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12074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2: Expected Counts &amp; χ²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2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1S2A"/>
              <p:cNvSpPr/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Expected counts under independence   Eᵢⱼ = (rowᵢ · colⱼ) / 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𝐸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16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24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24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36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e.g.  E₁₁ = 40·40 / 100 = 16,   E₂₂ = 60·60 / 100 = 36</a:t>
                </a:r>
              </a:p>
            </p:txBody>
          </p:sp>
        </mc:Choice>
        <mc:Fallback>
          <p:sp>
            <p:nvSpPr>
              <p:cNvPr id="160" name="CA1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A1S2B"/>
              <p:cNvSpPr/>
              <p:nvPr/>
            </p:nvSpPr>
            <p:spPr>
              <a:xfrm>
                <a:off x="762000" y="3454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Chi-square statistic   χ² = Σ (O − E)² / 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500">
                          <a:latin typeface="Cambria Math"/>
                        </a:rPr>
                        <m:t>𝜒</m:t>
                      </m:r>
                      <m:r>
                        <a:rPr sz="1500">
                          <a:latin typeface="Cambria Math"/>
                        </a:rPr>
                        <m:t>² = (30−16)²/16 + (10−24)²/24 + (10−24)²/24 + (50−36)²/36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= 12.25 + 8.17 + 8.17 + 5.44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CA1S2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54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A1S2C"/>
          <p:cNvSpPr/>
          <p:nvPr/>
        </p:nvSpPr>
        <p:spPr>
          <a:xfrm>
            <a:off x="762000" y="5511800"/>
            <a:ext cx="10668000" cy="939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Result</a:t>
            </a:r>
          </a:p>
          <a:p>
            <a:pPr algn="ctr"/>
            <a:r>
              <a:rPr lang="en-US" sz="1900" b="1">
                <a:solidFill>
                  <a:srgbClr val="7AB648"/>
                </a:solidFill>
              </a:rPr>
              <a:t>χ² = 34.03</a:t>
            </a:r>
          </a:p>
        </p:txBody>
      </p:sp>
    </p:spTree>
    <p:extLst>
      <p:ext uri="{BB962C8B-B14F-4D97-AF65-F5344CB8AC3E}">
        <p14:creationId xmlns:p14="http://schemas.microsoft.com/office/powerpoint/2010/main" val="33598179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3: Total Inertia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3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1S3A"/>
              <p:cNvSpPr/>
              <p:nvPr/>
            </p:nvSpPr>
            <p:spPr>
              <a:xfrm>
                <a:off x="762000" y="1701800"/>
                <a:ext cx="10668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Total inertia  =  χ² / 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>
                          <a:latin typeface="Cambria Math"/>
                        </a:rPr>
                        <m:t>𝛷</m:t>
                      </m:r>
                      <m:r>
                        <a:rPr sz="1700">
                          <a:latin typeface="Cambria Math"/>
                        </a:rPr>
                        <m:t>² = </m:t>
                      </m:r>
                      <m:r>
                        <a:rPr sz="1700">
                          <a:latin typeface="Cambria Math"/>
                        </a:rPr>
                        <m:t>𝜒</m:t>
                      </m:r>
                      <m:r>
                        <a:rPr sz="1700">
                          <a:latin typeface="Cambria Math"/>
                        </a:rPr>
                        <m:t>² / </m:t>
                      </m:r>
                      <m:r>
                        <a:rPr sz="1700">
                          <a:latin typeface="Cambria Math"/>
                        </a:rPr>
                        <m:t>𝑛</m:t>
                      </m:r>
                      <m:r>
                        <a:rPr sz="1700">
                          <a:latin typeface="Cambria Math"/>
                        </a:rPr>
                        <m:t> = 34.03 / 100 = 0.3403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CA1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A1S3B"/>
              <p:cNvSpPr/>
              <p:nvPr/>
            </p:nvSpPr>
            <p:spPr>
              <a:xfrm>
                <a:off x="762000" y="3200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How many dimensions?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𝐾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>
                          <a:latin typeface="Cambria Math"/>
                        </a:rPr>
                        <m:t>𝑚𝑖𝑛</m:t>
                      </m:r>
                      <m:r>
                        <a:rPr sz="1600">
                          <a:latin typeface="Cambria Math"/>
                        </a:rPr>
                        <m:t>(</m:t>
                      </m:r>
                      <m:r>
                        <a:rPr sz="1600">
                          <a:latin typeface="Cambria Math"/>
                        </a:rPr>
                        <m:t>𝐼</m:t>
                      </m:r>
                      <m:r>
                        <a:rPr sz="1600">
                          <a:latin typeface="Cambria Math"/>
                        </a:rPr>
                        <m:t> − 1, </m:t>
                      </m:r>
                      <m:r>
                        <a:rPr sz="1600">
                          <a:latin typeface="Cambria Math"/>
                        </a:rPr>
                        <m:t>𝐽</m:t>
                      </m:r>
                      <m:r>
                        <a:rPr sz="1600">
                          <a:latin typeface="Cambria Math"/>
                        </a:rPr>
                        <m:t> − 1) = </m:t>
                      </m:r>
                      <m:r>
                        <a:rPr sz="1600">
                          <a:latin typeface="Cambria Math"/>
                        </a:rPr>
                        <m:t>𝑚𝑖𝑛</m:t>
                      </m:r>
                      <m:r>
                        <a:rPr sz="1600">
                          <a:latin typeface="Cambria Math"/>
                        </a:rPr>
                        <m:t>(1, 1) = 1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a 2×2 table needs only one axis — it captures 100% of the inertia</a:t>
                </a:r>
              </a:p>
            </p:txBody>
          </p:sp>
        </mc:Choice>
        <mc:Fallback>
          <p:sp>
            <p:nvSpPr>
              <p:cNvPr id="161" name="CA1S3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200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A1S3C"/>
          <p:cNvSpPr/>
          <p:nvPr/>
        </p:nvSpPr>
        <p:spPr>
          <a:xfrm>
            <a:off x="762000" y="5334000"/>
            <a:ext cx="10668000" cy="10922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endParaRPr/>
          </a:p>
        </p:txBody>
      </p:sp>
    </p:spTree>
    <p:extLst>
      <p:ext uri="{BB962C8B-B14F-4D97-AF65-F5344CB8AC3E}">
        <p14:creationId xmlns:p14="http://schemas.microsoft.com/office/powerpoint/2010/main" val="322817859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4: Standardized Residuals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4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1S4A"/>
              <p:cNvSpPr/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Standardized residual  Sᵢⱼ = (pᵢⱼ − rᵢcⱼ) / √(rᵢcⱼ)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𝑟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r>
                        <a:rPr sz="1600">
                          <a:latin typeface="Cambria Math"/>
                        </a:rPr>
                        <m:t>𝑐</m:t>
                      </m:r>
                      <m:r>
                        <a:rPr sz="1600">
                          <a:latin typeface="Cambria Math"/>
                        </a:rPr>
                        <m:t>ᵀ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0.16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0.24</m:t>
                                </m:r>
                              </m:e>
                            </m:mr>
                            <m:mr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0.24</m:t>
                                </m:r>
                              </m:e>
                              <m:e>
                                <m:r>
                                  <a:rPr sz="1500">
                                    <a:latin typeface="Cambria Math"/>
                                  </a:rPr>
                                  <m:t>0.36</m:t>
                                </m:r>
                              </m:e>
                            </m:mr>
                          </m:m>
                        </m:e>
                      </m:d>
                      <m:r>
                        <a:rPr sz="1400">
                          <a:latin typeface="Cambria Math"/>
                        </a:rPr>
                        <m:t>    (</m:t>
                      </m:r>
                      <m:r>
                        <a:rPr sz="1400">
                          <a:latin typeface="Cambria Math"/>
                        </a:rPr>
                        <m:t>𝑡h𝑒</m:t>
                      </m:r>
                      <m:r>
                        <a:rPr sz="1400">
                          <a:latin typeface="Cambria Math"/>
                        </a:rPr>
                        <m:t> </m:t>
                      </m:r>
                      <m:r>
                        <a:rPr sz="1400">
                          <a:latin typeface="Cambria Math"/>
                        </a:rPr>
                        <m:t>𝑖𝑛𝑑𝑒𝑝𝑒𝑛𝑑𝑒𝑛𝑐𝑒</m:t>
                      </m:r>
                      <m:r>
                        <a:rPr sz="1400">
                          <a:latin typeface="Cambria Math"/>
                        </a:rPr>
                        <m:t> </m:t>
                      </m:r>
                      <m:r>
                        <a:rPr sz="1400">
                          <a:latin typeface="Cambria Math"/>
                        </a:rPr>
                        <m:t>𝑚𝑜𝑑𝑒𝑙</m:t>
                      </m:r>
                      <m:r>
                        <a:rPr sz="14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CA1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A1S4B"/>
              <p:cNvSpPr/>
              <p:nvPr/>
            </p:nvSpPr>
            <p:spPr>
              <a:xfrm>
                <a:off x="762000" y="3454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Compute each entry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𝑆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0.350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−0.286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−0.286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0.233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e.g.  S₁₁ = (0.30 − 0.16) / √0.16 = 0.14 / 0.40 = 0.350</a:t>
                </a:r>
              </a:p>
            </p:txBody>
          </p:sp>
        </mc:Choice>
        <mc:Fallback>
          <p:sp>
            <p:nvSpPr>
              <p:cNvPr id="161" name="CA1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54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A1S4C"/>
          <p:cNvSpPr/>
          <p:nvPr/>
        </p:nvSpPr>
        <p:spPr>
          <a:xfrm>
            <a:off x="762000" y="5511800"/>
            <a:ext cx="10668000" cy="939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Check</a:t>
            </a:r>
          </a:p>
          <a:p>
            <a:pPr algn="ctr"/>
            <a:r>
              <a:rPr lang="en-US" sz="1600" b="1">
                <a:solidFill>
                  <a:srgbClr val="7AB648"/>
                </a:solidFill>
              </a:rPr>
              <a:t>Σ Sᵢⱼ² = 0.350² + 0.286² + 0.286² + 0.233² = 0.340 = Φ²   ✓</a:t>
            </a:r>
          </a:p>
        </p:txBody>
      </p:sp>
    </p:spTree>
    <p:extLst>
      <p:ext uri="{BB962C8B-B14F-4D97-AF65-F5344CB8AC3E}">
        <p14:creationId xmlns:p14="http://schemas.microsoft.com/office/powerpoint/2010/main" val="34384361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5: Coordinates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5 /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1S5A"/>
              <p:cNvSpPr/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One axis from the SVD of S   (S = α₁ u₁ v₁ᵀ)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𝛼</m:t>
                      </m:r>
                      <m:r>
                        <a:rPr sz="1600">
                          <a:latin typeface="Cambria Math"/>
                        </a:rPr>
                        <m:t>₁ = √0.340 = 0.583     →     </m:t>
                      </m:r>
                      <m:r>
                        <a:rPr sz="1600">
                          <a:latin typeface="Cambria Math"/>
                        </a:rPr>
                        <m:t>𝑝𝑟𝑖𝑛𝑐𝑖𝑝𝑎𝑙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r>
                        <a:rPr sz="1600">
                          <a:latin typeface="Cambria Math"/>
                        </a:rPr>
                        <m:t>𝑐𝑜𝑜𝑟𝑑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r>
                        <a:rPr sz="1600">
                          <a:latin typeface="Cambria Math"/>
                        </a:rPr>
                        <m:t>𝛼</m:t>
                      </m:r>
                      <m:r>
                        <a:rPr sz="1600">
                          <a:latin typeface="Cambria Math"/>
                        </a:rPr>
                        <m:t>₁ × (</m:t>
                      </m:r>
                      <m:r>
                        <a:rPr sz="1600">
                          <a:latin typeface="Cambria Math"/>
                        </a:rPr>
                        <m:t>𝑠𝑡𝑎𝑛𝑑𝑎𝑟𝑑</m:t>
                      </m:r>
                      <m:r>
                        <a:rPr sz="1600">
                          <a:latin typeface="Cambria Math"/>
                        </a:rPr>
                        <m:t> </m:t>
                      </m:r>
                      <m:r>
                        <a:rPr sz="1600">
                          <a:latin typeface="Cambria Math"/>
                        </a:rPr>
                        <m:t>𝑐𝑜𝑜𝑟𝑑</m:t>
                      </m:r>
                      <m:r>
                        <a:rPr sz="160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S has rank 1, so a single axis reproduces it exactly</a:t>
                </a:r>
              </a:p>
            </p:txBody>
          </p:sp>
        </mc:Choice>
        <mc:Fallback>
          <p:sp>
            <p:nvSpPr>
              <p:cNvPr id="160" name="CA1S5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A1S5B"/>
          <p:cNvSpPr/>
          <p:nvPr/>
        </p:nvSpPr>
        <p:spPr>
          <a:xfrm>
            <a:off x="762000" y="3454400"/>
            <a:ext cx="10668000" cy="1778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Principal coordinates on dimension 1</a:t>
            </a:r>
          </a:p>
          <a:p>
            <a:pPr algn="ctr"/>
            <a:r>
              <a:rPr lang="en-US" sz="1700" b="1">
                <a:solidFill>
                  <a:srgbClr val="4B2E83"/>
                </a:solidFill>
              </a:rPr>
              <a:t>Rows:    Fair = +0.714        Dark = −0.476</a:t>
            </a:r>
          </a:p>
          <a:p>
            <a:pPr algn="ctr"/>
            <a:r>
              <a:rPr lang="en-US" sz="1700" b="1">
                <a:solidFill>
                  <a:srgbClr val="D1578A"/>
                </a:solidFill>
              </a:rPr>
              <a:t>Columns:    Blue = +0.714        Brown = −0.476</a:t>
            </a:r>
          </a:p>
        </p:txBody>
      </p:sp>
      <p:sp>
        <p:nvSpPr>
          <p:cNvPr id="162" name="CA1S5C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Sanity checks</a:t>
            </a:r>
          </a:p>
          <a:p>
            <a:pPr algn="ctr"/>
            <a:r>
              <a:rPr lang="en-US" sz="1450" b="0">
                <a:solidFill>
                  <a:srgbClr val="333333"/>
                </a:solidFill>
              </a:rPr>
              <a:t>weighted mean = 0.4(+0.714) + 0.6(−0.476) = 0   ✓      inertia = 0.4(0.714²) + 0.6(0.476²) = 0.340 = λ₁   ✓</a:t>
            </a:r>
          </a:p>
        </p:txBody>
      </p:sp>
    </p:spTree>
    <p:extLst>
      <p:ext uri="{BB962C8B-B14F-4D97-AF65-F5344CB8AC3E}">
        <p14:creationId xmlns:p14="http://schemas.microsoft.com/office/powerpoint/2010/main" val="11252318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858EFC5-D6A6-844B-A5CE-EA9A890B2B5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D5C604-96E6-944F-8691-7C912FA39729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1 — Step 6: The Map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C37D0ED-DCE5-3D4D-98D7-57EAFC96FB6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1 · 6 / 6</a:t>
            </a:r>
          </a:p>
        </p:txBody>
      </p:sp>
      <p:sp>
        <p:nvSpPr>
          <p:cNvPr id="160" name="CA1S6A"/>
          <p:cNvSpPr/>
          <p:nvPr/>
        </p:nvSpPr>
        <p:spPr>
          <a:xfrm>
            <a:off x="762000" y="1676400"/>
            <a:ext cx="10668000" cy="13208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4B2E83"/>
                </a:solidFill>
              </a:rPr>
              <a:t>Dimension 1 explains 100% of the inertia</a:t>
            </a:r>
          </a:p>
          <a:p>
            <a:pPr algn="l">
              <a:spcBef>
                <a:spcPts val="300"/>
              </a:spcBef>
            </a:pPr>
            <a:endParaRPr lang="en-US" sz="1400" b="1">
              <a:solidFill>
                <a:srgbClr val="4B2E83"/>
              </a:solidFill>
            </a:endParaRPr>
          </a:p>
        </p:txBody>
      </p:sp>
      <p:sp>
        <p:nvSpPr>
          <p:cNvPr id="170" name="MapBg"/>
          <p:cNvSpPr/>
          <p:nvPr/>
        </p:nvSpPr>
        <p:spPr>
          <a:xfrm>
            <a:off x="762000" y="3175000"/>
            <a:ext cx="10668000" cy="3276600"/>
          </a:xfrm>
          <a:prstGeom prst="roundRect">
            <a:avLst>
              <a:gd name="adj" fmla="val 3000"/>
            </a:avLst>
          </a:prstGeom>
          <a:solidFill>
            <a:srgbClr val="FBFAF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1" name="t171"/>
          <p:cNvSpPr txBox="1"/>
          <p:nvPr/>
        </p:nvSpPr>
        <p:spPr>
          <a:xfrm>
            <a:off x="1016000" y="3276600"/>
            <a:ext cx="6350000" cy="254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l"/>
            <a:r>
              <a:rPr lang="en-US" sz="1300" b="0">
                <a:solidFill>
                  <a:srgbClr val="85754D"/>
                </a:solidFill>
              </a:rPr>
              <a:t>rows = hair (purple)   ·   columns = eye (pink)</a:t>
            </a:r>
          </a:p>
        </p:txBody>
      </p:sp>
      <p:cxnSp>
        <p:nvCxnSpPr>
          <p:cNvPr id="172" name="ln172"/>
          <p:cNvCxnSpPr/>
          <p:nvPr/>
        </p:nvCxnSpPr>
        <p:spPr>
          <a:xfrm>
            <a:off x="2349500" y="4876800"/>
            <a:ext cx="7302500" cy="0"/>
          </a:xfrm>
          <a:prstGeom prst="straightConnector1">
            <a:avLst/>
          </a:prstGeom>
          <a:ln w="12700">
            <a:solidFill>
              <a:srgbClr val="9A9A9A"/>
            </a:solidFill>
            <a:headEnd type="triangle" w="med" len="med"/>
            <a:tailEnd type="triangle" w="med" len="med"/>
          </a:ln>
        </p:spPr>
      </p:cxnSp>
      <p:cxnSp>
        <p:nvCxnSpPr>
          <p:cNvPr id="173" name="ln173"/>
          <p:cNvCxnSpPr/>
          <p:nvPr/>
        </p:nvCxnSpPr>
        <p:spPr>
          <a:xfrm>
            <a:off x="5969000" y="4775200"/>
            <a:ext cx="0" cy="203200"/>
          </a:xfrm>
          <a:prstGeom prst="straightConnector1">
            <a:avLst/>
          </a:prstGeom>
          <a:ln w="9525">
            <a:solidFill>
              <a:srgbClr val="9A9A9A"/>
            </a:solidFill>
          </a:ln>
        </p:spPr>
      </p:cxnSp>
      <p:sp>
        <p:nvSpPr>
          <p:cNvPr id="174" name="t174"/>
          <p:cNvSpPr txBox="1"/>
          <p:nvPr/>
        </p:nvSpPr>
        <p:spPr>
          <a:xfrm>
            <a:off x="5765800" y="4927600"/>
            <a:ext cx="304800" cy="2032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200" b="0">
                <a:solidFill>
                  <a:srgbClr val="7A7A7A"/>
                </a:solidFill>
              </a:rPr>
              <a:t>0</a:t>
            </a:r>
          </a:p>
        </p:txBody>
      </p:sp>
      <p:sp>
        <p:nvSpPr>
          <p:cNvPr id="180" name="dot180"/>
          <p:cNvSpPr/>
          <p:nvPr/>
        </p:nvSpPr>
        <p:spPr>
          <a:xfrm>
            <a:off x="9144000" y="4381500"/>
            <a:ext cx="177800" cy="1778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1" name="t181"/>
          <p:cNvSpPr txBox="1"/>
          <p:nvPr/>
        </p:nvSpPr>
        <p:spPr>
          <a:xfrm>
            <a:off x="8470900" y="4089400"/>
            <a:ext cx="152400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4B2E83"/>
                </a:solidFill>
              </a:rPr>
              <a:t>Fair  +0.71</a:t>
            </a:r>
          </a:p>
        </p:txBody>
      </p:sp>
      <p:sp>
        <p:nvSpPr>
          <p:cNvPr id="182" name="dot182"/>
          <p:cNvSpPr/>
          <p:nvPr/>
        </p:nvSpPr>
        <p:spPr>
          <a:xfrm>
            <a:off x="3708400" y="4381500"/>
            <a:ext cx="177800" cy="177800"/>
          </a:xfrm>
          <a:prstGeom prst="ellipse">
            <a:avLst/>
          </a:prstGeom>
          <a:solidFill>
            <a:srgbClr val="4B2E83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3" name="t183"/>
          <p:cNvSpPr txBox="1"/>
          <p:nvPr/>
        </p:nvSpPr>
        <p:spPr>
          <a:xfrm>
            <a:off x="3035300" y="4089400"/>
            <a:ext cx="152400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4B2E83"/>
                </a:solidFill>
              </a:rPr>
              <a:t>Dark  −0.48</a:t>
            </a:r>
          </a:p>
        </p:txBody>
      </p:sp>
      <p:sp>
        <p:nvSpPr>
          <p:cNvPr id="184" name="dot184"/>
          <p:cNvSpPr/>
          <p:nvPr/>
        </p:nvSpPr>
        <p:spPr>
          <a:xfrm>
            <a:off x="9144000" y="5194300"/>
            <a:ext cx="177800" cy="177800"/>
          </a:xfrm>
          <a:prstGeom prst="ellipse">
            <a:avLst/>
          </a:prstGeom>
          <a:solidFill>
            <a:srgbClr val="D1578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5" name="t185"/>
          <p:cNvSpPr txBox="1"/>
          <p:nvPr/>
        </p:nvSpPr>
        <p:spPr>
          <a:xfrm>
            <a:off x="8470900" y="5384800"/>
            <a:ext cx="152400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D1578A"/>
                </a:solidFill>
              </a:rPr>
              <a:t>Blue  +0.71</a:t>
            </a:r>
          </a:p>
        </p:txBody>
      </p:sp>
      <p:sp>
        <p:nvSpPr>
          <p:cNvPr id="186" name="dot186"/>
          <p:cNvSpPr/>
          <p:nvPr/>
        </p:nvSpPr>
        <p:spPr>
          <a:xfrm>
            <a:off x="3708400" y="5194300"/>
            <a:ext cx="177800" cy="177800"/>
          </a:xfrm>
          <a:prstGeom prst="ellipse">
            <a:avLst/>
          </a:prstGeom>
          <a:solidFill>
            <a:srgbClr val="D1578A"/>
          </a:solidFill>
          <a:ln w="12700">
            <a:solidFill>
              <a:srgbClr val="FFFFFF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7" name="t187"/>
          <p:cNvSpPr txBox="1"/>
          <p:nvPr/>
        </p:nvSpPr>
        <p:spPr>
          <a:xfrm>
            <a:off x="3035300" y="5384800"/>
            <a:ext cx="1524000" cy="2286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D1578A"/>
                </a:solidFill>
              </a:rPr>
              <a:t>Brown  −0.48</a:t>
            </a:r>
          </a:p>
        </p:txBody>
      </p:sp>
      <p:sp>
        <p:nvSpPr>
          <p:cNvPr id="190" name="t190"/>
          <p:cNvSpPr txBox="1"/>
          <p:nvPr/>
        </p:nvSpPr>
        <p:spPr>
          <a:xfrm>
            <a:off x="3810000" y="5969000"/>
            <a:ext cx="4572000" cy="254000"/>
          </a:xfrm>
          <a:prstGeom prst="rect">
            <a:avLst/>
          </a:prstGeom>
          <a:noFill/>
        </p:spPr>
        <p:txBody>
          <a:bodyPr lIns="0" tIns="0" rIns="0" bIns="0" anchor="ctr"/>
          <a:lstStyle/>
          <a:p>
            <a:pPr algn="ctr"/>
            <a:r>
              <a:rPr lang="en-US" sz="1400" b="1">
                <a:solidFill>
                  <a:srgbClr val="333333"/>
                </a:solidFill>
              </a:rPr>
              <a:t>Dimension 1  —  100% of inertia</a:t>
            </a:r>
          </a:p>
        </p:txBody>
      </p:sp>
    </p:spTree>
    <p:extLst>
      <p:ext uri="{BB962C8B-B14F-4D97-AF65-F5344CB8AC3E}">
        <p14:creationId xmlns:p14="http://schemas.microsoft.com/office/powerpoint/2010/main" val="176643099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1: Table &amp; Row Profiles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1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2S1A"/>
              <p:cNvSpPr/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Contingency table  N   (2 rows × 3 columns A, B, C)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𝑁</m:t>
                      </m:r>
                      <m:r>
                        <a:rPr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50</m:t>
                                </m:r>
                              </m:e>
                            </m:mr>
                            <m:mr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40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30</m:t>
                                </m:r>
                              </m:e>
                              <m:e>
                                <m:r>
                                  <a:rPr sz="1600">
                                    <a:latin typeface="Cambria Math"/>
                                  </a:rPr>
                                  <m:t>30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row totals 100, 100 · column totals 60, 60, 80 · grand total n = 200</a:t>
                </a:r>
              </a:p>
            </p:txBody>
          </p:sp>
        </mc:Choice>
        <mc:Fallback>
          <p:sp>
            <p:nvSpPr>
              <p:cNvPr id="160" name="CA2S1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A2S1B"/>
              <p:cNvSpPr/>
              <p:nvPr/>
            </p:nvSpPr>
            <p:spPr>
              <a:xfrm>
                <a:off x="762000" y="3378200"/>
                <a:ext cx="10668000" cy="1778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Row profiles  (each row ÷ its total)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50">
                          <a:latin typeface="Cambria Math"/>
                        </a:rPr>
                        <m:t>𝑝𝑟𝑜𝑓𝑖𝑙𝑒</m:t>
                      </m:r>
                      <m:r>
                        <a:rPr sz="1650">
                          <a:latin typeface="Cambria Math"/>
                        </a:rPr>
                        <m:t>₁ = (0.20, 0.30, 0.50)</m:t>
                      </m:r>
                    </m:oMath>
                  </m:oMathPara>
                </a14:m>
                <a:endParaRPr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50">
                          <a:latin typeface="Cambria Math"/>
                        </a:rPr>
                        <m:t>𝑝𝑟𝑜𝑓𝑖𝑙𝑒</m:t>
                      </m:r>
                      <m:r>
                        <a:rPr sz="1650">
                          <a:latin typeface="Cambria Math"/>
                        </a:rPr>
                        <m:t>₂ = (0.40, 0.30, 0.30)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CA2S1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78200"/>
                <a:ext cx="10668000" cy="1778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2" name="CA2S1C"/>
              <p:cNvSpPr/>
              <p:nvPr/>
            </p:nvSpPr>
            <p:spPr>
              <a:xfrm>
                <a:off x="762000" y="5257800"/>
                <a:ext cx="10668000" cy="1193800"/>
              </a:xfrm>
              <a:prstGeom prst="roundRect">
                <a:avLst>
                  <a:gd name="adj" fmla="val 4000"/>
                </a:avLst>
              </a:prstGeom>
              <a:solidFill>
                <a:srgbClr val="F7F3EC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85754D"/>
                    </a:solidFill>
                  </a:rPr>
                  <a:t>3 · Column masses  (column total ÷ n)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700" i="1">
                          <a:latin typeface="Cambria Math"/>
                        </a:rPr>
                        <m:t>𝑐</m:t>
                      </m:r>
                      <m:r>
                        <a:rPr sz="1650">
                          <a:latin typeface="Cambria Math"/>
                        </a:rPr>
                        <m:t> = (0.30, 0.30, 0.40)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2" name="CA2S1C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5257800"/>
                <a:ext cx="10668000" cy="1193800"/>
              </a:xfrm>
              <a:prstGeom prst="roundRect">
                <a:avLst>
                  <a:gd name="adj" fmla="val 4000"/>
                </a:avLst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0551999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2: Profile Difference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2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2S2A"/>
              <p:cNvSpPr/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55000" rIns="110000" bIns="45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Subtract the two row profiles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50">
                          <a:latin typeface="Cambria Math"/>
                        </a:rPr>
                        <m:t>𝑝𝑟𝑜𝑓𝑖𝑙𝑒</m:t>
                      </m:r>
                      <m:r>
                        <a:rPr sz="1650">
                          <a:latin typeface="Cambria Math"/>
                        </a:rPr>
                        <m:t>₁ − </m:t>
                      </m:r>
                      <m:r>
                        <a:rPr sz="1650">
                          <a:latin typeface="Cambria Math"/>
                        </a:rPr>
                        <m:t>𝑝𝑟𝑜𝑓𝑖𝑙𝑒</m:t>
                      </m:r>
                      <m:r>
                        <a:rPr sz="1650">
                          <a:latin typeface="Cambria Math"/>
                        </a:rPr>
                        <m:t>₂ = (0.20, 0.30, 0.50) − (0.40, 0.30, 0.30)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CA2S2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A2S2B"/>
          <p:cNvSpPr/>
          <p:nvPr/>
        </p:nvSpPr>
        <p:spPr>
          <a:xfrm>
            <a:off x="762000" y="3327400"/>
            <a:ext cx="10668000" cy="14224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Difference vector</a:t>
            </a:r>
          </a:p>
          <a:p>
            <a:pPr algn="ctr"/>
            <a:r>
              <a:rPr lang="en-US" sz="1900" b="1">
                <a:solidFill>
                  <a:srgbClr val="7AB648"/>
                </a:solidFill>
              </a:rPr>
              <a:t>= ( −0.20,   0,   +0.20 )</a:t>
            </a:r>
          </a:p>
        </p:txBody>
      </p:sp>
      <p:sp>
        <p:nvSpPr>
          <p:cNvPr id="162" name="CA2S2C"/>
          <p:cNvSpPr/>
          <p:nvPr/>
        </p:nvSpPr>
        <p:spPr>
          <a:xfrm>
            <a:off x="762000" y="4902200"/>
            <a:ext cx="10668000" cy="15494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Read it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The rows differ on categories A and C (by ∓0.20) and match exactly on B.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The χ² distance will weight each gap by 1 / cⱼ.</a:t>
            </a:r>
          </a:p>
        </p:txBody>
      </p:sp>
    </p:spTree>
    <p:extLst>
      <p:ext uri="{BB962C8B-B14F-4D97-AF65-F5344CB8AC3E}">
        <p14:creationId xmlns:p14="http://schemas.microsoft.com/office/powerpoint/2010/main" val="7526641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3: The χ² Distance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3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2S3A"/>
              <p:cNvSpPr/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10000" tIns="55000" rIns="110000" bIns="45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χ²-distance between two row profiles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700" i="1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700">
                          <a:latin typeface="Cambria Math"/>
                        </a:rPr>
                        <m:t>(1, 2) = </m:t>
                      </m:r>
                      <m:r>
                        <a:rPr sz="1800">
                          <a:latin typeface="Cambria Math"/>
                        </a:rPr>
                        <m:t>∑</m:t>
                      </m:r>
                      <m:r>
                        <a:rPr sz="1300" i="1">
                          <a:latin typeface="Cambria Math"/>
                        </a:rPr>
                        <m:t>ⱼ</m:t>
                      </m:r>
                      <m:r>
                        <a:rPr sz="1600">
                          <a:latin typeface="Cambria Math"/>
                        </a:rPr>
                        <m:t> 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sz="145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a:rPr sz="1200">
                                      <a:latin typeface="Cambria Math"/>
                                    </a:rPr>
                                    <m:t>₁ⱼ</m:t>
                                  </m:r>
                                  <m:r>
                                    <a:rPr sz="1450">
                                      <a:latin typeface="Cambria Math"/>
                                    </a:rPr>
                                    <m:t>/</m:t>
                                  </m:r>
                                  <m:r>
                                    <a:rPr sz="1450" i="1">
                                      <a:latin typeface="Cambria Math"/>
                                    </a:rPr>
                                    <m:t>𝑟</m:t>
                                  </m:r>
                                  <m:r>
                                    <a:rPr sz="1200">
                                      <a:latin typeface="Cambria Math"/>
                                    </a:rPr>
                                    <m:t>₁</m:t>
                                  </m:r>
                                  <m:r>
                                    <a:rPr sz="1450">
                                      <a:latin typeface="Cambria Math"/>
                                    </a:rPr>
                                    <m:t> − </m:t>
                                  </m:r>
                                  <m:r>
                                    <a:rPr sz="1450" i="1">
                                      <a:latin typeface="Cambria Math"/>
                                    </a:rPr>
                                    <m:t>𝑝</m:t>
                                  </m:r>
                                  <m:r>
                                    <a:rPr sz="1200">
                                      <a:latin typeface="Cambria Math"/>
                                    </a:rPr>
                                    <m:t>₂ⱼ</m:t>
                                  </m:r>
                                  <m:r>
                                    <a:rPr sz="1450">
                                      <a:latin typeface="Cambria Math"/>
                                    </a:rPr>
                                    <m:t>/</m:t>
                                  </m:r>
                                  <m:r>
                                    <a:rPr sz="1450" i="1">
                                      <a:latin typeface="Cambria Math"/>
                                    </a:rPr>
                                    <m:t>𝑟</m:t>
                                  </m:r>
                                  <m:r>
                                    <a:rPr sz="1200">
                                      <a:latin typeface="Cambria Math"/>
                                    </a:rPr>
                                    <m:t>₂</m:t>
                                  </m:r>
                                </m:e>
                              </m:d>
                            </m:e>
                            <m:sup>
                              <m:r>
                                <a:rPr sz="100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500" i="1">
                              <a:latin typeface="Cambria Math"/>
                            </a:rPr>
                            <m:t>𝑐</m:t>
                          </m:r>
                          <m:r>
                            <a:rPr sz="1500" i="1">
                              <a:latin typeface="Cambria Math"/>
                            </a:rPr>
                            <m:t>ⱼ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CA2S3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256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A2S3B"/>
          <p:cNvSpPr/>
          <p:nvPr/>
        </p:nvSpPr>
        <p:spPr>
          <a:xfrm>
            <a:off x="762000" y="3454400"/>
            <a:ext cx="10668000" cy="1778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00A7B5"/>
                </a:solidFill>
              </a:rPr>
              <a:t>2 · Why divide by cⱼ ?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Dividing each squared gap by the column mass up-weights rare columns and down-weights common ones.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This is exactly what makes the geometry χ² — not ordinary Euclidean.</a:t>
            </a:r>
          </a:p>
        </p:txBody>
      </p:sp>
      <p:sp>
        <p:nvSpPr>
          <p:cNvPr id="162" name="CA2S3C"/>
          <p:cNvSpPr/>
          <p:nvPr/>
        </p:nvSpPr>
        <p:spPr>
          <a:xfrm>
            <a:off x="762000" y="5334000"/>
            <a:ext cx="10668000" cy="1117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10000" tIns="55000" rIns="110000" bIns="45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Note</a:t>
            </a:r>
          </a:p>
          <a:p>
            <a:pPr algn="ctr"/>
            <a:r>
              <a:rPr lang="en-US" sz="1500" b="0">
                <a:solidFill>
                  <a:srgbClr val="333333"/>
                </a:solidFill>
              </a:rPr>
              <a:t>Both rows have equal total, so pᵢⱼ / rᵢ is just the row profile from Step 1.</a:t>
            </a:r>
          </a:p>
        </p:txBody>
      </p:sp>
    </p:spTree>
    <p:extLst>
      <p:ext uri="{BB962C8B-B14F-4D97-AF65-F5344CB8AC3E}">
        <p14:creationId xmlns:p14="http://schemas.microsoft.com/office/powerpoint/2010/main" val="1612875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4: Compute the Distance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4 /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A2S4A"/>
              <p:cNvSpPr/>
              <p:nvPr/>
            </p:nvSpPr>
            <p:spPr>
              <a:xfrm>
                <a:off x="762000" y="1701800"/>
                <a:ext cx="10668000" cy="1651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4B2E83"/>
                    </a:solidFill>
                  </a:rPr>
                  <a:t>1 · Plug in the difference (−0.20, 0, +0.20) and masses (0.30, 0.30, 0.40)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600" i="1">
                              <a:latin typeface="Cambria Math"/>
                            </a:rPr>
                            <m:t>𝑑</m:t>
                          </m:r>
                        </m:e>
                        <m:sup>
                          <m:r>
                            <a:rPr sz="1000"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sz="1600">
                          <a:latin typeface="Cambria Math"/>
                        </a:rPr>
                        <m:t>(1,2) =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sz="1350">
                                      <a:latin typeface="Cambria Math"/>
                                    </a:rPr>
                                    <m:t>−0.20</m:t>
                                  </m:r>
                                </m:e>
                              </m:d>
                            </m:e>
                            <m:sup>
                              <m:r>
                                <a:rPr sz="85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350">
                              <a:latin typeface="Cambria Math"/>
                            </a:rPr>
                            <m:t>0.30</m:t>
                          </m:r>
                        </m:den>
                      </m:f>
                      <m:r>
                        <a:rPr sz="1500">
                          <a:latin typeface="Cambria Math"/>
                        </a:rPr>
                        <m:t> +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1350">
                                  <a:latin typeface="Cambria Math"/>
                                </a:rPr>
                                <m:t>0</m:t>
                              </m:r>
                            </m:e>
                            <m:sup>
                              <m:r>
                                <a:rPr sz="85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350">
                              <a:latin typeface="Cambria Math"/>
                            </a:rPr>
                            <m:t>0.30</m:t>
                          </m:r>
                        </m:den>
                      </m:f>
                      <m:r>
                        <a:rPr sz="1500">
                          <a:latin typeface="Cambria Math"/>
                        </a:rPr>
                        <m:t> + 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sz="1350">
                                      <a:latin typeface="Cambria Math"/>
                                    </a:rPr>
                                    <m:t>0.20</m:t>
                                  </m:r>
                                </m:e>
                              </m:d>
                            </m:e>
                            <m:sup>
                              <m:r>
                                <a:rPr sz="850"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sz="1350">
                              <a:latin typeface="Cambria Math"/>
                            </a:rPr>
                            <m:t>0.40</m:t>
                          </m:r>
                        </m:den>
                      </m:f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0" name="CA2S4A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651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A2S4B"/>
              <p:cNvSpPr/>
              <p:nvPr/>
            </p:nvSpPr>
            <p:spPr>
              <a:xfrm>
                <a:off x="762000" y="3479800"/>
                <a:ext cx="10668000" cy="14224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00000" tIns="50000" rIns="100000" bIns="40000" anchor="ctr">
                <a:normAutofit/>
              </a:bodyPr>
              <a:lstStyle/>
              <a:p>
                <a:pPr algn="l"/>
                <a:r>
                  <a:rPr lang="en-US" sz="1400" b="1">
                    <a:solidFill>
                      <a:srgbClr val="00A7B5"/>
                    </a:solidFill>
                  </a:rPr>
                  <a:t>2 · Evaluate each term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1600">
                          <a:latin typeface="Cambria Math"/>
                        </a:rPr>
                        <m:t>= 0.04 / 0.30 + 0 + 0.04 / 0.40 = 0.1333 + 0 + 0.1000</m:t>
                      </m:r>
                    </m:oMath>
                  </m:oMathPara>
                </a14:m>
                <a:endParaRPr/>
              </a:p>
            </p:txBody>
          </p:sp>
        </mc:Choice>
        <mc:Fallback>
          <p:sp>
            <p:nvSpPr>
              <p:cNvPr id="161" name="CA2S4B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79800"/>
                <a:ext cx="10668000" cy="1422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A2S4C"/>
          <p:cNvSpPr/>
          <p:nvPr/>
        </p:nvSpPr>
        <p:spPr>
          <a:xfrm>
            <a:off x="762000" y="5054600"/>
            <a:ext cx="10668000" cy="13970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00000" tIns="50000" rIns="100000" bIns="40000" anchor="ctr">
            <a:normAutofit/>
          </a:bodyPr>
          <a:lstStyle/>
          <a:p>
            <a:pPr algn="l"/>
            <a:r>
              <a:rPr lang="en-US" sz="1400" b="1">
                <a:solidFill>
                  <a:srgbClr val="85754D"/>
                </a:solidFill>
              </a:rPr>
              <a:t>3 · Result</a:t>
            </a:r>
          </a:p>
          <a:p>
            <a:pPr algn="ctr"/>
            <a:r>
              <a:rPr lang="en-US" sz="1750" b="1">
                <a:solidFill>
                  <a:srgbClr val="7AB648"/>
                </a:solidFill>
              </a:rPr>
              <a:t>d²(1, 2) = 0.2333      →      d(1, 2) = √0.2333 = 0.483</a:t>
            </a:r>
          </a:p>
        </p:txBody>
      </p:sp>
    </p:spTree>
    <p:extLst>
      <p:ext uri="{BB962C8B-B14F-4D97-AF65-F5344CB8AC3E}">
        <p14:creationId xmlns:p14="http://schemas.microsoft.com/office/powerpoint/2010/main" val="339053584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28F580A-C7C5-E54B-B9F2-2DD6C1FB6D06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45E1D8-D629-674C-A5BD-0C0F41D8C772}"/>
              </a:ext>
            </a:extLst>
          </p:cNvPr>
          <p:cNvSpPr txBox="1"/>
          <p:nvPr/>
        </p:nvSpPr>
        <p:spPr>
          <a:xfrm>
            <a:off x="762000" y="711200"/>
            <a:ext cx="8382000" cy="46166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2 — Step 5: Interpretation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DDEDCEDB-5E1D-0A46-A584-DCCDB238B669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00" b="1">
                <a:solidFill>
                  <a:srgbClr val="FFFFFF"/>
                </a:solidFill>
              </a:rPr>
              <a:t>CA Example 2 · 5 / 5</a:t>
            </a:r>
          </a:p>
        </p:txBody>
      </p:sp>
      <p:sp>
        <p:nvSpPr>
          <p:cNvPr id="160" name="CA2S5A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What the distance means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d = 0.483 measures how differently the two rows spread across categories A, B and C. The rows match on B but diverge on A and C, so their profiles are moderately far apart.</a:t>
            </a:r>
          </a:p>
        </p:txBody>
      </p:sp>
      <p:sp>
        <p:nvSpPr>
          <p:cNvPr id="161" name="CA2S5B"/>
          <p:cNvSpPr/>
          <p:nvPr/>
        </p:nvSpPr>
        <p:spPr>
          <a:xfrm>
            <a:off x="762000" y="33274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00A7B5"/>
                </a:solidFill>
              </a:rPr>
              <a:t>Why the χ² weighting matters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Because each squared gap is divided by the column mass cⱼ, a difference in a rare category contributes more than the same gap in a common one.</a:t>
            </a:r>
          </a:p>
        </p:txBody>
      </p:sp>
      <p:sp>
        <p:nvSpPr>
          <p:cNvPr id="162" name="CA2S5C"/>
          <p:cNvSpPr/>
          <p:nvPr/>
        </p:nvSpPr>
        <p:spPr>
          <a:xfrm>
            <a:off x="762000" y="49530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20000" tIns="55000" rIns="120000" bIns="45000" anchor="ctr">
            <a:normAutofit/>
          </a:bodyPr>
          <a:lstStyle/>
          <a:p>
            <a:pPr algn="l"/>
            <a:r>
              <a:rPr lang="en-US" sz="1450" b="1">
                <a:solidFill>
                  <a:srgbClr val="85754D"/>
                </a:solidFill>
              </a:rPr>
              <a:t>Connection to CA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These χ²-distances between profiles are exactly what a CA map reproduces as ordinary straight-line distances in a low-dimensional plot.</a:t>
            </a:r>
          </a:p>
        </p:txBody>
      </p:sp>
    </p:spTree>
    <p:extLst>
      <p:ext uri="{BB962C8B-B14F-4D97-AF65-F5344CB8AC3E}">
        <p14:creationId xmlns:p14="http://schemas.microsoft.com/office/powerpoint/2010/main" val="18248772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1: The CA Output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1 / 5</a:t>
            </a:r>
          </a:p>
        </p:txBody>
      </p:sp>
      <p:sp>
        <p:nvSpPr>
          <p:cNvPr id="160" name="lblInertia"/>
          <p:cNvSpPr txBox="1"/>
          <p:nvPr/>
        </p:nvSpPr>
        <p:spPr>
          <a:xfrm>
            <a:off x="787400" y="1752600"/>
            <a:ext cx="5334000" cy="330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Inertia by dimension</a:t>
            </a:r>
          </a:p>
        </p:txBody>
      </p:sp>
      <p:sp>
        <p:nvSpPr>
          <p:cNvPr id="161" name="lblDiag"/>
          <p:cNvSpPr txBox="1"/>
          <p:nvPr/>
        </p:nvSpPr>
        <p:spPr>
          <a:xfrm>
            <a:off x="6502400" y="1752600"/>
            <a:ext cx="4927600" cy="33020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Point diagnostics — Axis 1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C6330D2-FFB5-AE4B-B4F0-2D352E82A6F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694051"/>
              </p:ext>
            </p:extLst>
          </p:nvPr>
        </p:nvGraphicFramePr>
        <p:xfrm>
          <a:off x="787400" y="2184400"/>
          <a:ext cx="5334000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89827954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646842408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1217935426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3203083880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Dim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λ (inertia)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% total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cumul.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4212768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61%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61%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8674105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0.095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28%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89%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843546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0.038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11%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100%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8432816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 b="1"/>
                        <a:t>Total</a:t>
                      </a:r>
                    </a:p>
                  </a:txBody>
                  <a:tcPr anchor="ctr"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/>
                        <a:t>0.343</a:t>
                      </a:r>
                    </a:p>
                  </a:txBody>
                  <a:tcPr anchor="ctr"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/>
                        <a:t>100%</a:t>
                      </a:r>
                    </a:p>
                  </a:txBody>
                  <a:tcPr anchor="ctr">
                    <a:solidFill>
                      <a:srgbClr val="F3EF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 b="1"/>
                        <a:t>—</a:t>
                      </a:r>
                    </a:p>
                  </a:txBody>
                  <a:tcPr anchor="ctr">
                    <a:solidFill>
                      <a:srgbClr val="F3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4989813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A4D5B8D-F5A8-FB4A-9FCA-F995D34B9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874765"/>
              </p:ext>
            </p:extLst>
          </p:nvPr>
        </p:nvGraphicFramePr>
        <p:xfrm>
          <a:off x="6502400" y="2184400"/>
          <a:ext cx="4927599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2533">
                  <a:extLst>
                    <a:ext uri="{9D8B030D-6E8A-4147-A177-3AD203B41FA5}">
                      <a16:colId xmlns:a16="http://schemas.microsoft.com/office/drawing/2014/main" val="2925039363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698649150"/>
                    </a:ext>
                  </a:extLst>
                </a:gridCol>
                <a:gridCol w="1642533">
                  <a:extLst>
                    <a:ext uri="{9D8B030D-6E8A-4147-A177-3AD203B41FA5}">
                      <a16:colId xmlns:a16="http://schemas.microsoft.com/office/drawing/2014/main" val="1220419984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Point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CTR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cos²</a:t>
                      </a:r>
                    </a:p>
                  </a:txBody>
                  <a:tcPr anchor="ctr">
                    <a:solidFill>
                      <a:srgbClr val="4B2E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7844789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0.05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0.22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63151794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194162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321236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algn="l"/>
                      <a:r>
                        <a:rPr lang="en-US" sz="1500"/>
                        <a:t>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0.06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500"/>
                        <a:t>—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946612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162131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2: How Many Dimensions?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2 / 5</a:t>
            </a:r>
          </a:p>
        </p:txBody>
      </p:sp>
      <p:sp>
        <p:nvSpPr>
          <p:cNvPr id="160" name="cardDims"/>
          <p:cNvSpPr/>
          <p:nvPr/>
        </p:nvSpPr>
        <p:spPr>
          <a:xfrm>
            <a:off x="762000" y="1905000"/>
            <a:ext cx="5461000" cy="4521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91440" rIns="137160" bIns="91440" anchor="t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Cumulative inertia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Dim 1:  61%</a:t>
            </a:r>
          </a:p>
          <a:p>
            <a:pPr algn="l">
              <a:spcBef>
                <a:spcPts val="200"/>
              </a:spcBef>
            </a:pPr>
            <a:r>
              <a:rPr lang="en-US" sz="1600" b="0">
                <a:solidFill>
                  <a:srgbClr val="333333"/>
                </a:solidFill>
              </a:rPr>
              <a:t>Dim 1 + Dim 2:  89%</a:t>
            </a:r>
          </a:p>
          <a:p>
            <a:pPr algn="l">
              <a:spcBef>
                <a:spcPts val="200"/>
              </a:spcBef>
            </a:pPr>
            <a:r>
              <a:rPr lang="en-US" sz="1600" b="0">
                <a:solidFill>
                  <a:srgbClr val="333333"/>
                </a:solidFill>
              </a:rPr>
              <a:t>Dim 1 + 2 + 3:  100%</a:t>
            </a:r>
          </a:p>
          <a:p>
            <a:pPr algn="l">
              <a:spcBef>
                <a:spcPts val="800"/>
              </a:spcBef>
            </a:pPr>
            <a:r>
              <a:rPr lang="en-US" sz="1500" b="1">
                <a:solidFill>
                  <a:srgbClr val="00A7B5"/>
                </a:solidFill>
              </a:rPr>
              <a:t>Decision</a:t>
            </a:r>
          </a:p>
          <a:p>
            <a:pPr algn="l">
              <a:spcBef>
                <a:spcPts val="300"/>
              </a:spcBef>
            </a:pPr>
            <a:r>
              <a:rPr lang="en-US" sz="1550" b="1">
                <a:solidFill>
                  <a:srgbClr val="7AB648"/>
                </a:solidFill>
              </a:rPr>
              <a:t>Two dimensions capture 89% of the inertia → a 2-D map is enough.</a:t>
            </a:r>
          </a:p>
          <a:p>
            <a:pPr algn="l">
              <a:spcBef>
                <a:spcPts val="300"/>
              </a:spcBef>
            </a:pPr>
            <a:r>
              <a:rPr lang="en-US" sz="1500" b="0">
                <a:solidFill>
                  <a:srgbClr val="333333"/>
                </a:solidFill>
              </a:rPr>
              <a:t>Dim 3 (11%) adds little and can be safely ignored.</a:t>
            </a:r>
          </a:p>
        </p:txBody>
      </p:sp>
      <p:graphicFrame>
        <p:nvGraphicFramePr>
          <p:cNvPr id="201" name="InertiaChart"/>
          <p:cNvGraphicFramePr/>
          <p:nvPr/>
        </p:nvGraphicFramePr>
        <p:xfrm>
          <a:off x="6604000" y="1905000"/>
          <a:ext cx="4826000" cy="4381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234787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3: Contributions (CTR)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3 / 5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CTR = how much each point builds the axis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Contributions to Axis 1:   A = 0.05    B = 0.48    C = 0.41    D = 0.06    (they sum to 1)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The big contributors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B (0.48) and C (0.41) together make up 89% of Axis 1 — so Axis 1 is essentially the contrast between Region B and Region C.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The rest</a:t>
            </a:r>
          </a:p>
          <a:p>
            <a:pPr algn="l">
              <a:spcBef>
                <a:spcPts val="250"/>
              </a:spcBef>
            </a:pPr>
            <a:r>
              <a:rPr lang="en-US" sz="1550" b="0">
                <a:solidFill>
                  <a:srgbClr val="333333"/>
                </a:solidFill>
              </a:rPr>
              <a:t>A (0.05) and D (0.06) contribute almost nothing — they do not define this axis.</a:t>
            </a:r>
          </a:p>
        </p:txBody>
      </p:sp>
    </p:spTree>
    <p:extLst>
      <p:ext uri="{BB962C8B-B14F-4D97-AF65-F5344CB8AC3E}">
        <p14:creationId xmlns:p14="http://schemas.microsoft.com/office/powerpoint/2010/main" val="2995671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4: Quality (cos²)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4 / 5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cos² = how well a point is shown on the axis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Quality on Axis 1:   B = 0.88    C = 0.83    A = 0.22    (closer to 1 = better represented)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Well represented</a:t>
            </a:r>
          </a:p>
          <a:p>
            <a:pPr algn="l">
              <a:spcBef>
                <a:spcPts val="300"/>
              </a:spcBef>
            </a:pPr>
            <a:r>
              <a:rPr lang="en-US" sz="1600" b="0">
                <a:solidFill>
                  <a:srgbClr val="333333"/>
                </a:solidFill>
              </a:rPr>
              <a:t>B and C have cos² ≈ 0.85 — their positions on Axis 1 are trustworthy and can be interpreted.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Poorly represented</a:t>
            </a:r>
          </a:p>
          <a:p>
            <a:pPr algn="l">
              <a:spcBef>
                <a:spcPts val="250"/>
              </a:spcBef>
            </a:pPr>
            <a:r>
              <a:rPr lang="en-US" sz="1550" b="0">
                <a:solidFill>
                  <a:srgbClr val="333333"/>
                </a:solidFill>
              </a:rPr>
              <a:t>A has cos² = 0.22 — most of its profile lies off this plane, so don't over-interpret where A sits.</a:t>
            </a:r>
          </a:p>
        </p:txBody>
      </p:sp>
    </p:spTree>
    <p:extLst>
      <p:ext uri="{BB962C8B-B14F-4D97-AF65-F5344CB8AC3E}">
        <p14:creationId xmlns:p14="http://schemas.microsoft.com/office/powerpoint/2010/main" val="390960879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E8A8455-6308-9E46-965C-3082C5BCC54D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30D0A2-E4B4-8942-ABCB-AF64F6A4660D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Example 3 — Step 5: CTR vs cos²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B0DD798-5DCC-754B-BAE5-3DAA7CC050C3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Example 3 · 5 / 5</a:t>
            </a:r>
          </a:p>
        </p:txBody>
      </p:sp>
      <p:sp>
        <p:nvSpPr>
          <p:cNvPr id="160" name="ctr"/>
          <p:cNvSpPr/>
          <p:nvPr/>
        </p:nvSpPr>
        <p:spPr>
          <a:xfrm>
            <a:off x="762000" y="1905000"/>
            <a:ext cx="5207000" cy="2997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28520" tIns="91440" rIns="128520" bIns="91440" anchor="t"/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CTR — what BUILDS an axis</a:t>
            </a:r>
          </a:p>
          <a:p>
            <a:pPr algn="l">
              <a:spcBef>
                <a:spcPts val="350"/>
              </a:spcBef>
            </a:pPr>
            <a:r>
              <a:rPr lang="en-US" sz="1500" b="0">
                <a:solidFill>
                  <a:srgbClr val="333333"/>
                </a:solidFill>
              </a:rPr>
              <a:t>Use contributions to NAME a dimension. A high CTR means the point drives that axis.</a:t>
            </a:r>
          </a:p>
          <a:p>
            <a:pPr algn="l">
              <a:spcBef>
                <a:spcPts val="350"/>
              </a:spcBef>
            </a:pPr>
            <a:r>
              <a:rPr lang="en-US" sz="1500" b="1">
                <a:solidFill>
                  <a:srgbClr val="4B2E83"/>
                </a:solidFill>
              </a:rPr>
              <a:t>Here: B and C build Axis 1, so it is the “B vs C” axis.</a:t>
            </a:r>
          </a:p>
        </p:txBody>
      </p:sp>
      <p:sp>
        <p:nvSpPr>
          <p:cNvPr id="161" name="cos"/>
          <p:cNvSpPr/>
          <p:nvPr/>
        </p:nvSpPr>
        <p:spPr>
          <a:xfrm>
            <a:off x="6223000" y="1905000"/>
            <a:ext cx="5207000" cy="29972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28520" tIns="91440" rIns="128520" bIns="91440" anchor="t"/>
          <a:lstStyle/>
          <a:p>
            <a:pPr algn="l"/>
            <a:r>
              <a:rPr lang="en-US" sz="1600" b="1">
                <a:solidFill>
                  <a:srgbClr val="00A7B5"/>
                </a:solidFill>
              </a:rPr>
              <a:t>cos² — which points to TRUST</a:t>
            </a:r>
          </a:p>
          <a:p>
            <a:pPr algn="l">
              <a:spcBef>
                <a:spcPts val="350"/>
              </a:spcBef>
            </a:pPr>
            <a:r>
              <a:rPr lang="en-US" sz="1500" b="0">
                <a:solidFill>
                  <a:srgbClr val="333333"/>
                </a:solidFill>
              </a:rPr>
              <a:t>Use quality to judge whether a point's position is reliable. A high cos² means it is well shown in this plane.</a:t>
            </a:r>
          </a:p>
          <a:p>
            <a:pPr algn="l">
              <a:spcBef>
                <a:spcPts val="350"/>
              </a:spcBef>
            </a:pPr>
            <a:r>
              <a:rPr lang="en-US" sz="1500" b="1">
                <a:solidFill>
                  <a:srgbClr val="00A7B5"/>
                </a:solidFill>
              </a:rPr>
              <a:t>Here: B and C are reliable; A (cos²=0.22) is not.</a:t>
            </a:r>
          </a:p>
        </p:txBody>
      </p:sp>
      <p:sp>
        <p:nvSpPr>
          <p:cNvPr id="162" name="rule"/>
          <p:cNvSpPr/>
          <p:nvPr/>
        </p:nvSpPr>
        <p:spPr>
          <a:xfrm>
            <a:off x="762000" y="5054600"/>
            <a:ext cx="10668000" cy="1371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28520" tIns="91440" rIns="128520" bIns="91440" anchor="ctr"/>
          <a:lstStyle/>
          <a:p>
            <a:pPr algn="ctr"/>
            <a:r>
              <a:rPr lang="en-US" sz="1600" b="1">
                <a:solidFill>
                  <a:srgbClr val="85754D"/>
                </a:solidFill>
              </a:rPr>
              <a:t>Golden rule</a:t>
            </a:r>
          </a:p>
          <a:p>
            <a:pPr algn="ctr">
              <a:spcBef>
                <a:spcPts val="250"/>
              </a:spcBef>
            </a:pPr>
            <a:r>
              <a:rPr lang="en-US" sz="1550" b="1">
                <a:solidFill>
                  <a:srgbClr val="333333"/>
                </a:solidFill>
              </a:rPr>
              <a:t>CTR tells you what an axis MEANS;  cos² tells you which points you may INTERPRET.  Always check both before reading a CA map.</a:t>
            </a:r>
          </a:p>
        </p:txBody>
      </p:sp>
    </p:spTree>
    <p:extLst>
      <p:ext uri="{BB962C8B-B14F-4D97-AF65-F5344CB8AC3E}">
        <p14:creationId xmlns:p14="http://schemas.microsoft.com/office/powerpoint/2010/main" val="220483502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86B90-79CF-0043-9B3D-C82AA673DE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6996E-C042-E342-A902-4FE045C6A590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1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947A8A-1F9E-154D-BFB3-431A3E60B5E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1 · 1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Given"/>
              <p:cNvSpPr/>
              <p:nvPr/>
            </p:nvSpPr>
            <p:spPr>
              <a:xfrm>
                <a:off x="762000" y="1905000"/>
                <a:ext cx="5080000" cy="3810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91440" rIns="137160" bIns="91440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Given — 2×2 table (n = 100)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/>
                        </a:rPr>
                        <m:t>𝑁</m:t>
                      </m:r>
                      <m:r>
                        <a:rPr lang="en-US" sz="20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2000">
                                    <a:latin typeface="Cambria Math"/>
                                  </a:rPr>
                                  <m:t>50</m:t>
                                </m:r>
                              </m:e>
                              <m:e>
                                <m:r>
                                  <a:rPr lang="en-US" sz="2000">
                                    <a:latin typeface="Cambria Math"/>
                                  </a:rPr>
                                  <m:t>10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2000">
                                    <a:latin typeface="Cambria Math"/>
                                  </a:rPr>
                                  <m:t>20</m:t>
                                </m:r>
                              </m:e>
                              <m:e>
                                <m:r>
                                  <a:rPr lang="en-US" sz="2000">
                                    <a:latin typeface="Cambria Math"/>
                                  </a:rPr>
                                  <m:t>20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row totals 60, 40 · column totals 70, 30</a:t>
                </a:r>
              </a:p>
            </p:txBody>
          </p:sp>
        </mc:Choice>
        <mc:Fallback>
          <p:sp>
            <p:nvSpPr>
              <p:cNvPr id="160" name="cGiv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5080000" cy="3810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Find"/>
          <p:cNvSpPr/>
          <p:nvPr/>
        </p:nvSpPr>
        <p:spPr>
          <a:xfrm>
            <a:off x="6350000" y="1905000"/>
            <a:ext cx="5080000" cy="3810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(a)  </a:t>
            </a:r>
            <a:r>
              <a:rPr lang="en-US" sz="1550">
                <a:solidFill>
                  <a:srgbClr val="333333"/>
                </a:solidFill>
              </a:rPr>
              <a:t>row &amp; column masses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(b)  </a:t>
            </a:r>
            <a:r>
              <a:rPr lang="en-US" sz="1550">
                <a:solidFill>
                  <a:srgbClr val="333333"/>
                </a:solidFill>
              </a:rPr>
              <a:t>the expected counts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(c)  </a:t>
            </a:r>
            <a:r>
              <a:rPr lang="en-US" sz="1550">
                <a:solidFill>
                  <a:srgbClr val="333333"/>
                </a:solidFill>
              </a:rPr>
              <a:t>the χ² statistic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(d)  </a:t>
            </a:r>
            <a:r>
              <a:rPr lang="en-US" sz="1550">
                <a:solidFill>
                  <a:srgbClr val="333333"/>
                </a:solidFill>
              </a:rPr>
              <a:t>the total inertia Φ²</a:t>
            </a:r>
          </a:p>
          <a:p>
            <a:pPr marL="285750" indent="-285750" algn="l">
              <a:spcBef>
                <a:spcPts val="200"/>
              </a:spcBef>
            </a:pPr>
            <a:r>
              <a:rPr lang="en-US" sz="1550" b="1">
                <a:solidFill>
                  <a:srgbClr val="00A7B5"/>
                </a:solidFill>
              </a:rPr>
              <a:t>(e)  </a:t>
            </a:r>
            <a:r>
              <a:rPr lang="en-US" sz="1550">
                <a:solidFill>
                  <a:srgbClr val="333333"/>
                </a:solidFill>
              </a:rPr>
              <a:t>how many CA dimensions</a:t>
            </a:r>
          </a:p>
        </p:txBody>
      </p:sp>
    </p:spTree>
    <p:extLst>
      <p:ext uri="{BB962C8B-B14F-4D97-AF65-F5344CB8AC3E}">
        <p14:creationId xmlns:p14="http://schemas.microsoft.com/office/powerpoint/2010/main" val="1672546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86B90-79CF-0043-9B3D-C82AA673DE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6996E-C042-E342-A902-4FE045C6A590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1 — Masses &amp; Expected Counts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947A8A-1F9E-154D-BFB3-431A3E60B5E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1 · 2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(a) · Masses = margins ÷ 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>
                          <a:latin typeface="Cambria Math"/>
                        </a:rPr>
                        <m:t>𝑟</m:t>
                      </m:r>
                      <m:r>
                        <a:rPr lang="en-US" sz="1600">
                          <a:latin typeface="Cambria Math"/>
                        </a:rPr>
                        <m:t> = (60/100, 40/100) = (0.60, 0.40)        </m:t>
                      </m:r>
                      <m:r>
                        <a:rPr lang="en-US" sz="1600" i="1">
                          <a:latin typeface="Cambria Math"/>
                        </a:rPr>
                        <m:t>𝑐</m:t>
                      </m:r>
                      <m:r>
                        <a:rPr lang="en-US" sz="1600">
                          <a:latin typeface="Cambria Math"/>
                        </a:rPr>
                        <m:t> = (70/100, 30/100) = (0.70, 0.30)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24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2"/>
              <p:cNvSpPr/>
              <p:nvPr/>
            </p:nvSpPr>
            <p:spPr>
              <a:xfrm>
                <a:off x="762000" y="3327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(b) · Expected counts   Eᵢⱼ = n · rᵢ · cⱼ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 i="1">
                          <a:latin typeface="Cambria Math"/>
                        </a:rPr>
                        <m:t>𝐸</m:t>
                      </m:r>
                      <m:r>
                        <a:rPr lang="en-US" sz="1600">
                          <a:latin typeface="Cambria Math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2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600">
                                    <a:latin typeface="Cambria Math"/>
                                  </a:rPr>
                                  <m:t>42</m:t>
                                </m:r>
                              </m:e>
                              <m:e>
                                <m:r>
                                  <a:rPr lang="en-US" sz="1600">
                                    <a:latin typeface="Cambria Math"/>
                                  </a:rPr>
                                  <m:t>18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600">
                                    <a:latin typeface="Cambria Math"/>
                                  </a:rPr>
                                  <m:t>28</m:t>
                                </m:r>
                              </m:e>
                              <m:e>
                                <m:r>
                                  <a:rPr lang="en-US" sz="1600">
                                    <a:latin typeface="Cambria Math"/>
                                  </a:rPr>
                                  <m:t>12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e.g. E₁₁ = 100 · 0.60 · 0.70 = 42</a:t>
                </a:r>
              </a:p>
            </p:txBody>
          </p:sp>
        </mc:Choice>
        <mc:Fallback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27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Idea</a:t>
            </a:r>
          </a:p>
          <a:p>
            <a:pPr algn="l"/>
            <a:r>
              <a:rPr lang="en-US" sz="1500">
                <a:solidFill>
                  <a:srgbClr val="333333"/>
                </a:solidFill>
              </a:rPr>
              <a:t>The expected counts assume row and column are independent; CA measures how far N departs from E.</a:t>
            </a:r>
          </a:p>
        </p:txBody>
      </p:sp>
    </p:spTree>
    <p:extLst>
      <p:ext uri="{BB962C8B-B14F-4D97-AF65-F5344CB8AC3E}">
        <p14:creationId xmlns:p14="http://schemas.microsoft.com/office/powerpoint/2010/main" val="55638101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86B90-79CF-0043-9B3D-C82AA673DE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6996E-C042-E342-A902-4FE045C6A590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1 — The χ² Statistic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947A8A-1F9E-154D-BFB3-431A3E60B5E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1 · 3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(c) · Chi-square statistic  χ² = Σ (O − E)² / E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latin typeface="Cambria Math"/>
                        </a:rPr>
                        <m:t>𝜒</m:t>
                      </m:r>
                      <m:r>
                        <a:rPr lang="en-US" sz="1600">
                          <a:latin typeface="Cambria Math"/>
                        </a:rPr>
                        <m:t>² = (50−42)²/42 + (10−18)²/18 + (20−28)²/28 + (20−12)²/12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5748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2"/>
              <p:cNvSpPr/>
              <p:nvPr/>
            </p:nvSpPr>
            <p:spPr>
              <a:xfrm>
                <a:off x="762000" y="3403600"/>
                <a:ext cx="10668000" cy="1397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Evaluate each term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latin typeface="Cambria Math"/>
                        </a:rPr>
                        <m:t>= 1.524 + 3.556 + 2.286 + 5.333</m:t>
                      </m:r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</p:txBody>
          </p:sp>
        </mc:Choice>
        <mc:Fallback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403600"/>
                <a:ext cx="10668000" cy="1397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3"/>
          <p:cNvSpPr/>
          <p:nvPr/>
        </p:nvSpPr>
        <p:spPr>
          <a:xfrm>
            <a:off x="762000" y="49276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Result</a:t>
            </a:r>
          </a:p>
          <a:p>
            <a:pPr algn="ctr"/>
            <a:r>
              <a:rPr lang="en-US" sz="2000" b="1">
                <a:solidFill>
                  <a:srgbClr val="7AB648"/>
                </a:solidFill>
              </a:rPr>
              <a:t>χ² = 12.70</a:t>
            </a:r>
          </a:p>
        </p:txBody>
      </p:sp>
    </p:spTree>
    <p:extLst>
      <p:ext uri="{BB962C8B-B14F-4D97-AF65-F5344CB8AC3E}">
        <p14:creationId xmlns:p14="http://schemas.microsoft.com/office/powerpoint/2010/main" val="363301083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3B86B90-79CF-0043-9B3D-C82AA673DEBB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B6996E-C042-E342-A902-4FE045C6A590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1 — Total Inertia &amp; Dimensions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8C947A8A-1F9E-154D-BFB3-431A3E60B5EE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1 · 4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(d) · Total inertia = χ² / 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700">
                          <a:latin typeface="Cambria Math"/>
                        </a:rPr>
                        <m:t>𝛷</m:t>
                      </m:r>
                      <m:r>
                        <a:rPr lang="en-US" sz="1700">
                          <a:latin typeface="Cambria Math"/>
                        </a:rPr>
                        <m:t>² = 12.70 / 100 = 0.127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732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2"/>
              <p:cNvSpPr/>
              <p:nvPr/>
            </p:nvSpPr>
            <p:spPr>
              <a:xfrm>
                <a:off x="762000" y="33274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(e) · Number of CA dimensions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latin typeface="Cambria Math"/>
                        </a:rPr>
                        <m:t>𝐾</m:t>
                      </m:r>
                      <m:r>
                        <a:rPr lang="en-US" sz="1600">
                          <a:latin typeface="Cambria Math"/>
                        </a:rPr>
                        <m:t> = </m:t>
                      </m:r>
                      <m:r>
                        <a:rPr lang="en-US" sz="1600">
                          <a:latin typeface="Cambria Math"/>
                        </a:rPr>
                        <m:t>𝑚𝑖𝑛</m:t>
                      </m:r>
                      <m:r>
                        <a:rPr lang="en-US" sz="1600">
                          <a:latin typeface="Cambria Math"/>
                        </a:rPr>
                        <m:t>(</m:t>
                      </m:r>
                      <m:r>
                        <a:rPr lang="en-US" sz="1600">
                          <a:latin typeface="Cambria Math"/>
                        </a:rPr>
                        <m:t>𝐼</m:t>
                      </m:r>
                      <m:r>
                        <a:rPr lang="en-US" sz="1600">
                          <a:latin typeface="Cambria Math"/>
                        </a:rPr>
                        <m:t>−1, </m:t>
                      </m:r>
                      <m:r>
                        <a:rPr lang="en-US" sz="1600">
                          <a:latin typeface="Cambria Math"/>
                        </a:rPr>
                        <m:t>𝐽</m:t>
                      </m:r>
                      <m:r>
                        <a:rPr lang="en-US" sz="1600">
                          <a:latin typeface="Cambria Math"/>
                        </a:rPr>
                        <m:t>−1) = </m:t>
                      </m:r>
                      <m:r>
                        <a:rPr lang="en-US" sz="1600">
                          <a:latin typeface="Cambria Math"/>
                        </a:rPr>
                        <m:t>𝑚𝑖𝑛</m:t>
                      </m:r>
                      <m:r>
                        <a:rPr lang="en-US" sz="1600">
                          <a:latin typeface="Cambria Math"/>
                        </a:rPr>
                        <m:t>(1, 1) = 1</m:t>
                      </m:r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  <a:p>
                <a:pPr algn="l"/>
                <a:r>
                  <a:rPr lang="en-US" sz="1500" b="0">
                    <a:solidFill>
                      <a:srgbClr val="333333"/>
                    </a:solidFill>
                  </a:rPr>
                  <a:t>A 2×2 table needs a single axis — it carries all 0.127 of the inertia.</a:t>
                </a:r>
              </a:p>
            </p:txBody>
          </p:sp>
        </mc:Choice>
        <mc:Fallback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3274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Answer</a:t>
            </a:r>
          </a:p>
          <a:p>
            <a:pPr algn="ctr"/>
            <a:r>
              <a:rPr lang="en-US" sz="1700" b="1">
                <a:solidFill>
                  <a:srgbClr val="7AB648"/>
                </a:solidFill>
              </a:rPr>
              <a:t>Φ² = 0.127, captured entirely on one CA dimension.</a:t>
            </a:r>
          </a:p>
        </p:txBody>
      </p:sp>
    </p:spTree>
    <p:extLst>
      <p:ext uri="{BB962C8B-B14F-4D97-AF65-F5344CB8AC3E}">
        <p14:creationId xmlns:p14="http://schemas.microsoft.com/office/powerpoint/2010/main" val="30092455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1861E-9816-F149-9AF9-91DC20B9860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E220C-3034-7B4C-A910-0FCB16039429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2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E3B3E4-F6E3-974E-8C3A-3B9F832EC6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2 · 1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Given"/>
              <p:cNvSpPr/>
              <p:nvPr/>
            </p:nvSpPr>
            <p:spPr>
              <a:xfrm>
                <a:off x="762000" y="1905000"/>
                <a:ext cx="5588000" cy="3810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91440" rIns="137160" bIns="91440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Given — two rows rated Low / Med / High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𝑋</m:t>
                      </m:r>
                      <m:r>
                        <a:rPr lang="en-US" sz="1800">
                          <a:latin typeface="Cambria Math"/>
                        </a:rPr>
                        <m:t> = (10, 30, 60)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𝑌</m:t>
                      </m:r>
                      <m:r>
                        <a:rPr lang="en-US" sz="1800">
                          <a:latin typeface="Cambria Math"/>
                        </a:rPr>
                        <m:t> = (30, 30, 40)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i="1">
                          <a:latin typeface="Cambria Math"/>
                        </a:rPr>
                        <m:t>𝑐</m:t>
                      </m:r>
                      <m:r>
                        <a:rPr lang="en-US" sz="1800">
                          <a:latin typeface="Cambria Math"/>
                        </a:rPr>
                        <m:t> = (0.25, 0.30, 0.45)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  <a:p>
                <a:pPr algn="ctr"/>
                <a:r>
                  <a:rPr lang="en-US" sz="1400" i="1">
                    <a:solidFill>
                      <a:srgbClr val="85754D"/>
                    </a:solidFill>
                  </a:rPr>
                  <a:t>each row total = 100 · c = column masses (given)</a:t>
                </a:r>
              </a:p>
            </p:txBody>
          </p:sp>
        </mc:Choice>
        <mc:Fallback>
          <p:sp>
            <p:nvSpPr>
              <p:cNvPr id="160" name="cGiven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905000"/>
                <a:ext cx="5588000" cy="3810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Find"/>
          <p:cNvSpPr/>
          <p:nvPr/>
        </p:nvSpPr>
        <p:spPr>
          <a:xfrm>
            <a:off x="6604000" y="1905000"/>
            <a:ext cx="4826000" cy="3810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600" b="1">
                <a:solidFill>
                  <a:srgbClr val="00A7B5"/>
                </a:solidFill>
              </a:rPr>
              <a:t>(a)  </a:t>
            </a:r>
            <a:r>
              <a:rPr lang="en-US" sz="1600">
                <a:solidFill>
                  <a:srgbClr val="333333"/>
                </a:solidFill>
              </a:rPr>
              <a:t>the row profile of each row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600" b="1">
                <a:solidFill>
                  <a:srgbClr val="00A7B5"/>
                </a:solidFill>
              </a:rPr>
              <a:t>(b)  </a:t>
            </a:r>
            <a:r>
              <a:rPr lang="en-US" sz="1600">
                <a:solidFill>
                  <a:srgbClr val="333333"/>
                </a:solidFill>
              </a:rPr>
              <a:t>the χ²-distance d(X, Y) between them</a:t>
            </a:r>
          </a:p>
        </p:txBody>
      </p:sp>
    </p:spTree>
    <p:extLst>
      <p:ext uri="{BB962C8B-B14F-4D97-AF65-F5344CB8AC3E}">
        <p14:creationId xmlns:p14="http://schemas.microsoft.com/office/powerpoint/2010/main" val="14697377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1861E-9816-F149-9AF9-91DC20B9860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E220C-3034-7B4C-A910-0FCB16039429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2 — Solution (a): Row Profiles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E3B3E4-F6E3-974E-8C3A-3B9F832EC6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2 · 2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9050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1 · Divide each row by its total (100)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latin typeface="Cambria Math"/>
                        </a:rPr>
                        <m:t>𝑝𝑟𝑜𝑓𝑖𝑙𝑒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>
                              <a:latin typeface="Cambria Math"/>
                            </a:rPr>
                            <m:t> 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𝑋</m:t>
                          </m:r>
                        </m:sub>
                      </m:sSub>
                      <m:r>
                        <a:rPr lang="en-US" sz="1600">
                          <a:latin typeface="Cambria Math"/>
                        </a:rPr>
                        <m:t> = (0.10, 0.30, 0.60)        </m:t>
                      </m:r>
                      <m:r>
                        <a:rPr lang="en-US" sz="1600">
                          <a:latin typeface="Cambria Math"/>
                        </a:rPr>
                        <m:t>𝑝𝑟𝑜𝑓𝑖𝑙𝑒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1600">
                              <a:latin typeface="Cambria Math"/>
                            </a:rPr>
                            <m:t> </m:t>
                          </m:r>
                        </m:e>
                        <m:sub>
                          <m:r>
                            <a:rPr sz="1600" i="1">
                              <a:latin typeface="Cambria Math"/>
                            </a:rPr>
                            <m:t>𝑌</m:t>
                          </m:r>
                        </m:sub>
                      </m:sSub>
                      <m:r>
                        <a:rPr lang="en-US" sz="1600">
                          <a:latin typeface="Cambria Math"/>
                        </a:rPr>
                        <m:t> = (0.30, 0.30, 0.40)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9050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1" name="c2"/>
          <p:cNvSpPr/>
          <p:nvPr/>
        </p:nvSpPr>
        <p:spPr>
          <a:xfrm>
            <a:off x="762000" y="3733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Profile difference</a:t>
            </a:r>
          </a:p>
          <a:p>
            <a:pPr algn="ctr"/>
            <a:r>
              <a:rPr lang="en-US" sz="1600" b="0">
                <a:solidFill>
                  <a:srgbClr val="333333"/>
                </a:solidFill>
              </a:rPr>
              <a:t>(0.10, 0.30, 0.60) − (0.30, 0.30, 0.40)  =  (−0.20,  0,  +0.20)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Read it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The two rows match on 'Med' but diverge on 'Low' (−0.20) and 'High' (+0.20).</a:t>
            </a:r>
          </a:p>
        </p:txBody>
      </p:sp>
    </p:spTree>
    <p:extLst>
      <p:ext uri="{BB962C8B-B14F-4D97-AF65-F5344CB8AC3E}">
        <p14:creationId xmlns:p14="http://schemas.microsoft.com/office/powerpoint/2010/main" val="41537621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1861E-9816-F149-9AF9-91DC20B9860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E220C-3034-7B4C-A910-0FCB16039429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2 — Solution (b): χ²-Distance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E3B3E4-F6E3-974E-8C3A-3B9F832EC6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2 · 3 / 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c1"/>
              <p:cNvSpPr/>
              <p:nvPr/>
            </p:nvSpPr>
            <p:spPr>
              <a:xfrm>
                <a:off x="762000" y="1701800"/>
                <a:ext cx="10668000" cy="1422400"/>
              </a:xfrm>
              <a:prstGeom prst="roundRect">
                <a:avLst>
                  <a:gd name="adj" fmla="val 4000"/>
                </a:avLst>
              </a:prstGeom>
              <a:solidFill>
                <a:srgbClr val="F3EFF8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4B2E83"/>
                    </a:solidFill>
                  </a:rPr>
                  <a:t>1 · χ²-distance between two row profiles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latin typeface="Cambria Math"/>
                        </a:rPr>
                        <m:t>𝑑</m:t>
                      </m:r>
                      <m:r>
                        <a:rPr lang="en-US" sz="1600">
                          <a:latin typeface="Cambria Math"/>
                        </a:rPr>
                        <m:t>²(</m:t>
                      </m:r>
                      <m:r>
                        <a:rPr lang="en-US" sz="1600">
                          <a:latin typeface="Cambria Math"/>
                        </a:rPr>
                        <m:t>𝑋</m:t>
                      </m:r>
                      <m:r>
                        <a:rPr lang="en-US" sz="1600">
                          <a:latin typeface="Cambria Math"/>
                        </a:rPr>
                        <m:t>, </m:t>
                      </m:r>
                      <m:r>
                        <a:rPr lang="en-US" sz="1600">
                          <a:latin typeface="Cambria Math"/>
                        </a:rPr>
                        <m:t>𝑌</m:t>
                      </m:r>
                      <m:r>
                        <a:rPr lang="en-US" sz="1600">
                          <a:latin typeface="Cambria Math"/>
                        </a:rPr>
                        <m:t>) = ∑ⱼ  (</m:t>
                      </m:r>
                      <m:r>
                        <a:rPr lang="en-US" sz="1600">
                          <a:latin typeface="Cambria Math"/>
                        </a:rPr>
                        <m:t>𝑝𝑟𝑜𝑓𝑖𝑙𝑒</m:t>
                      </m:r>
                      <m:r>
                        <a:rPr lang="en-US" sz="1600">
                          <a:latin typeface="Cambria Math"/>
                        </a:rPr>
                        <m:t>ⱼ </m:t>
                      </m:r>
                      <m:r>
                        <a:rPr lang="en-US" sz="1600">
                          <a:latin typeface="Cambria Math"/>
                        </a:rPr>
                        <m:t>𝑑𝑖𝑓𝑓𝑒𝑟𝑒𝑛𝑐𝑒</m:t>
                      </m:r>
                      <m:r>
                        <a:rPr lang="en-US" sz="1600">
                          <a:latin typeface="Cambria Math"/>
                        </a:rPr>
                        <m:t>)² / </m:t>
                      </m:r>
                      <m:r>
                        <a:rPr lang="en-US" sz="1600">
                          <a:latin typeface="Cambria Math"/>
                        </a:rPr>
                        <m:t>𝑐</m:t>
                      </m:r>
                      <m:r>
                        <a:rPr lang="en-US" sz="1600">
                          <a:latin typeface="Cambria Math"/>
                        </a:rPr>
                        <m:t>ⱼ</m:t>
                      </m:r>
                    </m:oMath>
                  </m:oMathPara>
                </a14:m>
                <a:endParaRPr lang="en-US" sz="1500" b="1">
                  <a:solidFill>
                    <a:srgbClr val="4B2E83"/>
                  </a:solidFill>
                </a:endParaRPr>
              </a:p>
            </p:txBody>
          </p:sp>
        </mc:Choice>
        <mc:Fallback>
          <p:sp>
            <p:nvSpPr>
              <p:cNvPr id="160" name="c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1701800"/>
                <a:ext cx="10668000" cy="1422400"/>
              </a:xfrm>
              <a:prstGeom prst="roundRect">
                <a:avLst>
                  <a:gd name="adj" fmla="val 4000"/>
                </a:avLst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c2"/>
              <p:cNvSpPr/>
              <p:nvPr/>
            </p:nvSpPr>
            <p:spPr>
              <a:xfrm>
                <a:off x="762000" y="3251200"/>
                <a:ext cx="10668000" cy="1549400"/>
              </a:xfrm>
              <a:prstGeom prst="roundRect">
                <a:avLst>
                  <a:gd name="adj" fmla="val 4000"/>
                </a:avLst>
              </a:prstGeom>
              <a:solidFill>
                <a:srgbClr val="EAF6F7"/>
              </a:solidFill>
              <a:ln>
                <a:noFill/>
              </a:ln>
            </p:spPr>
            <p:txBody>
              <a:bodyPr wrap="square" lIns="137160" tIns="82296" rIns="137160" bIns="82296" anchor="ctr"/>
              <a:lstStyle/>
              <a:p>
                <a:pPr algn="l"/>
                <a:r>
                  <a:rPr lang="en-US" sz="1500" b="1">
                    <a:solidFill>
                      <a:srgbClr val="00A7B5"/>
                    </a:solidFill>
                  </a:rPr>
                  <a:t>2 · Plug in the difference and the column masses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>
                          <a:latin typeface="Cambria Math"/>
                        </a:rPr>
                        <m:t>𝑑</m:t>
                      </m:r>
                      <m:r>
                        <a:rPr lang="en-US" sz="1600">
                          <a:latin typeface="Cambria Math"/>
                        </a:rPr>
                        <m:t>²(</m:t>
                      </m:r>
                      <m:r>
                        <a:rPr lang="en-US" sz="1600">
                          <a:latin typeface="Cambria Math"/>
                        </a:rPr>
                        <m:t>𝑋</m:t>
                      </m:r>
                      <m:r>
                        <a:rPr lang="en-US" sz="1600">
                          <a:latin typeface="Cambria Math"/>
                        </a:rPr>
                        <m:t>, </m:t>
                      </m:r>
                      <m:r>
                        <a:rPr lang="en-US" sz="1600">
                          <a:latin typeface="Cambria Math"/>
                        </a:rPr>
                        <m:t>𝑌</m:t>
                      </m:r>
                      <m:r>
                        <a:rPr lang="en-US" sz="1600">
                          <a:latin typeface="Cambria Math"/>
                        </a:rPr>
                        <m:t>) = (−0.20)²/0.25 + (0)²/0.30 + (0.20)²/0.45</m:t>
                      </m:r>
                    </m:oMath>
                  </m:oMathPara>
                </a14:m>
                <a:endParaRPr lang="en-US" sz="1500" b="1">
                  <a:solidFill>
                    <a:srgbClr val="00A7B5"/>
                  </a:solidFill>
                </a:endParaRPr>
              </a:p>
            </p:txBody>
          </p:sp>
        </mc:Choice>
        <mc:Fallback>
          <p:sp>
            <p:nvSpPr>
              <p:cNvPr id="161" name="c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251200"/>
                <a:ext cx="10668000" cy="1549400"/>
              </a:xfrm>
              <a:prstGeom prst="roundRect">
                <a:avLst>
                  <a:gd name="adj" fmla="val 4000"/>
                </a:avLst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c3"/>
          <p:cNvSpPr/>
          <p:nvPr/>
        </p:nvSpPr>
        <p:spPr>
          <a:xfrm>
            <a:off x="762000" y="49276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Evaluate each term</a:t>
            </a:r>
          </a:p>
          <a:p>
            <a:pPr algn="ctr"/>
            <a:r>
              <a:rPr lang="en-US" sz="1800" b="1">
                <a:solidFill>
                  <a:srgbClr val="7AB648"/>
                </a:solidFill>
              </a:rPr>
              <a:t>= 0.160 + 0 + 0.0889 = 0.2489</a:t>
            </a:r>
          </a:p>
        </p:txBody>
      </p:sp>
    </p:spTree>
    <p:extLst>
      <p:ext uri="{BB962C8B-B14F-4D97-AF65-F5344CB8AC3E}">
        <p14:creationId xmlns:p14="http://schemas.microsoft.com/office/powerpoint/2010/main" val="112733521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201861E-9816-F149-9AF9-91DC20B98604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2E220C-3034-7B4C-A910-0FCB16039429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2 — Result &amp; Interpretation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E3B3E4-F6E3-974E-8C3A-3B9F832EC674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2 · 4 / 4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732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Take the square root</a:t>
            </a:r>
          </a:p>
          <a:p>
            <a:pPr algn="ctr"/>
            <a:r>
              <a:rPr lang="en-US" sz="1900" b="1">
                <a:solidFill>
                  <a:srgbClr val="7AB648"/>
                </a:solidFill>
              </a:rPr>
              <a:t>d(X, Y) = √0.2489 = 0.499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Which column matters most?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The 'Low' category (mass 0.25 — the rarest) contributes 0.160 of the 0.249. Dividing each squared gap by cⱼ up-weights the rarer columns.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384800"/>
            <a:ext cx="10668000" cy="1066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Why it matters</a:t>
            </a:r>
          </a:p>
          <a:p>
            <a:pPr algn="l"/>
            <a:r>
              <a:rPr lang="en-US" sz="1500" b="0">
                <a:solidFill>
                  <a:srgbClr val="333333"/>
                </a:solidFill>
              </a:rPr>
              <a:t>This χ²-weighting is exactly the distance CA preserves when it places the row points on a map.</a:t>
            </a:r>
          </a:p>
        </p:txBody>
      </p:sp>
    </p:spTree>
    <p:extLst>
      <p:ext uri="{BB962C8B-B14F-4D97-AF65-F5344CB8AC3E}">
        <p14:creationId xmlns:p14="http://schemas.microsoft.com/office/powerpoint/2010/main" val="81062975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381A7D-1B81-CC46-AC5B-27FECF2488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8E5C3-D7B4-014C-8EFA-2967282F114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3 — The Problem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4057F3-A5CE-EF4E-9746-5DF1E53C898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3 · 1 / 4</a:t>
            </a:r>
          </a:p>
        </p:txBody>
      </p:sp>
      <p:sp>
        <p:nvSpPr>
          <p:cNvPr id="160" name="cGiven"/>
          <p:cNvSpPr/>
          <p:nvPr/>
        </p:nvSpPr>
        <p:spPr>
          <a:xfrm>
            <a:off x="762000" y="1905000"/>
            <a:ext cx="5969000" cy="38100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Given — CA output of a 5×4 table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4B2E83"/>
                </a:solidFill>
              </a:rPr>
              <a:t>Principal inertias: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λ = (0.240, 0.110, 0.030, 0.012),  total = 0.392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4B2E83"/>
                </a:solidFill>
              </a:rPr>
              <a:t>Axis-1 contributions (CTR):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A = 0.55,  B = 0.32,  C = 0.08,  D = 0.05</a:t>
            </a:r>
          </a:p>
          <a:p>
            <a:pPr algn="l">
              <a:spcBef>
                <a:spcPts val="300"/>
              </a:spcBef>
            </a:pPr>
            <a:r>
              <a:rPr lang="en-US" sz="1500" b="1">
                <a:solidFill>
                  <a:srgbClr val="4B2E83"/>
                </a:solidFill>
              </a:rPr>
              <a:t>Axis-1 quality (cos²):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A = 0.91,  C = 0.18</a:t>
            </a:r>
          </a:p>
        </p:txBody>
      </p:sp>
      <p:sp>
        <p:nvSpPr>
          <p:cNvPr id="161" name="cFind"/>
          <p:cNvSpPr/>
          <p:nvPr/>
        </p:nvSpPr>
        <p:spPr>
          <a:xfrm>
            <a:off x="6985000" y="1905000"/>
            <a:ext cx="4445000" cy="3810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91440" rIns="137160" bIns="91440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Find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550" b="1">
                <a:solidFill>
                  <a:srgbClr val="00A7B5"/>
                </a:solidFill>
              </a:rPr>
              <a:t>(a)  </a:t>
            </a:r>
            <a:r>
              <a:rPr lang="en-US" sz="1550">
                <a:solidFill>
                  <a:srgbClr val="333333"/>
                </a:solidFill>
              </a:rPr>
              <a:t>how many dimensions to report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550" b="1">
                <a:solidFill>
                  <a:srgbClr val="00A7B5"/>
                </a:solidFill>
              </a:rPr>
              <a:t>(b)  </a:t>
            </a:r>
            <a:r>
              <a:rPr lang="en-US" sz="1550">
                <a:solidFill>
                  <a:srgbClr val="333333"/>
                </a:solidFill>
              </a:rPr>
              <a:t>an interpretation of Axis 1</a:t>
            </a:r>
          </a:p>
          <a:p>
            <a:pPr marL="285750" indent="-285750" algn="l">
              <a:spcBef>
                <a:spcPts val="300"/>
              </a:spcBef>
            </a:pPr>
            <a:r>
              <a:rPr lang="en-US" sz="1550" b="1">
                <a:solidFill>
                  <a:srgbClr val="00A7B5"/>
                </a:solidFill>
              </a:rPr>
              <a:t>(c)  </a:t>
            </a:r>
            <a:r>
              <a:rPr lang="en-US" sz="1550">
                <a:solidFill>
                  <a:srgbClr val="333333"/>
                </a:solidFill>
              </a:rPr>
              <a:t>Brand A vs Brand C</a:t>
            </a:r>
          </a:p>
        </p:txBody>
      </p:sp>
    </p:spTree>
    <p:extLst>
      <p:ext uri="{BB962C8B-B14F-4D97-AF65-F5344CB8AC3E}">
        <p14:creationId xmlns:p14="http://schemas.microsoft.com/office/powerpoint/2010/main" val="42914890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381A7D-1B81-CC46-AC5B-27FECF2488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8E5C3-D7B4-014C-8EFA-2967282F114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3 — Solution (a): How Many Dimensions?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4057F3-A5CE-EF4E-9746-5DF1E53C898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3 · 2 / 4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7018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Variance share = λ / total inertia (0.392)</a:t>
            </a:r>
          </a:p>
          <a:p>
            <a:pPr algn="ctr"/>
            <a:r>
              <a:rPr lang="en-US" sz="1550" b="0">
                <a:solidFill>
                  <a:srgbClr val="333333"/>
                </a:solidFill>
              </a:rPr>
              <a:t>Dim 1: 0.240/0.392 = 61%     Dim 2: 0.110/0.392 = 28%     Dim 3: 8%     Dim 4: 3%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530600"/>
            <a:ext cx="10668000" cy="13208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Cumulative</a:t>
            </a:r>
          </a:p>
          <a:p>
            <a:pPr algn="ctr"/>
            <a:r>
              <a:rPr lang="en-US" sz="1650" b="0">
                <a:solidFill>
                  <a:srgbClr val="333333"/>
                </a:solidFill>
              </a:rPr>
              <a:t>Dim 1 = 61%      Dim 1 + Dim 2 = 89%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4978400"/>
            <a:ext cx="10668000" cy="1447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Decision</a:t>
            </a:r>
          </a:p>
          <a:p>
            <a:pPr algn="ctr"/>
            <a:r>
              <a:rPr lang="en-US" sz="1550" b="1">
                <a:solidFill>
                  <a:srgbClr val="7AB648"/>
                </a:solidFill>
              </a:rPr>
              <a:t>Report a 2-D map — it captures 89% of the inertia. Dim 3 and Dim 4 (11% combined) are negligible.</a:t>
            </a:r>
          </a:p>
        </p:txBody>
      </p:sp>
    </p:spTree>
    <p:extLst>
      <p:ext uri="{BB962C8B-B14F-4D97-AF65-F5344CB8AC3E}">
        <p14:creationId xmlns:p14="http://schemas.microsoft.com/office/powerpoint/2010/main" val="27822340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381A7D-1B81-CC46-AC5B-27FECF2488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8E5C3-D7B4-014C-8EFA-2967282F114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3 — Solution (b): Interpreting Axis 1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4057F3-A5CE-EF4E-9746-5DF1E53C898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3 · 3 / 4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1 · Which columns build Axis 1?  (contributions)</a:t>
            </a:r>
          </a:p>
          <a:p>
            <a:pPr algn="ctr"/>
            <a:r>
              <a:rPr lang="en-US" sz="1600" b="0">
                <a:solidFill>
                  <a:srgbClr val="333333"/>
                </a:solidFill>
              </a:rPr>
              <a:t>CTR:   A = 0.55      B = 0.32      C = 0.08      D = 0.05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524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2 · The dominant pair</a:t>
            </a:r>
          </a:p>
          <a:p>
            <a:pPr algn="ctr"/>
            <a:r>
              <a:rPr lang="en-US" sz="1600" b="0">
                <a:solidFill>
                  <a:srgbClr val="333333"/>
                </a:solidFill>
              </a:rPr>
              <a:t>A (0.55) + B (0.32) = 0.87 → 87% of Axis 1 comes from Brands A and B.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5054600"/>
            <a:ext cx="10668000" cy="13716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3 · Interpretation</a:t>
            </a:r>
          </a:p>
          <a:p>
            <a:pPr algn="l"/>
            <a:r>
              <a:rPr lang="en-US" sz="1500" b="1">
                <a:solidFill>
                  <a:srgbClr val="7AB648"/>
                </a:solidFill>
              </a:rPr>
              <a:t>Axis 1 is defined by Brands A and B — it captures how these two dominant brands stand apart from the rest. C and D barely shape it.</a:t>
            </a:r>
          </a:p>
        </p:txBody>
      </p:sp>
    </p:spTree>
    <p:extLst>
      <p:ext uri="{BB962C8B-B14F-4D97-AF65-F5344CB8AC3E}">
        <p14:creationId xmlns:p14="http://schemas.microsoft.com/office/powerpoint/2010/main" val="426023701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381A7D-1B81-CC46-AC5B-27FECF2488BE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58E5C3-D7B4-014C-8EFA-2967282F114E}"/>
              </a:ext>
            </a:extLst>
          </p:cNvPr>
          <p:cNvSpPr txBox="1"/>
          <p:nvPr/>
        </p:nvSpPr>
        <p:spPr>
          <a:xfrm>
            <a:off x="762000" y="711200"/>
            <a:ext cx="8382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400" b="1">
                <a:solidFill>
                  <a:srgbClr val="4B2E83"/>
                </a:solidFill>
              </a:rPr>
              <a:t>CA Exercise 3 — Solution (c): Brand A vs Brand C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84057F3-A5CE-EF4E-9746-5DF1E53C8981}"/>
              </a:ext>
            </a:extLst>
          </p:cNvPr>
          <p:cNvSpPr/>
          <p:nvPr/>
        </p:nvSpPr>
        <p:spPr>
          <a:xfrm>
            <a:off x="9334500" y="736600"/>
            <a:ext cx="2095500" cy="431800"/>
          </a:xfrm>
          <a:prstGeom prst="roundRect">
            <a:avLst/>
          </a:prstGeom>
          <a:solidFill>
            <a:srgbClr val="7AB64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sz="1350" b="1">
                <a:solidFill>
                  <a:srgbClr val="FFFFFF"/>
                </a:solidFill>
              </a:rPr>
              <a:t>CA Exercise 3 · 4 / 4</a:t>
            </a:r>
          </a:p>
        </p:txBody>
      </p:sp>
      <p:sp>
        <p:nvSpPr>
          <p:cNvPr id="160" name="c1"/>
          <p:cNvSpPr/>
          <p:nvPr/>
        </p:nvSpPr>
        <p:spPr>
          <a:xfrm>
            <a:off x="762000" y="1701800"/>
            <a:ext cx="10668000" cy="1498600"/>
          </a:xfrm>
          <a:prstGeom prst="roundRect">
            <a:avLst>
              <a:gd name="adj" fmla="val 4000"/>
            </a:avLst>
          </a:prstGeom>
          <a:solidFill>
            <a:srgbClr val="F3EFF8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4B2E83"/>
                </a:solidFill>
              </a:rPr>
              <a:t>Brand A — cos² = 0.91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Excellently represented on Axis 1: A's position on the map is trustworthy and can be interpreted with confidence.</a:t>
            </a:r>
          </a:p>
        </p:txBody>
      </p:sp>
      <p:sp>
        <p:nvSpPr>
          <p:cNvPr id="161" name="c2"/>
          <p:cNvSpPr/>
          <p:nvPr/>
        </p:nvSpPr>
        <p:spPr>
          <a:xfrm>
            <a:off x="762000" y="3327400"/>
            <a:ext cx="10668000" cy="1524000"/>
          </a:xfrm>
          <a:prstGeom prst="roundRect">
            <a:avLst>
              <a:gd name="adj" fmla="val 4000"/>
            </a:avLst>
          </a:prstGeom>
          <a:solidFill>
            <a:srgbClr val="EAF6F7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00A7B5"/>
                </a:solidFill>
              </a:rPr>
              <a:t>Brand C — cos² = 0.18</a:t>
            </a:r>
          </a:p>
          <a:p>
            <a:pPr algn="l"/>
            <a:r>
              <a:rPr lang="en-US" sz="1550" b="0">
                <a:solidFill>
                  <a:srgbClr val="333333"/>
                </a:solidFill>
              </a:rPr>
              <a:t>Poorly represented in this plane: most of C's variation lies on a higher, unshown dimension. Do not interpret where C sits on the 2-D map.</a:t>
            </a:r>
          </a:p>
        </p:txBody>
      </p:sp>
      <p:sp>
        <p:nvSpPr>
          <p:cNvPr id="162" name="c3"/>
          <p:cNvSpPr/>
          <p:nvPr/>
        </p:nvSpPr>
        <p:spPr>
          <a:xfrm>
            <a:off x="762000" y="4978400"/>
            <a:ext cx="10668000" cy="1447800"/>
          </a:xfrm>
          <a:prstGeom prst="roundRect">
            <a:avLst>
              <a:gd name="adj" fmla="val 4000"/>
            </a:avLst>
          </a:prstGeom>
          <a:solidFill>
            <a:srgbClr val="F7F3EC"/>
          </a:solidFill>
          <a:ln>
            <a:noFill/>
          </a:ln>
        </p:spPr>
        <p:txBody>
          <a:bodyPr wrap="square" lIns="137160" tIns="82296" rIns="137160" bIns="82296" anchor="ctr"/>
          <a:lstStyle/>
          <a:p>
            <a:pPr algn="l"/>
            <a:r>
              <a:rPr lang="en-US" sz="1500" b="1">
                <a:solidFill>
                  <a:srgbClr val="85754D"/>
                </a:solidFill>
              </a:rPr>
              <a:t>Golden rule recap</a:t>
            </a:r>
          </a:p>
          <a:p>
            <a:pPr algn="l"/>
            <a:r>
              <a:rPr lang="en-US" sz="1550">
                <a:solidFill>
                  <a:srgbClr val="333333"/>
                </a:solidFill>
              </a:rPr>
              <a:t>CTR tells you what builds an axis (here A and B); cos² tells you which points you can trust (A yes, C no).</a:t>
            </a:r>
          </a:p>
        </p:txBody>
      </p:sp>
    </p:spTree>
    <p:extLst>
      <p:ext uri="{BB962C8B-B14F-4D97-AF65-F5344CB8AC3E}">
        <p14:creationId xmlns:p14="http://schemas.microsoft.com/office/powerpoint/2010/main" val="424669469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FCD268-8AE7-CC49-8A2D-80F44476864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2E83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41E4E2-1E20-9043-B62F-6AF2A2CCA793}"/>
              </a:ext>
            </a:extLst>
          </p:cNvPr>
          <p:cNvSpPr/>
          <p:nvPr/>
        </p:nvSpPr>
        <p:spPr>
          <a:xfrm>
            <a:off x="9652000" y="0"/>
            <a:ext cx="2540000" cy="68580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1F49C3-1F3C-AD44-8871-21FE1B9EFF96}"/>
              </a:ext>
            </a:extLst>
          </p:cNvPr>
          <p:cNvSpPr txBox="1"/>
          <p:nvPr/>
        </p:nvSpPr>
        <p:spPr>
          <a:xfrm>
            <a:off x="1524000" y="1905000"/>
            <a:ext cx="3810000" cy="707886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000" b="1">
                <a:solidFill>
                  <a:srgbClr val="B7A57A"/>
                </a:solidFill>
                <a:latin typeface="Arial"/>
                <a:cs typeface="Arial"/>
              </a:rPr>
              <a:t>02b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570563-5513-FA44-B03C-F7E814603B36}"/>
              </a:ext>
            </a:extLst>
          </p:cNvPr>
          <p:cNvSpPr/>
          <p:nvPr/>
        </p:nvSpPr>
        <p:spPr>
          <a:xfrm>
            <a:off x="1524000" y="3175000"/>
            <a:ext cx="1143000" cy="1016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55C9A6-9E45-434F-9EDE-D1E2FE9A27B7}"/>
              </a:ext>
            </a:extLst>
          </p:cNvPr>
          <p:cNvSpPr txBox="1"/>
          <p:nvPr/>
        </p:nvSpPr>
        <p:spPr>
          <a:xfrm>
            <a:off x="1498600" y="3492500"/>
            <a:ext cx="7874000" cy="150810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4600" b="1">
                <a:solidFill>
                  <a:srgbClr val="FFFFFF"/>
                </a:solidFill>
                <a:latin typeface="Arial"/>
                <a:cs typeface="Arial"/>
              </a:rPr>
              <a:t>Multiple Correspondence 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E7CE0E-9812-9E42-B937-6FDBB4F2EEB8}"/>
              </a:ext>
            </a:extLst>
          </p:cNvPr>
          <p:cNvSpPr txBox="1"/>
          <p:nvPr/>
        </p:nvSpPr>
        <p:spPr>
          <a:xfrm>
            <a:off x="1524000" y="5334000"/>
            <a:ext cx="7874000" cy="36933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>
                <a:solidFill>
                  <a:srgbClr val="F5F0EB"/>
                </a:solidFill>
              </a:rPr>
              <a:t>Correspondence Analysis for more than two categorical variables</a:t>
            </a:r>
          </a:p>
        </p:txBody>
      </p:sp>
    </p:spTree>
    <p:extLst>
      <p:ext uri="{BB962C8B-B14F-4D97-AF65-F5344CB8AC3E}">
        <p14:creationId xmlns:p14="http://schemas.microsoft.com/office/powerpoint/2010/main" val="154956542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Multiple Correspondence Analysis (MCA)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Correspondence Analysis extended to more than two categorical variables.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D91DA5-E7B0-6D48-AE8E-478D51679487}"/>
              </a:ext>
            </a:extLst>
          </p:cNvPr>
          <p:cNvSpPr/>
          <p:nvPr/>
        </p:nvSpPr>
        <p:spPr>
          <a:xfrm>
            <a:off x="7620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6E5E1-52F3-FC47-8135-893463C8B2C7}"/>
              </a:ext>
            </a:extLst>
          </p:cNvPr>
          <p:cNvSpPr txBox="1"/>
          <p:nvPr/>
        </p:nvSpPr>
        <p:spPr>
          <a:xfrm>
            <a:off x="9398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PCA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5AB9361-27F0-4A44-B3B4-03DD987C6265}"/>
              </a:ext>
            </a:extLst>
          </p:cNvPr>
          <p:cNvSpPr txBox="1"/>
          <p:nvPr/>
        </p:nvSpPr>
        <p:spPr>
          <a:xfrm>
            <a:off x="939800" y="2692400"/>
            <a:ext cx="30734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For continuous numerical variables. Projects standardized measurements to maximize variance.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A86975-12E4-F243-AF7B-1AB8D287326A}"/>
              </a:ext>
            </a:extLst>
          </p:cNvPr>
          <p:cNvSpPr/>
          <p:nvPr/>
        </p:nvSpPr>
        <p:spPr>
          <a:xfrm>
            <a:off x="43815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CBA28-036B-CB4F-9480-9A2C2922D8CB}"/>
              </a:ext>
            </a:extLst>
          </p:cNvPr>
          <p:cNvSpPr txBox="1"/>
          <p:nvPr/>
        </p:nvSpPr>
        <p:spPr>
          <a:xfrm>
            <a:off x="45593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CA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DDD8A21-D962-F34C-B0BA-21289AB73D2B}"/>
              </a:ext>
            </a:extLst>
          </p:cNvPr>
          <p:cNvSpPr txBox="1"/>
          <p:nvPr/>
        </p:nvSpPr>
        <p:spPr>
          <a:xfrm>
            <a:off x="4559300" y="2692400"/>
            <a:ext cx="30734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For one contingency table — two categorical variables, e.g. Gender × Preference.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0E589C-2284-8F4D-9A5C-CB000E2B56C1}"/>
              </a:ext>
            </a:extLst>
          </p:cNvPr>
          <p:cNvSpPr/>
          <p:nvPr/>
        </p:nvSpPr>
        <p:spPr>
          <a:xfrm>
            <a:off x="8001000" y="2159000"/>
            <a:ext cx="3429000" cy="15240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449E8-F20B-1B46-9310-20F8BE8648E6}"/>
              </a:ext>
            </a:extLst>
          </p:cNvPr>
          <p:cNvSpPr txBox="1"/>
          <p:nvPr/>
        </p:nvSpPr>
        <p:spPr>
          <a:xfrm>
            <a:off x="81788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MCA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EA3022-7B5B-874D-911A-7C2BB054BFC3}"/>
              </a:ext>
            </a:extLst>
          </p:cNvPr>
          <p:cNvSpPr txBox="1"/>
          <p:nvPr/>
        </p:nvSpPr>
        <p:spPr>
          <a:xfrm>
            <a:off x="8178800" y="2692400"/>
            <a:ext cx="30734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For many categorical variables at once, e.g. a full set of survey responses.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4F21C17-D3D5-B24D-8F6A-4B91257D9AFF}"/>
              </a:ext>
            </a:extLst>
          </p:cNvPr>
          <p:cNvSpPr/>
          <p:nvPr/>
        </p:nvSpPr>
        <p:spPr>
          <a:xfrm>
            <a:off x="762000" y="3962400"/>
            <a:ext cx="10668000" cy="2108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53D11E-72F2-CD43-B08B-06125D848A17}"/>
              </a:ext>
            </a:extLst>
          </p:cNvPr>
          <p:cNvSpPr txBox="1"/>
          <p:nvPr/>
        </p:nvSpPr>
        <p:spPr>
          <a:xfrm>
            <a:off x="990600" y="4114800"/>
            <a:ext cx="889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In one sentence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B46787-4B14-E046-8EEE-E57E10DC7622}"/>
              </a:ext>
            </a:extLst>
          </p:cNvPr>
          <p:cNvSpPr txBox="1"/>
          <p:nvPr/>
        </p:nvSpPr>
        <p:spPr>
          <a:xfrm>
            <a:off x="990600" y="4470400"/>
            <a:ext cx="10210800" cy="73866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>
                <a:solidFill>
                  <a:srgbClr val="333333"/>
                </a:solidFill>
              </a:rPr>
              <a:t>MCA is basically Correspondence Analysis for more than two categorical variables. Each respondent answers several categorical questions; MCA finds a low-dimensional map where similar response patterns sit close together — just as CA does for a single two-way table, and PCA does for continuous data.</a:t>
            </a:r>
          </a:p>
        </p:txBody>
      </p:sp>
    </p:spTree>
    <p:extLst>
      <p:ext uri="{BB962C8B-B14F-4D97-AF65-F5344CB8AC3E}">
        <p14:creationId xmlns:p14="http://schemas.microsoft.com/office/powerpoint/2010/main" val="10330551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DEB1A5-A085-6C4B-A3C0-C11601D788D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E6B95-3758-7E47-85AB-872A66C8710A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MCA — From CA to the Indicator Matrix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A9FE9-A40B-A446-A25A-04A80EF8205B}"/>
              </a:ext>
            </a:extLst>
          </p:cNvPr>
          <p:cNvSpPr txBox="1"/>
          <p:nvPr/>
        </p:nvSpPr>
        <p:spPr>
          <a:xfrm>
            <a:off x="762000" y="14732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MCA is CA applied to the indicator (dummy-coded) matrix of the categorical variables.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A1556D-1F7B-404B-A4A0-4DD161332BD1}"/>
              </a:ext>
            </a:extLst>
          </p:cNvPr>
          <p:cNvSpPr txBox="1"/>
          <p:nvPr/>
        </p:nvSpPr>
        <p:spPr>
          <a:xfrm>
            <a:off x="762000" y="1879600"/>
            <a:ext cx="5334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Setup &amp; notation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CC2D8-A988-804D-B93E-D3CACA445080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/>
              <p:nvPr/>
            </p:nvSpPr>
            <p:spPr>
              <a:xfrm>
                <a:off x="939800" y="2311400"/>
                <a:ext cx="4978400" cy="176683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n = respondents (rows)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Q = categorical variables (questions)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𝐽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𝑞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categories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of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variable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𝑞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/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sub>
                        <m:sup/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𝐽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b>
                          </m:sSub>
                        </m:e>
                      </m:nary>
                      <m:r>
                        <a:rPr>
                          <a:latin typeface="Cambria Math" panose="02040503050406030204" pitchFamily="18" charset="0"/>
                        </a:rPr>
                        <m:t>=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total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categories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𝑛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𝐽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indicator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matrix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311400"/>
                <a:ext cx="4978400" cy="1766830"/>
              </a:xfrm>
              <a:prstGeom prst="rect">
                <a:avLst/>
              </a:prstGeom>
              <a:blipFill>
                <a:blip r:embed="rId2"/>
                <a:stretch>
                  <a:fillRect l="-254" t="-9929" b="-6028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D1E14EB-7147-D44E-990E-C94A3EC6ABCB}"/>
              </a:ext>
            </a:extLst>
          </p:cNvPr>
          <p:cNvSpPr txBox="1"/>
          <p:nvPr/>
        </p:nvSpPr>
        <p:spPr>
          <a:xfrm>
            <a:off x="6350000" y="1879600"/>
            <a:ext cx="5080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Indicator matrix Z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139F237-B712-7B49-B79D-3CF32F0230E9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/>
              <p:nvPr/>
            </p:nvSpPr>
            <p:spPr>
              <a:xfrm>
                <a:off x="6527800" y="2311400"/>
                <a:ext cx="4724400" cy="133805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 1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if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respondent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chose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category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      0 otherwise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Each variable contributes a block of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columns; exactly one 1 per block per row.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sums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𝑄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 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one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answer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per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question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2311400"/>
                <a:ext cx="4724400" cy="1338059"/>
              </a:xfrm>
              <a:prstGeom prst="rect">
                <a:avLst/>
              </a:prstGeom>
              <a:blipFill>
                <a:blip r:embed="rId3"/>
                <a:stretch>
                  <a:fillRect l="-536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05944F7-CC50-3243-8FEE-7C310B729F96}"/>
              </a:ext>
            </a:extLst>
          </p:cNvPr>
          <p:cNvSpPr txBox="1"/>
          <p:nvPr/>
        </p:nvSpPr>
        <p:spPr>
          <a:xfrm>
            <a:off x="762000" y="4267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MCA = CA of Z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2FC04EC-E136-884D-BC4E-A005E319B255}"/>
              </a:ext>
            </a:extLst>
          </p:cNvPr>
          <p:cNvSpPr/>
          <p:nvPr/>
        </p:nvSpPr>
        <p:spPr>
          <a:xfrm>
            <a:off x="762000" y="4521200"/>
            <a:ext cx="10668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/>
              <p:nvPr/>
            </p:nvSpPr>
            <p:spPr>
              <a:xfrm>
                <a:off x="939800" y="4622800"/>
                <a:ext cx="10312400" cy="175260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Apply the full Correspondence Analysis machinery to Z instead of a two-way table N: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𝑍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𝑛𝑄</m:t>
                          </m:r>
                        </m:den>
                      </m:f>
                      <m:r>
                        <a:rPr>
                          <a:latin typeface="Cambria Math" panose="02040503050406030204" pitchFamily="18" charset="0"/>
                        </a:rPr>
                        <m:t>  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row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masses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), 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diag</m:t>
                      </m:r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col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masses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𝑟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 → 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SVD</m:t>
                      </m:r>
                      <m:r>
                        <a:rPr>
                          <a:latin typeface="Cambria Math" panose="02040503050406030204" pitchFamily="18" charset="0"/>
                        </a:rPr>
                        <m:t>: 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Standard and principal coordinates then follow exactly as in CA — so MCA reduces a survey of Q categorical questions to a low-dimensional map.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622800"/>
                <a:ext cx="10312400" cy="1752600"/>
              </a:xfrm>
              <a:prstGeom prst="rect">
                <a:avLst/>
              </a:prstGeom>
              <a:blipFill>
                <a:blip r:embed="rId4"/>
                <a:stretch>
                  <a:fillRect l="-123" t="-714" b="-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340567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DEB1A5-A085-6C4B-A3C0-C11601D788D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1E6B95-3758-7E47-85AB-872A66C8710A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MCA — The Burt Matrix &amp; Decomposition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0A9FE9-A40B-A446-A25A-04A80EF8205B}"/>
              </a:ext>
            </a:extLst>
          </p:cNvPr>
          <p:cNvSpPr txBox="1"/>
          <p:nvPr/>
        </p:nvSpPr>
        <p:spPr>
          <a:xfrm>
            <a:off x="762000" y="14732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Two equivalent routes: CA of the indicator matrix Z, or CA of the Burt matrix B = ZᵀZ.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A1556D-1F7B-404B-A4A0-4DD161332BD1}"/>
              </a:ext>
            </a:extLst>
          </p:cNvPr>
          <p:cNvSpPr txBox="1"/>
          <p:nvPr/>
        </p:nvSpPr>
        <p:spPr>
          <a:xfrm>
            <a:off x="762000" y="1879600"/>
            <a:ext cx="5334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Burt matrix  B = ZᵀZ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2ACC2D8-A988-804D-B93E-D3CACA445080}"/>
              </a:ext>
            </a:extLst>
          </p:cNvPr>
          <p:cNvSpPr/>
          <p:nvPr/>
        </p:nvSpPr>
        <p:spPr>
          <a:xfrm>
            <a:off x="762000" y="2184400"/>
            <a:ext cx="5334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/>
              <p:nvPr/>
            </p:nvSpPr>
            <p:spPr>
              <a:xfrm>
                <a:off x="939800" y="2311400"/>
                <a:ext cx="4978400" cy="159409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 (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>
                          <a:latin typeface="Cambria Math" panose="02040503050406030204" pitchFamily="18" charset="0"/>
                        </a:rPr>
                        <m:t>𝐽</m:t>
                      </m:r>
                      <m:r>
                        <a:rPr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symmetric</m:t>
                      </m:r>
                      <m:r>
                        <a:rPr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/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Block structure: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diagonal blocks = category counts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  (each variable cross-tabbed with itself)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  off-diagonal blocks = all pairwise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two</m:t>
                      </m:r>
                      <m:r>
                        <a:rPr>
                          <a:latin typeface="Cambria Math" panose="02040503050406030204" pitchFamily="18" charset="0"/>
                        </a:rPr>
                        <m:t>−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way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contingency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tables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𝑞𝑞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8B3FCEA-E70F-4C49-A151-A0F100C1B8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311400"/>
                <a:ext cx="4978400" cy="1594091"/>
              </a:xfrm>
              <a:prstGeom prst="rect">
                <a:avLst/>
              </a:prstGeom>
              <a:blipFill>
                <a:blip r:embed="rId2"/>
                <a:stretch>
                  <a:fillRect l="-254" b="-15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BD1E14EB-7147-D44E-990E-C94A3EC6ABCB}"/>
              </a:ext>
            </a:extLst>
          </p:cNvPr>
          <p:cNvSpPr txBox="1"/>
          <p:nvPr/>
        </p:nvSpPr>
        <p:spPr>
          <a:xfrm>
            <a:off x="6350000" y="1879600"/>
            <a:ext cx="5080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Decomposition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139F237-B712-7B49-B79D-3CF32F0230E9}"/>
              </a:ext>
            </a:extLst>
          </p:cNvPr>
          <p:cNvSpPr/>
          <p:nvPr/>
        </p:nvSpPr>
        <p:spPr>
          <a:xfrm>
            <a:off x="6350000" y="2184400"/>
            <a:ext cx="5080000" cy="19050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/>
              <p:nvPr/>
            </p:nvSpPr>
            <p:spPr>
              <a:xfrm>
                <a:off x="6527800" y="2311400"/>
                <a:ext cx="4724400" cy="1652375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Eigen-decompose the scaled matrix: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  <m:d>
                        <m:d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𝑄</m:t>
                              </m:r>
                            </m:den>
                          </m:f>
                          <m:r>
                            <a:rPr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>
                              <a:latin typeface="Cambria Math" panose="02040503050406030204" pitchFamily="18" charset="0"/>
                            </a:rPr>
                            <m:t>𝑐</m:t>
                          </m:r>
                          <m:sSup>
                            <m:sSup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p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</m:e>
                      </m:d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p>
                          <m:f>
                            <m:f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num>
                            <m:den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→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eigenvalues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,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eigenvectors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→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axes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Coordinates of categories from eigenvectors.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Burt</m:t>
                      </m:r>
                      <m:r>
                        <a:rPr>
                          <a:latin typeface="Cambria Math" panose="02040503050406030204" pitchFamily="18" charset="0"/>
                        </a:rPr>
                        <m:t>) 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>
                                  <a:latin typeface="Cambria Math" panose="02040503050406030204" pitchFamily="18" charset="0"/>
                                </a:rPr>
                                <m:t>of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𝑍</m:t>
                              </m:r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  →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same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axes</m:t>
                      </m:r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46F59D-094D-8944-9249-C0E78D720D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7800" y="2311400"/>
                <a:ext cx="4724400" cy="1652375"/>
              </a:xfrm>
              <a:prstGeom prst="rect">
                <a:avLst/>
              </a:prstGeom>
              <a:blipFill>
                <a:blip r:embed="rId3"/>
                <a:stretch>
                  <a:fillRect l="-536" t="-763" b="-30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F05944F7-CC50-3243-8FEE-7C310B729F96}"/>
              </a:ext>
            </a:extLst>
          </p:cNvPr>
          <p:cNvSpPr txBox="1"/>
          <p:nvPr/>
        </p:nvSpPr>
        <p:spPr>
          <a:xfrm>
            <a:off x="762000" y="4267200"/>
            <a:ext cx="10668000" cy="315471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50" b="1">
                <a:solidFill>
                  <a:srgbClr val="4B2E83"/>
                </a:solidFill>
              </a:rPr>
              <a:t>Why it matters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2FC04EC-E136-884D-BC4E-A005E319B255}"/>
              </a:ext>
            </a:extLst>
          </p:cNvPr>
          <p:cNvSpPr/>
          <p:nvPr/>
        </p:nvSpPr>
        <p:spPr>
          <a:xfrm>
            <a:off x="762000" y="4572000"/>
            <a:ext cx="10668000" cy="1498600"/>
          </a:xfrm>
          <a:prstGeom prst="roundRect">
            <a:avLst/>
          </a:prstGeom>
          <a:solidFill>
            <a:srgbClr val="FBFAF7"/>
          </a:solidFill>
          <a:ln w="12700" cap="flat" cmpd="sng" algn="ctr">
            <a:solidFill>
              <a:srgbClr val="7AB648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/>
              <p:nvPr/>
            </p:nvSpPr>
            <p:spPr>
              <a:xfrm>
                <a:off x="939800" y="4699000"/>
                <a:ext cx="10312400" cy="137807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B packs every pairwise association among the Q variables into one symmetric J × J matrix, so MCA captures how all categories co-occur — not just one pair.</a:t>
                </a:r>
              </a:p>
              <a:p>
                <a:pPr algn="l"/>
                <a:r>
                  <a:rPr lang="en-US" sz="145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Plain Burt eigenvalues overstate inertia, so Benzécri / Greenacre adjustments are applied: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e>
                            <m: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num>
                                <m:den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b>
                              </m:sSub>
                              <m:r>
                                <a:rPr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f>
                                <m:fPr>
                                  <m:ctrlPr>
                                    <a:rPr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 </m:t>
                      </m:r>
                      <m:r>
                        <m:rPr>
                          <m:sty m:val="p"/>
                        </m:rPr>
                        <a:rPr>
                          <a:latin typeface="Cambria Math" panose="02040503050406030204" pitchFamily="18" charset="0"/>
                        </a:rPr>
                        <m:t>for</m:t>
                      </m:r>
                      <m:r>
                        <a:rPr>
                          <a:latin typeface="Cambria Math" panose="02040503050406030204" pitchFamily="18" charset="0"/>
                        </a:rPr>
                        <m:t> </m:t>
                      </m:r>
                      <m:sSub>
                        <m:sSub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𝜆</m:t>
                          </m:r>
                        </m:e>
                        <m:sub>
                          <m:r>
                            <a:rPr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  <m:r>
                        <a:rPr>
                          <a:latin typeface="Cambria Math" panose="02040503050406030204" pitchFamily="18" charset="0"/>
                        </a:rPr>
                        <m:t>&gt;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>
                              <a:latin typeface="Cambria Math" panose="02040503050406030204" pitchFamily="18" charset="0"/>
                            </a:rPr>
                            <m:t>𝑄</m:t>
                          </m:r>
                        </m:den>
                      </m:f>
                    </m:oMath>
                  </m:oMathPara>
                </a14:m>
                <a:endParaRPr lang="en-US" sz="145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F1B54DC-CF5C-0D4C-9D7E-BDCD2D862B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4699000"/>
                <a:ext cx="10312400" cy="1378070"/>
              </a:xfrm>
              <a:prstGeom prst="rect">
                <a:avLst/>
              </a:prstGeom>
              <a:blipFill>
                <a:blip r:embed="rId4"/>
                <a:stretch>
                  <a:fillRect l="-123" t="-917" b="-27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22021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9FEB6E0-C0D0-CB44-BA53-2EC86E56ECE7}"/>
              </a:ext>
            </a:extLst>
          </p:cNvPr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B7A57A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3728A10-2F32-BF46-914A-06DEDECDA845}"/>
              </a:ext>
            </a:extLst>
          </p:cNvPr>
          <p:cNvSpPr txBox="1"/>
          <p:nvPr/>
        </p:nvSpPr>
        <p:spPr>
          <a:xfrm>
            <a:off x="762000" y="711200"/>
            <a:ext cx="10668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2800" b="1">
                <a:solidFill>
                  <a:srgbClr val="4B2E83"/>
                </a:solidFill>
              </a:rPr>
              <a:t>MCA — Three Worked Examples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4CC865-9CE6-404C-A44F-E86470525F99}"/>
              </a:ext>
            </a:extLst>
          </p:cNvPr>
          <p:cNvSpPr txBox="1"/>
          <p:nvPr/>
        </p:nvSpPr>
        <p:spPr>
          <a:xfrm>
            <a:off x="762000" y="1473200"/>
            <a:ext cx="10668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i="1">
                <a:solidFill>
                  <a:srgbClr val="333333"/>
                </a:solidFill>
              </a:rPr>
              <a:t>The indicator matrix Z in matrix notation for three small surveys.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3D91DA5-E7B0-6D48-AE8E-478D51679487}"/>
              </a:ext>
            </a:extLst>
          </p:cNvPr>
          <p:cNvSpPr/>
          <p:nvPr/>
        </p:nvSpPr>
        <p:spPr>
          <a:xfrm>
            <a:off x="762000" y="2133600"/>
            <a:ext cx="3429000" cy="29464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4B2E83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56E5E1-52F3-FC47-8135-893463C8B2C7}"/>
              </a:ext>
            </a:extLst>
          </p:cNvPr>
          <p:cNvSpPr txBox="1"/>
          <p:nvPr/>
        </p:nvSpPr>
        <p:spPr>
          <a:xfrm>
            <a:off x="9398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1 · Yes/No survey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AB9361-27F0-4A44-B3B4-03DD987C6265}"/>
                  </a:ext>
                </a:extLst>
              </p:cNvPr>
              <p:cNvSpPr txBox="1"/>
              <p:nvPr/>
            </p:nvSpPr>
            <p:spPr>
              <a:xfrm>
                <a:off x="939800" y="2692400"/>
                <a:ext cx="3073400" cy="1825180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3 respondents, Q=2 (Buy?, Recommend?), each Yes/No → J=4 columns.</a:t>
                </a: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Columns:  By  Bn  Ry  Rn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Z is 3×4;  row sums = Q = 2.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5AB9361-27F0-4A44-B3B4-03DD987C6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00" y="2692400"/>
                <a:ext cx="3073400" cy="1825180"/>
              </a:xfrm>
              <a:prstGeom prst="rect">
                <a:avLst/>
              </a:prstGeom>
              <a:blipFill>
                <a:blip r:embed="rId2"/>
                <a:stretch>
                  <a:fillRect l="-412" t="-694" b="-2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29A86975-12E4-F243-AF7B-1AB8D287326A}"/>
              </a:ext>
            </a:extLst>
          </p:cNvPr>
          <p:cNvSpPr/>
          <p:nvPr/>
        </p:nvSpPr>
        <p:spPr>
          <a:xfrm>
            <a:off x="4381500" y="2133600"/>
            <a:ext cx="3429000" cy="29464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00A7B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FFCBA28-036B-CB4F-9480-9A2C2922D8CB}"/>
              </a:ext>
            </a:extLst>
          </p:cNvPr>
          <p:cNvSpPr txBox="1"/>
          <p:nvPr/>
        </p:nvSpPr>
        <p:spPr>
          <a:xfrm>
            <a:off x="45593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2 · Three variables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D8A21-D962-F34C-B0BA-21289AB73D2B}"/>
                  </a:ext>
                </a:extLst>
              </p:cNvPr>
              <p:cNvSpPr txBox="1"/>
              <p:nvPr/>
            </p:nvSpPr>
            <p:spPr>
              <a:xfrm>
                <a:off x="4559300" y="2692400"/>
                <a:ext cx="3073400" cy="1354473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n=2, Q=3: Gender(M/F), Region(N/S), Plan(A/B/C) → J=7.</a:t>
                </a: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Cols:  M F | N S | A B C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7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One block per variable; one 1 each.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3DDD8A21-D962-F34C-B0BA-21289AB73D2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9300" y="2692400"/>
                <a:ext cx="3073400" cy="1354473"/>
              </a:xfrm>
              <a:prstGeom prst="rect">
                <a:avLst/>
              </a:prstGeom>
              <a:blipFill>
                <a:blip r:embed="rId3"/>
                <a:stretch>
                  <a:fillRect l="-413" t="-935" b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70E589C-2284-8F4D-9A5C-CB000E2B56C1}"/>
              </a:ext>
            </a:extLst>
          </p:cNvPr>
          <p:cNvSpPr/>
          <p:nvPr/>
        </p:nvSpPr>
        <p:spPr>
          <a:xfrm>
            <a:off x="8001000" y="2133600"/>
            <a:ext cx="3429000" cy="2946400"/>
          </a:xfrm>
          <a:prstGeom prst="roundRect">
            <a:avLst/>
          </a:prstGeom>
          <a:solidFill>
            <a:srgbClr val="F5F0EB"/>
          </a:solidFill>
          <a:ln w="19050" cap="flat" cmpd="sng" algn="ctr">
            <a:solidFill>
              <a:srgbClr val="D1578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3449E8-F20B-1B46-9310-20F8BE8648E6}"/>
              </a:ext>
            </a:extLst>
          </p:cNvPr>
          <p:cNvSpPr txBox="1"/>
          <p:nvPr/>
        </p:nvSpPr>
        <p:spPr>
          <a:xfrm>
            <a:off x="8178800" y="2311400"/>
            <a:ext cx="3073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3 · Burt matrix B = ZᵀZ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EA3022-7B5B-874D-911A-7C2BB054BFC3}"/>
                  </a:ext>
                </a:extLst>
              </p:cNvPr>
              <p:cNvSpPr txBox="1"/>
              <p:nvPr/>
            </p:nvSpPr>
            <p:spPr>
              <a:xfrm>
                <a:off x="8178800" y="2692400"/>
                <a:ext cx="3073400" cy="1712969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From Example 1's Z (3×4), the Burt matrix: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>
                              <a:latin typeface="Cambria Math" panose="02040503050406030204" pitchFamily="18" charset="0"/>
                            </a:rPr>
                            <m:t>𝑍</m:t>
                          </m:r>
                        </m:e>
                        <m:sup>
                          <m:r>
                            <a:rPr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mr>
                            <m:mr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300" dirty="0">
                  <a:solidFill>
                    <a:srgbClr val="333333"/>
                  </a:solidFill>
                  <a:latin typeface="Cambria Math"/>
                  <a:ea typeface="Cambria Math"/>
                </a:endParaRPr>
              </a:p>
              <a:p>
                <a:pPr algn="l"/>
                <a:r>
                  <a:rPr lang="en-US" sz="1300" dirty="0">
                    <a:solidFill>
                      <a:srgbClr val="333333"/>
                    </a:solidFill>
                    <a:latin typeface="Cambria Math"/>
                    <a:ea typeface="Cambria Math"/>
                  </a:rPr>
                  <a:t>Rows/cols:  By Bn Ry Rn.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87EA3022-7B5B-874D-911A-7C2BB054BF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8800" y="2692400"/>
                <a:ext cx="3073400" cy="1712969"/>
              </a:xfrm>
              <a:prstGeom prst="rect">
                <a:avLst/>
              </a:prstGeom>
              <a:blipFill>
                <a:blip r:embed="rId4"/>
                <a:stretch>
                  <a:fillRect l="-412" t="-735"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4F21C17-D3D5-B24D-8F6A-4B91257D9AFF}"/>
              </a:ext>
            </a:extLst>
          </p:cNvPr>
          <p:cNvSpPr/>
          <p:nvPr/>
        </p:nvSpPr>
        <p:spPr>
          <a:xfrm>
            <a:off x="762000" y="5232400"/>
            <a:ext cx="10668000" cy="1092200"/>
          </a:xfrm>
          <a:prstGeom prst="roundRect">
            <a:avLst/>
          </a:prstGeom>
          <a:solidFill>
            <a:srgbClr val="FBFAF7"/>
          </a:solidFill>
          <a:ln w="15875" cap="flat" cmpd="sng" algn="ctr">
            <a:solidFill>
              <a:srgbClr val="B7A57A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53D11E-72F2-CD43-B08B-06125D848A17}"/>
              </a:ext>
            </a:extLst>
          </p:cNvPr>
          <p:cNvSpPr txBox="1"/>
          <p:nvPr/>
        </p:nvSpPr>
        <p:spPr>
          <a:xfrm>
            <a:off x="990600" y="5334000"/>
            <a:ext cx="8890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4B2E83"/>
                </a:solidFill>
              </a:rPr>
              <a:t>Takeaway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B46787-4B14-E046-8EEE-E57E10DC7622}"/>
                  </a:ext>
                </a:extLst>
              </p:cNvPr>
              <p:cNvSpPr txBox="1"/>
              <p:nvPr/>
            </p:nvSpPr>
            <p:spPr>
              <a:xfrm>
                <a:off x="990600" y="5664200"/>
                <a:ext cx="10210800" cy="584071"/>
              </a:xfrm>
              <a:prstGeom prst="rect">
                <a:avLst/>
              </a:prstGeom>
              <a:noFill/>
            </p:spPr>
            <p:txBody>
              <a:bodyPr vertOverflow="overflow" vert="horz" wrap="square" rtlCol="0" anchor="t">
                <a:spAutoFit/>
              </a:bodyPr>
              <a:lstStyle/>
              <a:p>
                <a:pPr algn="l"/>
                <a:r>
                  <a:rPr lang="en-US" sz="1400" dirty="0">
                    <a:solidFill>
                      <a:srgbClr val="333333"/>
                    </a:solidFill>
                  </a:rPr>
                  <a:t>Code each categorical answer as dummy columns to build Z, then run CA on Z (or on the Burt matrix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>
                        <a:latin typeface="Cambria Math" panose="02040503050406030204" pitchFamily="18" charset="0"/>
                      </a:rPr>
                      <m:t>B</m:t>
                    </m:r>
                    <m:r>
                      <a:rPr>
                        <a:latin typeface="Cambria Math" panose="02040503050406030204" pitchFamily="18" charset="0"/>
                      </a:rPr>
                      <m:t> = </m:t>
                    </m:r>
                    <m:sSup>
                      <m:sSupPr>
                        <m:ctrlPr>
                          <a:rPr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p>
                        <m:r>
                          <a:rPr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1400" dirty="0">
                    <a:solidFill>
                      <a:srgbClr val="333333"/>
                    </a:solidFill>
                  </a:rPr>
                  <a:t>) to obtain the MCA map of categories and respondents.</a:t>
                </a: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66B46787-4B14-E046-8EEE-E57E10DC76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5664200"/>
                <a:ext cx="10210800" cy="584071"/>
              </a:xfrm>
              <a:prstGeom prst="rect">
                <a:avLst/>
              </a:prstGeom>
              <a:blipFill>
                <a:blip r:embed="rId5"/>
                <a:stretch>
                  <a:fillRect l="-248" b="-104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7461395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84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800" b="1" dirty="0">
                <a:solidFill>
                  <a:srgbClr val="4B2E83"/>
                </a:solidFill>
              </a:rPr>
              <a:t>Example A · Step 1 — Build the Indicator Matrix Z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70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Survey: 4 respondents, Q = 2 questions (Pet owner? · Garden?)  →  J = 4 dummy columns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Indicator matrix  Z   (4 × 4)</a:t>
            </a:r>
          </a:p>
        </p:txBody>
      </p:sp>
      <p:sp>
        <p:nvSpPr>
          <p:cNvPr id="12" name="Cols"/>
          <p:cNvSpPr txBox="1"/>
          <p:nvPr/>
        </p:nvSpPr>
        <p:spPr>
          <a:xfrm>
            <a:off x="762000" y="23876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300" b="1" dirty="0">
                <a:solidFill>
                  <a:srgbClr val="85754D"/>
                </a:solidFill>
              </a:rPr>
              <a:t>P+        P−        G+        G−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7178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𝑍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7178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5181600"/>
            <a:ext cx="5969000" cy="431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150" i="1" dirty="0">
                <a:solidFill>
                  <a:srgbClr val="666666"/>
                </a:solidFill>
              </a:rPr>
              <a:t>Teal row 1 = Respondent 1's two answers · rows R1–R4 top→bottom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4038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From answer to a 0/1 row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895600"/>
            <a:ext cx="4038600" cy="2667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Respondent 1</a:t>
            </a:r>
            <a:r>
              <a:rPr lang="en-US" sz="1350" dirty="0">
                <a:solidFill>
                  <a:srgbClr val="333333"/>
                </a:solidFill>
              </a:rPr>
              <a:t> answers:</a:t>
            </a:r>
          </a:p>
          <a:p>
            <a:pPr algn="l">
              <a:spcBef>
                <a:spcPts val="300"/>
              </a:spcBef>
            </a:pPr>
            <a:r>
              <a:rPr lang="en-US" sz="1300" dirty="0">
                <a:solidFill>
                  <a:srgbClr val="333333"/>
                </a:solidFill>
              </a:rPr>
              <a:t>•  Pet owner? → Yes   ⇒  P+ = 1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Garden? → Yes        ⇒  G+ = 1</a:t>
            </a:r>
          </a:p>
          <a:p>
            <a:pPr algn="l">
              <a:spcBef>
                <a:spcPts val="300"/>
              </a:spcBef>
            </a:pPr>
            <a:r>
              <a:rPr lang="en-US" sz="1400" b="1" dirty="0">
                <a:solidFill>
                  <a:srgbClr val="00A7B5"/>
                </a:solidFill>
              </a:rPr>
              <a:t>→  row 1  =  [ 1  0  1  0 ]</a:t>
            </a:r>
          </a:p>
          <a:p>
            <a:pPr algn="l">
              <a:spcBef>
                <a:spcPts val="360"/>
              </a:spcBef>
            </a:pPr>
            <a:r>
              <a:rPr lang="en-US" sz="1300" dirty="0">
                <a:solidFill>
                  <a:srgbClr val="333333"/>
                </a:solidFill>
              </a:rPr>
              <a:t>Each row has exactly Q = 2 ones.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Z is n × J = 4 × 4.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indicator matrix Z turns every categorical answer into a block of 0/1 dummy columns — the raw input for MCA.</a:t>
            </a:r>
          </a:p>
        </p:txBody>
      </p:sp>
      <p:pic>
        <p:nvPicPr>
          <p:cNvPr id="32" name="Graphic 32" descr="Pet paw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4000" y="2006600"/>
            <a:ext cx="355600" cy="355600"/>
          </a:xfrm>
          <a:prstGeom prst="rect">
            <a:avLst/>
          </a:prstGeom>
        </p:spPr>
      </p:pic>
      <p:pic>
        <p:nvPicPr>
          <p:cNvPr id="33" name="Graphic 33" descr="Garden tre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71200" y="20066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277984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2 — Correspondence Matrix 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Divide every entry of Z by the grand total nQ = 4 × 2 = 8, so the table sums to 1.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Correspondence matrix  P  =  Z / nQ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𝑃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16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216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16200"/>
                <a:ext cx="6096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5130800"/>
            <a:ext cx="5969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150" i="1" dirty="0">
                <a:solidFill>
                  <a:srgbClr val="666666"/>
                </a:solidFill>
              </a:rPr>
              <a:t>Gold scalar 1/8 = 1/nQ · every 1 → 0.125, every 0 stays 0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Why divide by nQ ?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09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Grand total = </a:t>
            </a:r>
            <a:r>
              <a:rPr lang="en-US" sz="1300" b="1" dirty="0">
                <a:solidFill>
                  <a:srgbClr val="333333"/>
                </a:solidFill>
              </a:rPr>
              <a:t>sum of all 1's in Z</a:t>
            </a:r>
            <a:r>
              <a:rPr lang="en-US" sz="1300" dirty="0">
                <a:solidFill>
                  <a:srgbClr val="333333"/>
                </a:solidFill>
              </a:rPr>
              <a:t> = n × Q.</a:t>
            </a:r>
          </a:p>
          <a:p>
            <a:pPr algn="l">
              <a:spcBef>
                <a:spcPts val="300"/>
              </a:spcBef>
            </a:pPr>
            <a:r>
              <a:rPr lang="en-US" sz="1300" dirty="0">
                <a:solidFill>
                  <a:srgbClr val="333333"/>
                </a:solidFill>
              </a:rPr>
              <a:t>•  n = 4 respondents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Q = 2 questions</a:t>
            </a:r>
          </a:p>
          <a:p>
            <a:pPr algn="l">
              <a:spcBef>
                <a:spcPts val="120"/>
              </a:spcBef>
            </a:pPr>
            <a:r>
              <a:rPr lang="en-US" sz="1400" b="1" dirty="0">
                <a:solidFill>
                  <a:srgbClr val="85754D"/>
                </a:solidFill>
              </a:rPr>
              <a:t>⇒  nQ = 8</a:t>
            </a:r>
          </a:p>
          <a:p>
            <a:pPr algn="l">
              <a:spcBef>
                <a:spcPts val="300"/>
              </a:spcBef>
            </a:pPr>
            <a:r>
              <a:rPr lang="en-US" sz="1300" dirty="0">
                <a:solidFill>
                  <a:srgbClr val="333333"/>
                </a:solidFill>
              </a:rPr>
              <a:t>Each entry becomes a proportion.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P sums to 1 → a joint probability table.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Rescaling to P puts every category on a common probability footing, so profiles become comparable.</a:t>
            </a:r>
          </a:p>
        </p:txBody>
      </p:sp>
      <p:pic>
        <p:nvPicPr>
          <p:cNvPr id="32" name="Graphic 32" descr="Normalize/divide filt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1200" y="20066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159138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3 — Row &amp; Column Masses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Row masses r = row sums of P (green); column masses c = column sums of P (pink).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Sum the rows and columns of  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413000"/>
                <a:ext cx="6096000" cy="1905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𝑃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216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216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8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16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13000"/>
                <a:ext cx="6096000" cy="1905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394200"/>
            <a:ext cx="5969000" cy="1219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dirty="0">
                <a:solidFill>
                  <a:srgbClr val="666666"/>
                </a:solidFill>
              </a:rPr>
              <a:t>row sum  →  </a:t>
            </a:r>
            <a:r>
              <a:rPr lang="en-US" sz="1400" b="1" dirty="0">
                <a:solidFill>
                  <a:srgbClr val="7AB648"/>
                </a:solidFill>
              </a:rPr>
              <a:t>r = ( ¼, ¼, ¼, ¼ )</a:t>
            </a:r>
          </a:p>
          <a:p>
            <a:pPr algn="ctr">
              <a:spcBef>
                <a:spcPts val="240"/>
              </a:spcBef>
            </a:pPr>
            <a:r>
              <a:rPr lang="en-US" sz="1250" dirty="0">
                <a:solidFill>
                  <a:srgbClr val="666666"/>
                </a:solidFill>
              </a:rPr>
              <a:t>col sum  →  </a:t>
            </a:r>
            <a:r>
              <a:rPr lang="en-US" sz="1400" b="1" dirty="0">
                <a:solidFill>
                  <a:srgbClr val="D1578A"/>
                </a:solidFill>
              </a:rPr>
              <a:t>c = ( ¼, ¼, ⅜, ⅛ )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Reading the masses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098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Row mass rᵢ = 1/n = ¼</a:t>
            </a:r>
          </a:p>
          <a:p>
            <a:pPr algn="l">
              <a:spcBef>
                <a:spcPts val="60"/>
              </a:spcBef>
            </a:pPr>
            <a:r>
              <a:rPr lang="en-US" sz="1250" dirty="0">
                <a:solidFill>
                  <a:srgbClr val="666666"/>
                </a:solidFill>
              </a:rPr>
              <a:t>(each row of P sums to Q/nQ = ¼).</a:t>
            </a:r>
          </a:p>
          <a:p>
            <a:pPr algn="l">
              <a:spcBef>
                <a:spcPts val="240"/>
              </a:spcBef>
            </a:pPr>
            <a:r>
              <a:rPr lang="en-US" sz="1300" b="1" dirty="0">
                <a:solidFill>
                  <a:srgbClr val="333333"/>
                </a:solidFill>
              </a:rPr>
              <a:t>Column mass cⱼ = total / nQ.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•  G+ chosen 3× → c = 3/8</a:t>
            </a:r>
          </a:p>
          <a:p>
            <a:pPr algn="l">
              <a:spcBef>
                <a:spcPts val="120"/>
              </a:spcBef>
            </a:pPr>
            <a:r>
              <a:rPr lang="en-US" sz="1300" dirty="0">
                <a:solidFill>
                  <a:srgbClr val="333333"/>
                </a:solidFill>
              </a:rPr>
              <a:t>•  G− chosen once → c = 1/8</a:t>
            </a:r>
          </a:p>
          <a:p>
            <a:pPr algn="l">
              <a:spcBef>
                <a:spcPts val="240"/>
              </a:spcBef>
            </a:pPr>
            <a:r>
              <a:rPr lang="en-US" sz="1250" i="1" dirty="0">
                <a:solidFill>
                  <a:srgbClr val="4B2E83"/>
                </a:solidFill>
              </a:rPr>
              <a:t>Masses = weights of points in the map.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Masses are the weights MCA assigns: frequent categories pull harder, rare ones (G−) sit lighter.</a:t>
            </a:r>
          </a:p>
        </p:txBody>
      </p:sp>
      <p:pic>
        <p:nvPicPr>
          <p:cNvPr id="32" name="Graphic 32" descr="Mass/weight scale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22767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4 — Burt Matrix  B = ZᵀZ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Cross-tabulate every pair of categories: B = ZᵀZ (4 × 4, symmetric).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450" b="1" dirty="0">
                <a:solidFill>
                  <a:srgbClr val="4B2E83"/>
                </a:solidFill>
              </a:rPr>
              <a:t>Burt matrix   (order: P+  P−  G+  G−)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4130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𝐵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>
                              <a:latin typeface="Cambria Math"/>
                            </a:rPr>
                            <m:t>𝑍</m:t>
                          </m:r>
                        </m:e>
                        <m:sup>
                          <m:r>
                            <a:rPr sz="2025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𝑍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2025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2025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2025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130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622800"/>
            <a:ext cx="5969000" cy="990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diagonal (gold) = category totals</a:t>
            </a:r>
          </a:p>
          <a:p>
            <a:pPr algn="ctr">
              <a:spcBef>
                <a:spcPts val="180"/>
              </a:spcBef>
            </a:pPr>
            <a:r>
              <a:rPr lang="en-US" sz="1250" b="1" dirty="0">
                <a:solidFill>
                  <a:srgbClr val="00A7B5"/>
                </a:solidFill>
              </a:rPr>
              <a:t>off-diagonal (teal) = co-occurrences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What B stores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Zᵀ is J×n, Z is n×J → B is 4×4.</a:t>
            </a:r>
          </a:p>
          <a:p>
            <a:pPr algn="l">
              <a:spcBef>
                <a:spcPts val="240"/>
              </a:spcBef>
            </a:pPr>
            <a:r>
              <a:rPr lang="en-US" sz="1300" dirty="0">
                <a:solidFill>
                  <a:srgbClr val="333333"/>
                </a:solidFill>
              </a:rPr>
              <a:t>Diagonal: how often each category was chosen.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Off-diagonal: how often two categories co-occur.</a:t>
            </a:r>
          </a:p>
          <a:p>
            <a:pPr algn="l">
              <a:spcBef>
                <a:spcPts val="240"/>
              </a:spcBef>
            </a:pPr>
            <a:r>
              <a:rPr lang="en-US" sz="1300" b="1" dirty="0">
                <a:solidFill>
                  <a:srgbClr val="333333"/>
                </a:solidFill>
              </a:rPr>
              <a:t>B(P+, G+) = colP+ · colG+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00A7B5"/>
                </a:solidFill>
              </a:rPr>
              <a:t>= [1 1 0 0]·[1 1 0 1] = 2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Pet &amp; garden owners appear together twice.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Burt matrix packs every pairwise category co-occurrence into one symmetric table — the heart of MCA.</a:t>
            </a:r>
          </a:p>
        </p:txBody>
      </p:sp>
      <p:pic>
        <p:nvPicPr>
          <p:cNvPr id="32" name="Graphic 32" descr="Cross-tabulation tab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71485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5 — Standardized Residuals 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Compare observed P with expected E = r cᵀ, then standardize the residuals.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Residuals around independence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35000" y="2438400"/>
                <a:ext cx="6223000" cy="20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𝐸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𝑆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025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𝑟</m:t>
                          </m:r>
                        </m:sub>
                        <m:sup>
                          <m:r>
                            <a:rPr sz="2025">
                              <a:latin typeface="Cambria Math"/>
                            </a:rPr>
                            <m:t>−1/2</m:t>
                          </m:r>
                        </m:sup>
                      </m:sSubSup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𝑃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)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025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2025">
                              <a:latin typeface="Cambria Math"/>
                            </a:rPr>
                            <m:t>−1/2</m:t>
                          </m:r>
                        </m:sup>
                      </m:sSubSup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438400"/>
                <a:ext cx="6223000" cy="2032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21200"/>
            <a:ext cx="5969000" cy="10922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dirty="0">
                <a:solidFill>
                  <a:srgbClr val="666666"/>
                </a:solidFill>
              </a:rPr>
              <a:t>outer product  </a:t>
            </a:r>
            <a:r>
              <a:rPr lang="en-US" sz="1300" b="1" dirty="0">
                <a:solidFill>
                  <a:srgbClr val="7AB648"/>
                </a:solidFill>
              </a:rPr>
              <a:t>r</a:t>
            </a:r>
            <a:r>
              <a:rPr lang="en-US" sz="1300" b="1" dirty="0">
                <a:solidFill>
                  <a:srgbClr val="D1578A"/>
                </a:solidFill>
              </a:rPr>
              <a:t> cᵀ</a:t>
            </a:r>
            <a:r>
              <a:rPr lang="en-US" sz="1300" b="1" dirty="0">
                <a:solidFill>
                  <a:srgbClr val="333333"/>
                </a:solidFill>
              </a:rPr>
              <a:t>  →  E(1,1) = ¼ × ¼ = 1/16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810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From counts to signal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Expected Eᵢⱼ = rᵢ cⱼ</a:t>
            </a:r>
          </a:p>
          <a:p>
            <a:pPr algn="l">
              <a:spcBef>
                <a:spcPts val="60"/>
              </a:spcBef>
            </a:pPr>
            <a:r>
              <a:rPr lang="en-US" sz="1250" dirty="0">
                <a:solidFill>
                  <a:srgbClr val="666666"/>
                </a:solidFill>
              </a:rPr>
              <a:t>— what we'd see if answers were independent.</a:t>
            </a:r>
          </a:p>
          <a:p>
            <a:pPr algn="l">
              <a:spcBef>
                <a:spcPts val="240"/>
              </a:spcBef>
            </a:pPr>
            <a:r>
              <a:rPr lang="en-US" sz="1300" dirty="0">
                <a:solidFill>
                  <a:srgbClr val="333333"/>
                </a:solidFill>
              </a:rPr>
              <a:t>Residual = P − E (observed − expected).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Scale by 1/√(rᵢ cⱼ) → standardized S.</a:t>
            </a:r>
          </a:p>
          <a:p>
            <a:pPr algn="l">
              <a:spcBef>
                <a:spcPts val="180"/>
              </a:spcBef>
            </a:pPr>
            <a:r>
              <a:rPr lang="en-US" sz="1250" i="1" dirty="0">
                <a:solidFill>
                  <a:srgbClr val="666666"/>
                </a:solidFill>
              </a:rPr>
              <a:t>Dᵣ, D꜀ are diagonal mass matrices.</a:t>
            </a:r>
          </a:p>
          <a:p>
            <a:pPr algn="l">
              <a:spcBef>
                <a:spcPts val="220"/>
              </a:spcBef>
            </a:pPr>
            <a:r>
              <a:rPr lang="en-US" sz="1300" b="1" dirty="0">
                <a:solidFill>
                  <a:srgbClr val="4B2E83"/>
                </a:solidFill>
              </a:rPr>
              <a:t>S is exactly what MCA decomposes next.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 measures how far each cell departs from independence — the signal MCA will turn into a map.</a:t>
            </a:r>
          </a:p>
        </p:txBody>
      </p:sp>
      <p:pic>
        <p:nvPicPr>
          <p:cNvPr id="32" name="Graphic 32" descr="Target / expected baselin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0463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A · Step 6 — SVD &amp; the MCA Map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Decompose S = U Σ Vᵀ; coordinates G = D꜀^(−½) V Σ place each category on the map.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Decompose, then place the points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35000" y="2413000"/>
                <a:ext cx="6223000" cy="1498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𝑆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r>
                        <a:rPr sz="2160">
                          <a:latin typeface="Cambria Math"/>
                        </a:rPr>
                        <m:t>𝑈</m:t>
                      </m:r>
                      <m:r>
                        <a:rPr sz="2160" b="1">
                          <a:solidFill>
                            <a:srgbClr val="85754D"/>
                          </a:solidFill>
                          <a:latin typeface="Cambria Math"/>
                        </a:rPr>
                        <m:t>𝛴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160">
                              <a:latin typeface="Cambria Math"/>
                            </a:rPr>
                            <m:t>𝑉</m:t>
                          </m:r>
                        </m:e>
                        <m:sup>
                          <m:r>
                            <a:rPr sz="2160"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6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160">
                          <a:latin typeface="Cambria Math"/>
                        </a:rPr>
                        <m:t>𝐺</m:t>
                      </m:r>
                      <m:r>
                        <a:rPr sz="2160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160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160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2160">
                              <a:latin typeface="Cambria Math"/>
                            </a:rPr>
                            <m:t>−1/2</m:t>
                          </m:r>
                        </m:sup>
                      </m:sSubSup>
                      <m:r>
                        <a:rPr sz="2160">
                          <a:latin typeface="Cambria Math"/>
                        </a:rPr>
                        <m:t>𝑉</m:t>
                      </m:r>
                      <m:r>
                        <a:rPr sz="2160" b="1">
                          <a:solidFill>
                            <a:srgbClr val="85754D"/>
                          </a:solidFill>
                          <a:latin typeface="Cambria Math"/>
                        </a:rPr>
                        <m:t>𝛴</m:t>
                      </m:r>
                    </m:oMath>
                  </m:oMathPara>
                </a14:m>
                <a:endParaRPr lang="en-US" sz="16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413000"/>
                <a:ext cx="6223000" cy="14986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Inertia"/>
          <p:cNvSpPr txBox="1"/>
          <p:nvPr/>
        </p:nvSpPr>
        <p:spPr>
          <a:xfrm>
            <a:off x="889000" y="3962400"/>
            <a:ext cx="5715000" cy="162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Axis 1:  λ₁ = σ₁² = 0.79  </a:t>
            </a:r>
            <a:r>
              <a:rPr lang="en-US" sz="1350" b="1" dirty="0">
                <a:solidFill>
                  <a:srgbClr val="85754D"/>
                </a:solidFill>
              </a:rPr>
              <a:t>(79%)</a:t>
            </a:r>
          </a:p>
          <a:p>
            <a:pPr algn="l">
              <a:spcBef>
                <a:spcPts val="200"/>
              </a:spcBef>
            </a:pPr>
            <a:r>
              <a:rPr lang="en-US" sz="1400" b="1" dirty="0">
                <a:solidFill>
                  <a:srgbClr val="00A7B5"/>
                </a:solidFill>
              </a:rPr>
              <a:t>Axis 2:  λ₂ = σ₂² = 0.21  </a:t>
            </a:r>
            <a:r>
              <a:rPr lang="en-US" sz="1350" b="1" dirty="0">
                <a:solidFill>
                  <a:srgbClr val="85754D"/>
                </a:solidFill>
              </a:rPr>
              <a:t>(21%)</a:t>
            </a:r>
          </a:p>
          <a:p>
            <a:pPr algn="l">
              <a:spcBef>
                <a:spcPts val="220"/>
              </a:spcBef>
            </a:pPr>
            <a:r>
              <a:rPr lang="en-US" sz="1250" i="1" dirty="0">
                <a:solidFill>
                  <a:srgbClr val="666666"/>
                </a:solidFill>
              </a:rPr>
              <a:t>Total inertia (J−Q)/Q = 1.00</a:t>
            </a:r>
          </a:p>
        </p:txBody>
      </p:sp>
      <p:sp>
        <p:nvSpPr>
          <p:cNvPr id="20" name="Map Header"/>
          <p:cNvSpPr txBox="1"/>
          <p:nvPr/>
        </p:nvSpPr>
        <p:spPr>
          <a:xfrm>
            <a:off x="6959600" y="1905000"/>
            <a:ext cx="44958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450" b="1" dirty="0">
                <a:solidFill>
                  <a:srgbClr val="4B2E83"/>
                </a:solidFill>
              </a:rPr>
              <a:t>MCA category map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Categories close together are chosen by the same respondents: P+ sits with G+, while rare G− is pushed far out.</a:t>
            </a:r>
          </a:p>
        </p:txBody>
      </p:sp>
      <p:graphicFrame>
        <p:nvGraphicFramePr>
          <p:cNvPr id="40" name="MCA Map"/>
          <p:cNvGraphicFramePr/>
          <p:nvPr/>
        </p:nvGraphicFramePr>
        <p:xfrm>
          <a:off x="6959600" y="2260600"/>
          <a:ext cx="4495800" cy="345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71260078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1 — Indicator Matrix Z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Survey: 6 commuters, Q = 2 questions (Transport · Commute) → J = 5 columns.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Indicator matrix   Z   (6 × 5)</a:t>
            </a:r>
          </a:p>
        </p:txBody>
      </p:sp>
      <p:sp>
        <p:nvSpPr>
          <p:cNvPr id="12" name="Cols"/>
          <p:cNvSpPr txBox="1"/>
          <p:nvPr/>
        </p:nvSpPr>
        <p:spPr>
          <a:xfrm>
            <a:off x="762000" y="2387600"/>
            <a:ext cx="5969000" cy="279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ctr"/>
            <a:r>
              <a:rPr lang="en-US" sz="1250" b="1" dirty="0">
                <a:solidFill>
                  <a:srgbClr val="333333"/>
                </a:solidFill>
              </a:rPr>
              <a:t>Car   Bike   Train   Short   Long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667000"/>
                <a:ext cx="6096000" cy="2540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90">
                          <a:latin typeface="Cambria Math"/>
                        </a:rPr>
                        <m:t>𝑍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667000"/>
                <a:ext cx="6096000" cy="2540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5257800"/>
            <a:ext cx="5969000" cy="3556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00" i="1" dirty="0">
                <a:solidFill>
                  <a:srgbClr val="666666"/>
                </a:solidFill>
              </a:rPr>
              <a:t>rows R1–R6 top→bottom · row 1 (teal) = commuter 1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From answer to 0/1 row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50" b="1" dirty="0">
                <a:solidFill>
                  <a:srgbClr val="333333"/>
                </a:solidFill>
              </a:rPr>
              <a:t>Commuter 1</a:t>
            </a:r>
            <a:r>
              <a:rPr lang="en-US" sz="1350" dirty="0">
                <a:solidFill>
                  <a:srgbClr val="333333"/>
                </a:solidFill>
              </a:rPr>
              <a:t> travels by Car, Long trip.</a:t>
            </a:r>
          </a:p>
          <a:p>
            <a:pPr algn="l">
              <a:spcBef>
                <a:spcPts val="140"/>
              </a:spcBef>
            </a:pPr>
            <a:r>
              <a:rPr lang="en-US" sz="1350" b="1" dirty="0">
                <a:solidFill>
                  <a:srgbClr val="00A7B5"/>
                </a:solidFill>
              </a:rPr>
              <a:t>→ row 1 = [ 1 0 0 0 1 ]</a:t>
            </a:r>
          </a:p>
          <a:p>
            <a:pPr algn="l">
              <a:spcBef>
                <a:spcPts val="240"/>
              </a:spcBef>
            </a:pPr>
            <a:r>
              <a:rPr lang="en-US" sz="1300" dirty="0">
                <a:solidFill>
                  <a:srgbClr val="333333"/>
                </a:solidFill>
              </a:rPr>
              <a:t>•  One 1 per question block</a:t>
            </a:r>
          </a:p>
          <a:p>
            <a:pPr algn="l">
              <a:spcBef>
                <a:spcPts val="40"/>
              </a:spcBef>
            </a:pPr>
            <a:r>
              <a:rPr lang="en-US" sz="1200" dirty="0">
                <a:solidFill>
                  <a:srgbClr val="666666"/>
                </a:solidFill>
              </a:rPr>
              <a:t>   (Transport: 3 cols · Commute: 2 cols).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•  Row sum = Q = 2 for everyone.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•  Z has n = 6 rows, J = 5 columns.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With a 3-category variable, that question contributes 3 dummy columns — still exactly one 1 per block.</a:t>
            </a:r>
          </a:p>
        </p:txBody>
      </p:sp>
      <p:pic>
        <p:nvPicPr>
          <p:cNvPr id="32" name="Graphic 32" descr="Train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5600" y="1981200"/>
            <a:ext cx="355600" cy="355600"/>
          </a:xfrm>
          <a:prstGeom prst="rect">
            <a:avLst/>
          </a:prstGeom>
        </p:spPr>
      </p:pic>
      <p:pic>
        <p:nvPicPr>
          <p:cNvPr id="33" name="Graphic 33" descr="Bicyc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47400" y="19812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329052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2 — Correspondence Matrix P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Divide every entry of Z by the grand total nQ = 6 × 2 = 12.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Correspondence matrix   P = Z ⁄ nQ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90">
                          <a:latin typeface="Cambria Math"/>
                        </a:rPr>
                        <m:t>𝑃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489200"/>
                <a:ext cx="6096000" cy="2667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5207000"/>
            <a:ext cx="5969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00" i="1" dirty="0">
                <a:solidFill>
                  <a:srgbClr val="666666"/>
                </a:solidFill>
              </a:rPr>
              <a:t>every 1 → 1/12 ≈ 0.083 · every 0 stays 0 · grand total = 12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Why divide by nQ?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Grand total = sum of all 1's in Z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333333"/>
                </a:solidFill>
              </a:rPr>
              <a:t>= n × Q = 6 × 2 = 12.</a:t>
            </a:r>
          </a:p>
          <a:p>
            <a:pPr algn="l">
              <a:spcBef>
                <a:spcPts val="240"/>
              </a:spcBef>
            </a:pPr>
            <a:r>
              <a:rPr lang="en-US" sz="1300" dirty="0">
                <a:solidFill>
                  <a:srgbClr val="333333"/>
                </a:solidFill>
              </a:rPr>
              <a:t>Each entry becomes a proportion of the whole table.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P now sums to 1 → a joint probability table.</a:t>
            </a:r>
          </a:p>
          <a:p>
            <a:pPr algn="l">
              <a:spcBef>
                <a:spcPts val="240"/>
              </a:spcBef>
            </a:pPr>
            <a:r>
              <a:rPr lang="en-US" sz="1250" i="1" dirty="0">
                <a:solidFill>
                  <a:srgbClr val="4B2E83"/>
                </a:solidFill>
              </a:rPr>
              <a:t>Same recipe, any survey size.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Rescaling to P makes surveys of different sizes directly comparable on a shared probability footing.</a:t>
            </a:r>
          </a:p>
        </p:txBody>
      </p:sp>
      <p:pic>
        <p:nvPicPr>
          <p:cNvPr id="32" name="Graphic 32" descr="Normalize/divide filter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71200" y="2006600"/>
            <a:ext cx="3556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6489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3 — Row &amp; Column Masses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Row masses r (green) = row sums of P; column masses c (pink) = column sums.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Sum the rows and columns of  P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98500" y="2387600"/>
                <a:ext cx="6096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90">
                          <a:latin typeface="Cambria Math"/>
                        </a:rPr>
                        <m:t>𝑃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189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sz="1890" b="1">
                              <a:solidFill>
                                <a:srgbClr val="85754D"/>
                              </a:solidFill>
                              <a:latin typeface="Cambria Math"/>
                            </a:rPr>
                            <m:t>12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4B2E83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7AB648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D1578A"/>
                                    </a:solidFill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8500" y="2387600"/>
                <a:ext cx="6096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572000"/>
            <a:ext cx="5969000" cy="1041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00" dirty="0">
                <a:solidFill>
                  <a:srgbClr val="666666"/>
                </a:solidFill>
              </a:rPr>
              <a:t>row sum → </a:t>
            </a:r>
            <a:r>
              <a:rPr lang="en-US" sz="1350" b="1" dirty="0">
                <a:solidFill>
                  <a:srgbClr val="7AB648"/>
                </a:solidFill>
              </a:rPr>
              <a:t>r = ( ⅙, ⅙, ⅙, ⅙, ⅙, ⅙ )</a:t>
            </a:r>
          </a:p>
          <a:p>
            <a:pPr algn="ctr">
              <a:spcBef>
                <a:spcPts val="220"/>
              </a:spcBef>
            </a:pPr>
            <a:r>
              <a:rPr lang="en-US" sz="1200" dirty="0">
                <a:solidFill>
                  <a:srgbClr val="666666"/>
                </a:solidFill>
              </a:rPr>
              <a:t>col sum → </a:t>
            </a:r>
            <a:r>
              <a:rPr lang="en-US" sz="1350" b="1" dirty="0">
                <a:solidFill>
                  <a:srgbClr val="D1578A"/>
                </a:solidFill>
              </a:rPr>
              <a:t>c = ( ⅙, ⅙, ⅙, ¼, ¼ )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Reading the masses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b="1" dirty="0">
                <a:solidFill>
                  <a:srgbClr val="333333"/>
                </a:solidFill>
              </a:rPr>
              <a:t>Row mass rᵢ = 1/n = 1/6.</a:t>
            </a:r>
          </a:p>
          <a:p>
            <a:pPr algn="l">
              <a:spcBef>
                <a:spcPts val="200"/>
              </a:spcBef>
            </a:pPr>
            <a:r>
              <a:rPr lang="en-US" sz="1300" b="1" dirty="0">
                <a:solidFill>
                  <a:srgbClr val="333333"/>
                </a:solidFill>
              </a:rPr>
              <a:t>Column mass cⱼ = total / nQ.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•  Car, Bike, Train each 2× → c = 2/12 = ⅙</a:t>
            </a:r>
          </a:p>
          <a:p>
            <a:pPr algn="l">
              <a:spcBef>
                <a:spcPts val="140"/>
              </a:spcBef>
            </a:pPr>
            <a:r>
              <a:rPr lang="en-US" sz="1300" dirty="0">
                <a:solidFill>
                  <a:srgbClr val="333333"/>
                </a:solidFill>
              </a:rPr>
              <a:t>•  Short, Long each 3× → c = 3/12 = ¼</a:t>
            </a:r>
          </a:p>
          <a:p>
            <a:pPr algn="l">
              <a:spcBef>
                <a:spcPts val="240"/>
              </a:spcBef>
            </a:pPr>
            <a:r>
              <a:rPr lang="en-US" sz="1250" i="1" dirty="0">
                <a:solidFill>
                  <a:srgbClr val="4B2E83"/>
                </a:solidFill>
              </a:rPr>
              <a:t>Bigger groups carry more weight in the map.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Commute categories (¼) outweigh the three transport categories (⅙) — mass follows frequency.</a:t>
            </a:r>
          </a:p>
        </p:txBody>
      </p:sp>
      <p:pic>
        <p:nvPicPr>
          <p:cNvPr id="32" name="Graphic 32" descr="Mass/weight scales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236347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4 — Burt Matrix  B = ZᵀZ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Cross-tabulate every pair of categories: B = ZᵀZ (5 × 5, symmetric).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4B2E83"/>
                </a:solidFill>
              </a:rPr>
              <a:t>order:  Car  Bike  Train  Short  Long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"/>
              <p:cNvSpPr txBox="1"/>
              <p:nvPr/>
            </p:nvSpPr>
            <p:spPr>
              <a:xfrm>
                <a:off x="635000" y="2413000"/>
                <a:ext cx="6223000" cy="2286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1890">
                          <a:latin typeface="Cambria Math"/>
                        </a:rPr>
                        <m:t>𝐵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1890">
                              <a:latin typeface="Cambria Math"/>
                            </a:rPr>
                            <m:t>𝑍</m:t>
                          </m:r>
                        </m:e>
                        <m:sup>
                          <m:r>
                            <a:rPr sz="1890"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1890">
                          <a:latin typeface="Cambria Math"/>
                        </a:rPr>
                        <m:t>𝑍</m:t>
                      </m:r>
                      <m:r>
                        <a:rPr sz="1890">
                          <a:latin typeface="Cambria Math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5"/>
                                    <m:mcJc m:val="center"/>
                                  </m:mcPr>
                                </m:mc>
                              </m:mcs>
                              <m:ctrlPr>
                                <a:rPr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</m:mr>
                            <m:mr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</m:mr>
                            <m:mr>
                              <m:e>
                                <m:r>
                                  <a:rPr sz="1890" b="1">
                                    <a:solidFill>
                                      <a:srgbClr val="00A7B5"/>
                                    </a:solidFill>
                                    <a:latin typeface="Cambria Math"/>
                                  </a:rPr>
                                  <m:t>𝟐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𝟏</m:t>
                                </m:r>
                              </m:e>
                              <m:e>
                                <m:r>
                                  <a:rPr sz="1890">
                                    <a:latin typeface="Cambria Math"/>
                                  </a:rPr>
                                  <m:t>𝟎</m:t>
                                </m:r>
                              </m:e>
                              <m:e>
                                <m:r>
                                  <a:rPr sz="1890" b="1">
                                    <a:solidFill>
                                      <a:srgbClr val="85754D"/>
                                    </a:solidFill>
                                    <a:latin typeface="Cambria Math"/>
                                  </a:rPr>
                                  <m:t>𝟑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400"/>
              </a:p>
            </p:txBody>
          </p:sp>
        </mc:Choice>
        <mc:Fallback>
          <p:sp>
            <p:nvSpPr>
              <p:cNvPr id="1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413000"/>
                <a:ext cx="6223000" cy="2286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724400"/>
            <a:ext cx="5969000" cy="9144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b="1" dirty="0">
                <a:solidFill>
                  <a:srgbClr val="85754D"/>
                </a:solidFill>
              </a:rPr>
              <a:t>diagonal (gold) = category totals</a:t>
            </a:r>
          </a:p>
          <a:p>
            <a:pPr algn="ctr">
              <a:spcBef>
                <a:spcPts val="160"/>
              </a:spcBef>
            </a:pPr>
            <a:r>
              <a:rPr lang="en-US" sz="1250" b="1" dirty="0">
                <a:solidFill>
                  <a:srgbClr val="00A7B5"/>
                </a:solidFill>
              </a:rPr>
              <a:t>off-diagonal (teal) = co-occurrences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What B stores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Zᵀ is 5×6, Z is 6×5 → B is 5×5.</a:t>
            </a:r>
          </a:p>
          <a:p>
            <a:pPr algn="l">
              <a:spcBef>
                <a:spcPts val="200"/>
              </a:spcBef>
            </a:pPr>
            <a:r>
              <a:rPr lang="en-US" sz="1300" dirty="0">
                <a:solidFill>
                  <a:srgbClr val="333333"/>
                </a:solidFill>
              </a:rPr>
              <a:t>Diagonal: each category's total.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Off-diagonal: pairwise co-occurrence.</a:t>
            </a:r>
          </a:p>
          <a:p>
            <a:pPr algn="l">
              <a:spcBef>
                <a:spcPts val="220"/>
              </a:spcBef>
            </a:pPr>
            <a:r>
              <a:rPr lang="en-US" sz="1300" b="1" dirty="0">
                <a:solidFill>
                  <a:srgbClr val="333333"/>
                </a:solidFill>
              </a:rPr>
              <a:t>B(Car, Long) = colCar · colLong</a:t>
            </a:r>
          </a:p>
          <a:p>
            <a:pPr algn="l">
              <a:spcBef>
                <a:spcPts val="80"/>
              </a:spcBef>
            </a:pPr>
            <a:r>
              <a:rPr lang="en-US" sz="1300" b="1" dirty="0">
                <a:solidFill>
                  <a:srgbClr val="00A7B5"/>
                </a:solidFill>
              </a:rPr>
              <a:t>= [110000]·[110010] = 2</a:t>
            </a:r>
          </a:p>
          <a:p>
            <a:pPr algn="l">
              <a:spcBef>
                <a:spcPts val="200"/>
              </a:spcBef>
            </a:pPr>
            <a:r>
              <a:rPr lang="en-US" sz="1250" i="1" dirty="0">
                <a:solidFill>
                  <a:srgbClr val="4B2E83"/>
                </a:solidFill>
              </a:rPr>
              <a:t>Every Car commuter here travels Long.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The 5×5 Burt matrix captures all transport–commute associations in one symmetric table.</a:t>
            </a:r>
          </a:p>
        </p:txBody>
      </p:sp>
      <p:pic>
        <p:nvPicPr>
          <p:cNvPr id="32" name="Graphic 32" descr="Cross-tabulation tabl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7038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 Bar"/>
          <p:cNvSpPr/>
          <p:nvPr/>
        </p:nvSpPr>
        <p:spPr>
          <a:xfrm>
            <a:off x="762000" y="584200"/>
            <a:ext cx="762000" cy="76200"/>
          </a:xfrm>
          <a:prstGeom prst="rect">
            <a:avLst/>
          </a:prstGeom>
          <a:solidFill>
            <a:srgbClr val="4B2E8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762000" y="660400"/>
            <a:ext cx="106680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2600" b="1" dirty="0">
                <a:solidFill>
                  <a:srgbClr val="4B2E83"/>
                </a:solidFill>
              </a:rPr>
              <a:t>Example B · Step 5 — Standardized Residuals S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762000" y="1244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400" i="1" dirty="0">
                <a:solidFill>
                  <a:srgbClr val="333333"/>
                </a:solidFill>
              </a:rPr>
              <a:t>Compare observed P with expected E = r cᵀ, then standardize the residuals.</a:t>
            </a:r>
          </a:p>
        </p:txBody>
      </p:sp>
      <p:sp>
        <p:nvSpPr>
          <p:cNvPr id="10" name="Left Card"/>
          <p:cNvSpPr/>
          <p:nvPr/>
        </p:nvSpPr>
        <p:spPr>
          <a:xfrm>
            <a:off x="762000" y="1905000"/>
            <a:ext cx="5969000" cy="3810000"/>
          </a:xfrm>
          <a:prstGeom prst="roundRect">
            <a:avLst/>
          </a:prstGeom>
          <a:solidFill>
            <a:srgbClr val="F7F4FB"/>
          </a:solidFill>
          <a:ln w="15875">
            <a:solidFill>
              <a:srgbClr val="4B2E83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" name="Left Label"/>
          <p:cNvSpPr txBox="1"/>
          <p:nvPr/>
        </p:nvSpPr>
        <p:spPr>
          <a:xfrm>
            <a:off x="965200" y="2032000"/>
            <a:ext cx="55626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Residuals around independence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Equations"/>
              <p:cNvSpPr txBox="1"/>
              <p:nvPr/>
            </p:nvSpPr>
            <p:spPr>
              <a:xfrm>
                <a:off x="635000" y="2463800"/>
                <a:ext cx="6223000" cy="2159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rtlCol="0" anchor="ctr">
                <a:norm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𝐸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</m:oMath>
                  </m:oMathPara>
                </a14:m>
                <a:endParaRPr lang="en-US" sz="1500"/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2025">
                          <a:latin typeface="Cambria Math"/>
                        </a:rPr>
                        <m:t>𝑆</m:t>
                      </m:r>
                      <m:r>
                        <a:rPr sz="2025">
                          <a:latin typeface="Cambria Math"/>
                        </a:rPr>
                        <m:t>=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025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𝑟</m:t>
                          </m:r>
                        </m:sub>
                        <m:sup>
                          <m:r>
                            <a:rPr sz="2025">
                              <a:latin typeface="Cambria Math"/>
                            </a:rPr>
                            <m:t>−1/2</m:t>
                          </m:r>
                        </m:sup>
                      </m:sSubSup>
                      <m:r>
                        <a:rPr sz="2025">
                          <a:latin typeface="Cambria Math"/>
                        </a:rPr>
                        <m:t>(</m:t>
                      </m:r>
                      <m:r>
                        <a:rPr sz="2025">
                          <a:latin typeface="Cambria Math"/>
                        </a:rPr>
                        <m:t>𝑃</m:t>
                      </m:r>
                      <m:r>
                        <a:rPr sz="2025">
                          <a:latin typeface="Cambria Math"/>
                        </a:rPr>
                        <m:t>−</m:t>
                      </m:r>
                      <m:r>
                        <a:rPr sz="2025" b="1">
                          <a:solidFill>
                            <a:srgbClr val="7AB648"/>
                          </a:solidFill>
                          <a:latin typeface="Cambria Math"/>
                        </a:rPr>
                        <m:t>𝑟</m:t>
                      </m:r>
                      <m:sSup>
                        <m:s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𝑐</m:t>
                          </m:r>
                        </m:e>
                        <m:sup>
                          <m:r>
                            <a:rPr sz="2025" b="1">
                              <a:solidFill>
                                <a:srgbClr val="D1578A"/>
                              </a:solidFill>
                              <a:latin typeface="Cambria Math"/>
                            </a:rPr>
                            <m:t>𝑇</m:t>
                          </m:r>
                        </m:sup>
                      </m:sSup>
                      <m:r>
                        <a:rPr sz="2025">
                          <a:latin typeface="Cambria Math"/>
                        </a:rPr>
                        <m:t>)</m:t>
                      </m:r>
                      <m:sSubSup>
                        <m:sSubSupPr>
                          <m:ctrlPr>
                            <a:rPr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sz="2025">
                              <a:latin typeface="Cambria Math"/>
                            </a:rPr>
                            <m:t>𝐷</m:t>
                          </m:r>
                        </m:e>
                        <m:sub>
                          <m:r>
                            <a:rPr sz="2025">
                              <a:latin typeface="Cambria Math"/>
                            </a:rPr>
                            <m:t>𝑐</m:t>
                          </m:r>
                        </m:sub>
                        <m:sup>
                          <m:r>
                            <a:rPr sz="2025">
                              <a:latin typeface="Cambria Math"/>
                            </a:rPr>
                            <m:t>−1/2</m:t>
                          </m:r>
                        </m:sup>
                      </m:sSubSup>
                    </m:oMath>
                  </m:oMathPara>
                </a14:m>
                <a:endParaRPr lang="en-US" sz="1500"/>
              </a:p>
            </p:txBody>
          </p:sp>
        </mc:Choice>
        <mc:Fallback>
          <p:sp>
            <p:nvSpPr>
              <p:cNvPr id="13" name="Equation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5000" y="2463800"/>
                <a:ext cx="6223000" cy="215900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Note"/>
          <p:cNvSpPr txBox="1"/>
          <p:nvPr/>
        </p:nvSpPr>
        <p:spPr>
          <a:xfrm>
            <a:off x="762000" y="4724400"/>
            <a:ext cx="5969000" cy="889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ctr"/>
            <a:r>
              <a:rPr lang="en-US" sz="1250" dirty="0">
                <a:solidFill>
                  <a:srgbClr val="666666"/>
                </a:solidFill>
              </a:rPr>
              <a:t>outer product:  </a:t>
            </a:r>
            <a:r>
              <a:rPr lang="en-US" sz="1300" b="1" dirty="0">
                <a:solidFill>
                  <a:srgbClr val="7AB648"/>
                </a:solidFill>
              </a:rPr>
              <a:t>r</a:t>
            </a:r>
            <a:r>
              <a:rPr lang="en-US" sz="1250" dirty="0">
                <a:solidFill>
                  <a:srgbClr val="666666"/>
                </a:solidFill>
              </a:rPr>
              <a:t> (mass column)  ×  </a:t>
            </a:r>
            <a:r>
              <a:rPr lang="en-US" sz="1300" b="1" dirty="0">
                <a:solidFill>
                  <a:srgbClr val="D1578A"/>
                </a:solidFill>
              </a:rPr>
              <a:t>cᵀ</a:t>
            </a:r>
            <a:r>
              <a:rPr lang="en-US" sz="1250" dirty="0">
                <a:solidFill>
                  <a:srgbClr val="666666"/>
                </a:solidFill>
              </a:rPr>
              <a:t> (mass row)</a:t>
            </a:r>
          </a:p>
        </p:txBody>
      </p:sp>
      <p:sp>
        <p:nvSpPr>
          <p:cNvPr id="20" name="Right Card"/>
          <p:cNvSpPr/>
          <p:nvPr/>
        </p:nvSpPr>
        <p:spPr>
          <a:xfrm>
            <a:off x="6985000" y="1905000"/>
            <a:ext cx="4445000" cy="38100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B7A57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Right Header"/>
          <p:cNvSpPr txBox="1"/>
          <p:nvPr/>
        </p:nvSpPr>
        <p:spPr>
          <a:xfrm>
            <a:off x="7188200" y="20574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 lnSpcReduction="10000"/>
          </a:bodyPr>
          <a:lstStyle/>
          <a:p>
            <a:pPr algn="l"/>
            <a:r>
              <a:rPr lang="en-US" sz="1500" b="1" dirty="0">
                <a:solidFill>
                  <a:srgbClr val="4B2E83"/>
                </a:solidFill>
              </a:rPr>
              <a:t>From counts to signal</a:t>
            </a:r>
          </a:p>
        </p:txBody>
      </p:sp>
      <p:sp>
        <p:nvSpPr>
          <p:cNvPr id="22" name="Right Body"/>
          <p:cNvSpPr txBox="1"/>
          <p:nvPr/>
        </p:nvSpPr>
        <p:spPr>
          <a:xfrm>
            <a:off x="7188200" y="2489200"/>
            <a:ext cx="4038600" cy="3175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t">
            <a:normAutofit/>
          </a:bodyPr>
          <a:lstStyle/>
          <a:p>
            <a:pPr algn="l"/>
            <a:r>
              <a:rPr lang="en-US" sz="1300" dirty="0">
                <a:solidFill>
                  <a:srgbClr val="333333"/>
                </a:solidFill>
              </a:rPr>
              <a:t>Expected Eᵢⱼ = rᵢ cⱼ — value under independence.</a:t>
            </a:r>
          </a:p>
          <a:p>
            <a:pPr algn="l">
              <a:spcBef>
                <a:spcPts val="200"/>
              </a:spcBef>
            </a:pPr>
            <a:r>
              <a:rPr lang="en-US" sz="1300" b="1" dirty="0">
                <a:solidFill>
                  <a:srgbClr val="333333"/>
                </a:solidFill>
              </a:rPr>
              <a:t>E(1,1) = ⅙ × ⅙ = 1/36.</a:t>
            </a:r>
          </a:p>
          <a:p>
            <a:pPr algn="l">
              <a:spcBef>
                <a:spcPts val="180"/>
              </a:spcBef>
            </a:pPr>
            <a:r>
              <a:rPr lang="en-US" sz="1300" dirty="0">
                <a:solidFill>
                  <a:srgbClr val="333333"/>
                </a:solidFill>
              </a:rPr>
              <a:t>Residual = P − E (observed − expected).</a:t>
            </a:r>
          </a:p>
          <a:p>
            <a:pPr algn="l">
              <a:spcBef>
                <a:spcPts val="160"/>
              </a:spcBef>
            </a:pPr>
            <a:r>
              <a:rPr lang="en-US" sz="1300" dirty="0">
                <a:solidFill>
                  <a:srgbClr val="333333"/>
                </a:solidFill>
              </a:rPr>
              <a:t>Divide by √(rᵢ cⱼ) → standardized S.</a:t>
            </a:r>
          </a:p>
          <a:p>
            <a:pPr algn="l">
              <a:spcBef>
                <a:spcPts val="220"/>
              </a:spcBef>
            </a:pPr>
            <a:r>
              <a:rPr lang="en-US" sz="1250" i="1" dirty="0">
                <a:solidFill>
                  <a:srgbClr val="4B2E83"/>
                </a:solidFill>
              </a:rPr>
              <a:t>S is exactly what MCA decomposes next.</a:t>
            </a:r>
          </a:p>
        </p:txBody>
      </p:sp>
      <p:sp>
        <p:nvSpPr>
          <p:cNvPr id="30" name="Takeaway"/>
          <p:cNvSpPr/>
          <p:nvPr/>
        </p:nvSpPr>
        <p:spPr>
          <a:xfrm>
            <a:off x="762000" y="5791200"/>
            <a:ext cx="10668000" cy="558800"/>
          </a:xfrm>
          <a:prstGeom prst="roundRect">
            <a:avLst/>
          </a:prstGeom>
          <a:solidFill>
            <a:srgbClr val="F5F0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akeaway Text"/>
          <p:cNvSpPr txBox="1"/>
          <p:nvPr/>
        </p:nvSpPr>
        <p:spPr>
          <a:xfrm>
            <a:off x="990600" y="5816600"/>
            <a:ext cx="10210800" cy="50800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rtlCol="0" anchor="ctr">
            <a:normAutofit/>
          </a:bodyPr>
          <a:lstStyle/>
          <a:p>
            <a:pPr algn="l"/>
            <a:r>
              <a:rPr lang="en-US" sz="1300" b="1" dirty="0">
                <a:solidFill>
                  <a:srgbClr val="4B2E83"/>
                </a:solidFill>
              </a:rPr>
              <a:t>Takeaway   </a:t>
            </a:r>
            <a:r>
              <a:rPr lang="en-US" sz="1300" dirty="0">
                <a:solidFill>
                  <a:srgbClr val="333333"/>
                </a:solidFill>
              </a:rPr>
              <a:t>S measures how far each cell departs from independence — the signal MCA turns into a map.</a:t>
            </a:r>
          </a:p>
        </p:txBody>
      </p:sp>
      <p:pic>
        <p:nvPicPr>
          <p:cNvPr id="32" name="Graphic 32" descr="Target/expected baseline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45800" y="2006600"/>
            <a:ext cx="38100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057993"/>
      </p:ext>
    </p:extLst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4B2E83"/>
                </a:solidFill>
                <a:latin typeface="Encode Sans"/>
              </a:rPr>
              <a:t>Correspondence Analysis</a:t>
            </a:r>
          </a:p>
          <a:p>
            <a:r>
              <a:rPr sz="3600" b="1">
                <a:solidFill>
                  <a:srgbClr val="4B2E83"/>
                </a:solidFill>
                <a:latin typeface="Encode Sans"/>
              </a:rPr>
              <a:t>and MCA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2000">
                <a:solidFill>
                  <a:srgbClr val="85754D"/>
                </a:solidFill>
                <a:latin typeface="Encode Sans"/>
              </a:rPr>
              <a:t>BDATA 412: Advanced Data Visualization</a:t>
            </a:r>
          </a:p>
          <a:p>
            <a:r>
              <a:rPr sz="1800">
                <a:solidFill>
                  <a:srgbClr val="666666"/>
                </a:solidFill>
                <a:latin typeface="Encode Sans"/>
              </a:rPr>
              <a:t>University of Washington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A394970-FCFA-F222-F4ED-8442DB25E364}"/>
              </a:ext>
            </a:extLst>
          </p:cNvPr>
          <p:cNvSpPr/>
          <p:nvPr/>
        </p:nvSpPr>
        <p:spPr>
          <a:xfrm>
            <a:off x="10668000" y="239844"/>
            <a:ext cx="1379096" cy="1349114"/>
          </a:xfrm>
          <a:prstGeom prst="ellipse">
            <a:avLst/>
          </a:prstGeom>
          <a:solidFill>
            <a:srgbClr val="4B2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5600" b="1">
                <a:solidFill>
                  <a:srgbClr val="FFFFFF"/>
                </a:solidFill>
              </a:defRPr>
            </a:pPr>
            <a:r>
              <a:rPr lang="en-US" dirty="0"/>
              <a:t>6</a:t>
            </a:r>
            <a:endParaRPr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/>
        <p:txBody>
          <a:bodyPr/>
          <a:lstStyle/>
          <a:p/>
        </p:txBody>
      </p:sp>
      <p:sp>
        <p:nvSpPr>
          <p:cNvPr id="3" name="Vertical Text Placeholder 2"/>
          <p:cNvSpPr>
            <a:spLocks noGrp="1"/>
          </p:cNvSpPr>
          <p:nvPr>
            <p:ph type="body" idx="1" orient="vert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 [1775876968803]">
  <a:themeElements>
    <a:clrScheme name="University of Washington">
      <a:dk1>
        <a:srgbClr val="333333"/>
      </a:dk1>
      <a:lt1>
        <a:srgbClr val="FFFFFF"/>
      </a:lt1>
      <a:dk2>
        <a:srgbClr val="4B2E83"/>
      </a:dk2>
      <a:lt2>
        <a:srgbClr val="F5F0EB"/>
      </a:lt2>
      <a:accent1>
        <a:srgbClr val="4B2E83"/>
      </a:accent1>
      <a:accent2>
        <a:srgbClr val="B7A57A"/>
      </a:accent2>
      <a:accent3>
        <a:srgbClr val="85754D"/>
      </a:accent3>
      <a:accent4>
        <a:srgbClr val="00A7B5"/>
      </a:accent4>
      <a:accent5>
        <a:srgbClr val="7AB648"/>
      </a:accent5>
      <a:accent6>
        <a:srgbClr val="D1578A"/>
      </a:accent6>
      <a:hlink>
        <a:srgbClr val="0563C1"/>
      </a:hlink>
      <a:folHlink>
        <a:srgbClr val="954F72"/>
      </a:folHlink>
    </a:clrScheme>
    <a:fontScheme name="Bellevue College">
      <a:majorFont>
        <a:latin typeface="Arial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c79faba-e8d3-4fb7-9062-0409eb8478fa}">
  <we:reference id="WA200010001" version="1.0.0.0" store="en-US" storeType="OMEX"/>
  <we:alternateReferences/>
  <we:properties>
    <we:property name="Microsoft.Office.CampaignId" value="&quot;none&quot;"/>
    <we:property name="claude.fileId" value="&quot;9777158b-f629-46ff-aa04-06fe8115a595&quot;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3" ma:contentTypeDescription="Create a new document." ma:contentTypeScope="" ma:versionID="d936d863d335d354da51eb78ca1ae338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5fbac08d56b1b04aa33acbc31e882ce9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17AB1FA-2F28-4684-9230-02ACEB6C0B0A}">
  <ds:schemaRefs>
    <ds:schemaRef ds:uri="b1e4d6ee-9f6f-43f8-a618-24f3d84da28f"/>
    <ds:schemaRef ds:uri="http://purl.org/dc/terms/"/>
    <ds:schemaRef ds:uri="http://schemas.openxmlformats.org/package/2006/metadata/core-properties"/>
    <ds:schemaRef ds:uri="f577acbf-5b0b-4b4f-9948-268e97f8d3a4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79EAE08-AAD0-49B9-BF66-164C225CC52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10189</TotalTime>
  <Words>28135</Words>
  <Application>Microsoft Macintosh PowerPoint</Application>
  <PresentationFormat>Widescreen</PresentationFormat>
  <Paragraphs>2699</Paragraphs>
  <Slides>241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241</vt:i4>
      </vt:variant>
    </vt:vector>
  </HeadingPairs>
  <TitlesOfParts>
    <vt:vector size="247" baseType="lpstr">
      <vt:lpstr>Aptos</vt:lpstr>
      <vt:lpstr>Arial</vt:lpstr>
      <vt:lpstr>Calibri</vt:lpstr>
      <vt:lpstr>Cambria Math</vt:lpstr>
      <vt:lpstr>Consolas</vt:lpstr>
      <vt:lpstr>Office Theme [1775876968803]</vt:lpstr>
      <vt:lpstr>Latent Variables &amp; Embeddings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Pedro Albuquerque</cp:lastModifiedBy>
  <cp:revision>151</cp:revision>
  <dcterms:created xsi:type="dcterms:W3CDTF">2018-06-07T21:39:02Z</dcterms:created>
  <dcterms:modified xsi:type="dcterms:W3CDTF">2026-06-21T16:57:13Z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