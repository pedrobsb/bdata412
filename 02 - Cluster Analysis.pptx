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75"/>
  </p:notesMasterIdLst>
  <p:sldIdLst>
    <p:sldId id="594" r:id="rId5"/>
    <p:sldId id="595" r:id="rId6"/>
    <p:sldId id="596" r:id="rId7"/>
    <p:sldId id="597" r:id="rId8"/>
    <p:sldId id="598" r:id="rId9"/>
    <p:sldId id="593" r:id="rId10"/>
    <p:sldId id="599" r:id="rId11"/>
    <p:sldId id="600" r:id="rId12"/>
    <p:sldId id="601" r:id="rId13"/>
    <p:sldId id="602" r:id="rId14"/>
    <p:sldId id="677" r:id="rId15"/>
    <p:sldId id="603" r:id="rId16"/>
    <p:sldId id="680" r:id="rId17"/>
    <p:sldId id="782" r:id="rId18"/>
    <p:sldId id="787" r:id="rId19"/>
    <p:sldId id="785" r:id="rId20"/>
    <p:sldId id="786" r:id="rId21"/>
    <p:sldId id="774" r:id="rId22"/>
    <p:sldId id="778" r:id="rId23"/>
    <p:sldId id="688" r:id="rId24"/>
    <p:sldId id="689" r:id="rId25"/>
    <p:sldId id="690" r:id="rId26"/>
    <p:sldId id="692" r:id="rId27"/>
    <p:sldId id="693" r:id="rId28"/>
    <p:sldId id="694" r:id="rId29"/>
    <p:sldId id="695" r:id="rId30"/>
    <p:sldId id="696" r:id="rId31"/>
    <p:sldId id="697" r:id="rId32"/>
    <p:sldId id="698" r:id="rId33"/>
    <p:sldId id="699" r:id="rId34"/>
    <p:sldId id="700" r:id="rId35"/>
    <p:sldId id="701" r:id="rId36"/>
    <p:sldId id="702" r:id="rId37"/>
    <p:sldId id="703" r:id="rId38"/>
    <p:sldId id="704" r:id="rId39"/>
    <p:sldId id="705" r:id="rId40"/>
    <p:sldId id="706" r:id="rId41"/>
    <p:sldId id="707" r:id="rId42"/>
    <p:sldId id="708" r:id="rId43"/>
    <p:sldId id="709" r:id="rId44"/>
    <p:sldId id="710" r:id="rId45"/>
    <p:sldId id="711" r:id="rId46"/>
    <p:sldId id="712" r:id="rId47"/>
    <p:sldId id="713" r:id="rId48"/>
    <p:sldId id="714" r:id="rId49"/>
    <p:sldId id="637" r:id="rId50"/>
    <p:sldId id="715" r:id="rId51"/>
    <p:sldId id="639" r:id="rId52"/>
    <p:sldId id="716" r:id="rId53"/>
    <p:sldId id="717" r:id="rId54"/>
    <p:sldId id="765" r:id="rId55"/>
    <p:sldId id="719" r:id="rId56"/>
    <p:sldId id="720" r:id="rId57"/>
    <p:sldId id="721" r:id="rId58"/>
    <p:sldId id="722" r:id="rId59"/>
    <p:sldId id="723" r:id="rId60"/>
    <p:sldId id="724" r:id="rId61"/>
    <p:sldId id="649" r:id="rId62"/>
    <p:sldId id="725" r:id="rId63"/>
    <p:sldId id="726" r:id="rId64"/>
    <p:sldId id="727" r:id="rId65"/>
    <p:sldId id="728" r:id="rId66"/>
    <p:sldId id="729" r:id="rId67"/>
    <p:sldId id="730" r:id="rId68"/>
    <p:sldId id="731" r:id="rId69"/>
    <p:sldId id="732" r:id="rId70"/>
    <p:sldId id="733" r:id="rId71"/>
    <p:sldId id="734" r:id="rId72"/>
    <p:sldId id="735" r:id="rId73"/>
    <p:sldId id="736" r:id="rId74"/>
    <p:sldId id="662" r:id="rId75"/>
    <p:sldId id="737" r:id="rId76"/>
    <p:sldId id="664" r:id="rId77"/>
    <p:sldId id="665" r:id="rId78"/>
    <p:sldId id="738" r:id="rId79"/>
    <p:sldId id="739" r:id="rId80"/>
    <p:sldId id="668" r:id="rId81"/>
    <p:sldId id="740" r:id="rId82"/>
    <p:sldId id="670" r:id="rId83"/>
    <p:sldId id="741" r:id="rId84"/>
    <p:sldId id="742" r:id="rId85"/>
    <p:sldId id="743" r:id="rId86"/>
    <p:sldId id="795" r:id="rId87"/>
    <p:sldId id="796" r:id="rId88"/>
    <p:sldId id="797" r:id="rId89"/>
    <p:sldId id="798" r:id="rId90"/>
    <p:sldId id="799" r:id="rId91"/>
    <p:sldId id="800" r:id="rId92"/>
    <p:sldId id="801" r:id="rId93"/>
    <p:sldId id="812" r:id="rId94"/>
    <p:sldId id="814" r:id="rId95"/>
    <p:sldId id="815" r:id="rId96"/>
    <p:sldId id="816" r:id="rId97"/>
    <p:sldId id="817" r:id="rId98"/>
    <p:sldId id="818" r:id="rId99"/>
    <p:sldId id="819" r:id="rId100"/>
    <p:sldId id="820" r:id="rId101"/>
    <p:sldId id="821" r:id="rId102"/>
    <p:sldId id="319" r:id="rId103"/>
    <p:sldId id="825" r:id="rId104"/>
    <p:sldId id="826" r:id="rId105"/>
    <p:sldId id="744" r:id="rId106"/>
    <p:sldId id="745" r:id="rId107"/>
    <p:sldId id="842" r:id="rId108"/>
    <p:sldId id="832" r:id="rId109"/>
    <p:sldId id="834" r:id="rId110"/>
    <p:sldId id="835" r:id="rId111"/>
    <p:sldId id="836" r:id="rId112"/>
    <p:sldId id="837" r:id="rId113"/>
    <p:sldId id="747" r:id="rId114"/>
    <p:sldId id="748" r:id="rId115"/>
    <p:sldId id="749" r:id="rId116"/>
    <p:sldId id="851" r:id="rId117"/>
    <p:sldId id="863" r:id="rId118"/>
    <p:sldId id="859" r:id="rId119"/>
    <p:sldId id="854" r:id="rId120"/>
    <p:sldId id="855" r:id="rId121"/>
    <p:sldId id="860" r:id="rId122"/>
    <p:sldId id="861" r:id="rId123"/>
    <p:sldId id="333" r:id="rId124"/>
    <p:sldId id="869" r:id="rId125"/>
    <p:sldId id="871" r:id="rId126"/>
    <p:sldId id="872" r:id="rId127"/>
    <p:sldId id="887" r:id="rId128"/>
    <p:sldId id="873" r:id="rId129"/>
    <p:sldId id="877" r:id="rId130"/>
    <p:sldId id="878" r:id="rId131"/>
    <p:sldId id="879" r:id="rId132"/>
    <p:sldId id="882" r:id="rId133"/>
    <p:sldId id="881" r:id="rId134"/>
    <p:sldId id="752" r:id="rId135"/>
    <p:sldId id="753" r:id="rId136"/>
    <p:sldId id="754" r:id="rId137"/>
    <p:sldId id="476" r:id="rId138"/>
    <p:sldId id="895" r:id="rId139"/>
    <p:sldId id="896" r:id="rId140"/>
    <p:sldId id="897" r:id="rId141"/>
    <p:sldId id="898" r:id="rId142"/>
    <p:sldId id="902" r:id="rId143"/>
    <p:sldId id="900" r:id="rId144"/>
    <p:sldId id="904" r:id="rId145"/>
    <p:sldId id="346" r:id="rId146"/>
    <p:sldId id="907" r:id="rId147"/>
    <p:sldId id="908" r:id="rId148"/>
    <p:sldId id="755" r:id="rId149"/>
    <p:sldId id="756" r:id="rId150"/>
    <p:sldId id="691" r:id="rId151"/>
    <p:sldId id="757" r:id="rId152"/>
    <p:sldId id="758" r:id="rId153"/>
    <p:sldId id="759" r:id="rId154"/>
    <p:sldId id="914" r:id="rId155"/>
    <p:sldId id="915" r:id="rId156"/>
    <p:sldId id="916" r:id="rId157"/>
    <p:sldId id="917" r:id="rId158"/>
    <p:sldId id="918" r:id="rId159"/>
    <p:sldId id="359" r:id="rId160"/>
    <p:sldId id="760" r:id="rId161"/>
    <p:sldId id="761" r:id="rId162"/>
    <p:sldId id="762" r:id="rId163"/>
    <p:sldId id="763" r:id="rId164"/>
    <p:sldId id="488" r:id="rId165"/>
    <p:sldId id="764" r:id="rId166"/>
    <p:sldId id="925" r:id="rId167"/>
    <p:sldId id="926" r:id="rId168"/>
    <p:sldId id="927" r:id="rId169"/>
    <p:sldId id="931" r:id="rId170"/>
    <p:sldId id="929" r:id="rId171"/>
    <p:sldId id="930" r:id="rId172"/>
    <p:sldId id="373" r:id="rId173"/>
    <p:sldId id="428" r:id="rId1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E83"/>
    <a:srgbClr val="D1578A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7"/>
    <p:restoredTop sz="93814"/>
  </p:normalViewPr>
  <p:slideViewPr>
    <p:cSldViewPr snapToGrid="0" snapToObjects="1">
      <p:cViewPr varScale="1">
        <p:scale>
          <a:sx n="196" d="100"/>
          <a:sy n="196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slide" Target="slides/slide152.xml"/><Relationship Id="rId177" Type="http://schemas.openxmlformats.org/officeDocument/2006/relationships/viewProps" Target="viewProps.xml"/><Relationship Id="rId172" Type="http://schemas.openxmlformats.org/officeDocument/2006/relationships/slide" Target="slides/slide168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tableStyles" Target="tableStyle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presProps" Target="presProps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" Type="http://schemas.openxmlformats.org/officeDocument/2006/relationships/customXml" Target="../customXml/item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Inertia J vs. k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J(k)</c:v>
          </c:tx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strLit>
          </c:cat>
          <c:val>
            <c:numLit>
              <c:formatCode>General</c:formatCode>
              <c:ptCount val="6"/>
              <c:pt idx="0">
                <c:v>820</c:v>
              </c:pt>
              <c:pt idx="1">
                <c:v>340</c:v>
              </c:pt>
              <c:pt idx="2">
                <c:v>95</c:v>
              </c:pt>
              <c:pt idx="3">
                <c:v>78</c:v>
              </c:pt>
              <c:pt idx="4">
                <c:v>64</c:v>
              </c:pt>
              <c:pt idx="5">
                <c:v>55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C17-B242-BD8D-663844BBD5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k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Sorted k-distance graph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k-distance</c:v>
          </c:tx>
          <c:spPr>
            <a:ln w="28575">
              <a:solidFill>
                <a:srgbClr val="85754D"/>
              </a:solidFill>
            </a:ln>
          </c:spPr>
          <c:marker>
            <c:symbol val="circle"/>
            <c:size val="5"/>
          </c:marker>
          <c:cat>
            <c:strLit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strLit>
          </c:cat>
          <c:val>
            <c:numLit>
              <c:formatCode>General</c:formatCode>
              <c:ptCount val="12"/>
              <c:pt idx="0">
                <c:v>3.4</c:v>
              </c:pt>
              <c:pt idx="1">
                <c:v>2.9</c:v>
              </c:pt>
              <c:pt idx="2">
                <c:v>2.5</c:v>
              </c:pt>
              <c:pt idx="3">
                <c:v>2.1</c:v>
              </c:pt>
              <c:pt idx="4">
                <c:v>1.8</c:v>
              </c:pt>
              <c:pt idx="5">
                <c:v>1.55</c:v>
              </c:pt>
              <c:pt idx="6">
                <c:v>1.35</c:v>
              </c:pt>
              <c:pt idx="7">
                <c:v>1.18</c:v>
              </c:pt>
              <c:pt idx="8">
                <c:v>0.95</c:v>
              </c:pt>
              <c:pt idx="9">
                <c:v>0.55000000000000004</c:v>
              </c:pt>
              <c:pt idx="10">
                <c:v>0.35</c:v>
              </c:pt>
              <c:pt idx="11">
                <c:v>0.2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81F-5544-93DE-B2D69F046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400"/>
                  <a:t>points (sorted)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r>
                  <a:rPr lang="en-US" sz="1400"/>
                  <a:t>dk(x)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F-Statistic by Feature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Fj</c:v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Region</c:v>
              </c:pt>
              <c:pt idx="1">
                <c:v>Tenure</c:v>
              </c:pt>
              <c:pt idx="2">
                <c:v>Age</c:v>
              </c:pt>
              <c:pt idx="3">
                <c:v>Income</c:v>
              </c:pt>
            </c:strLit>
          </c:cat>
          <c:val>
            <c:numLit>
              <c:formatCode>General</c:formatCode>
              <c:ptCount val="4"/>
              <c:pt idx="0">
                <c:v>0.7</c:v>
              </c:pt>
              <c:pt idx="1">
                <c:v>3.1</c:v>
              </c:pt>
              <c:pt idx="2">
                <c:v>12.5</c:v>
              </c:pt>
              <c:pt idx="3">
                <c:v>38.200000000000003</c:v>
              </c:pt>
            </c:numLit>
          </c:val>
          <c:extLst>
            <c:ext xmlns:c16="http://schemas.microsoft.com/office/drawing/2014/chart" uri="{C3380CC4-5D6E-409C-BE32-E72D297353CC}">
              <c16:uniqueId val="{00000000-AAE4-234C-B7EC-61FCF6F8F3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F-statistic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87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9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9" r:id="rId4"/>
    <p:sldLayoutId id="2147483740" r:id="rId5"/>
    <p:sldLayoutId id="2147483741" r:id="rId6"/>
    <p:sldLayoutId id="214748374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0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0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5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9.png"/><Relationship Id="rId4" Type="http://schemas.openxmlformats.org/officeDocument/2006/relationships/image" Target="../media/image22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7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4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7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264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3.png"/><Relationship Id="rId5" Type="http://schemas.openxmlformats.org/officeDocument/2006/relationships/image" Target="../media/image262.png"/><Relationship Id="rId4" Type="http://schemas.openxmlformats.org/officeDocument/2006/relationships/image" Target="../media/image26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7" Type="http://schemas.openxmlformats.org/officeDocument/2006/relationships/image" Target="../media/image270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9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5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9.png"/><Relationship Id="rId4" Type="http://schemas.openxmlformats.org/officeDocument/2006/relationships/image" Target="../media/image288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7" Type="http://schemas.openxmlformats.org/officeDocument/2006/relationships/image" Target="../media/image300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.png"/><Relationship Id="rId5" Type="http://schemas.openxmlformats.org/officeDocument/2006/relationships/image" Target="../media/image298.png"/><Relationship Id="rId4" Type="http://schemas.openxmlformats.org/officeDocument/2006/relationships/image" Target="../media/image297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0.png"/><Relationship Id="rId2" Type="http://schemas.openxmlformats.org/officeDocument/2006/relationships/image" Target="../media/image10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image" Target="../media/image3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6.png"/><Relationship Id="rId4" Type="http://schemas.openxmlformats.org/officeDocument/2006/relationships/image" Target="../media/image305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2.png"/><Relationship Id="rId4" Type="http://schemas.openxmlformats.org/officeDocument/2006/relationships/image" Target="../media/image31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6.png"/><Relationship Id="rId4" Type="http://schemas.openxmlformats.org/officeDocument/2006/relationships/image" Target="../media/image315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0.png"/><Relationship Id="rId4" Type="http://schemas.openxmlformats.org/officeDocument/2006/relationships/image" Target="../media/image319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4.png"/><Relationship Id="rId4" Type="http://schemas.openxmlformats.org/officeDocument/2006/relationships/image" Target="../media/image323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326.png"/><Relationship Id="rId7" Type="http://schemas.openxmlformats.org/officeDocument/2006/relationships/image" Target="../media/image330.png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9.png"/><Relationship Id="rId5" Type="http://schemas.openxmlformats.org/officeDocument/2006/relationships/image" Target="../media/image328.png"/><Relationship Id="rId4" Type="http://schemas.openxmlformats.org/officeDocument/2006/relationships/image" Target="../media/image327.png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5.png"/><Relationship Id="rId4" Type="http://schemas.openxmlformats.org/officeDocument/2006/relationships/image" Target="../media/image334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39.png"/><Relationship Id="rId4" Type="http://schemas.openxmlformats.org/officeDocument/2006/relationships/image" Target="../media/image33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4.png"/><Relationship Id="rId4" Type="http://schemas.openxmlformats.org/officeDocument/2006/relationships/image" Target="../media/image343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png"/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7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2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4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5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9.png"/><Relationship Id="rId4" Type="http://schemas.openxmlformats.org/officeDocument/2006/relationships/image" Target="../media/image358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3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5.png"/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Relationship Id="rId4" Type="http://schemas.openxmlformats.org/officeDocument/2006/relationships/image" Target="../media/image369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png"/><Relationship Id="rId2" Type="http://schemas.openxmlformats.org/officeDocument/2006/relationships/image" Target="../media/image3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6.png"/><Relationship Id="rId4" Type="http://schemas.openxmlformats.org/officeDocument/2006/relationships/image" Target="../media/image375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png"/><Relationship Id="rId2" Type="http://schemas.openxmlformats.org/officeDocument/2006/relationships/image" Target="../media/image377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9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png"/><Relationship Id="rId2" Type="http://schemas.openxmlformats.org/officeDocument/2006/relationships/image" Target="../media/image3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5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png"/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3.png"/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4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6.png"/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8.png"/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9.png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4B2E83"/>
                </a:solidFill>
              </a:rPr>
              <a:t>Cluster Analysis</a:t>
            </a:r>
          </a:p>
          <a:p>
            <a:r>
              <a:rPr lang="en-US" sz="2000" b="0" dirty="0">
                <a:solidFill>
                  <a:srgbClr val="85754D"/>
                </a:solidFill>
              </a:rPr>
              <a:t>A Linear-Algebra Approach to Unsupervised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BDATA 412: Advanced Data Visualization</a:t>
            </a:r>
          </a:p>
          <a:p>
            <a:r>
              <a:rPr lang="en-US" dirty="0"/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773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F5A8-3D66-39AA-C0FB-6C6F8A4F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Roadmap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31EDFC-AE34-914A-B76F-E80BDA52C870}"/>
              </a:ext>
            </a:extLst>
          </p:cNvPr>
          <p:cNvSpPr/>
          <p:nvPr/>
        </p:nvSpPr>
        <p:spPr>
          <a:xfrm>
            <a:off x="838200" y="18796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31A6DE-09B9-9A40-A953-A515B07C1602}"/>
              </a:ext>
            </a:extLst>
          </p:cNvPr>
          <p:cNvSpPr/>
          <p:nvPr/>
        </p:nvSpPr>
        <p:spPr>
          <a:xfrm>
            <a:off x="1016000" y="2070100"/>
            <a:ext cx="635000" cy="635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579302-D2BF-FF4F-8098-5AE688162E7A}"/>
                  </a:ext>
                </a:extLst>
              </p:cNvPr>
              <p:cNvSpPr txBox="1"/>
              <p:nvPr/>
            </p:nvSpPr>
            <p:spPr>
              <a:xfrm>
                <a:off x="1828800" y="21259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Foundations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Clusters, distance, norms, the data matrix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 lang="en-US" sz="1200" dirty="0">
                  <a:solidFill>
                    <a:srgbClr val="595959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579302-D2BF-FF4F-8098-5AE688162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125990"/>
                <a:ext cx="3975100" cy="523220"/>
              </a:xfrm>
              <a:prstGeom prst="rect">
                <a:avLst/>
              </a:prstGeom>
              <a:blipFill>
                <a:blip r:embed="rId2"/>
                <a:stretch>
                  <a:fillRect l="-958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6554B3-DC40-1647-8314-FB760FBF9978}"/>
              </a:ext>
            </a:extLst>
          </p:cNvPr>
          <p:cNvSpPr/>
          <p:nvPr/>
        </p:nvSpPr>
        <p:spPr>
          <a:xfrm>
            <a:off x="6210300" y="18796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13741F-CF40-2847-B9DA-DFA5ED06C120}"/>
              </a:ext>
            </a:extLst>
          </p:cNvPr>
          <p:cNvSpPr/>
          <p:nvPr/>
        </p:nvSpPr>
        <p:spPr>
          <a:xfrm>
            <a:off x="6388100" y="2070100"/>
            <a:ext cx="635000" cy="6350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FE5BD-C7C9-3F4D-A601-2E80328620E7}"/>
              </a:ext>
            </a:extLst>
          </p:cNvPr>
          <p:cNvSpPr txBox="1"/>
          <p:nvPr/>
        </p:nvSpPr>
        <p:spPr>
          <a:xfrm>
            <a:off x="7200900" y="19812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K-Means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Centroids, WCSS, Lloyd's algorithm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BAE748-4989-DA4C-BDDA-C6DE3BF345A5}"/>
              </a:ext>
            </a:extLst>
          </p:cNvPr>
          <p:cNvSpPr/>
          <p:nvPr/>
        </p:nvSpPr>
        <p:spPr>
          <a:xfrm>
            <a:off x="838200" y="29972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560163-FC0B-B24C-A93D-0B0ED692559C}"/>
              </a:ext>
            </a:extLst>
          </p:cNvPr>
          <p:cNvSpPr/>
          <p:nvPr/>
        </p:nvSpPr>
        <p:spPr>
          <a:xfrm>
            <a:off x="1016000" y="3187700"/>
            <a:ext cx="635000" cy="6350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ADE7F8-2EBE-314D-9C4B-C4F8401BA070}"/>
              </a:ext>
            </a:extLst>
          </p:cNvPr>
          <p:cNvSpPr txBox="1"/>
          <p:nvPr/>
        </p:nvSpPr>
        <p:spPr>
          <a:xfrm>
            <a:off x="1828800" y="30988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7AB648"/>
                </a:solidFill>
                <a:latin typeface="Arial"/>
              </a:rPr>
              <a:t>Hierarchical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Dendrograms, linkage, Lance-Williams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B5F3ECE-58FF-804C-A7AD-844A8BF6A465}"/>
              </a:ext>
            </a:extLst>
          </p:cNvPr>
          <p:cNvSpPr/>
          <p:nvPr/>
        </p:nvSpPr>
        <p:spPr>
          <a:xfrm>
            <a:off x="6210300" y="29972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DB6B99-A17B-0847-A1C6-53C1AAA655B3}"/>
              </a:ext>
            </a:extLst>
          </p:cNvPr>
          <p:cNvSpPr/>
          <p:nvPr/>
        </p:nvSpPr>
        <p:spPr>
          <a:xfrm>
            <a:off x="6388100" y="3187700"/>
            <a:ext cx="635000" cy="6350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3C9A1-74DD-F84C-9CDF-A3850C2C31A8}"/>
              </a:ext>
            </a:extLst>
          </p:cNvPr>
          <p:cNvSpPr txBox="1"/>
          <p:nvPr/>
        </p:nvSpPr>
        <p:spPr>
          <a:xfrm>
            <a:off x="7200900" y="30988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85754D"/>
                </a:solidFill>
                <a:latin typeface="Arial"/>
              </a:rPr>
              <a:t>DBSCAN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Density, neighborhoods, reachability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1C5B4FC-2F91-E746-9F75-13BFA0BF6D3B}"/>
              </a:ext>
            </a:extLst>
          </p:cNvPr>
          <p:cNvSpPr/>
          <p:nvPr/>
        </p:nvSpPr>
        <p:spPr>
          <a:xfrm>
            <a:off x="838200" y="41148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ADDD0C-ED2B-3042-ABAE-E19AF3FE7FD5}"/>
              </a:ext>
            </a:extLst>
          </p:cNvPr>
          <p:cNvSpPr/>
          <p:nvPr/>
        </p:nvSpPr>
        <p:spPr>
          <a:xfrm>
            <a:off x="1016000" y="4305300"/>
            <a:ext cx="635000" cy="6350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8484E-AEFE-844A-A8CA-9B6D6C1EABE6}"/>
                  </a:ext>
                </a:extLst>
              </p:cNvPr>
              <p:cNvSpPr txBox="1"/>
              <p:nvPr/>
            </p:nvSpPr>
            <p:spPr>
              <a:xfrm>
                <a:off x="1828800" y="43611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t-SNE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Affinities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1200" dirty="0">
                    <a:solidFill>
                      <a:srgbClr val="595959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r>
                  <a:rPr lang="en-US" sz="1200" dirty="0">
                    <a:solidFill>
                      <a:srgbClr val="595959"/>
                    </a:solidFill>
                  </a:rPr>
                  <a:t>, KL divergence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58484E-AEFE-844A-A8CA-9B6D6C1EA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361190"/>
                <a:ext cx="3975100" cy="523220"/>
              </a:xfrm>
              <a:prstGeom prst="rect">
                <a:avLst/>
              </a:prstGeom>
              <a:blipFill>
                <a:blip r:embed="rId3"/>
                <a:stretch>
                  <a:fillRect l="-958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4AB70F-4E26-4947-9D77-B33F80EF1D33}"/>
              </a:ext>
            </a:extLst>
          </p:cNvPr>
          <p:cNvSpPr/>
          <p:nvPr/>
        </p:nvSpPr>
        <p:spPr>
          <a:xfrm>
            <a:off x="6210300" y="41148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7266D4-C9D5-754C-B172-D1083507B7BE}"/>
              </a:ext>
            </a:extLst>
          </p:cNvPr>
          <p:cNvSpPr/>
          <p:nvPr/>
        </p:nvSpPr>
        <p:spPr>
          <a:xfrm>
            <a:off x="6388100" y="4305300"/>
            <a:ext cx="635000" cy="6350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F3D01D-B223-384E-87FA-643C285E9EF2}"/>
                  </a:ext>
                </a:extLst>
              </p:cNvPr>
              <p:cNvSpPr txBox="1"/>
              <p:nvPr/>
            </p:nvSpPr>
            <p:spPr>
              <a:xfrm>
                <a:off x="7200900" y="4361190"/>
                <a:ext cx="3975100" cy="52322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  <a:latin typeface="Arial"/>
                  </a:rPr>
                  <a:t>UMAP</a:t>
                </a:r>
              </a:p>
              <a:p>
                <a:pPr>
                  <a:buNone/>
                </a:pPr>
                <a:r>
                  <a:rPr lang="en-US" sz="1200" dirty="0">
                    <a:solidFill>
                      <a:srgbClr val="595959"/>
                    </a:solidFill>
                  </a:rPr>
                  <a:t>Fuzzy simplicial sets, graph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endParaRPr lang="en-US" sz="1200" dirty="0">
                  <a:solidFill>
                    <a:srgbClr val="595959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F3D01D-B223-384E-87FA-643C285E9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00" y="4361190"/>
                <a:ext cx="3975100" cy="523220"/>
              </a:xfrm>
              <a:prstGeom prst="rect">
                <a:avLst/>
              </a:prstGeom>
              <a:blipFill>
                <a:blip r:embed="rId4"/>
                <a:stretch>
                  <a:fillRect l="-637" t="-238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C6445ED-31AF-154C-AB85-A01A191DD434}"/>
              </a:ext>
            </a:extLst>
          </p:cNvPr>
          <p:cNvSpPr/>
          <p:nvPr/>
        </p:nvSpPr>
        <p:spPr>
          <a:xfrm>
            <a:off x="838200" y="5232400"/>
            <a:ext cx="5143500" cy="101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6F841C-B184-814F-868C-C4F79AD28F3B}"/>
              </a:ext>
            </a:extLst>
          </p:cNvPr>
          <p:cNvSpPr/>
          <p:nvPr/>
        </p:nvSpPr>
        <p:spPr>
          <a:xfrm>
            <a:off x="1016000" y="5422900"/>
            <a:ext cx="635000" cy="635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939781-5FBA-D74C-875D-A4AADBD8877C}"/>
              </a:ext>
            </a:extLst>
          </p:cNvPr>
          <p:cNvSpPr txBox="1"/>
          <p:nvPr/>
        </p:nvSpPr>
        <p:spPr>
          <a:xfrm>
            <a:off x="1828800" y="5334000"/>
            <a:ext cx="3975100" cy="812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4B2E83"/>
                </a:solidFill>
                <a:latin typeface="Arial"/>
              </a:rPr>
              <a:t>Profiling</a:t>
            </a:r>
          </a:p>
          <a:p>
            <a:pPr>
              <a:buNone/>
            </a:pPr>
            <a:r>
              <a:rPr lang="en-US" sz="1200" dirty="0">
                <a:solidFill>
                  <a:srgbClr val="595959"/>
                </a:solidFill>
              </a:rPr>
              <a:t>Cluster means, silhouette, validation</a:t>
            </a:r>
          </a:p>
        </p:txBody>
      </p:sp>
    </p:spTree>
    <p:extLst>
      <p:ext uri="{BB962C8B-B14F-4D97-AF65-F5344CB8AC3E}">
        <p14:creationId xmlns:p14="http://schemas.microsoft.com/office/powerpoint/2010/main" val="143223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1E38AC-9949-3E4E-B35B-8604197723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4E220-8D4E-C74D-B8DC-098ED743938C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B7F2F-6DBD-4A46-A4AA-6107B9D44DB2}"/>
              </a:ext>
            </a:extLst>
          </p:cNvPr>
          <p:cNvSpPr txBox="1"/>
          <p:nvPr/>
        </p:nvSpPr>
        <p:spPr>
          <a:xfrm>
            <a:off x="15240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D19A5-6DFB-D54B-A3C3-AC9970866096}"/>
              </a:ext>
            </a:extLst>
          </p:cNvPr>
          <p:cNvSpPr txBox="1"/>
          <p:nvPr/>
        </p:nvSpPr>
        <p:spPr>
          <a:xfrm>
            <a:off x="1498600" y="3492500"/>
            <a:ext cx="914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Foundations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D028DF-44FF-1148-9FC3-1D9F8DF4696A}"/>
                  </a:ext>
                </a:extLst>
              </p:cNvPr>
              <p:cNvSpPr txBox="1"/>
              <p:nvPr/>
            </p:nvSpPr>
            <p:spPr>
              <a:xfrm>
                <a:off x="1524000" y="4699000"/>
                <a:ext cx="9144000" cy="4308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2200" dirty="0">
                    <a:solidFill>
                      <a:srgbClr val="F5F0EB"/>
                    </a:solidFill>
                    <a:latin typeface="Calibri"/>
                    <a:cs typeface="Calibri"/>
                  </a:rPr>
                  <a:t>Clusters, distance metrics, norms, and the data matrix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 lang="en-US" sz="2200" dirty="0">
                  <a:solidFill>
                    <a:srgbClr val="F5F0EB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D028DF-44FF-1148-9FC3-1D9F8DF46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699000"/>
                <a:ext cx="9144000" cy="430887"/>
              </a:xfrm>
              <a:prstGeom prst="rect">
                <a:avLst/>
              </a:prstGeom>
              <a:blipFill>
                <a:blip r:embed="rId2"/>
                <a:stretch>
                  <a:fillRect l="-971" t="-11429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27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9547-5519-9079-DA11-2628D1F3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Cluster?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6B85C4-C281-ED4E-A42E-E6CD3296271A}"/>
              </a:ext>
            </a:extLst>
          </p:cNvPr>
          <p:cNvSpPr/>
          <p:nvPr/>
        </p:nvSpPr>
        <p:spPr>
          <a:xfrm>
            <a:off x="838200" y="1905000"/>
            <a:ext cx="54610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516B3-E8B1-A04D-9DB6-AFC3D1CEEE70}"/>
                  </a:ext>
                </a:extLst>
              </p:cNvPr>
              <p:cNvSpPr txBox="1"/>
              <p:nvPr/>
            </p:nvSpPr>
            <p:spPr>
              <a:xfrm>
                <a:off x="1092200" y="2235200"/>
                <a:ext cx="4953000" cy="276075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2200" b="1" dirty="0">
                    <a:solidFill>
                      <a:srgbClr val="4B2E83"/>
                    </a:solidFill>
                    <a:latin typeface="Arial"/>
                  </a:rPr>
                  <a:t>Definition</a:t>
                </a: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 cluster is a subset of observations similar to one another and dissimilar to observations in other subsets.</a:t>
                </a:r>
              </a:p>
              <a:p>
                <a:pPr>
                  <a:buNone/>
                </a:pPr>
                <a:endParaRPr lang="en-US" sz="1200"/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Given the data matrix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 … 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nor/>
                            </m:rPr>
                            <a:rPr lang="en-US" sz="2200" i="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9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 clustering is a partition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of the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row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516B3-E8B1-A04D-9DB6-AFC3D1CEE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2235200"/>
                <a:ext cx="4953000" cy="2760756"/>
              </a:xfrm>
              <a:prstGeom prst="rect">
                <a:avLst/>
              </a:prstGeom>
              <a:blipFill>
                <a:blip r:embed="rId2"/>
                <a:stretch>
                  <a:fillRect l="-1276" t="-1835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DE840302-B41E-9E44-AB4D-FC5DA3F5E961}"/>
              </a:ext>
            </a:extLst>
          </p:cNvPr>
          <p:cNvSpPr/>
          <p:nvPr/>
        </p:nvSpPr>
        <p:spPr>
          <a:xfrm>
            <a:off x="7620000" y="26670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79C999-30AE-1F44-BC95-5EBA603CE11B}"/>
              </a:ext>
            </a:extLst>
          </p:cNvPr>
          <p:cNvSpPr/>
          <p:nvPr/>
        </p:nvSpPr>
        <p:spPr>
          <a:xfrm>
            <a:off x="7848600" y="27940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D3E66A-142E-1645-B1F8-F7CA33EA9249}"/>
              </a:ext>
            </a:extLst>
          </p:cNvPr>
          <p:cNvSpPr/>
          <p:nvPr/>
        </p:nvSpPr>
        <p:spPr>
          <a:xfrm>
            <a:off x="7721600" y="29718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821877-ECD0-BE4D-90A3-D045EDF984AD}"/>
              </a:ext>
            </a:extLst>
          </p:cNvPr>
          <p:cNvSpPr/>
          <p:nvPr/>
        </p:nvSpPr>
        <p:spPr>
          <a:xfrm>
            <a:off x="7950200" y="30226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745DAD-FCB9-0B41-AAE2-6439164CD894}"/>
              </a:ext>
            </a:extLst>
          </p:cNvPr>
          <p:cNvSpPr/>
          <p:nvPr/>
        </p:nvSpPr>
        <p:spPr>
          <a:xfrm>
            <a:off x="7543800" y="28702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21A51D-9CD2-BF40-A8B0-B8DAFE00034E}"/>
              </a:ext>
            </a:extLst>
          </p:cNvPr>
          <p:cNvSpPr/>
          <p:nvPr/>
        </p:nvSpPr>
        <p:spPr>
          <a:xfrm>
            <a:off x="7797800" y="2565400"/>
            <a:ext cx="165100" cy="1651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725204-A5BF-B74C-833C-DE80FE26C66A}"/>
              </a:ext>
            </a:extLst>
          </p:cNvPr>
          <p:cNvSpPr/>
          <p:nvPr/>
        </p:nvSpPr>
        <p:spPr>
          <a:xfrm>
            <a:off x="9652000" y="2540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331E4E-72B1-4848-8A07-FBE8F55FE6BF}"/>
              </a:ext>
            </a:extLst>
          </p:cNvPr>
          <p:cNvSpPr/>
          <p:nvPr/>
        </p:nvSpPr>
        <p:spPr>
          <a:xfrm>
            <a:off x="9880600" y="2667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E56F6F-7EA8-BA4C-981E-2BB73929C886}"/>
              </a:ext>
            </a:extLst>
          </p:cNvPr>
          <p:cNvSpPr/>
          <p:nvPr/>
        </p:nvSpPr>
        <p:spPr>
          <a:xfrm>
            <a:off x="9753600" y="28448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56255E-25D6-214D-95E0-BCD1D934E831}"/>
              </a:ext>
            </a:extLst>
          </p:cNvPr>
          <p:cNvSpPr/>
          <p:nvPr/>
        </p:nvSpPr>
        <p:spPr>
          <a:xfrm>
            <a:off x="9982200" y="28956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FAEDEE-1640-C749-B9CD-9B5765DC9EC9}"/>
              </a:ext>
            </a:extLst>
          </p:cNvPr>
          <p:cNvSpPr/>
          <p:nvPr/>
        </p:nvSpPr>
        <p:spPr>
          <a:xfrm>
            <a:off x="9575800" y="27432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CE80A9-E092-5144-A91F-73BC007DEA38}"/>
              </a:ext>
            </a:extLst>
          </p:cNvPr>
          <p:cNvSpPr/>
          <p:nvPr/>
        </p:nvSpPr>
        <p:spPr>
          <a:xfrm>
            <a:off x="9829800" y="2438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5F4F0E-C83F-D74E-8D9A-6288E3960FA7}"/>
              </a:ext>
            </a:extLst>
          </p:cNvPr>
          <p:cNvSpPr/>
          <p:nvPr/>
        </p:nvSpPr>
        <p:spPr>
          <a:xfrm>
            <a:off x="8636000" y="4572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44FF02-E3AF-6F47-8E9A-BFE00EC34AB8}"/>
              </a:ext>
            </a:extLst>
          </p:cNvPr>
          <p:cNvSpPr/>
          <p:nvPr/>
        </p:nvSpPr>
        <p:spPr>
          <a:xfrm>
            <a:off x="8864600" y="4699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78C15D-A925-4048-B40F-FE5E267A1A9B}"/>
              </a:ext>
            </a:extLst>
          </p:cNvPr>
          <p:cNvSpPr/>
          <p:nvPr/>
        </p:nvSpPr>
        <p:spPr>
          <a:xfrm>
            <a:off x="8737600" y="48768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0D0A208-1F46-B040-91E2-E63CC0DAE4AA}"/>
              </a:ext>
            </a:extLst>
          </p:cNvPr>
          <p:cNvSpPr/>
          <p:nvPr/>
        </p:nvSpPr>
        <p:spPr>
          <a:xfrm>
            <a:off x="8966200" y="49276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8C1027-0D1C-CE43-A504-B63E082549CF}"/>
              </a:ext>
            </a:extLst>
          </p:cNvPr>
          <p:cNvSpPr/>
          <p:nvPr/>
        </p:nvSpPr>
        <p:spPr>
          <a:xfrm>
            <a:off x="8559800" y="47752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B796E2-FB99-4F46-9947-E4D7A496D718}"/>
              </a:ext>
            </a:extLst>
          </p:cNvPr>
          <p:cNvSpPr/>
          <p:nvPr/>
        </p:nvSpPr>
        <p:spPr>
          <a:xfrm>
            <a:off x="8813800" y="4470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8C6657-DB9F-8442-B9EB-242BEF647DB1}"/>
              </a:ext>
            </a:extLst>
          </p:cNvPr>
          <p:cNvSpPr txBox="1"/>
          <p:nvPr/>
        </p:nvSpPr>
        <p:spPr>
          <a:xfrm>
            <a:off x="6858000" y="5461000"/>
            <a:ext cx="431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Three clusters in feature space: points within a group are close; groups are far apart.</a:t>
            </a:r>
          </a:p>
        </p:txBody>
      </p:sp>
    </p:spTree>
    <p:extLst>
      <p:ext uri="{BB962C8B-B14F-4D97-AF65-F5344CB8AC3E}">
        <p14:creationId xmlns:p14="http://schemas.microsoft.com/office/powerpoint/2010/main" val="244138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7778-58EE-23A1-FEEB-01F50045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4" y="-457200"/>
            <a:ext cx="3932237" cy="1600200"/>
          </a:xfrm>
        </p:spPr>
        <p:txBody>
          <a:bodyPr/>
          <a:lstStyle/>
          <a:p>
            <a:r>
              <a:rPr lang="en-US" dirty="0"/>
              <a:t>Example: People, Features &amp; Clusters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C5A5E7-3A32-584C-AF3E-328DDE09390C}"/>
              </a:ext>
            </a:extLst>
          </p:cNvPr>
          <p:cNvGraphicFramePr>
            <a:graphicFrameLocks noGrp="1"/>
          </p:cNvGraphicFramePr>
          <p:nvPr/>
        </p:nvGraphicFramePr>
        <p:xfrm>
          <a:off x="1905000" y="2006600"/>
          <a:ext cx="8382000" cy="271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93473812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8122062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25999033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95294006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4595643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Person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Income (k€)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Spend Score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02646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C₁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95554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Ben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C₁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56445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Cara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C₂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092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Dan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C₂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47598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Eli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C₃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3325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Fay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54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C₃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865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01FCD9A-D610-584D-A19B-57691D63400F}"/>
              </a:ext>
            </a:extLst>
          </p:cNvPr>
          <p:cNvSpPr txBox="1"/>
          <p:nvPr/>
        </p:nvSpPr>
        <p:spPr>
          <a:xfrm>
            <a:off x="1905000" y="5461000"/>
            <a:ext cx="83820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Each row is a person (observation); the feature columns form the data matrix X. People sharing a cluster have similar feature values — and differ from people in other clusters.</a:t>
            </a:r>
          </a:p>
        </p:txBody>
      </p:sp>
    </p:spTree>
    <p:extLst>
      <p:ext uri="{BB962C8B-B14F-4D97-AF65-F5344CB8AC3E}">
        <p14:creationId xmlns:p14="http://schemas.microsoft.com/office/powerpoint/2010/main" val="376759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BD5F-5957-A394-C2A3-FDF2EB5B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as a Partition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12CC45-0B08-E649-8D60-27DC654DF75E}"/>
              </a:ext>
            </a:extLst>
          </p:cNvPr>
          <p:cNvSpPr/>
          <p:nvPr/>
        </p:nvSpPr>
        <p:spPr>
          <a:xfrm>
            <a:off x="838200" y="1905000"/>
            <a:ext cx="105156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163B9A-7643-954A-A4BE-D85F30027081}"/>
                  </a:ext>
                </a:extLst>
              </p:cNvPr>
              <p:cNvSpPr txBox="1"/>
              <p:nvPr/>
            </p:nvSpPr>
            <p:spPr>
              <a:xfrm>
                <a:off x="1143000" y="2184400"/>
                <a:ext cx="9906000" cy="267150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A hard clustering of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points into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groups is a partition 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1" dirty="0">
                    <a:solidFill>
                      <a:srgbClr val="4B2E83"/>
                    </a:solidFill>
                    <a:latin typeface="Arial"/>
                  </a:rPr>
                  <a:t>  satisfying: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Coverage: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∪…∪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 (every point assigned)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Disjoint: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for all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 (no overlap)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Non-empty: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 for all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9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900" dirty="0"/>
              </a:p>
              <a:p>
                <a:pPr>
                  <a:buNone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Assignment matrix.  </a:t>
                </a:r>
                <a:r>
                  <a:rPr lang="en-US" sz="1900" dirty="0">
                    <a:solidFill>
                      <a:srgbClr val="333333"/>
                    </a:solidFill>
                  </a:rPr>
                  <a:t>Encode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as a binary matrix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 Each row of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sums to 1: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Soft clustering relaxes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(responsibilities), rows still sum to 1.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163B9A-7643-954A-A4BE-D85F3002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184400"/>
                <a:ext cx="9906000" cy="2671501"/>
              </a:xfrm>
              <a:prstGeom prst="rect">
                <a:avLst/>
              </a:prstGeom>
              <a:blipFill>
                <a:blip r:embed="rId2"/>
                <a:stretch>
                  <a:fillRect l="-768" t="-943" r="-384" b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82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6409-13F4-CA71-CDF5-78C776D5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09" y="-546100"/>
            <a:ext cx="10515600" cy="1320800"/>
          </a:xfrm>
        </p:spPr>
        <p:txBody>
          <a:bodyPr/>
          <a:lstStyle/>
          <a:p>
            <a:r>
              <a:rPr lang="en-US" dirty="0"/>
              <a:t>Exercise: Is It a Valid Clustering?</a:t>
            </a:r>
          </a:p>
        </p:txBody>
      </p:sp>
      <p:sp>
        <p:nvSpPr>
          <p:cNvPr id="100" name="Instruction"/>
          <p:cNvSpPr txBox="1"/>
          <p:nvPr/>
        </p:nvSpPr>
        <p:spPr>
          <a:xfrm>
            <a:off x="209909" y="8382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rtlCol="0" anchor="ctr"/>
          <a:lstStyle/>
          <a:p>
            <a:pPr>
              <a:buNone/>
            </a:pPr>
            <a:r>
              <a:rPr lang="en-US" sz="1600" i="1" dirty="0">
                <a:solidFill>
                  <a:srgbClr val="595959"/>
                </a:solidFill>
                <a:latin typeface="Calibri"/>
              </a:rPr>
              <a:t>For each candidate C, decide whether it is a valid hard clustering of {x₁,…,x₆}.  (Click to reveal each solution.)</a:t>
            </a:r>
          </a:p>
        </p:txBody>
      </p:sp>
      <p:sp>
        <p:nvSpPr>
          <p:cNvPr id="101" name="Exercise (a)"/>
          <p:cNvSpPr/>
          <p:nvPr/>
        </p:nvSpPr>
        <p:spPr>
          <a:xfrm>
            <a:off x="744747" y="15642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(a)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C₁={x₁,x₂},  C₂={x₃,x₄},  C₃={x₅,x₆}</a:t>
            </a:r>
          </a:p>
        </p:txBody>
      </p:sp>
      <p:sp>
        <p:nvSpPr>
          <p:cNvPr id="201" name="Solution (a)"/>
          <p:cNvSpPr/>
          <p:nvPr/>
        </p:nvSpPr>
        <p:spPr>
          <a:xfrm>
            <a:off x="6904247" y="15642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7AB648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✓ 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covers all 6 · disjoint · none empty</a:t>
            </a:r>
          </a:p>
        </p:txBody>
      </p:sp>
      <p:sp>
        <p:nvSpPr>
          <p:cNvPr id="102" name="Exercise (b)"/>
          <p:cNvSpPr/>
          <p:nvPr/>
        </p:nvSpPr>
        <p:spPr>
          <a:xfrm>
            <a:off x="744747" y="26691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(b)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C₁={x₁,x₂,x₃},  C₂={x₃,x₄,x₅,x₆}</a:t>
            </a:r>
          </a:p>
        </p:txBody>
      </p:sp>
      <p:sp>
        <p:nvSpPr>
          <p:cNvPr id="202" name="Solution (b)"/>
          <p:cNvSpPr/>
          <p:nvPr/>
        </p:nvSpPr>
        <p:spPr>
          <a:xfrm>
            <a:off x="6904247" y="26691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Disjoint fails:  x₃ ∈ C₁ ∩ C₂</a:t>
            </a:r>
          </a:p>
        </p:txBody>
      </p:sp>
      <p:sp>
        <p:nvSpPr>
          <p:cNvPr id="103" name="Exercise (c)"/>
          <p:cNvSpPr/>
          <p:nvPr/>
        </p:nvSpPr>
        <p:spPr>
          <a:xfrm>
            <a:off x="744747" y="37740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(c)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C₁={x₁,x₂},  C₂={x₄,x₅,x₆}</a:t>
            </a:r>
          </a:p>
        </p:txBody>
      </p:sp>
      <p:sp>
        <p:nvSpPr>
          <p:cNvPr id="203" name="Solution (c)"/>
          <p:cNvSpPr/>
          <p:nvPr/>
        </p:nvSpPr>
        <p:spPr>
          <a:xfrm>
            <a:off x="6904247" y="37740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Coverage fails:  x₃ unassigned</a:t>
            </a:r>
          </a:p>
        </p:txBody>
      </p:sp>
      <p:sp>
        <p:nvSpPr>
          <p:cNvPr id="104" name="Exercise (d)"/>
          <p:cNvSpPr/>
          <p:nvPr/>
        </p:nvSpPr>
        <p:spPr>
          <a:xfrm>
            <a:off x="744747" y="4878956"/>
            <a:ext cx="5969000" cy="965200"/>
          </a:xfrm>
          <a:prstGeom prst="roundRect">
            <a:avLst>
              <a:gd name="adj" fmla="val 10000"/>
            </a:avLst>
          </a:prstGeom>
          <a:solidFill>
            <a:srgbClr val="F5F0EB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</a:rPr>
              <a:t>(d)  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C₁={x₁,…,x₆},  C₂=∅</a:t>
            </a:r>
          </a:p>
        </p:txBody>
      </p:sp>
      <p:sp>
        <p:nvSpPr>
          <p:cNvPr id="204" name="Solution (d)"/>
          <p:cNvSpPr/>
          <p:nvPr/>
        </p:nvSpPr>
        <p:spPr>
          <a:xfrm>
            <a:off x="6904247" y="4878956"/>
            <a:ext cx="4508500" cy="965200"/>
          </a:xfrm>
          <a:prstGeom prst="roundRect">
            <a:avLst>
              <a:gd name="adj" fmla="val 10000"/>
            </a:avLst>
          </a:prstGeom>
          <a:solidFill>
            <a:srgbClr val="D1578A"/>
          </a:solidFill>
          <a:ln>
            <a:noFill/>
          </a:ln>
        </p:spPr>
        <p:txBody>
          <a:bodyPr lIns="13716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✗ Invalid  —  </a:t>
            </a:r>
            <a:r>
              <a:rPr lang="en-US" sz="1500" dirty="0">
                <a:solidFill>
                  <a:srgbClr val="FFFFFF"/>
                </a:solidFill>
                <a:latin typeface="Arial"/>
              </a:rPr>
              <a:t>Non-empty fails:  C₂ = ∅</a:t>
            </a:r>
          </a:p>
        </p:txBody>
      </p:sp>
    </p:spTree>
    <p:extLst>
      <p:ext uri="{BB962C8B-B14F-4D97-AF65-F5344CB8AC3E}">
        <p14:creationId xmlns:p14="http://schemas.microsoft.com/office/powerpoint/2010/main" val="31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9DCE-B7EE-1082-04B8-27F48671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Data Matrix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D0465B-4C4F-8A4C-A2E1-E15FBA0AF544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080000" cy="23008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All clustering begins with the data matrix: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Rows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observations.  Row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is the feature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9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m:rPr>
                            <m:nor/>
                          </m:rPr>
                          <a:rPr lang="en-US" sz="19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b="1" dirty="0">
                    <a:solidFill>
                      <a:srgbClr val="4B2E83"/>
                    </a:solidFill>
                  </a:rPr>
                  <a:t>Columns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features (dimensions).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</a:rPr>
                  <a:t>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is feature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of observation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900" dirty="0">
                    <a:solidFill>
                      <a:srgbClr val="333333"/>
                    </a:solidFill>
                  </a:rPr>
                  <a:t>Clustering groups the </a:t>
                </a:r>
                <a:r>
                  <a:rPr lang="en-US" sz="1900" b="1" dirty="0">
                    <a:solidFill>
                      <a:srgbClr val="4B2E83"/>
                    </a:solidFill>
                  </a:rPr>
                  <a:t>rows</a:t>
                </a:r>
                <a:r>
                  <a:rPr lang="en-US" sz="1900" dirty="0">
                    <a:solidFill>
                      <a:srgbClr val="333333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 by the geometry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9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9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D0465B-4C4F-8A4C-A2E1-E15FBA0AF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080000" cy="2300886"/>
              </a:xfrm>
              <a:prstGeom prst="rect">
                <a:avLst/>
              </a:prstGeom>
              <a:blipFill>
                <a:blip r:embed="rId2"/>
                <a:stretch>
                  <a:fillRect l="-1247" t="-1648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2C061F-9F55-6E48-8034-42B764BD05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69000" y="2349500"/>
              <a:ext cx="4826000" cy="223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102353587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390207998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029638107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038762642"/>
                        </a:ext>
                      </a:extLst>
                    </a:gridCol>
                  </a:tblGrid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001025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2441076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⋱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129633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6635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2C061F-9F55-6E48-8034-42B764BD05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69000" y="2349500"/>
              <a:ext cx="4826000" cy="2235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102353587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390207998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029638107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1038762642"/>
                        </a:ext>
                      </a:extLst>
                    </a:gridCol>
                  </a:tblGrid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2273" r="-303158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2273" r="-203158" b="-3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7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2273" r="-3158" b="-3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001025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102273" r="-303158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102273" r="-203158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102273" r="-3158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2441076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⋱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⋮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129633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302273" r="-303158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53" t="-302273" r="-203158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4B2E83"/>
                              </a:solidFill>
                              <a:latin typeface="Consolas"/>
                              <a:cs typeface="Consolas"/>
                            </a:rPr>
                            <a:t>⋯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53" t="-302273" r="-3158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96635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1E7EF7-F088-0C43-B7B8-71B049220275}"/>
                  </a:ext>
                </a:extLst>
              </p:cNvPr>
              <p:cNvSpPr txBox="1"/>
              <p:nvPr/>
            </p:nvSpPr>
            <p:spPr>
              <a:xfrm>
                <a:off x="5969000" y="5143500"/>
                <a:ext cx="5080000" cy="35856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7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4B2E83"/>
                    </a:solidFill>
                  </a:rPr>
                  <a:t>   (n rows = observations,  d cols = features)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1E7EF7-F088-0C43-B7B8-71B049220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5143500"/>
                <a:ext cx="5080000" cy="358560"/>
              </a:xfrm>
              <a:prstGeom prst="rect">
                <a:avLst/>
              </a:prstGeom>
              <a:blipFill>
                <a:blip r:embed="rId4"/>
                <a:stretch>
                  <a:fillRect t="-6897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824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5FD1-C7D8-90B4-FB83-90BFDEB5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Distance Matters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1DDAC2-6965-B847-BD09-0631262D41BC}"/>
                  </a:ext>
                </a:extLst>
              </p:cNvPr>
              <p:cNvSpPr txBox="1"/>
              <p:nvPr/>
            </p:nvSpPr>
            <p:spPr>
              <a:xfrm>
                <a:off x="443345" y="1448219"/>
                <a:ext cx="6262255" cy="415421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2600" dirty="0">
                    <a:solidFill>
                      <a:srgbClr val="333333"/>
                    </a:solidFill>
                  </a:rPr>
                  <a:t>Every clustering algorithm answers one question: how close are two observations?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2600" dirty="0">
                    <a:solidFill>
                      <a:srgbClr val="333333"/>
                    </a:solidFill>
                  </a:rPr>
                  <a:t>Closeness is measured by a distance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dirty="0">
                    <a:solidFill>
                      <a:srgbClr val="333333"/>
                    </a:solidFill>
                  </a:rPr>
                  <a:t> on the rows of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2600" dirty="0">
                    <a:solidFill>
                      <a:srgbClr val="333333"/>
                    </a:solidFill>
                  </a:rPr>
                  <a:t>The choice of distance defines the shape of clusters: spherical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600" dirty="0">
                    <a:solidFill>
                      <a:srgbClr val="333333"/>
                    </a:solidFill>
                  </a:rPr>
                  <a:t>), axis-aligned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600" dirty="0">
                    <a:solidFill>
                      <a:srgbClr val="333333"/>
                    </a:solidFill>
                  </a:rPr>
                  <a:t>), correlation-aware (Mahalanobis).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2600" dirty="0">
                    <a:solidFill>
                      <a:srgbClr val="333333"/>
                    </a:solidFill>
                  </a:rPr>
                  <a:t>Change the metric and you change the clusters — the data does not change, the geometry does.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1DDAC2-6965-B847-BD09-0631262D4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45" y="1448219"/>
                <a:ext cx="6262255" cy="4154214"/>
              </a:xfrm>
              <a:prstGeom prst="rect">
                <a:avLst/>
              </a:prstGeom>
              <a:blipFill>
                <a:blip r:embed="rId2"/>
                <a:stretch>
                  <a:fillRect l="-1623" t="-1524" r="-2637" b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1965D8-E325-004C-9925-AF270E117614}"/>
              </a:ext>
            </a:extLst>
          </p:cNvPr>
          <p:cNvSpPr/>
          <p:nvPr/>
        </p:nvSpPr>
        <p:spPr>
          <a:xfrm>
            <a:off x="7100455" y="1409325"/>
            <a:ext cx="4876800" cy="3683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AF4F3B-8168-404C-AEBE-6D57752AC886}"/>
                  </a:ext>
                </a:extLst>
              </p:cNvPr>
              <p:cNvSpPr txBox="1"/>
              <p:nvPr/>
            </p:nvSpPr>
            <p:spPr>
              <a:xfrm>
                <a:off x="7329055" y="2435217"/>
                <a:ext cx="4419600" cy="16312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Arial"/>
                  </a:rPr>
                  <a:t>The central object</a:t>
                </a:r>
              </a:p>
              <a:p>
                <a:pPr>
                  <a:buNone/>
                </a:pPr>
                <a:endParaRPr lang="en-US" sz="6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200">
                          <a:solidFill>
                            <a:srgbClr val="F5F0EB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sz="2200">
                              <a:solidFill>
                                <a:srgbClr val="F5F0EB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</m:sSub>
                    </m:oMath>
                  </m:oMathPara>
                </a14:m>
                <a:endParaRPr lang="en-US" sz="600" dirty="0"/>
              </a:p>
              <a:p>
                <a:pPr>
                  <a:buNone/>
                </a:pPr>
                <a:endParaRPr lang="en-US" sz="600" dirty="0"/>
              </a:p>
              <a:p>
                <a:pPr>
                  <a:buNone/>
                </a:pPr>
                <a:r>
                  <a:rPr lang="en-US" sz="1600" dirty="0">
                    <a:solidFill>
                      <a:srgbClr val="F5F0EB"/>
                    </a:solidFill>
                  </a:rPr>
                  <a:t>A metric satisfies: non-negativity, identity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F5F0EB"/>
                    </a:solidFill>
                  </a:rPr>
                  <a:t>, symmetry, and the triangle inequality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>
                        <a:solidFill>
                          <a:srgbClr val="F5F0EB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F5F0EB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AF4F3B-8168-404C-AEBE-6D57752AC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055" y="2435217"/>
                <a:ext cx="4419600" cy="1631216"/>
              </a:xfrm>
              <a:prstGeom prst="rect">
                <a:avLst/>
              </a:prstGeom>
              <a:blipFill>
                <a:blip r:embed="rId3"/>
                <a:stretch>
                  <a:fillRect l="-860" t="-769" r="-573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07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D288-A352-763D-1A31-B06529E0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 Metrics &amp; Norms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278DF3-4EEA-064D-959F-C80BC8B684FD}"/>
              </a:ext>
            </a:extLst>
          </p:cNvPr>
          <p:cNvSpPr/>
          <p:nvPr/>
        </p:nvSpPr>
        <p:spPr>
          <a:xfrm>
            <a:off x="838200" y="19050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99F08-4C09-AA43-9428-128B7BDB35D9}"/>
                  </a:ext>
                </a:extLst>
              </p:cNvPr>
              <p:cNvSpPr txBox="1"/>
              <p:nvPr/>
            </p:nvSpPr>
            <p:spPr>
              <a:xfrm>
                <a:off x="1016000" y="20066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</a:rPr>
                  <a:t>Euclidean  (L₂)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18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Straight-line distance; spherical clusters.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899F08-4C09-AA43-9428-128B7BDB3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006600"/>
                <a:ext cx="4787900" cy="1031051"/>
              </a:xfrm>
              <a:prstGeom prst="rect">
                <a:avLst/>
              </a:prstGeom>
              <a:blipFill>
                <a:blip r:embed="rId2"/>
                <a:stretch>
                  <a:fillRect l="-1061" t="-48193" b="-1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D4D8BE-B7B6-C64D-BF16-428DB22D29A0}"/>
              </a:ext>
            </a:extLst>
          </p:cNvPr>
          <p:cNvSpPr/>
          <p:nvPr/>
        </p:nvSpPr>
        <p:spPr>
          <a:xfrm>
            <a:off x="6210300" y="19050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A03F21-A667-D343-9A73-6EAE23C31DF5}"/>
                  </a:ext>
                </a:extLst>
              </p:cNvPr>
              <p:cNvSpPr txBox="1"/>
              <p:nvPr/>
            </p:nvSpPr>
            <p:spPr>
              <a:xfrm>
                <a:off x="6388100" y="20066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00A7B5"/>
                    </a:solidFill>
                    <a:latin typeface="Arial"/>
                  </a:rPr>
                  <a:t>Manhattan  (L₁)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Grid distance; robust to outliers.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A03F21-A667-D343-9A73-6EAE23C31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2006600"/>
                <a:ext cx="4787900" cy="1031051"/>
              </a:xfrm>
              <a:prstGeom prst="rect">
                <a:avLst/>
              </a:prstGeom>
              <a:blipFill>
                <a:blip r:embed="rId3"/>
                <a:stretch>
                  <a:fillRect l="-796" t="-55422" b="-132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BF86A8-4483-C344-92D0-C172294F95CB}"/>
              </a:ext>
            </a:extLst>
          </p:cNvPr>
          <p:cNvSpPr/>
          <p:nvPr/>
        </p:nvSpPr>
        <p:spPr>
          <a:xfrm>
            <a:off x="838200" y="41148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52777-2781-2142-B2D7-E6539950A6D7}"/>
                  </a:ext>
                </a:extLst>
              </p:cNvPr>
              <p:cNvSpPr txBox="1"/>
              <p:nvPr/>
            </p:nvSpPr>
            <p:spPr>
              <a:xfrm>
                <a:off x="1016000" y="42164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7AB648"/>
                    </a:solidFill>
                    <a:latin typeface="Arial"/>
                  </a:rPr>
                  <a:t>Chebyshev  (L∞)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333333"/>
                              </a:solidFill>
                            </a:rPr>
                            <m:t>max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Dominant-coordinate distance.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52777-2781-2142-B2D7-E6539950A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216400"/>
                <a:ext cx="4787900" cy="1031051"/>
              </a:xfrm>
              <a:prstGeom prst="rect">
                <a:avLst/>
              </a:prstGeom>
              <a:blipFill>
                <a:blip r:embed="rId4"/>
                <a:stretch>
                  <a:fillRect l="-1061" t="-2439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8DDEF1-86F8-7C44-9951-3507C8F5B27F}"/>
              </a:ext>
            </a:extLst>
          </p:cNvPr>
          <p:cNvSpPr/>
          <p:nvPr/>
        </p:nvSpPr>
        <p:spPr>
          <a:xfrm>
            <a:off x="6210300" y="4114800"/>
            <a:ext cx="5143500" cy="2032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9B90C-8507-3348-9646-C9E296363878}"/>
                  </a:ext>
                </a:extLst>
              </p:cNvPr>
              <p:cNvSpPr txBox="1"/>
              <p:nvPr/>
            </p:nvSpPr>
            <p:spPr>
              <a:xfrm>
                <a:off x="6388100" y="4216400"/>
                <a:ext cx="4787900" cy="10310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D1578A"/>
                    </a:solidFill>
                    <a:latin typeface="Arial"/>
                  </a:rPr>
                  <a:t>Mahalanobis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800" i="0">
                                  <a:solidFill>
                                    <a:srgbClr val="333333"/>
                                  </a:solidFill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600"/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Scales by covariance S; correlation-aware.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9B90C-8507-3348-9646-C9E296363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4216400"/>
                <a:ext cx="4787900" cy="1031051"/>
              </a:xfrm>
              <a:prstGeom prst="rect">
                <a:avLst/>
              </a:prstGeom>
              <a:blipFill>
                <a:blip r:embed="rId5"/>
                <a:stretch>
                  <a:fillRect l="-796" t="-2439" b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32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384C-080B-B92C-0380-5E49F7186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Distances in 2D — Visual Intuition</a:t>
            </a:r>
          </a:p>
        </p:txBody>
      </p:sp>
      <p:sp>
        <p:nvSpPr>
          <p:cNvPr id="100" name="Shape 100"/>
          <p:cNvSpPr/>
          <p:nvPr/>
        </p:nvSpPr>
        <p:spPr>
          <a:xfrm>
            <a:off x="838200" y="1778000"/>
            <a:ext cx="5003800" cy="2133600"/>
          </a:xfrm>
          <a:prstGeom prst="roundRect">
            <a:avLst/>
          </a:prstGeom>
          <a:solidFill>
            <a:srgbClr val="F5F0EB"/>
          </a:solidFill>
          <a:ln w="1905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Text 101"/>
          <p:cNvSpPr txBox="1"/>
          <p:nvPr/>
        </p:nvSpPr>
        <p:spPr>
          <a:xfrm>
            <a:off x="1041400" y="1879600"/>
            <a:ext cx="3175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800" b="1" dirty="0">
                <a:solidFill>
                  <a:srgbClr val="4B2E83"/>
                </a:solidFill>
              </a:rPr>
              <a:t>Euclidean (L₂)</a:t>
            </a:r>
          </a:p>
        </p:txBody>
      </p:sp>
      <p:cxnSp>
        <p:nvCxnSpPr>
          <p:cNvPr id="102" name="Line 102"/>
          <p:cNvCxnSpPr/>
          <p:nvPr/>
        </p:nvCxnSpPr>
        <p:spPr>
          <a:xfrm>
            <a:off x="1168400" y="2260600"/>
            <a:ext cx="0" cy="121920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cxnSp>
        <p:nvCxnSpPr>
          <p:cNvPr id="103" name="Line 103"/>
          <p:cNvCxnSpPr/>
          <p:nvPr/>
        </p:nvCxnSpPr>
        <p:spPr>
          <a:xfrm>
            <a:off x="1168400" y="3479800"/>
            <a:ext cx="1676400" cy="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cxnSp>
        <p:nvCxnSpPr>
          <p:cNvPr id="104" name="Line 104"/>
          <p:cNvCxnSpPr/>
          <p:nvPr/>
        </p:nvCxnSpPr>
        <p:spPr>
          <a:xfrm>
            <a:off x="1422400" y="3276600"/>
            <a:ext cx="1016000" cy="0"/>
          </a:xfrm>
          <a:prstGeom prst="line">
            <a:avLst/>
          </a:prstGeom>
          <a:ln w="12700" cap="rnd">
            <a:solidFill>
              <a:srgbClr val="9A9A9A"/>
            </a:solidFill>
            <a:prstDash val="dash"/>
          </a:ln>
        </p:spPr>
      </p:cxnSp>
      <p:cxnSp>
        <p:nvCxnSpPr>
          <p:cNvPr id="105" name="Line 105"/>
          <p:cNvCxnSpPr/>
          <p:nvPr/>
        </p:nvCxnSpPr>
        <p:spPr>
          <a:xfrm flipV="1">
            <a:off x="2438400" y="2540000"/>
            <a:ext cx="0" cy="736600"/>
          </a:xfrm>
          <a:prstGeom prst="line">
            <a:avLst/>
          </a:prstGeom>
          <a:ln w="12700" cap="rnd">
            <a:solidFill>
              <a:srgbClr val="9A9A9A"/>
            </a:solidFill>
            <a:prstDash val="dash"/>
          </a:ln>
        </p:spPr>
      </p:cxnSp>
      <p:cxnSp>
        <p:nvCxnSpPr>
          <p:cNvPr id="106" name="Line 106"/>
          <p:cNvCxnSpPr/>
          <p:nvPr/>
        </p:nvCxnSpPr>
        <p:spPr>
          <a:xfrm flipV="1">
            <a:off x="1422400" y="2540000"/>
            <a:ext cx="1016000" cy="736600"/>
          </a:xfrm>
          <a:prstGeom prst="line">
            <a:avLst/>
          </a:prstGeom>
          <a:ln w="38100" cap="rnd">
            <a:solidFill>
              <a:srgbClr val="4B2E83"/>
            </a:solidFill>
          </a:ln>
        </p:spPr>
      </p:cxnSp>
      <p:sp>
        <p:nvSpPr>
          <p:cNvPr id="107" name="Shape 107"/>
          <p:cNvSpPr/>
          <p:nvPr/>
        </p:nvSpPr>
        <p:spPr>
          <a:xfrm>
            <a:off x="1358900" y="32131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Shape 108"/>
          <p:cNvSpPr/>
          <p:nvPr/>
        </p:nvSpPr>
        <p:spPr>
          <a:xfrm>
            <a:off x="2374900" y="24765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Text 109"/>
          <p:cNvSpPr txBox="1"/>
          <p:nvPr/>
        </p:nvSpPr>
        <p:spPr>
          <a:xfrm>
            <a:off x="1155700" y="32512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2527300" y="22860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3098800" y="2311400"/>
            <a:ext cx="2565400" cy="1371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Straight line between the points: √(Δx²+Δy²) = √(80²+58²) ≈ 99.</a:t>
            </a:r>
          </a:p>
        </p:txBody>
      </p:sp>
      <p:sp>
        <p:nvSpPr>
          <p:cNvPr id="112" name="Shape 112"/>
          <p:cNvSpPr/>
          <p:nvPr/>
        </p:nvSpPr>
        <p:spPr>
          <a:xfrm>
            <a:off x="6350000" y="1778000"/>
            <a:ext cx="5003800" cy="2133600"/>
          </a:xfrm>
          <a:prstGeom prst="roundRect">
            <a:avLst/>
          </a:prstGeom>
          <a:solidFill>
            <a:srgbClr val="F5F0EB"/>
          </a:solidFill>
          <a:ln w="1905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Text 113"/>
          <p:cNvSpPr txBox="1"/>
          <p:nvPr/>
        </p:nvSpPr>
        <p:spPr>
          <a:xfrm>
            <a:off x="6553200" y="1879600"/>
            <a:ext cx="3175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800" b="1" dirty="0">
                <a:solidFill>
                  <a:srgbClr val="00A7B5"/>
                </a:solidFill>
              </a:rPr>
              <a:t>Manhattan (L₁)</a:t>
            </a:r>
          </a:p>
        </p:txBody>
      </p:sp>
      <p:cxnSp>
        <p:nvCxnSpPr>
          <p:cNvPr id="114" name="Line 114"/>
          <p:cNvCxnSpPr/>
          <p:nvPr/>
        </p:nvCxnSpPr>
        <p:spPr>
          <a:xfrm>
            <a:off x="6680200" y="2260600"/>
            <a:ext cx="0" cy="121920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cxnSp>
        <p:nvCxnSpPr>
          <p:cNvPr id="115" name="Line 115"/>
          <p:cNvCxnSpPr/>
          <p:nvPr/>
        </p:nvCxnSpPr>
        <p:spPr>
          <a:xfrm>
            <a:off x="6680200" y="3479800"/>
            <a:ext cx="1676400" cy="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cxnSp>
        <p:nvCxnSpPr>
          <p:cNvPr id="116" name="Line 116"/>
          <p:cNvCxnSpPr/>
          <p:nvPr/>
        </p:nvCxnSpPr>
        <p:spPr>
          <a:xfrm flipV="1">
            <a:off x="6934200" y="2540000"/>
            <a:ext cx="1016000" cy="736600"/>
          </a:xfrm>
          <a:prstGeom prst="line">
            <a:avLst/>
          </a:prstGeom>
          <a:ln w="12700" cap="rnd">
            <a:solidFill>
              <a:srgbClr val="9A9A9A"/>
            </a:solidFill>
            <a:prstDash val="dash"/>
          </a:ln>
        </p:spPr>
      </p:cxnSp>
      <p:cxnSp>
        <p:nvCxnSpPr>
          <p:cNvPr id="117" name="Line 117"/>
          <p:cNvCxnSpPr/>
          <p:nvPr/>
        </p:nvCxnSpPr>
        <p:spPr>
          <a:xfrm>
            <a:off x="6934200" y="3276600"/>
            <a:ext cx="1016000" cy="0"/>
          </a:xfrm>
          <a:prstGeom prst="line">
            <a:avLst/>
          </a:prstGeom>
          <a:ln w="44450" cap="rnd">
            <a:solidFill>
              <a:srgbClr val="00A7B5"/>
            </a:solidFill>
          </a:ln>
        </p:spPr>
      </p:cxnSp>
      <p:cxnSp>
        <p:nvCxnSpPr>
          <p:cNvPr id="118" name="Line 118"/>
          <p:cNvCxnSpPr/>
          <p:nvPr/>
        </p:nvCxnSpPr>
        <p:spPr>
          <a:xfrm flipV="1">
            <a:off x="7950200" y="2540000"/>
            <a:ext cx="0" cy="736600"/>
          </a:xfrm>
          <a:prstGeom prst="line">
            <a:avLst/>
          </a:prstGeom>
          <a:ln w="44450" cap="rnd">
            <a:solidFill>
              <a:srgbClr val="00A7B5"/>
            </a:solidFill>
          </a:ln>
        </p:spPr>
      </p:cxnSp>
      <p:sp>
        <p:nvSpPr>
          <p:cNvPr id="119" name="Shape 119"/>
          <p:cNvSpPr/>
          <p:nvPr/>
        </p:nvSpPr>
        <p:spPr>
          <a:xfrm>
            <a:off x="6870700" y="32131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7886700" y="24765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ext 121"/>
          <p:cNvSpPr txBox="1"/>
          <p:nvPr/>
        </p:nvSpPr>
        <p:spPr>
          <a:xfrm>
            <a:off x="6667500" y="32512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8039100" y="22860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8610600" y="2311400"/>
            <a:ext cx="2565400" cy="1371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Move only along the axes, like city blocks: |Δx| + |Δy| = 80 + 58 = 138.</a:t>
            </a:r>
          </a:p>
        </p:txBody>
      </p:sp>
      <p:sp>
        <p:nvSpPr>
          <p:cNvPr id="124" name="Shape 124"/>
          <p:cNvSpPr/>
          <p:nvPr/>
        </p:nvSpPr>
        <p:spPr>
          <a:xfrm>
            <a:off x="838200" y="4038600"/>
            <a:ext cx="5003800" cy="2133600"/>
          </a:xfrm>
          <a:prstGeom prst="roundRect">
            <a:avLst/>
          </a:prstGeom>
          <a:solidFill>
            <a:srgbClr val="F5F0EB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Text 125"/>
          <p:cNvSpPr txBox="1"/>
          <p:nvPr/>
        </p:nvSpPr>
        <p:spPr>
          <a:xfrm>
            <a:off x="1041400" y="4140200"/>
            <a:ext cx="3175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800" b="1" dirty="0">
                <a:solidFill>
                  <a:srgbClr val="7AB648"/>
                </a:solidFill>
              </a:rPr>
              <a:t>Chebyshev (L∞)</a:t>
            </a:r>
          </a:p>
        </p:txBody>
      </p:sp>
      <p:cxnSp>
        <p:nvCxnSpPr>
          <p:cNvPr id="126" name="Line 126"/>
          <p:cNvCxnSpPr/>
          <p:nvPr/>
        </p:nvCxnSpPr>
        <p:spPr>
          <a:xfrm>
            <a:off x="1168400" y="4521200"/>
            <a:ext cx="0" cy="121920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cxnSp>
        <p:nvCxnSpPr>
          <p:cNvPr id="127" name="Line 127"/>
          <p:cNvCxnSpPr/>
          <p:nvPr/>
        </p:nvCxnSpPr>
        <p:spPr>
          <a:xfrm>
            <a:off x="1168400" y="5740400"/>
            <a:ext cx="1676400" cy="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sp>
        <p:nvSpPr>
          <p:cNvPr id="128" name="Shape 128"/>
          <p:cNvSpPr/>
          <p:nvPr/>
        </p:nvSpPr>
        <p:spPr>
          <a:xfrm>
            <a:off x="1422400" y="4800600"/>
            <a:ext cx="1016000" cy="736600"/>
          </a:xfrm>
          <a:prstGeom prst="rect">
            <a:avLst/>
          </a:prstGeom>
          <a:noFill/>
          <a:ln w="12700">
            <a:solidFill>
              <a:srgbClr val="9A9A9A"/>
            </a:solidFill>
            <a:prstDash val="dash"/>
          </a:ln>
        </p:spPr>
        <p:txBody>
          <a:bodyPr/>
          <a:lstStyle/>
          <a:p>
            <a:endParaRPr/>
          </a:p>
        </p:txBody>
      </p:sp>
      <p:cxnSp>
        <p:nvCxnSpPr>
          <p:cNvPr id="129" name="Line 129"/>
          <p:cNvCxnSpPr/>
          <p:nvPr/>
        </p:nvCxnSpPr>
        <p:spPr>
          <a:xfrm>
            <a:off x="1422400" y="5537200"/>
            <a:ext cx="1016000" cy="0"/>
          </a:xfrm>
          <a:prstGeom prst="line">
            <a:avLst/>
          </a:prstGeom>
          <a:ln w="50800" cap="rnd">
            <a:solidFill>
              <a:srgbClr val="7AB648"/>
            </a:solidFill>
          </a:ln>
        </p:spPr>
      </p:cxnSp>
      <p:cxnSp>
        <p:nvCxnSpPr>
          <p:cNvPr id="130" name="Line 130"/>
          <p:cNvCxnSpPr/>
          <p:nvPr/>
        </p:nvCxnSpPr>
        <p:spPr>
          <a:xfrm flipV="1">
            <a:off x="2438400" y="4800600"/>
            <a:ext cx="0" cy="736600"/>
          </a:xfrm>
          <a:prstGeom prst="line">
            <a:avLst/>
          </a:prstGeom>
          <a:ln w="19050" cap="rnd">
            <a:solidFill>
              <a:srgbClr val="9A9A9A"/>
            </a:solidFill>
          </a:ln>
        </p:spPr>
      </p:cxnSp>
      <p:sp>
        <p:nvSpPr>
          <p:cNvPr id="131" name="Shape 131"/>
          <p:cNvSpPr/>
          <p:nvPr/>
        </p:nvSpPr>
        <p:spPr>
          <a:xfrm>
            <a:off x="1358900" y="54737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Shape 132"/>
          <p:cNvSpPr/>
          <p:nvPr/>
        </p:nvSpPr>
        <p:spPr>
          <a:xfrm>
            <a:off x="2374900" y="47371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Text 133"/>
          <p:cNvSpPr txBox="1"/>
          <p:nvPr/>
        </p:nvSpPr>
        <p:spPr>
          <a:xfrm>
            <a:off x="1155700" y="55118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2527300" y="45466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3098800" y="4572000"/>
            <a:ext cx="2565400" cy="1371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Only the largest coordinate gap counts: max(80, 58) = 80 — a king's move on a chessboard.</a:t>
            </a:r>
          </a:p>
        </p:txBody>
      </p:sp>
      <p:sp>
        <p:nvSpPr>
          <p:cNvPr id="136" name="Shape 136"/>
          <p:cNvSpPr/>
          <p:nvPr/>
        </p:nvSpPr>
        <p:spPr>
          <a:xfrm>
            <a:off x="6350000" y="4038600"/>
            <a:ext cx="5003800" cy="2133600"/>
          </a:xfrm>
          <a:prstGeom prst="roundRect">
            <a:avLst/>
          </a:prstGeom>
          <a:solidFill>
            <a:srgbClr val="F5F0EB"/>
          </a:solidFill>
          <a:ln w="19050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Text 137"/>
          <p:cNvSpPr txBox="1"/>
          <p:nvPr/>
        </p:nvSpPr>
        <p:spPr>
          <a:xfrm>
            <a:off x="6553200" y="4140200"/>
            <a:ext cx="3175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800" b="1" dirty="0">
                <a:solidFill>
                  <a:srgbClr val="D1578A"/>
                </a:solidFill>
              </a:rPr>
              <a:t>Mahalanobis</a:t>
            </a:r>
          </a:p>
        </p:txBody>
      </p:sp>
      <p:cxnSp>
        <p:nvCxnSpPr>
          <p:cNvPr id="138" name="Line 138"/>
          <p:cNvCxnSpPr/>
          <p:nvPr/>
        </p:nvCxnSpPr>
        <p:spPr>
          <a:xfrm>
            <a:off x="6680200" y="4521200"/>
            <a:ext cx="0" cy="121920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cxnSp>
        <p:nvCxnSpPr>
          <p:cNvPr id="139" name="Line 139"/>
          <p:cNvCxnSpPr/>
          <p:nvPr/>
        </p:nvCxnSpPr>
        <p:spPr>
          <a:xfrm>
            <a:off x="6680200" y="5740400"/>
            <a:ext cx="1676400" cy="0"/>
          </a:xfrm>
          <a:prstGeom prst="line">
            <a:avLst/>
          </a:prstGeom>
          <a:ln w="12700" cap="rnd">
            <a:solidFill>
              <a:srgbClr val="9A9A9A"/>
            </a:solidFill>
          </a:ln>
        </p:spPr>
      </p:cxnSp>
      <p:sp>
        <p:nvSpPr>
          <p:cNvPr id="140" name="Shape 140"/>
          <p:cNvSpPr/>
          <p:nvPr/>
        </p:nvSpPr>
        <p:spPr>
          <a:xfrm rot="-2400000">
            <a:off x="6667500" y="4838700"/>
            <a:ext cx="1549400" cy="660400"/>
          </a:xfrm>
          <a:prstGeom prst="ellipse">
            <a:avLst/>
          </a:prstGeom>
          <a:noFill/>
          <a:ln w="15875">
            <a:solidFill>
              <a:srgbClr val="D1578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1" name="Shape 141"/>
          <p:cNvSpPr/>
          <p:nvPr/>
        </p:nvSpPr>
        <p:spPr>
          <a:xfrm rot="-2400000">
            <a:off x="6934200" y="4965700"/>
            <a:ext cx="1016000" cy="406400"/>
          </a:xfrm>
          <a:prstGeom prst="ellipse">
            <a:avLst/>
          </a:prstGeom>
          <a:noFill/>
          <a:ln w="22225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42" name="Line 142"/>
          <p:cNvCxnSpPr/>
          <p:nvPr/>
        </p:nvCxnSpPr>
        <p:spPr>
          <a:xfrm flipV="1">
            <a:off x="6934200" y="4800600"/>
            <a:ext cx="1016000" cy="736600"/>
          </a:xfrm>
          <a:prstGeom prst="line">
            <a:avLst/>
          </a:prstGeom>
          <a:ln w="38100" cap="rnd">
            <a:solidFill>
              <a:srgbClr val="D1578A"/>
            </a:solidFill>
          </a:ln>
        </p:spPr>
      </p:cxnSp>
      <p:sp>
        <p:nvSpPr>
          <p:cNvPr id="143" name="Shape 143"/>
          <p:cNvSpPr/>
          <p:nvPr/>
        </p:nvSpPr>
        <p:spPr>
          <a:xfrm>
            <a:off x="6870700" y="54737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Shape 144"/>
          <p:cNvSpPr/>
          <p:nvPr/>
        </p:nvSpPr>
        <p:spPr>
          <a:xfrm>
            <a:off x="7886700" y="4737100"/>
            <a:ext cx="127000" cy="127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5" name="Text 145"/>
          <p:cNvSpPr txBox="1"/>
          <p:nvPr/>
        </p:nvSpPr>
        <p:spPr>
          <a:xfrm>
            <a:off x="6667500" y="55118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8039100" y="4546600"/>
            <a:ext cx="22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b="1" i="1" dirty="0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8610600" y="4572000"/>
            <a:ext cx="2565400" cy="1371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400" dirty="0">
                <a:solidFill>
                  <a:srgbClr val="333333"/>
                </a:solidFill>
              </a:rPr>
              <a:t>Equal-distance contours are ellipses set by the covariance; the same gap counts for less along the direction of spread.</a:t>
            </a:r>
          </a:p>
        </p:txBody>
      </p:sp>
    </p:spTree>
    <p:extLst>
      <p:ext uri="{BB962C8B-B14F-4D97-AF65-F5344CB8AC3E}">
        <p14:creationId xmlns:p14="http://schemas.microsoft.com/office/powerpoint/2010/main" val="1701219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8058-D674-7C24-DA36-33762F1B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Distance Matrix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67404-D105-4740-87BD-50B8E1C53F80}"/>
                  </a:ext>
                </a:extLst>
              </p:cNvPr>
              <p:cNvSpPr txBox="1"/>
              <p:nvPr/>
            </p:nvSpPr>
            <p:spPr>
              <a:xfrm>
                <a:off x="0" y="2339502"/>
                <a:ext cx="7075251" cy="23940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From the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we build the pairwise distance matrix:</a:t>
                </a:r>
              </a:p>
              <a:p>
                <a:pPr>
                  <a:buNone/>
                </a:pPr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endParaRPr lang="en-US" sz="4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b="1" dirty="0">
                    <a:solidFill>
                      <a:srgbClr val="333333"/>
                    </a:solidFill>
                  </a:rPr>
                  <a:t>Symmetric</a:t>
                </a:r>
                <a:r>
                  <a:rPr lang="en-US" sz="1700" dirty="0">
                    <a:solidFill>
                      <a:srgbClr val="333333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7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, 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b="1" dirty="0">
                    <a:solidFill>
                      <a:srgbClr val="333333"/>
                    </a:solidFill>
                  </a:rPr>
                  <a:t>Zero diagonal</a:t>
                </a:r>
                <a:r>
                  <a:rPr lang="en-US" sz="1700" dirty="0">
                    <a:solidFill>
                      <a:srgbClr val="333333"/>
                    </a:solidFill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Stores all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pairwise distances — input to hierarchical </a:t>
                </a:r>
              </a:p>
              <a:p>
                <a:r>
                  <a:rPr lang="en-US" sz="1700" dirty="0">
                    <a:solidFill>
                      <a:srgbClr val="333333"/>
                    </a:solidFill>
                  </a:rPr>
                  <a:t>clustering and DBSCAN.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m:rPr>
                            <m:nor/>
                          </m:rPr>
                          <a:rPr lang="en-US" sz="17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 (</a:t>
                </a:r>
                <a:r>
                  <a:rPr lang="en-US" sz="1700" b="1" dirty="0">
                    <a:solidFill>
                      <a:schemeClr val="accent1"/>
                    </a:solidFill>
                  </a:rPr>
                  <a:t>the Gram matrix trick</a:t>
                </a:r>
                <a:r>
                  <a:rPr lang="en-US" sz="1700" dirty="0">
                    <a:solidFill>
                      <a:srgbClr val="333333"/>
                    </a:solidFill>
                  </a:rPr>
                  <a:t>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C67404-D105-4740-87BD-50B8E1C53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39502"/>
                <a:ext cx="7075251" cy="2394053"/>
              </a:xfrm>
              <a:prstGeom prst="rect">
                <a:avLst/>
              </a:prstGeom>
              <a:blipFill>
                <a:blip r:embed="rId2"/>
                <a:stretch>
                  <a:fillRect l="-538" t="-1058"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ADC1F8-9EE4-FB49-98F2-84E8F7A271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72200" y="2286000"/>
              <a:ext cx="5080000" cy="264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2016037658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413600512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503525069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1096409705"/>
                        </a:ext>
                      </a:extLst>
                    </a:gridCol>
                  </a:tblGrid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45382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21928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212509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8697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BADC1F8-9EE4-FB49-98F2-84E8F7A271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72200" y="2286000"/>
              <a:ext cx="5080000" cy="264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0000">
                      <a:extLst>
                        <a:ext uri="{9D8B030D-6E8A-4147-A177-3AD203B41FA5}">
                          <a16:colId xmlns:a16="http://schemas.microsoft.com/office/drawing/2014/main" val="2016037658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413600512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2503525069"/>
                        </a:ext>
                      </a:extLst>
                    </a:gridCol>
                    <a:gridCol w="1270000">
                      <a:extLst>
                        <a:ext uri="{9D8B030D-6E8A-4147-A177-3AD203B41FA5}">
                          <a16:colId xmlns:a16="http://schemas.microsoft.com/office/drawing/2014/main" val="1096409705"/>
                        </a:ext>
                      </a:extLst>
                    </a:gridCol>
                  </a:tblGrid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1923" r="-3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1923" r="-2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1923" r="-103000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1923" r="-3000" b="-3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245382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101923" r="-3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101923" r="-2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101923" r="-10300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101923" r="-3000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219281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201923" r="-3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201923" r="-2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201923" r="-10300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201923" r="-3000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212509"/>
                      </a:ext>
                    </a:extLst>
                  </a:tr>
                  <a:tr h="660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301923" r="-3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00" t="-301923" r="-2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000" t="-301923" r="-103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1000" t="-301923" r="-3000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48697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743C2-8E9A-0D44-8520-9675CB068007}"/>
                  </a:ext>
                </a:extLst>
              </p:cNvPr>
              <p:cNvSpPr txBox="1"/>
              <p:nvPr/>
            </p:nvSpPr>
            <p:spPr>
              <a:xfrm>
                <a:off x="6172200" y="5080000"/>
                <a:ext cx="5080000" cy="37279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i="1" dirty="0">
                    <a:solidFill>
                      <a:srgbClr val="595959"/>
                    </a:solidFill>
                    <a:latin typeface="Calibri"/>
                  </a:rPr>
                  <a:t>  is symmetric 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595959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i="1" dirty="0">
                    <a:solidFill>
                      <a:srgbClr val="595959"/>
                    </a:solidFill>
                    <a:latin typeface="Calibri"/>
                  </a:rPr>
                  <a:t>) with zero diagonal.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743C2-8E9A-0D44-8520-9675CB068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080000"/>
                <a:ext cx="5080000" cy="372794"/>
              </a:xfrm>
              <a:prstGeom prst="rect">
                <a:avLst/>
              </a:prstGeom>
              <a:blipFill>
                <a:blip r:embed="rId4"/>
                <a:stretch>
                  <a:fillRect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41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20B4-4DD9-F13B-EEF9-2A2D63909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4219"/>
            <a:ext cx="10515600" cy="1320800"/>
          </a:xfrm>
        </p:spPr>
        <p:txBody>
          <a:bodyPr/>
          <a:lstStyle/>
          <a:p>
            <a:r>
              <a:rPr lang="en-US" dirty="0"/>
              <a:t>Squared Distances: The Gram Matrix Trick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Body"/>
              <p:cNvSpPr txBox="1"/>
              <p:nvPr/>
            </p:nvSpPr>
            <p:spPr>
              <a:xfrm>
                <a:off x="909536" y="1035996"/>
                <a:ext cx="10515600" cy="431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rtlCol="0" anchor="t">
                <a:noAutofit/>
              </a:bodyPr>
              <a:lstStyle/>
              <a:p>
                <a:pPr>
                  <a:buNone/>
                </a:pPr>
                <a:r>
                  <a:rPr lang="en-US" sz="2800" dirty="0">
                    <a:solidFill>
                      <a:srgbClr val="333333"/>
                    </a:solidFill>
                  </a:rPr>
                  <a:t>For the squared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 distance, expand the Euclidean norm:</a:t>
                </a:r>
                <a:endParaRPr lang="en-US" sz="28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3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  <m:sup>
                          <m:r>
                            <a:rPr lang="en-US" sz="3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3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3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3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nor/>
                            </m:rPr>
                            <a:rPr lang="en-US" sz="3600" i="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en-US" sz="3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  <a:p>
                <a:pPr>
                  <a:buNone/>
                </a:pPr>
                <a:r>
                  <a:rPr lang="en-US" sz="2800" dirty="0">
                    <a:solidFill>
                      <a:srgbClr val="333333"/>
                    </a:solidFill>
                  </a:rPr>
                  <a:t>Collect every inner product into the Gram matrix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,  with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:</a:t>
                </a:r>
                <a:endParaRPr lang="en-US" sz="28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3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3600" i="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8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2800" dirty="0">
                    <a:solidFill>
                      <a:srgbClr val="333333"/>
                    </a:solidFill>
                  </a:rPr>
                  <a:t>Diagonal of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 holds the squared norms: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.</a:t>
                </a:r>
                <a:endParaRPr lang="en-US" sz="28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2800" dirty="0">
                    <a:solidFill>
                      <a:srgbClr val="333333"/>
                    </a:solidFill>
                  </a:rPr>
                  <a:t>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 squared distances come from one matrix product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 — vectorized and BLAS-fast.</a:t>
                </a:r>
                <a:endParaRPr lang="en-US" sz="2800" dirty="0"/>
              </a:p>
              <a:p>
                <a:pPr marL="285750" indent="-285750">
                  <a:buFont typeface="Arial"/>
                  <a:buChar char="•"/>
                </a:pPr>
                <a:r>
                  <a:rPr lang="en-US" sz="2800" dirty="0">
                    <a:solidFill>
                      <a:srgbClr val="333333"/>
                    </a:solidFill>
                  </a:rPr>
                  <a:t>Matrix form: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,  where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i="0">
                        <a:solidFill>
                          <a:srgbClr val="333333"/>
                        </a:solidFill>
                      </a:rPr>
                      <m:t>diag</m:t>
                    </m:r>
                    <m:d>
                      <m:d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333333"/>
                    </a:solidFill>
                  </a:rPr>
                  <a:t>.</a:t>
                </a:r>
                <a:endParaRPr lang="en-US" sz="2800" dirty="0"/>
              </a:p>
            </p:txBody>
          </p:sp>
        </mc:Choice>
        <mc:Fallback>
          <p:sp>
            <p:nvSpPr>
              <p:cNvPr id="50" name="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536" y="1035996"/>
                <a:ext cx="10515600" cy="4318000"/>
              </a:xfrm>
              <a:prstGeom prst="rect">
                <a:avLst/>
              </a:prstGeom>
              <a:blipFill>
                <a:blip r:embed="rId2"/>
                <a:stretch>
                  <a:fillRect l="-2051" t="-2639" b="-123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30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61AF-AE7B-0421-F860-073849D9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Example: A Distance via the Gram Trick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 txBox="1"/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45720" rIns="137160" bIns="45720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Problem.  </a:t>
                </a:r>
                <a:r>
                  <a:rPr lang="en-US" sz="1700" dirty="0">
                    <a:solidFill>
                      <a:srgbClr val="333333"/>
                    </a:solidFill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(3, 4)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(0, 1)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with the Gram trick.</a:t>
                </a:r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Click to reveal each step.</a:t>
                </a:r>
              </a:p>
            </p:txBody>
          </p:sp>
        </mc:Choice>
        <mc:Fallback>
          <p:sp>
            <p:nvSpPr>
              <p:cNvPr id="60" name="Proble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Step 1"/>
              <p:cNvSpPr txBox="1"/>
              <p:nvPr/>
            </p:nvSpPr>
            <p:spPr>
              <a:xfrm>
                <a:off x="838200" y="3098800"/>
                <a:ext cx="5257800" cy="1244600"/>
              </a:xfrm>
              <a:prstGeom prst="roundRect">
                <a:avLst>
                  <a:gd name="adj" fmla="val 5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82296" rIns="128520" bIns="82296" anchor="ctr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· Stack the points as rows</a:t>
                </a:r>
              </a:p>
              <a:p>
                <a:pPr algn="l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  (2 × 2)</a:t>
                </a:r>
              </a:p>
            </p:txBody>
          </p:sp>
        </mc:Choice>
        <mc:Fallback>
          <p:sp>
            <p:nvSpPr>
              <p:cNvPr id="210" name="Step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98800"/>
                <a:ext cx="5257800" cy="12446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Step 2"/>
              <p:cNvSpPr txBox="1"/>
              <p:nvPr/>
            </p:nvSpPr>
            <p:spPr>
              <a:xfrm>
                <a:off x="838200" y="4470400"/>
                <a:ext cx="5257800" cy="1676400"/>
              </a:xfrm>
              <a:prstGeom prst="roundRect">
                <a:avLst>
                  <a:gd name="adj" fmla="val 5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82296" rIns="128520" bIns="82296" anchor="ctr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· Multiply to get the Gram matrix</a:t>
                </a:r>
              </a:p>
              <a:p>
                <a:pPr algn="l">
                  <a:spcBef>
                    <a:spcPts val="6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211" name="Step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5257800" cy="1676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Step 3"/>
              <p:cNvSpPr txBox="1"/>
              <p:nvPr/>
            </p:nvSpPr>
            <p:spPr>
              <a:xfrm>
                <a:off x="6350000" y="3098800"/>
                <a:ext cx="5003800" cy="1244600"/>
              </a:xfrm>
              <a:prstGeom prst="roundRect">
                <a:avLst>
                  <a:gd name="adj" fmla="val 5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82296" rIns="128520" bIns="82296" anchor="ctr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· Read off the three entries</a:t>
                </a:r>
              </a:p>
              <a:p>
                <a:pPr algn="l">
                  <a:spcBef>
                    <a:spcPts val="6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25, 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1, 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212" name="Step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3098800"/>
                <a:ext cx="5003800" cy="1244600"/>
              </a:xfrm>
              <a:prstGeom prst="roundRect">
                <a:avLst>
                  <a:gd name="adj" fmla="val 5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3" name="Step 4"/>
              <p:cNvSpPr txBox="1"/>
              <p:nvPr/>
            </p:nvSpPr>
            <p:spPr>
              <a:xfrm>
                <a:off x="6350000" y="4470400"/>
                <a:ext cx="5003800" cy="939800"/>
              </a:xfrm>
              <a:prstGeom prst="roundRect">
                <a:avLst>
                  <a:gd name="adj" fmla="val 5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82296" rIns="128520" bIns="82296" anchor="ctr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4 · Apply the Gram trick</a:t>
                </a:r>
              </a:p>
              <a:p>
                <a:pPr algn="l">
                  <a:spcBef>
                    <a:spcPts val="5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− 2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25 + 1 − 8 = 18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213" name="Step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4470400"/>
                <a:ext cx="5003800" cy="939800"/>
              </a:xfrm>
              <a:prstGeom prst="roundRect">
                <a:avLst>
                  <a:gd name="adj" fmla="val 5000"/>
                </a:avLst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Result"/>
              <p:cNvSpPr txBox="1"/>
              <p:nvPr/>
            </p:nvSpPr>
            <p:spPr>
              <a:xfrm>
                <a:off x="6350000" y="5537200"/>
                <a:ext cx="5003800" cy="609600"/>
              </a:xfrm>
              <a:prstGeom prst="roundRect">
                <a:avLst>
                  <a:gd name="adj" fmla="val 5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82296" rIns="128520" bIns="82296" anchor="ctr">
                <a:normAutofit/>
              </a:bodyPr>
              <a:lstStyle/>
              <a:p>
                <a:pPr algn="l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</a:rPr>
                  <a:t>Result: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8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US" sz="1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</m:rad>
                    <m:r>
                      <a:rPr lang="en-US" sz="18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= 3</m:t>
                    </m:r>
                    <m:rad>
                      <m:radPr>
                        <m:degHide m:val="on"/>
                        <m:ctrlPr>
                          <a:rPr lang="en-US" sz="1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18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≈ 4.24</m:t>
                    </m:r>
                  </m:oMath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14" name="Resul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5537200"/>
                <a:ext cx="5003800" cy="609600"/>
              </a:xfrm>
              <a:prstGeom prst="roundRect">
                <a:avLst>
                  <a:gd name="adj" fmla="val 5000"/>
                </a:avLst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94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F99A-DA37-E201-A8C7-ABDBA7B6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Exercise: Build the Distance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 txBox="1"/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45720" rIns="137160" bIns="45720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Problem.  </a:t>
                </a:r>
                <a:r>
                  <a:rPr lang="en-US" sz="1700" dirty="0">
                    <a:solidFill>
                      <a:srgbClr val="333333"/>
                    </a:solidFill>
                  </a:rPr>
                  <a:t>For the four points below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build the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Euclidean distance matrix D.</a:t>
                </a:r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Click to reveal each step.</a:t>
                </a:r>
              </a:p>
            </p:txBody>
          </p:sp>
        </mc:Choice>
        <mc:Fallback>
          <p:sp>
            <p:nvSpPr>
              <p:cNvPr id="60" name="Proble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8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Points"/>
              <p:cNvSpPr txBox="1"/>
              <p:nvPr/>
            </p:nvSpPr>
            <p:spPr>
              <a:xfrm>
                <a:off x="838200" y="3352800"/>
                <a:ext cx="4826000" cy="22860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82296" rIns="91440" bIns="45720" rtlCol="0" anchor="t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Points</a:t>
                </a:r>
              </a:p>
              <a:p>
                <a:pPr>
                  <a:buNone/>
                </a:pPr>
                <a:r>
                  <a:rPr lang="en-US" sz="1800" dirty="0">
                    <a:solidFill>
                      <a:srgbClr val="333333"/>
                    </a:solidFill>
                  </a:rPr>
                  <a:t>a = (0, 0)  b = (3, 0)</a:t>
                </a:r>
              </a:p>
              <a:p>
                <a:pPr>
                  <a:buNone/>
                </a:pPr>
                <a:r>
                  <a:rPr lang="en-US" sz="1800" dirty="0">
                    <a:solidFill>
                      <a:srgbClr val="333333"/>
                    </a:solidFill>
                  </a:rPr>
                  <a:t>c = (0, 4)  d = (3, 4)</a:t>
                </a:r>
              </a:p>
              <a:p>
                <a:pPr>
                  <a:buNone/>
                </a:pPr>
                <a:r>
                  <a:rPr lang="en-US" sz="1600" i="1" dirty="0">
                    <a:solidFill>
                      <a:srgbClr val="595959"/>
                    </a:solidFill>
                  </a:rPr>
                  <a:t>Recall: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‖"/>
                        <m:endChr m:val="‖"/>
                        <m:ctrlPr>
                          <a:rPr lang="en-US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6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61" name="Poin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52800"/>
                <a:ext cx="4826000" cy="2286000"/>
              </a:xfrm>
              <a:prstGeom prst="roundRect">
                <a:avLst>
                  <a:gd name="adj" fmla="val 6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Compose X"/>
              <p:cNvSpPr txBox="1"/>
              <p:nvPr/>
            </p:nvSpPr>
            <p:spPr>
              <a:xfrm>
                <a:off x="6172200" y="3276600"/>
                <a:ext cx="4978400" cy="2489200"/>
              </a:xfrm>
              <a:prstGeom prst="roundRect">
                <a:avLst>
                  <a:gd name="adj" fmla="val 5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82296" rIns="128520" bIns="82296" anchor="ctr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· Compose the data matrix</a:t>
                </a:r>
              </a:p>
              <a:p>
                <a:pPr algn="l">
                  <a:spcBef>
                    <a:spcPts val="500"/>
                  </a:spcBef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5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Rows are the points a, b, c, d — so </a:t>
                </a:r>
                <a:r>
                  <a:rPr lang="en-US" sz="1400" b="1" i="1" dirty="0">
                    <a:solidFill>
                      <a:srgbClr val="595959"/>
                    </a:solidFill>
                  </a:rPr>
                  <a:t>X</a:t>
                </a:r>
                <a:r>
                  <a:rPr lang="en-US" sz="1400" i="1" dirty="0">
                    <a:solidFill>
                      <a:srgbClr val="595959"/>
                    </a:solidFill>
                  </a:rPr>
                  <a:t> is 4 × 2.</a:t>
                </a:r>
              </a:p>
            </p:txBody>
          </p:sp>
        </mc:Choice>
        <mc:Fallback>
          <p:sp>
            <p:nvSpPr>
              <p:cNvPr id="210" name="Compose 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276600"/>
                <a:ext cx="4978400" cy="2489200"/>
              </a:xfrm>
              <a:prstGeom prst="roundRect">
                <a:avLst>
                  <a:gd name="adj" fmla="val 5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21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639D12-B5D9-0C5B-33E3-4F6BF852E6C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8300"/>
                <a:ext cx="10515600" cy="1320800"/>
              </a:xfrm>
            </p:spPr>
            <p:txBody>
              <a:bodyPr/>
              <a:lstStyle/>
              <a:p>
                <a:r>
                  <a:rPr lang="en-US"/>
                  <a:t>Solution — Step 2: Multiply — the Diagonal of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639D12-B5D9-0C5B-33E3-4F6BF852E6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8300"/>
                <a:ext cx="10515600" cy="1320800"/>
              </a:xfrm>
              <a:blipFill>
                <a:blip r:embed="rId2"/>
                <a:stretch>
                  <a:fillRect l="-156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F4E01F0-CC43-014C-B2C6-9910AA3362C0}"/>
                  </a:ext>
                </a:extLst>
              </p:cNvPr>
              <p:cNvSpPr/>
              <p:nvPr/>
            </p:nvSpPr>
            <p:spPr>
              <a:xfrm>
                <a:off x="838200" y="1905000"/>
                <a:ext cx="10515600" cy="787400"/>
              </a:xfrm>
              <a:prstGeom prst="roundRect">
                <a:avLst/>
              </a:prstGeom>
              <a:solidFill>
                <a:srgbClr val="F5F0EB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b="1">
                    <a:solidFill>
                      <a:srgbClr val="4B2E83"/>
                    </a:solidFill>
                    <a:latin typeface="Arial"/>
                    <a:cs typeface="Arial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4B2E83"/>
                    </a:solidFill>
                    <a:latin typeface="Arial"/>
                    <a:cs typeface="Arial"/>
                  </a:rPr>
                  <a:t> (Gram trick):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− 2 </m:t>
                    </m:r>
                    <m:sSubSup>
                      <m:sSub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1">
                  <a:solidFill>
                    <a:srgbClr val="4B2E83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F4E01F0-CC43-014C-B2C6-9910AA3362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787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212F093-890F-0844-8046-D18976C60E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21000" y="3200400"/>
              <a:ext cx="6350000" cy="215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000">
                      <a:extLst>
                        <a:ext uri="{9D8B030D-6E8A-4147-A177-3AD203B41FA5}">
                          <a16:colId xmlns:a16="http://schemas.microsoft.com/office/drawing/2014/main" val="108423512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857303472"/>
                        </a:ext>
                      </a:extLst>
                    </a:gridCol>
                    <a:gridCol w="2921000">
                      <a:extLst>
                        <a:ext uri="{9D8B030D-6E8A-4147-A177-3AD203B41FA5}">
                          <a16:colId xmlns:a16="http://schemas.microsoft.com/office/drawing/2014/main" val="839404082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FFFFFF"/>
                              </a:solidFill>
                              <a:latin typeface="Arial"/>
                              <a:cs typeface="Arial"/>
                            </a:rPr>
                            <a:t>Point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1600" i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3499162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a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(0, 0)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= 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336576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b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(3, 0)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= 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6563954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c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(0, 4)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= 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84932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(3, 4)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= 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587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212F093-890F-0844-8046-D18976C60E8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21000" y="3200400"/>
              <a:ext cx="6350000" cy="215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7000">
                      <a:extLst>
                        <a:ext uri="{9D8B030D-6E8A-4147-A177-3AD203B41FA5}">
                          <a16:colId xmlns:a16="http://schemas.microsoft.com/office/drawing/2014/main" val="108423512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857303472"/>
                        </a:ext>
                      </a:extLst>
                    </a:gridCol>
                    <a:gridCol w="2921000">
                      <a:extLst>
                        <a:ext uri="{9D8B030D-6E8A-4147-A177-3AD203B41FA5}">
                          <a16:colId xmlns:a16="http://schemas.microsoft.com/office/drawing/2014/main" val="839404082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FFFFFF"/>
                              </a:solidFill>
                              <a:latin typeface="Arial"/>
                              <a:cs typeface="Arial"/>
                            </a:rPr>
                            <a:t>Point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9375" t="-2941" r="-145000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7826" t="-2941" r="-870" b="-4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3499162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a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(0, 0)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7826" t="-102941" r="-870" b="-3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336576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b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(3, 0)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7826" t="-202941" r="-870" b="-2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6563954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c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(0, 4)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7826" t="-302941" r="-870" b="-1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884932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>
                              <a:solidFill>
                                <a:srgbClr val="4B2E83"/>
                              </a:solidFill>
                              <a:latin typeface="Arial"/>
                              <a:cs typeface="Arial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rgbClr val="E8E1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solidFill>
                                <a:srgbClr val="333333"/>
                              </a:solidFill>
                              <a:latin typeface="Arial"/>
                              <a:cs typeface="Arial"/>
                            </a:rPr>
                            <a:t>(3, 4)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7826" t="-402941" r="-870"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587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C736432-7207-1F46-9FFF-EFC8FFF94CEB}"/>
              </a:ext>
            </a:extLst>
          </p:cNvPr>
          <p:cNvSpPr txBox="1"/>
          <p:nvPr/>
        </p:nvSpPr>
        <p:spPr>
          <a:xfrm>
            <a:off x="2921000" y="5715000"/>
            <a:ext cx="6350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These four values become the diagonal of the Gram matrix G.</a:t>
            </a:r>
          </a:p>
        </p:txBody>
      </p:sp>
    </p:spTree>
    <p:extLst>
      <p:ext uri="{BB962C8B-B14F-4D97-AF65-F5344CB8AC3E}">
        <p14:creationId xmlns:p14="http://schemas.microsoft.com/office/powerpoint/2010/main" val="381827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40453-196D-1FF4-A339-716557BEB4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8300"/>
                <a:ext cx="10515600" cy="1320800"/>
              </a:xfrm>
            </p:spPr>
            <p:txBody>
              <a:bodyPr/>
              <a:lstStyle/>
              <a:p>
                <a:r>
                  <a:rPr lang="en-US"/>
                  <a:t>Solution — Step 3: Gram Matrix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40453-196D-1FF4-A339-716557BEB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8300"/>
                <a:ext cx="10515600" cy="1320800"/>
              </a:xfrm>
              <a:blipFill>
                <a:blip r:embed="rId2"/>
                <a:stretch>
                  <a:fillRect l="-1568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F3B8FF4C-9C99-E34E-AA04-AFA0A1BD4382}"/>
                  </a:ext>
                </a:extLst>
              </p:cNvPr>
              <p:cNvSpPr/>
              <p:nvPr/>
            </p:nvSpPr>
            <p:spPr>
              <a:xfrm>
                <a:off x="838200" y="1905000"/>
                <a:ext cx="10515600" cy="787400"/>
              </a:xfrm>
              <a:prstGeom prst="roundRect">
                <a:avLst/>
              </a:prstGeom>
              <a:solidFill>
                <a:srgbClr val="F5F0EB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b="1">
                    <a:solidFill>
                      <a:srgbClr val="4B2E83"/>
                    </a:solidFill>
                    <a:latin typeface="Arial"/>
                    <a:cs typeface="Arial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4B2E83"/>
                    </a:solidFill>
                    <a:latin typeface="Arial"/>
                    <a:cs typeface="Arial"/>
                  </a:rPr>
                  <a:t> (Gram trick):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− 2 </m:t>
                    </m:r>
                    <m:sSubSup>
                      <m:sSub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1">
                  <a:solidFill>
                    <a:srgbClr val="4B2E83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F3B8FF4C-9C99-E34E-AA04-AFA0A1BD43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787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098CA4-90D3-2B4E-8685-CB9A70FB7A2D}"/>
              </a:ext>
            </a:extLst>
          </p:cNvPr>
          <p:cNvGraphicFramePr>
            <a:graphicFrameLocks noGrp="1"/>
          </p:cNvGraphicFramePr>
          <p:nvPr/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5541175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15894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58118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605631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1590357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3323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12255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6085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97207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69192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6CEE3E-54BB-EE4B-83F7-6C1540BA29E9}"/>
                  </a:ext>
                </a:extLst>
              </p:cNvPr>
              <p:cNvSpPr txBox="1"/>
              <p:nvPr/>
            </p:nvSpPr>
            <p:spPr>
              <a:xfrm>
                <a:off x="1524000" y="5689600"/>
                <a:ext cx="9144000" cy="406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500" i="1">
                    <a:solidFill>
                      <a:srgbClr val="595959"/>
                    </a:solidFill>
                    <a:latin typeface="Calibri"/>
                    <a:cs typeface="Calibri"/>
                  </a:rPr>
                  <a:t> — its diagonal equals the squared norms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i="1">
                    <a:solidFill>
                      <a:srgbClr val="595959"/>
                    </a:solidFill>
                    <a:latin typeface="Calibri"/>
                    <a:cs typeface="Calibri"/>
                  </a:rPr>
                  <a:t> from Step 2.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6CEE3E-54BB-EE4B-83F7-6C1540BA2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689600"/>
                <a:ext cx="9144000" cy="406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58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3508D1-BD8C-BBA9-E055-F8C0CE2A85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8300"/>
                <a:ext cx="10515600" cy="1320800"/>
              </a:xfrm>
            </p:spPr>
            <p:txBody>
              <a:bodyPr/>
              <a:lstStyle/>
              <a:p>
                <a:r>
                  <a:rPr lang="en-US"/>
                  <a:t>Solution — Step 4: Gram Trick →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3508D1-BD8C-BBA9-E055-F8C0CE2A8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8300"/>
                <a:ext cx="10515600" cy="1320800"/>
              </a:xfrm>
              <a:blipFill>
                <a:blip r:embed="rId2"/>
                <a:stretch>
                  <a:fillRect l="-1568" b="-1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D35C873-0BF6-C74D-9FBF-500D795E59D7}"/>
                  </a:ext>
                </a:extLst>
              </p:cNvPr>
              <p:cNvSpPr/>
              <p:nvPr/>
            </p:nvSpPr>
            <p:spPr>
              <a:xfrm>
                <a:off x="838200" y="1905000"/>
                <a:ext cx="10515600" cy="787400"/>
              </a:xfrm>
              <a:prstGeom prst="roundRect">
                <a:avLst/>
              </a:prstGeom>
              <a:solidFill>
                <a:srgbClr val="F5F0EB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b="1">
                    <a:solidFill>
                      <a:srgbClr val="4B2E83"/>
                    </a:solidFill>
                    <a:latin typeface="Arial"/>
                    <a:cs typeface="Arial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rgbClr val="4B2E83"/>
                    </a:solidFill>
                    <a:latin typeface="Arial"/>
                    <a:cs typeface="Arial"/>
                  </a:rPr>
                  <a:t> (Gram trick):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− 2 </m:t>
                    </m:r>
                    <m:sSubSup>
                      <m:sSubSup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1">
                  <a:solidFill>
                    <a:srgbClr val="4B2E83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D35C873-0BF6-C74D-9FBF-500D795E59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787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1166C1-9FC8-8140-99CB-0AA2DB1307CF}"/>
              </a:ext>
            </a:extLst>
          </p:cNvPr>
          <p:cNvGraphicFramePr>
            <a:graphicFrameLocks noGrp="1"/>
          </p:cNvGraphicFramePr>
          <p:nvPr/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10354723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1222635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7715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448036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8138539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3706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6694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9041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36543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25765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B40E12-4876-2447-BFEF-58BD8BBB90DD}"/>
                  </a:ext>
                </a:extLst>
              </p:cNvPr>
              <p:cNvSpPr txBox="1"/>
              <p:nvPr/>
            </p:nvSpPr>
            <p:spPr>
              <a:xfrm>
                <a:off x="1524000" y="5689600"/>
                <a:ext cx="9144000" cy="406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5959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595959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− 2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500" i="1">
                    <a:solidFill>
                      <a:srgbClr val="595959"/>
                    </a:solidFill>
                    <a:latin typeface="Calibri"/>
                    <a:cs typeface="Calibri"/>
                  </a:rPr>
                  <a:t>   e.g.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) = 9 + 25 −</m:t>
                    </m:r>
                  </m:oMath>
                </a14:m>
                <a:r>
                  <a:rPr lang="en-US" sz="1500" i="1">
                    <a:solidFill>
                      <a:srgbClr val="595959"/>
                    </a:solidFill>
                    <a:latin typeface="Calibri"/>
                    <a:cs typeface="Calibri"/>
                  </a:rPr>
                  <a:t> 2(9) = 16.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B40E12-4876-2447-BFEF-58BD8BBB9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689600"/>
                <a:ext cx="9144000" cy="406400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286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F39B-E99A-DBDA-1DFC-E1E4DDA6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Solution — Step 5: Distance Matrix 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883939E-9B94-7C45-A6B5-35BCB1730E48}"/>
                  </a:ext>
                </a:extLst>
              </p:cNvPr>
              <p:cNvSpPr/>
              <p:nvPr/>
            </p:nvSpPr>
            <p:spPr>
              <a:xfrm>
                <a:off x="838200" y="1854200"/>
                <a:ext cx="10515600" cy="939800"/>
              </a:xfrm>
              <a:prstGeom prst="roundRect">
                <a:avLst/>
              </a:prstGeom>
              <a:solidFill>
                <a:srgbClr val="F5F0EB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b="1">
                    <a:solidFill>
                      <a:srgbClr val="4B2E83"/>
                    </a:solidFill>
                    <a:latin typeface="Arial"/>
                    <a:cs typeface="Arial"/>
                  </a:rPr>
                  <a:t>Take entrywise square roots: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US" sz="28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8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sz="28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b="1">
                  <a:solidFill>
                    <a:srgbClr val="4B2E83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883939E-9B94-7C45-A6B5-35BCB1730E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939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6EEABB-A048-3A49-98E3-DAA10FA7D93F}"/>
              </a:ext>
            </a:extLst>
          </p:cNvPr>
          <p:cNvGraphicFramePr>
            <a:graphicFrameLocks noGrp="1"/>
          </p:cNvGraphicFramePr>
          <p:nvPr/>
        </p:nvGraphicFramePr>
        <p:xfrm>
          <a:off x="3810000" y="3251200"/>
          <a:ext cx="49784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1744349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979318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821417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08251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0866321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8612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3348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0571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4606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4B2E83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E8E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3440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80F182-EE74-F144-B2A4-29FBB90951E5}"/>
              </a:ext>
            </a:extLst>
          </p:cNvPr>
          <p:cNvSpPr txBox="1"/>
          <p:nvPr/>
        </p:nvSpPr>
        <p:spPr>
          <a:xfrm>
            <a:off x="1524000" y="5689600"/>
            <a:ext cx="9144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 i="1">
                <a:solidFill>
                  <a:srgbClr val="595959"/>
                </a:solidFill>
                <a:latin typeface="Calibri"/>
                <a:cs typeface="Calibri"/>
              </a:rPr>
              <a:t>Symmetric with zero diagonal — the 3-4-5 rectangle. This matches the exercise answer.</a:t>
            </a:r>
          </a:p>
        </p:txBody>
      </p:sp>
    </p:spTree>
    <p:extLst>
      <p:ext uri="{BB962C8B-B14F-4D97-AF65-F5344CB8AC3E}">
        <p14:creationId xmlns:p14="http://schemas.microsoft.com/office/powerpoint/2010/main" val="49119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1611-118A-1DF7-4581-76D69AF3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vs. Dissimilarity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FEADBB-8213-224E-B629-8C1C4935DF41}"/>
              </a:ext>
            </a:extLst>
          </p:cNvPr>
          <p:cNvSpPr/>
          <p:nvPr/>
        </p:nvSpPr>
        <p:spPr>
          <a:xfrm>
            <a:off x="838200" y="1905000"/>
            <a:ext cx="51435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700B-85F3-CD47-94F6-95D9D93F2077}"/>
                  </a:ext>
                </a:extLst>
              </p:cNvPr>
              <p:cNvSpPr txBox="1"/>
              <p:nvPr/>
            </p:nvSpPr>
            <p:spPr>
              <a:xfrm>
                <a:off x="1066800" y="2082800"/>
                <a:ext cx="4724400" cy="215417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b="1" dirty="0">
                    <a:solidFill>
                      <a:srgbClr val="00A7B5"/>
                    </a:solidFill>
                    <a:latin typeface="Arial"/>
                  </a:rPr>
                  <a:t>Dissimilarity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00A7B5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900" i="1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9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1900" b="1" dirty="0">
                  <a:solidFill>
                    <a:srgbClr val="00A7B5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700"/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Small when points are alike, large when different.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Cosine distance: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 i="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Used directly by hierarchical clustering, DBSCAN.</a:t>
                </a: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≥0, 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7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700B-85F3-CD47-94F6-95D9D93F2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82800"/>
                <a:ext cx="4724400" cy="2154179"/>
              </a:xfrm>
              <a:prstGeom prst="rect">
                <a:avLst/>
              </a:prstGeom>
              <a:blipFill>
                <a:blip r:embed="rId2"/>
                <a:stretch>
                  <a:fillRect l="-1340" t="-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3BBBA5-FCC5-FF43-83F3-A198697F65F7}"/>
              </a:ext>
            </a:extLst>
          </p:cNvPr>
          <p:cNvSpPr/>
          <p:nvPr/>
        </p:nvSpPr>
        <p:spPr>
          <a:xfrm>
            <a:off x="6210300" y="1905000"/>
            <a:ext cx="5143500" cy="419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1C3AD-E82F-6047-A89F-321740B2BF6C}"/>
                  </a:ext>
                </a:extLst>
              </p:cNvPr>
              <p:cNvSpPr txBox="1"/>
              <p:nvPr/>
            </p:nvSpPr>
            <p:spPr>
              <a:xfrm>
                <a:off x="6438900" y="2082800"/>
                <a:ext cx="4724400" cy="236545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900" b="1" dirty="0">
                    <a:solidFill>
                      <a:srgbClr val="D1578A"/>
                    </a:solidFill>
                    <a:latin typeface="Arial"/>
                  </a:rPr>
                  <a:t>Similarity  </a:t>
                </a:r>
                <a14:m>
                  <m:oMath xmlns:m="http://schemas.openxmlformats.org/officeDocument/2006/math">
                    <m:r>
                      <a:rPr lang="en-US" sz="19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900" i="1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900">
                            <a:solidFill>
                              <a:srgbClr val="D1578A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sz="1900" b="1" dirty="0">
                  <a:solidFill>
                    <a:srgbClr val="D1578A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700"/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Large when points are alike, small when different.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Cosine similarity: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 i="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Gaussian kernel: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333333"/>
                        </a:solidFill>
                      </a:rPr>
                      <m:t>exp</m:t>
                    </m:r>
                    <m:d>
                      <m:d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17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:r>
                  <a:rPr lang="en-US" sz="1800" dirty="0">
                    <a:solidFill>
                      <a:srgbClr val="333333"/>
                    </a:solidFill>
                  </a:rPr>
                  <a:t>Often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>
                    <a:solidFill>
                      <a:srgbClr val="333333"/>
                    </a:solidFill>
                  </a:rPr>
                  <a:t>   or  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8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rad>
                  </m:oMath>
                </a14:m>
                <a:endParaRPr lang="en-US" sz="18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1C3AD-E82F-6047-A89F-321740B2B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082800"/>
                <a:ext cx="4724400" cy="2365456"/>
              </a:xfrm>
              <a:prstGeom prst="rect">
                <a:avLst/>
              </a:prstGeom>
              <a:blipFill>
                <a:blip r:embed="rId3"/>
                <a:stretch>
                  <a:fillRect l="-1072" t="-1604" b="-2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97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C77B-947D-BD54-55E4-D8AA3770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E1304F-CB18-9E4B-BC46-E4E75B837C08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10515600" cy="6155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dirty="0">
                    <a:solidFill>
                      <a:srgbClr val="333333"/>
                    </a:solidFill>
                  </a:rPr>
                  <a:t>Euclidean distance is dominated by large-scale features. A variable in dollars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) swamps one in years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). We rescale each column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to zero mean and unit variance: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E1304F-CB18-9E4B-BC46-E4E75B837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615553"/>
              </a:xfrm>
              <a:prstGeom prst="rect">
                <a:avLst/>
              </a:prstGeom>
              <a:blipFill>
                <a:blip r:embed="rId2"/>
                <a:stretch>
                  <a:fillRect l="-483" t="-4082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3861D9-EE3E-FB49-BF37-15760B356132}"/>
              </a:ext>
            </a:extLst>
          </p:cNvPr>
          <p:cNvSpPr/>
          <p:nvPr/>
        </p:nvSpPr>
        <p:spPr>
          <a:xfrm>
            <a:off x="838200" y="2946400"/>
            <a:ext cx="10515600" cy="1219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5BA89-497B-C745-96F1-9D093ABE934C}"/>
                  </a:ext>
                </a:extLst>
              </p:cNvPr>
              <p:cNvSpPr txBox="1"/>
              <p:nvPr/>
            </p:nvSpPr>
            <p:spPr>
              <a:xfrm>
                <a:off x="1016000" y="3221550"/>
                <a:ext cx="10160000" cy="66890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rgbClr val="FFFFFF"/>
                    </a:solidFill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5BA89-497B-C745-96F1-9D093ABE9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221550"/>
                <a:ext cx="10160000" cy="668901"/>
              </a:xfrm>
              <a:prstGeom prst="rect">
                <a:avLst/>
              </a:prstGeom>
              <a:blipFill>
                <a:blip r:embed="rId3"/>
                <a:stretch>
                  <a:fillRect t="-50000" b="-8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5FABE2-6080-4042-AC02-0F465E2A65E1}"/>
                  </a:ext>
                </a:extLst>
              </p:cNvPr>
              <p:cNvSpPr txBox="1"/>
              <p:nvPr/>
            </p:nvSpPr>
            <p:spPr>
              <a:xfrm>
                <a:off x="838200" y="4419600"/>
                <a:ext cx="10515600" cy="101014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In matrix form: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 where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𝚺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diag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After standardization every feature contributes equally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Alternatives: min-max scaling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robust scaling by median / IQR.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5FABE2-6080-4042-AC02-0F465E2A6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600"/>
                <a:ext cx="10515600" cy="1010148"/>
              </a:xfrm>
              <a:prstGeom prst="rect">
                <a:avLst/>
              </a:prstGeom>
              <a:blipFill>
                <a:blip r:embed="rId4"/>
                <a:stretch>
                  <a:fillRect l="-36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55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FCD7-3CBC-26BE-E843-E5A8723E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Curse of Dimensionality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1DC53-0338-4C4D-8DEB-73EA9ABF56F9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9370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As dimension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grows, pairwise distances concentrate: the nearest and farthest neighbors become almost equidistant.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Formally,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700" i="0">
                                    <a:solidFill>
                                      <a:srgbClr val="333333"/>
                                    </a:solidFill>
                                  </a:rPr>
                                  <m:t>max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1700" i="0">
                                    <a:solidFill>
                                      <a:srgbClr val="333333"/>
                                    </a:solidFill>
                                  </a:rPr>
                                  <m:t>min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7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700" i="0">
                                <a:solidFill>
                                  <a:srgbClr val="333333"/>
                                </a:solidFill>
                              </a:rPr>
                              <m:t>min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for many distributions.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Volume escapes to the corners: a unit ball fills a vanishing fraction of the unit cube.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Consequence: Euclidean clustering degrades in high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. Reduce dimension first (t-SNE, UMAP, PCA) or use cosine/Mahalanobis distance.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E1DC53-0338-4C4D-8DEB-73EA9ABF5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937022"/>
              </a:xfrm>
              <a:prstGeom prst="rect">
                <a:avLst/>
              </a:prstGeom>
              <a:blipFill>
                <a:blip r:embed="rId2"/>
                <a:stretch>
                  <a:fillRect l="-682" t="-862" r="-1364" b="-1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41443D-6724-394B-A049-92228AA4C3C3}"/>
              </a:ext>
            </a:extLst>
          </p:cNvPr>
          <p:cNvSpPr/>
          <p:nvPr/>
        </p:nvSpPr>
        <p:spPr>
          <a:xfrm>
            <a:off x="6604000" y="2133600"/>
            <a:ext cx="4749800" cy="3810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625359-2344-9341-A0AF-CCE3756B82DC}"/>
                  </a:ext>
                </a:extLst>
              </p:cNvPr>
              <p:cNvSpPr txBox="1"/>
              <p:nvPr/>
            </p:nvSpPr>
            <p:spPr>
              <a:xfrm>
                <a:off x="6832600" y="2362200"/>
                <a:ext cx="4292600" cy="200619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85754D"/>
                    </a:solidFill>
                    <a:latin typeface="Arial"/>
                  </a:rPr>
                  <a:t>Distance concentration</a:t>
                </a:r>
              </a:p>
              <a:p>
                <a:pPr>
                  <a:buNone/>
                </a:pPr>
                <a:endParaRPr lang="en-US" sz="7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i="0">
                          <a:solidFill>
                            <a:srgbClr val="4B2E83"/>
                          </a:solidFill>
                        </a:rPr>
                        <m:t>E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sz="22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rad>
                    </m:oMath>
                  </m:oMathPara>
                </a14:m>
                <a:endParaRPr lang="en-US" sz="700"/>
              </a:p>
              <a:p>
                <a:pPr>
                  <a:buNone/>
                </a:pPr>
                <a:endParaRPr lang="en-US" sz="7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i.i.d. unit-variance entries, the expected norm grows 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while the spread stays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so all points sit near a thin shell of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625359-2344-9341-A0AF-CCE3756B8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362200"/>
                <a:ext cx="4292600" cy="2006190"/>
              </a:xfrm>
              <a:prstGeom prst="rect">
                <a:avLst/>
              </a:prstGeom>
              <a:blipFill>
                <a:blip r:embed="rId3"/>
                <a:stretch>
                  <a:fillRect l="-1475" t="-1887" b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74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— Expand the Squared Distance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1 OF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EB461-9982-C44E-99A5-39A3BE67078A}"/>
              </a:ext>
            </a:extLst>
          </p:cNvPr>
          <p:cNvSpPr txBox="1"/>
          <p:nvPr/>
        </p:nvSpPr>
        <p:spPr>
          <a:xfrm>
            <a:off x="838200" y="2235200"/>
            <a:ext cx="5461000" cy="221599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 Euclidean distance can’t be vectorized directly — the square root blocks it.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Square the distance and expand the norm. Every term becomes an inner product, and inner products are exactly what one matrix multiply delivers.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Goal: rewrite each distance using only dot products of the data points.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3653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Expand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Only inner products remain — ready to vectorize.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365310"/>
              </a:xfrm>
              <a:prstGeom prst="rect">
                <a:avLst/>
              </a:prstGeom>
              <a:blipFill>
                <a:blip r:embed="rId2"/>
                <a:stretch>
                  <a:fillRect l="-860" t="-1852" b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39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— Collect Into the Gram Matrix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2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Stack the three points as rows of the data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(3×2):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Then every inner product is a single entry of the Gram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blipFill>
                <a:blip r:embed="rId2"/>
                <a:stretch>
                  <a:fillRect l="-698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Build the Gram matrix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One matrix product gives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inner products — vectorized and BLAS-fast.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blipFill>
                <a:blip r:embed="rId3"/>
                <a:stretch>
                  <a:fillRect l="-860" t="-1379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67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— Diagonal &amp; Matrix Form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3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diagonal of G holds the squared norms: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Collect them into the vector g = diag(G):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761508"/>
              </a:xfrm>
              <a:prstGeom prst="rect">
                <a:avLst/>
              </a:prstGeom>
              <a:blipFill>
                <a:blip r:embed="rId2"/>
                <a:stretch>
                  <a:fillRect l="-698" t="-1439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4570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Matrix form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+1·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with 1 = all-ones vector.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Entrywise this is just: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457002"/>
              </a:xfrm>
              <a:prstGeom prst="rect">
                <a:avLst/>
              </a:prstGeom>
              <a:blipFill>
                <a:blip r:embed="rId3"/>
                <a:stretch>
                  <a:fillRect l="-860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1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CE3C2-AC07-E805-A002-1C94673C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— Plug In and Recover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9BCC3-5DC2-8443-9721-1A45277A54D3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STEP 4 OF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2821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Plug in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With g = (0, 9, 16), add the diagonal terms and subtract 2G: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6EB461-9982-C44E-99A5-39A3BE6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282146"/>
              </a:xfrm>
              <a:prstGeom prst="rect">
                <a:avLst/>
              </a:prstGeom>
              <a:blipFill>
                <a:blip r:embed="rId2"/>
                <a:stretch>
                  <a:fillRect l="-698" t="-1980"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E81161-4B38-DC42-AF70-C882A275A95B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Take the elementwise square root: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entire distance matrix from one product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symmetric, with zero diagonal.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5CD55F-8964-4845-94E1-967AA9A2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19600" cy="1836144"/>
              </a:xfrm>
              <a:prstGeom prst="rect">
                <a:avLst/>
              </a:prstGeom>
              <a:blipFill>
                <a:blip r:embed="rId3"/>
                <a:stretch>
                  <a:fillRect l="-860" t="-1379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53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A2B2-FFBE-C66D-CF9F-DB9FDAB6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/>
              <a:t>Exercise 1: Standardization in Matrix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1905000"/>
                <a:ext cx="10515600" cy="15494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45720" rIns="137160" bIns="45720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Problem.  </a:t>
                </a:r>
                <a:r>
                  <a:rPr lang="en-US" sz="1700" dirty="0">
                    <a:solidFill>
                      <a:srgbClr val="333333"/>
                    </a:solidFill>
                  </a:rPr>
                  <a:t>A data matrix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7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has rows = observations. Express the z-score standardization Z using only matrix operations: which matrix centers the columns, and which rescales them?</a:t>
                </a:r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(Click to reveal the solution.)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549400"/>
              </a:xfrm>
              <a:prstGeom prst="roundRect">
                <a:avLst>
                  <a:gd name="adj" fmla="val 6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3505200"/>
                <a:ext cx="10515600" cy="2692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Solution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Center the columns (H), then rescale each to unit standard deviation (S):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00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⇒ 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5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sSup>
                        <m:sSupPr>
                          <m:ctrlPr>
                            <a:rPr lang="en-US" sz="195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5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95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" dirty="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05200"/>
                <a:ext cx="10515600" cy="2692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89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1: Set Up the Centering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Centering operator: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Center each column by subtracting its mean, so every feature has mean zero. Start from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3×2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data matrix: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Goal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Find the column-mean vector and the centered matrix: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87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2: Column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Column means: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Average each column: sum the entries down each column, then divide by the number of rows n = 3.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Sum each column, then divide by n = 3: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(1 + 3 + 5,  10 + 20 + 30) = (9,  60)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(9,  60) = (3,  20)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03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3: Subtract the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Centered matrix: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𝐇𝐗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Broadcast the mean vector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across all three rows and subtract it from X — this is exactly the centered matrix HX.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14600"/>
                <a:ext cx="10515600" cy="19050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90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085-5958-846D-5454-5E9A27E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 — Step 4: Check &amp; Standardize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/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4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Each column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now has mean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514600"/>
            <a:ext cx="10515600" cy="1905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Why it matters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Every column of the centered matrix now sums to zero, so the data is mean-centered — exactly what covariance estimation and PCA require.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Standardize next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Divide each centered column by its standard deviation to put every feature on one scale: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𝐇𝐗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70400"/>
                <a:ext cx="10515600" cy="19812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03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1: Set Up the Scaling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Standardize: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  (S = diag of column std-devs)</a:t>
                </a: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Centering in Exercise 2 removed the mean. The columns still have different spreads, so now rescale each one by its own standard deviation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Goal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Recall the centered matrix from Exercise 2: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Build the scale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diag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then divide each column by its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04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2: Column Standard Deviations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Sample std-dev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 − 1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34043" b="-787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Each centered column already has mean 0, so its variance is the mean of its squares. Divide the sum of squares by n − 1 = 2, then take the square root.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(−2)² + 0² + 2²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(−10)² + 0² + 10²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=(2,  10)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9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3: Build the Scaling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),  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Idea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Place the standard deviations on the diagonal of S. Its inverse simply reciprocates each diagonal entry — the off-diagonals stay zero.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(2, 10)=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9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 — Step 4: Scale to Unit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4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every column: mean 0, variance 1</a:t>
                </a: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Idea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Multiply on the right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to divide each column by its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The result Z has mean 0 and unit variance in every column — fully standardized.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49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C74C-12B1-A002-5180-0AF59C0C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Foundations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D236A4-3215-B443-87F4-B71ECDF00651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BA4E4CC-C964-794D-8FC7-043D6668A2A9}"/>
              </a:ext>
            </a:extLst>
          </p:cNvPr>
          <p:cNvSpPr/>
          <p:nvPr/>
        </p:nvSpPr>
        <p:spPr>
          <a:xfrm>
            <a:off x="1625600" y="1905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52EF1-C68A-A24C-8DBF-DBB71C1F1799}"/>
                  </a:ext>
                </a:extLst>
              </p:cNvPr>
              <p:cNvSpPr txBox="1"/>
              <p:nvPr/>
            </p:nvSpPr>
            <p:spPr>
              <a:xfrm>
                <a:off x="1854200" y="2281292"/>
                <a:ext cx="9296400" cy="6190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Distance matrix.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4,6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1,6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Euclidean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Verify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zero diagonal.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52EF1-C68A-A24C-8DBF-DBB71C1F1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281292"/>
                <a:ext cx="9296400" cy="619016"/>
              </a:xfrm>
              <a:prstGeom prst="rect">
                <a:avLst/>
              </a:prstGeom>
              <a:blipFill>
                <a:blip r:embed="rId2"/>
                <a:stretch>
                  <a:fillRect l="-273" t="-20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BF06B69C-FA29-F348-B46B-96F3A5CDDA3D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EF680A-E102-F348-8879-6BA11261B459}"/>
              </a:ext>
            </a:extLst>
          </p:cNvPr>
          <p:cNvSpPr/>
          <p:nvPr/>
        </p:nvSpPr>
        <p:spPr>
          <a:xfrm>
            <a:off x="1625600" y="3429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F7637-398E-3B47-9DE0-2BA87A5BE6BB}"/>
                  </a:ext>
                </a:extLst>
              </p:cNvPr>
              <p:cNvSpPr txBox="1"/>
              <p:nvPr/>
            </p:nvSpPr>
            <p:spPr>
              <a:xfrm>
                <a:off x="1854200" y="38224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Metric comparison.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2,0,1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0,3,1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Order them and explain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F7637-398E-3B47-9DE0-2BA87A5BE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224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r="-273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AC05425-830A-BF49-9AF9-88FDDEADAB80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F72888-5237-8941-8FFD-72ABF83D454F}"/>
              </a:ext>
            </a:extLst>
          </p:cNvPr>
          <p:cNvSpPr/>
          <p:nvPr/>
        </p:nvSpPr>
        <p:spPr>
          <a:xfrm>
            <a:off x="1625600" y="4953000"/>
            <a:ext cx="9728200" cy="13716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F50D1-D57D-DB4A-A05C-99829708E560}"/>
                  </a:ext>
                </a:extLst>
              </p:cNvPr>
              <p:cNvSpPr txBox="1"/>
              <p:nvPr/>
            </p:nvSpPr>
            <p:spPr>
              <a:xfrm>
                <a:off x="1854200" y="53464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Standardization.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Feature column has values (10, 20, 30, 40). Compute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and the z-scored 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Show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BF50D1-D57D-DB4A-A05C-99829708E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464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3138" t="-22917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79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Euclidean distance entries: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Three points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(1, 2), 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(4, 6), 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(1, 6).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Build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matrix D of pairwise Euclidean distances.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 is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3×3,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symmetric, with a zero diagonal — the distance from a point to itself is 0.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So only three numbers determine D:  d(a, b),  d(a, c),  and  d(b, c).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78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Euclidean formula: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straight-line distance between each pair from their coordinate differences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(4−1)² + (6−2)²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9 + 16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0² + (6−2)²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(4−1)² + 0²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99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1: Distance Matrix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Verify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4B2E83"/>
                            </a:solidFill>
                          </a:rPr>
                          <m:t>T</m:t>
                        </m:r>
                      </m:sup>
                    </m:s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, 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𝑑𝑖𝑎𝑔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Order the points a, b, c. Place each distance symmetrically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the diagonal is 0 since a point is zero distance from itself.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Symmetric (D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i="1" dirty="0">
                    <a:solidFill>
                      <a:srgbClr val="333333"/>
                    </a:solidFill>
                  </a:rPr>
                  <a:t> with zero diagonal — a valid Euclidean distance matrix.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94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every norm acts on the same difference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Two vectors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(2, 0, 1), 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(0, 3, 1).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norms all measure the same difference vector — so compute it once.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=(2−0,  0−3,  1−1)=(2,  −3,  0)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This one vector feeds all three norm calculations.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91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 ·   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|   ·   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/>
                    </m:rad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)   ·   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∞ = </m:t>
                    </m:r>
                    <m:r>
                      <m:rPr>
                        <m:nor/>
                      </m:rPr>
                      <a:rPr lang="en-US" sz="1500" i="0">
                        <a:solidFill>
                          <a:srgbClr val="4B2E83"/>
                        </a:solidFill>
                      </a:rPr>
                      <m:t>max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sums the absolute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the root of the summed squares,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takes the single largest absolute component.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=|2| + |−3| + |0|=5</m:t>
                      </m:r>
                    </m:oMath>
                  </m:oMathPara>
                </a14:m>
                <a:endParaRPr lang="en-US" sz="3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2² + (−3)² + 0²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≈3.61</m:t>
                      </m:r>
                    </m:oMath>
                  </m:oMathPara>
                </a14:m>
                <a:endParaRPr lang="en-US" sz="3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(|2|, |−3|, |0|)=3</m:t>
                      </m:r>
                    </m:oMath>
                  </m:oMathPara>
                </a14:m>
                <a:endParaRPr lang="en-US" sz="3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66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2: Metric Comparison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General ordering: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Problem"/>
          <p:cNvSpPr/>
          <p:nvPr/>
        </p:nvSpPr>
        <p:spPr>
          <a:xfrm>
            <a:off x="838200" y="2489200"/>
            <a:ext cx="10515600" cy="15748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 lIns="137160" tIns="36576" rIns="137160" bIns="36576" rtlCol="0" anchor="ctr">
            <a:norm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4B2E83"/>
                </a:solidFill>
              </a:rPr>
              <a:t>Approach</a:t>
            </a:r>
          </a:p>
          <a:p>
            <a:pPr>
              <a:buNone/>
            </a:pPr>
            <a:r>
              <a:rPr lang="en-US" sz="1600" dirty="0">
                <a:solidFill>
                  <a:srgbClr val="333333"/>
                </a:solidFill>
              </a:rPr>
              <a:t>Rank the three values from Step 2, then connect the result to the general norm inequality.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5≥</m:t>
                      </m:r>
                      <m:rad>
                        <m:radPr>
                          <m:degHide m:val="on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≈3.61≥3</m:t>
                      </m:r>
                    </m:oMath>
                  </m:oMathPara>
                </a14:m>
                <a:endParaRPr lang="en-US" sz="400" dirty="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So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≥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∞,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matching the general rule.</a:t>
                </a:r>
              </a:p>
              <a:p>
                <a:pPr algn="ctr">
                  <a:buNone/>
                </a:pPr>
                <a:r>
                  <a:rPr lang="en-US" sz="1500" i="1" dirty="0">
                    <a:solidFill>
                      <a:srgbClr val="333333"/>
                    </a:solidFill>
                  </a:rPr>
                  <a:t>As p grows, large components are down-weighted, so the p-norm shrinks.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05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Mean: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Σ"/>
                        <m:limLoc m:val="subSup"/>
                        <m:sup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12766" b="-404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single feature column with four values:   x = (10, 20, 30, 40). Start by computing the mean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 + 20 + 30 + 40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65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2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Population std-dev:  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Σ"/>
                            <m:limLoc m:val="subSup"/>
                            <m:supHide m:val="on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500" i="1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i="1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500">
                                            <a:solidFill>
                                              <a:srgbClr val="4B2E8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500">
                                        <a:solidFill>
                                          <a:srgbClr val="4B2E8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 t="-8511" b="-425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Deviations from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are (−15, −5, 5, 15). Average their squares, then take the square root.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Work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(−15)² + (−5)² + 5² + 15²</m:t>
                              </m:r>
                            </m:num>
                            <m:den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500</m:t>
                              </m:r>
                            </m:num>
                            <m:den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≈11.18</m:t>
                      </m:r>
                    </m:oMath>
                  </m:oMathPara>
                </a14:m>
                <a:endParaRPr lang="en-US" sz="400"/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653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F809-31D6-4F0C-5D15-32EF2A1F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dirty="0"/>
              <a:t>Exercise 3: Standardization — 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ference"/>
              <p:cNvSpPr/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91440" tIns="0" rIns="91440" bIns="0" rtlCol="0" anchor="ctr">
                <a:normAutofit/>
              </a:bodyPr>
              <a:lstStyle/>
              <a:p>
                <a:pPr algn="ctr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3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 z-score: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59" name="Referenc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4200"/>
                <a:ext cx="10515600" cy="584200"/>
              </a:xfrm>
              <a:prstGeom prst="roundRect">
                <a:avLst>
                  <a:gd name="adj" fmla="val 18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Problem"/>
              <p:cNvSpPr/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solidFill>
                <a:srgbClr val="F5F0EB"/>
              </a:solidFill>
              <a:ln>
                <a:noFill/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Approach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Divide each deviation (−15, −5, 5, 15) by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11.18.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Because the deviations already sum to zero, the z-scores must as well.</a:t>
                </a:r>
              </a:p>
            </p:txBody>
          </p:sp>
        </mc:Choice>
        <mc:Fallback>
          <p:sp>
            <p:nvSpPr>
              <p:cNvPr id="60" name="Proble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200"/>
                <a:ext cx="10515600" cy="1574800"/>
              </a:xfrm>
              <a:prstGeom prst="roundRect">
                <a:avLst>
                  <a:gd name="adj" fmla="val 6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olution"/>
              <p:cNvSpPr/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19050">
                <a:solidFill>
                  <a:srgbClr val="4B2E83"/>
                </a:solidFill>
              </a:ln>
            </p:spPr>
            <p:txBody>
              <a:bodyPr lIns="137160" tIns="36576" rIns="137160" bIns="36576" rtlCol="0" anchor="ctr">
                <a:norm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4B2E83"/>
                    </a:solidFill>
                  </a:rPr>
                  <a:t>Result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(−15, −5, 5, 15)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125</m:t>
                              </m:r>
                            </m:e>
                          </m:rad>
                        </m:den>
                      </m:f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≈(−1.34, −0.45, 0.45, 1.34)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Σ"/>
                          <m:limLoc m:val="subSup"/>
                          <m:supHide m:val="on"/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00"/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100 − 100 = 0,</m:t>
                    </m:r>
                  </m:oMath>
                </a14:m>
                <a:r>
                  <a:rPr lang="en-US" sz="1500" i="1" dirty="0">
                    <a:solidFill>
                      <a:srgbClr val="333333"/>
                    </a:solidFill>
                  </a:rPr>
                  <a:t> so the z-scores sum to zero.</a:t>
                </a:r>
              </a:p>
            </p:txBody>
          </p:sp>
        </mc:Choice>
        <mc:Fallback>
          <p:sp>
            <p:nvSpPr>
              <p:cNvPr id="201" name="Solu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200"/>
                <a:ext cx="10515600" cy="2311400"/>
              </a:xfrm>
              <a:prstGeom prst="roundRect">
                <a:avLst>
                  <a:gd name="adj" fmla="val 5000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24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BA033E-0AE9-3042-AECA-4AD7FD64CF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FDF0A1-BB11-994B-B3B6-C04B9713F4CD}"/>
              </a:ext>
            </a:extLst>
          </p:cNvPr>
          <p:cNvSpPr/>
          <p:nvPr/>
        </p:nvSpPr>
        <p:spPr>
          <a:xfrm>
            <a:off x="838200" y="3810000"/>
            <a:ext cx="1524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E6E27-A384-C746-B0F3-409768D6BE32}"/>
              </a:ext>
            </a:extLst>
          </p:cNvPr>
          <p:cNvSpPr txBox="1"/>
          <p:nvPr/>
        </p:nvSpPr>
        <p:spPr>
          <a:xfrm>
            <a:off x="8382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1EFB9-0417-A643-9A39-4BB994330A24}"/>
              </a:ext>
            </a:extLst>
          </p:cNvPr>
          <p:cNvSpPr txBox="1"/>
          <p:nvPr/>
        </p:nvSpPr>
        <p:spPr>
          <a:xfrm>
            <a:off x="787400" y="2857500"/>
            <a:ext cx="889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D4AC8B-FB0A-F646-BD65-634E3AE8484A}"/>
                  </a:ext>
                </a:extLst>
              </p:cNvPr>
              <p:cNvSpPr txBox="1"/>
              <p:nvPr/>
            </p:nvSpPr>
            <p:spPr>
              <a:xfrm>
                <a:off x="838200" y="4127500"/>
                <a:ext cx="9652000" cy="40562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2000" dirty="0">
                    <a:solidFill>
                      <a:srgbClr val="F5F0EB"/>
                    </a:solidFill>
                    <a:latin typeface="Calibri"/>
                    <a:cs typeface="Calibri"/>
                  </a:rPr>
                  <a:t>Centroid-based partitioning: minimizing within-cluster variance via Lloyd's algorithm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>
                            <a:solidFill>
                              <a:srgbClr val="F5F0EB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sz="2000" dirty="0">
                  <a:solidFill>
                    <a:srgbClr val="F5F0EB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D4AC8B-FB0A-F646-BD65-634E3AE84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27500"/>
                <a:ext cx="9652000" cy="405624"/>
              </a:xfrm>
              <a:prstGeom prst="rect">
                <a:avLst/>
              </a:prstGeom>
              <a:blipFill>
                <a:blip r:embed="rId2"/>
                <a:stretch>
                  <a:fillRect l="-788" t="-5882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04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4C7F-3450-4290-CD0D-9D53AE51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K-Means: The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6C7C7-41A3-F042-87AF-5DA1C2748AB4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6155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K-means partitions the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rows of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700" dirty="0">
                    <a:solidFill>
                      <a:srgbClr val="333333"/>
                    </a:solidFill>
                  </a:rPr>
                  <a:t> clusters by minimizing the total </a:t>
                </a:r>
                <a:r>
                  <a:rPr lang="en-US" sz="1700" b="1" dirty="0">
                    <a:solidFill>
                      <a:srgbClr val="4B2E83"/>
                    </a:solidFill>
                  </a:rPr>
                  <a:t>within-cluster sum of squares </a:t>
                </a:r>
                <a:r>
                  <a:rPr lang="en-US" sz="1700" dirty="0">
                    <a:solidFill>
                      <a:srgbClr val="333333"/>
                    </a:solidFill>
                  </a:rPr>
                  <a:t>(WCSS), also called inertia: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6C7C7-41A3-F042-87AF-5DA1C2748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615553"/>
              </a:xfrm>
              <a:prstGeom prst="rect">
                <a:avLst/>
              </a:prstGeom>
              <a:blipFill>
                <a:blip r:embed="rId2"/>
                <a:stretch>
                  <a:fillRect l="-362"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957323-FE80-144F-89B0-F0AE06FCCFA4}"/>
              </a:ext>
            </a:extLst>
          </p:cNvPr>
          <p:cNvSpPr/>
          <p:nvPr/>
        </p:nvSpPr>
        <p:spPr>
          <a:xfrm>
            <a:off x="838200" y="2946400"/>
            <a:ext cx="10515600" cy="1320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8F888C-1B1F-2248-A062-618475C00FBA}"/>
                  </a:ext>
                </a:extLst>
              </p:cNvPr>
              <p:cNvSpPr txBox="1"/>
              <p:nvPr/>
            </p:nvSpPr>
            <p:spPr>
              <a:xfrm>
                <a:off x="1016000" y="3127822"/>
                <a:ext cx="10160000" cy="95795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2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22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2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22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2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2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2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8F888C-1B1F-2248-A062-618475C00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127822"/>
                <a:ext cx="10160000" cy="957955"/>
              </a:xfrm>
              <a:prstGeom prst="rect">
                <a:avLst/>
              </a:prstGeom>
              <a:blipFill>
                <a:blip r:embed="rId3"/>
                <a:stretch>
                  <a:fillRect t="-121053" b="-16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A8354-2ED3-E046-B141-4255D436A059}"/>
                  </a:ext>
                </a:extLst>
              </p:cNvPr>
              <p:cNvSpPr txBox="1"/>
              <p:nvPr/>
            </p:nvSpPr>
            <p:spPr>
              <a:xfrm>
                <a:off x="838200" y="4546600"/>
                <a:ext cx="10515600" cy="96494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is the centroid (mean vector) of cluster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non-convex in the assignments — finding the global optimum is NP-hard.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Lloyd's algorithm minimizes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by alternating two steps, each of which can only decrease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A8354-2ED3-E046-B141-4255D436A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6600"/>
                <a:ext cx="10515600" cy="964944"/>
              </a:xfrm>
              <a:prstGeom prst="rect">
                <a:avLst/>
              </a:prstGeom>
              <a:blipFill>
                <a:blip r:embed="rId4"/>
                <a:stretch>
                  <a:fillRect l="-362" t="-3552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0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64DE-C5AB-B659-065D-EAA82FB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Lloyd's Algorithm: History &amp; Intuition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691512-B290-BF47-8633-D380896E46AD}"/>
              </a:ext>
            </a:extLst>
          </p:cNvPr>
          <p:cNvSpPr txBox="1"/>
          <p:nvPr/>
        </p:nvSpPr>
        <p:spPr>
          <a:xfrm>
            <a:off x="838200" y="1905000"/>
            <a:ext cx="10515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i="1" dirty="0">
                <a:solidFill>
                  <a:srgbClr val="333333"/>
                </a:solidFill>
              </a:rPr>
              <a:t>From 1950s signal quantization to the workhorse of modern clustering.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BC8808-4177-C64C-8090-9884C2C01D01}"/>
              </a:ext>
            </a:extLst>
          </p:cNvPr>
          <p:cNvSpPr/>
          <p:nvPr/>
        </p:nvSpPr>
        <p:spPr>
          <a:xfrm>
            <a:off x="8382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B01B6-C7C6-B240-8033-E172EABF461A}"/>
              </a:ext>
            </a:extLst>
          </p:cNvPr>
          <p:cNvSpPr/>
          <p:nvPr/>
        </p:nvSpPr>
        <p:spPr>
          <a:xfrm>
            <a:off x="838200" y="2540000"/>
            <a:ext cx="5143500" cy="533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 Bit of History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B162F-8C44-8A4F-87F2-06F4A4242B25}"/>
              </a:ext>
            </a:extLst>
          </p:cNvPr>
          <p:cNvSpPr txBox="1"/>
          <p:nvPr/>
        </p:nvSpPr>
        <p:spPr>
          <a:xfrm>
            <a:off x="1016000" y="3175000"/>
            <a:ext cx="4787900" cy="164673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Devised by Stuart Lloyd at Bell Labs in 1957 to quantize signals for pulse-code modulation (PCM).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Circulated internally for years — formally published only in 1982.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Found independently by Forgy (1965); MacQueen (1967) coined the name “k-means.”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F036FF-8614-0141-BA30-87D5931ACD7B}"/>
              </a:ext>
            </a:extLst>
          </p:cNvPr>
          <p:cNvSpPr/>
          <p:nvPr/>
        </p:nvSpPr>
        <p:spPr>
          <a:xfrm>
            <a:off x="62103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4EE4C-077A-E348-8CCD-19117ECE287C}"/>
              </a:ext>
            </a:extLst>
          </p:cNvPr>
          <p:cNvSpPr/>
          <p:nvPr/>
        </p:nvSpPr>
        <p:spPr>
          <a:xfrm>
            <a:off x="6210300" y="2540000"/>
            <a:ext cx="5143500" cy="533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The Core Intuition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F690EA-EDFB-4A46-86B5-F9A44A496DD2}"/>
              </a:ext>
            </a:extLst>
          </p:cNvPr>
          <p:cNvSpPr txBox="1"/>
          <p:nvPr/>
        </p:nvSpPr>
        <p:spPr>
          <a:xfrm>
            <a:off x="6388100" y="3175000"/>
            <a:ext cx="4787900" cy="189038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Pick k centroids, then alternate two cheap steps:</a:t>
            </a:r>
          </a:p>
          <a:p>
            <a:pPr marL="457200" lvl="1" indent="-228600">
              <a:lnSpc>
                <a:spcPts val="1700"/>
              </a:lnSpc>
              <a:spcBef>
                <a:spcPts val="200"/>
              </a:spcBef>
              <a:buFont typeface="Arial"/>
              <a:buChar char="–"/>
            </a:pPr>
            <a:r>
              <a:rPr lang="en-US" sz="1400" dirty="0">
                <a:solidFill>
                  <a:srgbClr val="333333"/>
                </a:solidFill>
              </a:rPr>
              <a:t>Assign each point to its nearest centroid.</a:t>
            </a:r>
          </a:p>
          <a:p>
            <a:pPr marL="457200" lvl="1" indent="-228600">
              <a:lnSpc>
                <a:spcPts val="1700"/>
              </a:lnSpc>
              <a:spcBef>
                <a:spcPts val="200"/>
              </a:spcBef>
              <a:buFont typeface="Arial"/>
              <a:buChar char="–"/>
            </a:pPr>
            <a:r>
              <a:rPr lang="en-US" sz="1400" dirty="0">
                <a:solidFill>
                  <a:srgbClr val="333333"/>
                </a:solidFill>
              </a:rPr>
              <a:t>Recompute each centroid as the mean of its points.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Every step lowers the within-cluster SSE — so it can only improve.</a:t>
            </a:r>
          </a:p>
          <a:p>
            <a:pPr marL="228600" indent="-228600">
              <a:lnSpc>
                <a:spcPts val="1900"/>
              </a:lnSpc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A form of coordinate descent: it hill-climbs to a local optimum.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E1928-F631-B042-ADEB-5FB4025C1AD0}"/>
              </a:ext>
            </a:extLst>
          </p:cNvPr>
          <p:cNvSpPr txBox="1"/>
          <p:nvPr/>
        </p:nvSpPr>
        <p:spPr>
          <a:xfrm>
            <a:off x="838200" y="5867400"/>
            <a:ext cx="105156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500" i="1" dirty="0">
                <a:solidFill>
                  <a:srgbClr val="595959"/>
                </a:solidFill>
              </a:rPr>
              <a:t>Simple, fast, and guaranteed to converge — but only to a local optimum, so we run several random restarts.</a:t>
            </a:r>
          </a:p>
        </p:txBody>
      </p:sp>
    </p:spTree>
    <p:extLst>
      <p:ext uri="{BB962C8B-B14F-4D97-AF65-F5344CB8AC3E}">
        <p14:creationId xmlns:p14="http://schemas.microsoft.com/office/powerpoint/2010/main" val="91323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64DE-C5AB-B659-065D-EAA82FB0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Lloyd's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91512-B290-BF47-8633-D380896E46AD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Initialize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then alternate until assignments stop changing: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691512-B290-BF47-8633-D380896E4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338554"/>
              </a:xfrm>
              <a:prstGeom prst="rect">
                <a:avLst/>
              </a:prstGeom>
              <a:blipFill>
                <a:blip r:embed="rId2"/>
                <a:stretch>
                  <a:fillRect l="-362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BC8808-4177-C64C-8090-9884C2C01D01}"/>
              </a:ext>
            </a:extLst>
          </p:cNvPr>
          <p:cNvSpPr/>
          <p:nvPr/>
        </p:nvSpPr>
        <p:spPr>
          <a:xfrm>
            <a:off x="8382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6B01B6-C7C6-B240-8033-E172EABF461A}"/>
              </a:ext>
            </a:extLst>
          </p:cNvPr>
          <p:cNvSpPr/>
          <p:nvPr/>
        </p:nvSpPr>
        <p:spPr>
          <a:xfrm>
            <a:off x="838200" y="2540000"/>
            <a:ext cx="5143500" cy="533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1.  Assignment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CB162F-8C44-8A4F-87F2-06F4A4242B25}"/>
                  </a:ext>
                </a:extLst>
              </p:cNvPr>
              <p:cNvSpPr txBox="1"/>
              <p:nvPr/>
            </p:nvSpPr>
            <p:spPr>
              <a:xfrm>
                <a:off x="1016000" y="3175000"/>
                <a:ext cx="4787900" cy="126464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Assign each point to its nearest centroid:</a:t>
                </a:r>
              </a:p>
              <a:p>
                <a:pPr>
                  <a:buNone/>
                </a:pPr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4B2E83"/>
                              </a:solidFill>
                            </a:rPr>
                            <m:t>argmin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8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Fixes the binary assignment matrix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  Cost: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iter.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CB162F-8C44-8A4F-87F2-06F4A4242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175000"/>
                <a:ext cx="4787900" cy="1264642"/>
              </a:xfrm>
              <a:prstGeom prst="rect">
                <a:avLst/>
              </a:prstGeom>
              <a:blipFill>
                <a:blip r:embed="rId3"/>
                <a:stretch>
                  <a:fillRect l="-796" t="-2000" r="-26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F036FF-8614-0141-BA30-87D5931ACD7B}"/>
              </a:ext>
            </a:extLst>
          </p:cNvPr>
          <p:cNvSpPr/>
          <p:nvPr/>
        </p:nvSpPr>
        <p:spPr>
          <a:xfrm>
            <a:off x="6210300" y="2540000"/>
            <a:ext cx="5143500" cy="3175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4EE4C-077A-E348-8CCD-19117ECE287C}"/>
              </a:ext>
            </a:extLst>
          </p:cNvPr>
          <p:cNvSpPr/>
          <p:nvPr/>
        </p:nvSpPr>
        <p:spPr>
          <a:xfrm>
            <a:off x="6210300" y="2540000"/>
            <a:ext cx="5143500" cy="533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2.  Update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690EA-EDFB-4A46-86B5-F9A44A496DD2}"/>
                  </a:ext>
                </a:extLst>
              </p:cNvPr>
              <p:cNvSpPr txBox="1"/>
              <p:nvPr/>
            </p:nvSpPr>
            <p:spPr>
              <a:xfrm>
                <a:off x="6388100" y="3175000"/>
                <a:ext cx="4787900" cy="167289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Recompute each centroid as the cluster mean:</a:t>
                </a:r>
              </a:p>
              <a:p>
                <a:pPr>
                  <a:buNone/>
                </a:pPr>
                <a:endParaRPr lang="en-US" sz="4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8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LA least-squares solution minimizing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  Cost: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iter.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690EA-EDFB-4A46-86B5-F9A44A496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3175000"/>
                <a:ext cx="4787900" cy="1672894"/>
              </a:xfrm>
              <a:prstGeom prst="rect">
                <a:avLst/>
              </a:prstGeom>
              <a:blipFill>
                <a:blip r:embed="rId4"/>
                <a:stretch>
                  <a:fillRect l="-796" t="-38636" r="-3183" b="-4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4E1928-F631-B042-ADEB-5FB4025C1AD0}"/>
                  </a:ext>
                </a:extLst>
              </p:cNvPr>
              <p:cNvSpPr txBox="1"/>
              <p:nvPr/>
            </p:nvSpPr>
            <p:spPr>
              <a:xfrm>
                <a:off x="838200" y="5867400"/>
                <a:ext cx="10515600" cy="55399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Each step is non-increasing in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, so k-means converges to a local minimum in finitely many iterations. Restart from several initializations and keep the lowest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4E1928-F631-B042-ADEB-5FB4025C1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67400"/>
                <a:ext cx="10515600" cy="553998"/>
              </a:xfrm>
              <a:prstGeom prst="rect">
                <a:avLst/>
              </a:prstGeom>
              <a:blipFill>
                <a:blip r:embed="rId5"/>
                <a:stretch>
                  <a:fillRect l="-362" t="-4545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99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BEA2-74FB-D8FF-FC4E-51818388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49B20-FE34-3D45-B49F-4D3A83204F2D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89028F-59EE-5842-86E0-5A8A9D7B274C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14FAAD-4629-7440-AF8A-F197776DC9BD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CBF7C3-3B94-4043-B28E-5EC5FC318ECC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0A1B41-23B5-CC41-80E4-5774670F6F05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1B4A3B-6338-504F-8DD8-557FCAE6F927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1E2EDF-AD29-7044-A193-7ED1FEF9E0BB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29A9D-DE84-E246-8018-F25E6254433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C651E2-3D96-D148-B03D-86D6DEBDE421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F956B-85B3-E448-8CA4-C23D197A6447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FA3AE8-9A09-E64F-93AF-5672271741D7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C6F204-E74B-1F40-99D8-B3E91F9A5487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B75F1-AC4E-B549-B7A2-8B3761B440AC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D271E-0984-F646-8759-E07C2EC92B17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BB1F9F-EF0F-C949-A433-E8B7E3E015AD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A14B96-FA07-234A-B343-812137C46688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72EE30-58B8-4041-9D56-1DD3AA8D3FFF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7D504-0AB7-1241-9361-AA827CDF6665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D97575-39AA-A34A-BC8E-B80AD0350C99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00B324-B755-5042-9842-8CFF145FB35F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C86E5-0633-D744-B5DA-7D3307F66F4D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0A0C5-3C9E-364C-B2AC-650F402ABA86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DDD268-2E40-B043-854E-BB0CE0A2F410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D0E722-58AF-4044-B184-3D2B3BD4FCED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FFF84C-A538-184B-AC73-0996462E3A1E}"/>
              </a:ext>
            </a:extLst>
          </p:cNvPr>
          <p:cNvSpPr txBox="1"/>
          <p:nvPr/>
        </p:nvSpPr>
        <p:spPr>
          <a:xfrm>
            <a:off x="61976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DD2E43-21CC-4A45-9D45-C893225D2C29}"/>
              </a:ext>
            </a:extLst>
          </p:cNvPr>
          <p:cNvSpPr txBox="1"/>
          <p:nvPr/>
        </p:nvSpPr>
        <p:spPr>
          <a:xfrm>
            <a:off x="5943600" y="60198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675070-C59C-944B-89DA-D0D213C8FB51}"/>
              </a:ext>
            </a:extLst>
          </p:cNvPr>
          <p:cNvSpPr txBox="1"/>
          <p:nvPr/>
        </p:nvSpPr>
        <p:spPr>
          <a:xfrm>
            <a:off x="71120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B490D8-2C28-2643-B39B-87484FF19903}"/>
              </a:ext>
            </a:extLst>
          </p:cNvPr>
          <p:cNvSpPr txBox="1"/>
          <p:nvPr/>
        </p:nvSpPr>
        <p:spPr>
          <a:xfrm>
            <a:off x="5943600" y="51054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75D023-217A-034B-9F4E-C52A252D324A}"/>
              </a:ext>
            </a:extLst>
          </p:cNvPr>
          <p:cNvSpPr txBox="1"/>
          <p:nvPr/>
        </p:nvSpPr>
        <p:spPr>
          <a:xfrm>
            <a:off x="80264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596EA0-E7AC-EE4C-B716-51B4156E712A}"/>
              </a:ext>
            </a:extLst>
          </p:cNvPr>
          <p:cNvSpPr txBox="1"/>
          <p:nvPr/>
        </p:nvSpPr>
        <p:spPr>
          <a:xfrm>
            <a:off x="5943600" y="41910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3457A9-8089-4847-87E5-B1498422F574}"/>
              </a:ext>
            </a:extLst>
          </p:cNvPr>
          <p:cNvSpPr txBox="1"/>
          <p:nvPr/>
        </p:nvSpPr>
        <p:spPr>
          <a:xfrm>
            <a:off x="89408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59026-DDB1-0E4B-8162-CB879CDD5577}"/>
              </a:ext>
            </a:extLst>
          </p:cNvPr>
          <p:cNvSpPr txBox="1"/>
          <p:nvPr/>
        </p:nvSpPr>
        <p:spPr>
          <a:xfrm>
            <a:off x="5943600" y="32766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8EC06-FFF6-2A4B-ADF7-97D97619C178}"/>
              </a:ext>
            </a:extLst>
          </p:cNvPr>
          <p:cNvSpPr txBox="1"/>
          <p:nvPr/>
        </p:nvSpPr>
        <p:spPr>
          <a:xfrm>
            <a:off x="9855200" y="6159500"/>
            <a:ext cx="30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4E892D-92BA-1D45-A5EF-2F71FD621734}"/>
              </a:ext>
            </a:extLst>
          </p:cNvPr>
          <p:cNvSpPr txBox="1"/>
          <p:nvPr/>
        </p:nvSpPr>
        <p:spPr>
          <a:xfrm>
            <a:off x="5943600" y="2362200"/>
            <a:ext cx="330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A25373-E501-6642-8A71-EEC704DEB4F4}"/>
              </a:ext>
            </a:extLst>
          </p:cNvPr>
          <p:cNvSpPr txBox="1"/>
          <p:nvPr/>
        </p:nvSpPr>
        <p:spPr>
          <a:xfrm>
            <a:off x="10769600" y="6159500"/>
            <a:ext cx="431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D9B4DA-7922-2241-BA35-AFDE597AEE7C}"/>
              </a:ext>
            </a:extLst>
          </p:cNvPr>
          <p:cNvSpPr txBox="1"/>
          <p:nvPr/>
        </p:nvSpPr>
        <p:spPr>
          <a:xfrm>
            <a:off x="5943600" y="1447800"/>
            <a:ext cx="431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19FF06-0B99-1642-ACAF-FC09D3425754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AEE7CC-0A2F-0340-9E04-44AE8F31C372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5F51D1-7ED0-914E-BBFC-5AE61EDBE802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7174CF1-3E37-8C4F-A0D4-8E4B93B2C40A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D4759CC-BBE5-C04D-B7DC-5AE397ED4259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BFDEA2-2EB6-9848-9A16-A0B60AB9E353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B6F3F92-15C9-3949-832F-80867A006D21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08F9A6B-2FBD-F949-AB01-067181C2B0FB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5AFA2C2-711D-6B44-AEFD-55EA08E53447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F2183EE-53D4-D74C-A439-72ED7BF96AAF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3FFEEB-F0F9-8A41-AEA0-FF41CD727877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44AE8B6-C472-4F43-A79A-9B0DDE1DA690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BFBFB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044F95D2-4966-924E-A9AB-AC8C58D077A5}"/>
              </a:ext>
            </a:extLst>
          </p:cNvPr>
          <p:cNvSpPr/>
          <p:nvPr/>
        </p:nvSpPr>
        <p:spPr>
          <a:xfrm>
            <a:off x="7785100" y="3898900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33E046D6-1C12-BD4A-94A0-74E1255C8B00}"/>
              </a:ext>
            </a:extLst>
          </p:cNvPr>
          <p:cNvSpPr/>
          <p:nvPr/>
        </p:nvSpPr>
        <p:spPr>
          <a:xfrm>
            <a:off x="8242300" y="34417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6120FF36-B994-E948-92DA-6FB47EE80C84}"/>
              </a:ext>
            </a:extLst>
          </p:cNvPr>
          <p:cNvSpPr/>
          <p:nvPr/>
        </p:nvSpPr>
        <p:spPr>
          <a:xfrm>
            <a:off x="8699500" y="41275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D44CE72-30DB-A948-8555-38B667CA8E27}"/>
                  </a:ext>
                </a:extLst>
              </p:cNvPr>
              <p:cNvSpPr txBox="1"/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0 ·</m:t>
                    </m:r>
                  </m:oMath>
                </a14:m>
                <a:r>
                  <a:rPr lang="en-US" sz="2000" b="1">
                    <a:solidFill>
                      <a:srgbClr val="4B2E83"/>
                    </a:solidFill>
                  </a:rPr>
                  <a:t> Initialize centroids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D44CE72-30DB-A948-8555-38B667CA8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blipFill>
                <a:blip r:embed="rId2"/>
                <a:stretch>
                  <a:fillRect l="-1220" t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41F5D06-FD84-0546-89BF-3710126C2F6B}"/>
                  </a:ext>
                </a:extLst>
              </p:cNvPr>
              <p:cNvSpPr txBox="1"/>
              <p:nvPr/>
            </p:nvSpPr>
            <p:spPr>
              <a:xfrm>
                <a:off x="609600" y="2603500"/>
                <a:ext cx="52070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600">
                    <a:solidFill>
                      <a:srgbClr val="333333"/>
                    </a:solidFill>
                  </a:rPr>
                  <a:t>Place k = 3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l-GR" sz="1600">
                    <a:solidFill>
                      <a:srgbClr val="333333"/>
                    </a:solidFill>
                  </a:rPr>
                  <a:t> </a:t>
                </a:r>
                <a:r>
                  <a:rPr lang="en-US" sz="1600">
                    <a:solidFill>
                      <a:srgbClr val="333333"/>
                    </a:solidFill>
                  </a:rPr>
                  <a:t>at starting positions. Every point is still unassigned — the two-step loop has not run yet.</a:t>
                </a: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41F5D06-FD84-0546-89BF-3710126C2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03500"/>
                <a:ext cx="5207000" cy="1905000"/>
              </a:xfrm>
              <a:prstGeom prst="rect">
                <a:avLst/>
              </a:prstGeom>
              <a:blipFill>
                <a:blip r:embed="rId3"/>
                <a:stretch>
                  <a:fillRect l="-732" t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F2F2D20C-31E5-F147-B2E8-0E0457E47F3E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86E727-6D15-F548-9853-2CD4A9A32FC1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AAE7BB-730D-074F-9F8A-05637B425096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B3C008-4F36-C542-A089-BF35249EC5CB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5803881-E915-A84B-8DB1-A3EB551B220C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53B388-61F1-B845-AD72-6B2257CEEF78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621664AE-CE7D-0A4A-A6C6-0266604B9627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2FD7DE-7AC2-AE44-BA71-840C1A600754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353215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E657-81BC-0B2E-4122-85BC74C0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472D34-E76C-0549-AB30-16DF16C4ADE6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917A0-1918-7A49-B255-72806C94F604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0EDB24-ACD3-5E43-A10C-8ACBEA665410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627F0B-55D8-684E-9FDE-48723F325483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7A5DD-4CF6-1641-A238-912B6D174E91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F0C4E-0DCB-F14C-8D1C-39B94BDB2294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83F9AD-53FF-0F4D-A6C9-2D0C0C4B0700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AE50F1-3022-3040-B1AA-07765ED19A9C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8E4BB-7470-1043-99A2-374F9C40E2CF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C4A10-0806-444F-ADB6-F91F6F796EEE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EF84E7-1228-F042-9250-F335AB3E4B55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6EA69-3FE3-8F4E-9747-710C78BFFBBB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081F2B-952A-1C42-B05B-DE709A700618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8EC4A-4B4C-814F-B3EC-86E5A2B11665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3963B-62E3-A341-B1DE-2409E735C3FF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1C4CF2-F5F0-4F42-BE5C-5AA349F16023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032F6C-B0D8-EF43-B986-A7377835B5F2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CCD556-C8F2-9F4F-9F33-C3C934B020D5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E512FB-E498-6B41-B147-E56E79E20D01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4F46BD-290C-994A-8EE4-6B9500C2856A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AE30A2-12C6-D446-A98A-E4977629A5BD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287E40-EFC7-644B-9638-49503A5ADEC1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74F4BB-5047-D84C-9701-2FA9D4042777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261008-0F91-E14F-AD23-0BB9CEA4D9B3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0609C8-9B7C-3D45-A72D-A8E61DED6CC2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3EC447-FC12-4D43-B535-29C022E5392B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1E494E-4545-F142-B863-CEE13AE934C0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67D295-D3B4-964D-AA92-8275CDD8F7B1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3A827F-C388-134F-9DB8-56447C66E920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43967A-056A-C544-9D62-256A6B435C0B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79FA8D-D22F-0D4F-985E-7D74BBE53D76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D469EA-43AA-EF48-B44D-DCE237F1C6C0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85917-8B36-E243-9104-01832FBF0DBB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0C374F-552A-6B4B-8F32-3667663F4544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1BF4B9-8F59-3F47-BB8D-ACD20C11EB8E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61F85D-327B-894E-9341-D53120BF4AAE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DF986F-9C23-854A-92CA-0C859710AF67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8DE4C1-5A39-134E-BBC4-869BBAAFB377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7BA0042-0A97-9747-94D7-94FCD6316AA5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2EEAFA-E90C-B041-98BD-BDE91B9617C6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786B0AC-F100-524F-A715-AE650DB55D59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0975C4-EF04-5F4A-ACBD-C814FC705A8C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74CA5B4-4AD9-FA44-BF5A-E9802DA1423B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10FF9B4-F892-AD47-B6E6-6E60E6327E34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B52F983-1B18-9547-A548-29890A2B452B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ADC0C30-6C2D-7A4E-84D6-17E8A9204D3D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1DE612B-C035-0E43-AC45-E3FD12DF9AB3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B50664A-416E-414F-A08A-B6D9F8E73955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F892AE73-B5DA-1B4E-A2E2-E75268B8A60D}"/>
              </a:ext>
            </a:extLst>
          </p:cNvPr>
          <p:cNvSpPr/>
          <p:nvPr/>
        </p:nvSpPr>
        <p:spPr>
          <a:xfrm>
            <a:off x="7785100" y="3898900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91454927-5E3C-CE4B-A7E6-9F031A4254A3}"/>
              </a:ext>
            </a:extLst>
          </p:cNvPr>
          <p:cNvSpPr/>
          <p:nvPr/>
        </p:nvSpPr>
        <p:spPr>
          <a:xfrm>
            <a:off x="8242300" y="34417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ACB011EC-7490-9A4E-BED5-8E60955427A2}"/>
              </a:ext>
            </a:extLst>
          </p:cNvPr>
          <p:cNvSpPr/>
          <p:nvPr/>
        </p:nvSpPr>
        <p:spPr>
          <a:xfrm>
            <a:off x="8699500" y="41275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54D5D5-E5E6-BF47-9241-AD844D65D6E9}"/>
                  </a:ext>
                </a:extLst>
              </p:cNvPr>
              <p:cNvSpPr txBox="1"/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2000" b="1">
                    <a:solidFill>
                      <a:srgbClr val="4B2E83"/>
                    </a:solidFill>
                  </a:rPr>
                  <a:t> Assignment (iteration 1)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54D5D5-E5E6-BF47-9241-AD844D65D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blipFill>
                <a:blip r:embed="rId2"/>
                <a:stretch>
                  <a:fillRect l="-1220" t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8217B1B-333F-8044-BF4F-407BF4552CC4}"/>
                  </a:ext>
                </a:extLst>
              </p:cNvPr>
              <p:cNvSpPr txBox="1"/>
              <p:nvPr/>
            </p:nvSpPr>
            <p:spPr>
              <a:xfrm>
                <a:off x="609600" y="2603500"/>
                <a:ext cx="52070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600">
                    <a:solidFill>
                      <a:srgbClr val="333333"/>
                    </a:solidFill>
                  </a:rPr>
                  <a:t>Assign each point to its nearest centroid: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argmin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>
                    <a:solidFill>
                      <a:srgbClr val="333333"/>
                    </a:solidFill>
                  </a:rPr>
                  <a:t>.  Point colours now show the current cluster membership.</a:t>
                </a: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8217B1B-333F-8044-BF4F-407BF4552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03500"/>
                <a:ext cx="5207000" cy="1905000"/>
              </a:xfrm>
              <a:prstGeom prst="rect">
                <a:avLst/>
              </a:prstGeom>
              <a:blipFill>
                <a:blip r:embed="rId3"/>
                <a:stretch>
                  <a:fillRect l="-732" t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43662C5C-273F-C14B-9968-859462D1BEED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9B4462-20B8-8F42-8C94-08777CD65D56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E85EAA-FF3C-3146-BFAC-44191546345D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3FD862-E8B4-C949-8319-E890792E250B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13CC32-48A7-884B-8E65-42269723427D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822E29-E86E-514F-846D-9CD65E61FE85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14F94029-0322-5141-80BB-63CC9561E8DD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787C6D-DB5B-B849-9E8D-D8408BD94326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221831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3A1CE-2C78-1D49-A4F7-25ADF318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DC363-8A49-BE41-BE00-9F9D2EE1E25C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6149D7-E250-294B-BAC9-1BB430D20A94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560CC2-9146-CD46-A58D-20E7E620BD35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B8DD9-2F11-6E44-898D-4BC427DF34D1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B48FE5-3918-F344-A7AD-CA90C6D04A96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1D58F-61A8-654A-AFE5-16359FCF00D0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7E9639-1C49-0C4F-8935-D44DFFC5E4E1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FB7241-2E59-FA42-9F71-E9BAD2762F2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C1EEB4-27C2-FE4E-94B7-FA91FE4DEDBA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02062-1471-3248-9A5C-C1F5C4290B49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A34F3C-5ED1-7549-B4C2-42BC8ABC08EC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CE1B08-4AF9-4544-B083-953A07A97C79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0BABF-7EC4-EF48-817D-C0FB16BC0EBF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2AC487-52F0-AE4B-B69D-32914479C4BE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729367-620F-7C41-8C6F-6CDC149D53DE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FDF7D1-935D-BF4A-8D90-DC8E194CF7BF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271AB2-3FDB-8D43-837C-EA5C43178AC5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11A091-E804-9341-8604-E4ADC3B76300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4AFEAA-1160-D449-B843-6D8804D7ADED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2CEB9A-4242-F64C-A696-BC1BBD521CE3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09ED0-A2DA-DB4A-8AE4-1E9E60A8ADF5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2C02C0-4504-334E-BB67-35C839F02449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3525FD-ECD4-C441-A71E-709A0ECBA316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9B6321-6F20-8A4F-8BBD-8B5D49340BE9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C8AAB6-6D28-244D-8DC9-87394D019C78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CC6B8B-C87A-9245-B029-52356703DB11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82C916-6A8F-6B40-BE30-6AB137DA959C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573A22-810E-D54F-A1FD-B225F2D4B98A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E62E23-E94F-CE40-80EA-05CAC9A9E5F7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E82457-DFFD-9943-B014-8C94FAA93F38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F4E732-744B-444C-949E-0C0AE6D0DB0E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B42E5D-D599-2D49-9E00-2EE3BB8CD017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5DCC89-0490-F047-9239-2ECA5734533A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FC103E-F858-7C4B-8417-1A8DBF767745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9D5F9-4B3D-884A-9710-4FCA1340F81F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9C4678-E799-9144-A456-1DA29F076E47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E09B69F-1153-B94B-A5AD-E4FB4849487E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E89BFB0-7624-8140-BF45-9F295B578806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45E11C-8BD8-AF46-8407-77A2FC55B3FC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A50C4E-A151-844E-A5FE-5DCD97A883F4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35D2E4-E218-FF43-BDCC-B3C3FFE4CE75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980889A-3F6D-1145-83CE-788726B02E45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26CD77-640D-6046-98CF-00D9B16A9723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5E8A4C5-EDD0-B340-9491-C477DA33B7F6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1725189-1441-3247-8ADF-D5133BF43B94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5AE0639-7B8C-3A46-AF68-F18BA6BBC30F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B332F95-E541-8947-99A3-797539C10C86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27CFCCB-EA31-7940-BCDD-52C1F25FA0FE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14ABBE81-CB2F-274A-819A-814A09852AFC}"/>
              </a:ext>
            </a:extLst>
          </p:cNvPr>
          <p:cNvSpPr/>
          <p:nvPr/>
        </p:nvSpPr>
        <p:spPr>
          <a:xfrm>
            <a:off x="7810500" y="39243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C1E0359A-FA84-254C-B550-4270DE4B3452}"/>
              </a:ext>
            </a:extLst>
          </p:cNvPr>
          <p:cNvSpPr/>
          <p:nvPr/>
        </p:nvSpPr>
        <p:spPr>
          <a:xfrm>
            <a:off x="8267700" y="34671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5046A891-C3E7-0C40-8495-AFA443BB5400}"/>
              </a:ext>
            </a:extLst>
          </p:cNvPr>
          <p:cNvSpPr/>
          <p:nvPr/>
        </p:nvSpPr>
        <p:spPr>
          <a:xfrm>
            <a:off x="8724900" y="41529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16018D0A-73D6-934E-86D9-4858D0FA8CD8}"/>
              </a:ext>
            </a:extLst>
          </p:cNvPr>
          <p:cNvSpPr/>
          <p:nvPr/>
        </p:nvSpPr>
        <p:spPr>
          <a:xfrm>
            <a:off x="7113016" y="3624579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F77DFE9D-310F-5C47-92CB-391395B89261}"/>
              </a:ext>
            </a:extLst>
          </p:cNvPr>
          <p:cNvSpPr/>
          <p:nvPr/>
        </p:nvSpPr>
        <p:spPr>
          <a:xfrm>
            <a:off x="9042400" y="2403856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C1CB0CCA-87DF-3A44-83D6-4D26CF53D781}"/>
              </a:ext>
            </a:extLst>
          </p:cNvPr>
          <p:cNvSpPr/>
          <p:nvPr/>
        </p:nvSpPr>
        <p:spPr>
          <a:xfrm>
            <a:off x="8438896" y="50419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6D4344E-D9B3-D245-91EF-ABDE90728AB7}"/>
                  </a:ext>
                </a:extLst>
              </p:cNvPr>
              <p:cNvSpPr txBox="1"/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2000" b="1">
                    <a:solidFill>
                      <a:srgbClr val="4B2E83"/>
                    </a:solidFill>
                  </a:rPr>
                  <a:t> Update (iteration 1)</a:t>
                </a: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6D4344E-D9B3-D245-91EF-ABDE90728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blipFill>
                <a:blip r:embed="rId2"/>
                <a:stretch>
                  <a:fillRect l="-1220" t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16AFB38-F04B-9849-A9FB-A31750094D59}"/>
                  </a:ext>
                </a:extLst>
              </p:cNvPr>
              <p:cNvSpPr txBox="1"/>
              <p:nvPr/>
            </p:nvSpPr>
            <p:spPr>
              <a:xfrm>
                <a:off x="609600" y="2603500"/>
                <a:ext cx="5207000" cy="190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600">
                    <a:solidFill>
                      <a:srgbClr val="333333"/>
                    </a:solidFill>
                  </a:rPr>
                  <a:t>Move each centroid to the mean of its assigned points: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(1/|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|)</m:t>
                    </m:r>
                  </m:oMath>
                </a14:m>
                <a:r>
                  <a:rPr lang="en-US" sz="160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l-GR" sz="160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600">
                    <a:solidFill>
                      <a:srgbClr val="333333"/>
                    </a:solidFill>
                  </a:rPr>
                  <a:t>  Hollow markers show the previous centroid positions.</a:t>
                </a: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16AFB38-F04B-9849-A9FB-A31750094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03500"/>
                <a:ext cx="5207000" cy="1905000"/>
              </a:xfrm>
              <a:prstGeom prst="rect">
                <a:avLst/>
              </a:prstGeom>
              <a:blipFill>
                <a:blip r:embed="rId3"/>
                <a:stretch>
                  <a:fillRect l="-732" t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D2FEBE86-8B06-5F4F-A6C3-EA88A21D63AB}"/>
              </a:ext>
            </a:extLst>
          </p:cNvPr>
          <p:cNvSpPr/>
          <p:nvPr/>
        </p:nvSpPr>
        <p:spPr>
          <a:xfrm>
            <a:off x="711200" y="47244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09E1BF-A15B-3C44-9F80-47C812922471}"/>
              </a:ext>
            </a:extLst>
          </p:cNvPr>
          <p:cNvSpPr txBox="1"/>
          <p:nvPr/>
        </p:nvSpPr>
        <p:spPr>
          <a:xfrm>
            <a:off x="1016000" y="46863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E5937C7-BB70-444E-BAD1-14DED01F8898}"/>
              </a:ext>
            </a:extLst>
          </p:cNvPr>
          <p:cNvSpPr/>
          <p:nvPr/>
        </p:nvSpPr>
        <p:spPr>
          <a:xfrm>
            <a:off x="711200" y="50800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D98524-6F7C-904D-A892-22BAC22A34DF}"/>
              </a:ext>
            </a:extLst>
          </p:cNvPr>
          <p:cNvSpPr txBox="1"/>
          <p:nvPr/>
        </p:nvSpPr>
        <p:spPr>
          <a:xfrm>
            <a:off x="1016000" y="50419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539DEE7-CC0C-9342-A243-518275ADE6C0}"/>
              </a:ext>
            </a:extLst>
          </p:cNvPr>
          <p:cNvSpPr/>
          <p:nvPr/>
        </p:nvSpPr>
        <p:spPr>
          <a:xfrm>
            <a:off x="711200" y="5435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2C001B-42CD-C844-981D-B1219781482E}"/>
              </a:ext>
            </a:extLst>
          </p:cNvPr>
          <p:cNvSpPr txBox="1"/>
          <p:nvPr/>
        </p:nvSpPr>
        <p:spPr>
          <a:xfrm>
            <a:off x="1016000" y="5397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8DCA6CE5-00DC-8840-8B87-2C971E75FB0F}"/>
              </a:ext>
            </a:extLst>
          </p:cNvPr>
          <p:cNvSpPr/>
          <p:nvPr/>
        </p:nvSpPr>
        <p:spPr>
          <a:xfrm>
            <a:off x="698500" y="57912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535375-076C-CD4B-AAB9-4DE1C34BE9FF}"/>
              </a:ext>
            </a:extLst>
          </p:cNvPr>
          <p:cNvSpPr txBox="1"/>
          <p:nvPr/>
        </p:nvSpPr>
        <p:spPr>
          <a:xfrm>
            <a:off x="1016000" y="57531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New centroid</a:t>
            </a: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D99A426B-422F-D34F-84BD-1A652C68E17F}"/>
              </a:ext>
            </a:extLst>
          </p:cNvPr>
          <p:cNvSpPr/>
          <p:nvPr/>
        </p:nvSpPr>
        <p:spPr>
          <a:xfrm>
            <a:off x="698500" y="6146800"/>
            <a:ext cx="228600" cy="2286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838CBA-6812-1D4B-AAAA-48F9B786C9A3}"/>
              </a:ext>
            </a:extLst>
          </p:cNvPr>
          <p:cNvSpPr txBox="1"/>
          <p:nvPr/>
        </p:nvSpPr>
        <p:spPr>
          <a:xfrm>
            <a:off x="1016000" y="61087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Previous centroid</a:t>
            </a:r>
          </a:p>
        </p:txBody>
      </p:sp>
    </p:spTree>
    <p:extLst>
      <p:ext uri="{BB962C8B-B14F-4D97-AF65-F5344CB8AC3E}">
        <p14:creationId xmlns:p14="http://schemas.microsoft.com/office/powerpoint/2010/main" val="45222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0B27-1D0A-3A69-4566-A9AC5669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D3E0D-8087-1341-9484-CFDE4DD98FE7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9BF76-A76E-AE4E-9686-9BE5ED951636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B4DD9-F467-B94D-9D79-2033813281AB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D72C31-8274-8E4F-A97A-84CB0DBE1AF9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E2484-C3D1-854D-9B32-3F32A5A1D120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26971-E8F1-E240-B0FA-50A5D7D109D1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BFF4B-5F09-6A4B-9581-D0BA3CB39DB0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226EE-DD7B-D14E-A35B-E34912EE842B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3F77F7-B67F-4548-90A8-61D1C15015C4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7C041A-61CB-624A-B692-42A9EAB4CEDF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C440E-9981-274A-8123-D5BAA94868A4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9AD3D-247B-4F43-998F-4F47AE1D7136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86A0A7-95FA-E748-B2A1-4C343137CD68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05D577-5007-A24D-A409-0C2954EB31A6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71DED3-1D9E-EA4C-BE88-477CD916882A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BF759-F77E-A943-80C5-B79B1673CE04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CD4ECF-B168-F745-BC8B-40B354B4D48B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C5A054-EB54-9B44-8B73-A107EEE5555F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F7D4EB-98CA-B747-9F3A-C217789CC31F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44AA27-156F-E64C-AB85-7AF48BAD35A8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C1FE26-DE7A-C942-85FA-D6A7EFF242F9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31A64B-126B-7A4B-8F28-FE256EE0C24F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B58E87-E2F4-2344-81B5-089F985F7727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410AC3-4531-E24B-97AA-1597762B4EBA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4ACE32-33DB-5D47-871F-4021D36563F6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B6B31B-4955-DB4B-AA2A-D2B8D0D2B427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E37FC3-621A-164D-ABF9-0946B5552E3C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3C4F2F-BA7B-A046-B0AC-3909A80D0ABC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F7BC1-9494-E844-8416-C7240D31A810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A3704F-CB71-7E41-B6FF-CF0EF9CA165F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EB892D-8601-C843-AF39-E318DC9BF41F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30B8B2-DD8A-4747-B3B7-572F14721789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C4B18D-86C2-354F-B2BC-D22A595AF935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84B537-B3E1-1142-B374-9EEC89B672A6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353556-417C-D34E-A94E-3F37EB9B31F5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C0185A-E46D-204F-8FB7-EDDE1C62107A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47C919-4351-AF42-A6ED-46B1DC16D5A8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AD9DC18-0998-7147-9D94-2E5D687AC045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7EA5B0-FBF2-534B-BBE6-8B251831AFBA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16AF952-B2F0-094F-914A-90A073FCB775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C6848C1-DBAC-BF4A-9561-AF91569819B4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D83FAF9-6209-3740-88F8-CED890CE7B3D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54BC5B-ACA2-564A-9539-5D9E8AD049E1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C4520DE-7DA2-9B40-AB07-DB64ED4FEDF1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0CB2D68-B18F-964C-A332-5E0BC27D0B81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63E6346-35A2-B540-83A9-9ABFD24B1B7B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EABA225-FABF-E544-BBE7-67CD6DFB8D87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B0356D-23E9-1841-84F2-52D8479FAE5F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6FC95A51-D46B-B84B-94C1-22D000C23E99}"/>
              </a:ext>
            </a:extLst>
          </p:cNvPr>
          <p:cNvSpPr/>
          <p:nvPr/>
        </p:nvSpPr>
        <p:spPr>
          <a:xfrm>
            <a:off x="7113016" y="3624579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B175A891-12AE-544E-ACCA-2E5E78092B90}"/>
              </a:ext>
            </a:extLst>
          </p:cNvPr>
          <p:cNvSpPr/>
          <p:nvPr/>
        </p:nvSpPr>
        <p:spPr>
          <a:xfrm>
            <a:off x="9042400" y="2403856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4A2640A9-66A6-694B-91EA-22B246D71DAC}"/>
              </a:ext>
            </a:extLst>
          </p:cNvPr>
          <p:cNvSpPr/>
          <p:nvPr/>
        </p:nvSpPr>
        <p:spPr>
          <a:xfrm>
            <a:off x="8438896" y="504190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2713B5-7F3F-EF40-81FE-8EF923A14750}"/>
                  </a:ext>
                </a:extLst>
              </p:cNvPr>
              <p:cNvSpPr txBox="1"/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2000" b="1">
                    <a:solidFill>
                      <a:srgbClr val="4B2E83"/>
                    </a:solidFill>
                  </a:rPr>
                  <a:t> Assignment (iteration 2)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92713B5-7F3F-EF40-81FE-8EF923A14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blipFill>
                <a:blip r:embed="rId2"/>
                <a:stretch>
                  <a:fillRect l="-1220" t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75E3059F-86D5-6649-A1B7-00EE346628E2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Re-assign every point to the nearest updated centroid. Memberships sharpen — the three clusters now separate cleanly.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74FDE6-DE95-E442-9193-8DA81A0C40B2}"/>
              </a:ext>
            </a:extLst>
          </p:cNvPr>
          <p:cNvSpPr/>
          <p:nvPr/>
        </p:nvSpPr>
        <p:spPr>
          <a:xfrm>
            <a:off x="711200" y="48006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1601E1-09EA-0241-81C5-5F953FAFDA35}"/>
              </a:ext>
            </a:extLst>
          </p:cNvPr>
          <p:cNvSpPr txBox="1"/>
          <p:nvPr/>
        </p:nvSpPr>
        <p:spPr>
          <a:xfrm>
            <a:off x="1016000" y="4762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22B024-64B9-EB49-A9A6-23B6C7C84FCE}"/>
              </a:ext>
            </a:extLst>
          </p:cNvPr>
          <p:cNvSpPr/>
          <p:nvPr/>
        </p:nvSpPr>
        <p:spPr>
          <a:xfrm>
            <a:off x="711200" y="51816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28D25C-8C79-F342-92D4-1860A4A1D069}"/>
              </a:ext>
            </a:extLst>
          </p:cNvPr>
          <p:cNvSpPr txBox="1"/>
          <p:nvPr/>
        </p:nvSpPr>
        <p:spPr>
          <a:xfrm>
            <a:off x="1016000" y="5143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3D7E83D-1727-834D-9A90-847919A53C77}"/>
              </a:ext>
            </a:extLst>
          </p:cNvPr>
          <p:cNvSpPr/>
          <p:nvPr/>
        </p:nvSpPr>
        <p:spPr>
          <a:xfrm>
            <a:off x="711200" y="5562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5ED740-D471-D048-A77F-9A95D28BABFC}"/>
              </a:ext>
            </a:extLst>
          </p:cNvPr>
          <p:cNvSpPr txBox="1"/>
          <p:nvPr/>
        </p:nvSpPr>
        <p:spPr>
          <a:xfrm>
            <a:off x="1016000" y="5524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4" name="5-Point Star 63">
            <a:extLst>
              <a:ext uri="{FF2B5EF4-FFF2-40B4-BE49-F238E27FC236}">
                <a16:creationId xmlns:a16="http://schemas.microsoft.com/office/drawing/2014/main" id="{DC5F106F-D46F-1647-BF8F-85C2E0435DCE}"/>
              </a:ext>
            </a:extLst>
          </p:cNvPr>
          <p:cNvSpPr/>
          <p:nvPr/>
        </p:nvSpPr>
        <p:spPr>
          <a:xfrm>
            <a:off x="698500" y="59436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92BA79-25D4-FC4E-A5D9-B520648EE4CC}"/>
              </a:ext>
            </a:extLst>
          </p:cNvPr>
          <p:cNvSpPr txBox="1"/>
          <p:nvPr/>
        </p:nvSpPr>
        <p:spPr>
          <a:xfrm>
            <a:off x="1016000" y="5905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Centroid (cluster mean)</a:t>
            </a:r>
          </a:p>
        </p:txBody>
      </p:sp>
    </p:spTree>
    <p:extLst>
      <p:ext uri="{BB962C8B-B14F-4D97-AF65-F5344CB8AC3E}">
        <p14:creationId xmlns:p14="http://schemas.microsoft.com/office/powerpoint/2010/main" val="372349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7247-20F7-B770-AF3F-A2823B53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Lloyd's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F3332-CF62-834A-9B90-48279B4A893E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71E3A-B5A9-8F4D-BFAF-C7BB9DE5184E}"/>
              </a:ext>
            </a:extLst>
          </p:cNvPr>
          <p:cNvSpPr/>
          <p:nvPr/>
        </p:nvSpPr>
        <p:spPr>
          <a:xfrm>
            <a:off x="6345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21E76-E8EB-184C-AD90-A02D0F564A9C}"/>
              </a:ext>
            </a:extLst>
          </p:cNvPr>
          <p:cNvSpPr/>
          <p:nvPr/>
        </p:nvSpPr>
        <p:spPr>
          <a:xfrm>
            <a:off x="6350000" y="6116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E1960E-65AC-914E-B8E2-F9F86105F15C}"/>
              </a:ext>
            </a:extLst>
          </p:cNvPr>
          <p:cNvSpPr/>
          <p:nvPr/>
        </p:nvSpPr>
        <p:spPr>
          <a:xfrm>
            <a:off x="6802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BCC66-8F28-2743-8639-678A9B728475}"/>
              </a:ext>
            </a:extLst>
          </p:cNvPr>
          <p:cNvSpPr/>
          <p:nvPr/>
        </p:nvSpPr>
        <p:spPr>
          <a:xfrm>
            <a:off x="6350000" y="5659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C2FCC-7A36-154E-95F1-0C2BB7AAAE5C}"/>
              </a:ext>
            </a:extLst>
          </p:cNvPr>
          <p:cNvSpPr/>
          <p:nvPr/>
        </p:nvSpPr>
        <p:spPr>
          <a:xfrm>
            <a:off x="7259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84C27-FC72-FB47-9611-400695B66CFC}"/>
              </a:ext>
            </a:extLst>
          </p:cNvPr>
          <p:cNvSpPr/>
          <p:nvPr/>
        </p:nvSpPr>
        <p:spPr>
          <a:xfrm>
            <a:off x="6350000" y="5202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872D9-6B19-FA41-9C73-847089B365B0}"/>
              </a:ext>
            </a:extLst>
          </p:cNvPr>
          <p:cNvSpPr/>
          <p:nvPr/>
        </p:nvSpPr>
        <p:spPr>
          <a:xfrm>
            <a:off x="7716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DC05D-B76C-BB46-A9FF-26D45D5DBAA8}"/>
              </a:ext>
            </a:extLst>
          </p:cNvPr>
          <p:cNvSpPr/>
          <p:nvPr/>
        </p:nvSpPr>
        <p:spPr>
          <a:xfrm>
            <a:off x="6350000" y="4745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5EA70-8E3E-9B47-BC5C-387C5F870898}"/>
              </a:ext>
            </a:extLst>
          </p:cNvPr>
          <p:cNvSpPr/>
          <p:nvPr/>
        </p:nvSpPr>
        <p:spPr>
          <a:xfrm>
            <a:off x="8174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77D838-BDC3-F548-88A9-0579E0A99C32}"/>
              </a:ext>
            </a:extLst>
          </p:cNvPr>
          <p:cNvSpPr/>
          <p:nvPr/>
        </p:nvSpPr>
        <p:spPr>
          <a:xfrm>
            <a:off x="6350000" y="4287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C9FC85-941B-F047-B599-C68906F320D3}"/>
              </a:ext>
            </a:extLst>
          </p:cNvPr>
          <p:cNvSpPr/>
          <p:nvPr/>
        </p:nvSpPr>
        <p:spPr>
          <a:xfrm>
            <a:off x="8631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903E62-2A9F-8F48-AC39-B4FF16FF4E5A}"/>
              </a:ext>
            </a:extLst>
          </p:cNvPr>
          <p:cNvSpPr/>
          <p:nvPr/>
        </p:nvSpPr>
        <p:spPr>
          <a:xfrm>
            <a:off x="6350000" y="3830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2C319C-4368-6B43-BE14-CA9FAEF018BC}"/>
              </a:ext>
            </a:extLst>
          </p:cNvPr>
          <p:cNvSpPr/>
          <p:nvPr/>
        </p:nvSpPr>
        <p:spPr>
          <a:xfrm>
            <a:off x="90884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4389F7-9634-9B4D-9750-781BC589BC2F}"/>
              </a:ext>
            </a:extLst>
          </p:cNvPr>
          <p:cNvSpPr/>
          <p:nvPr/>
        </p:nvSpPr>
        <p:spPr>
          <a:xfrm>
            <a:off x="6350000" y="33734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0B7B57-023E-9241-8B27-3B0CD4FFDDF9}"/>
              </a:ext>
            </a:extLst>
          </p:cNvPr>
          <p:cNvSpPr/>
          <p:nvPr/>
        </p:nvSpPr>
        <p:spPr>
          <a:xfrm>
            <a:off x="95456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72377E-1742-EA40-BA86-7858508EFC19}"/>
              </a:ext>
            </a:extLst>
          </p:cNvPr>
          <p:cNvSpPr/>
          <p:nvPr/>
        </p:nvSpPr>
        <p:spPr>
          <a:xfrm>
            <a:off x="6350000" y="29162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511181-4481-DF46-9383-5B99AC8933E8}"/>
              </a:ext>
            </a:extLst>
          </p:cNvPr>
          <p:cNvSpPr/>
          <p:nvPr/>
        </p:nvSpPr>
        <p:spPr>
          <a:xfrm>
            <a:off x="100028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9EE720-34D8-F44D-AAC7-FCAAEB02CDE4}"/>
              </a:ext>
            </a:extLst>
          </p:cNvPr>
          <p:cNvSpPr/>
          <p:nvPr/>
        </p:nvSpPr>
        <p:spPr>
          <a:xfrm>
            <a:off x="6350000" y="24590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D456C0-B989-0D4C-ABDA-2E69A50611C3}"/>
              </a:ext>
            </a:extLst>
          </p:cNvPr>
          <p:cNvSpPr/>
          <p:nvPr/>
        </p:nvSpPr>
        <p:spPr>
          <a:xfrm>
            <a:off x="104600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38A073-460D-5345-A828-1FF9BB312E97}"/>
              </a:ext>
            </a:extLst>
          </p:cNvPr>
          <p:cNvSpPr/>
          <p:nvPr/>
        </p:nvSpPr>
        <p:spPr>
          <a:xfrm>
            <a:off x="6350000" y="20018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47D2E6-8B35-0D43-BBC2-CE0B448837CC}"/>
              </a:ext>
            </a:extLst>
          </p:cNvPr>
          <p:cNvSpPr/>
          <p:nvPr/>
        </p:nvSpPr>
        <p:spPr>
          <a:xfrm>
            <a:off x="10917237" y="1549400"/>
            <a:ext cx="9525" cy="45720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A86E2-7156-3842-AA15-5C78308D004A}"/>
              </a:ext>
            </a:extLst>
          </p:cNvPr>
          <p:cNvSpPr/>
          <p:nvPr/>
        </p:nvSpPr>
        <p:spPr>
          <a:xfrm>
            <a:off x="6350000" y="1544636"/>
            <a:ext cx="4572000" cy="9525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834694-19E2-FF41-92C7-60DB6B29D07A}"/>
              </a:ext>
            </a:extLst>
          </p:cNvPr>
          <p:cNvSpPr/>
          <p:nvPr/>
        </p:nvSpPr>
        <p:spPr>
          <a:xfrm>
            <a:off x="6350000" y="1549400"/>
            <a:ext cx="4572000" cy="4572000"/>
          </a:xfrm>
          <a:prstGeom prst="rect">
            <a:avLst/>
          </a:prstGeom>
          <a:noFill/>
          <a:ln w="15875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219809-059B-754A-B3C1-46A2A3EFC306}"/>
              </a:ext>
            </a:extLst>
          </p:cNvPr>
          <p:cNvSpPr txBox="1"/>
          <p:nvPr/>
        </p:nvSpPr>
        <p:spPr>
          <a:xfrm>
            <a:off x="6172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8DFAEC-4E1B-9749-8489-95B46D3F327E}"/>
              </a:ext>
            </a:extLst>
          </p:cNvPr>
          <p:cNvSpPr txBox="1"/>
          <p:nvPr/>
        </p:nvSpPr>
        <p:spPr>
          <a:xfrm>
            <a:off x="5892800" y="6019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0A1843-4024-F040-8A5A-89AE1B16F7A8}"/>
              </a:ext>
            </a:extLst>
          </p:cNvPr>
          <p:cNvSpPr txBox="1"/>
          <p:nvPr/>
        </p:nvSpPr>
        <p:spPr>
          <a:xfrm>
            <a:off x="70866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BCA8B5-ACDD-C347-987C-D2E5A710D0C6}"/>
              </a:ext>
            </a:extLst>
          </p:cNvPr>
          <p:cNvSpPr txBox="1"/>
          <p:nvPr/>
        </p:nvSpPr>
        <p:spPr>
          <a:xfrm>
            <a:off x="5892800" y="51054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08F79-4DF2-3140-9E03-2771D715D291}"/>
              </a:ext>
            </a:extLst>
          </p:cNvPr>
          <p:cNvSpPr txBox="1"/>
          <p:nvPr/>
        </p:nvSpPr>
        <p:spPr>
          <a:xfrm>
            <a:off x="80010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E778B7-4A61-CC49-92DE-9373FF8015B6}"/>
              </a:ext>
            </a:extLst>
          </p:cNvPr>
          <p:cNvSpPr txBox="1"/>
          <p:nvPr/>
        </p:nvSpPr>
        <p:spPr>
          <a:xfrm>
            <a:off x="5892800" y="41910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28647F-5DFC-2E4E-8AB8-AD90655B9B7D}"/>
              </a:ext>
            </a:extLst>
          </p:cNvPr>
          <p:cNvSpPr txBox="1"/>
          <p:nvPr/>
        </p:nvSpPr>
        <p:spPr>
          <a:xfrm>
            <a:off x="89154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ECFC83-FC56-384D-AEE0-7E532151A523}"/>
              </a:ext>
            </a:extLst>
          </p:cNvPr>
          <p:cNvSpPr txBox="1"/>
          <p:nvPr/>
        </p:nvSpPr>
        <p:spPr>
          <a:xfrm>
            <a:off x="5892800" y="32766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7DFC19-ADC7-FF40-AB96-338E33E11496}"/>
              </a:ext>
            </a:extLst>
          </p:cNvPr>
          <p:cNvSpPr txBox="1"/>
          <p:nvPr/>
        </p:nvSpPr>
        <p:spPr>
          <a:xfrm>
            <a:off x="98298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D610F5-4847-564E-9FB1-829FE564D085}"/>
              </a:ext>
            </a:extLst>
          </p:cNvPr>
          <p:cNvSpPr txBox="1"/>
          <p:nvPr/>
        </p:nvSpPr>
        <p:spPr>
          <a:xfrm>
            <a:off x="5892800" y="23622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C65DE2-0D0A-EE49-BEA2-A778BE11FE6A}"/>
              </a:ext>
            </a:extLst>
          </p:cNvPr>
          <p:cNvSpPr txBox="1"/>
          <p:nvPr/>
        </p:nvSpPr>
        <p:spPr>
          <a:xfrm>
            <a:off x="10744200" y="6159500"/>
            <a:ext cx="3556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966853-3ABC-504F-B74F-AE7BCB60AACD}"/>
              </a:ext>
            </a:extLst>
          </p:cNvPr>
          <p:cNvSpPr txBox="1"/>
          <p:nvPr/>
        </p:nvSpPr>
        <p:spPr>
          <a:xfrm>
            <a:off x="5892800" y="1447800"/>
            <a:ext cx="3810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AF7CA05-BBDD-454B-A144-28974931D821}"/>
              </a:ext>
            </a:extLst>
          </p:cNvPr>
          <p:cNvSpPr/>
          <p:nvPr/>
        </p:nvSpPr>
        <p:spPr>
          <a:xfrm>
            <a:off x="6946900" y="260350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D93CF1-42BA-7A49-B188-FE42E0BC3054}"/>
              </a:ext>
            </a:extLst>
          </p:cNvPr>
          <p:cNvSpPr/>
          <p:nvPr/>
        </p:nvSpPr>
        <p:spPr>
          <a:xfrm>
            <a:off x="7266940" y="219201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F9B0A3D-2F4F-BB41-AAD1-C2C17BCC5E91}"/>
              </a:ext>
            </a:extLst>
          </p:cNvPr>
          <p:cNvSpPr/>
          <p:nvPr/>
        </p:nvSpPr>
        <p:spPr>
          <a:xfrm>
            <a:off x="6718300" y="3014979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CADEA0-E5DD-8F4E-AAFB-B050957B112A}"/>
              </a:ext>
            </a:extLst>
          </p:cNvPr>
          <p:cNvSpPr/>
          <p:nvPr/>
        </p:nvSpPr>
        <p:spPr>
          <a:xfrm>
            <a:off x="7541259" y="2740660"/>
            <a:ext cx="177800" cy="177800"/>
          </a:xfrm>
          <a:prstGeom prst="ellipse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399183-DC9B-0043-998C-ACCD7EEF9F02}"/>
              </a:ext>
            </a:extLst>
          </p:cNvPr>
          <p:cNvSpPr/>
          <p:nvPr/>
        </p:nvSpPr>
        <p:spPr>
          <a:xfrm>
            <a:off x="9827260" y="228346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777128-28FC-4F4C-82BD-6D2AF2751226}"/>
              </a:ext>
            </a:extLst>
          </p:cNvPr>
          <p:cNvSpPr/>
          <p:nvPr/>
        </p:nvSpPr>
        <p:spPr>
          <a:xfrm>
            <a:off x="10193020" y="264922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1F073A-3ABD-244F-9423-96883FDD3A7B}"/>
              </a:ext>
            </a:extLst>
          </p:cNvPr>
          <p:cNvSpPr/>
          <p:nvPr/>
        </p:nvSpPr>
        <p:spPr>
          <a:xfrm>
            <a:off x="9552940" y="292354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21B164A-D68E-E94E-8C06-15CB41D11DB9}"/>
              </a:ext>
            </a:extLst>
          </p:cNvPr>
          <p:cNvSpPr/>
          <p:nvPr/>
        </p:nvSpPr>
        <p:spPr>
          <a:xfrm>
            <a:off x="10330180" y="2100579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56F779-EE47-AC4D-9D44-BE7D00D6CC6B}"/>
              </a:ext>
            </a:extLst>
          </p:cNvPr>
          <p:cNvSpPr/>
          <p:nvPr/>
        </p:nvSpPr>
        <p:spPr>
          <a:xfrm>
            <a:off x="8181340" y="520954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E353354-88A8-3B46-A48E-792052BC433B}"/>
              </a:ext>
            </a:extLst>
          </p:cNvPr>
          <p:cNvSpPr/>
          <p:nvPr/>
        </p:nvSpPr>
        <p:spPr>
          <a:xfrm>
            <a:off x="8547100" y="48437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432861E-AA9E-6044-B5D3-CB606FD42EBF}"/>
              </a:ext>
            </a:extLst>
          </p:cNvPr>
          <p:cNvSpPr/>
          <p:nvPr/>
        </p:nvSpPr>
        <p:spPr>
          <a:xfrm>
            <a:off x="7907020" y="548386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3C1A00C-407E-D94D-98D1-03CF5C05236B}"/>
              </a:ext>
            </a:extLst>
          </p:cNvPr>
          <p:cNvSpPr/>
          <p:nvPr/>
        </p:nvSpPr>
        <p:spPr>
          <a:xfrm>
            <a:off x="8821419" y="5300980"/>
            <a:ext cx="177800" cy="177800"/>
          </a:xfrm>
          <a:prstGeom prst="ellipse">
            <a:avLst/>
          </a:prstGeom>
          <a:solidFill>
            <a:srgbClr val="7AB648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5-Point Star 52">
            <a:extLst>
              <a:ext uri="{FF2B5EF4-FFF2-40B4-BE49-F238E27FC236}">
                <a16:creationId xmlns:a16="http://schemas.microsoft.com/office/drawing/2014/main" id="{D165C777-03FE-2945-AB29-5D2444873227}"/>
              </a:ext>
            </a:extLst>
          </p:cNvPr>
          <p:cNvSpPr/>
          <p:nvPr/>
        </p:nvSpPr>
        <p:spPr>
          <a:xfrm>
            <a:off x="7138416" y="3649979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5-Point Star 53">
            <a:extLst>
              <a:ext uri="{FF2B5EF4-FFF2-40B4-BE49-F238E27FC236}">
                <a16:creationId xmlns:a16="http://schemas.microsoft.com/office/drawing/2014/main" id="{845A55E5-A176-364A-AC04-C6B889BE04EC}"/>
              </a:ext>
            </a:extLst>
          </p:cNvPr>
          <p:cNvSpPr/>
          <p:nvPr/>
        </p:nvSpPr>
        <p:spPr>
          <a:xfrm>
            <a:off x="9067800" y="2429256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5-Point Star 54">
            <a:extLst>
              <a:ext uri="{FF2B5EF4-FFF2-40B4-BE49-F238E27FC236}">
                <a16:creationId xmlns:a16="http://schemas.microsoft.com/office/drawing/2014/main" id="{E0380E65-A6BB-0241-BE9C-2ECE504C0196}"/>
              </a:ext>
            </a:extLst>
          </p:cNvPr>
          <p:cNvSpPr/>
          <p:nvPr/>
        </p:nvSpPr>
        <p:spPr>
          <a:xfrm>
            <a:off x="8464296" y="5067300"/>
            <a:ext cx="279400" cy="2794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5-Point Star 55">
            <a:extLst>
              <a:ext uri="{FF2B5EF4-FFF2-40B4-BE49-F238E27FC236}">
                <a16:creationId xmlns:a16="http://schemas.microsoft.com/office/drawing/2014/main" id="{976B677C-8AB8-7341-888B-58315058D2E0}"/>
              </a:ext>
            </a:extLst>
          </p:cNvPr>
          <p:cNvSpPr/>
          <p:nvPr/>
        </p:nvSpPr>
        <p:spPr>
          <a:xfrm>
            <a:off x="7044436" y="2563876"/>
            <a:ext cx="330200" cy="330200"/>
          </a:xfrm>
          <a:prstGeom prst="star5">
            <a:avLst/>
          </a:prstGeom>
          <a:solidFill>
            <a:srgbClr val="4B2E83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5-Point Star 56">
            <a:extLst>
              <a:ext uri="{FF2B5EF4-FFF2-40B4-BE49-F238E27FC236}">
                <a16:creationId xmlns:a16="http://schemas.microsoft.com/office/drawing/2014/main" id="{09E18DDE-678F-D149-B066-87FAA8841A1A}"/>
              </a:ext>
            </a:extLst>
          </p:cNvPr>
          <p:cNvSpPr/>
          <p:nvPr/>
        </p:nvSpPr>
        <p:spPr>
          <a:xfrm>
            <a:off x="9897364" y="2413000"/>
            <a:ext cx="330200" cy="330200"/>
          </a:xfrm>
          <a:prstGeom prst="star5">
            <a:avLst/>
          </a:prstGeom>
          <a:solidFill>
            <a:srgbClr val="00A7B5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5-Point Star 57">
            <a:extLst>
              <a:ext uri="{FF2B5EF4-FFF2-40B4-BE49-F238E27FC236}">
                <a16:creationId xmlns:a16="http://schemas.microsoft.com/office/drawing/2014/main" id="{569B87E2-DE21-5944-A145-E7943B69BA59}"/>
              </a:ext>
            </a:extLst>
          </p:cNvPr>
          <p:cNvSpPr/>
          <p:nvPr/>
        </p:nvSpPr>
        <p:spPr>
          <a:xfrm>
            <a:off x="8288020" y="5133340"/>
            <a:ext cx="330200" cy="330200"/>
          </a:xfrm>
          <a:prstGeom prst="star5">
            <a:avLst/>
          </a:prstGeom>
          <a:solidFill>
            <a:srgbClr val="7AB648"/>
          </a:solidFill>
          <a:ln w="2222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D46945-3B57-5A4B-9AEB-1509F523CC76}"/>
                  </a:ext>
                </a:extLst>
              </p:cNvPr>
              <p:cNvSpPr txBox="1"/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2000" b="1">
                    <a:solidFill>
                      <a:srgbClr val="4B2E83"/>
                    </a:solidFill>
                  </a:rPr>
                  <a:t> Update (iteration 2) — converged</a:t>
                </a: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FD46945-3B57-5A4B-9AEB-1509F523C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30400"/>
                <a:ext cx="5207000" cy="584200"/>
              </a:xfrm>
              <a:prstGeom prst="rect">
                <a:avLst/>
              </a:prstGeom>
              <a:blipFill>
                <a:blip r:embed="rId2"/>
                <a:stretch>
                  <a:fillRect l="-1220" t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7CC7A50E-85CA-B149-AC7F-9E0B25F371E9}"/>
              </a:ext>
            </a:extLst>
          </p:cNvPr>
          <p:cNvSpPr txBox="1"/>
          <p:nvPr/>
        </p:nvSpPr>
        <p:spPr>
          <a:xfrm>
            <a:off x="609600" y="2603500"/>
            <a:ext cx="5207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Centroids settle on the final cluster means. The next assignment would not change, so Lloyd's algorithm has converged to a local minimum of J.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1650C1-F888-A54A-BA37-8C9E83EA6FB4}"/>
              </a:ext>
            </a:extLst>
          </p:cNvPr>
          <p:cNvSpPr/>
          <p:nvPr/>
        </p:nvSpPr>
        <p:spPr>
          <a:xfrm>
            <a:off x="711200" y="4724400"/>
            <a:ext cx="203200" cy="203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31683F-4BDE-8D49-AA2A-70181EA3CBBF}"/>
              </a:ext>
            </a:extLst>
          </p:cNvPr>
          <p:cNvSpPr txBox="1"/>
          <p:nvPr/>
        </p:nvSpPr>
        <p:spPr>
          <a:xfrm>
            <a:off x="1016000" y="46863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504F8D-B9F8-094B-B185-A51B4FE7DB2E}"/>
              </a:ext>
            </a:extLst>
          </p:cNvPr>
          <p:cNvSpPr/>
          <p:nvPr/>
        </p:nvSpPr>
        <p:spPr>
          <a:xfrm>
            <a:off x="711200" y="5080000"/>
            <a:ext cx="203200" cy="203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85AEEB-024B-8B40-A29B-4D178E56AE44}"/>
              </a:ext>
            </a:extLst>
          </p:cNvPr>
          <p:cNvSpPr txBox="1"/>
          <p:nvPr/>
        </p:nvSpPr>
        <p:spPr>
          <a:xfrm>
            <a:off x="1016000" y="50419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AD8B3EF-C987-1840-B898-78FAD94822ED}"/>
              </a:ext>
            </a:extLst>
          </p:cNvPr>
          <p:cNvSpPr/>
          <p:nvPr/>
        </p:nvSpPr>
        <p:spPr>
          <a:xfrm>
            <a:off x="711200" y="5435600"/>
            <a:ext cx="203200" cy="203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7C9349-9715-704F-9296-2EA7029177C4}"/>
              </a:ext>
            </a:extLst>
          </p:cNvPr>
          <p:cNvSpPr txBox="1"/>
          <p:nvPr/>
        </p:nvSpPr>
        <p:spPr>
          <a:xfrm>
            <a:off x="1016000" y="53975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3</a:t>
            </a:r>
          </a:p>
        </p:txBody>
      </p:sp>
      <p:sp>
        <p:nvSpPr>
          <p:cNvPr id="67" name="5-Point Star 66">
            <a:extLst>
              <a:ext uri="{FF2B5EF4-FFF2-40B4-BE49-F238E27FC236}">
                <a16:creationId xmlns:a16="http://schemas.microsoft.com/office/drawing/2014/main" id="{311D76CF-80EE-7342-9D72-B0707FDF4FE7}"/>
              </a:ext>
            </a:extLst>
          </p:cNvPr>
          <p:cNvSpPr/>
          <p:nvPr/>
        </p:nvSpPr>
        <p:spPr>
          <a:xfrm>
            <a:off x="698500" y="5791200"/>
            <a:ext cx="228600" cy="228600"/>
          </a:xfrm>
          <a:prstGeom prst="star5">
            <a:avLst/>
          </a:prstGeom>
          <a:solidFill>
            <a:srgbClr val="595959"/>
          </a:solidFill>
          <a:ln w="12700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3E78C8-1AE3-F94A-9394-35FBB03DDEBC}"/>
              </a:ext>
            </a:extLst>
          </p:cNvPr>
          <p:cNvSpPr txBox="1"/>
          <p:nvPr/>
        </p:nvSpPr>
        <p:spPr>
          <a:xfrm>
            <a:off x="1016000" y="57531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Final centroid</a:t>
            </a:r>
          </a:p>
        </p:txBody>
      </p:sp>
      <p:sp>
        <p:nvSpPr>
          <p:cNvPr id="69" name="5-Point Star 68">
            <a:extLst>
              <a:ext uri="{FF2B5EF4-FFF2-40B4-BE49-F238E27FC236}">
                <a16:creationId xmlns:a16="http://schemas.microsoft.com/office/drawing/2014/main" id="{3A0FA0A3-9336-914C-814C-27E5FF060134}"/>
              </a:ext>
            </a:extLst>
          </p:cNvPr>
          <p:cNvSpPr/>
          <p:nvPr/>
        </p:nvSpPr>
        <p:spPr>
          <a:xfrm>
            <a:off x="698500" y="6146800"/>
            <a:ext cx="228600" cy="228600"/>
          </a:xfrm>
          <a:prstGeom prst="star5">
            <a:avLst/>
          </a:prstGeom>
          <a:solidFill>
            <a:srgbClr val="F2F2F2"/>
          </a:solidFill>
          <a:ln w="1270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C61E18-C82D-E34F-AF00-EE1105897532}"/>
              </a:ext>
            </a:extLst>
          </p:cNvPr>
          <p:cNvSpPr txBox="1"/>
          <p:nvPr/>
        </p:nvSpPr>
        <p:spPr>
          <a:xfrm>
            <a:off x="1016000" y="6108700"/>
            <a:ext cx="4191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Previous centroid</a:t>
            </a:r>
          </a:p>
        </p:txBody>
      </p:sp>
    </p:spTree>
    <p:extLst>
      <p:ext uri="{BB962C8B-B14F-4D97-AF65-F5344CB8AC3E}">
        <p14:creationId xmlns:p14="http://schemas.microsoft.com/office/powerpoint/2010/main" val="188796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BC71-86F7-326E-297A-E2C79013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Initialization: k-means++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3F33D-294A-1B45-BEA3-9636A12D436B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06210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Random initialization can place two centroids in the same true cluster, trapping Lloyd in a bad local minimum.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k-means++ spreads initial centroids using a probability proportional to squared distance from the nearest chosen centroid.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Guarantees expected cost within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O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the optimum — a provable approximation bound.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Standard default in scikit-learn (init='k-means++').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13F33D-294A-1B45-BEA3-9636A12D4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062103"/>
              </a:xfrm>
              <a:prstGeom prst="rect">
                <a:avLst/>
              </a:prstGeom>
              <a:blipFill>
                <a:blip r:embed="rId2"/>
                <a:stretch>
                  <a:fillRect l="-682" t="-1227" r="-682"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BCF88F-9170-4946-92E9-9156CE8994AD}"/>
              </a:ext>
            </a:extLst>
          </p:cNvPr>
          <p:cNvSpPr/>
          <p:nvPr/>
        </p:nvSpPr>
        <p:spPr>
          <a:xfrm>
            <a:off x="6477000" y="2133600"/>
            <a:ext cx="4826000" cy="3810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A0134-2540-3A47-AC8B-590F4B834797}"/>
                  </a:ext>
                </a:extLst>
              </p:cNvPr>
              <p:cNvSpPr txBox="1"/>
              <p:nvPr/>
            </p:nvSpPr>
            <p:spPr>
              <a:xfrm>
                <a:off x="6705600" y="2336800"/>
                <a:ext cx="4368800" cy="19697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00A7B5"/>
                    </a:solidFill>
                    <a:latin typeface="Arial"/>
                  </a:rPr>
                  <a:t>The procedure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uniformly at random from the rows of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, let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333333"/>
                            </a:solidFill>
                          </a:rPr>
                          <m:t>min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Choose the next centroid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5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5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Repeat until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centroids are chosen, then run Lloyd.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A0134-2540-3A47-AC8B-590F4B834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336800"/>
                <a:ext cx="4368800" cy="1969770"/>
              </a:xfrm>
              <a:prstGeom prst="rect">
                <a:avLst/>
              </a:prstGeom>
              <a:blipFill>
                <a:blip r:embed="rId3"/>
                <a:stretch>
                  <a:fillRect l="-870" t="-641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87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1: Assignment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1ECA4E-8A4B-5142-85B1-AA700994DEAB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461000" cy="135421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Assign each point to its nearest centroid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Compare every point to both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(1, 1)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(8, 8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and pick the smaller squared distance.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The three low points fall to cluster 1; the three high points fall to cluster 2.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1ECA4E-8A4B-5142-85B1-AA700994D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461000" cy="1354217"/>
              </a:xfrm>
              <a:prstGeom prst="rect">
                <a:avLst/>
              </a:prstGeom>
              <a:blipFill>
                <a:blip r:embed="rId3"/>
                <a:stretch>
                  <a:fillRect l="-698" t="-1869" b="-4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483B0-6C59-F941-881D-B34157A52DD6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45000" cy="136960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Assignment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500" b="1" dirty="0">
                    <a:solidFill>
                      <a:srgbClr val="1F6FB2"/>
                    </a:solidFill>
                  </a:rPr>
                  <a:t>Cluster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1F6FB2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1F6FB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1F6FB2"/>
                            </a:solidFill>
                            <a:latin typeface="Cambria Math" panose="02040503050406030204" pitchFamily="18" charset="0"/>
                          </a:rPr>
                          <m:t>  →  </m:t>
                        </m:r>
                        <m:r>
                          <a:rPr lang="en-US" sz="1500">
                            <a:solidFill>
                              <a:srgbClr val="1F6FB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1F6FB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1F6FB2"/>
                          </a:solidFill>
                          <a:latin typeface="Cambria Math" panose="02040503050406030204" pitchFamily="18" charset="0"/>
                        </a:rPr>
                        <m:t>=(1,1)  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1F6FB2"/>
                          </a:solidFill>
                          <a:latin typeface="Cambria Math" panose="02040503050406030204" pitchFamily="18" charset="0"/>
                        </a:rPr>
                        <m:t>=(1,2)  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500">
                          <a:solidFill>
                            <a:srgbClr val="1F6FB2"/>
                          </a:solidFill>
                          <a:latin typeface="Cambria Math" panose="02040503050406030204" pitchFamily="18" charset="0"/>
                        </a:rPr>
                        <m:t>=(2,1)</m:t>
                      </m:r>
                    </m:oMath>
                  </m:oMathPara>
                </a14:m>
                <a:endParaRPr lang="en-US" sz="15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b="1" dirty="0">
                    <a:solidFill>
                      <a:srgbClr val="E8833A"/>
                    </a:solidFill>
                  </a:rPr>
                  <a:t>Cluster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E8833A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E88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E8833A"/>
                            </a:solidFill>
                            <a:latin typeface="Cambria Math" panose="02040503050406030204" pitchFamily="18" charset="0"/>
                          </a:rPr>
                          <m:t>  →  </m:t>
                        </m:r>
                        <m:r>
                          <a:rPr lang="en-US" sz="1500">
                            <a:solidFill>
                              <a:srgbClr val="E8833A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E88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500">
                          <a:solidFill>
                            <a:srgbClr val="E8833A"/>
                          </a:solidFill>
                          <a:latin typeface="Cambria Math" panose="02040503050406030204" pitchFamily="18" charset="0"/>
                        </a:rPr>
                        <m:t>=(8,8)  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500">
                          <a:solidFill>
                            <a:srgbClr val="E8833A"/>
                          </a:solidFill>
                          <a:latin typeface="Cambria Math" panose="02040503050406030204" pitchFamily="18" charset="0"/>
                        </a:rPr>
                        <m:t>=(9,8)  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500">
                          <a:solidFill>
                            <a:srgbClr val="E8833A"/>
                          </a:solidFill>
                          <a:latin typeface="Cambria Math" panose="02040503050406030204" pitchFamily="18" charset="0"/>
                        </a:rPr>
                        <m:t>=(8,9)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483B0-6C59-F941-881D-B34157A52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45000" cy="1369606"/>
              </a:xfrm>
              <a:prstGeom prst="rect">
                <a:avLst/>
              </a:prstGeom>
              <a:blipFill>
                <a:blip r:embed="rId4"/>
                <a:stretch>
                  <a:fillRect l="-857" t="-1852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03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2: Update Centroids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12338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Recompute each centroid as the cluster mean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Average the points assigned to each cluster, coordinate by coordinate.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Both centroids move toward the centre of their three points.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483B0-6C59-F941-881D-B34157A52DD6}"/>
                  </a:ext>
                </a:extLst>
              </p:cNvPr>
              <p:cNvSpPr txBox="1"/>
              <p:nvPr/>
            </p:nvSpPr>
            <p:spPr>
              <a:xfrm>
                <a:off x="6705600" y="2438400"/>
                <a:ext cx="4445000" cy="183127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Update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500" b="1" dirty="0">
                    <a:solidFill>
                      <a:srgbClr val="1F6FB2"/>
                    </a:solidFill>
                  </a:rPr>
                  <a:t>Cluster 1</a:t>
                </a:r>
                <a:endParaRPr lang="en-US" sz="1500"/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1F6FB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1F6FB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1F6FB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1F6FB2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500" dirty="0">
                    <a:solidFill>
                      <a:srgbClr val="1F6FB2"/>
                    </a:solidFill>
                    <a:latin typeface="Cambria Math"/>
                  </a:rPr>
                  <a:t> (1+1+2, 1+2+1) / 3</a:t>
                </a:r>
                <a:endParaRPr lang="en-US" sz="1500"/>
              </a:p>
              <a:p>
                <a:pPr>
                  <a:buNone/>
                </a:pPr>
                <a:r>
                  <a:rPr lang="en-US" sz="1500" dirty="0">
                    <a:solidFill>
                      <a:srgbClr val="1F6FB2"/>
                    </a:solidFill>
                    <a:latin typeface="Cambria Math"/>
                  </a:rPr>
                  <a:t>     = (4, 4) / 3 = (1.33, 1.33)</a:t>
                </a:r>
                <a:endParaRPr lang="en-US" sz="15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b="1" dirty="0">
                    <a:solidFill>
                      <a:srgbClr val="E8833A"/>
                    </a:solidFill>
                  </a:rPr>
                  <a:t>Cluster 2</a:t>
                </a:r>
                <a:endParaRPr lang="en-US" sz="1500"/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E883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E8833A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E88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E8833A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500" dirty="0">
                    <a:solidFill>
                      <a:srgbClr val="E8833A"/>
                    </a:solidFill>
                    <a:latin typeface="Cambria Math"/>
                  </a:rPr>
                  <a:t> (8+9+8, 8+8+9) / 3</a:t>
                </a:r>
                <a:endParaRPr lang="en-US" sz="1500"/>
              </a:p>
              <a:p>
                <a:pPr>
                  <a:buNone/>
                </a:pPr>
                <a:r>
                  <a:rPr lang="en-US" sz="1500" dirty="0">
                    <a:solidFill>
                      <a:srgbClr val="E8833A"/>
                    </a:solidFill>
                    <a:latin typeface="Cambria Math"/>
                  </a:rPr>
                  <a:t>     = (25, 25) / 3 = (8.33, 8.33)</a:t>
                </a:r>
                <a:endParaRPr lang="en-US" sz="15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9483B0-6C59-F941-881D-B34157A52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38400"/>
                <a:ext cx="4445000" cy="1831271"/>
              </a:xfrm>
              <a:prstGeom prst="rect">
                <a:avLst/>
              </a:prstGeom>
              <a:blipFill>
                <a:blip r:embed="rId3"/>
                <a:stretch>
                  <a:fillRect l="-857" t="-1389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10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4203-A4B5-49E1-C318-46EC2E5A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Lloyd Iteration — Step 3: Inertia &amp; Convergence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9AD91F-1E0A-9B45-965D-1DA62526411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ECA4E-8A4B-5142-85B1-AA700994DEAB}"/>
              </a:ext>
            </a:extLst>
          </p:cNvPr>
          <p:cNvSpPr txBox="1"/>
          <p:nvPr/>
        </p:nvSpPr>
        <p:spPr>
          <a:xfrm>
            <a:off x="838200" y="2235200"/>
            <a:ext cx="5461000" cy="135421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Measure the within-cluster spread</a:t>
            </a:r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Inertia J adds up the squared distance from every point to its own centroid.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Re-assigning with the updated centroids keeps every point in the same cluster, so the algorithm has converged in one iteration.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A595A-7452-3441-8D31-9A33D79C733A}"/>
              </a:ext>
            </a:extLst>
          </p:cNvPr>
          <p:cNvSpPr/>
          <p:nvPr/>
        </p:nvSpPr>
        <p:spPr>
          <a:xfrm>
            <a:off x="6477000" y="2235200"/>
            <a:ext cx="4876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483B0-6C59-F941-881D-B34157A52DD6}"/>
              </a:ext>
            </a:extLst>
          </p:cNvPr>
          <p:cNvSpPr txBox="1"/>
          <p:nvPr/>
        </p:nvSpPr>
        <p:spPr>
          <a:xfrm>
            <a:off x="6705600" y="2438400"/>
            <a:ext cx="4445000" cy="143116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Inertia</a:t>
            </a:r>
          </a:p>
          <a:p>
            <a:pPr>
              <a:buNone/>
            </a:pPr>
            <a:endParaRPr lang="en-US" sz="3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1 spread:  </a:t>
            </a:r>
            <a:r>
              <a:rPr lang="en-US" sz="1500" b="1" dirty="0">
                <a:solidFill>
                  <a:srgbClr val="1F6FB2"/>
                </a:solidFill>
                <a:latin typeface="Cambria Math"/>
              </a:rPr>
              <a:t>1.33</a:t>
            </a:r>
            <a:endParaRPr lang="en-US" sz="1500"/>
          </a:p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Cluster 2 spread:  </a:t>
            </a:r>
            <a:r>
              <a:rPr lang="en-US" sz="1500" b="1" dirty="0">
                <a:solidFill>
                  <a:srgbClr val="E8833A"/>
                </a:solidFill>
                <a:latin typeface="Cambria Math"/>
              </a:rPr>
              <a:t>1.33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333333"/>
                </a:solidFill>
                <a:latin typeface="Cambria Math"/>
              </a:rPr>
              <a:t>J = 1.33 + 1.33 = 2.67</a:t>
            </a:r>
            <a:endParaRPr lang="en-US" sz="1500"/>
          </a:p>
          <a:p>
            <a:pPr>
              <a:buNone/>
            </a:pPr>
            <a:endParaRPr lang="en-US" sz="400"/>
          </a:p>
          <a:p>
            <a:pPr>
              <a:buNone/>
            </a:pPr>
            <a:r>
              <a:rPr lang="en-US" sz="1500" b="1" dirty="0">
                <a:solidFill>
                  <a:srgbClr val="00A7B5"/>
                </a:solidFill>
              </a:rPr>
              <a:t>Assignments unchanged  ⇒  converged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22567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90EF-7222-5516-02A9-8FD250F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 — Step 1: Stack the 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2C87D-17C9-E741-820D-E9A2EDF08D1B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414DE-BF21-534C-BDA4-C9E87AF796E9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Rows are data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F578D9-00D4-C64E-8A83-CAB1EA9DFBCF}"/>
                  </a:ext>
                </a:extLst>
              </p:cNvPr>
              <p:cNvSpPr txBox="1"/>
              <p:nvPr/>
            </p:nvSpPr>
            <p:spPr>
              <a:xfrm>
                <a:off x="609600" y="2844800"/>
                <a:ext cx="5461000" cy="165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Stack the six observations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as the rows of the data matrix X.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X is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6×2: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six points, two features per point.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F578D9-00D4-C64E-8A83-CAB1EA9DF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461000" cy="1651000"/>
              </a:xfrm>
              <a:prstGeom prst="rect">
                <a:avLst/>
              </a:prstGeom>
              <a:blipFill>
                <a:blip r:embed="rId2"/>
                <a:stretch>
                  <a:fillRect l="-464" t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E75730A-8D89-F84E-88E3-1F952EE4054E}"/>
              </a:ext>
            </a:extLst>
          </p:cNvPr>
          <p:cNvSpPr txBox="1"/>
          <p:nvPr/>
        </p:nvSpPr>
        <p:spPr>
          <a:xfrm>
            <a:off x="609600" y="45466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Each column is one feature dimension.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26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90EF-7222-5516-02A9-8FD250F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Form — Step 2: Stack the Centroids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2C87D-17C9-E741-820D-E9A2EDF08D1B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414DE-BF21-534C-BDA4-C9E87AF796E9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Rows are centroids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F578D9-00D4-C64E-8A83-CAB1EA9DFBCF}"/>
                  </a:ext>
                </a:extLst>
              </p:cNvPr>
              <p:cNvSpPr txBox="1"/>
              <p:nvPr/>
            </p:nvSpPr>
            <p:spPr>
              <a:xfrm>
                <a:off x="609600" y="2844800"/>
                <a:ext cx="5461000" cy="165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Stack the two initial centroids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(1, 1)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(8, 8)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as the rows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(2×2).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Cluster 1 = blue, cluster 2 = orange. We keep this colour coding throughout.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F578D9-00D4-C64E-8A83-CAB1EA9DF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461000" cy="1651000"/>
              </a:xfrm>
              <a:prstGeom prst="rect">
                <a:avLst/>
              </a:prstGeom>
              <a:blipFill>
                <a:blip r:embed="rId2"/>
                <a:stretch>
                  <a:fillRect l="-464" t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E75730A-8D89-F84E-88E3-1F952EE4054E}"/>
              </a:ext>
            </a:extLst>
          </p:cNvPr>
          <p:cNvSpPr txBox="1"/>
          <p:nvPr/>
        </p:nvSpPr>
        <p:spPr>
          <a:xfrm>
            <a:off x="609600" y="45466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One row per cluster centre.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(0)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1905000"/>
                <a:ext cx="4724400" cy="381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57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1: The Formula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Every point to every centroid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AFCA49-F08A-9B43-835C-8A43C92E1E04}"/>
                  </a:ext>
                </a:extLst>
              </p:cNvPr>
              <p:cNvSpPr txBox="1"/>
              <p:nvPr/>
            </p:nvSpPr>
            <p:spPr>
              <a:xfrm>
                <a:off x="609600" y="2844800"/>
                <a:ext cx="546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Build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6×2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matrix D. Entry D(i, k) is the squared Euclidean distance from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to centroid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Column 1 measures distance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(blue); column 2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(orange).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AFCA49-F08A-9B43-835C-8A43C92E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461000" cy="1397000"/>
              </a:xfrm>
              <a:prstGeom prst="rect">
                <a:avLst/>
              </a:prstGeom>
              <a:blipFill>
                <a:blip r:embed="rId2"/>
                <a:stretch>
                  <a:fillRect l="-464" t="-1802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Smaller entry in a row = the nearer centroid.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𝑖𝑘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8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3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2: Compute Column 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095726-7DFA-CA4E-814D-579B3E42B0A5}"/>
                  </a:ext>
                </a:extLst>
              </p:cNvPr>
              <p:cNvSpPr txBox="1"/>
              <p:nvPr/>
            </p:nvSpPr>
            <p:spPr>
              <a:xfrm>
                <a:off x="609600" y="2336800"/>
                <a:ext cx="5461000" cy="406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Distances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00A7B5"/>
                        </a:solidFill>
                        <a:latin typeface="Cambria Math" panose="02040503050406030204" pitchFamily="18" charset="0"/>
                      </a:rPr>
                      <m:t> = (1, 1)</m:t>
                    </m:r>
                  </m:oMath>
                </a14:m>
                <a:endParaRPr lang="en-US" sz="1600" b="1" dirty="0">
                  <a:solidFill>
                    <a:srgbClr val="00A7B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095726-7DFA-CA4E-814D-579B3E42B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336800"/>
                <a:ext cx="5461000" cy="406400"/>
              </a:xfrm>
              <a:prstGeom prst="rect">
                <a:avLst/>
              </a:prstGeom>
              <a:blipFill>
                <a:blip r:embed="rId2"/>
                <a:stretch>
                  <a:fillRect l="-696"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AFCA49-F08A-9B43-835C-8A43C92E1E04}"/>
                  </a:ext>
                </a:extLst>
              </p:cNvPr>
              <p:cNvSpPr txBox="1"/>
              <p:nvPr/>
            </p:nvSpPr>
            <p:spPr>
              <a:xfrm>
                <a:off x="609600" y="2844800"/>
                <a:ext cx="546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Set k = 1 and apply the formula to each point.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(1, 2):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Repeating for all six points fills column 1 of D.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AFCA49-F08A-9B43-835C-8A43C92E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461000" cy="1397000"/>
              </a:xfrm>
              <a:prstGeom prst="rect">
                <a:avLst/>
              </a:prstGeom>
              <a:blipFill>
                <a:blip r:embed="rId3"/>
                <a:stretch>
                  <a:fillRect l="-464" t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CCA934-AF4C-CA4C-BBF0-F609D4FC0421}"/>
                  </a:ext>
                </a:extLst>
              </p:cNvPr>
              <p:cNvSpPr txBox="1"/>
              <p:nvPr/>
            </p:nvSpPr>
            <p:spPr>
              <a:xfrm>
                <a:off x="609600" y="4368800"/>
                <a:ext cx="5461000" cy="330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Column 1 = squared distances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CCA934-AF4C-CA4C-BBF0-F609D4FC0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68800"/>
                <a:ext cx="5461000" cy="330200"/>
              </a:xfrm>
              <a:prstGeom prst="rect">
                <a:avLst/>
              </a:prstGeom>
              <a:blipFill>
                <a:blip r:embed="rId4"/>
                <a:stretch>
                  <a:fillRect l="-464" t="-7407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1−1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2−1</m:t>
                              </m:r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=0+1=1</m:t>
                      </m:r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9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(·, 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𝜇</m:t>
                      </m:r>
                      <m:r>
                        <a:rPr lang="en-US" sz="1700">
                          <a:solidFill>
                            <a:srgbClr val="1F6FB2"/>
                          </a:solidFill>
                          <a:latin typeface="Cambria Math"/>
                        </a:rPr>
                        <m:t>₁)=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98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113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113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277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C98E-25B1-8191-D0D4-6A8C37E0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Matrix — Step 3: Assemble 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70BC85-511F-0344-860A-EB28405AE367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95726-7DFA-CA4E-814D-579B3E42B0A5}"/>
              </a:ext>
            </a:extLst>
          </p:cNvPr>
          <p:cNvSpPr txBox="1"/>
          <p:nvPr/>
        </p:nvSpPr>
        <p:spPr>
          <a:xfrm>
            <a:off x="609600" y="2336800"/>
            <a:ext cx="546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All distances at once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AFCA49-F08A-9B43-835C-8A43C92E1E04}"/>
                  </a:ext>
                </a:extLst>
              </p:cNvPr>
              <p:cNvSpPr txBox="1"/>
              <p:nvPr/>
            </p:nvSpPr>
            <p:spPr>
              <a:xfrm>
                <a:off x="609600" y="2844800"/>
                <a:ext cx="546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Column 1 = distances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(blue); column 2 = distances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(orange).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The smaller value in each row (bold) marks the nearer centroid.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2AFCA49-F08A-9B43-835C-8A43C92E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461000" cy="1397000"/>
              </a:xfrm>
              <a:prstGeom prst="rect">
                <a:avLst/>
              </a:prstGeom>
              <a:blipFill>
                <a:blip r:embed="rId2"/>
                <a:stretch>
                  <a:fillRect l="-464" t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BCCA934-AF4C-CA4C-BBF0-F609D4FC0421}"/>
              </a:ext>
            </a:extLst>
          </p:cNvPr>
          <p:cNvSpPr txBox="1"/>
          <p:nvPr/>
        </p:nvSpPr>
        <p:spPr>
          <a:xfrm>
            <a:off x="609600" y="43688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Bold entries preview the assignment in the next step.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98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113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113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159000"/>
                <a:ext cx="5003800" cy="330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43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33A-3E00-72BA-B17B-4DAD0360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— Step 1: Nearest Centroid (argmin)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A669A5-123F-554A-84A3-C18B2B93F0B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E252C-B0C1-3041-A6AA-2632D963D700}"/>
              </a:ext>
            </a:extLst>
          </p:cNvPr>
          <p:cNvSpPr txBox="1"/>
          <p:nvPr/>
        </p:nvSpPr>
        <p:spPr>
          <a:xfrm>
            <a:off x="609600" y="23368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Pick the nearest centroid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D65808-EE54-AA4E-BD45-50DA632AB6B4}"/>
                  </a:ext>
                </a:extLst>
              </p:cNvPr>
              <p:cNvSpPr txBox="1"/>
              <p:nvPr/>
            </p:nvSpPr>
            <p:spPr>
              <a:xfrm>
                <a:off x="609600" y="2844800"/>
                <a:ext cx="558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For each row of D, the assignment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is the column index of the smaller squared distance — the nearer centroid.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Rows 1–3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cluster 1 (blue);  rows 4–6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cluster 2 (orange).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D65808-EE54-AA4E-BD45-50DA632AB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588000" cy="1524000"/>
              </a:xfrm>
              <a:prstGeom prst="rect">
                <a:avLst/>
              </a:prstGeom>
              <a:blipFill>
                <a:blip r:embed="rId2"/>
                <a:stretch>
                  <a:fillRect l="-454" t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3D79302-A7D6-FD47-A67A-13978F160F57}"/>
              </a:ext>
            </a:extLst>
          </p:cNvPr>
          <p:cNvSpPr txBox="1"/>
          <p:nvPr/>
        </p:nvSpPr>
        <p:spPr>
          <a:xfrm>
            <a:off x="609600" y="4470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c records each point’s cluster label.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𝑎𝑟𝑔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𝑚𝑖𝑛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9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6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7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32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033A-3E00-72BA-B17B-4DAD0360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— Step 2: One-Hot Matrix Z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A669A5-123F-554A-84A3-C18B2B93F0B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E252C-B0C1-3041-A6AA-2632D963D700}"/>
              </a:ext>
            </a:extLst>
          </p:cNvPr>
          <p:cNvSpPr txBox="1"/>
          <p:nvPr/>
        </p:nvSpPr>
        <p:spPr>
          <a:xfrm>
            <a:off x="609600" y="23368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Encode labels as a binary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D65808-EE54-AA4E-BD45-50DA632AB6B4}"/>
                  </a:ext>
                </a:extLst>
              </p:cNvPr>
              <p:cNvSpPr txBox="1"/>
              <p:nvPr/>
            </p:nvSpPr>
            <p:spPr>
              <a:xfrm>
                <a:off x="609600" y="2844800"/>
                <a:ext cx="558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Z is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6×2.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Row i puts a 1 in the assigned column and 0 elsewhere — the one-hot code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column sum is the cluster size: 3 and 3.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D65808-EE54-AA4E-BD45-50DA632AB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588000" cy="1524000"/>
              </a:xfrm>
              <a:prstGeom prst="rect">
                <a:avLst/>
              </a:prstGeom>
              <a:blipFill>
                <a:blip r:embed="rId2"/>
                <a:stretch>
                  <a:fillRect l="-454" t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3D79302-A7D6-FD47-A67A-13978F160F57}"/>
              </a:ext>
            </a:extLst>
          </p:cNvPr>
          <p:cNvSpPr txBox="1"/>
          <p:nvPr/>
        </p:nvSpPr>
        <p:spPr>
          <a:xfrm>
            <a:off x="609600" y="4470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Z turns the assignment into linear algebra.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2159000"/>
                <a:ext cx="4940300" cy="330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171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207D51-A499-6424-C096-66746A688E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Update — Step 1: Cluster Sums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207D51-A499-6424-C096-66746A688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874EA-9818-6C4C-BADF-CF876F7DE344}"/>
                  </a:ext>
                </a:extLst>
              </p:cNvPr>
              <p:cNvSpPr txBox="1"/>
              <p:nvPr/>
            </p:nvSpPr>
            <p:spPr>
              <a:xfrm>
                <a:off x="2032000" y="1917700"/>
                <a:ext cx="5588000" cy="406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Each row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16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 picks its cluster’s points and adds them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874EA-9818-6C4C-BADF-CF876F7DE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1917700"/>
                <a:ext cx="5588000" cy="406400"/>
              </a:xfrm>
              <a:prstGeom prst="rect">
                <a:avLst/>
              </a:prstGeom>
              <a:blipFill>
                <a:blip r:embed="rId3"/>
                <a:stretch>
                  <a:fillRect l="-454" t="-625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D3251-E2ED-FA4B-A962-0555DF07679C}"/>
                  </a:ext>
                </a:extLst>
              </p:cNvPr>
              <p:cNvSpPr txBox="1"/>
              <p:nvPr/>
            </p:nvSpPr>
            <p:spPr>
              <a:xfrm>
                <a:off x="609600" y="5054600"/>
                <a:ext cx="5588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Row 1 (blue) = [1 1 1 0 0 0] selects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sum (4, 4).  Row 2 (orange) = [0 0 0 1 1 1] selects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sum (25, 25).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D3251-E2ED-FA4B-A962-0555DF076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54600"/>
                <a:ext cx="5588000" cy="1397000"/>
              </a:xfrm>
              <a:prstGeom prst="rect">
                <a:avLst/>
              </a:prstGeom>
              <a:blipFill>
                <a:blip r:embed="rId4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0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7D51-A499-6424-C096-66746A68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— Step 2: Cluster Sizes &amp; Divide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874EA-9818-6C4C-BADF-CF876F7DE344}"/>
                  </a:ext>
                </a:extLst>
              </p:cNvPr>
              <p:cNvSpPr txBox="1"/>
              <p:nvPr/>
            </p:nvSpPr>
            <p:spPr>
              <a:xfrm>
                <a:off x="2032000" y="1917700"/>
                <a:ext cx="5588000" cy="406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16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600">
                        <a:solidFill>
                          <a:srgbClr val="00A7B5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 counts each cluster, then divide the sums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874EA-9818-6C4C-BADF-CF876F7DE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1917700"/>
                <a:ext cx="5588000" cy="406400"/>
              </a:xfrm>
              <a:prstGeom prst="rect">
                <a:avLst/>
              </a:prstGeom>
              <a:blipFill>
                <a:blip r:embed="rId2"/>
                <a:stretch>
                  <a:fillRect t="-625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D3251-E2ED-FA4B-A962-0555DF07679C}"/>
                  </a:ext>
                </a:extLst>
              </p:cNvPr>
              <p:cNvSpPr txBox="1"/>
              <p:nvPr/>
            </p:nvSpPr>
            <p:spPr>
              <a:xfrm>
                <a:off x="609600" y="5054600"/>
                <a:ext cx="5588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cluster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3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points. Dividing row k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gives the new centroid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D3251-E2ED-FA4B-A962-0555DF076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54600"/>
                <a:ext cx="5588000" cy="1397000"/>
              </a:xfrm>
              <a:prstGeom prst="rect">
                <a:avLst/>
              </a:prstGeom>
              <a:blipFill>
                <a:blip r:embed="rId3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1=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  (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𝑐𝑙𝑢𝑠𝑡𝑒𝑟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𝑠𝑖𝑧𝑒𝑠</m:t>
                      </m:r>
                      <m:r>
                        <a:rPr lang="en-US" sz="1600">
                          <a:solidFill>
                            <a:srgbClr val="888888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800"/>
              </a:p>
              <a:p>
                <a:pPr>
                  <a:buNone/>
                </a:pPr>
                <a:endParaRPr lang="en-US" sz="8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1F6FB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1F6FB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1F6FB2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E883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rgbClr val="E883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US" sz="1600">
                                        <a:solidFill>
                                          <a:srgbClr val="E8833A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3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207D51-A499-6424-C096-66746A688E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Update — Step 3: New Centroids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207D51-A499-6424-C096-66746A688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1DE7F9-8A61-3F4A-9F36-DB34018EF8EE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874EA-9818-6C4C-BADF-CF876F7DE344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Each centroid moves to its cluster 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D3251-E2ED-FA4B-A962-0555DF07679C}"/>
              </a:ext>
            </a:extLst>
          </p:cNvPr>
          <p:cNvSpPr txBox="1"/>
          <p:nvPr/>
        </p:nvSpPr>
        <p:spPr>
          <a:xfrm>
            <a:off x="609600" y="5054600"/>
            <a:ext cx="558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333333"/>
                </a:solidFill>
              </a:rPr>
              <a:t>Centroids shift toward their points. Re-running the assignment leaves every cluster unchanged — the iteration has converged.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(0)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 → 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𝑀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1.33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1.33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8.33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8.33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667000"/>
                <a:ext cx="10972800" cy="228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2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BDB-EEFC-8759-075C-7535C138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— Step 1: Keep Each Point’s Own Distance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7DF0B9-74E3-9A4C-A1B9-36A7E0C42BB4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1 OF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9A3F4-0386-C340-AC3C-72228418C0F8}"/>
              </a:ext>
            </a:extLst>
          </p:cNvPr>
          <p:cNvSpPr txBox="1"/>
          <p:nvPr/>
        </p:nvSpPr>
        <p:spPr>
          <a:xfrm>
            <a:off x="2032000" y="1917700"/>
            <a:ext cx="558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A7B5"/>
                </a:solidFill>
                <a:latin typeface="Arial"/>
              </a:rPr>
              <a:t>Z ⊙ D keeps each point’s distance to its own centroid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BE3E75-592A-404A-9521-C6001A352A36}"/>
                  </a:ext>
                </a:extLst>
              </p:cNvPr>
              <p:cNvSpPr txBox="1"/>
              <p:nvPr/>
            </p:nvSpPr>
            <p:spPr>
              <a:xfrm>
                <a:off x="609600" y="5054600"/>
                <a:ext cx="5588000" cy="165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The element-wise product masks D with Z: where Z = 1 the squared distance (to the updated centroid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is kept; everywhere else it becomes 0.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BE3E75-592A-404A-9521-C6001A352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54600"/>
                <a:ext cx="5588000" cy="1651000"/>
              </a:xfrm>
              <a:prstGeom prst="rect">
                <a:avLst/>
              </a:prstGeom>
              <a:blipFill>
                <a:blip r:embed="rId2"/>
                <a:stretch>
                  <a:fillRect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(1)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0.22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1F6FB2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>
                                    <a:solidFill>
                                      <a:srgbClr val="BBBBBB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500">
                                    <a:solidFill>
                                      <a:srgbClr val="E8833A"/>
                                    </a:solidFill>
                                    <a:latin typeface="Cambria Math"/>
                                  </a:rPr>
                                  <m:t>0.56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36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9BDB-EEFC-8759-075C-7535C138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— Step 2: Sum to Get J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7DF0B9-74E3-9A4C-A1B9-36A7E0C42BB4}"/>
              </a:ext>
            </a:extLst>
          </p:cNvPr>
          <p:cNvSpPr/>
          <p:nvPr/>
        </p:nvSpPr>
        <p:spPr>
          <a:xfrm>
            <a:off x="609600" y="1905000"/>
            <a:ext cx="1219200" cy="330200"/>
          </a:xfrm>
          <a:prstGeom prst="roundRect">
            <a:avLst/>
          </a:prstGeom>
          <a:solidFill>
            <a:srgbClr val="0A7C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rial"/>
              </a:rPr>
              <a:t>STEP 2 OF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E9A3F4-0386-C340-AC3C-72228418C0F8}"/>
                  </a:ext>
                </a:extLst>
              </p:cNvPr>
              <p:cNvSpPr txBox="1"/>
              <p:nvPr/>
            </p:nvSpPr>
            <p:spPr>
              <a:xfrm>
                <a:off x="2032000" y="1917700"/>
                <a:ext cx="5588000" cy="406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Add every kept entry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A7B5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 total inertia J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E9A3F4-0386-C340-AC3C-72228418C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1917700"/>
                <a:ext cx="5588000" cy="406400"/>
              </a:xfrm>
              <a:prstGeom prst="rect">
                <a:avLst/>
              </a:prstGeom>
              <a:blipFill>
                <a:blip r:embed="rId2"/>
                <a:stretch>
                  <a:fillRect l="-454" t="-625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BE3E75-592A-404A-9521-C6001A352A36}"/>
                  </a:ext>
                </a:extLst>
              </p:cNvPr>
              <p:cNvSpPr txBox="1"/>
              <p:nvPr/>
            </p:nvSpPr>
            <p:spPr>
              <a:xfrm>
                <a:off x="609600" y="5054600"/>
                <a:ext cx="5588000" cy="165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cluster contributes 1.33. Re-running assignment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leaves Z unchanged — the iteration has converged.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BE3E75-592A-404A-9521-C6001A352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054600"/>
                <a:ext cx="5588000" cy="165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Eq200"/>
              <p:cNvSpPr txBox="1"/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𝐽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1F6FB2"/>
                              </a:solidFill>
                              <a:latin typeface="Cambria Math"/>
                            </a:rPr>
                            <m:t>0.22 + 0.56 + 0.56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E8833A"/>
                              </a:solidFill>
                              <a:latin typeface="Cambria Math"/>
                            </a:rPr>
                            <m:t>0.22 + 0.56 + 0.56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1F6FB2"/>
                          </a:solidFill>
                          <a:latin typeface="Cambria Math"/>
                        </a:rPr>
                        <m:t>1.33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E8833A"/>
                          </a:solidFill>
                          <a:latin typeface="Cambria Math"/>
                        </a:rPr>
                        <m:t>1.33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2.67</m:t>
                      </m:r>
                    </m:oMath>
                  </m:oMathPara>
                </a14:m>
                <a:endParaRPr lang="en-US" sz="800"/>
              </a:p>
            </p:txBody>
          </p:sp>
        </mc:Choice>
        <mc:Fallback>
          <p:sp>
            <p:nvSpPr>
              <p:cNvPr id="200" name="Eq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489200"/>
                <a:ext cx="10972800" cy="2489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17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C068-D16F-EAE0-2394-84E9736D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Choosing k (Elbow)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74B6F0-E81A-CB4D-92A1-9A44F5048298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8DA17-B8B1-8744-BE75-887A66DB6F98}"/>
                  </a:ext>
                </a:extLst>
              </p:cNvPr>
              <p:cNvSpPr txBox="1"/>
              <p:nvPr/>
            </p:nvSpPr>
            <p:spPr>
              <a:xfrm>
                <a:off x="838200" y="2159000"/>
                <a:ext cx="4724400" cy="216982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Run k-means for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=1…6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plot inertia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Pick the 'elbow' where marginal gain drops.</a:t>
                </a:r>
              </a:p>
              <a:p>
                <a:pPr>
                  <a:buNone/>
                </a:pPr>
                <a:endParaRPr lang="en-US" sz="7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Reading the curve</a:t>
                </a:r>
              </a:p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always decreases 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grows.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elbow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where adding clusters stops cutting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sharply.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Beyond the elbow, extra clusters only split noise.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8DA17-B8B1-8744-BE75-887A66DB6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59000"/>
                <a:ext cx="4724400" cy="2169825"/>
              </a:xfrm>
              <a:prstGeom prst="rect">
                <a:avLst/>
              </a:prstGeom>
              <a:blipFill>
                <a:blip r:embed="rId2"/>
                <a:stretch>
                  <a:fillRect l="-804" t="-581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ElbowChart"/>
          <p:cNvGraphicFramePr/>
          <p:nvPr/>
        </p:nvGraphicFramePr>
        <p:xfrm>
          <a:off x="5715000" y="2222500"/>
          <a:ext cx="5638800" cy="387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2497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6425-5FB7-0074-DBD4-0EED5D59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Scaling Changes Clusters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485515-52A8-6F48-A7AB-D2AB61120D7E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D77E30-28E2-774E-A8DD-DE4E5B3ECC12}"/>
              </a:ext>
            </a:extLst>
          </p:cNvPr>
          <p:cNvSpPr/>
          <p:nvPr/>
        </p:nvSpPr>
        <p:spPr>
          <a:xfrm>
            <a:off x="838200" y="2311400"/>
            <a:ext cx="5143500" cy="3784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2403E-899C-2846-B4AE-E36853C71188}"/>
                  </a:ext>
                </a:extLst>
              </p:cNvPr>
              <p:cNvSpPr txBox="1"/>
              <p:nvPr/>
            </p:nvSpPr>
            <p:spPr>
              <a:xfrm>
                <a:off x="1066800" y="2514600"/>
                <a:ext cx="4724400" cy="182492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B7A57A"/>
                    </a:solidFill>
                    <a:latin typeface="Arial"/>
                  </a:rPr>
                  <a:t>Raw features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Age (20–60) and Income ($20k–$120k).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 i="0">
                                      <a:solidFill>
                                        <a:srgbClr val="333333"/>
                                      </a:solidFill>
                                    </a:rPr>
                                    <m:t>Δage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 i="0">
                                      <a:solidFill>
                                        <a:srgbClr val="333333"/>
                                      </a:solidFill>
                                    </a:rPr>
                                    <m:t>Δincome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Income spans ~100,000 while age spans ~40. The squared income term dominates the norm — clusters split almost entirely on income.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B2403E-899C-2846-B4AE-E36853C7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514600"/>
                <a:ext cx="4724400" cy="1824923"/>
              </a:xfrm>
              <a:prstGeom prst="rect">
                <a:avLst/>
              </a:prstGeom>
              <a:blipFill>
                <a:blip r:embed="rId2"/>
                <a:stretch>
                  <a:fillRect l="-1072" t="-2083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0968C8-568C-9F46-A09F-8E688BD3BE40}"/>
              </a:ext>
            </a:extLst>
          </p:cNvPr>
          <p:cNvSpPr/>
          <p:nvPr/>
        </p:nvSpPr>
        <p:spPr>
          <a:xfrm>
            <a:off x="6210300" y="2311400"/>
            <a:ext cx="5143500" cy="3784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439D6-55DB-1F4F-ADD2-734737AA96E9}"/>
                  </a:ext>
                </a:extLst>
              </p:cNvPr>
              <p:cNvSpPr txBox="1"/>
              <p:nvPr/>
            </p:nvSpPr>
            <p:spPr>
              <a:xfrm>
                <a:off x="6438900" y="2514600"/>
                <a:ext cx="4724400" cy="201574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800" b="1" dirty="0">
                    <a:solidFill>
                      <a:srgbClr val="00A7B5"/>
                    </a:solidFill>
                    <a:latin typeface="Arial"/>
                  </a:rPr>
                  <a:t>Standardized (z-score)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column rescaled to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</m:num>
                        <m:den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Both features now contribute equally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333333"/>
                                </a:solidFill>
                              </a:rPr>
                              <m:t>·</m:t>
                            </m:r>
                          </m:e>
                        </m:d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Clusters reflect joint age–income structure. Always standardize before a Euclidean k-means.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5439D6-55DB-1F4F-ADD2-734737AA9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514600"/>
                <a:ext cx="4724400" cy="2015745"/>
              </a:xfrm>
              <a:prstGeom prst="rect">
                <a:avLst/>
              </a:prstGeom>
              <a:blipFill>
                <a:blip r:embed="rId3"/>
                <a:stretch>
                  <a:fillRect l="-804" t="-1887" b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59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B7D4-E544-DA87-3344-F06957D6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0C9E46-303C-A241-A9E0-B0BFC127D1B7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4F5889-DB10-F444-B72A-CD0C2F831E99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EBBA6-4617-5B4B-8502-C18CF6A348A8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Two iterations.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init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Run Lloyd to convergence and give final centroids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9EBBA6-4617-5B4B-8502-C18CF6A34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1C7CC26C-4A3B-5F4A-BC2E-E0B35E420014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877246-760D-F341-99F2-3DC31B5F4ACA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E152F7-68A6-464C-B39E-3396E280D55C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Bad initialization.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Using the same data, show that init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can converge to a worse local optimum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Compare both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values.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E152F7-68A6-464C-B39E-3396E280D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D801405B-854B-264C-8F72-CCF72CB4858D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180288-627F-D347-9868-59141ECDEF9D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8A6F2D-4901-3F4B-9C40-C11F3FFA1E03}"/>
                  </a:ext>
                </a:extLst>
              </p:cNvPr>
              <p:cNvSpPr txBox="1"/>
              <p:nvPr/>
            </p:nvSpPr>
            <p:spPr>
              <a:xfrm>
                <a:off x="1854200" y="5300775"/>
                <a:ext cx="9296400" cy="77764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k-means++ probabilities.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chosen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points at distances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0,2,7,8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selection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for each remaining point.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8A6F2D-4901-3F4B-9C40-C11F3FFA1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00775"/>
                <a:ext cx="9296400" cy="777649"/>
              </a:xfrm>
              <a:prstGeom prst="rect">
                <a:avLst/>
              </a:prstGeom>
              <a:blipFill>
                <a:blip r:embed="rId4"/>
                <a:stretch>
                  <a:fillRect l="-273" t="-1613" b="-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49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011686-373C-AB40-8B73-B9B089EB0B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F067B-99AD-C144-99E2-593684F72CE0}"/>
              </a:ext>
            </a:extLst>
          </p:cNvPr>
          <p:cNvSpPr/>
          <p:nvPr/>
        </p:nvSpPr>
        <p:spPr>
          <a:xfrm>
            <a:off x="838200" y="3810000"/>
            <a:ext cx="1524000" cy="101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9FDD6-BE41-B54A-A5DC-B1F290D465EA}"/>
              </a:ext>
            </a:extLst>
          </p:cNvPr>
          <p:cNvSpPr txBox="1"/>
          <p:nvPr/>
        </p:nvSpPr>
        <p:spPr>
          <a:xfrm>
            <a:off x="8382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4B2E8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16E9D-13EA-7242-956E-3021E45EDA1C}"/>
              </a:ext>
            </a:extLst>
          </p:cNvPr>
          <p:cNvSpPr txBox="1"/>
          <p:nvPr/>
        </p:nvSpPr>
        <p:spPr>
          <a:xfrm>
            <a:off x="787400" y="28575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200" b="1">
                <a:solidFill>
                  <a:srgbClr val="FFFFFF"/>
                </a:solidFill>
                <a:latin typeface="Arial"/>
                <a:cs typeface="Arial"/>
              </a:rPr>
              <a:t>Hierarchical Clustering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159D4-56D3-E044-BBCE-0DFEEDC41F73}"/>
              </a:ext>
            </a:extLst>
          </p:cNvPr>
          <p:cNvSpPr txBox="1"/>
          <p:nvPr/>
        </p:nvSpPr>
        <p:spPr>
          <a:xfrm>
            <a:off x="838200" y="4127500"/>
            <a:ext cx="9906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Agglomerative merging, linkage criteria, and the dendrogram — a nested family of partitions</a:t>
            </a:r>
          </a:p>
        </p:txBody>
      </p:sp>
    </p:spTree>
    <p:extLst>
      <p:ext uri="{BB962C8B-B14F-4D97-AF65-F5344CB8AC3E}">
        <p14:creationId xmlns:p14="http://schemas.microsoft.com/office/powerpoint/2010/main" val="282977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4FC1-D696-DF26-B0F8-4D8BFDD9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Agglomerative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6EAA0-86B2-4F45-ABA4-A170B17E7ED6}"/>
                  </a:ext>
                </a:extLst>
              </p:cNvPr>
              <p:cNvSpPr txBox="1"/>
              <p:nvPr/>
            </p:nvSpPr>
            <p:spPr>
              <a:xfrm>
                <a:off x="838200" y="1905000"/>
                <a:ext cx="5588000" cy="218521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Agglomerative = bottom-up. Start with each of the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points as its own singleton cluster.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Repeatedly merge the two closest clusters until one cluster remains.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Produces a full hierarchy of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n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nested partitions — no need to pre-specify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k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Cut the hierarchy at any height to obtain a flat clustering.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700" dirty="0">
                    <a:solidFill>
                      <a:srgbClr val="333333"/>
                    </a:solidFill>
                  </a:rPr>
                  <a:t>Driven entirely by the distance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700" dirty="0">
                    <a:solidFill>
                      <a:srgbClr val="333333"/>
                    </a:solidFill>
                  </a:rPr>
                  <a:t> and a linkage rule.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6EAA0-86B2-4F45-ABA4-A170B17E7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5588000" cy="2185214"/>
              </a:xfrm>
              <a:prstGeom prst="rect">
                <a:avLst/>
              </a:prstGeom>
              <a:blipFill>
                <a:blip r:embed="rId2"/>
                <a:stretch>
                  <a:fillRect l="-682" t="-1156" r="-1364" b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F4F689-8891-3B44-90C2-B85781AC8004}"/>
              </a:ext>
            </a:extLst>
          </p:cNvPr>
          <p:cNvSpPr/>
          <p:nvPr/>
        </p:nvSpPr>
        <p:spPr>
          <a:xfrm>
            <a:off x="6604000" y="2032000"/>
            <a:ext cx="4749800" cy="3962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BFA5F-084D-0440-A28D-280385E5135A}"/>
                  </a:ext>
                </a:extLst>
              </p:cNvPr>
              <p:cNvSpPr txBox="1"/>
              <p:nvPr/>
            </p:nvSpPr>
            <p:spPr>
              <a:xfrm>
                <a:off x="6832600" y="2235200"/>
                <a:ext cx="4445000" cy="180049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700" b="1" dirty="0">
                    <a:solidFill>
                      <a:srgbClr val="7AB648"/>
                    </a:solidFill>
                    <a:latin typeface="Arial"/>
                  </a:rPr>
                  <a:t>Algorithm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D ∈ ℝⁿˣⁿ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point is its own cluster: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|C| = n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Find the pair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(Cₐ, Cᵇ)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minimizing linkage distance.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Merge them; update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D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for the new cluster.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500" dirty="0">
                    <a:solidFill>
                      <a:srgbClr val="333333"/>
                    </a:solidFill>
                  </a:rPr>
                  <a:t>Repeat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n−1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times, recording merge heights.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Cost: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595959"/>
                        </a:solidFill>
                      </a:rPr>
                      <a:t>O(n³)</a:t>
                    </a:r>
                  </mc:Fallback>
                </mc:AlternateContent>
                <a:r>
                  <a:rPr lang="en-US" sz="1500" i="1" dirty="0">
                    <a:solidFill>
                      <a:srgbClr val="595959"/>
                    </a:solidFill>
                  </a:rPr>
                  <a:t> naive,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595959"/>
                        </a:solidFill>
                      </a:rPr>
                      <a:t>O(n² log n)</a:t>
                    </a:r>
                  </mc:Fallback>
                </mc:AlternateContent>
                <a:r>
                  <a:rPr lang="en-US" sz="1500" i="1" dirty="0">
                    <a:solidFill>
                      <a:srgbClr val="595959"/>
                    </a:solidFill>
                  </a:rPr>
                  <a:t> with priority queues.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BFA5F-084D-0440-A28D-280385E51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235200"/>
                <a:ext cx="4445000" cy="1800493"/>
              </a:xfrm>
              <a:prstGeom prst="rect">
                <a:avLst/>
              </a:prstGeom>
              <a:blipFill>
                <a:blip r:embed="rId3"/>
                <a:stretch>
                  <a:fillRect l="-855" t="-1408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59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C7F8-78C4-07DF-5EB3-F7E998EF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Linkage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CFFD45-69BD-BB44-99DA-C3AA441EFFC6}"/>
              </a:ext>
            </a:extLst>
          </p:cNvPr>
          <p:cNvSpPr/>
          <p:nvPr/>
        </p:nvSpPr>
        <p:spPr>
          <a:xfrm>
            <a:off x="838200" y="19050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27551-AF21-E24C-B977-4D27C83C6458}"/>
              </a:ext>
            </a:extLst>
          </p:cNvPr>
          <p:cNvSpPr/>
          <p:nvPr/>
        </p:nvSpPr>
        <p:spPr>
          <a:xfrm>
            <a:off x="838200" y="19050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Single (min)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73200-28AC-8D4F-91DB-2343B999DAA8}"/>
                  </a:ext>
                </a:extLst>
              </p:cNvPr>
              <p:cNvSpPr txBox="1"/>
              <p:nvPr/>
            </p:nvSpPr>
            <p:spPr>
              <a:xfrm>
                <a:off x="990600" y="2438400"/>
                <a:ext cx="4838700" cy="8684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4B2E83"/>
                              </a:solidFill>
                            </a:rPr>
                            <m:t>min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min ‖xᵢ − xⱼ‖,  i∈A, j∈B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Nearest pair across clusters. Finds elongated, chain-like clusters but suffers from chaining.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C73200-28AC-8D4F-91DB-2343B999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38400"/>
                <a:ext cx="4838700" cy="868443"/>
              </a:xfrm>
              <a:prstGeom prst="rect">
                <a:avLst/>
              </a:prstGeom>
              <a:blipFill>
                <a:blip r:embed="rId2"/>
                <a:stretch>
                  <a:fillRect l="-525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0731BD-AF9A-D245-BD44-8F4DB5C9ADBF}"/>
              </a:ext>
            </a:extLst>
          </p:cNvPr>
          <p:cNvSpPr/>
          <p:nvPr/>
        </p:nvSpPr>
        <p:spPr>
          <a:xfrm>
            <a:off x="6210300" y="19050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D761D-EFA5-7D42-94C7-9A15D7291DBA}"/>
              </a:ext>
            </a:extLst>
          </p:cNvPr>
          <p:cNvSpPr/>
          <p:nvPr/>
        </p:nvSpPr>
        <p:spPr>
          <a:xfrm>
            <a:off x="6210300" y="19050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Complete (max)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A4CB-5C73-184C-A3DA-03D804D3F6B6}"/>
                  </a:ext>
                </a:extLst>
              </p:cNvPr>
              <p:cNvSpPr txBox="1"/>
              <p:nvPr/>
            </p:nvSpPr>
            <p:spPr>
              <a:xfrm>
                <a:off x="6362700" y="2438400"/>
                <a:ext cx="4838700" cy="8684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4B2E83"/>
                              </a:solidFill>
                            </a:rPr>
                            <m:t>max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4B2E83"/>
                              </a:solidFill>
                            </a:rPr>
                            <m:t> 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max ‖xᵢ − xⱼ‖,  i∈A, j∈B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Farthest pair. Produces compact, roughly equal-diameter clusters; sensitive to outliers.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A4CB-5C73-184C-A3DA-03D804D3F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2438400"/>
                <a:ext cx="4838700" cy="868443"/>
              </a:xfrm>
              <a:prstGeom prst="rect">
                <a:avLst/>
              </a:prstGeom>
              <a:blipFill>
                <a:blip r:embed="rId3"/>
                <a:stretch>
                  <a:fillRect l="-524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08C4ED-F7C6-CC4E-89BD-8650E249B640}"/>
              </a:ext>
            </a:extLst>
          </p:cNvPr>
          <p:cNvSpPr/>
          <p:nvPr/>
        </p:nvSpPr>
        <p:spPr>
          <a:xfrm>
            <a:off x="838200" y="40132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D9B2F7-A2E3-5841-996E-FF52E7CAD9F7}"/>
              </a:ext>
            </a:extLst>
          </p:cNvPr>
          <p:cNvSpPr/>
          <p:nvPr/>
        </p:nvSpPr>
        <p:spPr>
          <a:xfrm>
            <a:off x="838200" y="40132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Average (UPGMA)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D19AA-1001-F441-8711-B918E1A3E20A}"/>
                  </a:ext>
                </a:extLst>
              </p:cNvPr>
              <p:cNvSpPr txBox="1"/>
              <p:nvPr/>
            </p:nvSpPr>
            <p:spPr>
              <a:xfrm>
                <a:off x="990600" y="4546600"/>
                <a:ext cx="4838700" cy="11865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d(A,B) = (1/|A||B|) Σ ‖xᵢ − xⱼ‖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Mean of all cross-pair distances. A balanced compromise between single and complete.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9D19AA-1001-F441-8711-B918E1A3E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46600"/>
                <a:ext cx="4838700" cy="1186543"/>
              </a:xfrm>
              <a:prstGeom prst="rect">
                <a:avLst/>
              </a:prstGeom>
              <a:blipFill>
                <a:blip r:embed="rId4"/>
                <a:stretch>
                  <a:fillRect l="-525" t="-72340" b="-59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6535DE-09EA-2E49-A0D8-0A1EB0A42FA5}"/>
              </a:ext>
            </a:extLst>
          </p:cNvPr>
          <p:cNvSpPr/>
          <p:nvPr/>
        </p:nvSpPr>
        <p:spPr>
          <a:xfrm>
            <a:off x="6210300" y="4013200"/>
            <a:ext cx="5143500" cy="2336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FF4CF8-A9AC-E741-BC2C-FB130CE14F17}"/>
              </a:ext>
            </a:extLst>
          </p:cNvPr>
          <p:cNvSpPr/>
          <p:nvPr/>
        </p:nvSpPr>
        <p:spPr>
          <a:xfrm>
            <a:off x="6210300" y="4013200"/>
            <a:ext cx="51435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Ward (variance)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BBFFE6-AE8F-E34F-A670-26F95DC651E0}"/>
                  </a:ext>
                </a:extLst>
              </p:cNvPr>
              <p:cNvSpPr txBox="1"/>
              <p:nvPr/>
            </p:nvSpPr>
            <p:spPr>
              <a:xfrm>
                <a:off x="6362700" y="4546600"/>
                <a:ext cx="4838700" cy="10938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4B2E83"/>
                              </a:solidFill>
                            </a:rPr>
                            <m:t>Δ</m:t>
                          </m:r>
                          <m:r>
                            <a:rPr lang="en-US" sz="16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sz="16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Δ = (|A||B|/(|A|+|B|)) ‖μA − μB‖²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Merge that minimizes the increase in within-cluster variance. Tends to give spherical clusters.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BBFFE6-AE8F-E34F-A670-26F95DC65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700" y="4546600"/>
                <a:ext cx="4838700" cy="1093889"/>
              </a:xfrm>
              <a:prstGeom prst="rect">
                <a:avLst/>
              </a:prstGeom>
              <a:blipFill>
                <a:blip r:embed="rId5"/>
                <a:stretch>
                  <a:fillRect l="-524"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51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94CC-CD05-F65D-1FDD-4316F9CE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Dendrogram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09E45-B391-8146-893D-B8061A51DB31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4724400" cy="280076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 dendrogram is a binary tree recording the full merge sequence.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Leaves are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singleton points; the root is the single all-inclusive cluster.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merge is drawn at a height equal to the linkage distance at which it occurred.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Cutting horizontally at a chosen height yields a flat clustering — the number of vertical lines crossed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Long vertical edges signal well-separated clusters; short ones signal weak structure.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D09E45-B391-8146-893D-B8061A51D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4724400" cy="2800767"/>
              </a:xfrm>
              <a:prstGeom prst="rect">
                <a:avLst/>
              </a:prstGeom>
              <a:blipFill>
                <a:blip r:embed="rId2"/>
                <a:stretch>
                  <a:fillRect l="-804" t="-450" r="-1072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046212-24EF-0C46-A068-F1A1035BA9C0}"/>
              </a:ext>
            </a:extLst>
          </p:cNvPr>
          <p:cNvSpPr/>
          <p:nvPr/>
        </p:nvSpPr>
        <p:spPr>
          <a:xfrm>
            <a:off x="5740400" y="2095500"/>
            <a:ext cx="5613400" cy="4000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1D9F2-C2BD-F840-84C2-879E4B7CF4AD}"/>
              </a:ext>
            </a:extLst>
          </p:cNvPr>
          <p:cNvSpPr/>
          <p:nvPr/>
        </p:nvSpPr>
        <p:spPr>
          <a:xfrm>
            <a:off x="6271260" y="4699000"/>
            <a:ext cx="30480" cy="762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774BE-B57E-4844-8AA6-96E9DD0AAD0B}"/>
              </a:ext>
            </a:extLst>
          </p:cNvPr>
          <p:cNvSpPr/>
          <p:nvPr/>
        </p:nvSpPr>
        <p:spPr>
          <a:xfrm>
            <a:off x="6906259" y="4699000"/>
            <a:ext cx="30480" cy="762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62B85-511F-3A46-A413-01FB0AC7EB49}"/>
              </a:ext>
            </a:extLst>
          </p:cNvPr>
          <p:cNvSpPr/>
          <p:nvPr/>
        </p:nvSpPr>
        <p:spPr>
          <a:xfrm>
            <a:off x="6286500" y="4683760"/>
            <a:ext cx="635000" cy="3048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84C95-5E0D-7E4A-B912-8DA986C44696}"/>
              </a:ext>
            </a:extLst>
          </p:cNvPr>
          <p:cNvSpPr/>
          <p:nvPr/>
        </p:nvSpPr>
        <p:spPr>
          <a:xfrm>
            <a:off x="9319260" y="4445000"/>
            <a:ext cx="30480" cy="1016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EB852-F73D-8F4F-BD18-44AF0FE63D38}"/>
              </a:ext>
            </a:extLst>
          </p:cNvPr>
          <p:cNvSpPr/>
          <p:nvPr/>
        </p:nvSpPr>
        <p:spPr>
          <a:xfrm>
            <a:off x="10398760" y="4445000"/>
            <a:ext cx="30480" cy="1016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549FEF-F193-154C-BBC1-B7EF495C046D}"/>
              </a:ext>
            </a:extLst>
          </p:cNvPr>
          <p:cNvSpPr/>
          <p:nvPr/>
        </p:nvSpPr>
        <p:spPr>
          <a:xfrm>
            <a:off x="9334500" y="4429760"/>
            <a:ext cx="1079500" cy="3048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C75281-69CF-1048-8B68-1646E33D5EDE}"/>
              </a:ext>
            </a:extLst>
          </p:cNvPr>
          <p:cNvSpPr/>
          <p:nvPr/>
        </p:nvSpPr>
        <p:spPr>
          <a:xfrm>
            <a:off x="6588759" y="3810000"/>
            <a:ext cx="30480" cy="889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877A1-19B9-9140-B4B8-F59E996B837F}"/>
              </a:ext>
            </a:extLst>
          </p:cNvPr>
          <p:cNvSpPr/>
          <p:nvPr/>
        </p:nvSpPr>
        <p:spPr>
          <a:xfrm>
            <a:off x="8112759" y="3810000"/>
            <a:ext cx="30480" cy="165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F2B850-284C-0540-8805-62FCAFCC7674}"/>
              </a:ext>
            </a:extLst>
          </p:cNvPr>
          <p:cNvSpPr/>
          <p:nvPr/>
        </p:nvSpPr>
        <p:spPr>
          <a:xfrm>
            <a:off x="6604000" y="3794760"/>
            <a:ext cx="1524000" cy="3048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53071C-7D7F-F04D-A272-5BFB35AB860F}"/>
              </a:ext>
            </a:extLst>
          </p:cNvPr>
          <p:cNvSpPr/>
          <p:nvPr/>
        </p:nvSpPr>
        <p:spPr>
          <a:xfrm>
            <a:off x="7350759" y="2921000"/>
            <a:ext cx="30480" cy="889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7C471-97A2-6F46-B8BC-AE88865F0DD4}"/>
              </a:ext>
            </a:extLst>
          </p:cNvPr>
          <p:cNvSpPr/>
          <p:nvPr/>
        </p:nvSpPr>
        <p:spPr>
          <a:xfrm>
            <a:off x="9859010" y="2921000"/>
            <a:ext cx="30480" cy="1524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70FD2-B764-8946-A702-C785D38E08A9}"/>
              </a:ext>
            </a:extLst>
          </p:cNvPr>
          <p:cNvSpPr/>
          <p:nvPr/>
        </p:nvSpPr>
        <p:spPr>
          <a:xfrm>
            <a:off x="7366000" y="2905760"/>
            <a:ext cx="2508250" cy="3048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69DF4E-834D-0442-BE35-C4E98002EEC9}"/>
              </a:ext>
            </a:extLst>
          </p:cNvPr>
          <p:cNvSpPr txBox="1"/>
          <p:nvPr/>
        </p:nvSpPr>
        <p:spPr>
          <a:xfrm>
            <a:off x="6159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5FBC9-5C87-D14B-897B-7BE5109A1D7D}"/>
              </a:ext>
            </a:extLst>
          </p:cNvPr>
          <p:cNvSpPr txBox="1"/>
          <p:nvPr/>
        </p:nvSpPr>
        <p:spPr>
          <a:xfrm>
            <a:off x="6794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9D40AB-280D-8B40-B146-FD71E8FF1FB9}"/>
              </a:ext>
            </a:extLst>
          </p:cNvPr>
          <p:cNvSpPr txBox="1"/>
          <p:nvPr/>
        </p:nvSpPr>
        <p:spPr>
          <a:xfrm>
            <a:off x="80010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C46C7-5A5F-D44F-8CAC-32968F20ADAD}"/>
              </a:ext>
            </a:extLst>
          </p:cNvPr>
          <p:cNvSpPr txBox="1"/>
          <p:nvPr/>
        </p:nvSpPr>
        <p:spPr>
          <a:xfrm>
            <a:off x="92075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14F0B-0857-4745-92CF-3B192A65FDFA}"/>
              </a:ext>
            </a:extLst>
          </p:cNvPr>
          <p:cNvSpPr txBox="1"/>
          <p:nvPr/>
        </p:nvSpPr>
        <p:spPr>
          <a:xfrm>
            <a:off x="10287000" y="5511800"/>
            <a:ext cx="25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066EE1-A56F-6447-B841-61EC6B130D83}"/>
              </a:ext>
            </a:extLst>
          </p:cNvPr>
          <p:cNvSpPr txBox="1"/>
          <p:nvPr/>
        </p:nvSpPr>
        <p:spPr>
          <a:xfrm>
            <a:off x="5778500" y="23495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595959"/>
                </a:solidFill>
              </a:rPr>
              <a:t>height = merge distance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5013DD-E520-5745-A999-AC077032C7CA}"/>
              </a:ext>
            </a:extLst>
          </p:cNvPr>
          <p:cNvSpPr/>
          <p:nvPr/>
        </p:nvSpPr>
        <p:spPr>
          <a:xfrm>
            <a:off x="5969000" y="3365500"/>
            <a:ext cx="5207000" cy="1905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226CB-0110-D94C-8C20-9B40AE5802A2}"/>
              </a:ext>
            </a:extLst>
          </p:cNvPr>
          <p:cNvSpPr txBox="1"/>
          <p:nvPr/>
        </p:nvSpPr>
        <p:spPr>
          <a:xfrm>
            <a:off x="9652000" y="31496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cut → 3 clusters</a:t>
            </a:r>
          </a:p>
        </p:txBody>
      </p:sp>
    </p:spTree>
    <p:extLst>
      <p:ext uri="{BB962C8B-B14F-4D97-AF65-F5344CB8AC3E}">
        <p14:creationId xmlns:p14="http://schemas.microsoft.com/office/powerpoint/2010/main" val="29710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208C-03FC-A9E2-EA71-CDB13C4C0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Updating Distances: Lance–Williams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7AA66A-6F86-5049-8B67-0832A3A64DAA}"/>
              </a:ext>
            </a:extLst>
          </p:cNvPr>
          <p:cNvSpPr/>
          <p:nvPr/>
        </p:nvSpPr>
        <p:spPr>
          <a:xfrm>
            <a:off x="838200" y="1905000"/>
            <a:ext cx="10515600" cy="9144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5087B-5F55-2E41-BC93-CACCA91CA86B}"/>
                  </a:ext>
                </a:extLst>
              </p:cNvPr>
              <p:cNvSpPr txBox="1"/>
              <p:nvPr/>
            </p:nvSpPr>
            <p:spPr>
              <a:xfrm>
                <a:off x="1016000" y="2162145"/>
                <a:ext cx="10160000" cy="4001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i="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i="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FFFFFF"/>
                          </a:solidFill>
                        </a:rPr>
                        <m:t> 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FFFFFF"/>
                          </a:solidFill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5087B-5F55-2E41-BC93-CACCA91CA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162145"/>
                <a:ext cx="10160000" cy="400110"/>
              </a:xfrm>
              <a:prstGeom prst="rect">
                <a:avLst/>
              </a:prstGeom>
              <a:blipFill>
                <a:blip r:embed="rId2"/>
                <a:stretch>
                  <a:fillRect t="-625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9CD80F-ED4B-6345-B1BE-B29B78C0B12C}"/>
                  </a:ext>
                </a:extLst>
              </p:cNvPr>
              <p:cNvSpPr txBox="1"/>
              <p:nvPr/>
            </p:nvSpPr>
            <p:spPr>
              <a:xfrm>
                <a:off x="838200" y="30226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single recurrence updates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after each merge — coefficients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define the linkage: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9CD80F-ED4B-6345-B1BE-B29B78C0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22600"/>
                <a:ext cx="10515600" cy="338554"/>
              </a:xfrm>
              <a:prstGeom prst="rect">
                <a:avLst/>
              </a:prstGeom>
              <a:blipFill>
                <a:blip r:embed="rId3"/>
                <a:stretch>
                  <a:fillRect l="-362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244F8A3-2500-854F-9563-BCDA14F100B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3657600"/>
              <a:ext cx="10515600" cy="23562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384432393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97420784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12743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67781197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604319137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rgbClr val="FFFFFF"/>
                              </a:solidFill>
                            </a:rPr>
                            <a:t>Linkage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411434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Single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8464432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Complete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69102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Average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3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3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628215"/>
                      </a:ext>
                    </a:extLst>
                  </a:tr>
                  <a:tr h="4318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Ward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d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3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13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3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3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6843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1244F8A3-2500-854F-9563-BCDA14F100B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3657600"/>
              <a:ext cx="10515600" cy="23562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384432393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97420784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1274306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467781197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604319137"/>
                        </a:ext>
                      </a:extLst>
                    </a:gridCol>
                  </a:tblGrid>
                  <a:tr h="431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rgbClr val="FFFFFF"/>
                              </a:solidFill>
                            </a:rPr>
                            <a:t>Linkage</a:t>
                          </a:r>
                        </a:p>
                      </a:txBody>
                      <a:tcPr anchor="ctr">
                        <a:solidFill>
                          <a:srgbClr val="4B2E8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941" r="-303030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941" r="-201205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941" r="-102424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941" r="-1807" b="-4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0411434"/>
                      </a:ext>
                    </a:extLst>
                  </a:tr>
                  <a:tr h="46234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Single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94595" r="-303030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94595" r="-201205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94595" r="-102424" b="-3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94595" r="-1807" b="-3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8464432"/>
                      </a:ext>
                    </a:extLst>
                  </a:tr>
                  <a:tr h="46234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Complete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00000" r="-303030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00000" r="-20120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00000" r="-102424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00000" r="-1807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691025"/>
                      </a:ext>
                    </a:extLst>
                  </a:tr>
                  <a:tr h="5266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Average</a:t>
                          </a:r>
                        </a:p>
                      </a:txBody>
                      <a:tcPr anchor="ctr">
                        <a:solidFill>
                          <a:srgbClr val="F5F0E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257143" r="-303030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57143" r="-201205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257143" r="-102424" b="-9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257143" r="-1807" b="-9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628215"/>
                      </a:ext>
                    </a:extLst>
                  </a:tr>
                  <a:tr h="4732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300">
                              <a:solidFill>
                                <a:srgbClr val="333333"/>
                              </a:solidFill>
                              <a:latin typeface="Calibri"/>
                              <a:cs typeface="Calibri"/>
                            </a:rPr>
                            <a:t>Ward</a:t>
                          </a:r>
                        </a:p>
                      </a:txBody>
                      <a:tcPr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212" t="-405405" r="-303030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405405" r="-201205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1818" t="-405405" r="-102424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9398" t="-405405" r="-1807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6843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0344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ACE2-7166-729C-F0B4-6DA4433F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Single-Linkage by Hand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56314F-F287-284E-8153-2F756948527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986C1-4827-E744-A4A2-137806E11DB9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16562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Distance matrix over points A, B, C, D: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Build the single-linkage hierarchy and give merge heights.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A986C1-4827-E744-A4A2-137806E11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1656287"/>
              </a:xfrm>
              <a:prstGeom prst="rect">
                <a:avLst/>
              </a:prstGeom>
              <a:blipFill>
                <a:blip r:embed="rId2"/>
                <a:stretch>
                  <a:fillRect l="-748" t="-1527" b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916530-0FC4-CC49-A564-EE78439FCF1B}"/>
              </a:ext>
            </a:extLst>
          </p:cNvPr>
          <p:cNvSpPr/>
          <p:nvPr/>
        </p:nvSpPr>
        <p:spPr>
          <a:xfrm>
            <a:off x="5969000" y="2235200"/>
            <a:ext cx="5384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C2883-7300-7C43-A413-3D3065DB5466}"/>
                  </a:ext>
                </a:extLst>
              </p:cNvPr>
              <p:cNvSpPr txBox="1"/>
              <p:nvPr/>
            </p:nvSpPr>
            <p:spPr>
              <a:xfrm>
                <a:off x="6197600" y="2438400"/>
                <a:ext cx="5080000" cy="195130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  <a:latin typeface="Arial"/>
                  </a:rPr>
                  <a:t>Solution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Min entry = 2 → merge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B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at height 2.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Update (single = min):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AB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C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400" i="0">
                        <a:solidFill>
                          <a:srgbClr val="333333"/>
                        </a:solidFill>
                      </a:rPr>
                      <m:t>min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6,5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AB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D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400" i="0">
                        <a:solidFill>
                          <a:srgbClr val="333333"/>
                        </a:solidFill>
                      </a:rPr>
                      <m:t>min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10,9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Now min = 4 → merge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D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at height 4.</a:t>
                </a:r>
              </a:p>
              <a:p>
                <a:pPr marL="285750" indent="-285750">
                  <a:buFont typeface="Arial"/>
                  <a:buAutoNum type="arabicPeriod"/>
                </a:pP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AB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CD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400" i="0">
                        <a:solidFill>
                          <a:srgbClr val="333333"/>
                        </a:solidFill>
                      </a:rPr>
                      <m:t>min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 i="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 i="0">
                                <a:solidFill>
                                  <a:srgbClr val="333333"/>
                                </a:solidFill>
                              </a:rPr>
                              <m:t>C</m:t>
                            </m:r>
                          </m:e>
                        </m:d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 i="0">
                                <a:solidFill>
                                  <a:srgbClr val="333333"/>
                                </a:solidFill>
                              </a:rPr>
                              <m:t>AB</m:t>
                            </m:r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400" i="0">
                                <a:solidFill>
                                  <a:srgbClr val="333333"/>
                                </a:solidFill>
                              </a:rPr>
                              <m:t>D</m:t>
                            </m:r>
                          </m:e>
                        </m:d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  <a:p>
                <a:pPr marL="285750" indent="-285750">
                  <a:buFont typeface="Arial"/>
                  <a:buAutoNum type="arabicPeriod"/>
                </a:pPr>
                <a:r>
                  <a:rPr lang="en-US" sz="1400" dirty="0">
                    <a:solidFill>
                      <a:srgbClr val="333333"/>
                    </a:solidFill>
                  </a:rPr>
                  <a:t>Merge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AB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i="0">
                            <a:solidFill>
                              <a:srgbClr val="333333"/>
                            </a:solidFill>
                          </a:rPr>
                          <m:t>CD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at height 5 → root.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Order: (AB)@2, (CD)@4, root@5.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9C2883-7300-7C43-A413-3D3065DB5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438400"/>
                <a:ext cx="5080000" cy="1951303"/>
              </a:xfrm>
              <a:prstGeom prst="rect">
                <a:avLst/>
              </a:prstGeom>
              <a:blipFill>
                <a:blip r:embed="rId3"/>
                <a:stretch>
                  <a:fillRect l="-748" t="-1299" b="-3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96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E745-098E-563A-15D6-D9DA1D12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Ward vs Single Linkage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CDC838E-4858-474B-9AA0-0177C2568EA5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99D5E1-B4F9-A94B-91B2-84D6CB50DA96}"/>
              </a:ext>
            </a:extLst>
          </p:cNvPr>
          <p:cNvSpPr/>
          <p:nvPr/>
        </p:nvSpPr>
        <p:spPr>
          <a:xfrm>
            <a:off x="8382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4971D-D860-114F-8E7A-66C3BC75E690}"/>
              </a:ext>
            </a:extLst>
          </p:cNvPr>
          <p:cNvSpPr/>
          <p:nvPr/>
        </p:nvSpPr>
        <p:spPr>
          <a:xfrm>
            <a:off x="838200" y="2235200"/>
            <a:ext cx="5143500" cy="4572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Single linkage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62FB0-FE31-0A42-9D82-9875D7813C9D}"/>
              </a:ext>
            </a:extLst>
          </p:cNvPr>
          <p:cNvSpPr txBox="1"/>
          <p:nvPr/>
        </p:nvSpPr>
        <p:spPr>
          <a:xfrm>
            <a:off x="1066800" y="2844800"/>
            <a:ext cx="47244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Merge criterion: nearest single pair across clusters.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On two interlocking crescents, follows the local chain — recovers the non-convex moons.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Vulnerable to a single bridging point that chains two true clusters together.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Cluster sizes can be very unbalanced.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41A5C0-A8CC-7044-BE00-AD90B32DDB61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9D738-46B7-8B48-A38E-1B027F1863EE}"/>
              </a:ext>
            </a:extLst>
          </p:cNvPr>
          <p:cNvSpPr/>
          <p:nvPr/>
        </p:nvSpPr>
        <p:spPr>
          <a:xfrm>
            <a:off x="6210300" y="2235200"/>
            <a:ext cx="5143500" cy="457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Ward linkage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AA2489-1ABF-0741-9BD0-3F508D16530E}"/>
                  </a:ext>
                </a:extLst>
              </p:cNvPr>
              <p:cNvSpPr txBox="1"/>
              <p:nvPr/>
            </p:nvSpPr>
            <p:spPr>
              <a:xfrm>
                <a:off x="6438900" y="2844800"/>
                <a:ext cx="4724400" cy="181588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Merge criterion: minimize increase in total within-cluster variance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On the same moons, cuts straight across — prefers compact, spherical blobs.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Robust to chaining; resistant to single bridging points.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Tends to produce balanced, similar-size clusters.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AA2489-1ABF-0741-9BD0-3F508D165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844800"/>
                <a:ext cx="4724400" cy="1815882"/>
              </a:xfrm>
              <a:prstGeom prst="rect">
                <a:avLst/>
              </a:prstGeom>
              <a:blipFill>
                <a:blip r:embed="rId2"/>
                <a:stretch>
                  <a:fillRect l="-536" t="-7639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96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BAC4-E413-5112-EAEC-2FB4975E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Cophenetic Correlation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1DB285-279F-924A-A634-C32FC602723D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3FBB3F-DD8E-4B47-AFEE-1A21914BDE8E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212083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cophenetic distance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the merge height at which points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first join the same cluster.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cophenetic correlation measures how faithfully the dendrogram preserves the original distances: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i="0">
                          <a:solidFill>
                            <a:srgbClr val="333333"/>
                          </a:solidFill>
                        </a:rPr>
                        <m:t>CCC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 i="0">
                          <a:solidFill>
                            <a:srgbClr val="333333"/>
                          </a:solidFill>
                        </a:rPr>
                        <m:t>corr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vec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</m:d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vec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original distances,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cophenetic distances (both flattened over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pairs).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3FBB3F-DD8E-4B47-AFEE-1A21914B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2120837"/>
              </a:xfrm>
              <a:prstGeom prst="rect">
                <a:avLst/>
              </a:prstGeom>
              <a:blipFill>
                <a:blip r:embed="rId2"/>
                <a:stretch>
                  <a:fillRect l="-748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4CF060-F677-2E45-9B6C-A3A4092EE297}"/>
              </a:ext>
            </a:extLst>
          </p:cNvPr>
          <p:cNvSpPr/>
          <p:nvPr/>
        </p:nvSpPr>
        <p:spPr>
          <a:xfrm>
            <a:off x="5969000" y="2235200"/>
            <a:ext cx="53848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D89907-8B02-A242-B842-C1365BD7D7AA}"/>
                  </a:ext>
                </a:extLst>
              </p:cNvPr>
              <p:cNvSpPr txBox="1"/>
              <p:nvPr/>
            </p:nvSpPr>
            <p:spPr>
              <a:xfrm>
                <a:off x="6197600" y="2438400"/>
                <a:ext cx="5080000" cy="215443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  <a:latin typeface="Arial"/>
                  </a:rPr>
                  <a:t>Interpretation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Using Example 1 heights: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B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D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A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D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B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B</m:t>
                          </m:r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solidFill>
                                <a:srgbClr val="333333"/>
                              </a:solidFill>
                            </a:rPr>
                            <m:t>D</m:t>
                          </m:r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Pearson-correlate these 6 cophenetic values against the 6 original distances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2,6,10,5,9,4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CCC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≈0.96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here — close to 1 means the tree is a trustworthy summary of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Use it to compare linkages.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D89907-8B02-A242-B842-C1365BD7D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0" y="2438400"/>
                <a:ext cx="5080000" cy="2154436"/>
              </a:xfrm>
              <a:prstGeom prst="rect">
                <a:avLst/>
              </a:prstGeom>
              <a:blipFill>
                <a:blip r:embed="rId3"/>
                <a:stretch>
                  <a:fillRect l="-748" t="-1176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00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2355-76C4-9AE1-DAB3-32C1BBD5A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DB6FB0-EFEB-7044-9972-5297745ADE5A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B7ABAF-6622-444E-9BA9-86DB463C26A6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79A1A5-21E6-B549-B4EB-6DB0AE5B3AE3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</a:rPr>
                  <a:t>Complete linkage.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Repeat the Example 1 distance matrix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333333"/>
                                </a:solidFill>
                              </a:rPr>
                              <m:t>A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333333"/>
                                </a:solidFill>
                              </a:rPr>
                              <m:t>B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=2, 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=6, 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D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=10, 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=5, 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D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=9, 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C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D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but use COMPLETE linkage. Give the merge order and heights.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79A1A5-21E6-B549-B4EB-6DB0AE5B3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61702" b="-10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487361D0-C8E8-FC46-A823-7A5560EDD89B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43ECF5B-316C-B944-AD47-F27BC4B6EBFE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17FE5E-6A0E-D84F-B4A8-4E5BF1E294E2}"/>
                  </a:ext>
                </a:extLst>
              </p:cNvPr>
              <p:cNvSpPr txBox="1"/>
              <p:nvPr/>
            </p:nvSpPr>
            <p:spPr>
              <a:xfrm>
                <a:off x="1854200" y="3822493"/>
                <a:ext cx="9296400" cy="6862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</a:rPr>
                  <a:t>Lance–Williams check.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Verify that the single-linkage update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AB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C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follows from the Lance–Williams formula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17FE5E-6A0E-D84F-B4A8-4E5BF1E29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22493"/>
                <a:ext cx="9296400" cy="686213"/>
              </a:xfrm>
              <a:prstGeom prst="rect">
                <a:avLst/>
              </a:prstGeom>
              <a:blipFill>
                <a:blip r:embed="rId3"/>
                <a:stretch>
                  <a:fillRect l="-273"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6454DB15-FFC6-0B46-B797-659D0B1E40ED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1E1A7C-8A80-C044-B1E5-FC8F264E83D7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433EA-EFDF-0E4E-A23B-4114A5C883AA}"/>
                  </a:ext>
                </a:extLst>
              </p:cNvPr>
              <p:cNvSpPr txBox="1"/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7AB648"/>
                    </a:solidFill>
                  </a:rPr>
                  <a:t>Cut the tree.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a dendrogram with merge heights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2,4,5,9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state how many clusters result from a horizontal cut at height 4.5 and at height 6.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433EA-EFDF-0E4E-A23B-4114A5C88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77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D26C-24F9-FA1A-2E05-E7BA506C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1: First Merge (Complete Linkage)</a:t>
            </a:r>
          </a:p>
        </p:txBody>
      </p:sp>
      <p:sp>
        <p:nvSpPr>
          <p:cNvPr id="201" name="Given"/>
          <p:cNvSpPr txBox="1"/>
          <p:nvPr/>
        </p:nvSpPr>
        <p:spPr>
          <a:xfrm>
            <a:off x="838200" y="1905000"/>
            <a:ext cx="10515600" cy="1092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Recall the distance matrix over A, B, C, D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d(A,B) = 2      d(A,C) = 6      d(A,D) = 10      d(B,C) = 5      d(B,D) = 9      d(C,D) =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Step 1"/>
              <p:cNvSpPr txBox="1"/>
              <p:nvPr/>
            </p:nvSpPr>
            <p:spPr>
              <a:xfrm>
                <a:off x="838200" y="32004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Find the smallest entry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Smallest distance = d(A,B) = 2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Merge {A, B} at height 2.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Same first merge as single linkage — the linkage rule only changes what happens next.</a:t>
                </a:r>
              </a:p>
            </p:txBody>
          </p:sp>
        </mc:Choice>
        <mc:Fallback>
          <p:sp>
            <p:nvSpPr>
              <p:cNvPr id="202" name="Step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004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Update"/>
              <p:cNvSpPr txBox="1"/>
              <p:nvPr/>
            </p:nvSpPr>
            <p:spPr>
              <a:xfrm>
                <a:off x="6273800" y="32004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Complete-linkage update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take the max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d(AB, C) = max(6, 5) = 6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d(AB, D) = max(10, 9) = 10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Complete linkage measures the farthest pair between clusters, so each update keeps the larger value.</a:t>
                </a:r>
              </a:p>
            </p:txBody>
          </p:sp>
        </mc:Choice>
        <mc:Fallback>
          <p:sp>
            <p:nvSpPr>
              <p:cNvPr id="203" name="Upd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2004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State"/>
          <p:cNvSpPr txBox="1"/>
          <p:nvPr/>
        </p:nvSpPr>
        <p:spPr>
          <a:xfrm>
            <a:off x="838200" y="5308600"/>
            <a:ext cx="10515600" cy="762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Active clusters: {A,B}, {C}, {D}   with   d(AB,C) = 6,   d(AB,D) = 10,   d(C,D) = 4</a:t>
            </a:r>
          </a:p>
        </p:txBody>
      </p:sp>
    </p:spTree>
    <p:extLst>
      <p:ext uri="{BB962C8B-B14F-4D97-AF65-F5344CB8AC3E}">
        <p14:creationId xmlns:p14="http://schemas.microsoft.com/office/powerpoint/2010/main" val="83175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F7C5D-E547-9CBD-6D5C-1BE06FBF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2: Second Merge</a:t>
            </a:r>
          </a:p>
        </p:txBody>
      </p:sp>
      <p:sp>
        <p:nvSpPr>
          <p:cNvPr id="201" name="Given"/>
          <p:cNvSpPr txBox="1"/>
          <p:nvPr/>
        </p:nvSpPr>
        <p:spPr>
          <a:xfrm>
            <a:off x="838200" y="1905000"/>
            <a:ext cx="10515600" cy="1092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Distances after the first merge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d(AB, C) = 6       d(AB, D) = 10       d(C, D) =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Step 2"/>
              <p:cNvSpPr txBox="1"/>
              <p:nvPr/>
            </p:nvSpPr>
            <p:spPr>
              <a:xfrm>
                <a:off x="838200" y="32004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Smallest remaining distance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Smallest distance = d(C, D) = 4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Merge {C, D} at height 4.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C and D are each other's nearest neighbours, so they join before anything reaches {A,B}.</a:t>
                </a:r>
              </a:p>
            </p:txBody>
          </p:sp>
        </mc:Choice>
        <mc:Fallback>
          <p:sp>
            <p:nvSpPr>
              <p:cNvPr id="202" name="Step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004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Update"/>
          <p:cNvSpPr txBox="1"/>
          <p:nvPr/>
        </p:nvSpPr>
        <p:spPr>
          <a:xfrm>
            <a:off x="6273800" y="3200400"/>
            <a:ext cx="5080000" cy="1905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Update with the max rule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d(AB, CD) = max(6, 10) = 10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The union {C,D} inherits the larger of d(AB,C) and d(AB,D) — that is the farthest-pair distance A–D = 10.</a:t>
            </a:r>
          </a:p>
        </p:txBody>
      </p:sp>
      <p:sp>
        <p:nvSpPr>
          <p:cNvPr id="204" name="State"/>
          <p:cNvSpPr txBox="1"/>
          <p:nvPr/>
        </p:nvSpPr>
        <p:spPr>
          <a:xfrm>
            <a:off x="838200" y="5308600"/>
            <a:ext cx="10515600" cy="762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Active clusters: {A,B}, {C,D}   with a single remaining distance   d(AB, CD) = 10</a:t>
            </a:r>
          </a:p>
        </p:txBody>
      </p:sp>
    </p:spTree>
    <p:extLst>
      <p:ext uri="{BB962C8B-B14F-4D97-AF65-F5344CB8AC3E}">
        <p14:creationId xmlns:p14="http://schemas.microsoft.com/office/powerpoint/2010/main" val="280760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BAF54-1D44-D563-66E1-BF07C604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3: Root Merge and Comparison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tep 3"/>
              <p:cNvSpPr txBox="1"/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Final merge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Only one distance is left: d(AB, CD)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10  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merge {A,B} with {C,D} at height 10 (root).</a:t>
                </a:r>
              </a:p>
            </p:txBody>
          </p:sp>
        </mc:Choice>
        <mc:Fallback>
          <p:sp>
            <p:nvSpPr>
              <p:cNvPr id="201" name="Step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Answer"/>
          <p:cNvSpPr txBox="1"/>
          <p:nvPr/>
        </p:nvSpPr>
        <p:spPr>
          <a:xfrm>
            <a:off x="838200" y="3251200"/>
            <a:ext cx="5080000" cy="19050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 — complete linkage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1.  {A, B} at height 2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2.  {C, D} at height 4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3.  root at height 10</a:t>
            </a:r>
          </a:p>
        </p:txBody>
      </p:sp>
      <p:sp>
        <p:nvSpPr>
          <p:cNvPr id="203" name="Compare"/>
          <p:cNvSpPr txBox="1"/>
          <p:nvPr/>
        </p:nvSpPr>
        <p:spPr>
          <a:xfrm>
            <a:off x="6273800" y="3251200"/>
            <a:ext cx="5080000" cy="1905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Compare with single linkage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Single:  2, 4, 5 (root)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Complete:  2, 4, 10 (root)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Same merge order, very different heights: single linkage uses the nearest pair (B–C = 5), complete linkage the farthest (A–D = 10).</a:t>
            </a:r>
          </a:p>
        </p:txBody>
      </p:sp>
      <p:sp>
        <p:nvSpPr>
          <p:cNvPr id="204" name="Takeaway"/>
          <p:cNvSpPr txBox="1"/>
          <p:nvPr/>
        </p:nvSpPr>
        <p:spPr>
          <a:xfrm>
            <a:off x="838200" y="5359400"/>
            <a:ext cx="10515600" cy="711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Complete linkage stretches the dendrogram upward — it resists chaining but splits elongated clusters.</a:t>
            </a:r>
          </a:p>
        </p:txBody>
      </p:sp>
    </p:spTree>
    <p:extLst>
      <p:ext uri="{BB962C8B-B14F-4D97-AF65-F5344CB8AC3E}">
        <p14:creationId xmlns:p14="http://schemas.microsoft.com/office/powerpoint/2010/main" val="336359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7AE9-1F9D-FBD5-E69C-87C35E0C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Step 1: The Lance–Williams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ask"/>
              <p:cNvSpPr txBox="1"/>
              <p:nvPr/>
            </p:nvSpPr>
            <p:spPr>
              <a:xfrm>
                <a:off x="838200" y="1905000"/>
                <a:ext cx="105156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Exercise E2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Show that the single-linkage update d(AB, C) = 5 follows from Lance–Williams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½,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0,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−½.</a:t>
                </a:r>
              </a:p>
            </p:txBody>
          </p:sp>
        </mc:Choice>
        <mc:Fallback>
          <p:sp>
            <p:nvSpPr>
              <p:cNvPr id="201" name="Task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Formula"/>
              <p:cNvSpPr txBox="1"/>
              <p:nvPr/>
            </p:nvSpPr>
            <p:spPr>
              <a:xfrm>
                <a:off x="838200" y="3200400"/>
                <a:ext cx="105156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 Lance–Williams recurrence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d(AB, 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d(A,C)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d(B,C)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d(A,B)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|d(A,C) − d(B,C)|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One recurrence covers every linkage — only the four coefficients change.</a:t>
                </a:r>
              </a:p>
            </p:txBody>
          </p:sp>
        </mc:Choice>
        <mc:Fallback>
          <p:sp>
            <p:nvSpPr>
              <p:cNvPr id="202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00400"/>
                <a:ext cx="105156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Why"/>
              <p:cNvSpPr txBox="1"/>
              <p:nvPr/>
            </p:nvSpPr>
            <p:spPr>
              <a:xfrm>
                <a:off x="838200" y="4800600"/>
                <a:ext cx="10515600" cy="1270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Why this coefficient set means "nearest pair"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½(x + y) − ½|x − y| = min(x, y)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½,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−½ the recurrence collapses to the minimum of the two distances — exactly the single-linkage rule.</a:t>
                </a:r>
              </a:p>
            </p:txBody>
          </p:sp>
        </mc:Choice>
        <mc:Fallback>
          <p:sp>
            <p:nvSpPr>
              <p:cNvPr id="203" name="Wh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00600"/>
                <a:ext cx="10515600" cy="1270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3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F86C-635D-6343-A2B0-B1AAF33D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Step 2: Substitute and Simplify</a:t>
            </a:r>
          </a:p>
        </p:txBody>
      </p:sp>
      <p:sp>
        <p:nvSpPr>
          <p:cNvPr id="201" name="Values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Values from the Example 1 matrix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d(A,C) = 6        d(B,C) = 5        d(A,B) =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Substitute"/>
              <p:cNvSpPr txBox="1"/>
              <p:nvPr/>
            </p:nvSpPr>
            <p:spPr>
              <a:xfrm>
                <a:off x="838200" y="3149600"/>
                <a:ext cx="5080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Substitute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d(AB,C) = ½(6) + ½(5) + 0(2) − ½|6 − 5|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Each coefficient is applied to its own distance; the last term uses the absolute difference.</a:t>
                </a:r>
              </a:p>
            </p:txBody>
          </p:sp>
        </mc:Choice>
        <mc:Fallback>
          <p:sp>
            <p:nvSpPr>
              <p:cNvPr id="202" name="Substitu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080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Simplify"/>
          <p:cNvSpPr txBox="1"/>
          <p:nvPr/>
        </p:nvSpPr>
        <p:spPr>
          <a:xfrm>
            <a:off x="6273800" y="3149600"/>
            <a:ext cx="5080000" cy="17780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Simplify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= 3 + 2.5 − 0.5 = 5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= min(6, 5) — the single-linkage update, verified.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Note"/>
              <p:cNvSpPr txBox="1"/>
              <p:nvPr/>
            </p:nvSpPr>
            <p:spPr>
              <a:xfrm>
                <a:off x="838200" y="5130800"/>
                <a:ext cx="10515600" cy="939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Flip one coefficient to change the linkage: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+½ gives complete linkage (max), and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/(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/(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give average linkage.</a:t>
                </a:r>
              </a:p>
            </p:txBody>
          </p:sp>
        </mc:Choice>
        <mc:Fallback>
          <p:sp>
            <p:nvSpPr>
              <p:cNvPr id="204" name="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30800"/>
                <a:ext cx="10515600" cy="939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95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3577-F9C6-78B2-3AC0-B723F3A1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1: How a Horizontal Cut Works</a:t>
            </a:r>
          </a:p>
        </p:txBody>
      </p:sp>
      <p:sp>
        <p:nvSpPr>
          <p:cNvPr id="201" name="Task"/>
          <p:cNvSpPr txBox="1"/>
          <p:nvPr/>
        </p:nvSpPr>
        <p:spPr>
          <a:xfrm>
            <a:off x="838200" y="1905000"/>
            <a:ext cx="10515600" cy="1092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Exercise E3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A dendrogram over 5 points has merge heights 2, 4, 5, 9. How many clusters does a horizontal cut give at height 4.5, and at 6?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Principle"/>
              <p:cNvSpPr txBox="1"/>
              <p:nvPr/>
            </p:nvSpPr>
            <p:spPr>
              <a:xfrm>
                <a:off x="838200" y="3200400"/>
                <a:ext cx="105156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What a horizontal cut does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 cut at height h accepts every merge whose height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rejects the rest.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accepted merge joins two groups, so it lowers the cluster count by exactly one.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clusters(h) = n − #{merges with height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h}</a:t>
                </a:r>
              </a:p>
            </p:txBody>
          </p:sp>
        </mc:Choice>
        <mc:Fallback>
          <p:sp>
            <p:nvSpPr>
              <p:cNvPr id="202" name="Princip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00400"/>
                <a:ext cx="105156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Sequence"/>
              <p:cNvSpPr txBox="1"/>
              <p:nvPr/>
            </p:nvSpPr>
            <p:spPr>
              <a:xfrm>
                <a:off x="838200" y="5308600"/>
                <a:ext cx="10515600" cy="762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With n = 5 leaves and 4 merges the count steps down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5 → 4 → 3 → 2 → 1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as h rises past 2, 4, 5 and 9.</a:t>
                </a:r>
              </a:p>
            </p:txBody>
          </p:sp>
        </mc:Choice>
        <mc:Fallback>
          <p:sp>
            <p:nvSpPr>
              <p:cNvPr id="203" name="Sequenc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08600"/>
                <a:ext cx="10515600" cy="762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20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738D-66E0-1E41-40AC-050BA9F1C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2: Cuts at Height 4.5 and 6</a:t>
            </a:r>
          </a:p>
        </p:txBody>
      </p:sp>
      <p:sp>
        <p:nvSpPr>
          <p:cNvPr id="201" name="Heights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Merge heights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2,  4,  5,  9        (n = 5 points, 4 merges)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Cut45"/>
              <p:cNvSpPr txBox="1"/>
              <p:nvPr/>
            </p:nvSpPr>
            <p:spPr>
              <a:xfrm>
                <a:off x="838200" y="3149600"/>
                <a:ext cx="5080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Cut at h = 4.5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Merges accepted: 2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4  →  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merges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clusters = 5 − 2 = 3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The merges at 5 and 9 sit above the cut and are ignored.</a:t>
                </a:r>
              </a:p>
            </p:txBody>
          </p:sp>
        </mc:Choice>
        <mc:Fallback>
          <p:sp>
            <p:nvSpPr>
              <p:cNvPr id="202" name="Cut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080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Cut6"/>
              <p:cNvSpPr txBox="1"/>
              <p:nvPr/>
            </p:nvSpPr>
            <p:spPr>
              <a:xfrm>
                <a:off x="6273800" y="3149600"/>
                <a:ext cx="5080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Cut at h = 6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Merges accepted: 2, 4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5  →  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merges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clusters = 5 − 3 = 2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Only the root merge at 9 remains above the line.</a:t>
                </a:r>
              </a:p>
            </p:txBody>
          </p:sp>
        </mc:Choice>
        <mc:Fallback>
          <p:sp>
            <p:nvSpPr>
              <p:cNvPr id="203" name="Cut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49600"/>
                <a:ext cx="5080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Reading"/>
          <p:cNvSpPr txBox="1"/>
          <p:nvPr/>
        </p:nvSpPr>
        <p:spPr>
          <a:xfrm>
            <a:off x="838200" y="5130800"/>
            <a:ext cx="10515600" cy="9398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Answer:  3 clusters at h = 4.5,  2 clusters at h = 6.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FFFFFF"/>
                </a:solidFill>
              </a:rPr>
              <a:t>The wide gap between 5 and 9 is the tallest jump in the tree — that is the cut most people would defend.</a:t>
            </a:r>
          </a:p>
        </p:txBody>
      </p:sp>
    </p:spTree>
    <p:extLst>
      <p:ext uri="{BB962C8B-B14F-4D97-AF65-F5344CB8AC3E}">
        <p14:creationId xmlns:p14="http://schemas.microsoft.com/office/powerpoint/2010/main" val="80035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A115-0320-03DA-BD64-8F8FF92E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End-to-End Example: Five Points and the Data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Points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Five points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= (0, 0)      B = (2, 0)      C = (6, 0)      D = (6, 3)      E = (0, 5)</a:t>
                </a:r>
              </a:p>
            </p:txBody>
          </p:sp>
        </mc:Choice>
        <mc:Fallback>
          <p:sp>
            <p:nvSpPr>
              <p:cNvPr id="201" name="Poin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ataMatrix"/>
              <p:cNvSpPr txBox="1"/>
              <p:nvPr/>
            </p:nvSpPr>
            <p:spPr>
              <a:xfrm>
                <a:off x="838200" y="3149600"/>
                <a:ext cx="5080000" cy="2692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Stack the observations as rows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Rows are the points A to E, columns are the coordinates — X is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5 × 2.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202" name="Data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080000" cy="2692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Plan"/>
              <p:cNvSpPr txBox="1"/>
              <p:nvPr/>
            </p:nvSpPr>
            <p:spPr>
              <a:xfrm>
                <a:off x="6273800" y="3149600"/>
                <a:ext cx="5080000" cy="2692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route we will follow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one matrix product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− 2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Entrywise square roots give D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Single-linkage merges, then the dendrogram</a:t>
                </a:r>
              </a:p>
            </p:txBody>
          </p:sp>
        </mc:Choice>
        <mc:Fallback>
          <p:sp>
            <p:nvSpPr>
              <p:cNvPr id="203" name="Pla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49600"/>
                <a:ext cx="5080000" cy="2692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10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3869163-84E7-822C-35E0-B9F07D5105D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Step 1: Gram Matrix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3869163-84E7-822C-35E0-B9F07D510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Idea"/>
              <p:cNvSpPr txBox="1"/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One product gives every inner product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X is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5 × 2,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hence G is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5 × 5.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Ide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G"/>
              <p:cNvSpPr txBox="1"/>
              <p:nvPr/>
            </p:nvSpPr>
            <p:spPr>
              <a:xfrm>
                <a:off x="8382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 Gram matrix (order A, B, C, D, E)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3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sz="13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2" name="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Diag"/>
              <p:cNvSpPr txBox="1"/>
              <p:nvPr/>
            </p:nvSpPr>
            <p:spPr>
              <a:xfrm>
                <a:off x="62738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Read the diagonal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g = diag(G) = (0, 4, 36, 45, 25)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These are the squared norms of each point. Check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45.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Off-diagonal example: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6·6 + 0·3 = 36,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2·0 + 0·5 = 0.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203" name="Dia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3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5E50-64C9-43F3-2901-7B16E1AA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2: Squared Distances by the Gram Trick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rick"/>
              <p:cNvSpPr txBox="1"/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Gram trick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− 2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  (matrix form: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+ 1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2G, with g = diag(G))</a:t>
                </a:r>
              </a:p>
            </p:txBody>
          </p:sp>
        </mc:Choice>
        <mc:Fallback>
          <p:sp>
            <p:nvSpPr>
              <p:cNvPr id="201" name="Trick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2"/>
              <p:cNvSpPr txBox="1"/>
              <p:nvPr/>
            </p:nvSpPr>
            <p:spPr>
              <a:xfrm>
                <a:off x="8382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Squared distances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² = </m:t>
                    </m:r>
                    <m:d>
                      <m:dPr>
                        <m:begChr m:val="["/>
                        <m:endChr m:val="]"/>
                        <m:ctrlPr>
                          <a:rPr lang="en-US" sz="13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sz="13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2" name="D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Check"/>
              <p:cNvSpPr txBox="1"/>
              <p:nvPr/>
            </p:nvSpPr>
            <p:spPr>
              <a:xfrm>
                <a:off x="62738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Spot-check two entries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 4 + 45 −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2(12) = 25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 36 + 25 −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2(0) = 61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Symmetric with a zero diagonal, and still no square roots — everything so far is one product plus additions.</a:t>
                </a:r>
              </a:p>
            </p:txBody>
          </p:sp>
        </mc:Choice>
        <mc:Fallback>
          <p:sp>
            <p:nvSpPr>
              <p:cNvPr id="203" name="Check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45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B6A0-DC25-1D7B-6489-B5C3A095C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3: The Euclidean Distance Matrix 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Roots"/>
              <p:cNvSpPr txBox="1"/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Take entrywise square roots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the square root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values below are rounded to two decimals.</a:t>
                </a:r>
              </a:p>
            </p:txBody>
          </p:sp>
        </mc:Choice>
        <mc:Fallback>
          <p:sp>
            <p:nvSpPr>
              <p:cNvPr id="201" name="Roo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"/>
              <p:cNvSpPr txBox="1"/>
              <p:nvPr/>
            </p:nvSpPr>
            <p:spPr>
              <a:xfrm>
                <a:off x="8382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Euclidean distance matrix (A, B, C, D, E)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3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sz="13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6.71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5.39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7.81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6.71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6.32</m:t>
                              </m:r>
                            </m:e>
                          </m:mr>
                          <m:mr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5.39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7.81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6.32</m:t>
                              </m:r>
                            </m:e>
                            <m:e>
                              <m:r>
                                <a:rPr lang="en-US" sz="13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2" name="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Ranks"/>
              <p:cNvSpPr txBox="1"/>
              <p:nvPr/>
            </p:nvSpPr>
            <p:spPr>
              <a:xfrm>
                <a:off x="62738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What single linkage will use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Three smallest pairs: d(A,B) = 2, d(C,D) = 3, d(B,C) = 4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Only the ordering of distances matters, so rounding never changes the tree.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Exact values: d(A,D)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</m:rad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d(B,E)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rad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d(C,E)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e>
                    </m:rad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d(D,E)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203" name="Rank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2743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6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FD70-38C2-F0C7-0E8F-E970CC74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4: Merge 1 — Nearest Pair at Height 2</a:t>
            </a:r>
          </a:p>
        </p:txBody>
      </p:sp>
      <p:sp>
        <p:nvSpPr>
          <p:cNvPr id="201" name="Scan"/>
          <p:cNvSpPr txBox="1"/>
          <p:nvPr/>
        </p:nvSpPr>
        <p:spPr>
          <a:xfrm>
            <a:off x="838200" y="1905000"/>
            <a:ext cx="10515600" cy="1066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Scan D for the smallest off-diagonal entry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d(A,B) = 2  is the minimum (next smallest are d(C,D) = 3 and d(B,C) = 4).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Merge"/>
              <p:cNvSpPr txBox="1"/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Merge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height 2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Join {A} and {B} at height 2.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A = (0,0) and B = (2,0) are the closest pair in the plane.</a:t>
                </a:r>
              </a:p>
            </p:txBody>
          </p:sp>
        </mc:Choice>
        <mc:Fallback>
          <p:sp>
            <p:nvSpPr>
              <p:cNvPr id="202" name="Merg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Update"/>
              <p:cNvSpPr txBox="1"/>
              <p:nvPr/>
            </p:nvSpPr>
            <p:spPr>
              <a:xfrm>
                <a:off x="62738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Single-linkage update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take the min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d(AB, C) = min(6, 4) = 4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d(AB, D) = min(6.71, 5) = 5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d(AB, E) = min(5, 5.39) = 5</a:t>
                </a:r>
              </a:p>
            </p:txBody>
          </p:sp>
        </mc:Choice>
        <mc:Fallback>
          <p:sp>
            <p:nvSpPr>
              <p:cNvPr id="203" name="Upd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State"/>
          <p:cNvSpPr txBox="1"/>
          <p:nvPr/>
        </p:nvSpPr>
        <p:spPr>
          <a:xfrm>
            <a:off x="838200" y="52832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Active clusters: {A,B}, {C}, {D}, {E}   —   four clusters, three merges to go.</a:t>
            </a:r>
          </a:p>
        </p:txBody>
      </p:sp>
    </p:spTree>
    <p:extLst>
      <p:ext uri="{BB962C8B-B14F-4D97-AF65-F5344CB8AC3E}">
        <p14:creationId xmlns:p14="http://schemas.microsoft.com/office/powerpoint/2010/main" val="138895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EFC8-C3CB-EB32-D144-337D2D9F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Merge 2 — Height 3</a:t>
            </a:r>
          </a:p>
        </p:txBody>
      </p:sp>
      <p:sp>
        <p:nvSpPr>
          <p:cNvPr id="201" name="Current"/>
          <p:cNvSpPr txBox="1"/>
          <p:nvPr/>
        </p:nvSpPr>
        <p:spPr>
          <a:xfrm>
            <a:off x="838200" y="1905000"/>
            <a:ext cx="10515600" cy="1066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Distances after merge 1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d(AB,C) = 4    d(AB,D) = 5    d(AB,E) = 5    d(C,D) = 3    d(C,E) = 7.81    d(D,E) = 6.32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Merge"/>
              <p:cNvSpPr txBox="1"/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Merge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height 3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Smallest is d(C,D)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3 →</m:t>
                    </m:r>
                  </m:oMath>
                </a14:m>
                <a:r>
                  <a:rPr lang="en-US" sz="1600" b="1" dirty="0">
                    <a:solidFill>
                      <a:srgbClr val="333333"/>
                    </a:solidFill>
                  </a:rPr>
                  <a:t> join {C} and {D}.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C = (6,0) and D = (6,3) sit three units apart on the same vertical line.</a:t>
                </a:r>
              </a:p>
            </p:txBody>
          </p:sp>
        </mc:Choice>
        <mc:Fallback>
          <p:sp>
            <p:nvSpPr>
              <p:cNvPr id="202" name="Merg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Update"/>
          <p:cNvSpPr txBox="1"/>
          <p:nvPr/>
        </p:nvSpPr>
        <p:spPr>
          <a:xfrm>
            <a:off x="6273800" y="3175000"/>
            <a:ext cx="5080000" cy="1905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Update the merged row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d(CD, AB) = min(4, 5) = 4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d(CD, E) = min(7.81, 6.32) = 6.32</a:t>
            </a:r>
          </a:p>
        </p:txBody>
      </p:sp>
      <p:sp>
        <p:nvSpPr>
          <p:cNvPr id="204" name="State"/>
          <p:cNvSpPr txBox="1"/>
          <p:nvPr/>
        </p:nvSpPr>
        <p:spPr>
          <a:xfrm>
            <a:off x="838200" y="52832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Active clusters: {A,B}, {C,D}, {E}   —   three clusters left.</a:t>
            </a:r>
          </a:p>
        </p:txBody>
      </p:sp>
    </p:spTree>
    <p:extLst>
      <p:ext uri="{BB962C8B-B14F-4D97-AF65-F5344CB8AC3E}">
        <p14:creationId xmlns:p14="http://schemas.microsoft.com/office/powerpoint/2010/main" val="181633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99E0-3FC6-EF38-D5DF-D851D638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6: Merge 3 — Height 4</a:t>
            </a:r>
          </a:p>
        </p:txBody>
      </p:sp>
      <p:sp>
        <p:nvSpPr>
          <p:cNvPr id="201" name="Current"/>
          <p:cNvSpPr txBox="1"/>
          <p:nvPr/>
        </p:nvSpPr>
        <p:spPr>
          <a:xfrm>
            <a:off x="838200" y="1905000"/>
            <a:ext cx="10515600" cy="1066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Distances after merge 2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d(AB, CD) = 4        d(AB, E) = 5        d(CD, E) = 6.32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Merge"/>
              <p:cNvSpPr txBox="1"/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Merge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height 4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Smallest is d(AB, CD)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4 →</m:t>
                    </m:r>
                  </m:oMath>
                </a14:m>
                <a:r>
                  <a:rPr lang="en-US" sz="1600" b="1" dirty="0">
                    <a:solidFill>
                      <a:srgbClr val="333333"/>
                    </a:solidFill>
                  </a:rPr>
                  <a:t> join {A,B} with {C,D}.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That 4 is the original distance B–C: single linkage always merges at a distance that exists in D.</a:t>
                </a:r>
              </a:p>
            </p:txBody>
          </p:sp>
        </mc:Choice>
        <mc:Fallback>
          <p:sp>
            <p:nvSpPr>
              <p:cNvPr id="202" name="Merg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Update"/>
          <p:cNvSpPr txBox="1"/>
          <p:nvPr/>
        </p:nvSpPr>
        <p:spPr>
          <a:xfrm>
            <a:off x="6273800" y="3175000"/>
            <a:ext cx="5080000" cy="1905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Update against the last singleton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d(ABCD, E) = min(5, 6.32) = 5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E keeps the smaller of its two links, which is d(A,E) = 5.</a:t>
            </a:r>
          </a:p>
        </p:txBody>
      </p:sp>
      <p:sp>
        <p:nvSpPr>
          <p:cNvPr id="204" name="State"/>
          <p:cNvSpPr txBox="1"/>
          <p:nvPr/>
        </p:nvSpPr>
        <p:spPr>
          <a:xfrm>
            <a:off x="838200" y="52832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Active clusters: {A,B,C,D}, {E}   —   one merge left.</a:t>
            </a:r>
          </a:p>
        </p:txBody>
      </p:sp>
    </p:spTree>
    <p:extLst>
      <p:ext uri="{BB962C8B-B14F-4D97-AF65-F5344CB8AC3E}">
        <p14:creationId xmlns:p14="http://schemas.microsoft.com/office/powerpoint/2010/main" val="327743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31EB-8689-A697-819A-A666B807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7: Merge 4 — Root at Height 5</a:t>
            </a:r>
          </a:p>
        </p:txBody>
      </p:sp>
      <p:sp>
        <p:nvSpPr>
          <p:cNvPr id="201" name="Last"/>
          <p:cNvSpPr txBox="1"/>
          <p:nvPr/>
        </p:nvSpPr>
        <p:spPr>
          <a:xfrm>
            <a:off x="838200" y="1905000"/>
            <a:ext cx="10515600" cy="1066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One distance remains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d(ABCD, E) =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Merge"/>
              <p:cNvSpPr txBox="1"/>
              <p:nvPr/>
            </p:nvSpPr>
            <p:spPr>
              <a:xfrm>
                <a:off x="8382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Merge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height 5 (root)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E joins the rest at height 5 — the hierarchy is complete.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Four merges for five points, exactly as expected.</a:t>
                </a:r>
              </a:p>
            </p:txBody>
          </p:sp>
        </mc:Choice>
        <mc:Fallback>
          <p:sp>
            <p:nvSpPr>
              <p:cNvPr id="202" name="Merg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Summary"/>
          <p:cNvSpPr txBox="1"/>
          <p:nvPr/>
        </p:nvSpPr>
        <p:spPr>
          <a:xfrm>
            <a:off x="6273800" y="3175000"/>
            <a:ext cx="5080000" cy="20320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Merge order and heights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1.  {A,B} at 2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2.  {C,D} at 3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3.  {A,B} + {C,D} at 4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4.  root with E at 5</a:t>
            </a:r>
          </a:p>
        </p:txBody>
      </p:sp>
      <p:sp>
        <p:nvSpPr>
          <p:cNvPr id="204" name="Note"/>
          <p:cNvSpPr txBox="1"/>
          <p:nvPr/>
        </p:nvSpPr>
        <p:spPr>
          <a:xfrm>
            <a:off x="838200" y="54102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Every height is an original entry of D: 2 = d(A,B), 3 = d(C,D), 4 = d(B,C), 5 = d(A,E) — a property unique to single linkage.</a:t>
            </a:r>
          </a:p>
        </p:txBody>
      </p:sp>
    </p:spTree>
    <p:extLst>
      <p:ext uri="{BB962C8B-B14F-4D97-AF65-F5344CB8AC3E}">
        <p14:creationId xmlns:p14="http://schemas.microsoft.com/office/powerpoint/2010/main" val="283469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71CB4-1B47-DFD8-7DF2-03ECA1C24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8: Sketching the Dendrogram</a:t>
            </a:r>
          </a:p>
        </p:txBody>
      </p:sp>
      <p:sp>
        <p:nvSpPr>
          <p:cNvPr id="201" name="Caption"/>
          <p:cNvSpPr txBox="1"/>
          <p:nvPr/>
        </p:nvSpPr>
        <p:spPr>
          <a:xfrm>
            <a:off x="838200" y="18034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68580" rIns="128520" bIns="68580" anchor="ctr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Single-linkage dendrogram — merge heights 2, 3, 4, 5</a:t>
            </a:r>
          </a:p>
        </p:txBody>
      </p:sp>
      <p:cxnSp>
        <p:nvCxnSpPr>
          <p:cNvPr id="210" name="L210"/>
          <p:cNvCxnSpPr/>
          <p:nvPr/>
        </p:nvCxnSpPr>
        <p:spPr>
          <a:xfrm flipV="1">
            <a:off x="1905000" y="2819400"/>
            <a:ext cx="0" cy="2921000"/>
          </a:xfrm>
          <a:prstGeom prst="line">
            <a:avLst/>
          </a:prstGeom>
          <a:ln w="12700" cap="rnd">
            <a:solidFill>
              <a:srgbClr val="595959"/>
            </a:solidFill>
          </a:ln>
        </p:spPr>
      </p:cxnSp>
      <p:cxnSp>
        <p:nvCxnSpPr>
          <p:cNvPr id="211" name="L211"/>
          <p:cNvCxnSpPr/>
          <p:nvPr/>
        </p:nvCxnSpPr>
        <p:spPr>
          <a:xfrm>
            <a:off x="1905000" y="5740400"/>
            <a:ext cx="6019800" cy="0"/>
          </a:xfrm>
          <a:prstGeom prst="line">
            <a:avLst/>
          </a:prstGeom>
          <a:ln w="12700" cap="rnd">
            <a:solidFill>
              <a:srgbClr val="595959"/>
            </a:solidFill>
          </a:ln>
        </p:spPr>
      </p:cxnSp>
      <p:sp>
        <p:nvSpPr>
          <p:cNvPr id="220" name="T220"/>
          <p:cNvSpPr txBox="1"/>
          <p:nvPr/>
        </p:nvSpPr>
        <p:spPr>
          <a:xfrm>
            <a:off x="1371600" y="4457700"/>
            <a:ext cx="4318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1371600" y="3898900"/>
            <a:ext cx="4318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595959"/>
                </a:solidFill>
              </a:rPr>
              <a:t>3</a:t>
            </a:r>
          </a:p>
        </p:txBody>
      </p:sp>
      <p:sp>
        <p:nvSpPr>
          <p:cNvPr id="222" name="T222"/>
          <p:cNvSpPr txBox="1"/>
          <p:nvPr/>
        </p:nvSpPr>
        <p:spPr>
          <a:xfrm>
            <a:off x="1371600" y="3340100"/>
            <a:ext cx="4318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1371600" y="2781300"/>
            <a:ext cx="4318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595959"/>
                </a:solidFill>
              </a:rPr>
              <a:t>5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2311400" y="5816600"/>
            <a:ext cx="4572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33333"/>
                </a:solidFill>
              </a:rPr>
              <a:t>A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3200400" y="5816600"/>
            <a:ext cx="4572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33333"/>
                </a:solidFill>
              </a:rPr>
              <a:t>B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4470400" y="5816600"/>
            <a:ext cx="4572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33333"/>
                </a:solidFill>
              </a:rPr>
              <a:t>C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5359400" y="5816600"/>
            <a:ext cx="4572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33333"/>
                </a:solidFill>
              </a:rPr>
              <a:t>D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6883400" y="5816600"/>
            <a:ext cx="4572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33333"/>
                </a:solidFill>
              </a:rPr>
              <a:t>E</a:t>
            </a:r>
          </a:p>
        </p:txBody>
      </p:sp>
      <p:grpSp>
        <p:nvGrpSpPr>
          <p:cNvPr id="301" name="Merge 1"/>
          <p:cNvGrpSpPr/>
          <p:nvPr/>
        </p:nvGrpSpPr>
        <p:grpSpPr>
          <a:xfrm>
            <a:off x="2540000" y="4597400"/>
            <a:ext cx="889000" cy="1117600"/>
            <a:chOff x="2540000" y="4597400"/>
            <a:chExt cx="889000" cy="1117600"/>
          </a:xfrm>
        </p:grpSpPr>
        <p:cxnSp>
          <p:nvCxnSpPr>
            <p:cNvPr id="311" name="L311"/>
            <p:cNvCxnSpPr/>
            <p:nvPr/>
          </p:nvCxnSpPr>
          <p:spPr>
            <a:xfrm flipV="1">
              <a:off x="2540000" y="4597400"/>
              <a:ext cx="0" cy="11176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12" name="L312"/>
            <p:cNvCxnSpPr/>
            <p:nvPr/>
          </p:nvCxnSpPr>
          <p:spPr>
            <a:xfrm flipV="1">
              <a:off x="3429000" y="4597400"/>
              <a:ext cx="0" cy="11176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13" name="L313"/>
            <p:cNvCxnSpPr/>
            <p:nvPr/>
          </p:nvCxnSpPr>
          <p:spPr>
            <a:xfrm>
              <a:off x="2540000" y="4597400"/>
              <a:ext cx="889000" cy="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</p:grpSp>
      <p:grpSp>
        <p:nvGrpSpPr>
          <p:cNvPr id="302" name="Merge 2"/>
          <p:cNvGrpSpPr/>
          <p:nvPr/>
        </p:nvGrpSpPr>
        <p:grpSpPr>
          <a:xfrm>
            <a:off x="4699000" y="4038600"/>
            <a:ext cx="889000" cy="1676400"/>
            <a:chOff x="4699000" y="4038600"/>
            <a:chExt cx="889000" cy="1676400"/>
          </a:xfrm>
        </p:grpSpPr>
        <p:cxnSp>
          <p:nvCxnSpPr>
            <p:cNvPr id="321" name="L321"/>
            <p:cNvCxnSpPr/>
            <p:nvPr/>
          </p:nvCxnSpPr>
          <p:spPr>
            <a:xfrm flipV="1">
              <a:off x="4699000" y="4038600"/>
              <a:ext cx="0" cy="16764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22" name="L322"/>
            <p:cNvCxnSpPr/>
            <p:nvPr/>
          </p:nvCxnSpPr>
          <p:spPr>
            <a:xfrm flipV="1">
              <a:off x="5588000" y="4038600"/>
              <a:ext cx="0" cy="16764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23" name="L323"/>
            <p:cNvCxnSpPr/>
            <p:nvPr/>
          </p:nvCxnSpPr>
          <p:spPr>
            <a:xfrm>
              <a:off x="4699000" y="4038600"/>
              <a:ext cx="889000" cy="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</p:grpSp>
      <p:grpSp>
        <p:nvGrpSpPr>
          <p:cNvPr id="303" name="Merge 3"/>
          <p:cNvGrpSpPr/>
          <p:nvPr/>
        </p:nvGrpSpPr>
        <p:grpSpPr>
          <a:xfrm>
            <a:off x="2984500" y="3479800"/>
            <a:ext cx="2159000" cy="1117600"/>
            <a:chOff x="2984500" y="3479800"/>
            <a:chExt cx="2159000" cy="1117600"/>
          </a:xfrm>
        </p:grpSpPr>
        <p:cxnSp>
          <p:nvCxnSpPr>
            <p:cNvPr id="331" name="L331"/>
            <p:cNvCxnSpPr/>
            <p:nvPr/>
          </p:nvCxnSpPr>
          <p:spPr>
            <a:xfrm flipV="1">
              <a:off x="2984500" y="3479800"/>
              <a:ext cx="0" cy="11176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32" name="L332"/>
            <p:cNvCxnSpPr/>
            <p:nvPr/>
          </p:nvCxnSpPr>
          <p:spPr>
            <a:xfrm flipV="1">
              <a:off x="5143500" y="3479800"/>
              <a:ext cx="0" cy="5588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33" name="L333"/>
            <p:cNvCxnSpPr/>
            <p:nvPr/>
          </p:nvCxnSpPr>
          <p:spPr>
            <a:xfrm>
              <a:off x="2984500" y="3479800"/>
              <a:ext cx="2159000" cy="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</p:grpSp>
      <p:grpSp>
        <p:nvGrpSpPr>
          <p:cNvPr id="304" name="Merge 4"/>
          <p:cNvGrpSpPr/>
          <p:nvPr/>
        </p:nvGrpSpPr>
        <p:grpSpPr>
          <a:xfrm>
            <a:off x="4064000" y="2921000"/>
            <a:ext cx="3048000" cy="2794000"/>
            <a:chOff x="4064000" y="2921000"/>
            <a:chExt cx="3048000" cy="2794000"/>
          </a:xfrm>
        </p:grpSpPr>
        <p:cxnSp>
          <p:nvCxnSpPr>
            <p:cNvPr id="341" name="L341"/>
            <p:cNvCxnSpPr/>
            <p:nvPr/>
          </p:nvCxnSpPr>
          <p:spPr>
            <a:xfrm flipV="1">
              <a:off x="4064000" y="2921000"/>
              <a:ext cx="0" cy="5588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42" name="L342"/>
            <p:cNvCxnSpPr/>
            <p:nvPr/>
          </p:nvCxnSpPr>
          <p:spPr>
            <a:xfrm flipV="1">
              <a:off x="7112000" y="2921000"/>
              <a:ext cx="0" cy="279400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  <p:cxnSp>
          <p:nvCxnSpPr>
            <p:cNvPr id="343" name="L343"/>
            <p:cNvCxnSpPr/>
            <p:nvPr/>
          </p:nvCxnSpPr>
          <p:spPr>
            <a:xfrm>
              <a:off x="4064000" y="2921000"/>
              <a:ext cx="3048000" cy="0"/>
            </a:xfrm>
            <a:prstGeom prst="line">
              <a:avLst/>
            </a:prstGeom>
            <a:ln w="31750" cap="rnd">
              <a:solidFill>
                <a:srgbClr val="4B2E83"/>
              </a:solidFill>
            </a:ln>
          </p:spPr>
        </p:cxnSp>
      </p:grpSp>
      <p:cxnSp>
        <p:nvCxnSpPr>
          <p:cNvPr id="305" name="L305"/>
          <p:cNvCxnSpPr/>
          <p:nvPr/>
        </p:nvCxnSpPr>
        <p:spPr>
          <a:xfrm>
            <a:off x="1905000" y="3200400"/>
            <a:ext cx="6019800" cy="0"/>
          </a:xfrm>
          <a:prstGeom prst="line">
            <a:avLst/>
          </a:prstGeom>
          <a:ln w="25400" cap="rnd">
            <a:solidFill>
              <a:srgbClr val="D1578A"/>
            </a:solidFill>
            <a:prstDash val="dash"/>
          </a:ln>
        </p:spPr>
      </p:cxnSp>
      <p:sp>
        <p:nvSpPr>
          <p:cNvPr id="306" name="Cut"/>
          <p:cNvSpPr txBox="1"/>
          <p:nvPr/>
        </p:nvSpPr>
        <p:spPr>
          <a:xfrm>
            <a:off x="8382000" y="3327400"/>
            <a:ext cx="2971800" cy="23876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14300" tIns="82296" rIns="114300" bIns="82296" anchor="ctr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Cut at height 4.5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dirty="0">
                <a:solidFill>
                  <a:srgbClr val="FFFFFF"/>
                </a:solidFill>
              </a:rPr>
              <a:t>Three merges sit below the line, so 5 − 3 = 2 clusters: {A,B,C,D} and {E}.</a:t>
            </a:r>
          </a:p>
        </p:txBody>
      </p:sp>
    </p:spTree>
    <p:extLst>
      <p:ext uri="{BB962C8B-B14F-4D97-AF65-F5344CB8AC3E}">
        <p14:creationId xmlns:p14="http://schemas.microsoft.com/office/powerpoint/2010/main" val="202579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D863B1-FBDC-8F43-B169-7EB57ACE65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64898-82EC-6F45-B6F7-480A704A9AE0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05ED6-7F17-6847-84A7-308A8A7B8429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5A944-9668-8140-8B69-6AA5D64EC515}"/>
              </a:ext>
            </a:extLst>
          </p:cNvPr>
          <p:cNvSpPr txBox="1"/>
          <p:nvPr/>
        </p:nvSpPr>
        <p:spPr>
          <a:xfrm>
            <a:off x="787400" y="2857500"/>
            <a:ext cx="965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DBSCAN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7F67A-8DFC-0B40-8A0A-3EE21ACE927B}"/>
              </a:ext>
            </a:extLst>
          </p:cNvPr>
          <p:cNvSpPr txBox="1"/>
          <p:nvPr/>
        </p:nvSpPr>
        <p:spPr>
          <a:xfrm>
            <a:off x="838200" y="4191000"/>
            <a:ext cx="965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5F0EB"/>
                </a:solidFill>
                <a:latin typeface="Calibri"/>
                <a:cs typeface="Calibri"/>
              </a:rPr>
              <a:t>Density-Based Spatial Clustering of Applications with Noise</a:t>
            </a:r>
          </a:p>
        </p:txBody>
      </p:sp>
    </p:spTree>
    <p:extLst>
      <p:ext uri="{BB962C8B-B14F-4D97-AF65-F5344CB8AC3E}">
        <p14:creationId xmlns:p14="http://schemas.microsoft.com/office/powerpoint/2010/main" val="33343572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DB79-19A3-3014-2CD3-FD140E46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the Notation: Neighbourhoods and Core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Formula"/>
              <p:cNvSpPr txBox="1"/>
              <p:nvPr/>
            </p:nvSpPr>
            <p:spPr>
              <a:xfrm>
                <a:off x="838200" y="1879600"/>
                <a:ext cx="10515600" cy="838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{ </a:t>
                </a:r>
                <a:r>
                  <a:rPr lang="en-US" sz="1600" b="1" dirty="0">
                    <a:solidFill>
                      <a:srgbClr val="333333"/>
                    </a:solidFill>
                  </a:rPr>
                  <a:t>x</a:t>
                </a:r>
                <a:r>
                  <a:rPr lang="en-US" sz="1600" dirty="0">
                    <a:solidFill>
                      <a:srgbClr val="333333"/>
                    </a:solidFill>
                  </a:rPr>
                  <a:t>′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: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1600" b="1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}              x is core ⇔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≥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MinPts</a:t>
                </a:r>
              </a:p>
            </p:txBody>
          </p:sp>
        </mc:Choice>
        <mc:Fallback>
          <p:sp>
            <p:nvSpPr>
              <p:cNvPr id="201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838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Neigh"/>
              <p:cNvSpPr txBox="1"/>
              <p:nvPr/>
            </p:nvSpPr>
            <p:spPr>
              <a:xfrm>
                <a:off x="838200" y="2844800"/>
                <a:ext cx="5080000" cy="2489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Piece by piece: the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500" i="0">
                        <a:solidFill>
                          <a:srgbClr val="4B2E83"/>
                        </a:solidFill>
                      </a:rPr>
                      <m:t>neighbourhood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  <a:p>
                <a:pPr marL="228600" indent="-228600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read "the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neighbourhood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</a:t>
                </a:r>
                <a:r>
                  <a:rPr lang="en-US" sz="1600" b="1" dirty="0">
                    <a:solidFill>
                      <a:srgbClr val="333333"/>
                    </a:solidFill>
                  </a:rPr>
                  <a:t>x</a:t>
                </a:r>
                <a:r>
                  <a:rPr lang="en-US" sz="1600" dirty="0">
                    <a:solidFill>
                      <a:srgbClr val="333333"/>
                    </a:solidFill>
                  </a:rPr>
                  <a:t>" — the points near </a:t>
                </a:r>
                <a:r>
                  <a:rPr lang="en-US" sz="1600" b="1" dirty="0">
                    <a:solidFill>
                      <a:srgbClr val="333333"/>
                    </a:solidFill>
                  </a:rPr>
                  <a:t>x</a:t>
                </a:r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{ </a:t>
                </a:r>
                <a:r>
                  <a:rPr lang="en-US" sz="1600" b="1" dirty="0">
                    <a:solidFill>
                      <a:srgbClr val="333333"/>
                    </a:solidFill>
                  </a:rPr>
                  <a:t>x</a:t>
                </a:r>
                <a:r>
                  <a:rPr lang="en-US" sz="1600" dirty="0">
                    <a:solidFill>
                      <a:srgbClr val="333333"/>
                    </a:solidFill>
                  </a:rPr>
                  <a:t>′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: … } means "all points </a:t>
                </a:r>
                <a:r>
                  <a:rPr lang="en-US" sz="1600" b="1" dirty="0">
                    <a:solidFill>
                      <a:srgbClr val="333333"/>
                    </a:solidFill>
                  </a:rPr>
                  <a:t>x</a:t>
                </a:r>
                <a:r>
                  <a:rPr lang="en-US" sz="1600" dirty="0">
                    <a:solidFill>
                      <a:srgbClr val="333333"/>
                    </a:solidFill>
                  </a:rPr>
                  <a:t>′ in the data set X for which …".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1600" b="1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means "the distance from </a:t>
                </a:r>
                <a:r>
                  <a:rPr lang="en-US" sz="1600" b="1" dirty="0">
                    <a:solidFill>
                      <a:srgbClr val="333333"/>
                    </a:solidFill>
                  </a:rPr>
                  <a:t>x</a:t>
                </a:r>
                <a:r>
                  <a:rPr lang="en-US" sz="1600" dirty="0">
                    <a:solidFill>
                      <a:srgbClr val="333333"/>
                    </a:solidFill>
                  </a:rPr>
                  <a:t> to </a:t>
                </a:r>
                <a:r>
                  <a:rPr lang="en-US" sz="1600" b="1" dirty="0">
                    <a:solidFill>
                      <a:srgbClr val="333333"/>
                    </a:solidFill>
                  </a:rPr>
                  <a:t>x</a:t>
                </a:r>
                <a:r>
                  <a:rPr lang="en-US" sz="1600" dirty="0">
                    <a:solidFill>
                      <a:srgbClr val="333333"/>
                    </a:solidFill>
                  </a:rPr>
                  <a:t>′ is no more than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".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2" name="Neig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44800"/>
                <a:ext cx="5080000" cy="2489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ore"/>
          <p:cNvSpPr txBox="1"/>
          <p:nvPr/>
        </p:nvSpPr>
        <p:spPr>
          <a:xfrm>
            <a:off x="6273800" y="2844800"/>
            <a:ext cx="5080000" cy="2489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Piece by piece: the core condition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bars |…| count how many points are in the set — a count, not a distance.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⇔ means "exactly when": this is the definition of a core point.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 x is core when its circle holds at least MinPts points.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Plain"/>
              <p:cNvSpPr txBox="1"/>
              <p:nvPr/>
            </p:nvSpPr>
            <p:spPr>
              <a:xfrm>
                <a:off x="838200" y="5486400"/>
                <a:ext cx="10515600" cy="7874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In plain English: draw a circle of radius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around x. If it contains at least MinPts points — counting x itself — then x sits in a dense region and is called a core point.</a:t>
                </a:r>
              </a:p>
            </p:txBody>
          </p:sp>
        </mc:Choice>
        <mc:Fallback>
          <p:sp>
            <p:nvSpPr>
              <p:cNvPr id="204" name="Plai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6400"/>
                <a:ext cx="10515600" cy="787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7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6C33-A717-7A73-4E59-6C9F1EDE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DBSCAN Algorithm, Step by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Params"/>
              <p:cNvSpPr txBox="1"/>
              <p:nvPr/>
            </p:nvSpPr>
            <p:spPr>
              <a:xfrm>
                <a:off x="838200" y="1879600"/>
                <a:ext cx="10515600" cy="838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Two inputs, and no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the radius that defines "nearby".   MinPts — how many neighbours make a neighbourhood dense.</a:t>
                </a:r>
              </a:p>
            </p:txBody>
          </p:sp>
        </mc:Choice>
        <mc:Fallback>
          <p:sp>
            <p:nvSpPr>
              <p:cNvPr id="201" name="Param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838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Steps"/>
              <p:cNvSpPr txBox="1"/>
              <p:nvPr/>
            </p:nvSpPr>
            <p:spPr>
              <a:xfrm>
                <a:off x="838200" y="2844800"/>
                <a:ext cx="5969000" cy="3327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algorithm</a:t>
                </a:r>
              </a:p>
              <a:p>
                <a:pPr marL="228600" indent="-228600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For every point x, count the points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it — that count is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Mark x as core if the count reaches MinPts.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Join two core points into the same cluster whenever one lies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the other.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4 ·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Attach each non-core point that sits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a core to that core's cluster — these are border points.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5 ·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Anything still unattached is labelled noise.</a:t>
                </a:r>
              </a:p>
            </p:txBody>
          </p:sp>
        </mc:Choice>
        <mc:Fallback>
          <p:sp>
            <p:nvSpPr>
              <p:cNvPr id="202" name="Step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44800"/>
                <a:ext cx="5969000" cy="3327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Why"/>
          <p:cNvSpPr txBox="1"/>
          <p:nvPr/>
        </p:nvSpPr>
        <p:spPr>
          <a:xfrm>
            <a:off x="7112000" y="2844800"/>
            <a:ext cx="4241800" cy="231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What this buys you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number of clusters is discovered, not chosen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Clusters may be any shape — density, not distance to a centre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Outliers are an output, not a nuisance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Cost"/>
              <p:cNvSpPr txBox="1"/>
              <p:nvPr/>
            </p:nvSpPr>
            <p:spPr>
              <a:xfrm>
                <a:off x="7112000" y="5308600"/>
                <a:ext cx="4241800" cy="863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Cost: one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400" i="0">
                        <a:solidFill>
                          <a:srgbClr val="595959"/>
                        </a:solidFill>
                      </a:rPr>
                      <m:t>range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query per point — about O(n log n) with a spatial index,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without.</a:t>
                </a:r>
              </a:p>
            </p:txBody>
          </p:sp>
        </mc:Choice>
        <mc:Fallback>
          <p:sp>
            <p:nvSpPr>
              <p:cNvPr id="204" name="Cos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5308600"/>
                <a:ext cx="4241800" cy="863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66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BDD4-E90A-14D1-6D20-3C94647C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Density: Core, Border &amp; Noise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852290-B772-0740-AD35-47AC2CB6A77F}"/>
              </a:ext>
            </a:extLst>
          </p:cNvPr>
          <p:cNvSpPr/>
          <p:nvPr/>
        </p:nvSpPr>
        <p:spPr>
          <a:xfrm>
            <a:off x="838200" y="1879600"/>
            <a:ext cx="10515600" cy="7112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9462-0E6C-DA42-AD9C-2670998132D8}"/>
                  </a:ext>
                </a:extLst>
              </p:cNvPr>
              <p:cNvSpPr txBox="1"/>
              <p:nvPr/>
            </p:nvSpPr>
            <p:spPr>
              <a:xfrm>
                <a:off x="1016000" y="2058228"/>
                <a:ext cx="10160000" cy="3539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′∈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1700" dirty="0">
                    <a:solidFill>
                      <a:srgbClr val="FFFFFF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FFFF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FFFFFF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FFFF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FFFFFF"/>
                        </a:solidFill>
                      </a:rPr>
                      <m:t>core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FFFFFF"/>
                        </a:solidFill>
                      </a:rPr>
                      <m:t> </m:t>
                    </m:r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FFFFFF"/>
                        </a:solidFill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d>
                          <m:dPr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1700" i="0">
                        <a:solidFill>
                          <a:srgbClr val="FFFFFF"/>
                        </a:solidFill>
                      </a:rPr>
                      <m:t>MinPts</m:t>
                    </m:r>
                  </m:oMath>
                </a14:m>
                <a:endParaRPr lang="en-US" sz="17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9462-0E6C-DA42-AD9C-267099813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058228"/>
                <a:ext cx="10160000" cy="353943"/>
              </a:xfrm>
              <a:prstGeom prst="rect">
                <a:avLst/>
              </a:prstGeom>
              <a:blipFill>
                <a:blip r:embed="rId2"/>
                <a:stretch>
                  <a:fillRect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0633A1-7D81-434B-B605-2DE0E7C19F3D}"/>
              </a:ext>
            </a:extLst>
          </p:cNvPr>
          <p:cNvSpPr/>
          <p:nvPr/>
        </p:nvSpPr>
        <p:spPr>
          <a:xfrm>
            <a:off x="8382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8E4ED-8D30-E244-964D-1F36521E3905}"/>
              </a:ext>
            </a:extLst>
          </p:cNvPr>
          <p:cNvSpPr/>
          <p:nvPr/>
        </p:nvSpPr>
        <p:spPr>
          <a:xfrm>
            <a:off x="838200" y="2717800"/>
            <a:ext cx="3378200" cy="4826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Core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CCAE0-2A5D-1B4E-AAC8-C032B00F0787}"/>
                  </a:ext>
                </a:extLst>
              </p:cNvPr>
              <p:cNvSpPr txBox="1"/>
              <p:nvPr/>
            </p:nvSpPr>
            <p:spPr>
              <a:xfrm>
                <a:off x="1016000" y="3327400"/>
                <a:ext cx="3022600" cy="11233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Has at least MinPts points (including itself) within distance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Cores seed and grow clusters.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CCAE0-2A5D-1B4E-AAC8-C032B00F0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327400"/>
                <a:ext cx="3022600" cy="1123384"/>
              </a:xfrm>
              <a:prstGeom prst="rect">
                <a:avLst/>
              </a:prstGeom>
              <a:blipFill>
                <a:blip r:embed="rId3"/>
                <a:stretch>
                  <a:fillRect l="-1255" r="-1674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FFAE5B-7D9F-5044-8B93-4451AFF13A73}"/>
              </a:ext>
            </a:extLst>
          </p:cNvPr>
          <p:cNvSpPr/>
          <p:nvPr/>
        </p:nvSpPr>
        <p:spPr>
          <a:xfrm>
            <a:off x="44069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AA772-E109-5A44-8928-658EF275BE8F}"/>
              </a:ext>
            </a:extLst>
          </p:cNvPr>
          <p:cNvSpPr/>
          <p:nvPr/>
        </p:nvSpPr>
        <p:spPr>
          <a:xfrm>
            <a:off x="4406900" y="2717800"/>
            <a:ext cx="3378200" cy="482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Border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480AA-723B-044B-BF39-E50040843639}"/>
                  </a:ext>
                </a:extLst>
              </p:cNvPr>
              <p:cNvSpPr txBox="1"/>
              <p:nvPr/>
            </p:nvSpPr>
            <p:spPr>
              <a:xfrm>
                <a:off x="4584700" y="3327400"/>
                <a:ext cx="3022600" cy="140038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Not dense itself, but lies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a core point. Joins that core's cluster on the edge.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480AA-723B-044B-BF39-E5004084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00" y="3327400"/>
                <a:ext cx="3022600" cy="1400383"/>
              </a:xfrm>
              <a:prstGeom prst="rect">
                <a:avLst/>
              </a:prstGeom>
              <a:blipFill>
                <a:blip r:embed="rId4"/>
                <a:stretch>
                  <a:fillRect l="-833"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BF74B1-FA99-3B49-889E-E84BCCED993E}"/>
              </a:ext>
            </a:extLst>
          </p:cNvPr>
          <p:cNvSpPr/>
          <p:nvPr/>
        </p:nvSpPr>
        <p:spPr>
          <a:xfrm>
            <a:off x="79756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DEC48E-C9C8-2D48-9E3E-50A8564FF30F}"/>
              </a:ext>
            </a:extLst>
          </p:cNvPr>
          <p:cNvSpPr/>
          <p:nvPr/>
        </p:nvSpPr>
        <p:spPr>
          <a:xfrm>
            <a:off x="7975600" y="2717800"/>
            <a:ext cx="3378200" cy="482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Noise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F443D7-993C-3C45-B5DE-643F7EC31F73}"/>
                  </a:ext>
                </a:extLst>
              </p:cNvPr>
              <p:cNvSpPr txBox="1"/>
              <p:nvPr/>
            </p:nvSpPr>
            <p:spPr>
              <a:xfrm>
                <a:off x="8153400" y="3327400"/>
                <a:ext cx="3022600" cy="140038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∄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within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Neither core nor reachable from any core. Labelled noise / outlier — left unclustered.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F443D7-993C-3C45-B5DE-643F7EC31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3327400"/>
                <a:ext cx="3022600" cy="1400383"/>
              </a:xfrm>
              <a:prstGeom prst="rect">
                <a:avLst/>
              </a:prstGeom>
              <a:blipFill>
                <a:blip r:embed="rId5"/>
                <a:stretch>
                  <a:fillRect l="-1261"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3163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1D3E-0603-CA1E-2375-E7B01476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DBSCAN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791E18-782F-A34C-A903-451AD18076E9}"/>
                  </a:ext>
                </a:extLst>
              </p:cNvPr>
              <p:cNvSpPr txBox="1"/>
              <p:nvPr/>
            </p:nvSpPr>
            <p:spPr>
              <a:xfrm>
                <a:off x="669587" y="1762372"/>
                <a:ext cx="5588000" cy="4154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342900" indent="-342900">
                  <a:buFont typeface="Arial"/>
                  <a:buAutoNum type="arabicPeriod"/>
                </a:pPr>
                <a:r>
                  <a:rPr lang="en-US" sz="2400" dirty="0">
                    <a:solidFill>
                      <a:srgbClr val="333333"/>
                    </a:solidFill>
                  </a:rPr>
                  <a:t>Pick an unvisited point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;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2400" dirty="0">
                    <a:solidFill>
                      <a:srgbClr val="333333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2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sz="2400" i="0">
                        <a:solidFill>
                          <a:srgbClr val="333333"/>
                        </a:solidFill>
                      </a:rPr>
                      <m:t>MinPts</m:t>
                    </m:r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, mark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 noise (may be reclaimed later).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2400" dirty="0">
                    <a:solidFill>
                      <a:srgbClr val="333333"/>
                    </a:solidFill>
                  </a:rPr>
                  <a:t>Else start a new cluster; add all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 to a queue.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2400" dirty="0">
                    <a:solidFill>
                      <a:srgbClr val="333333"/>
                    </a:solidFill>
                  </a:rPr>
                  <a:t>Pop each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 from queue: if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 is core,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333333"/>
                    </a:solidFill>
                  </a:rPr>
                  <a:t> to the queue.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2400" dirty="0">
                    <a:solidFill>
                      <a:srgbClr val="333333"/>
                    </a:solidFill>
                  </a:rPr>
                  <a:t>Repeat until queue empties — the cluster is fully expanded.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2400" dirty="0">
                    <a:solidFill>
                      <a:srgbClr val="333333"/>
                    </a:solidFill>
                  </a:rPr>
                  <a:t>Continue until every point is visited.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791E18-782F-A34C-A903-451AD1807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87" y="1762372"/>
                <a:ext cx="5588000" cy="4154984"/>
              </a:xfrm>
              <a:prstGeom prst="rect">
                <a:avLst/>
              </a:prstGeom>
              <a:blipFill>
                <a:blip r:embed="rId2"/>
                <a:stretch>
                  <a:fillRect l="-1587" t="-1216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5507B3-221A-CE4B-BD06-CD57E80ED421}"/>
              </a:ext>
            </a:extLst>
          </p:cNvPr>
          <p:cNvSpPr/>
          <p:nvPr/>
        </p:nvSpPr>
        <p:spPr>
          <a:xfrm>
            <a:off x="6502400" y="2032000"/>
            <a:ext cx="4851400" cy="406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E5E35A-BEAE-284A-969F-D86E2AE0B399}"/>
              </a:ext>
            </a:extLst>
          </p:cNvPr>
          <p:cNvSpPr/>
          <p:nvPr/>
        </p:nvSpPr>
        <p:spPr>
          <a:xfrm>
            <a:off x="6502400" y="2032000"/>
            <a:ext cx="4851400" cy="4572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Reachability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FFF07B-C71E-8540-AE51-9FFB24A34EAB}"/>
                  </a:ext>
                </a:extLst>
              </p:cNvPr>
              <p:cNvSpPr txBox="1"/>
              <p:nvPr/>
            </p:nvSpPr>
            <p:spPr>
              <a:xfrm>
                <a:off x="6705600" y="2616200"/>
                <a:ext cx="4470400" cy="207749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Directly density-reachable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if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Density-reachable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chain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→…→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step directly reachable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Density-connected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and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basis of a DBSCAN cluster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FFF07B-C71E-8540-AE51-9FFB24A34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616200"/>
                <a:ext cx="4470400" cy="2077492"/>
              </a:xfrm>
              <a:prstGeom prst="rect">
                <a:avLst/>
              </a:prstGeom>
              <a:blipFill>
                <a:blip r:embed="rId3"/>
                <a:stretch>
                  <a:fillRect l="-852" t="-606" b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1273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29D1-E873-A8CB-6059-3E20E9A4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Point Classification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9FCC75-8881-3B45-8B74-C0989CC0C5DB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E081BE-FA23-0441-97FE-99917F3F737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93899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Setup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rgbClr val="333333"/>
                          </a:solidFill>
                        </a:rPr>
                        <m:t>A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rgbClr val="333333"/>
                          </a:solidFill>
                        </a:rPr>
                        <m:t>B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rgbClr val="333333"/>
                          </a:solidFill>
                        </a:rPr>
                        <m:t>C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rgbClr val="333333"/>
                          </a:solidFill>
                        </a:rPr>
                        <m:t>D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8,8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rgbClr val="333333"/>
                          </a:solidFill>
                        </a:rPr>
                        <m:t>E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8,9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rgbClr val="333333"/>
                          </a:solidFill>
                        </a:rPr>
                        <m:t>F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25,25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:endParaRPr lang="en-US" sz="300" dirty="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Parameters: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MinPts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 dirty="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L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norm, classify every point as core, border, or noise.</a:t>
                </a:r>
              </a:p>
              <a:p>
                <a:pPr algn="l">
                  <a:spcBef>
                    <a:spcPts val="600"/>
                  </a:spcBef>
                  <a:buNone/>
                </a:pPr>
                <a:r>
                  <a:rPr lang="en-US" sz="1500" i="1" dirty="0">
                    <a:solidFill>
                      <a:srgbClr val="595959"/>
                    </a:solidFill>
                  </a:rPr>
                  <a:t>The next five slides work through the solution one step at a time.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E081BE-FA23-0441-97FE-99917F3F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938992"/>
              </a:xfrm>
              <a:prstGeom prst="rect">
                <a:avLst/>
              </a:prstGeom>
              <a:blipFill>
                <a:blip r:embed="rId2"/>
                <a:stretch>
                  <a:fillRect l="-730" t="-1307" b="-2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PlotFrame"/>
          <p:cNvSpPr/>
          <p:nvPr/>
        </p:nvSpPr>
        <p:spPr>
          <a:xfrm>
            <a:off x="6210300" y="2235200"/>
            <a:ext cx="5143500" cy="3886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1" name="T321"/>
          <p:cNvSpPr txBox="1"/>
          <p:nvPr/>
        </p:nvSpPr>
        <p:spPr>
          <a:xfrm>
            <a:off x="6413500" y="2413000"/>
            <a:ext cx="3302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</a:rPr>
              <a:t>The six points, drawn to scale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6413500" y="2692400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95959"/>
                </a:solidFill>
              </a:rPr>
              <a:t>dashed circle = radius ε around A</a:t>
            </a:r>
          </a:p>
        </p:txBody>
      </p:sp>
      <p:cxnSp>
        <p:nvCxnSpPr>
          <p:cNvPr id="325" name="L325"/>
          <p:cNvCxnSpPr/>
          <p:nvPr/>
        </p:nvCxnSpPr>
        <p:spPr>
          <a:xfrm>
            <a:off x="7391400" y="3048000"/>
            <a:ext cx="0" cy="276860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6" name="L326"/>
          <p:cNvCxnSpPr/>
          <p:nvPr/>
        </p:nvCxnSpPr>
        <p:spPr>
          <a:xfrm>
            <a:off x="7213600" y="5816600"/>
            <a:ext cx="3022600" cy="0"/>
          </a:xfrm>
          <a:prstGeom prst="line">
            <a:avLst/>
          </a:prstGeom>
          <a:ln w="12700">
            <a:solidFill>
              <a:srgbClr val="595959"/>
            </a:solidFill>
          </a:ln>
        </p:spPr>
      </p:cxnSp>
      <p:cxnSp>
        <p:nvCxnSpPr>
          <p:cNvPr id="327" name="L327"/>
          <p:cNvCxnSpPr/>
          <p:nvPr/>
        </p:nvCxnSpPr>
        <p:spPr>
          <a:xfrm>
            <a:off x="8496300" y="5816600"/>
            <a:ext cx="0" cy="88900"/>
          </a:xfrm>
          <a:prstGeom prst="line">
            <a:avLst/>
          </a:prstGeom>
          <a:ln w="15875">
            <a:solidFill>
              <a:srgbClr val="595959"/>
            </a:solidFill>
          </a:ln>
        </p:spPr>
      </p:cxnSp>
      <p:cxnSp>
        <p:nvCxnSpPr>
          <p:cNvPr id="328" name="L328"/>
          <p:cNvCxnSpPr/>
          <p:nvPr/>
        </p:nvCxnSpPr>
        <p:spPr>
          <a:xfrm>
            <a:off x="9410700" y="5816600"/>
            <a:ext cx="0" cy="88900"/>
          </a:xfrm>
          <a:prstGeom prst="line">
            <a:avLst/>
          </a:prstGeom>
          <a:ln w="15875">
            <a:solidFill>
              <a:srgbClr val="595959"/>
            </a:solidFill>
          </a:ln>
        </p:spPr>
      </p:cxnSp>
      <p:cxnSp>
        <p:nvCxnSpPr>
          <p:cNvPr id="329" name="L329"/>
          <p:cNvCxnSpPr/>
          <p:nvPr/>
        </p:nvCxnSpPr>
        <p:spPr>
          <a:xfrm>
            <a:off x="7302500" y="4622800"/>
            <a:ext cx="88900" cy="0"/>
          </a:xfrm>
          <a:prstGeom prst="line">
            <a:avLst/>
          </a:prstGeom>
          <a:ln w="15875">
            <a:solidFill>
              <a:srgbClr val="595959"/>
            </a:solidFill>
          </a:ln>
        </p:spPr>
      </p:cxnSp>
      <p:cxnSp>
        <p:nvCxnSpPr>
          <p:cNvPr id="330" name="L330"/>
          <p:cNvCxnSpPr/>
          <p:nvPr/>
        </p:nvCxnSpPr>
        <p:spPr>
          <a:xfrm>
            <a:off x="7302500" y="3708400"/>
            <a:ext cx="88900" cy="0"/>
          </a:xfrm>
          <a:prstGeom prst="line">
            <a:avLst/>
          </a:prstGeom>
          <a:ln w="15875">
            <a:solidFill>
              <a:srgbClr val="595959"/>
            </a:solidFill>
          </a:ln>
        </p:spPr>
      </p:cxnSp>
      <p:sp>
        <p:nvSpPr>
          <p:cNvPr id="331" name="T331"/>
          <p:cNvSpPr txBox="1"/>
          <p:nvPr/>
        </p:nvSpPr>
        <p:spPr>
          <a:xfrm>
            <a:off x="8331200" y="5930900"/>
            <a:ext cx="33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9245600" y="5930900"/>
            <a:ext cx="33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20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6908800" y="4508500"/>
            <a:ext cx="33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334" name="T334"/>
          <p:cNvSpPr txBox="1"/>
          <p:nvPr/>
        </p:nvSpPr>
        <p:spPr>
          <a:xfrm>
            <a:off x="6908800" y="3594100"/>
            <a:ext cx="330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lang="en-US" sz="1400" dirty="0">
                <a:solidFill>
                  <a:srgbClr val="595959"/>
                </a:solidFill>
              </a:rPr>
              <a:t>20</a:t>
            </a:r>
          </a:p>
        </p:txBody>
      </p:sp>
      <p:sp>
        <p:nvSpPr>
          <p:cNvPr id="335" name="Eps"/>
          <p:cNvSpPr/>
          <p:nvPr/>
        </p:nvSpPr>
        <p:spPr>
          <a:xfrm>
            <a:off x="7490460" y="5262880"/>
            <a:ext cx="365760" cy="365760"/>
          </a:xfrm>
          <a:prstGeom prst="ellipse">
            <a:avLst/>
          </a:prstGeom>
          <a:noFill/>
          <a:ln w="12700">
            <a:solidFill>
              <a:srgbClr val="C0397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40" name="P340"/>
          <p:cNvSpPr/>
          <p:nvPr/>
        </p:nvSpPr>
        <p:spPr>
          <a:xfrm>
            <a:off x="7632700" y="5405120"/>
            <a:ext cx="81280" cy="8128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1" name="P341"/>
          <p:cNvSpPr/>
          <p:nvPr/>
        </p:nvSpPr>
        <p:spPr>
          <a:xfrm>
            <a:off x="7632700" y="5313680"/>
            <a:ext cx="81280" cy="8128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P342"/>
          <p:cNvSpPr/>
          <p:nvPr/>
        </p:nvSpPr>
        <p:spPr>
          <a:xfrm>
            <a:off x="7724140" y="5405120"/>
            <a:ext cx="81280" cy="8128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3" name="P343"/>
          <p:cNvSpPr/>
          <p:nvPr/>
        </p:nvSpPr>
        <p:spPr>
          <a:xfrm>
            <a:off x="8272780" y="4765040"/>
            <a:ext cx="81280" cy="8128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4" name="P344"/>
          <p:cNvSpPr/>
          <p:nvPr/>
        </p:nvSpPr>
        <p:spPr>
          <a:xfrm>
            <a:off x="8272780" y="4673600"/>
            <a:ext cx="81280" cy="8128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5" name="P345"/>
          <p:cNvSpPr/>
          <p:nvPr/>
        </p:nvSpPr>
        <p:spPr>
          <a:xfrm>
            <a:off x="9827260" y="3210560"/>
            <a:ext cx="81280" cy="8128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0" name="T350"/>
          <p:cNvSpPr txBox="1"/>
          <p:nvPr/>
        </p:nvSpPr>
        <p:spPr>
          <a:xfrm>
            <a:off x="7967980" y="5201920"/>
            <a:ext cx="838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</a:rPr>
              <a:t>A, B, C</a:t>
            </a:r>
          </a:p>
        </p:txBody>
      </p:sp>
      <p:sp>
        <p:nvSpPr>
          <p:cNvPr id="351" name="T351"/>
          <p:cNvSpPr txBox="1"/>
          <p:nvPr/>
        </p:nvSpPr>
        <p:spPr>
          <a:xfrm>
            <a:off x="8465820" y="4645660"/>
            <a:ext cx="5588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595959"/>
                </a:solidFill>
              </a:rPr>
              <a:t>D, E</a:t>
            </a:r>
          </a:p>
        </p:txBody>
      </p:sp>
      <p:sp>
        <p:nvSpPr>
          <p:cNvPr id="352" name="T352"/>
          <p:cNvSpPr txBox="1"/>
          <p:nvPr/>
        </p:nvSpPr>
        <p:spPr>
          <a:xfrm>
            <a:off x="9512300" y="3213100"/>
            <a:ext cx="254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595959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000981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0B99-1240-DE20-669B-8A805E1D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— Step 1: Neighbourhoods of A, B and 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Recap"/>
              <p:cNvSpPr txBox="1"/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Setup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X = {A(1,1), B(1,2), C(2,1), D(8,8), E(8,9), F(25,25)}    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MinPts = 3</a:t>
                </a:r>
              </a:p>
            </p:txBody>
          </p:sp>
        </mc:Choice>
        <mc:Fallback>
          <p:sp>
            <p:nvSpPr>
              <p:cNvPr id="201" name="Reca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ists"/>
              <p:cNvSpPr txBox="1"/>
              <p:nvPr/>
            </p:nvSpPr>
            <p:spPr>
              <a:xfrm>
                <a:off x="838200" y="3175000"/>
                <a:ext cx="5080000" cy="2540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Distances inside the tight group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d(A,B) = 1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d(A,C) = 1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d(B,C)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1.41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All three are below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2,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so each point falls inside the others' circles.</a:t>
                </a:r>
              </a:p>
            </p:txBody>
          </p:sp>
        </mc:Choice>
        <mc:Fallback>
          <p:sp>
            <p:nvSpPr>
              <p:cNvPr id="202" name="Dis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2540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Neigh"/>
              <p:cNvSpPr txBox="1"/>
              <p:nvPr/>
            </p:nvSpPr>
            <p:spPr>
              <a:xfrm>
                <a:off x="6273800" y="3175000"/>
                <a:ext cx="5080000" cy="2540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resulting neighbourhoods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{A, B, C}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{A, B, C}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{A, B, C}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Each set has 3 members — the point itself always counts.</a:t>
                </a:r>
              </a:p>
            </p:txBody>
          </p:sp>
        </mc:Choice>
        <mc:Fallback>
          <p:sp>
            <p:nvSpPr>
              <p:cNvPr id="203" name="Neig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2540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62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44ED-7E43-B522-2859-80DA87A7D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— Step 2: A, B and C are Core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Test"/>
              <p:cNvSpPr txBox="1"/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Apply the core test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 ≥ 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holds for A, B and C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A, B and C are all CORE points.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The test is "at least MinPts", so hitting the threshold exactly is enough.</a:t>
                </a:r>
              </a:p>
            </p:txBody>
          </p:sp>
        </mc:Choice>
        <mc:Fallback>
          <p:sp>
            <p:nvSpPr>
              <p:cNvPr id="202" name="Tes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Cluster"/>
              <p:cNvSpPr txBox="1"/>
              <p:nvPr/>
            </p:nvSpPr>
            <p:spPr>
              <a:xfrm>
                <a:off x="62738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Cores within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of each other merge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A, B and C are mutually inside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They form one cluster: Cluster 1 = {A, B, C}</a:t>
                </a:r>
              </a:p>
            </p:txBody>
          </p:sp>
        </mc:Choice>
        <mc:Fallback>
          <p:sp>
            <p:nvSpPr>
              <p:cNvPr id="203" name="Clust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State"/>
          <p:cNvSpPr txBox="1"/>
          <p:nvPr/>
        </p:nvSpPr>
        <p:spPr>
          <a:xfrm>
            <a:off x="838200" y="52832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Still to classify: D, E and F.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Counts"/>
              <p:cNvSpPr txBox="1"/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Counts from Step 1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=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=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= 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      MinPts = 3</a:t>
                </a:r>
              </a:p>
            </p:txBody>
          </p:sp>
        </mc:Choice>
        <mc:Fallback>
          <p:sp>
            <p:nvSpPr>
              <p:cNvPr id="201" name="Coun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02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4954-1A9B-B8CB-9AFE-0ABA203E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— Step 3: Are D and E Dense Enough?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Pair"/>
              <p:cNvSpPr txBox="1"/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Turn to D(8,8) and E(8,9)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d(D,E) = 1, comfortably inside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so they do see each other.</a:t>
                </a:r>
              </a:p>
            </p:txBody>
          </p:sp>
        </mc:Choice>
        <mc:Fallback>
          <p:sp>
            <p:nvSpPr>
              <p:cNvPr id="201" name="Pai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Neigh"/>
              <p:cNvSpPr txBox="1"/>
              <p:nvPr/>
            </p:nvSpPr>
            <p:spPr>
              <a:xfrm>
                <a:off x="8382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Their neighbourhoods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{D, E}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{D, E}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2 &lt; 3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MinPts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Neither D nor E is a core point.</a:t>
                </a:r>
              </a:p>
            </p:txBody>
          </p:sp>
        </mc:Choice>
        <mc:Fallback>
          <p:sp>
            <p:nvSpPr>
              <p:cNvPr id="202" name="Neig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Border"/>
              <p:cNvSpPr txBox="1"/>
              <p:nvPr/>
            </p:nvSpPr>
            <p:spPr>
              <a:xfrm>
                <a:off x="62738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Could they be border points?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Nearest core is C: d(C,D)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e>
                    </m:ra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9.22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Far beyond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so no core reaches them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D and E are NOISE.</a:t>
                </a:r>
              </a:p>
            </p:txBody>
          </p:sp>
        </mc:Choice>
        <mc:Fallback>
          <p:sp>
            <p:nvSpPr>
              <p:cNvPr id="203" name="Bord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Lesson"/>
          <p:cNvSpPr txBox="1"/>
          <p:nvPr/>
        </p:nvSpPr>
        <p:spPr>
          <a:xfrm>
            <a:off x="838200" y="54102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Being close to one other point is not enough: DBSCAN asks for MinPts neighbours, or a core within reach.</a:t>
            </a:r>
          </a:p>
        </p:txBody>
      </p:sp>
    </p:spTree>
    <p:extLst>
      <p:ext uri="{BB962C8B-B14F-4D97-AF65-F5344CB8AC3E}">
        <p14:creationId xmlns:p14="http://schemas.microsoft.com/office/powerpoint/2010/main" val="51437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C674-A86E-DE7D-1F4E-5FD06F91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— Step 4: F, an Isolated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F"/>
              <p:cNvSpPr txBox="1"/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Finally F(25,25)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333333"/>
                    </a:solidFill>
                  </a:rPr>
                  <a:t>Its closest neighbour is E: d(E,F)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23.35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nothing else is anywhere near.</a:t>
                </a:r>
              </a:p>
            </p:txBody>
          </p:sp>
        </mc:Choice>
        <mc:Fallback>
          <p:sp>
            <p:nvSpPr>
              <p:cNvPr id="201" name="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Neigh"/>
              <p:cNvSpPr txBox="1"/>
              <p:nvPr/>
            </p:nvSpPr>
            <p:spPr>
              <a:xfrm>
                <a:off x="8382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4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Its neighbourhood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{F}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= 1 &lt; 3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MinPts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F is not a core point.</a:t>
                </a:r>
              </a:p>
            </p:txBody>
          </p:sp>
        </mc:Choice>
        <mc:Fallback>
          <p:sp>
            <p:nvSpPr>
              <p:cNvPr id="202" name="Neig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Label"/>
              <p:cNvSpPr txBox="1"/>
              <p:nvPr/>
            </p:nvSpPr>
            <p:spPr>
              <a:xfrm>
                <a:off x="62738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And no core is within reach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Every other point is more than 23 away, versus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F is NOISE — a genuine outlier.</a:t>
                </a:r>
              </a:p>
            </p:txBody>
          </p:sp>
        </mc:Choice>
        <mc:Fallback>
          <p:sp>
            <p:nvSpPr>
              <p:cNvPr id="203" name="Labe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75000"/>
                <a:ext cx="5080000" cy="2032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Note"/>
          <p:cNvSpPr txBox="1"/>
          <p:nvPr/>
        </p:nvSpPr>
        <p:spPr>
          <a:xfrm>
            <a:off x="838200" y="5410200"/>
            <a:ext cx="10515600" cy="787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This is the case DBSCAN handles better than k-means: F is reported as noise instead of being forced into a cluster.</a:t>
            </a:r>
          </a:p>
        </p:txBody>
      </p:sp>
    </p:spTree>
    <p:extLst>
      <p:ext uri="{BB962C8B-B14F-4D97-AF65-F5344CB8AC3E}">
        <p14:creationId xmlns:p14="http://schemas.microsoft.com/office/powerpoint/2010/main" val="109121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9541-0549-462E-56D0-030C3FD5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— Step 5: Final Labelling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able"/>
              <p:cNvSpPr txBox="1"/>
              <p:nvPr/>
            </p:nvSpPr>
            <p:spPr>
              <a:xfrm>
                <a:off x="838200" y="1905000"/>
                <a:ext cx="105156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Every point, with its verdict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3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CORE    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3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CORE    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3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CORE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2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NOISE    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2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NOISE    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1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NOISE</a:t>
                </a:r>
              </a:p>
            </p:txBody>
          </p:sp>
        </mc:Choice>
        <mc:Fallback>
          <p:sp>
            <p:nvSpPr>
              <p:cNvPr id="201" name="Tab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Result"/>
              <p:cNvSpPr txBox="1"/>
              <p:nvPr/>
            </p:nvSpPr>
            <p:spPr>
              <a:xfrm>
                <a:off x="838200" y="3505200"/>
                <a:ext cx="5080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5 ·</m:t>
                    </m:r>
                  </m:oMath>
                </a14:m>
                <a:r>
                  <a:rPr lang="en-US" sz="1500" b="1" dirty="0">
                    <a:solidFill>
                      <a:srgbClr val="FFFFFF"/>
                    </a:solidFill>
                  </a:rPr>
                  <a:t> Final answer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Cluster 1 = {A, B, C}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Noise = {D, E, F}</a:t>
                </a:r>
              </a:p>
            </p:txBody>
          </p:sp>
        </mc:Choice>
        <mc:Fallback>
          <p:sp>
            <p:nvSpPr>
              <p:cNvPr id="202" name="Resul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05200"/>
                <a:ext cx="5080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Why"/>
              <p:cNvSpPr txBox="1"/>
              <p:nvPr/>
            </p:nvSpPr>
            <p:spPr>
              <a:xfrm>
                <a:off x="6273800" y="3505200"/>
                <a:ext cx="5080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Why only one cluster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MinPts = 3, only the A–B–C corner is dense enough to seed a cluster.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No point qualified as a border point in this example.</a:t>
                </a:r>
              </a:p>
            </p:txBody>
          </p:sp>
        </mc:Choice>
        <mc:Fallback>
          <p:sp>
            <p:nvSpPr>
              <p:cNvPr id="203" name="Wh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505200"/>
                <a:ext cx="5080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Sensitivity"/>
              <p:cNvSpPr txBox="1"/>
              <p:nvPr/>
            </p:nvSpPr>
            <p:spPr>
              <a:xfrm>
                <a:off x="838200" y="5486400"/>
                <a:ext cx="10515600" cy="787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Parameter check: with MinPts = 2 the pair {D, E} would become a second cluster, and F would still be noise — DBSCAN's output depends on both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and MinPts.</a:t>
                </a:r>
              </a:p>
            </p:txBody>
          </p:sp>
        </mc:Choice>
        <mc:Fallback>
          <p:sp>
            <p:nvSpPr>
              <p:cNvPr id="204" name="Sensitivit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6400"/>
                <a:ext cx="10515600" cy="7874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40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FAB72B-F542-CAD5-F7C3-9990EBCC51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Example 2: Choosing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/>
                  <a:t> (</a:t>
                </a:r>
                <a:r>
                  <a:rPr lang="en-US"/>
                  <a:t>k-distance)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FAB72B-F542-CAD5-F7C3-9990EBCC51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55D709-C0CD-054B-A143-629D54E2451F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69D23-690D-C94A-B2D3-003EBAC18866}"/>
                  </a:ext>
                </a:extLst>
              </p:cNvPr>
              <p:cNvSpPr txBox="1"/>
              <p:nvPr/>
            </p:nvSpPr>
            <p:spPr>
              <a:xfrm>
                <a:off x="838200" y="2311400"/>
                <a:ext cx="4826000" cy="274338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Method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MinPts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For each point compute the distance to its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-th nearest neighbour: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85754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85754D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descending and plot. The 'knee' (point of maximum curvature) marks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that separates dense interiors from sparse tails.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Read-off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Here the curve bends sharply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≈0.9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use that 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69D23-690D-C94A-B2D3-003EBAC18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1400"/>
                <a:ext cx="4826000" cy="2743380"/>
              </a:xfrm>
              <a:prstGeom prst="rect">
                <a:avLst/>
              </a:prstGeom>
              <a:blipFill>
                <a:blip r:embed="rId3"/>
                <a:stretch>
                  <a:fillRect l="-789" t="-461" b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kdist"/>
          <p:cNvGraphicFramePr/>
          <p:nvPr/>
        </p:nvGraphicFramePr>
        <p:xfrm>
          <a:off x="5740400" y="2159000"/>
          <a:ext cx="56134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529557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F021-7B11-96F3-FAEE-E0563B79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Non-Convex Shapes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EA0515-C876-9A4F-91FB-12337D422A22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5873E-6186-134F-A07F-53D59EA78FEA}"/>
                  </a:ext>
                </a:extLst>
              </p:cNvPr>
              <p:cNvSpPr txBox="1"/>
              <p:nvPr/>
            </p:nvSpPr>
            <p:spPr>
              <a:xfrm>
                <a:off x="838200" y="2260600"/>
                <a:ext cx="4724400" cy="252376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Setup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Two concentric rings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— an inner disk surrounded by an outer annulus, same centre.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Why k-means fails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Minimises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⇒ convex (Voronoi) cells.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No hyperplane separates nested rings — it splits them by angle.</a:t>
                </a: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Why DBSCAN works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ring is density-connected within itself.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Gaps between rings exceed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⇒ distinct clusters.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5873E-6186-134F-A07F-53D59EA78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60600"/>
                <a:ext cx="4724400" cy="2523768"/>
              </a:xfrm>
              <a:prstGeom prst="rect">
                <a:avLst/>
              </a:prstGeom>
              <a:blipFill>
                <a:blip r:embed="rId2"/>
                <a:stretch>
                  <a:fillRect l="-804" t="-1005" b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25969C-4619-5F48-849F-E05B2A6AD6E6}"/>
                  </a:ext>
                </a:extLst>
              </p:cNvPr>
              <p:cNvSpPr txBox="1"/>
              <p:nvPr/>
            </p:nvSpPr>
            <p:spPr>
              <a:xfrm>
                <a:off x="5740400" y="2260600"/>
                <a:ext cx="2667000" cy="29238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b="1" dirty="0">
                    <a:solidFill>
                      <a:srgbClr val="D1578A"/>
                    </a:solidFill>
                  </a:rPr>
                  <a:t>k-means (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3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300" b="1" dirty="0">
                    <a:solidFill>
                      <a:srgbClr val="D1578A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25969C-4619-5F48-849F-E05B2A6AD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2260600"/>
                <a:ext cx="2667000" cy="292388"/>
              </a:xfrm>
              <a:prstGeom prst="rect">
                <a:avLst/>
              </a:prstGeom>
              <a:blipFill>
                <a:blip r:embed="rId3"/>
                <a:stretch>
                  <a:fillRect l="-476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631276C-74E7-A949-81F2-BA9AEB23F5E5}"/>
              </a:ext>
            </a:extLst>
          </p:cNvPr>
          <p:cNvSpPr txBox="1"/>
          <p:nvPr/>
        </p:nvSpPr>
        <p:spPr>
          <a:xfrm>
            <a:off x="8686800" y="22606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7AB648"/>
                </a:solidFill>
              </a:rPr>
              <a:t>DBSCAN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2A75B8-6CD4-E645-871F-03294EB8028A}"/>
              </a:ext>
            </a:extLst>
          </p:cNvPr>
          <p:cNvSpPr/>
          <p:nvPr/>
        </p:nvSpPr>
        <p:spPr>
          <a:xfrm>
            <a:off x="5740400" y="2540000"/>
            <a:ext cx="2667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B38768-9A54-4240-8960-70E34CD8ED2A}"/>
              </a:ext>
            </a:extLst>
          </p:cNvPr>
          <p:cNvSpPr/>
          <p:nvPr/>
        </p:nvSpPr>
        <p:spPr>
          <a:xfrm>
            <a:off x="8686800" y="2540000"/>
            <a:ext cx="2667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60EEEF-560D-254F-8C8E-EFEE5A76AF17}"/>
              </a:ext>
            </a:extLst>
          </p:cNvPr>
          <p:cNvSpPr/>
          <p:nvPr/>
        </p:nvSpPr>
        <p:spPr>
          <a:xfrm>
            <a:off x="8013700" y="38227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0108F-5701-7349-A43A-DDB908B38972}"/>
              </a:ext>
            </a:extLst>
          </p:cNvPr>
          <p:cNvSpPr/>
          <p:nvPr/>
        </p:nvSpPr>
        <p:spPr>
          <a:xfrm>
            <a:off x="7938295" y="4201786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EA24CF-32DF-AF44-9946-43BDCC197723}"/>
              </a:ext>
            </a:extLst>
          </p:cNvPr>
          <p:cNvSpPr/>
          <p:nvPr/>
        </p:nvSpPr>
        <p:spPr>
          <a:xfrm>
            <a:off x="7723559" y="4523159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D04783-238A-2645-86DD-F7966923EA35}"/>
              </a:ext>
            </a:extLst>
          </p:cNvPr>
          <p:cNvSpPr/>
          <p:nvPr/>
        </p:nvSpPr>
        <p:spPr>
          <a:xfrm>
            <a:off x="7402186" y="4737895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90FC2D-B56E-BF48-A74E-461C54877E80}"/>
              </a:ext>
            </a:extLst>
          </p:cNvPr>
          <p:cNvSpPr/>
          <p:nvPr/>
        </p:nvSpPr>
        <p:spPr>
          <a:xfrm>
            <a:off x="7023100" y="48133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0AFCA3-FB49-8A41-A8D0-673DCB9962A0}"/>
              </a:ext>
            </a:extLst>
          </p:cNvPr>
          <p:cNvSpPr/>
          <p:nvPr/>
        </p:nvSpPr>
        <p:spPr>
          <a:xfrm>
            <a:off x="6644013" y="4737895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F2ED7A-5486-A94B-820B-1E82B8056808}"/>
              </a:ext>
            </a:extLst>
          </p:cNvPr>
          <p:cNvSpPr/>
          <p:nvPr/>
        </p:nvSpPr>
        <p:spPr>
          <a:xfrm>
            <a:off x="6322640" y="4523159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16490F-45B2-6F41-8D9D-628B6064B501}"/>
              </a:ext>
            </a:extLst>
          </p:cNvPr>
          <p:cNvSpPr/>
          <p:nvPr/>
        </p:nvSpPr>
        <p:spPr>
          <a:xfrm>
            <a:off x="6107904" y="4201786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99AF56-E9B1-434E-B8EC-E71E46007114}"/>
              </a:ext>
            </a:extLst>
          </p:cNvPr>
          <p:cNvSpPr/>
          <p:nvPr/>
        </p:nvSpPr>
        <p:spPr>
          <a:xfrm>
            <a:off x="6032500" y="3822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529003-C97C-0F4B-807B-77A72DFD12C2}"/>
              </a:ext>
            </a:extLst>
          </p:cNvPr>
          <p:cNvSpPr/>
          <p:nvPr/>
        </p:nvSpPr>
        <p:spPr>
          <a:xfrm>
            <a:off x="6107904" y="3443613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487733-D987-D94F-A31D-AD6BB72014EC}"/>
              </a:ext>
            </a:extLst>
          </p:cNvPr>
          <p:cNvSpPr/>
          <p:nvPr/>
        </p:nvSpPr>
        <p:spPr>
          <a:xfrm>
            <a:off x="6322640" y="312224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84E480-4572-6242-9E02-C2380AB1659B}"/>
              </a:ext>
            </a:extLst>
          </p:cNvPr>
          <p:cNvSpPr/>
          <p:nvPr/>
        </p:nvSpPr>
        <p:spPr>
          <a:xfrm>
            <a:off x="6644013" y="2907504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6B771-FB12-7048-A4E0-72CABD462572}"/>
              </a:ext>
            </a:extLst>
          </p:cNvPr>
          <p:cNvSpPr/>
          <p:nvPr/>
        </p:nvSpPr>
        <p:spPr>
          <a:xfrm>
            <a:off x="7023100" y="28321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06C5E3-E89D-2142-9CED-0DE33FA99863}"/>
              </a:ext>
            </a:extLst>
          </p:cNvPr>
          <p:cNvSpPr/>
          <p:nvPr/>
        </p:nvSpPr>
        <p:spPr>
          <a:xfrm>
            <a:off x="7402186" y="2907504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5A9869-7290-3F49-A651-6DED5E23D5D3}"/>
              </a:ext>
            </a:extLst>
          </p:cNvPr>
          <p:cNvSpPr/>
          <p:nvPr/>
        </p:nvSpPr>
        <p:spPr>
          <a:xfrm>
            <a:off x="7723559" y="312224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F17B0C-7AE1-B34C-B3D0-3BA8DCFB58F8}"/>
              </a:ext>
            </a:extLst>
          </p:cNvPr>
          <p:cNvSpPr/>
          <p:nvPr/>
        </p:nvSpPr>
        <p:spPr>
          <a:xfrm>
            <a:off x="7938295" y="3443613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AE897F-C19E-434F-9278-DF757E7CD71F}"/>
              </a:ext>
            </a:extLst>
          </p:cNvPr>
          <p:cNvSpPr/>
          <p:nvPr/>
        </p:nvSpPr>
        <p:spPr>
          <a:xfrm>
            <a:off x="7454900" y="38227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72C046-96F7-4F45-B627-4656F7A7291E}"/>
              </a:ext>
            </a:extLst>
          </p:cNvPr>
          <p:cNvSpPr/>
          <p:nvPr/>
        </p:nvSpPr>
        <p:spPr>
          <a:xfrm>
            <a:off x="7353877" y="4100255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4DF8D9-3F68-DE48-9C32-013CC7A5E973}"/>
              </a:ext>
            </a:extLst>
          </p:cNvPr>
          <p:cNvSpPr/>
          <p:nvPr/>
        </p:nvSpPr>
        <p:spPr>
          <a:xfrm>
            <a:off x="7098081" y="4247939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2A79B6F-59F4-CC49-B591-93B2F69F898F}"/>
              </a:ext>
            </a:extLst>
          </p:cNvPr>
          <p:cNvSpPr/>
          <p:nvPr/>
        </p:nvSpPr>
        <p:spPr>
          <a:xfrm>
            <a:off x="6807200" y="4196649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2F2B3F1-2220-764B-A6E9-D95B113F62A7}"/>
              </a:ext>
            </a:extLst>
          </p:cNvPr>
          <p:cNvSpPr/>
          <p:nvPr/>
        </p:nvSpPr>
        <p:spPr>
          <a:xfrm>
            <a:off x="6617340" y="3970384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C346DE9-4228-4E4A-83CE-154D76B02A64}"/>
              </a:ext>
            </a:extLst>
          </p:cNvPr>
          <p:cNvSpPr/>
          <p:nvPr/>
        </p:nvSpPr>
        <p:spPr>
          <a:xfrm>
            <a:off x="6617340" y="3675015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3F5476-7217-074D-B569-0AB530129B4A}"/>
              </a:ext>
            </a:extLst>
          </p:cNvPr>
          <p:cNvSpPr/>
          <p:nvPr/>
        </p:nvSpPr>
        <p:spPr>
          <a:xfrm>
            <a:off x="6807200" y="344875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391D264-157B-E941-9066-87F64A2F7379}"/>
              </a:ext>
            </a:extLst>
          </p:cNvPr>
          <p:cNvSpPr/>
          <p:nvPr/>
        </p:nvSpPr>
        <p:spPr>
          <a:xfrm>
            <a:off x="7098081" y="339746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AED42A-9314-A248-A042-455CE2F0C4C0}"/>
              </a:ext>
            </a:extLst>
          </p:cNvPr>
          <p:cNvSpPr/>
          <p:nvPr/>
        </p:nvSpPr>
        <p:spPr>
          <a:xfrm>
            <a:off x="7353877" y="3545144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4128B2-E9A0-1348-81C1-96F9ABED40CB}"/>
              </a:ext>
            </a:extLst>
          </p:cNvPr>
          <p:cNvSpPr/>
          <p:nvPr/>
        </p:nvSpPr>
        <p:spPr>
          <a:xfrm>
            <a:off x="10960100" y="3822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9EBA865-261F-8D43-9294-DB1C26E03DE6}"/>
              </a:ext>
            </a:extLst>
          </p:cNvPr>
          <p:cNvSpPr/>
          <p:nvPr/>
        </p:nvSpPr>
        <p:spPr>
          <a:xfrm>
            <a:off x="10884695" y="4201786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9E4A4DA-95F0-494C-8B19-1606D6FFE902}"/>
              </a:ext>
            </a:extLst>
          </p:cNvPr>
          <p:cNvSpPr/>
          <p:nvPr/>
        </p:nvSpPr>
        <p:spPr>
          <a:xfrm>
            <a:off x="10669959" y="4523159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407B92E-0964-554F-8FB8-F81F6E7FF3D8}"/>
              </a:ext>
            </a:extLst>
          </p:cNvPr>
          <p:cNvSpPr/>
          <p:nvPr/>
        </p:nvSpPr>
        <p:spPr>
          <a:xfrm>
            <a:off x="10348586" y="4737895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2A4A796-5829-6146-B45B-77696972142A}"/>
              </a:ext>
            </a:extLst>
          </p:cNvPr>
          <p:cNvSpPr/>
          <p:nvPr/>
        </p:nvSpPr>
        <p:spPr>
          <a:xfrm>
            <a:off x="9969500" y="48133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FFD7EC5-AF6C-344E-8459-5A6B9DA5B4C4}"/>
              </a:ext>
            </a:extLst>
          </p:cNvPr>
          <p:cNvSpPr/>
          <p:nvPr/>
        </p:nvSpPr>
        <p:spPr>
          <a:xfrm>
            <a:off x="9590413" y="4737895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B5F9790-5DAC-E54A-928A-9A6D4206731B}"/>
              </a:ext>
            </a:extLst>
          </p:cNvPr>
          <p:cNvSpPr/>
          <p:nvPr/>
        </p:nvSpPr>
        <p:spPr>
          <a:xfrm>
            <a:off x="9269040" y="4523159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522625-7E99-F84A-B549-5C4858165E62}"/>
              </a:ext>
            </a:extLst>
          </p:cNvPr>
          <p:cNvSpPr/>
          <p:nvPr/>
        </p:nvSpPr>
        <p:spPr>
          <a:xfrm>
            <a:off x="9054304" y="4201786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D6ED72C-9815-2C4C-B4DB-2353D4DB1BB8}"/>
              </a:ext>
            </a:extLst>
          </p:cNvPr>
          <p:cNvSpPr/>
          <p:nvPr/>
        </p:nvSpPr>
        <p:spPr>
          <a:xfrm>
            <a:off x="8978900" y="3822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B117CA-420E-1843-895C-5733E2449E8A}"/>
              </a:ext>
            </a:extLst>
          </p:cNvPr>
          <p:cNvSpPr/>
          <p:nvPr/>
        </p:nvSpPr>
        <p:spPr>
          <a:xfrm>
            <a:off x="9054304" y="3443613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3CE3A5-064D-2B48-A688-D71F5E829F09}"/>
              </a:ext>
            </a:extLst>
          </p:cNvPr>
          <p:cNvSpPr/>
          <p:nvPr/>
        </p:nvSpPr>
        <p:spPr>
          <a:xfrm>
            <a:off x="9269040" y="312224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3F9B5DD-B0F2-7E4D-8A52-3140C27F6CA5}"/>
              </a:ext>
            </a:extLst>
          </p:cNvPr>
          <p:cNvSpPr/>
          <p:nvPr/>
        </p:nvSpPr>
        <p:spPr>
          <a:xfrm>
            <a:off x="9590413" y="2907504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23EEFA0-7A4F-F34E-BFFB-E6EC4D3CF6B1}"/>
              </a:ext>
            </a:extLst>
          </p:cNvPr>
          <p:cNvSpPr/>
          <p:nvPr/>
        </p:nvSpPr>
        <p:spPr>
          <a:xfrm>
            <a:off x="9969500" y="28321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A9CCD22-90E7-824F-8A89-D699AF05A736}"/>
              </a:ext>
            </a:extLst>
          </p:cNvPr>
          <p:cNvSpPr/>
          <p:nvPr/>
        </p:nvSpPr>
        <p:spPr>
          <a:xfrm>
            <a:off x="10348586" y="2907504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0BE212B-33D8-F644-84C2-08D9E71274A4}"/>
              </a:ext>
            </a:extLst>
          </p:cNvPr>
          <p:cNvSpPr/>
          <p:nvPr/>
        </p:nvSpPr>
        <p:spPr>
          <a:xfrm>
            <a:off x="10669959" y="312224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FCAFF96-52E0-2044-B555-AF633F13DCE9}"/>
              </a:ext>
            </a:extLst>
          </p:cNvPr>
          <p:cNvSpPr/>
          <p:nvPr/>
        </p:nvSpPr>
        <p:spPr>
          <a:xfrm>
            <a:off x="10884695" y="3443613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386E3C3-0942-574B-96A7-C71A264429D6}"/>
              </a:ext>
            </a:extLst>
          </p:cNvPr>
          <p:cNvSpPr/>
          <p:nvPr/>
        </p:nvSpPr>
        <p:spPr>
          <a:xfrm>
            <a:off x="10401300" y="382270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50B9EE5-D817-264B-A0DB-AF9622085DAF}"/>
              </a:ext>
            </a:extLst>
          </p:cNvPr>
          <p:cNvSpPr/>
          <p:nvPr/>
        </p:nvSpPr>
        <p:spPr>
          <a:xfrm>
            <a:off x="10300277" y="4100255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7DC25FF-625B-D449-AAF4-0560DECACB1E}"/>
              </a:ext>
            </a:extLst>
          </p:cNvPr>
          <p:cNvSpPr/>
          <p:nvPr/>
        </p:nvSpPr>
        <p:spPr>
          <a:xfrm>
            <a:off x="10044481" y="4247939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B523625-7630-274D-9462-65FA75588ECE}"/>
              </a:ext>
            </a:extLst>
          </p:cNvPr>
          <p:cNvSpPr/>
          <p:nvPr/>
        </p:nvSpPr>
        <p:spPr>
          <a:xfrm>
            <a:off x="9753600" y="4196649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7E5E546-C544-5445-AE13-565A30073F6E}"/>
              </a:ext>
            </a:extLst>
          </p:cNvPr>
          <p:cNvSpPr/>
          <p:nvPr/>
        </p:nvSpPr>
        <p:spPr>
          <a:xfrm>
            <a:off x="9563740" y="3970384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2F88675-3EE8-C543-B39A-EBBE442BC12D}"/>
              </a:ext>
            </a:extLst>
          </p:cNvPr>
          <p:cNvSpPr/>
          <p:nvPr/>
        </p:nvSpPr>
        <p:spPr>
          <a:xfrm>
            <a:off x="9563740" y="3675015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1928BC-01E6-1144-A9AD-1DAAA41B80A0}"/>
              </a:ext>
            </a:extLst>
          </p:cNvPr>
          <p:cNvSpPr/>
          <p:nvPr/>
        </p:nvSpPr>
        <p:spPr>
          <a:xfrm>
            <a:off x="9753600" y="344875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B3B5AE-30BD-BE47-B1C6-11A90BE5B886}"/>
              </a:ext>
            </a:extLst>
          </p:cNvPr>
          <p:cNvSpPr/>
          <p:nvPr/>
        </p:nvSpPr>
        <p:spPr>
          <a:xfrm>
            <a:off x="10044481" y="339746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3DAA09F-E150-6940-8AB9-8558E7EFDC7D}"/>
              </a:ext>
            </a:extLst>
          </p:cNvPr>
          <p:cNvSpPr/>
          <p:nvPr/>
        </p:nvSpPr>
        <p:spPr>
          <a:xfrm>
            <a:off x="10300277" y="3545144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A01E92-B747-2C46-9E42-56F061F29B9D}"/>
                  </a:ext>
                </a:extLst>
              </p:cNvPr>
              <p:cNvSpPr txBox="1"/>
              <p:nvPr/>
            </p:nvSpPr>
            <p:spPr>
              <a:xfrm>
                <a:off x="5740400" y="5308600"/>
                <a:ext cx="5613400" cy="55399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500" i="1" dirty="0">
                    <a:solidFill>
                      <a:srgbClr val="595959"/>
                    </a:solidFill>
                  </a:rPr>
                  <a:t>k-means cuts by a linear boundary (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); DBSCAN follows density, recovering each ring.</a:t>
                </a: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A01E92-B747-2C46-9E42-56F061F29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5308600"/>
                <a:ext cx="5613400" cy="553998"/>
              </a:xfrm>
              <a:prstGeom prst="rect">
                <a:avLst/>
              </a:prstGeom>
              <a:blipFill>
                <a:blip r:embed="rId4"/>
                <a:stretch>
                  <a:fillRect l="-677" t="-4545" r="-1129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980871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AF18-4916-1927-636B-6256CA6B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DBSCAN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31C88A-F61B-A842-BCE0-358CDDF9D380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A7F6DC-1EBE-2E4A-8B22-CD705DB3B865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3E4C9-F678-F24D-A1CA-87B1BB997F4A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E1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5,5</m:t>
                        </m:r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MinPts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label each point core / border / noise using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L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norm.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3E4C9-F678-F24D-A1CA-87B1BB997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D5C6D8F6-8C98-F041-BD7F-8CCE9EEEB060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42ADA3-BD1B-2244-B4E1-FC73DE839748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85A1FF-78F4-A049-9DF6-93C589E0180D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E2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d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=2&lt;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MinPts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but lies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a core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Prove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a border point and assign its cluster. State the reachability definition you use.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85A1FF-78F4-A049-9DF6-93C589E0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1C4C163E-26F6-3E4E-89B5-8C1F3BC1E18F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0C16F9-B415-7443-844D-FA1BA51886C9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F3A78-1A7F-874B-9172-19D962439502}"/>
                  </a:ext>
                </a:extLst>
              </p:cNvPr>
              <p:cNvSpPr txBox="1"/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E3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Explain,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vs density-connectivity, why DBSCAN finds two clusters on concentric rings while k-means 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) cannot. When would DBSCAN itself fail?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F3A78-1A7F-874B-9172-19D96243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57025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0351-89C6-4642-7EB8-75DE985E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E1 Solution — Step 1: The Neighbourhoods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etup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Setup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X = {(0,0), (0,1), (1,0), (1,1), (5,5)}    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1.5,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MinPts = 3</a:t>
                </a:r>
              </a:p>
            </p:txBody>
          </p:sp>
        </mc:Choice>
        <mc:Fallback>
          <p:sp>
            <p:nvSpPr>
              <p:cNvPr id="201" name="Setu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ists"/>
              <p:cNvSpPr txBox="1"/>
              <p:nvPr/>
            </p:nvSpPr>
            <p:spPr>
              <a:xfrm>
                <a:off x="838200" y="3124200"/>
                <a:ext cx="5334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Measure inside the square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Side = 1,  diagonal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1.41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Both are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1.5,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so even the diagonal pairs are neighbours.</a:t>
                </a:r>
              </a:p>
            </p:txBody>
          </p:sp>
        </mc:Choice>
        <mc:Fallback>
          <p:sp>
            <p:nvSpPr>
              <p:cNvPr id="202" name="Dis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Neigh"/>
              <p:cNvSpPr txBox="1"/>
              <p:nvPr/>
            </p:nvSpPr>
            <p:spPr>
              <a:xfrm>
                <a:off x="838200" y="4673600"/>
                <a:ext cx="5334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neighbourhoods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333333"/>
                    </a:solidFill>
                  </a:rPr>
                  <a:t>Each corner: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4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(itself + three others)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(5,5): nearest point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ra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5.66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away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 |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1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3" name="Neig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73600"/>
                <a:ext cx="5334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24200"/>
            <a:ext cx="4876800" cy="2946400"/>
            <a:chOff x="6477000" y="3124200"/>
            <a:chExt cx="4876800" cy="29464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29464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The five points</a:t>
              </a:r>
            </a:p>
          </p:txBody>
        </p:sp>
        <p:sp>
          <p:nvSpPr>
            <p:cNvPr id="304" name="c"/>
            <p:cNvSpPr/>
            <p:nvPr/>
          </p:nvSpPr>
          <p:spPr>
            <a:xfrm>
              <a:off x="6985000" y="4953000"/>
              <a:ext cx="762000" cy="762000"/>
            </a:xfrm>
            <a:prstGeom prst="ellipse">
              <a:avLst/>
            </a:prstGeom>
            <a:noFill/>
            <a:ln w="12700">
              <a:solidFill>
                <a:srgbClr val="C0397A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d"/>
            <p:cNvSpPr/>
            <p:nvPr/>
          </p:nvSpPr>
          <p:spPr>
            <a:xfrm>
              <a:off x="7325360" y="529336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7325360" y="503936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d"/>
            <p:cNvSpPr/>
            <p:nvPr/>
          </p:nvSpPr>
          <p:spPr>
            <a:xfrm>
              <a:off x="7579360" y="529336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d"/>
            <p:cNvSpPr/>
            <p:nvPr/>
          </p:nvSpPr>
          <p:spPr>
            <a:xfrm>
              <a:off x="7579360" y="503936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d"/>
            <p:cNvSpPr/>
            <p:nvPr/>
          </p:nvSpPr>
          <p:spPr>
            <a:xfrm>
              <a:off x="8595360" y="4023360"/>
              <a:ext cx="81280" cy="8128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lab"/>
            <p:cNvSpPr txBox="1"/>
            <p:nvPr/>
          </p:nvSpPr>
          <p:spPr>
            <a:xfrm>
              <a:off x="7797800" y="4800600"/>
              <a:ext cx="1219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unit square</a:t>
              </a:r>
            </a:p>
          </p:txBody>
        </p:sp>
        <p:sp>
          <p:nvSpPr>
            <p:cNvPr id="311" name="lab"/>
            <p:cNvSpPr txBox="1"/>
            <p:nvPr/>
          </p:nvSpPr>
          <p:spPr>
            <a:xfrm>
              <a:off x="8788400" y="3949700"/>
              <a:ext cx="66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595959"/>
                  </a:solidFill>
                </a:rPr>
                <a:t>(5,5)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2" name="lab"/>
                <p:cNvSpPr txBox="1"/>
                <p:nvPr/>
              </p:nvSpPr>
              <p:spPr>
                <a:xfrm>
                  <a:off x="7010400" y="5791200"/>
                  <a:ext cx="2667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:r>
                    <a:rPr lang="en-US" sz="1400" dirty="0">
                      <a:solidFill>
                        <a:srgbClr val="595959"/>
                      </a:solidFill>
                    </a:rPr>
                    <a:t>dashed circle </a:t>
                  </a:r>
                  <a14:m>
                    <m:oMath xmlns:m="http://schemas.openxmlformats.org/officeDocument/2006/math"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a14:m>
                  <a:r>
                    <a:rPr lang="en-US" sz="1400" dirty="0">
                      <a:solidFill>
                        <a:srgbClr val="595959"/>
                      </a:solidFill>
                    </a:rPr>
                    <a:t> around (0,0)</a:t>
                  </a:r>
                </a:p>
              </p:txBody>
            </p:sp>
          </mc:Choice>
          <mc:Fallback>
            <p:sp>
              <p:nvSpPr>
                <p:cNvPr id="312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400" y="5791200"/>
                  <a:ext cx="2667000" cy="228600"/>
                </a:xfrm>
                <a:prstGeom prst="rect">
                  <a:avLst/>
                </a:prstGeom>
                <a:blipFill>
                  <a:blip r:embed="rId5"/>
                  <a:stretch>
                    <a:fillRect l="-4265" t="-21053" b="-4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684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E81A-8EAC-8E04-848C-E8BD4611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2: The Core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Counts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Counts from Step 1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(0,0), (0,1), (1,0), (1,1):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4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each     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(5,5):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    MinPts = 3</a:t>
                </a:r>
              </a:p>
            </p:txBody>
          </p:sp>
        </mc:Choice>
        <mc:Fallback>
          <p:sp>
            <p:nvSpPr>
              <p:cNvPr id="201" name="Coun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Test"/>
              <p:cNvSpPr txBox="1"/>
              <p:nvPr/>
            </p:nvSpPr>
            <p:spPr>
              <a:xfrm>
                <a:off x="838200" y="3124200"/>
                <a:ext cx="5334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Apply the core test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4 ≥ 3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all four corner points are CORE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Every corner clears MinPts on its own.</a:t>
                </a:r>
              </a:p>
            </p:txBody>
          </p:sp>
        </mc:Choice>
        <mc:Fallback>
          <p:sp>
            <p:nvSpPr>
              <p:cNvPr id="202" name="Tes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Cluster"/>
              <p:cNvSpPr txBox="1"/>
              <p:nvPr/>
            </p:nvSpPr>
            <p:spPr>
              <a:xfrm>
                <a:off x="838200" y="4673600"/>
                <a:ext cx="5334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Cores that see each other merge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four cores are mutually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Cluster 1 = {(0,0), (0,1), (1,0), (1,1)}</a:t>
                </a:r>
              </a:p>
            </p:txBody>
          </p:sp>
        </mc:Choice>
        <mc:Fallback>
          <p:sp>
            <p:nvSpPr>
              <p:cNvPr id="203" name="Clust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73600"/>
                <a:ext cx="5334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24200"/>
            <a:ext cx="4876800" cy="2946400"/>
            <a:chOff x="6477000" y="3124200"/>
            <a:chExt cx="4876800" cy="29464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29464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Four cores form one cluster</a:t>
              </a:r>
            </a:p>
          </p:txBody>
        </p:sp>
        <p:sp>
          <p:nvSpPr>
            <p:cNvPr id="304" name="c"/>
            <p:cNvSpPr/>
            <p:nvPr/>
          </p:nvSpPr>
          <p:spPr>
            <a:xfrm>
              <a:off x="7339330" y="4469130"/>
              <a:ext cx="891540" cy="891540"/>
            </a:xfrm>
            <a:prstGeom prst="ellipse">
              <a:avLst/>
            </a:prstGeom>
            <a:noFill/>
            <a:ln w="12700">
              <a:solidFill>
                <a:srgbClr val="4B2E83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d"/>
            <p:cNvSpPr/>
            <p:nvPr/>
          </p:nvSpPr>
          <p:spPr>
            <a:xfrm>
              <a:off x="7569200" y="50292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7569200" y="46990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d"/>
            <p:cNvSpPr/>
            <p:nvPr/>
          </p:nvSpPr>
          <p:spPr>
            <a:xfrm>
              <a:off x="7899400" y="50292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d"/>
            <p:cNvSpPr/>
            <p:nvPr/>
          </p:nvSpPr>
          <p:spPr>
            <a:xfrm>
              <a:off x="7899400" y="46990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09" name="seg"/>
            <p:cNvCxnSpPr/>
            <p:nvPr/>
          </p:nvCxnSpPr>
          <p:spPr>
            <a:xfrm>
              <a:off x="7620000" y="4749800"/>
              <a:ext cx="330200" cy="330200"/>
            </a:xfrm>
            <a:prstGeom prst="line">
              <a:avLst/>
            </a:prstGeom>
            <a:ln w="12700">
              <a:solidFill>
                <a:srgbClr val="4B2E83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>
              <a:off x="7620000" y="4749800"/>
              <a:ext cx="330200" cy="330200"/>
            </a:xfrm>
            <a:prstGeom prst="line">
              <a:avLst/>
            </a:prstGeom>
            <a:ln w="12700">
              <a:solidFill>
                <a:srgbClr val="4B2E83"/>
              </a:solidFill>
            </a:ln>
          </p:spPr>
        </p:cxnSp>
        <p:sp>
          <p:nvSpPr>
            <p:cNvPr id="311" name="d"/>
            <p:cNvSpPr/>
            <p:nvPr/>
          </p:nvSpPr>
          <p:spPr>
            <a:xfrm>
              <a:off x="9428480" y="4180840"/>
              <a:ext cx="81280" cy="8128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lab"/>
            <p:cNvSpPr txBox="1"/>
            <p:nvPr/>
          </p:nvSpPr>
          <p:spPr>
            <a:xfrm>
              <a:off x="7048500" y="542671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all four are core</a:t>
              </a:r>
            </a:p>
          </p:txBody>
        </p:sp>
        <p:sp>
          <p:nvSpPr>
            <p:cNvPr id="313" name="lab"/>
            <p:cNvSpPr txBox="1"/>
            <p:nvPr/>
          </p:nvSpPr>
          <p:spPr>
            <a:xfrm>
              <a:off x="8732520" y="4450080"/>
              <a:ext cx="1905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(5,5) still to classify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508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4429-B106-BC24-B4DE-1604E407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3: The Outlier and Final Labels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Far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remaining point (5,5)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Distance to its nearest neighbour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(1,1) = 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ra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5.66,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far beyond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1.5.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Fa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Test"/>
              <p:cNvSpPr txBox="1"/>
              <p:nvPr/>
            </p:nvSpPr>
            <p:spPr>
              <a:xfrm>
                <a:off x="838200" y="3124200"/>
                <a:ext cx="5334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Not core, not border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 = 1 &lt; 3,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no core lies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(5,5) is NOISE.</a:t>
                </a:r>
              </a:p>
            </p:txBody>
          </p:sp>
        </mc:Choice>
        <mc:Fallback>
          <p:sp>
            <p:nvSpPr>
              <p:cNvPr id="202" name="Tes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Answer"/>
          <p:cNvSpPr txBox="1"/>
          <p:nvPr/>
        </p:nvSpPr>
        <p:spPr>
          <a:xfrm>
            <a:off x="838200" y="4597400"/>
            <a:ext cx="5334000" cy="1473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labels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Core: (0,0), (0,1), (1,0), (1,1)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Border: none        Noise: (5,5)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Note"/>
              <p:cNvSpPr txBox="1"/>
              <p:nvPr/>
            </p:nvSpPr>
            <p:spPr>
              <a:xfrm>
                <a:off x="6477000" y="5054600"/>
                <a:ext cx="4876800" cy="1016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The diagonal check matters: had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been 1.2, the diagonals would fail and each corner would see only 3 points — still core here, but the cluster shape changes.</a:t>
                </a:r>
              </a:p>
            </p:txBody>
          </p:sp>
        </mc:Choice>
        <mc:Fallback>
          <p:sp>
            <p:nvSpPr>
              <p:cNvPr id="204" name="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054600"/>
                <a:ext cx="4876800" cy="1016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24200"/>
            <a:ext cx="4876800" cy="1752600"/>
            <a:chOff x="6477000" y="3124200"/>
            <a:chExt cx="4876800" cy="17526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17526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One cluster, one outlier</a:t>
              </a:r>
            </a:p>
          </p:txBody>
        </p:sp>
        <p:sp>
          <p:nvSpPr>
            <p:cNvPr id="304" name="c"/>
            <p:cNvSpPr/>
            <p:nvPr/>
          </p:nvSpPr>
          <p:spPr>
            <a:xfrm>
              <a:off x="7396480" y="3891280"/>
              <a:ext cx="726440" cy="726440"/>
            </a:xfrm>
            <a:prstGeom prst="ellipse">
              <a:avLst/>
            </a:prstGeom>
            <a:noFill/>
            <a:ln w="12700">
              <a:solidFill>
                <a:srgbClr val="4B2E83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d"/>
            <p:cNvSpPr/>
            <p:nvPr/>
          </p:nvSpPr>
          <p:spPr>
            <a:xfrm>
              <a:off x="7569200" y="43434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7569200" y="40640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d"/>
            <p:cNvSpPr/>
            <p:nvPr/>
          </p:nvSpPr>
          <p:spPr>
            <a:xfrm>
              <a:off x="7848600" y="43434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d"/>
            <p:cNvSpPr/>
            <p:nvPr/>
          </p:nvSpPr>
          <p:spPr>
            <a:xfrm>
              <a:off x="7848600" y="40640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d"/>
            <p:cNvSpPr/>
            <p:nvPr/>
          </p:nvSpPr>
          <p:spPr>
            <a:xfrm>
              <a:off x="8959850" y="3890010"/>
              <a:ext cx="114300" cy="1143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lab"/>
            <p:cNvSpPr txBox="1"/>
            <p:nvPr/>
          </p:nvSpPr>
          <p:spPr>
            <a:xfrm>
              <a:off x="8204200" y="4495800"/>
              <a:ext cx="1016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Cluster 1</a:t>
              </a:r>
            </a:p>
          </p:txBody>
        </p:sp>
        <p:sp>
          <p:nvSpPr>
            <p:cNvPr id="311" name="lab"/>
            <p:cNvSpPr txBox="1"/>
            <p:nvPr/>
          </p:nvSpPr>
          <p:spPr>
            <a:xfrm>
              <a:off x="9169400" y="3921760"/>
              <a:ext cx="711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noise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729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5C74-E213-0415-C819-1CF0DA16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Step 1: The Definitions You Need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What we are given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1600" dirty="0">
                    <a:solidFill>
                      <a:srgbClr val="333333"/>
                    </a:solidFill>
                  </a:rPr>
                  <a:t>p has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= 2 &lt;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MinPts, and p lies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a core point q.</a:t>
                </a: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efs"/>
              <p:cNvSpPr txBox="1"/>
              <p:nvPr/>
            </p:nvSpPr>
            <p:spPr>
              <a:xfrm>
                <a:off x="838200" y="3124200"/>
                <a:ext cx="5334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 definitions to quote</a:t>
                </a:r>
              </a:p>
              <a:p>
                <a:pPr marL="228600" indent="-228600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q is core when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≥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MinPts.</a:t>
                </a:r>
              </a:p>
              <a:p>
                <a:pPr marL="228600" indent="-228600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p is directly density-reachable from q when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q is core.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p is a border point when it is not core, yet is directly density-reachable from some core.</a:t>
                </a:r>
              </a:p>
            </p:txBody>
          </p:sp>
        </mc:Choice>
        <mc:Fallback>
          <p:sp>
            <p:nvSpPr>
              <p:cNvPr id="202" name="Def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Asym"/>
          <p:cNvSpPr txBox="1"/>
          <p:nvPr/>
        </p:nvSpPr>
        <p:spPr>
          <a:xfrm>
            <a:off x="838200" y="5156200"/>
            <a:ext cx="5334000" cy="914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Reachability is one-way: it is only defined out of core points, so p is reachable from q but not q from p.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24200"/>
            <a:ext cx="4876800" cy="2946400"/>
            <a:chOff x="6477000" y="3124200"/>
            <a:chExt cx="4876800" cy="29464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29464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q is dense, p is not</a:t>
              </a:r>
            </a:p>
          </p:txBody>
        </p:sp>
        <p:sp>
          <p:nvSpPr>
            <p:cNvPr id="304" name="c"/>
            <p:cNvSpPr/>
            <p:nvPr/>
          </p:nvSpPr>
          <p:spPr>
            <a:xfrm>
              <a:off x="7480300" y="4025900"/>
              <a:ext cx="1295400" cy="1295400"/>
            </a:xfrm>
            <a:prstGeom prst="ellipse">
              <a:avLst/>
            </a:prstGeom>
            <a:noFill/>
            <a:ln w="12700">
              <a:solidFill>
                <a:srgbClr val="4B2E83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c"/>
            <p:cNvSpPr/>
            <p:nvPr/>
          </p:nvSpPr>
          <p:spPr>
            <a:xfrm>
              <a:off x="8041640" y="3896360"/>
              <a:ext cx="1295400" cy="1295400"/>
            </a:xfrm>
            <a:prstGeom prst="ellipse">
              <a:avLst/>
            </a:prstGeom>
            <a:noFill/>
            <a:ln w="12700">
              <a:solidFill>
                <a:srgbClr val="595959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8070850" y="4616450"/>
              <a:ext cx="114300" cy="1143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d"/>
            <p:cNvSpPr/>
            <p:nvPr/>
          </p:nvSpPr>
          <p:spPr>
            <a:xfrm>
              <a:off x="8260080" y="441706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d"/>
            <p:cNvSpPr/>
            <p:nvPr/>
          </p:nvSpPr>
          <p:spPr>
            <a:xfrm>
              <a:off x="7871460" y="446024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d"/>
            <p:cNvSpPr/>
            <p:nvPr/>
          </p:nvSpPr>
          <p:spPr>
            <a:xfrm>
              <a:off x="8346440" y="480568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d"/>
            <p:cNvSpPr/>
            <p:nvPr/>
          </p:nvSpPr>
          <p:spPr>
            <a:xfrm>
              <a:off x="7957820" y="4892040"/>
              <a:ext cx="81280" cy="8128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d"/>
            <p:cNvSpPr/>
            <p:nvPr/>
          </p:nvSpPr>
          <p:spPr>
            <a:xfrm>
              <a:off x="8632190" y="4486910"/>
              <a:ext cx="114300" cy="1143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lab"/>
            <p:cNvSpPr txBox="1"/>
            <p:nvPr/>
          </p:nvSpPr>
          <p:spPr>
            <a:xfrm>
              <a:off x="7162800" y="4622800"/>
              <a:ext cx="914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q (core)</a:t>
              </a:r>
            </a:p>
          </p:txBody>
        </p:sp>
        <p:sp>
          <p:nvSpPr>
            <p:cNvPr id="313" name="lab"/>
            <p:cNvSpPr txBox="1"/>
            <p:nvPr/>
          </p:nvSpPr>
          <p:spPr>
            <a:xfrm>
              <a:off x="8867140" y="4467860"/>
              <a:ext cx="1092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p (border)</a:t>
              </a:r>
            </a:p>
          </p:txBody>
        </p:sp>
        <p:sp>
          <p:nvSpPr>
            <p:cNvPr id="314" name="lab"/>
            <p:cNvSpPr txBox="1"/>
            <p:nvPr/>
          </p:nvSpPr>
          <p:spPr>
            <a:xfrm>
              <a:off x="7620000" y="5671820"/>
              <a:ext cx="2794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p's own circle holds only p and 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195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2596-73EF-ACB2-93ED-CAC2505F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Step 2: The Proof and Cluster Assignment</a:t>
            </a:r>
          </a:p>
        </p:txBody>
      </p:sp>
      <p:sp>
        <p:nvSpPr>
          <p:cNvPr id="201" name="Goal"/>
          <p:cNvSpPr txBox="1"/>
          <p:nvPr/>
        </p:nvSpPr>
        <p:spPr>
          <a:xfrm>
            <a:off x="838200" y="1905000"/>
            <a:ext cx="10515600" cy="939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Goal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Show that p is a border point, and state which cluster it joins.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Proof"/>
              <p:cNvSpPr txBox="1"/>
              <p:nvPr/>
            </p:nvSpPr>
            <p:spPr>
              <a:xfrm>
                <a:off x="838200" y="3022600"/>
                <a:ext cx="5969000" cy="3048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 argument, line by line</a:t>
                </a:r>
              </a:p>
              <a:p>
                <a:pPr marL="228600" indent="-228600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 · |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)| = 2 &lt;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MinPts, so p fails the core test.</a:t>
                </a:r>
              </a:p>
              <a:p>
                <a:pPr marL="228600" indent="-228600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2 ·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given and q is core, so p is directly density-reachable from q.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Not core, but reachable from a core — that is precisely the definition of a border point.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Therefore p is a border point.</a:t>
                </a:r>
              </a:p>
            </p:txBody>
          </p:sp>
        </mc:Choice>
        <mc:Fallback>
          <p:sp>
            <p:nvSpPr>
              <p:cNvPr id="202" name="Proof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22600"/>
                <a:ext cx="5969000" cy="3048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Assign"/>
              <p:cNvSpPr txBox="1"/>
              <p:nvPr/>
            </p:nvSpPr>
            <p:spPr>
              <a:xfrm>
                <a:off x="7112000" y="3022600"/>
                <a:ext cx="4241800" cy="3048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Cluster assignment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 joins the cluster of q: the density-connected component that contains q.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If p also sits within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of a core from another cluster, DBSCAN gives it to whichever core is processed first — border points can be ambiguous, core points never are.</a:t>
                </a:r>
              </a:p>
            </p:txBody>
          </p:sp>
        </mc:Choice>
        <mc:Fallback>
          <p:sp>
            <p:nvSpPr>
              <p:cNvPr id="203" name="Assig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3022600"/>
                <a:ext cx="4241800" cy="3048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12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7A04-ACAC-A495-DDDC-EB894DC1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1: Why k-Means Cannot Split Rings</a:t>
            </a:r>
          </a:p>
        </p:txBody>
      </p:sp>
      <p:sp>
        <p:nvSpPr>
          <p:cNvPr id="201" name="Data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The data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Two concentric rings around the same centre: inner radius 1, outer radius 3.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Why"/>
              <p:cNvSpPr txBox="1"/>
              <p:nvPr/>
            </p:nvSpPr>
            <p:spPr>
              <a:xfrm>
                <a:off x="838200" y="3124200"/>
                <a:ext cx="5334000" cy="2946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What k-means optimises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It minimises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1600" b="1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𝛍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Both rings share a centre, so both centroids land near the origin.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boundary between two centroids is a straight line — it must cut the rings in half.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No choice of two centroids can separate inner from outer.</a:t>
                </a:r>
              </a:p>
            </p:txBody>
          </p:sp>
        </mc:Choice>
        <mc:Fallback>
          <p:sp>
            <p:nvSpPr>
              <p:cNvPr id="202" name="Wh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2946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24200"/>
            <a:ext cx="4876800" cy="2946400"/>
            <a:chOff x="6477000" y="3124200"/>
            <a:chExt cx="4876800" cy="29464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29464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k = 2 slices the rings in half</a:t>
              </a:r>
            </a:p>
          </p:txBody>
        </p:sp>
        <p:sp>
          <p:nvSpPr>
            <p:cNvPr id="304" name="d"/>
            <p:cNvSpPr/>
            <p:nvPr/>
          </p:nvSpPr>
          <p:spPr>
            <a:xfrm>
              <a:off x="9026144" y="4450385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d"/>
            <p:cNvSpPr/>
            <p:nvPr/>
          </p:nvSpPr>
          <p:spPr>
            <a:xfrm>
              <a:off x="8933485" y="4286402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8762187" y="4208374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d"/>
            <p:cNvSpPr/>
            <p:nvPr/>
          </p:nvSpPr>
          <p:spPr>
            <a:xfrm>
              <a:off x="8577478" y="4245559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d"/>
            <p:cNvSpPr/>
            <p:nvPr/>
          </p:nvSpPr>
          <p:spPr>
            <a:xfrm>
              <a:off x="8450072" y="4384548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d"/>
            <p:cNvSpPr/>
            <p:nvPr/>
          </p:nvSpPr>
          <p:spPr>
            <a:xfrm>
              <a:off x="8428736" y="4571695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d"/>
            <p:cNvSpPr/>
            <p:nvPr/>
          </p:nvSpPr>
          <p:spPr>
            <a:xfrm>
              <a:off x="8521395" y="4735678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d"/>
            <p:cNvSpPr/>
            <p:nvPr/>
          </p:nvSpPr>
          <p:spPr>
            <a:xfrm>
              <a:off x="8692693" y="4813706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d"/>
            <p:cNvSpPr/>
            <p:nvPr/>
          </p:nvSpPr>
          <p:spPr>
            <a:xfrm>
              <a:off x="8877402" y="4776521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d"/>
            <p:cNvSpPr/>
            <p:nvPr/>
          </p:nvSpPr>
          <p:spPr>
            <a:xfrm>
              <a:off x="9004808" y="4637532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d"/>
            <p:cNvSpPr/>
            <p:nvPr/>
          </p:nvSpPr>
          <p:spPr>
            <a:xfrm>
              <a:off x="9641840" y="4511040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d"/>
            <p:cNvSpPr/>
            <p:nvPr/>
          </p:nvSpPr>
          <p:spPr>
            <a:xfrm>
              <a:off x="9604654" y="4253484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d"/>
            <p:cNvSpPr/>
            <p:nvPr/>
          </p:nvSpPr>
          <p:spPr>
            <a:xfrm>
              <a:off x="9496755" y="4016654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d"/>
            <p:cNvSpPr/>
            <p:nvPr/>
          </p:nvSpPr>
          <p:spPr>
            <a:xfrm>
              <a:off x="9326372" y="3820058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d"/>
            <p:cNvSpPr/>
            <p:nvPr/>
          </p:nvSpPr>
          <p:spPr>
            <a:xfrm>
              <a:off x="9107221" y="3679241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d"/>
            <p:cNvSpPr/>
            <p:nvPr/>
          </p:nvSpPr>
          <p:spPr>
            <a:xfrm>
              <a:off x="8857590" y="3606089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d"/>
            <p:cNvSpPr/>
            <p:nvPr/>
          </p:nvSpPr>
          <p:spPr>
            <a:xfrm>
              <a:off x="8597290" y="3606089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d"/>
            <p:cNvSpPr/>
            <p:nvPr/>
          </p:nvSpPr>
          <p:spPr>
            <a:xfrm>
              <a:off x="8347659" y="3679241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d"/>
            <p:cNvSpPr/>
            <p:nvPr/>
          </p:nvSpPr>
          <p:spPr>
            <a:xfrm>
              <a:off x="8128508" y="3820058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d"/>
            <p:cNvSpPr/>
            <p:nvPr/>
          </p:nvSpPr>
          <p:spPr>
            <a:xfrm>
              <a:off x="7958125" y="4016654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d"/>
            <p:cNvSpPr/>
            <p:nvPr/>
          </p:nvSpPr>
          <p:spPr>
            <a:xfrm>
              <a:off x="7850226" y="4253484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d"/>
            <p:cNvSpPr/>
            <p:nvPr/>
          </p:nvSpPr>
          <p:spPr>
            <a:xfrm>
              <a:off x="7813040" y="4511040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d"/>
            <p:cNvSpPr/>
            <p:nvPr/>
          </p:nvSpPr>
          <p:spPr>
            <a:xfrm>
              <a:off x="7850226" y="4768596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d"/>
            <p:cNvSpPr/>
            <p:nvPr/>
          </p:nvSpPr>
          <p:spPr>
            <a:xfrm>
              <a:off x="7958125" y="5005426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d"/>
            <p:cNvSpPr/>
            <p:nvPr/>
          </p:nvSpPr>
          <p:spPr>
            <a:xfrm>
              <a:off x="8128508" y="5202022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d"/>
            <p:cNvSpPr/>
            <p:nvPr/>
          </p:nvSpPr>
          <p:spPr>
            <a:xfrm>
              <a:off x="8347659" y="5342839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d"/>
            <p:cNvSpPr/>
            <p:nvPr/>
          </p:nvSpPr>
          <p:spPr>
            <a:xfrm>
              <a:off x="8597290" y="5415991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d"/>
            <p:cNvSpPr/>
            <p:nvPr/>
          </p:nvSpPr>
          <p:spPr>
            <a:xfrm>
              <a:off x="8857590" y="5415991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d"/>
            <p:cNvSpPr/>
            <p:nvPr/>
          </p:nvSpPr>
          <p:spPr>
            <a:xfrm>
              <a:off x="9107221" y="5342839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d"/>
            <p:cNvSpPr/>
            <p:nvPr/>
          </p:nvSpPr>
          <p:spPr>
            <a:xfrm>
              <a:off x="9326372" y="5202022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d"/>
            <p:cNvSpPr/>
            <p:nvPr/>
          </p:nvSpPr>
          <p:spPr>
            <a:xfrm>
              <a:off x="9496755" y="5005426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d"/>
            <p:cNvSpPr/>
            <p:nvPr/>
          </p:nvSpPr>
          <p:spPr>
            <a:xfrm>
              <a:off x="9604654" y="4768596"/>
              <a:ext cx="71120" cy="7112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36" name="seg"/>
            <p:cNvCxnSpPr/>
            <p:nvPr/>
          </p:nvCxnSpPr>
          <p:spPr>
            <a:xfrm>
              <a:off x="8763000" y="3510280"/>
              <a:ext cx="0" cy="2072640"/>
            </a:xfrm>
            <a:prstGeom prst="line">
              <a:avLst/>
            </a:prstGeom>
            <a:ln w="22225">
              <a:solidFill>
                <a:srgbClr val="C0397A"/>
              </a:solidFill>
              <a:prstDash val="dash"/>
            </a:ln>
          </p:spPr>
        </p:cxnSp>
        <p:sp>
          <p:nvSpPr>
            <p:cNvPr id="337" name="d"/>
            <p:cNvSpPr/>
            <p:nvPr/>
          </p:nvSpPr>
          <p:spPr>
            <a:xfrm>
              <a:off x="8425180" y="4483100"/>
              <a:ext cx="127000" cy="1270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d"/>
            <p:cNvSpPr/>
            <p:nvPr/>
          </p:nvSpPr>
          <p:spPr>
            <a:xfrm>
              <a:off x="8973820" y="4483100"/>
              <a:ext cx="127000" cy="1270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lab"/>
            <p:cNvSpPr txBox="1"/>
            <p:nvPr/>
          </p:nvSpPr>
          <p:spPr>
            <a:xfrm>
              <a:off x="8890000" y="5608320"/>
              <a:ext cx="165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k-means boundary</a:t>
              </a:r>
            </a:p>
          </p:txBody>
        </p:sp>
        <p:sp>
          <p:nvSpPr>
            <p:cNvPr id="340" name="lab"/>
            <p:cNvSpPr txBox="1"/>
            <p:nvPr/>
          </p:nvSpPr>
          <p:spPr>
            <a:xfrm>
              <a:off x="9240520" y="4673600"/>
              <a:ext cx="1270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dirty="0">
                  <a:solidFill>
                    <a:srgbClr val="C0397A"/>
                  </a:solidFill>
                </a:rPr>
                <a:t>two centroids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6164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4CCE-5556-CA61-6F40-B742FE16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2: Why DBSCAN Can, and When It Fails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Idea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Density-connectivity instead of distance to a centre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Two points share a cluster if you can hop from one to the other through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neighbourhoods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core points.</a:t>
                </a:r>
              </a:p>
            </p:txBody>
          </p:sp>
        </mc:Choice>
        <mc:Fallback>
          <p:sp>
            <p:nvSpPr>
              <p:cNvPr id="201" name="Ide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OnRings"/>
              <p:cNvSpPr txBox="1"/>
              <p:nvPr/>
            </p:nvSpPr>
            <p:spPr>
              <a:xfrm>
                <a:off x="838200" y="3048000"/>
                <a:ext cx="5334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lnSpcReduction="10000"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On the rings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Along a ring, consecutive points are closer than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each ring is one connected chain.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DBSCAN returns exactly two clusters, with no assumption about shape.</a:t>
                </a:r>
              </a:p>
            </p:txBody>
          </p:sp>
        </mc:Choice>
        <mc:Fallback>
          <p:sp>
            <p:nvSpPr>
              <p:cNvPr id="202" name="OnRing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48000"/>
                <a:ext cx="5334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Fail"/>
              <p:cNvSpPr txBox="1"/>
              <p:nvPr/>
            </p:nvSpPr>
            <p:spPr>
              <a:xfrm>
                <a:off x="838200" y="4622800"/>
                <a:ext cx="5334000" cy="1447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fontScale="85000" lnSpcReduction="10000"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When DBSCAN itself fails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Clusters of very different density — a single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cannot serve both.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A thin bridge of points chains two true clusters together.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High dimensions: distances concentrate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stops discriminating.</a:t>
                </a:r>
              </a:p>
            </p:txBody>
          </p:sp>
        </mc:Choice>
        <mc:Fallback>
          <p:sp>
            <p:nvSpPr>
              <p:cNvPr id="203" name="Fai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22800"/>
                <a:ext cx="5334000" cy="1447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048000"/>
            <a:ext cx="4876800" cy="3022600"/>
            <a:chOff x="6477000" y="3048000"/>
            <a:chExt cx="4876800" cy="3022600"/>
          </a:xfrm>
        </p:grpSpPr>
        <p:sp>
          <p:nvSpPr>
            <p:cNvPr id="302" name="Frame"/>
            <p:cNvSpPr/>
            <p:nvPr/>
          </p:nvSpPr>
          <p:spPr>
            <a:xfrm>
              <a:off x="6477000" y="3048000"/>
              <a:ext cx="4876800" cy="30226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2258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Each ring is its own dense chain</a:t>
              </a:r>
            </a:p>
          </p:txBody>
        </p:sp>
        <p:sp>
          <p:nvSpPr>
            <p:cNvPr id="304" name="d"/>
            <p:cNvSpPr/>
            <p:nvPr/>
          </p:nvSpPr>
          <p:spPr>
            <a:xfrm>
              <a:off x="9026144" y="4374185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d"/>
            <p:cNvSpPr/>
            <p:nvPr/>
          </p:nvSpPr>
          <p:spPr>
            <a:xfrm>
              <a:off x="8933485" y="4210202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8762187" y="4132174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d"/>
            <p:cNvSpPr/>
            <p:nvPr/>
          </p:nvSpPr>
          <p:spPr>
            <a:xfrm>
              <a:off x="8577478" y="4169359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d"/>
            <p:cNvSpPr/>
            <p:nvPr/>
          </p:nvSpPr>
          <p:spPr>
            <a:xfrm>
              <a:off x="8450072" y="4308348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d"/>
            <p:cNvSpPr/>
            <p:nvPr/>
          </p:nvSpPr>
          <p:spPr>
            <a:xfrm>
              <a:off x="8428736" y="4495495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d"/>
            <p:cNvSpPr/>
            <p:nvPr/>
          </p:nvSpPr>
          <p:spPr>
            <a:xfrm>
              <a:off x="8521395" y="4659478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d"/>
            <p:cNvSpPr/>
            <p:nvPr/>
          </p:nvSpPr>
          <p:spPr>
            <a:xfrm>
              <a:off x="8692693" y="4737506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d"/>
            <p:cNvSpPr/>
            <p:nvPr/>
          </p:nvSpPr>
          <p:spPr>
            <a:xfrm>
              <a:off x="8877402" y="4700321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d"/>
            <p:cNvSpPr/>
            <p:nvPr/>
          </p:nvSpPr>
          <p:spPr>
            <a:xfrm>
              <a:off x="9004808" y="4561332"/>
              <a:ext cx="71120" cy="7112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d"/>
            <p:cNvSpPr/>
            <p:nvPr/>
          </p:nvSpPr>
          <p:spPr>
            <a:xfrm>
              <a:off x="9641840" y="4434840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d"/>
            <p:cNvSpPr/>
            <p:nvPr/>
          </p:nvSpPr>
          <p:spPr>
            <a:xfrm>
              <a:off x="9604654" y="4177284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d"/>
            <p:cNvSpPr/>
            <p:nvPr/>
          </p:nvSpPr>
          <p:spPr>
            <a:xfrm>
              <a:off x="9496755" y="3940454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d"/>
            <p:cNvSpPr/>
            <p:nvPr/>
          </p:nvSpPr>
          <p:spPr>
            <a:xfrm>
              <a:off x="9326372" y="3743858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d"/>
            <p:cNvSpPr/>
            <p:nvPr/>
          </p:nvSpPr>
          <p:spPr>
            <a:xfrm>
              <a:off x="9107221" y="3603041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d"/>
            <p:cNvSpPr/>
            <p:nvPr/>
          </p:nvSpPr>
          <p:spPr>
            <a:xfrm>
              <a:off x="8857590" y="3529889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d"/>
            <p:cNvSpPr/>
            <p:nvPr/>
          </p:nvSpPr>
          <p:spPr>
            <a:xfrm>
              <a:off x="8597290" y="3529889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d"/>
            <p:cNvSpPr/>
            <p:nvPr/>
          </p:nvSpPr>
          <p:spPr>
            <a:xfrm>
              <a:off x="8347659" y="3603041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d"/>
            <p:cNvSpPr/>
            <p:nvPr/>
          </p:nvSpPr>
          <p:spPr>
            <a:xfrm>
              <a:off x="8128508" y="3743858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d"/>
            <p:cNvSpPr/>
            <p:nvPr/>
          </p:nvSpPr>
          <p:spPr>
            <a:xfrm>
              <a:off x="7958125" y="3940454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d"/>
            <p:cNvSpPr/>
            <p:nvPr/>
          </p:nvSpPr>
          <p:spPr>
            <a:xfrm>
              <a:off x="7850226" y="4177284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d"/>
            <p:cNvSpPr/>
            <p:nvPr/>
          </p:nvSpPr>
          <p:spPr>
            <a:xfrm>
              <a:off x="7813040" y="4434840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d"/>
            <p:cNvSpPr/>
            <p:nvPr/>
          </p:nvSpPr>
          <p:spPr>
            <a:xfrm>
              <a:off x="7850226" y="4692396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d"/>
            <p:cNvSpPr/>
            <p:nvPr/>
          </p:nvSpPr>
          <p:spPr>
            <a:xfrm>
              <a:off x="7958125" y="4929226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d"/>
            <p:cNvSpPr/>
            <p:nvPr/>
          </p:nvSpPr>
          <p:spPr>
            <a:xfrm>
              <a:off x="8128508" y="5125822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d"/>
            <p:cNvSpPr/>
            <p:nvPr/>
          </p:nvSpPr>
          <p:spPr>
            <a:xfrm>
              <a:off x="8347659" y="5266639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d"/>
            <p:cNvSpPr/>
            <p:nvPr/>
          </p:nvSpPr>
          <p:spPr>
            <a:xfrm>
              <a:off x="8597290" y="5339791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d"/>
            <p:cNvSpPr/>
            <p:nvPr/>
          </p:nvSpPr>
          <p:spPr>
            <a:xfrm>
              <a:off x="8857590" y="5339791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d"/>
            <p:cNvSpPr/>
            <p:nvPr/>
          </p:nvSpPr>
          <p:spPr>
            <a:xfrm>
              <a:off x="9107221" y="5266639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d"/>
            <p:cNvSpPr/>
            <p:nvPr/>
          </p:nvSpPr>
          <p:spPr>
            <a:xfrm>
              <a:off x="9326372" y="5125822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d"/>
            <p:cNvSpPr/>
            <p:nvPr/>
          </p:nvSpPr>
          <p:spPr>
            <a:xfrm>
              <a:off x="9496755" y="4929226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d"/>
            <p:cNvSpPr/>
            <p:nvPr/>
          </p:nvSpPr>
          <p:spPr>
            <a:xfrm>
              <a:off x="9604654" y="4692396"/>
              <a:ext cx="71120" cy="7112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c"/>
            <p:cNvSpPr/>
            <p:nvPr/>
          </p:nvSpPr>
          <p:spPr>
            <a:xfrm>
              <a:off x="9525000" y="4318000"/>
              <a:ext cx="304800" cy="304800"/>
            </a:xfrm>
            <a:prstGeom prst="ellipse">
              <a:avLst/>
            </a:prstGeom>
            <a:noFill/>
            <a:ln w="12700">
              <a:solidFill>
                <a:srgbClr val="C0397A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c"/>
            <p:cNvSpPr/>
            <p:nvPr/>
          </p:nvSpPr>
          <p:spPr>
            <a:xfrm>
              <a:off x="9487814" y="4060444"/>
              <a:ext cx="304800" cy="304800"/>
            </a:xfrm>
            <a:prstGeom prst="ellipse">
              <a:avLst/>
            </a:prstGeom>
            <a:noFill/>
            <a:ln w="12700">
              <a:solidFill>
                <a:srgbClr val="C0397A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c"/>
            <p:cNvSpPr/>
            <p:nvPr/>
          </p:nvSpPr>
          <p:spPr>
            <a:xfrm>
              <a:off x="9379915" y="3823614"/>
              <a:ext cx="304800" cy="304800"/>
            </a:xfrm>
            <a:prstGeom prst="ellipse">
              <a:avLst/>
            </a:prstGeom>
            <a:noFill/>
            <a:ln w="12700">
              <a:solidFill>
                <a:srgbClr val="C0397A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c"/>
            <p:cNvSpPr/>
            <p:nvPr/>
          </p:nvSpPr>
          <p:spPr>
            <a:xfrm>
              <a:off x="9209532" y="3627018"/>
              <a:ext cx="304800" cy="304800"/>
            </a:xfrm>
            <a:prstGeom prst="ellipse">
              <a:avLst/>
            </a:prstGeom>
            <a:noFill/>
            <a:ln w="12700">
              <a:solidFill>
                <a:srgbClr val="C0397A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0" name="lab"/>
                <p:cNvSpPr txBox="1"/>
                <p:nvPr/>
              </p:nvSpPr>
              <p:spPr>
                <a:xfrm>
                  <a:off x="7543800" y="5532120"/>
                  <a:ext cx="2667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14:m>
                    <m:oMath xmlns:m="http://schemas.openxmlformats.org/officeDocument/2006/math">
                      <m:r>
                        <a:rPr lang="en-US" sz="1400">
                          <a:solidFill>
                            <a:srgbClr val="C0397A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1400">
                          <a:solidFill>
                            <a:srgbClr val="C0397A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rgbClr val="C0397A"/>
                          </a:solidFill>
                        </a:rPr>
                        <m:t>chain</m:t>
                      </m:r>
                    </m:oMath>
                  </a14:m>
                  <a:r>
                    <a:rPr lang="en-US" sz="1400" b="1" dirty="0">
                      <a:solidFill>
                        <a:srgbClr val="C0397A"/>
                      </a:solidFill>
                    </a:rPr>
                    <a:t> runs around each ring</a:t>
                  </a:r>
                </a:p>
              </p:txBody>
            </p:sp>
          </mc:Choice>
          <mc:Fallback>
            <p:sp>
              <p:nvSpPr>
                <p:cNvPr id="340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800" y="5532120"/>
                  <a:ext cx="2667000" cy="228600"/>
                </a:xfrm>
                <a:prstGeom prst="rect">
                  <a:avLst/>
                </a:prstGeom>
                <a:blipFill>
                  <a:blip r:embed="rId5"/>
                  <a:stretch>
                    <a:fillRect l="-1896" t="-21053" b="-4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1" name="lab"/>
                <p:cNvSpPr txBox="1"/>
                <p:nvPr/>
              </p:nvSpPr>
              <p:spPr>
                <a:xfrm>
                  <a:off x="8432800" y="3835400"/>
                  <a:ext cx="889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:r>
                    <a:rPr lang="en-US" sz="1400" b="1" dirty="0">
                      <a:solidFill>
                        <a:srgbClr val="595959"/>
                      </a:solidFill>
                    </a:rPr>
                    <a:t>gap </a:t>
                  </a:r>
                  <a14:m>
                    <m:oMath xmlns:m="http://schemas.openxmlformats.org/officeDocument/2006/math"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&gt; </m:t>
                      </m:r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a14:m>
                  <a:endParaRPr lang="en-US" sz="1400" b="1" dirty="0">
                    <a:solidFill>
                      <a:srgbClr val="595959"/>
                    </a:solidFill>
                  </a:endParaRPr>
                </a:p>
              </p:txBody>
            </p:sp>
          </mc:Choice>
          <mc:Fallback>
            <p:sp>
              <p:nvSpPr>
                <p:cNvPr id="341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800" y="3835400"/>
                  <a:ext cx="889000" cy="228600"/>
                </a:xfrm>
                <a:prstGeom prst="rect">
                  <a:avLst/>
                </a:prstGeom>
                <a:blipFill>
                  <a:blip r:embed="rId6"/>
                  <a:stretch>
                    <a:fillRect l="-11268" t="-15000" b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3401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8EC2D9-33AB-B241-858F-37B870E957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21F97-ADF0-D649-8070-AC1C52F33C32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0ABBE-2C68-F643-993F-07D38A8FE6FB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5F0EB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E230E-C9BB-FA4C-8898-8849206C3D51}"/>
              </a:ext>
            </a:extLst>
          </p:cNvPr>
          <p:cNvSpPr txBox="1"/>
          <p:nvPr/>
        </p:nvSpPr>
        <p:spPr>
          <a:xfrm>
            <a:off x="787400" y="2857500"/>
            <a:ext cx="965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t-SNE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70AFF-3BA2-8040-8A2E-3B10497330F7}"/>
              </a:ext>
            </a:extLst>
          </p:cNvPr>
          <p:cNvSpPr txBox="1"/>
          <p:nvPr/>
        </p:nvSpPr>
        <p:spPr>
          <a:xfrm>
            <a:off x="838200" y="41910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t-Distributed Stochastic Neighbor Embedding</a:t>
            </a:r>
          </a:p>
        </p:txBody>
      </p:sp>
    </p:spTree>
    <p:extLst>
      <p:ext uri="{BB962C8B-B14F-4D97-AF65-F5344CB8AC3E}">
        <p14:creationId xmlns:p14="http://schemas.microsoft.com/office/powerpoint/2010/main" val="210596292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94F0-6C47-7C96-A12C-CF440030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SNE: The Idea in One Sentence</a:t>
            </a:r>
          </a:p>
        </p:txBody>
      </p:sp>
      <p:sp>
        <p:nvSpPr>
          <p:cNvPr id="201" name="Idea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The idea in one sentence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Replace "</a:t>
            </a:r>
            <a:r>
              <a:rPr lang="en-US" sz="1600" b="1" dirty="0">
                <a:solidFill>
                  <a:srgbClr val="333333"/>
                </a:solidFill>
              </a:rPr>
              <a:t>how far apart are these points?</a:t>
            </a:r>
            <a:r>
              <a:rPr lang="en-US" sz="1600" dirty="0">
                <a:solidFill>
                  <a:srgbClr val="333333"/>
                </a:solidFill>
              </a:rPr>
              <a:t>" with "</a:t>
            </a:r>
            <a:r>
              <a:rPr lang="en-US" sz="1600" b="1" dirty="0">
                <a:solidFill>
                  <a:srgbClr val="333333"/>
                </a:solidFill>
              </a:rPr>
              <a:t>how likely is one point to pick the other as its neighbour?</a:t>
            </a:r>
            <a:r>
              <a:rPr lang="en-US" sz="1600" dirty="0">
                <a:solidFill>
                  <a:srgbClr val="333333"/>
                </a:solidFill>
              </a:rPr>
              <a:t>"</a:t>
            </a:r>
          </a:p>
        </p:txBody>
      </p:sp>
      <p:sp>
        <p:nvSpPr>
          <p:cNvPr id="202" name="How"/>
          <p:cNvSpPr txBox="1"/>
          <p:nvPr/>
        </p:nvSpPr>
        <p:spPr>
          <a:xfrm>
            <a:off x="838200" y="3124200"/>
            <a:ext cx="5334000" cy="1676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fontScale="92500"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How the probability is built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Centre a Gaussian bump on each point </a:t>
            </a:r>
            <a:r>
              <a:rPr lang="en-US" sz="1600" i="1" dirty="0">
                <a:solidFill>
                  <a:srgbClr val="333333"/>
                </a:solidFill>
              </a:rPr>
              <a:t>i</a:t>
            </a:r>
            <a:r>
              <a:rPr lang="en-US" sz="1600" dirty="0">
                <a:solidFill>
                  <a:srgbClr val="333333"/>
                </a:solidFill>
              </a:rPr>
              <a:t>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Score every other point by that bump: nearby points score high, distant ones almost zero.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Normalise the scores so they sum to one — now point i owns a probability distribution over its neighbours.</a:t>
            </a:r>
          </a:p>
        </p:txBody>
      </p:sp>
      <p:sp>
        <p:nvSpPr>
          <p:cNvPr id="203" name="Then"/>
          <p:cNvSpPr txBox="1"/>
          <p:nvPr/>
        </p:nvSpPr>
        <p:spPr>
          <a:xfrm>
            <a:off x="838200" y="4953000"/>
            <a:ext cx="5334000" cy="11176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fontScale="925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Then do the same in the map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Place the points in 2-D, build the same kind of distribution there, and move the map points until the two distributions agree.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24200"/>
            <a:ext cx="4876800" cy="2946400"/>
            <a:chOff x="6477000" y="3124200"/>
            <a:chExt cx="4876800" cy="29464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29464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One point's neighbour distribution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 flipV="1">
              <a:off x="6979920" y="5354625"/>
              <a:ext cx="68580" cy="685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 flipV="1">
              <a:off x="7048500" y="5346395"/>
              <a:ext cx="68580" cy="823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 flipV="1">
              <a:off x="7117080" y="5336108"/>
              <a:ext cx="68580" cy="1028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 flipV="1">
              <a:off x="7185660" y="5323764"/>
              <a:ext cx="68580" cy="1234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 flipV="1">
              <a:off x="7254240" y="5309362"/>
              <a:ext cx="68580" cy="1440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 flipV="1">
              <a:off x="7322820" y="5292217"/>
              <a:ext cx="68580" cy="1714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 flipV="1">
              <a:off x="7391400" y="5272329"/>
              <a:ext cx="68580" cy="1988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1" name="seg"/>
            <p:cNvCxnSpPr/>
            <p:nvPr/>
          </p:nvCxnSpPr>
          <p:spPr>
            <a:xfrm flipV="1">
              <a:off x="7459980" y="5249012"/>
              <a:ext cx="68580" cy="2331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2" name="seg"/>
            <p:cNvCxnSpPr/>
            <p:nvPr/>
          </p:nvCxnSpPr>
          <p:spPr>
            <a:xfrm flipV="1">
              <a:off x="7528560" y="5222951"/>
              <a:ext cx="68580" cy="2606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3" name="seg"/>
            <p:cNvCxnSpPr/>
            <p:nvPr/>
          </p:nvCxnSpPr>
          <p:spPr>
            <a:xfrm flipV="1">
              <a:off x="7597140" y="5194148"/>
              <a:ext cx="68580" cy="2880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4" name="seg"/>
            <p:cNvCxnSpPr/>
            <p:nvPr/>
          </p:nvCxnSpPr>
          <p:spPr>
            <a:xfrm flipV="1">
              <a:off x="7665720" y="5161915"/>
              <a:ext cx="68580" cy="3223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5" name="seg"/>
            <p:cNvCxnSpPr/>
            <p:nvPr/>
          </p:nvCxnSpPr>
          <p:spPr>
            <a:xfrm flipV="1">
              <a:off x="7734300" y="5127625"/>
              <a:ext cx="68580" cy="3429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6" name="seg"/>
            <p:cNvCxnSpPr/>
            <p:nvPr/>
          </p:nvCxnSpPr>
          <p:spPr>
            <a:xfrm flipV="1">
              <a:off x="7802880" y="5089906"/>
              <a:ext cx="68580" cy="3771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7" name="seg"/>
            <p:cNvCxnSpPr/>
            <p:nvPr/>
          </p:nvCxnSpPr>
          <p:spPr>
            <a:xfrm flipV="1">
              <a:off x="7871460" y="5050815"/>
              <a:ext cx="68580" cy="3909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8" name="seg"/>
            <p:cNvCxnSpPr/>
            <p:nvPr/>
          </p:nvCxnSpPr>
          <p:spPr>
            <a:xfrm flipV="1">
              <a:off x="7940040" y="5010353"/>
              <a:ext cx="68580" cy="404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9" name="seg"/>
            <p:cNvCxnSpPr/>
            <p:nvPr/>
          </p:nvCxnSpPr>
          <p:spPr>
            <a:xfrm flipV="1">
              <a:off x="8008620" y="4968519"/>
              <a:ext cx="68580" cy="4183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0" name="seg"/>
            <p:cNvCxnSpPr/>
            <p:nvPr/>
          </p:nvCxnSpPr>
          <p:spPr>
            <a:xfrm flipV="1">
              <a:off x="8077200" y="4927371"/>
              <a:ext cx="68580" cy="4114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1" name="seg"/>
            <p:cNvCxnSpPr/>
            <p:nvPr/>
          </p:nvCxnSpPr>
          <p:spPr>
            <a:xfrm flipV="1">
              <a:off x="8145780" y="4886909"/>
              <a:ext cx="68580" cy="404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2" name="seg"/>
            <p:cNvCxnSpPr/>
            <p:nvPr/>
          </p:nvCxnSpPr>
          <p:spPr>
            <a:xfrm flipV="1">
              <a:off x="8214360" y="4847819"/>
              <a:ext cx="68580" cy="3909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3" name="seg"/>
            <p:cNvCxnSpPr/>
            <p:nvPr/>
          </p:nvCxnSpPr>
          <p:spPr>
            <a:xfrm flipV="1">
              <a:off x="8282940" y="4812157"/>
              <a:ext cx="68580" cy="356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4" name="seg"/>
            <p:cNvCxnSpPr/>
            <p:nvPr/>
          </p:nvCxnSpPr>
          <p:spPr>
            <a:xfrm flipV="1">
              <a:off x="8351520" y="4779924"/>
              <a:ext cx="68580" cy="3223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5" name="seg"/>
            <p:cNvCxnSpPr/>
            <p:nvPr/>
          </p:nvCxnSpPr>
          <p:spPr>
            <a:xfrm flipV="1">
              <a:off x="8420100" y="4751807"/>
              <a:ext cx="68580" cy="2811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6" name="seg"/>
            <p:cNvCxnSpPr/>
            <p:nvPr/>
          </p:nvCxnSpPr>
          <p:spPr>
            <a:xfrm flipV="1">
              <a:off x="8488680" y="4729175"/>
              <a:ext cx="68580" cy="2263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7" name="seg"/>
            <p:cNvCxnSpPr/>
            <p:nvPr/>
          </p:nvCxnSpPr>
          <p:spPr>
            <a:xfrm flipV="1">
              <a:off x="8557260" y="4712716"/>
              <a:ext cx="68580" cy="1645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8" name="seg"/>
            <p:cNvCxnSpPr/>
            <p:nvPr/>
          </p:nvCxnSpPr>
          <p:spPr>
            <a:xfrm flipV="1">
              <a:off x="8625840" y="4702429"/>
              <a:ext cx="68580" cy="1028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9" name="seg"/>
            <p:cNvCxnSpPr/>
            <p:nvPr/>
          </p:nvCxnSpPr>
          <p:spPr>
            <a:xfrm flipV="1">
              <a:off x="8694420" y="4699000"/>
              <a:ext cx="68580" cy="342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0" name="seg"/>
            <p:cNvCxnSpPr/>
            <p:nvPr/>
          </p:nvCxnSpPr>
          <p:spPr>
            <a:xfrm>
              <a:off x="8763000" y="4699000"/>
              <a:ext cx="68580" cy="342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1" name="seg"/>
            <p:cNvCxnSpPr/>
            <p:nvPr/>
          </p:nvCxnSpPr>
          <p:spPr>
            <a:xfrm>
              <a:off x="8831580" y="4702429"/>
              <a:ext cx="68580" cy="1028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2" name="seg"/>
            <p:cNvCxnSpPr/>
            <p:nvPr/>
          </p:nvCxnSpPr>
          <p:spPr>
            <a:xfrm>
              <a:off x="8900160" y="4712716"/>
              <a:ext cx="68580" cy="1645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3" name="seg"/>
            <p:cNvCxnSpPr/>
            <p:nvPr/>
          </p:nvCxnSpPr>
          <p:spPr>
            <a:xfrm>
              <a:off x="8968740" y="4729175"/>
              <a:ext cx="68580" cy="2263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4" name="seg"/>
            <p:cNvCxnSpPr/>
            <p:nvPr/>
          </p:nvCxnSpPr>
          <p:spPr>
            <a:xfrm>
              <a:off x="9037320" y="4751807"/>
              <a:ext cx="68580" cy="2811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5" name="seg"/>
            <p:cNvCxnSpPr/>
            <p:nvPr/>
          </p:nvCxnSpPr>
          <p:spPr>
            <a:xfrm>
              <a:off x="9105900" y="4779924"/>
              <a:ext cx="68580" cy="3223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6" name="seg"/>
            <p:cNvCxnSpPr/>
            <p:nvPr/>
          </p:nvCxnSpPr>
          <p:spPr>
            <a:xfrm>
              <a:off x="9174480" y="4812157"/>
              <a:ext cx="68580" cy="356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7" name="seg"/>
            <p:cNvCxnSpPr/>
            <p:nvPr/>
          </p:nvCxnSpPr>
          <p:spPr>
            <a:xfrm>
              <a:off x="9243060" y="4847819"/>
              <a:ext cx="68580" cy="3909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8" name="seg"/>
            <p:cNvCxnSpPr/>
            <p:nvPr/>
          </p:nvCxnSpPr>
          <p:spPr>
            <a:xfrm>
              <a:off x="9311640" y="4886909"/>
              <a:ext cx="68580" cy="404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9" name="seg"/>
            <p:cNvCxnSpPr/>
            <p:nvPr/>
          </p:nvCxnSpPr>
          <p:spPr>
            <a:xfrm>
              <a:off x="9380220" y="4927371"/>
              <a:ext cx="68580" cy="4114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0" name="seg"/>
            <p:cNvCxnSpPr/>
            <p:nvPr/>
          </p:nvCxnSpPr>
          <p:spPr>
            <a:xfrm>
              <a:off x="9448800" y="4968519"/>
              <a:ext cx="68580" cy="4183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1" name="seg"/>
            <p:cNvCxnSpPr/>
            <p:nvPr/>
          </p:nvCxnSpPr>
          <p:spPr>
            <a:xfrm>
              <a:off x="9517380" y="5010353"/>
              <a:ext cx="68580" cy="404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2" name="seg"/>
            <p:cNvCxnSpPr/>
            <p:nvPr/>
          </p:nvCxnSpPr>
          <p:spPr>
            <a:xfrm>
              <a:off x="9585960" y="5050815"/>
              <a:ext cx="68580" cy="3909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3" name="seg"/>
            <p:cNvCxnSpPr/>
            <p:nvPr/>
          </p:nvCxnSpPr>
          <p:spPr>
            <a:xfrm>
              <a:off x="9654540" y="5089906"/>
              <a:ext cx="68580" cy="3771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4" name="seg"/>
            <p:cNvCxnSpPr/>
            <p:nvPr/>
          </p:nvCxnSpPr>
          <p:spPr>
            <a:xfrm>
              <a:off x="9723120" y="5127625"/>
              <a:ext cx="68580" cy="3429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5" name="seg"/>
            <p:cNvCxnSpPr/>
            <p:nvPr/>
          </p:nvCxnSpPr>
          <p:spPr>
            <a:xfrm>
              <a:off x="9791700" y="5161915"/>
              <a:ext cx="68580" cy="3223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6" name="seg"/>
            <p:cNvCxnSpPr/>
            <p:nvPr/>
          </p:nvCxnSpPr>
          <p:spPr>
            <a:xfrm>
              <a:off x="9860280" y="5194148"/>
              <a:ext cx="68580" cy="2880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7" name="seg"/>
            <p:cNvCxnSpPr/>
            <p:nvPr/>
          </p:nvCxnSpPr>
          <p:spPr>
            <a:xfrm>
              <a:off x="9928860" y="5222951"/>
              <a:ext cx="68580" cy="2606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8" name="seg"/>
            <p:cNvCxnSpPr/>
            <p:nvPr/>
          </p:nvCxnSpPr>
          <p:spPr>
            <a:xfrm>
              <a:off x="9997440" y="5249012"/>
              <a:ext cx="68580" cy="2331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9" name="seg"/>
            <p:cNvCxnSpPr/>
            <p:nvPr/>
          </p:nvCxnSpPr>
          <p:spPr>
            <a:xfrm>
              <a:off x="10066020" y="5272329"/>
              <a:ext cx="68580" cy="1988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0" name="seg"/>
            <p:cNvCxnSpPr/>
            <p:nvPr/>
          </p:nvCxnSpPr>
          <p:spPr>
            <a:xfrm>
              <a:off x="10134600" y="5292217"/>
              <a:ext cx="68580" cy="1714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1" name="seg"/>
            <p:cNvCxnSpPr/>
            <p:nvPr/>
          </p:nvCxnSpPr>
          <p:spPr>
            <a:xfrm>
              <a:off x="10203180" y="5309362"/>
              <a:ext cx="68580" cy="1440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2" name="seg"/>
            <p:cNvCxnSpPr/>
            <p:nvPr/>
          </p:nvCxnSpPr>
          <p:spPr>
            <a:xfrm>
              <a:off x="10271760" y="5323764"/>
              <a:ext cx="68580" cy="1234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3" name="seg"/>
            <p:cNvCxnSpPr/>
            <p:nvPr/>
          </p:nvCxnSpPr>
          <p:spPr>
            <a:xfrm>
              <a:off x="10340340" y="5336108"/>
              <a:ext cx="68580" cy="1028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4" name="seg"/>
            <p:cNvCxnSpPr/>
            <p:nvPr/>
          </p:nvCxnSpPr>
          <p:spPr>
            <a:xfrm>
              <a:off x="10408920" y="5346395"/>
              <a:ext cx="68580" cy="823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5" name="seg"/>
            <p:cNvCxnSpPr/>
            <p:nvPr/>
          </p:nvCxnSpPr>
          <p:spPr>
            <a:xfrm>
              <a:off x="10477500" y="5354625"/>
              <a:ext cx="68580" cy="685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6" name="seg"/>
            <p:cNvCxnSpPr/>
            <p:nvPr/>
          </p:nvCxnSpPr>
          <p:spPr>
            <a:xfrm>
              <a:off x="10546080" y="5361483"/>
              <a:ext cx="68580" cy="548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7" name="seg"/>
            <p:cNvCxnSpPr/>
            <p:nvPr/>
          </p:nvCxnSpPr>
          <p:spPr>
            <a:xfrm>
              <a:off x="10614660" y="5366969"/>
              <a:ext cx="68580" cy="41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8" name="seg"/>
            <p:cNvCxnSpPr/>
            <p:nvPr/>
          </p:nvCxnSpPr>
          <p:spPr>
            <a:xfrm>
              <a:off x="10683240" y="5371084"/>
              <a:ext cx="68580" cy="342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59" name="seg"/>
            <p:cNvCxnSpPr/>
            <p:nvPr/>
          </p:nvCxnSpPr>
          <p:spPr>
            <a:xfrm>
              <a:off x="10751820" y="5374513"/>
              <a:ext cx="68580" cy="274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60" name="seg"/>
            <p:cNvCxnSpPr/>
            <p:nvPr/>
          </p:nvCxnSpPr>
          <p:spPr>
            <a:xfrm flipV="1">
              <a:off x="7597140" y="5222951"/>
              <a:ext cx="0" cy="161849"/>
            </a:xfrm>
            <a:prstGeom prst="line">
              <a:avLst/>
            </a:prstGeom>
            <a:ln w="12700">
              <a:solidFill>
                <a:srgbClr val="C0397A"/>
              </a:solidFill>
              <a:prstDash val="dash"/>
            </a:ln>
          </p:spPr>
        </p:cxnSp>
        <p:sp>
          <p:nvSpPr>
            <p:cNvPr id="361" name="d"/>
            <p:cNvSpPr/>
            <p:nvPr/>
          </p:nvSpPr>
          <p:spPr>
            <a:xfrm>
              <a:off x="7553960" y="53416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62" name="seg"/>
            <p:cNvCxnSpPr/>
            <p:nvPr/>
          </p:nvCxnSpPr>
          <p:spPr>
            <a:xfrm flipV="1">
              <a:off x="8214360" y="4886909"/>
              <a:ext cx="0" cy="497891"/>
            </a:xfrm>
            <a:prstGeom prst="line">
              <a:avLst/>
            </a:prstGeom>
            <a:ln w="12700">
              <a:solidFill>
                <a:srgbClr val="C0397A"/>
              </a:solidFill>
              <a:prstDash val="dash"/>
            </a:ln>
          </p:spPr>
        </p:cxnSp>
        <p:sp>
          <p:nvSpPr>
            <p:cNvPr id="363" name="d"/>
            <p:cNvSpPr/>
            <p:nvPr/>
          </p:nvSpPr>
          <p:spPr>
            <a:xfrm>
              <a:off x="8171180" y="53416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64" name="seg"/>
            <p:cNvCxnSpPr/>
            <p:nvPr/>
          </p:nvCxnSpPr>
          <p:spPr>
            <a:xfrm flipV="1">
              <a:off x="9380220" y="4927371"/>
              <a:ext cx="0" cy="457429"/>
            </a:xfrm>
            <a:prstGeom prst="line">
              <a:avLst/>
            </a:prstGeom>
            <a:ln w="12700">
              <a:solidFill>
                <a:srgbClr val="C0397A"/>
              </a:solidFill>
              <a:prstDash val="dash"/>
            </a:ln>
          </p:spPr>
        </p:cxnSp>
        <p:sp>
          <p:nvSpPr>
            <p:cNvPr id="365" name="d"/>
            <p:cNvSpPr/>
            <p:nvPr/>
          </p:nvSpPr>
          <p:spPr>
            <a:xfrm>
              <a:off x="9337040" y="53416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66" name="seg"/>
            <p:cNvCxnSpPr/>
            <p:nvPr/>
          </p:nvCxnSpPr>
          <p:spPr>
            <a:xfrm flipV="1">
              <a:off x="9860280" y="5194148"/>
              <a:ext cx="0" cy="190652"/>
            </a:xfrm>
            <a:prstGeom prst="line">
              <a:avLst/>
            </a:prstGeom>
            <a:ln w="12700">
              <a:solidFill>
                <a:srgbClr val="C0397A"/>
              </a:solidFill>
              <a:prstDash val="dash"/>
            </a:ln>
          </p:spPr>
        </p:cxnSp>
        <p:sp>
          <p:nvSpPr>
            <p:cNvPr id="367" name="d"/>
            <p:cNvSpPr/>
            <p:nvPr/>
          </p:nvSpPr>
          <p:spPr>
            <a:xfrm>
              <a:off x="9817100" y="53416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68" name="seg"/>
            <p:cNvCxnSpPr/>
            <p:nvPr/>
          </p:nvCxnSpPr>
          <p:spPr>
            <a:xfrm flipV="1">
              <a:off x="10408920" y="5346395"/>
              <a:ext cx="0" cy="38405"/>
            </a:xfrm>
            <a:prstGeom prst="line">
              <a:avLst/>
            </a:prstGeom>
            <a:ln w="12700">
              <a:solidFill>
                <a:srgbClr val="C0397A"/>
              </a:solidFill>
              <a:prstDash val="dash"/>
            </a:ln>
          </p:spPr>
        </p:cxnSp>
        <p:sp>
          <p:nvSpPr>
            <p:cNvPr id="369" name="d"/>
            <p:cNvSpPr/>
            <p:nvPr/>
          </p:nvSpPr>
          <p:spPr>
            <a:xfrm>
              <a:off x="10365740" y="53416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70" name="seg"/>
            <p:cNvCxnSpPr/>
            <p:nvPr/>
          </p:nvCxnSpPr>
          <p:spPr>
            <a:xfrm>
              <a:off x="6774180" y="5384800"/>
              <a:ext cx="411480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sp>
          <p:nvSpPr>
            <p:cNvPr id="371" name="d"/>
            <p:cNvSpPr/>
            <p:nvPr/>
          </p:nvSpPr>
          <p:spPr>
            <a:xfrm>
              <a:off x="8699500" y="5321300"/>
              <a:ext cx="127000" cy="1270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2" name="lab"/>
                <p:cNvSpPr txBox="1"/>
                <p:nvPr/>
              </p:nvSpPr>
              <p:spPr>
                <a:xfrm>
                  <a:off x="8686800" y="5588000"/>
                  <a:ext cx="381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72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800" y="5588000"/>
                  <a:ext cx="381000" cy="228600"/>
                </a:xfrm>
                <a:prstGeom prst="rect">
                  <a:avLst/>
                </a:prstGeom>
                <a:blipFill>
                  <a:blip r:embed="rId2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3" name="lab"/>
            <p:cNvSpPr txBox="1"/>
            <p:nvPr/>
          </p:nvSpPr>
          <p:spPr>
            <a:xfrm>
              <a:off x="8865870" y="4495800"/>
              <a:ext cx="3048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height = chance i picks that neighbour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482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713D-CD98-99F6-1C76-912AFFF9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Distance to Probability: a 1-D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Data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A one-dimensional data set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i sits at 0; its neighbours sit at 1, 2 and 3 on the line.   Bandwidth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Da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Score"/>
              <p:cNvSpPr txBox="1"/>
              <p:nvPr/>
            </p:nvSpPr>
            <p:spPr>
              <a:xfrm>
                <a:off x="838200" y="3124200"/>
                <a:ext cx="5334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Score each neighbour with the Gaussian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exp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exp(−0.5)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0.607,  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exp(−2)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0.135,  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exp(−4.5) = 0.011</a:t>
                </a:r>
              </a:p>
            </p:txBody>
          </p:sp>
        </mc:Choice>
        <mc:Fallback>
          <p:sp>
            <p:nvSpPr>
              <p:cNvPr id="202" name="Scor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Norm"/>
              <p:cNvSpPr txBox="1"/>
              <p:nvPr/>
            </p:nvSpPr>
            <p:spPr>
              <a:xfrm>
                <a:off x="838200" y="4749800"/>
                <a:ext cx="5334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Normalise so the scores sum to 1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Z = 0.607 + 0.135 + 0.011 = 0.753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p(1|i) = 0.806      p(2|i) = 0.179      p(3|i) = 0.015</a:t>
                </a:r>
              </a:p>
            </p:txBody>
          </p:sp>
        </mc:Choice>
        <mc:Fallback>
          <p:sp>
            <p:nvSpPr>
              <p:cNvPr id="203" name="Nor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9800"/>
                <a:ext cx="5334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Read"/>
              <p:cNvSpPr txBox="1"/>
              <p:nvPr/>
            </p:nvSpPr>
            <p:spPr>
              <a:xfrm>
                <a:off x="6477000" y="5054600"/>
                <a:ext cx="4876800" cy="10160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The distance only doubles from 1 to 2, but the probability falls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4.5×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— SNE listens almost entirely to the nearest neighbours.</a:t>
                </a:r>
              </a:p>
            </p:txBody>
          </p:sp>
        </mc:Choice>
        <mc:Fallback>
          <p:sp>
            <p:nvSpPr>
              <p:cNvPr id="204" name="Rea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054600"/>
                <a:ext cx="4876800" cy="10160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24200"/>
            <a:ext cx="4876800" cy="1778000"/>
            <a:chOff x="6477000" y="3124200"/>
            <a:chExt cx="4876800" cy="17780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1778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3" name="lab"/>
                <p:cNvSpPr txBox="1"/>
                <p:nvPr/>
              </p:nvSpPr>
              <p:spPr>
                <a:xfrm>
                  <a:off x="6680200" y="3302000"/>
                  <a:ext cx="44704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:r>
                    <a:rPr lang="en-US" sz="1400" b="1" dirty="0">
                      <a:solidFill>
                        <a:srgbClr val="4B2E83"/>
                      </a:solidFill>
                    </a:rPr>
                    <a:t>Gaussian scores around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1400" b="1" dirty="0">
                    <a:solidFill>
                      <a:srgbClr val="4B2E83"/>
                    </a:solidFill>
                  </a:endParaRPr>
                </a:p>
              </p:txBody>
            </p:sp>
          </mc:Choice>
          <mc:Fallback>
            <p:sp>
              <p:nvSpPr>
                <p:cNvPr id="303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200" y="3302000"/>
                  <a:ext cx="4470400" cy="228600"/>
                </a:xfrm>
                <a:prstGeom prst="rect">
                  <a:avLst/>
                </a:prstGeom>
                <a:blipFill>
                  <a:blip r:embed="rId6"/>
                  <a:stretch>
                    <a:fillRect l="-2557" t="-22222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4" name="seg"/>
            <p:cNvCxnSpPr/>
            <p:nvPr/>
          </p:nvCxnSpPr>
          <p:spPr>
            <a:xfrm flipV="1">
              <a:off x="7190740" y="4203014"/>
              <a:ext cx="68580" cy="2126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 flipV="1">
              <a:off x="7259320" y="4183812"/>
              <a:ext cx="68580" cy="1920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 flipV="1">
              <a:off x="7327900" y="4166667"/>
              <a:ext cx="68580" cy="1714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 flipV="1">
              <a:off x="7396480" y="4152951"/>
              <a:ext cx="68580" cy="1371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 flipV="1">
              <a:off x="7465060" y="4143350"/>
              <a:ext cx="68580" cy="960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 flipV="1">
              <a:off x="7533640" y="4137177"/>
              <a:ext cx="68580" cy="617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 flipV="1">
              <a:off x="7602220" y="4135120"/>
              <a:ext cx="68580" cy="205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1" name="seg"/>
            <p:cNvCxnSpPr/>
            <p:nvPr/>
          </p:nvCxnSpPr>
          <p:spPr>
            <a:xfrm>
              <a:off x="7670800" y="4135120"/>
              <a:ext cx="68580" cy="205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2" name="seg"/>
            <p:cNvCxnSpPr/>
            <p:nvPr/>
          </p:nvCxnSpPr>
          <p:spPr>
            <a:xfrm>
              <a:off x="7739380" y="4137177"/>
              <a:ext cx="68580" cy="617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3" name="seg"/>
            <p:cNvCxnSpPr/>
            <p:nvPr/>
          </p:nvCxnSpPr>
          <p:spPr>
            <a:xfrm>
              <a:off x="7807960" y="4143350"/>
              <a:ext cx="68580" cy="960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4" name="seg"/>
            <p:cNvCxnSpPr/>
            <p:nvPr/>
          </p:nvCxnSpPr>
          <p:spPr>
            <a:xfrm>
              <a:off x="7876540" y="4152951"/>
              <a:ext cx="68580" cy="1371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5" name="seg"/>
            <p:cNvCxnSpPr/>
            <p:nvPr/>
          </p:nvCxnSpPr>
          <p:spPr>
            <a:xfrm>
              <a:off x="7945120" y="4166667"/>
              <a:ext cx="68580" cy="1714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6" name="seg"/>
            <p:cNvCxnSpPr/>
            <p:nvPr/>
          </p:nvCxnSpPr>
          <p:spPr>
            <a:xfrm>
              <a:off x="8013700" y="4183812"/>
              <a:ext cx="68580" cy="1920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7" name="seg"/>
            <p:cNvCxnSpPr/>
            <p:nvPr/>
          </p:nvCxnSpPr>
          <p:spPr>
            <a:xfrm>
              <a:off x="8082280" y="4203014"/>
              <a:ext cx="68580" cy="2126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8" name="seg"/>
            <p:cNvCxnSpPr/>
            <p:nvPr/>
          </p:nvCxnSpPr>
          <p:spPr>
            <a:xfrm>
              <a:off x="8150860" y="4224274"/>
              <a:ext cx="68580" cy="2331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9" name="seg"/>
            <p:cNvCxnSpPr/>
            <p:nvPr/>
          </p:nvCxnSpPr>
          <p:spPr>
            <a:xfrm>
              <a:off x="8219440" y="4247591"/>
              <a:ext cx="68580" cy="2468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0" name="seg"/>
            <p:cNvCxnSpPr/>
            <p:nvPr/>
          </p:nvCxnSpPr>
          <p:spPr>
            <a:xfrm>
              <a:off x="8288020" y="4272280"/>
              <a:ext cx="68580" cy="2468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1" name="seg"/>
            <p:cNvCxnSpPr/>
            <p:nvPr/>
          </p:nvCxnSpPr>
          <p:spPr>
            <a:xfrm>
              <a:off x="8356600" y="4296969"/>
              <a:ext cx="68580" cy="2468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2" name="seg"/>
            <p:cNvCxnSpPr/>
            <p:nvPr/>
          </p:nvCxnSpPr>
          <p:spPr>
            <a:xfrm>
              <a:off x="8425180" y="4321658"/>
              <a:ext cx="68580" cy="2468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3" name="seg"/>
            <p:cNvCxnSpPr/>
            <p:nvPr/>
          </p:nvCxnSpPr>
          <p:spPr>
            <a:xfrm>
              <a:off x="8493760" y="4346346"/>
              <a:ext cx="68580" cy="2331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4" name="seg"/>
            <p:cNvCxnSpPr/>
            <p:nvPr/>
          </p:nvCxnSpPr>
          <p:spPr>
            <a:xfrm>
              <a:off x="8562340" y="4369664"/>
              <a:ext cx="68580" cy="2263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5" name="seg"/>
            <p:cNvCxnSpPr/>
            <p:nvPr/>
          </p:nvCxnSpPr>
          <p:spPr>
            <a:xfrm>
              <a:off x="8630920" y="4392295"/>
              <a:ext cx="68580" cy="2057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6" name="seg"/>
            <p:cNvCxnSpPr/>
            <p:nvPr/>
          </p:nvCxnSpPr>
          <p:spPr>
            <a:xfrm>
              <a:off x="8699500" y="4412869"/>
              <a:ext cx="68580" cy="1920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7" name="seg"/>
            <p:cNvCxnSpPr/>
            <p:nvPr/>
          </p:nvCxnSpPr>
          <p:spPr>
            <a:xfrm>
              <a:off x="8768080" y="4432071"/>
              <a:ext cx="68580" cy="1783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8" name="seg"/>
            <p:cNvCxnSpPr/>
            <p:nvPr/>
          </p:nvCxnSpPr>
          <p:spPr>
            <a:xfrm>
              <a:off x="8836660" y="4449902"/>
              <a:ext cx="68580" cy="1508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9" name="seg"/>
            <p:cNvCxnSpPr/>
            <p:nvPr/>
          </p:nvCxnSpPr>
          <p:spPr>
            <a:xfrm>
              <a:off x="8905240" y="4464990"/>
              <a:ext cx="68580" cy="1371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0" name="seg"/>
            <p:cNvCxnSpPr/>
            <p:nvPr/>
          </p:nvCxnSpPr>
          <p:spPr>
            <a:xfrm>
              <a:off x="8973820" y="4478706"/>
              <a:ext cx="68580" cy="1234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1" name="seg"/>
            <p:cNvCxnSpPr/>
            <p:nvPr/>
          </p:nvCxnSpPr>
          <p:spPr>
            <a:xfrm>
              <a:off x="9042400" y="4491050"/>
              <a:ext cx="68580" cy="1028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2" name="seg"/>
            <p:cNvCxnSpPr/>
            <p:nvPr/>
          </p:nvCxnSpPr>
          <p:spPr>
            <a:xfrm>
              <a:off x="9110980" y="4501337"/>
              <a:ext cx="68580" cy="89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3" name="seg"/>
            <p:cNvCxnSpPr/>
            <p:nvPr/>
          </p:nvCxnSpPr>
          <p:spPr>
            <a:xfrm>
              <a:off x="9179560" y="4510253"/>
              <a:ext cx="68580" cy="685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4" name="seg"/>
            <p:cNvCxnSpPr/>
            <p:nvPr/>
          </p:nvCxnSpPr>
          <p:spPr>
            <a:xfrm>
              <a:off x="9248140" y="4517111"/>
              <a:ext cx="68580" cy="617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5" name="seg"/>
            <p:cNvCxnSpPr/>
            <p:nvPr/>
          </p:nvCxnSpPr>
          <p:spPr>
            <a:xfrm>
              <a:off x="9316720" y="4523283"/>
              <a:ext cx="68580" cy="548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6" name="seg"/>
            <p:cNvCxnSpPr/>
            <p:nvPr/>
          </p:nvCxnSpPr>
          <p:spPr>
            <a:xfrm>
              <a:off x="9385300" y="4528769"/>
              <a:ext cx="68580" cy="41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7" name="seg"/>
            <p:cNvCxnSpPr/>
            <p:nvPr/>
          </p:nvCxnSpPr>
          <p:spPr>
            <a:xfrm>
              <a:off x="9453880" y="4532884"/>
              <a:ext cx="68580" cy="274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8" name="seg"/>
            <p:cNvCxnSpPr/>
            <p:nvPr/>
          </p:nvCxnSpPr>
          <p:spPr>
            <a:xfrm>
              <a:off x="9522460" y="4535627"/>
              <a:ext cx="68580" cy="274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9" name="seg"/>
            <p:cNvCxnSpPr/>
            <p:nvPr/>
          </p:nvCxnSpPr>
          <p:spPr>
            <a:xfrm>
              <a:off x="9591040" y="4538370"/>
              <a:ext cx="68580" cy="205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0" name="seg"/>
            <p:cNvCxnSpPr/>
            <p:nvPr/>
          </p:nvCxnSpPr>
          <p:spPr>
            <a:xfrm>
              <a:off x="9659620" y="4540428"/>
              <a:ext cx="68580" cy="137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1" name="seg"/>
            <p:cNvCxnSpPr/>
            <p:nvPr/>
          </p:nvCxnSpPr>
          <p:spPr>
            <a:xfrm>
              <a:off x="9728200" y="4541799"/>
              <a:ext cx="68580" cy="137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2" name="seg"/>
            <p:cNvCxnSpPr/>
            <p:nvPr/>
          </p:nvCxnSpPr>
          <p:spPr>
            <a:xfrm>
              <a:off x="9796780" y="4543171"/>
              <a:ext cx="68580" cy="68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3" name="seg"/>
            <p:cNvCxnSpPr/>
            <p:nvPr/>
          </p:nvCxnSpPr>
          <p:spPr>
            <a:xfrm>
              <a:off x="9865360" y="4543857"/>
              <a:ext cx="68580" cy="68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4" name="seg"/>
            <p:cNvCxnSpPr/>
            <p:nvPr/>
          </p:nvCxnSpPr>
          <p:spPr>
            <a:xfrm>
              <a:off x="9933940" y="4544543"/>
              <a:ext cx="68580" cy="68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5" name="seg"/>
            <p:cNvCxnSpPr/>
            <p:nvPr/>
          </p:nvCxnSpPr>
          <p:spPr>
            <a:xfrm>
              <a:off x="10002520" y="4545228"/>
              <a:ext cx="68580" cy="68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6" name="seg"/>
            <p:cNvCxnSpPr/>
            <p:nvPr/>
          </p:nvCxnSpPr>
          <p:spPr>
            <a:xfrm>
              <a:off x="10071100" y="4545914"/>
              <a:ext cx="68580" cy="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7" name="seg"/>
            <p:cNvCxnSpPr/>
            <p:nvPr/>
          </p:nvCxnSpPr>
          <p:spPr>
            <a:xfrm>
              <a:off x="7122160" y="4546600"/>
              <a:ext cx="301752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48" name="seg"/>
            <p:cNvCxnSpPr/>
            <p:nvPr/>
          </p:nvCxnSpPr>
          <p:spPr>
            <a:xfrm flipV="1">
              <a:off x="8356600" y="4296969"/>
              <a:ext cx="0" cy="249631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49" name="d"/>
            <p:cNvSpPr/>
            <p:nvPr/>
          </p:nvSpPr>
          <p:spPr>
            <a:xfrm>
              <a:off x="8313420" y="45034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lab"/>
            <p:cNvSpPr txBox="1"/>
            <p:nvPr/>
          </p:nvSpPr>
          <p:spPr>
            <a:xfrm>
              <a:off x="8458200" y="4169832"/>
              <a:ext cx="5588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0.806</a:t>
              </a:r>
            </a:p>
          </p:txBody>
        </p:sp>
        <p:sp>
          <p:nvSpPr>
            <p:cNvPr id="351" name="lab"/>
            <p:cNvSpPr txBox="1"/>
            <p:nvPr/>
          </p:nvSpPr>
          <p:spPr>
            <a:xfrm>
              <a:off x="8191500" y="4686300"/>
              <a:ext cx="330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1</a:t>
              </a:r>
            </a:p>
          </p:txBody>
        </p:sp>
        <p:cxnSp>
          <p:nvCxnSpPr>
            <p:cNvPr id="352" name="seg"/>
            <p:cNvCxnSpPr/>
            <p:nvPr/>
          </p:nvCxnSpPr>
          <p:spPr>
            <a:xfrm flipV="1">
              <a:off x="9042400" y="4491050"/>
              <a:ext cx="0" cy="55550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53" name="d"/>
            <p:cNvSpPr/>
            <p:nvPr/>
          </p:nvSpPr>
          <p:spPr>
            <a:xfrm>
              <a:off x="8999220" y="45034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lab"/>
            <p:cNvSpPr txBox="1"/>
            <p:nvPr/>
          </p:nvSpPr>
          <p:spPr>
            <a:xfrm>
              <a:off x="9144000" y="4364050"/>
              <a:ext cx="5588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0.179</a:t>
              </a:r>
            </a:p>
          </p:txBody>
        </p:sp>
        <p:sp>
          <p:nvSpPr>
            <p:cNvPr id="355" name="lab"/>
            <p:cNvSpPr txBox="1"/>
            <p:nvPr/>
          </p:nvSpPr>
          <p:spPr>
            <a:xfrm>
              <a:off x="8877300" y="4686300"/>
              <a:ext cx="330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2</a:t>
              </a:r>
            </a:p>
          </p:txBody>
        </p:sp>
        <p:cxnSp>
          <p:nvCxnSpPr>
            <p:cNvPr id="356" name="seg"/>
            <p:cNvCxnSpPr/>
            <p:nvPr/>
          </p:nvCxnSpPr>
          <p:spPr>
            <a:xfrm flipV="1">
              <a:off x="9728200" y="4541799"/>
              <a:ext cx="0" cy="4801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57" name="d"/>
            <p:cNvSpPr/>
            <p:nvPr/>
          </p:nvSpPr>
          <p:spPr>
            <a:xfrm>
              <a:off x="9685020" y="45034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lab"/>
            <p:cNvSpPr txBox="1"/>
            <p:nvPr/>
          </p:nvSpPr>
          <p:spPr>
            <a:xfrm>
              <a:off x="9829800" y="4415074"/>
              <a:ext cx="5588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0.015</a:t>
              </a:r>
            </a:p>
          </p:txBody>
        </p:sp>
        <p:sp>
          <p:nvSpPr>
            <p:cNvPr id="359" name="lab"/>
            <p:cNvSpPr txBox="1"/>
            <p:nvPr/>
          </p:nvSpPr>
          <p:spPr>
            <a:xfrm>
              <a:off x="9563100" y="4686300"/>
              <a:ext cx="330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3</a:t>
              </a:r>
            </a:p>
          </p:txBody>
        </p:sp>
        <p:sp>
          <p:nvSpPr>
            <p:cNvPr id="360" name="d"/>
            <p:cNvSpPr/>
            <p:nvPr/>
          </p:nvSpPr>
          <p:spPr>
            <a:xfrm>
              <a:off x="7607300" y="4483100"/>
              <a:ext cx="127000" cy="1270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1" name="lab"/>
                <p:cNvSpPr txBox="1"/>
                <p:nvPr/>
              </p:nvSpPr>
              <p:spPr>
                <a:xfrm>
                  <a:off x="7340600" y="4699000"/>
                  <a:ext cx="6604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>
                            <a:solidFill>
                              <a:srgbClr val="C0397A"/>
                            </a:solidFill>
                            <a:latin typeface="Cambria Math" panose="02040503050406030204" pitchFamily="18" charset="0"/>
                          </a:rPr>
                          <m:t> = 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61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0600" y="4699000"/>
                  <a:ext cx="660400" cy="228600"/>
                </a:xfrm>
                <a:prstGeom prst="rect">
                  <a:avLst/>
                </a:prstGeom>
                <a:blipFill>
                  <a:blip r:embed="rId7"/>
                  <a:stretch>
                    <a:fillRect l="-1852" t="-5556" b="-3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2497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C8A92-3CD1-18B9-91CE-5AB0CC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Bandwidth Sets the Scale (Perplexity)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Why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bandwidth decides what "near" means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Same three neighbours at 1, 2 and 3 — 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the distribution changes completely.</a:t>
                </a:r>
              </a:p>
            </p:txBody>
          </p:sp>
        </mc:Choice>
        <mc:Fallback>
          <p:sp>
            <p:nvSpPr>
              <p:cNvPr id="201" name="Wh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Narrow"/>
              <p:cNvSpPr txBox="1"/>
              <p:nvPr/>
            </p:nvSpPr>
            <p:spPr>
              <a:xfrm>
                <a:off x="838200" y="3124200"/>
                <a:ext cx="5334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Narrow bandwidth: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0.5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p(1|i) = 0.998,   p(2|i) = 0.002,   p(3|i)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 0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Only the closest point exists — effective neighbour count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≈ 1.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202" name="Narrow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Wide"/>
              <p:cNvSpPr txBox="1"/>
              <p:nvPr/>
            </p:nvSpPr>
            <p:spPr>
              <a:xfrm>
                <a:off x="838200" y="4775200"/>
                <a:ext cx="5334000" cy="1295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Wide bandwidth: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endParaRPr lang="en-US" sz="1500" b="1" dirty="0">
                  <a:solidFill>
                    <a:srgbClr val="4B2E8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p(1|i) = 0.487,   p(2|i) = 0.334,   p(3|i) = 0.179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All three matter — effective neighbour count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≈ 3.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203" name="Wid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75200"/>
                <a:ext cx="5334000" cy="1295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Perp"/>
              <p:cNvSpPr txBox="1"/>
              <p:nvPr/>
            </p:nvSpPr>
            <p:spPr>
              <a:xfrm>
                <a:off x="6477000" y="5054600"/>
                <a:ext cx="4876800" cy="10160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Perplexity is that effective neighbour count. You choose it (typically 5–50) and each point's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is solved for to match it.</a:t>
                </a:r>
              </a:p>
            </p:txBody>
          </p:sp>
        </mc:Choice>
        <mc:Fallback>
          <p:sp>
            <p:nvSpPr>
              <p:cNvPr id="204" name="Per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054600"/>
                <a:ext cx="4876800" cy="10160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24200"/>
            <a:ext cx="4876800" cy="1778000"/>
            <a:chOff x="6477000" y="3124200"/>
            <a:chExt cx="4876800" cy="17780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1778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Two bandwidths, same three points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 flipV="1">
              <a:off x="7190740" y="4346346"/>
              <a:ext cx="68580" cy="45949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 flipV="1">
              <a:off x="7259320" y="4296969"/>
              <a:ext cx="68580" cy="49378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 flipV="1">
              <a:off x="7327900" y="4247591"/>
              <a:ext cx="68580" cy="49378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 flipV="1">
              <a:off x="7396480" y="4203014"/>
              <a:ext cx="68580" cy="44577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 flipV="1">
              <a:off x="7465060" y="4166667"/>
              <a:ext cx="68580" cy="36347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 flipV="1">
              <a:off x="7533640" y="4143350"/>
              <a:ext cx="68580" cy="23317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 flipV="1">
              <a:off x="7602220" y="4135120"/>
              <a:ext cx="68580" cy="823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1" name="seg"/>
            <p:cNvCxnSpPr/>
            <p:nvPr/>
          </p:nvCxnSpPr>
          <p:spPr>
            <a:xfrm>
              <a:off x="7670800" y="4135120"/>
              <a:ext cx="68580" cy="823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2" name="seg"/>
            <p:cNvCxnSpPr/>
            <p:nvPr/>
          </p:nvCxnSpPr>
          <p:spPr>
            <a:xfrm>
              <a:off x="7739380" y="4143350"/>
              <a:ext cx="68580" cy="23317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3" name="seg"/>
            <p:cNvCxnSpPr/>
            <p:nvPr/>
          </p:nvCxnSpPr>
          <p:spPr>
            <a:xfrm>
              <a:off x="7807960" y="4166667"/>
              <a:ext cx="68580" cy="36347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4" name="seg"/>
            <p:cNvCxnSpPr/>
            <p:nvPr/>
          </p:nvCxnSpPr>
          <p:spPr>
            <a:xfrm>
              <a:off x="7876540" y="4203014"/>
              <a:ext cx="68580" cy="44577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5" name="seg"/>
            <p:cNvCxnSpPr/>
            <p:nvPr/>
          </p:nvCxnSpPr>
          <p:spPr>
            <a:xfrm>
              <a:off x="7945120" y="4247591"/>
              <a:ext cx="68580" cy="49378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6" name="seg"/>
            <p:cNvCxnSpPr/>
            <p:nvPr/>
          </p:nvCxnSpPr>
          <p:spPr>
            <a:xfrm>
              <a:off x="8013700" y="4296969"/>
              <a:ext cx="68580" cy="49378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7" name="seg"/>
            <p:cNvCxnSpPr/>
            <p:nvPr/>
          </p:nvCxnSpPr>
          <p:spPr>
            <a:xfrm>
              <a:off x="8082280" y="4346346"/>
              <a:ext cx="68580" cy="45949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8" name="seg"/>
            <p:cNvCxnSpPr/>
            <p:nvPr/>
          </p:nvCxnSpPr>
          <p:spPr>
            <a:xfrm>
              <a:off x="8150860" y="4392295"/>
              <a:ext cx="68580" cy="39776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19" name="seg"/>
            <p:cNvCxnSpPr/>
            <p:nvPr/>
          </p:nvCxnSpPr>
          <p:spPr>
            <a:xfrm>
              <a:off x="8219440" y="4432071"/>
              <a:ext cx="68580" cy="32918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0" name="seg"/>
            <p:cNvCxnSpPr/>
            <p:nvPr/>
          </p:nvCxnSpPr>
          <p:spPr>
            <a:xfrm>
              <a:off x="8288020" y="4464990"/>
              <a:ext cx="68580" cy="2606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1" name="seg"/>
            <p:cNvCxnSpPr/>
            <p:nvPr/>
          </p:nvCxnSpPr>
          <p:spPr>
            <a:xfrm>
              <a:off x="8356600" y="4491050"/>
              <a:ext cx="68580" cy="19202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2" name="seg"/>
            <p:cNvCxnSpPr/>
            <p:nvPr/>
          </p:nvCxnSpPr>
          <p:spPr>
            <a:xfrm>
              <a:off x="8425180" y="4510253"/>
              <a:ext cx="68580" cy="1303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3" name="seg"/>
            <p:cNvCxnSpPr/>
            <p:nvPr/>
          </p:nvCxnSpPr>
          <p:spPr>
            <a:xfrm>
              <a:off x="8493760" y="4523283"/>
              <a:ext cx="68580" cy="9601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4" name="seg"/>
            <p:cNvCxnSpPr/>
            <p:nvPr/>
          </p:nvCxnSpPr>
          <p:spPr>
            <a:xfrm>
              <a:off x="8562340" y="4532884"/>
              <a:ext cx="68580" cy="5486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5" name="seg"/>
            <p:cNvCxnSpPr/>
            <p:nvPr/>
          </p:nvCxnSpPr>
          <p:spPr>
            <a:xfrm>
              <a:off x="8630920" y="4538370"/>
              <a:ext cx="68580" cy="3429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6" name="seg"/>
            <p:cNvCxnSpPr/>
            <p:nvPr/>
          </p:nvCxnSpPr>
          <p:spPr>
            <a:xfrm>
              <a:off x="8699500" y="4541799"/>
              <a:ext cx="68580" cy="2057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7" name="seg"/>
            <p:cNvCxnSpPr/>
            <p:nvPr/>
          </p:nvCxnSpPr>
          <p:spPr>
            <a:xfrm>
              <a:off x="8768080" y="4543857"/>
              <a:ext cx="68580" cy="1372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8" name="seg"/>
            <p:cNvCxnSpPr/>
            <p:nvPr/>
          </p:nvCxnSpPr>
          <p:spPr>
            <a:xfrm>
              <a:off x="8836660" y="4545228"/>
              <a:ext cx="68580" cy="686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29" name="seg"/>
            <p:cNvCxnSpPr/>
            <p:nvPr/>
          </p:nvCxnSpPr>
          <p:spPr>
            <a:xfrm>
              <a:off x="8905240" y="4545914"/>
              <a:ext cx="68580" cy="686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0" name="seg"/>
            <p:cNvCxnSpPr/>
            <p:nvPr/>
          </p:nvCxnSpPr>
          <p:spPr>
            <a:xfrm>
              <a:off x="897382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1" name="seg"/>
            <p:cNvCxnSpPr/>
            <p:nvPr/>
          </p:nvCxnSpPr>
          <p:spPr>
            <a:xfrm>
              <a:off x="904240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2" name="seg"/>
            <p:cNvCxnSpPr/>
            <p:nvPr/>
          </p:nvCxnSpPr>
          <p:spPr>
            <a:xfrm>
              <a:off x="911098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3" name="seg"/>
            <p:cNvCxnSpPr/>
            <p:nvPr/>
          </p:nvCxnSpPr>
          <p:spPr>
            <a:xfrm>
              <a:off x="917956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4" name="seg"/>
            <p:cNvCxnSpPr/>
            <p:nvPr/>
          </p:nvCxnSpPr>
          <p:spPr>
            <a:xfrm>
              <a:off x="924814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5" name="seg"/>
            <p:cNvCxnSpPr/>
            <p:nvPr/>
          </p:nvCxnSpPr>
          <p:spPr>
            <a:xfrm>
              <a:off x="931672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6" name="seg"/>
            <p:cNvCxnSpPr/>
            <p:nvPr/>
          </p:nvCxnSpPr>
          <p:spPr>
            <a:xfrm>
              <a:off x="938530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7" name="seg"/>
            <p:cNvCxnSpPr/>
            <p:nvPr/>
          </p:nvCxnSpPr>
          <p:spPr>
            <a:xfrm>
              <a:off x="945388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8" name="seg"/>
            <p:cNvCxnSpPr/>
            <p:nvPr/>
          </p:nvCxnSpPr>
          <p:spPr>
            <a:xfrm>
              <a:off x="952246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39" name="seg"/>
            <p:cNvCxnSpPr/>
            <p:nvPr/>
          </p:nvCxnSpPr>
          <p:spPr>
            <a:xfrm>
              <a:off x="959104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0" name="seg"/>
            <p:cNvCxnSpPr/>
            <p:nvPr/>
          </p:nvCxnSpPr>
          <p:spPr>
            <a:xfrm>
              <a:off x="965962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1" name="seg"/>
            <p:cNvCxnSpPr/>
            <p:nvPr/>
          </p:nvCxnSpPr>
          <p:spPr>
            <a:xfrm>
              <a:off x="972820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2" name="seg"/>
            <p:cNvCxnSpPr/>
            <p:nvPr/>
          </p:nvCxnSpPr>
          <p:spPr>
            <a:xfrm>
              <a:off x="979678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3" name="seg"/>
            <p:cNvCxnSpPr/>
            <p:nvPr/>
          </p:nvCxnSpPr>
          <p:spPr>
            <a:xfrm>
              <a:off x="986536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4" name="seg"/>
            <p:cNvCxnSpPr/>
            <p:nvPr/>
          </p:nvCxnSpPr>
          <p:spPr>
            <a:xfrm>
              <a:off x="993394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5" name="seg"/>
            <p:cNvCxnSpPr/>
            <p:nvPr/>
          </p:nvCxnSpPr>
          <p:spPr>
            <a:xfrm>
              <a:off x="1000252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6" name="seg"/>
            <p:cNvCxnSpPr/>
            <p:nvPr/>
          </p:nvCxnSpPr>
          <p:spPr>
            <a:xfrm>
              <a:off x="10071100" y="4546600"/>
              <a:ext cx="68580" cy="0"/>
            </a:xfrm>
            <a:prstGeom prst="line">
              <a:avLst/>
            </a:prstGeom>
            <a:ln w="22225">
              <a:solidFill>
                <a:srgbClr val="C0397A"/>
              </a:solidFill>
            </a:ln>
          </p:spPr>
        </p:cxnSp>
        <p:cxnSp>
          <p:nvCxnSpPr>
            <p:cNvPr id="347" name="seg"/>
            <p:cNvCxnSpPr/>
            <p:nvPr/>
          </p:nvCxnSpPr>
          <p:spPr>
            <a:xfrm flipV="1">
              <a:off x="7190740" y="4152951"/>
              <a:ext cx="68580" cy="6858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48" name="seg"/>
            <p:cNvCxnSpPr/>
            <p:nvPr/>
          </p:nvCxnSpPr>
          <p:spPr>
            <a:xfrm flipV="1">
              <a:off x="7259320" y="4147464"/>
              <a:ext cx="68580" cy="5486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49" name="seg"/>
            <p:cNvCxnSpPr/>
            <p:nvPr/>
          </p:nvCxnSpPr>
          <p:spPr>
            <a:xfrm flipV="1">
              <a:off x="7327900" y="4143350"/>
              <a:ext cx="68580" cy="4115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0" name="seg"/>
            <p:cNvCxnSpPr/>
            <p:nvPr/>
          </p:nvCxnSpPr>
          <p:spPr>
            <a:xfrm flipV="1">
              <a:off x="7396480" y="4139921"/>
              <a:ext cx="68580" cy="3429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1" name="seg"/>
            <p:cNvCxnSpPr/>
            <p:nvPr/>
          </p:nvCxnSpPr>
          <p:spPr>
            <a:xfrm flipV="1">
              <a:off x="7465060" y="4137177"/>
              <a:ext cx="68580" cy="2743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2" name="seg"/>
            <p:cNvCxnSpPr/>
            <p:nvPr/>
          </p:nvCxnSpPr>
          <p:spPr>
            <a:xfrm flipV="1">
              <a:off x="7533640" y="4135806"/>
              <a:ext cx="68580" cy="1372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3" name="seg"/>
            <p:cNvCxnSpPr/>
            <p:nvPr/>
          </p:nvCxnSpPr>
          <p:spPr>
            <a:xfrm flipV="1">
              <a:off x="7602220" y="4135120"/>
              <a:ext cx="68580" cy="686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4" name="seg"/>
            <p:cNvCxnSpPr/>
            <p:nvPr/>
          </p:nvCxnSpPr>
          <p:spPr>
            <a:xfrm>
              <a:off x="7670800" y="4135120"/>
              <a:ext cx="68580" cy="686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5" name="seg"/>
            <p:cNvCxnSpPr/>
            <p:nvPr/>
          </p:nvCxnSpPr>
          <p:spPr>
            <a:xfrm>
              <a:off x="7739380" y="4135806"/>
              <a:ext cx="68580" cy="1372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6" name="seg"/>
            <p:cNvCxnSpPr/>
            <p:nvPr/>
          </p:nvCxnSpPr>
          <p:spPr>
            <a:xfrm>
              <a:off x="7807960" y="4137177"/>
              <a:ext cx="68580" cy="2743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7" name="seg"/>
            <p:cNvCxnSpPr/>
            <p:nvPr/>
          </p:nvCxnSpPr>
          <p:spPr>
            <a:xfrm>
              <a:off x="7876540" y="4139921"/>
              <a:ext cx="68580" cy="3429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8" name="seg"/>
            <p:cNvCxnSpPr/>
            <p:nvPr/>
          </p:nvCxnSpPr>
          <p:spPr>
            <a:xfrm>
              <a:off x="7945120" y="4143350"/>
              <a:ext cx="68580" cy="4115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59" name="seg"/>
            <p:cNvCxnSpPr/>
            <p:nvPr/>
          </p:nvCxnSpPr>
          <p:spPr>
            <a:xfrm>
              <a:off x="8013700" y="4147464"/>
              <a:ext cx="68580" cy="5486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0" name="seg"/>
            <p:cNvCxnSpPr/>
            <p:nvPr/>
          </p:nvCxnSpPr>
          <p:spPr>
            <a:xfrm>
              <a:off x="8082280" y="4152951"/>
              <a:ext cx="68580" cy="6858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1" name="seg"/>
            <p:cNvCxnSpPr/>
            <p:nvPr/>
          </p:nvCxnSpPr>
          <p:spPr>
            <a:xfrm>
              <a:off x="8150860" y="4159809"/>
              <a:ext cx="68580" cy="6858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2" name="seg"/>
            <p:cNvCxnSpPr/>
            <p:nvPr/>
          </p:nvCxnSpPr>
          <p:spPr>
            <a:xfrm>
              <a:off x="8219440" y="4166667"/>
              <a:ext cx="68580" cy="8230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3" name="seg"/>
            <p:cNvCxnSpPr/>
            <p:nvPr/>
          </p:nvCxnSpPr>
          <p:spPr>
            <a:xfrm>
              <a:off x="8288020" y="4174896"/>
              <a:ext cx="68580" cy="8915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4" name="seg"/>
            <p:cNvCxnSpPr/>
            <p:nvPr/>
          </p:nvCxnSpPr>
          <p:spPr>
            <a:xfrm>
              <a:off x="8356600" y="4183812"/>
              <a:ext cx="68580" cy="8915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5" name="seg"/>
            <p:cNvCxnSpPr/>
            <p:nvPr/>
          </p:nvCxnSpPr>
          <p:spPr>
            <a:xfrm>
              <a:off x="8425180" y="4192727"/>
              <a:ext cx="68580" cy="10287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6" name="seg"/>
            <p:cNvCxnSpPr/>
            <p:nvPr/>
          </p:nvCxnSpPr>
          <p:spPr>
            <a:xfrm>
              <a:off x="8493760" y="4203014"/>
              <a:ext cx="68580" cy="10287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7" name="seg"/>
            <p:cNvCxnSpPr/>
            <p:nvPr/>
          </p:nvCxnSpPr>
          <p:spPr>
            <a:xfrm>
              <a:off x="8562340" y="4213301"/>
              <a:ext cx="68580" cy="10973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8" name="seg"/>
            <p:cNvCxnSpPr/>
            <p:nvPr/>
          </p:nvCxnSpPr>
          <p:spPr>
            <a:xfrm>
              <a:off x="8630920" y="4224274"/>
              <a:ext cx="68580" cy="11659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69" name="seg"/>
            <p:cNvCxnSpPr/>
            <p:nvPr/>
          </p:nvCxnSpPr>
          <p:spPr>
            <a:xfrm>
              <a:off x="8699500" y="4235933"/>
              <a:ext cx="68580" cy="11659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0" name="seg"/>
            <p:cNvCxnSpPr/>
            <p:nvPr/>
          </p:nvCxnSpPr>
          <p:spPr>
            <a:xfrm>
              <a:off x="8768080" y="4247591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1" name="seg"/>
            <p:cNvCxnSpPr/>
            <p:nvPr/>
          </p:nvCxnSpPr>
          <p:spPr>
            <a:xfrm>
              <a:off x="8836660" y="4259936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2" name="seg"/>
            <p:cNvCxnSpPr/>
            <p:nvPr/>
          </p:nvCxnSpPr>
          <p:spPr>
            <a:xfrm>
              <a:off x="8905240" y="4272280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3" name="seg"/>
            <p:cNvCxnSpPr/>
            <p:nvPr/>
          </p:nvCxnSpPr>
          <p:spPr>
            <a:xfrm>
              <a:off x="8973820" y="4284624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4" name="seg"/>
            <p:cNvCxnSpPr/>
            <p:nvPr/>
          </p:nvCxnSpPr>
          <p:spPr>
            <a:xfrm>
              <a:off x="9042400" y="4296969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5" name="seg"/>
            <p:cNvCxnSpPr/>
            <p:nvPr/>
          </p:nvCxnSpPr>
          <p:spPr>
            <a:xfrm>
              <a:off x="9110980" y="4309313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6" name="seg"/>
            <p:cNvCxnSpPr/>
            <p:nvPr/>
          </p:nvCxnSpPr>
          <p:spPr>
            <a:xfrm>
              <a:off x="9179560" y="4321658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7" name="seg"/>
            <p:cNvCxnSpPr/>
            <p:nvPr/>
          </p:nvCxnSpPr>
          <p:spPr>
            <a:xfrm>
              <a:off x="9248140" y="4334002"/>
              <a:ext cx="68580" cy="123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8" name="seg"/>
            <p:cNvCxnSpPr/>
            <p:nvPr/>
          </p:nvCxnSpPr>
          <p:spPr>
            <a:xfrm>
              <a:off x="9316720" y="4346346"/>
              <a:ext cx="68580" cy="11659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79" name="seg"/>
            <p:cNvCxnSpPr/>
            <p:nvPr/>
          </p:nvCxnSpPr>
          <p:spPr>
            <a:xfrm>
              <a:off x="9385300" y="4358005"/>
              <a:ext cx="68580" cy="11659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0" name="seg"/>
            <p:cNvCxnSpPr/>
            <p:nvPr/>
          </p:nvCxnSpPr>
          <p:spPr>
            <a:xfrm>
              <a:off x="9453880" y="4369664"/>
              <a:ext cx="68580" cy="11659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1" name="seg"/>
            <p:cNvCxnSpPr/>
            <p:nvPr/>
          </p:nvCxnSpPr>
          <p:spPr>
            <a:xfrm>
              <a:off x="9522460" y="4381322"/>
              <a:ext cx="68580" cy="10973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2" name="seg"/>
            <p:cNvCxnSpPr/>
            <p:nvPr/>
          </p:nvCxnSpPr>
          <p:spPr>
            <a:xfrm>
              <a:off x="9591040" y="4392295"/>
              <a:ext cx="68580" cy="10287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3" name="seg"/>
            <p:cNvCxnSpPr/>
            <p:nvPr/>
          </p:nvCxnSpPr>
          <p:spPr>
            <a:xfrm>
              <a:off x="9659620" y="4402582"/>
              <a:ext cx="68580" cy="10287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4" name="seg"/>
            <p:cNvCxnSpPr/>
            <p:nvPr/>
          </p:nvCxnSpPr>
          <p:spPr>
            <a:xfrm>
              <a:off x="9728200" y="4412869"/>
              <a:ext cx="68580" cy="10287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5" name="seg"/>
            <p:cNvCxnSpPr/>
            <p:nvPr/>
          </p:nvCxnSpPr>
          <p:spPr>
            <a:xfrm>
              <a:off x="9796780" y="4423156"/>
              <a:ext cx="68580" cy="8915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6" name="seg"/>
            <p:cNvCxnSpPr/>
            <p:nvPr/>
          </p:nvCxnSpPr>
          <p:spPr>
            <a:xfrm>
              <a:off x="9865360" y="4432071"/>
              <a:ext cx="68580" cy="8915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7" name="seg"/>
            <p:cNvCxnSpPr/>
            <p:nvPr/>
          </p:nvCxnSpPr>
          <p:spPr>
            <a:xfrm>
              <a:off x="9933940" y="4440987"/>
              <a:ext cx="68580" cy="8915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8" name="seg"/>
            <p:cNvCxnSpPr/>
            <p:nvPr/>
          </p:nvCxnSpPr>
          <p:spPr>
            <a:xfrm>
              <a:off x="10002520" y="4449902"/>
              <a:ext cx="68580" cy="75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89" name="seg"/>
            <p:cNvCxnSpPr/>
            <p:nvPr/>
          </p:nvCxnSpPr>
          <p:spPr>
            <a:xfrm>
              <a:off x="10071100" y="4457446"/>
              <a:ext cx="68580" cy="7544"/>
            </a:xfrm>
            <a:prstGeom prst="line">
              <a:avLst/>
            </a:prstGeom>
            <a:ln w="22225">
              <a:solidFill>
                <a:srgbClr val="00A7B5"/>
              </a:solidFill>
            </a:ln>
          </p:spPr>
        </p:cxnSp>
        <p:cxnSp>
          <p:nvCxnSpPr>
            <p:cNvPr id="390" name="seg"/>
            <p:cNvCxnSpPr/>
            <p:nvPr/>
          </p:nvCxnSpPr>
          <p:spPr>
            <a:xfrm>
              <a:off x="7122160" y="4546600"/>
              <a:ext cx="301752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sp>
          <p:nvSpPr>
            <p:cNvPr id="391" name="d"/>
            <p:cNvSpPr/>
            <p:nvPr/>
          </p:nvSpPr>
          <p:spPr>
            <a:xfrm>
              <a:off x="8313420" y="45034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lab"/>
            <p:cNvSpPr txBox="1"/>
            <p:nvPr/>
          </p:nvSpPr>
          <p:spPr>
            <a:xfrm>
              <a:off x="8191500" y="4686300"/>
              <a:ext cx="330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1</a:t>
              </a:r>
            </a:p>
          </p:txBody>
        </p:sp>
        <p:sp>
          <p:nvSpPr>
            <p:cNvPr id="393" name="d"/>
            <p:cNvSpPr/>
            <p:nvPr/>
          </p:nvSpPr>
          <p:spPr>
            <a:xfrm>
              <a:off x="8999220" y="45034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lab"/>
            <p:cNvSpPr txBox="1"/>
            <p:nvPr/>
          </p:nvSpPr>
          <p:spPr>
            <a:xfrm>
              <a:off x="8877300" y="4686300"/>
              <a:ext cx="330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2</a:t>
              </a:r>
            </a:p>
          </p:txBody>
        </p:sp>
        <p:sp>
          <p:nvSpPr>
            <p:cNvPr id="395" name="d"/>
            <p:cNvSpPr/>
            <p:nvPr/>
          </p:nvSpPr>
          <p:spPr>
            <a:xfrm>
              <a:off x="9685020" y="45034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lab"/>
            <p:cNvSpPr txBox="1"/>
            <p:nvPr/>
          </p:nvSpPr>
          <p:spPr>
            <a:xfrm>
              <a:off x="9563100" y="4686300"/>
              <a:ext cx="330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3</a:t>
              </a:r>
            </a:p>
          </p:txBody>
        </p:sp>
        <p:sp>
          <p:nvSpPr>
            <p:cNvPr id="397" name="d"/>
            <p:cNvSpPr/>
            <p:nvPr/>
          </p:nvSpPr>
          <p:spPr>
            <a:xfrm>
              <a:off x="7607300" y="4483100"/>
              <a:ext cx="127000" cy="1270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8" name="lab"/>
                <p:cNvSpPr txBox="1"/>
                <p:nvPr/>
              </p:nvSpPr>
              <p:spPr>
                <a:xfrm>
                  <a:off x="8124190" y="4204970"/>
                  <a:ext cx="889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>
                            <a:solidFill>
                              <a:srgbClr val="C0397A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>
                            <a:solidFill>
                              <a:srgbClr val="C0397A"/>
                            </a:solidFill>
                            <a:latin typeface="Cambria Math" panose="02040503050406030204" pitchFamily="18" charset="0"/>
                          </a:rPr>
                          <m:t> = 0.5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98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4190" y="4204970"/>
                  <a:ext cx="889000" cy="228600"/>
                </a:xfrm>
                <a:prstGeom prst="rect">
                  <a:avLst/>
                </a:prstGeom>
                <a:blipFill>
                  <a:blip r:embed="rId6"/>
                  <a:stretch>
                    <a:fillRect t="-5556" b="-3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9" name="lab"/>
                <p:cNvSpPr txBox="1"/>
                <p:nvPr/>
              </p:nvSpPr>
              <p:spPr>
                <a:xfrm>
                  <a:off x="9392920" y="4184396"/>
                  <a:ext cx="7112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 = 2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99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2920" y="4184396"/>
                  <a:ext cx="711200" cy="228600"/>
                </a:xfrm>
                <a:prstGeom prst="rect">
                  <a:avLst/>
                </a:prstGeom>
                <a:blipFill>
                  <a:blip r:embed="rId7"/>
                  <a:stretch>
                    <a:fillRect t="-5263" b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5186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55C7-1835-B7A6-8DEE-5AE10734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Perplexity: the Effective Neighbour Count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Defs"/>
              <p:cNvSpPr txBox="1"/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two pieces</a:t>
                </a:r>
              </a:p>
              <a:p>
                <a:pPr algn="l"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Entropy in bits: 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𝐻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) = −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∑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𝑝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𝑗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|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𝑖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)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𝑝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𝑗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|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𝑖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Perplexity: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  <a:latin typeface="Cambria Math"/>
                      </a:rPr>
                      <m:t>Perp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/>
                      </a:rPr>
                      <m:t>) = 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𝐻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/>
                          </a:rPr>
                          <m:t>)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Def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68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Numbers"/>
              <p:cNvSpPr txBox="1"/>
              <p:nvPr/>
            </p:nvSpPr>
            <p:spPr>
              <a:xfrm>
                <a:off x="6426200" y="3251200"/>
                <a:ext cx="49276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Our three neighbours, three bandwidths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1: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(0.806, 0.179, 0.015) →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≈ 0.79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Perp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 1.7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0.5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Perp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 1.0      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Perp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 2.8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3" name="Number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251200"/>
                <a:ext cx="49276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Use"/>
              <p:cNvSpPr txBox="1"/>
              <p:nvPr/>
            </p:nvSpPr>
            <p:spPr>
              <a:xfrm>
                <a:off x="838200" y="5054600"/>
                <a:ext cx="10515600" cy="10160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So you choose a neighbour count, not a distance: for each point t-SNE binary-searches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until the perplexity hits your setting (typically 5–50). Dense and sparse regions therefore get different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but the same effective neighbourhood size.</a:t>
                </a:r>
              </a:p>
            </p:txBody>
          </p:sp>
        </mc:Choice>
        <mc:Fallback>
          <p:sp>
            <p:nvSpPr>
              <p:cNvPr id="204" name="Us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54600"/>
                <a:ext cx="10515600" cy="1016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Why"/>
              <p:cNvSpPr txBox="1"/>
              <p:nvPr/>
            </p:nvSpPr>
            <p:spPr>
              <a:xfrm>
                <a:off x="838200" y="3251200"/>
                <a:ext cx="5334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lnSpcReduction="10000"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Why 2 to the power of the entropy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Entropy counts bits, so it lives on a base-2 log scale — exponentiating turns it back into a plain count.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Calibration: if the distribution is uniform over k neighbours, the entropy is exactly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log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so the perplexity is exactly k.</a:t>
                </a:r>
              </a:p>
            </p:txBody>
          </p:sp>
        </mc:Choice>
        <mc:Fallback>
          <p:sp>
            <p:nvSpPr>
              <p:cNvPr id="202" name="Wh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51200"/>
                <a:ext cx="5334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66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C1FE-C9B2-07E5-A2E3-C5E110AE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Match Distributions, Not Distances</a:t>
            </a:r>
          </a:p>
        </p:txBody>
      </p:sp>
      <p:sp>
        <p:nvSpPr>
          <p:cNvPr id="201" name="Problem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Why probabilities rather than raw distances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A distance of 1 can mean "very close" in a sparse region and "far" in a dense one — raw distances are not comparable across a data set.</a:t>
            </a:r>
          </a:p>
        </p:txBody>
      </p:sp>
      <p:sp>
        <p:nvSpPr>
          <p:cNvPr id="202" name="Fix"/>
          <p:cNvSpPr txBox="1"/>
          <p:nvPr/>
        </p:nvSpPr>
        <p:spPr>
          <a:xfrm>
            <a:off x="838200" y="3124200"/>
            <a:ext cx="5334000" cy="1600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Per-point normalisation fixes the scale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Each point divides by its own neighbourhood total, so every point contributes one full unit of probability.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Dense and sparse regions are then judged on the same footing.</a:t>
            </a:r>
          </a:p>
        </p:txBody>
      </p:sp>
      <p:sp>
        <p:nvSpPr>
          <p:cNvPr id="203" name="Bridge"/>
          <p:cNvSpPr txBox="1"/>
          <p:nvPr/>
        </p:nvSpPr>
        <p:spPr>
          <a:xfrm>
            <a:off x="838200" y="4876800"/>
            <a:ext cx="5334000" cy="1193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What the map must reproduce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Matching distributions means keeping who is near whom, not how far apart things are — which is exactly what the next slides formalise with P, Q and the KL divergence.</a:t>
            </a:r>
          </a:p>
        </p:txBody>
      </p:sp>
      <p:sp>
        <p:nvSpPr>
          <p:cNvPr id="204" name="Note"/>
          <p:cNvSpPr txBox="1"/>
          <p:nvPr/>
        </p:nvSpPr>
        <p:spPr>
          <a:xfrm>
            <a:off x="6477000" y="5054600"/>
            <a:ext cx="4876800" cy="1016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This is also why t-SNE distances between well-separated clusters carry little meaning: only the neighbour relationships were fitted.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24200"/>
            <a:ext cx="4876800" cy="1778000"/>
            <a:chOff x="6477000" y="3124200"/>
            <a:chExt cx="4876800" cy="1778000"/>
          </a:xfrm>
        </p:grpSpPr>
        <p:sp>
          <p:nvSpPr>
            <p:cNvPr id="302" name="Frame"/>
            <p:cNvSpPr/>
            <p:nvPr/>
          </p:nvSpPr>
          <p:spPr>
            <a:xfrm>
              <a:off x="6477000" y="3124200"/>
              <a:ext cx="4876800" cy="1778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020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Same rule, different local scales</a:t>
              </a:r>
            </a:p>
          </p:txBody>
        </p:sp>
        <p:sp>
          <p:nvSpPr>
            <p:cNvPr id="304" name="d"/>
            <p:cNvSpPr/>
            <p:nvPr/>
          </p:nvSpPr>
          <p:spPr>
            <a:xfrm>
              <a:off x="7272020" y="4147820"/>
              <a:ext cx="86360" cy="8636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d"/>
            <p:cNvSpPr/>
            <p:nvPr/>
          </p:nvSpPr>
          <p:spPr>
            <a:xfrm>
              <a:off x="7468870" y="4006088"/>
              <a:ext cx="86360" cy="8636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7665720" y="4147820"/>
              <a:ext cx="86360" cy="8636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d"/>
            <p:cNvSpPr/>
            <p:nvPr/>
          </p:nvSpPr>
          <p:spPr>
            <a:xfrm>
              <a:off x="7862570" y="4006088"/>
              <a:ext cx="86360" cy="8636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d"/>
            <p:cNvSpPr/>
            <p:nvPr/>
          </p:nvSpPr>
          <p:spPr>
            <a:xfrm>
              <a:off x="8059420" y="4147820"/>
              <a:ext cx="86360" cy="8636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d"/>
            <p:cNvSpPr/>
            <p:nvPr/>
          </p:nvSpPr>
          <p:spPr>
            <a:xfrm>
              <a:off x="7586980" y="4006088"/>
              <a:ext cx="86360" cy="8636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d"/>
            <p:cNvSpPr/>
            <p:nvPr/>
          </p:nvSpPr>
          <p:spPr>
            <a:xfrm>
              <a:off x="7941310" y="4147820"/>
              <a:ext cx="86360" cy="8636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d"/>
            <p:cNvSpPr/>
            <p:nvPr/>
          </p:nvSpPr>
          <p:spPr>
            <a:xfrm>
              <a:off x="9004300" y="4147820"/>
              <a:ext cx="86360" cy="8636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d"/>
            <p:cNvSpPr/>
            <p:nvPr/>
          </p:nvSpPr>
          <p:spPr>
            <a:xfrm>
              <a:off x="9555480" y="4006088"/>
              <a:ext cx="86360" cy="8636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d"/>
            <p:cNvSpPr/>
            <p:nvPr/>
          </p:nvSpPr>
          <p:spPr>
            <a:xfrm>
              <a:off x="10106660" y="4147820"/>
              <a:ext cx="86360" cy="8636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d"/>
            <p:cNvSpPr/>
            <p:nvPr/>
          </p:nvSpPr>
          <p:spPr>
            <a:xfrm>
              <a:off x="10657840" y="4006088"/>
              <a:ext cx="86360" cy="8636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15" name="seg"/>
            <p:cNvCxnSpPr/>
            <p:nvPr/>
          </p:nvCxnSpPr>
          <p:spPr>
            <a:xfrm>
              <a:off x="7000240" y="4427220"/>
              <a:ext cx="409448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sp>
          <p:nvSpPr>
            <p:cNvPr id="316" name="c"/>
            <p:cNvSpPr/>
            <p:nvPr/>
          </p:nvSpPr>
          <p:spPr>
            <a:xfrm>
              <a:off x="7378192" y="3789426"/>
              <a:ext cx="661416" cy="661416"/>
            </a:xfrm>
            <a:prstGeom prst="ellipse">
              <a:avLst/>
            </a:prstGeom>
            <a:noFill/>
            <a:ln w="12700">
              <a:solidFill>
                <a:srgbClr val="C0397A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c"/>
            <p:cNvSpPr/>
            <p:nvPr/>
          </p:nvSpPr>
          <p:spPr>
            <a:xfrm>
              <a:off x="8890000" y="3411474"/>
              <a:ext cx="1417320" cy="1417320"/>
            </a:xfrm>
            <a:prstGeom prst="ellipse">
              <a:avLst/>
            </a:prstGeom>
            <a:noFill/>
            <a:ln w="12700">
              <a:solidFill>
                <a:srgbClr val="C0397A"/>
              </a:solidFill>
              <a:prstDash val="dash"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8" name="lab"/>
                <p:cNvSpPr txBox="1"/>
                <p:nvPr/>
              </p:nvSpPr>
              <p:spPr>
                <a:xfrm>
                  <a:off x="6591300" y="4579620"/>
                  <a:ext cx="2286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>
                      <a:solidFill>
                        <a:srgbClr val="4B2E83"/>
                      </a:solidFill>
                    </a:rPr>
                    <a:t>dense region: small </a:t>
                  </a:r>
                  <a14:m>
                    <m:oMath xmlns:m="http://schemas.openxmlformats.org/officeDocument/2006/math">
                      <m:r>
                        <a:rPr lang="en-US" sz="14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en-US" sz="1400" b="1" dirty="0">
                    <a:solidFill>
                      <a:srgbClr val="4B2E83"/>
                    </a:solidFill>
                  </a:endParaRPr>
                </a:p>
              </p:txBody>
            </p:sp>
          </mc:Choice>
          <mc:Fallback>
            <p:sp>
              <p:nvSpPr>
                <p:cNvPr id="318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300" y="4579620"/>
                  <a:ext cx="2286000" cy="228600"/>
                </a:xfrm>
                <a:prstGeom prst="rect">
                  <a:avLst/>
                </a:prstGeom>
                <a:blipFill>
                  <a:blip r:embed="rId2"/>
                  <a:stretch>
                    <a:fillRect t="-21053" b="-4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9" name="lab"/>
                <p:cNvSpPr txBox="1"/>
                <p:nvPr/>
              </p:nvSpPr>
              <p:spPr>
                <a:xfrm>
                  <a:off x="8430260" y="4579620"/>
                  <a:ext cx="2413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:r>
                    <a:rPr lang="en-US" sz="1400" b="1" dirty="0">
                      <a:solidFill>
                        <a:srgbClr val="00A7B5"/>
                      </a:solidFill>
                    </a:rPr>
                    <a:t>sparse region: large </a:t>
                  </a:r>
                  <a14:m>
                    <m:oMath xmlns:m="http://schemas.openxmlformats.org/officeDocument/2006/math"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endParaRPr lang="en-US" sz="1400" b="1" dirty="0">
                    <a:solidFill>
                      <a:srgbClr val="00A7B5"/>
                    </a:solidFill>
                  </a:endParaRPr>
                </a:p>
              </p:txBody>
            </p:sp>
          </mc:Choice>
          <mc:Fallback>
            <p:sp>
              <p:nvSpPr>
                <p:cNvPr id="319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0260" y="4579620"/>
                  <a:ext cx="2413000" cy="228600"/>
                </a:xfrm>
                <a:prstGeom prst="rect">
                  <a:avLst/>
                </a:prstGeom>
                <a:blipFill>
                  <a:blip r:embed="rId3"/>
                  <a:stretch>
                    <a:fillRect t="-21053" b="-4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9192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2B35-41CB-9281-682B-F770B430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High-D Affinities: the Conditional p(j|i)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29BFC3-1D5E-894D-BF83-3BCC811AC56A}"/>
              </a:ext>
            </a:extLst>
          </p:cNvPr>
          <p:cNvSpPr/>
          <p:nvPr/>
        </p:nvSpPr>
        <p:spPr>
          <a:xfrm>
            <a:off x="838200" y="1905000"/>
            <a:ext cx="5143500" cy="304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7D6E3-095C-4E44-AB2B-2542D600F47E}"/>
              </a:ext>
            </a:extLst>
          </p:cNvPr>
          <p:cNvSpPr/>
          <p:nvPr/>
        </p:nvSpPr>
        <p:spPr>
          <a:xfrm>
            <a:off x="838200" y="1905000"/>
            <a:ext cx="5143500" cy="4572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High-dimensional (Gaussian)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35C20-0DA9-8B44-8AD8-6B829D226454}"/>
                  </a:ext>
                </a:extLst>
              </p:cNvPr>
              <p:cNvSpPr txBox="1"/>
              <p:nvPr/>
            </p:nvSpPr>
            <p:spPr>
              <a:xfrm>
                <a:off x="1016000" y="2489200"/>
                <a:ext cx="4787900" cy="19143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Conditional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4B2E83"/>
                                  </a:solidFill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500" dirty="0"/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set so perplexity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333333"/>
                            </a:solidFill>
                          </a:rPr>
                          <m:t>H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matches a target (typ. 5–50).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35C20-0DA9-8B44-8AD8-6B829D226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89200"/>
                <a:ext cx="4787900" cy="1914370"/>
              </a:xfrm>
              <a:prstGeom prst="rect">
                <a:avLst/>
              </a:prstGeom>
              <a:blipFill>
                <a:blip r:embed="rId2"/>
                <a:stretch>
                  <a:fillRect l="-796" t="-658" b="-7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erms"/>
              <p:cNvSpPr txBox="1"/>
              <p:nvPr/>
            </p:nvSpPr>
            <p:spPr>
              <a:xfrm>
                <a:off x="6210300" y="1905000"/>
                <a:ext cx="5143500" cy="2006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Reading the formula, piece by piece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Numerator: a Gaussian score for the pair (i, j) — large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shrinking fast with squared distance.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Denominator: the same score summed over every other point k, so point i's scores add up to 1.</a:t>
                </a:r>
              </a:p>
            </p:txBody>
          </p:sp>
        </mc:Choice>
        <mc:Fallback>
          <p:sp>
            <p:nvSpPr>
              <p:cNvPr id="201" name="Term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1905000"/>
                <a:ext cx="5143500" cy="2006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Sigma"/>
              <p:cNvSpPr txBox="1"/>
              <p:nvPr/>
            </p:nvSpPr>
            <p:spPr>
              <a:xfrm>
                <a:off x="6210300" y="4064000"/>
                <a:ext cx="51435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lnSpcReduction="10000"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does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One bandwidth per point, chosen so the perplexity you set is matched.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Dense neighbourhood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sparse neighbourhood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2" name="Sigm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4064000"/>
                <a:ext cx="51435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Asym"/>
          <p:cNvSpPr txBox="1"/>
          <p:nvPr/>
        </p:nvSpPr>
        <p:spPr>
          <a:xfrm>
            <a:off x="838200" y="5130800"/>
            <a:ext cx="5143500" cy="939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p(j|i) is a conditional probability, so it is asymmetric: i's view of j need not match j's view of i.</a:t>
            </a:r>
          </a:p>
        </p:txBody>
      </p:sp>
    </p:spTree>
    <p:extLst>
      <p:ext uri="{BB962C8B-B14F-4D97-AF65-F5344CB8AC3E}">
        <p14:creationId xmlns:p14="http://schemas.microsoft.com/office/powerpoint/2010/main" val="109200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3C2B35-41CB-9281-682B-F770B4301A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Symmetrising: from p(j|i) to the Joint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3C2B35-41CB-9281-682B-F770B430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AA151D6-9588-F449-9A25-634D57225C2A}"/>
              </a:ext>
            </a:extLst>
          </p:cNvPr>
          <p:cNvSpPr/>
          <p:nvPr/>
        </p:nvSpPr>
        <p:spPr>
          <a:xfrm>
            <a:off x="838200" y="1930400"/>
            <a:ext cx="10515600" cy="1016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6F3B1A-F8B1-E548-87B1-AA7C147B12B8}"/>
                  </a:ext>
                </a:extLst>
              </p:cNvPr>
              <p:cNvSpPr txBox="1"/>
              <p:nvPr/>
            </p:nvSpPr>
            <p:spPr>
              <a:xfrm>
                <a:off x="838200" y="2082800"/>
                <a:ext cx="10515600" cy="71295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Symmetrize the high-D affinities into a joint distribution: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7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7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num>
                      <m:den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700" dirty="0">
                    <a:solidFill>
                      <a:srgbClr val="4B2E83"/>
                    </a:solidFill>
                  </a:rPr>
                  <a:t>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7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sz="17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700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6F3B1A-F8B1-E548-87B1-AA7C147B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82800"/>
                <a:ext cx="10515600" cy="712952"/>
              </a:xfrm>
              <a:prstGeom prst="rect">
                <a:avLst/>
              </a:prstGeom>
              <a:blipFill>
                <a:blip r:embed="rId3"/>
                <a:stretch>
                  <a:fillRect l="-362" t="-12281" b="-75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Why"/>
          <p:cNvSpPr txBox="1"/>
          <p:nvPr/>
        </p:nvSpPr>
        <p:spPr>
          <a:xfrm>
            <a:off x="838200" y="3327400"/>
            <a:ext cx="5143500" cy="1955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Why symmetrise at all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An outlier sits far from everything, so its conditionals p(j|i) are tiny in every direction and it would barely affect the map.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Averaging the two directions guarantees each point carries weight at least 1/(2n).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Read"/>
              <p:cNvSpPr txBox="1"/>
              <p:nvPr/>
            </p:nvSpPr>
            <p:spPr>
              <a:xfrm>
                <a:off x="6210300" y="3327400"/>
                <a:ext cx="5143500" cy="1955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Reading the formula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Take the average of the two conditionals, then divide by n so the whole matrix sums to 1.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P is now a single joint distribution over pairs,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2" name="Rea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3327400"/>
                <a:ext cx="5143500" cy="1955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Bridge"/>
          <p:cNvSpPr txBox="1"/>
          <p:nvPr/>
        </p:nvSpPr>
        <p:spPr>
          <a:xfrm>
            <a:off x="838200" y="5435600"/>
            <a:ext cx="10515600" cy="635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From here on the method compares two distributions over pairs: P in the original space and Q in the map.</a:t>
            </a:r>
          </a:p>
        </p:txBody>
      </p:sp>
    </p:spTree>
    <p:extLst>
      <p:ext uri="{BB962C8B-B14F-4D97-AF65-F5344CB8AC3E}">
        <p14:creationId xmlns:p14="http://schemas.microsoft.com/office/powerpoint/2010/main" val="405964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3C2B35-41CB-9281-682B-F770B4301A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Low-D Affinities: the Student-t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3C2B35-41CB-9281-682B-F770B430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8F4246-86FF-144D-A8E0-09D698E455DF}"/>
              </a:ext>
            </a:extLst>
          </p:cNvPr>
          <p:cNvSpPr/>
          <p:nvPr/>
        </p:nvSpPr>
        <p:spPr>
          <a:xfrm>
            <a:off x="838200" y="1905000"/>
            <a:ext cx="5143500" cy="304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1FFBC-647D-5142-B6D3-2B38A29DA530}"/>
              </a:ext>
            </a:extLst>
          </p:cNvPr>
          <p:cNvSpPr/>
          <p:nvPr/>
        </p:nvSpPr>
        <p:spPr>
          <a:xfrm>
            <a:off x="838200" y="1905000"/>
            <a:ext cx="5143500" cy="457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Low-dimensional (Student-t)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367DAC-62FF-A74A-93E2-4DEAED925652}"/>
                  </a:ext>
                </a:extLst>
              </p:cNvPr>
              <p:cNvSpPr txBox="1"/>
              <p:nvPr/>
            </p:nvSpPr>
            <p:spPr>
              <a:xfrm>
                <a:off x="1016000" y="2489200"/>
                <a:ext cx="4787900" cy="162916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Similarity of map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(heavy tails):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Student-t (1 df) gives heavy tails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relieves crowding, separates clusters.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367DAC-62FF-A74A-93E2-4DEAED925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89200"/>
                <a:ext cx="4787900" cy="1629164"/>
              </a:xfrm>
              <a:prstGeom prst="rect">
                <a:avLst/>
              </a:prstGeom>
              <a:blipFill>
                <a:blip r:embed="rId3"/>
                <a:stretch>
                  <a:fillRect l="-796" t="-769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rms"/>
          <p:cNvSpPr txBox="1"/>
          <p:nvPr/>
        </p:nvSpPr>
        <p:spPr>
          <a:xfrm>
            <a:off x="6210300" y="1905000"/>
            <a:ext cx="5143500" cy="1905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Reading the formula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Numerator: 1 / (1 + squared map distance) — a Student-t kernel with one degree of freedom.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Denominator: the same quantity over all pairs, so Q is a joint distribution summing to 1.</a:t>
            </a:r>
          </a:p>
        </p:txBody>
      </p:sp>
      <p:sp>
        <p:nvSpPr>
          <p:cNvPr id="202" name="Tails"/>
          <p:cNvSpPr txBox="1"/>
          <p:nvPr/>
        </p:nvSpPr>
        <p:spPr>
          <a:xfrm>
            <a:off x="6210300" y="3962400"/>
            <a:ext cx="5143500" cy="1600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fontScale="92500"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Why heavy tails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 Gaussian in 2-D decays too fast: moderately distant points would need to be crammed together — the crowding problem.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t-kernel decays slowly, so dissimilar points can sit far apart at little cost.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Note"/>
              <p:cNvSpPr txBox="1"/>
              <p:nvPr/>
            </p:nvSpPr>
            <p:spPr>
              <a:xfrm>
                <a:off x="838200" y="5130800"/>
                <a:ext cx="5143500" cy="939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Note there is no bandwidth here: the map kernel is fixed, so all the adaptivity lives in the high-dimensional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203" name="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30800"/>
                <a:ext cx="5143500" cy="939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15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7A9E-09C6-D031-A3C6-504B1D0E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Cost: Matching Q to 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E7463-1402-6146-888C-B7A943ADD526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29238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300" dirty="0">
                    <a:solidFill>
                      <a:srgbClr val="333333"/>
                    </a:solidFill>
                  </a:rPr>
                  <a:t>Minimize the Kullback–Leibler divergence between the joint distributions 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13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r>
                  <a:rPr lang="en-US" sz="1300" dirty="0">
                    <a:solidFill>
                      <a:srgbClr val="333333"/>
                    </a:solidFill>
                  </a:rPr>
                  <a:t>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E7463-1402-6146-888C-B7A943ADD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292388"/>
              </a:xfrm>
              <a:prstGeom prst="rect">
                <a:avLst/>
              </a:prstGeom>
              <a:blipFill>
                <a:blip r:embed="rId2"/>
                <a:stretch>
                  <a:fillRect l="-24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05858B-DCAF-8B45-B4BB-28F58BDDAF87}"/>
              </a:ext>
            </a:extLst>
          </p:cNvPr>
          <p:cNvSpPr/>
          <p:nvPr/>
        </p:nvSpPr>
        <p:spPr>
          <a:xfrm>
            <a:off x="838200" y="2336800"/>
            <a:ext cx="10515600" cy="9144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74FB5C-0BD8-8C44-877A-9C3B885FAF07}"/>
                  </a:ext>
                </a:extLst>
              </p:cNvPr>
              <p:cNvSpPr txBox="1"/>
              <p:nvPr/>
            </p:nvSpPr>
            <p:spPr>
              <a:xfrm>
                <a:off x="1016000" y="2387318"/>
                <a:ext cx="10160000" cy="81336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FFFFFF"/>
                          </a:solidFill>
                        </a:rPr>
                        <m:t>KL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‖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</m:d>
                      <m:r>
                        <a:rPr lang="en-US" sz="1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800" i="0">
                                  <a:solidFill>
                                    <a:srgbClr val="FFFFFF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800" i="0">
                                  <a:solidFill>
                                    <a:srgbClr val="FFFFFF"/>
                                  </a:solidFill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74FB5C-0BD8-8C44-877A-9C3B885F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387318"/>
                <a:ext cx="10160000" cy="813364"/>
              </a:xfrm>
              <a:prstGeom prst="rect">
                <a:avLst/>
              </a:prstGeom>
              <a:blipFill>
                <a:blip r:embed="rId3"/>
                <a:stretch>
                  <a:fillRect t="-112308" b="-15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Read"/>
              <p:cNvSpPr txBox="1"/>
              <p:nvPr/>
            </p:nvSpPr>
            <p:spPr>
              <a:xfrm>
                <a:off x="838200" y="3556000"/>
                <a:ext cx="5143500" cy="1803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Reading the cost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For every pair, 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weight the log-ratio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cost is zero only when Q reproduces P exactly.</a:t>
                </a:r>
              </a:p>
            </p:txBody>
          </p:sp>
        </mc:Choice>
        <mc:Fallback>
          <p:sp>
            <p:nvSpPr>
              <p:cNvPr id="201" name="Rea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56000"/>
                <a:ext cx="5143500" cy="1803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Asym"/>
              <p:cNvSpPr txBox="1"/>
              <p:nvPr/>
            </p:nvSpPr>
            <p:spPr>
              <a:xfrm>
                <a:off x="6210300" y="3556000"/>
                <a:ext cx="5143500" cy="1803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Why the asymmetry matters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modelled by a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punished hard — true neighbours must stay neighbours.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modelled by a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costs little — far-apart points may drift together cheaply.</a:t>
                </a:r>
              </a:p>
            </p:txBody>
          </p:sp>
        </mc:Choice>
        <mc:Fallback>
          <p:sp>
            <p:nvSpPr>
              <p:cNvPr id="202" name="Asym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3556000"/>
                <a:ext cx="5143500" cy="18034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onsequence"/>
          <p:cNvSpPr txBox="1"/>
          <p:nvPr/>
        </p:nvSpPr>
        <p:spPr>
          <a:xfrm>
            <a:off x="838200" y="5511800"/>
            <a:ext cx="10515600" cy="584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Consequence: local neighbourhoods are preserved faithfully, distances between well-separated clusters are not.</a:t>
            </a:r>
          </a:p>
        </p:txBody>
      </p:sp>
    </p:spTree>
    <p:extLst>
      <p:ext uri="{BB962C8B-B14F-4D97-AF65-F5344CB8AC3E}">
        <p14:creationId xmlns:p14="http://schemas.microsoft.com/office/powerpoint/2010/main" val="105981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7A9E-09C6-D031-A3C6-504B1D0E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Gradient: Attraction and Repulsion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B1658E-4E0F-FF45-806F-84F25006C03A}"/>
              </a:ext>
            </a:extLst>
          </p:cNvPr>
          <p:cNvSpPr/>
          <p:nvPr/>
        </p:nvSpPr>
        <p:spPr>
          <a:xfrm>
            <a:off x="838200" y="2108200"/>
            <a:ext cx="10515600" cy="9144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9C655D-48C6-3B47-9A01-832DD4C5B824}"/>
                  </a:ext>
                </a:extLst>
              </p:cNvPr>
              <p:cNvSpPr txBox="1"/>
              <p:nvPr/>
            </p:nvSpPr>
            <p:spPr>
              <a:xfrm>
                <a:off x="1016000" y="2171700"/>
                <a:ext cx="10160000" cy="79585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1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9C655D-48C6-3B47-9A01-832DD4C5B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171700"/>
                <a:ext cx="10160000" cy="795859"/>
              </a:xfrm>
              <a:prstGeom prst="rect">
                <a:avLst/>
              </a:prstGeom>
              <a:blipFill>
                <a:blip r:embed="rId2"/>
                <a:stretch>
                  <a:fillRect t="-115625" b="-15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Read"/>
              <p:cNvSpPr txBox="1"/>
              <p:nvPr/>
            </p:nvSpPr>
            <p:spPr>
              <a:xfrm>
                <a:off x="838200" y="3403600"/>
                <a:ext cx="5143500" cy="1955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lnSpcReduction="10000"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Reading the gradient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sets the sign: positive pulls the pair together, negative pushes it apart.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sets the direction along which the map point moves.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final t-kernel factor damps the force for distant pairs.</a:t>
                </a:r>
              </a:p>
            </p:txBody>
          </p:sp>
        </mc:Choice>
        <mc:Fallback>
          <p:sp>
            <p:nvSpPr>
              <p:cNvPr id="201" name="Rea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03600"/>
                <a:ext cx="5143500" cy="1955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Practice"/>
          <p:cNvSpPr txBox="1"/>
          <p:nvPr/>
        </p:nvSpPr>
        <p:spPr>
          <a:xfrm>
            <a:off x="6210300" y="3403600"/>
            <a:ext cx="5143500" cy="1955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How it is optimised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Gradient descent with momentum on the map coordinates.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Early exaggeration multiplies P for the first iterations so clusters pull apart before fine-tuning.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Small random initialisation — results depend on seed and perplexity.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Springs"/>
              <p:cNvSpPr txBox="1"/>
              <p:nvPr/>
            </p:nvSpPr>
            <p:spPr>
              <a:xfrm>
                <a:off x="838200" y="5511800"/>
                <a:ext cx="10515600" cy="584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Think of springs: attraction proportional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holds neighbours together, while the normalisation of Q pushes everything else apart.</a:t>
                </a:r>
              </a:p>
            </p:txBody>
          </p:sp>
        </mc:Choice>
        <mc:Fallback>
          <p:sp>
            <p:nvSpPr>
              <p:cNvPr id="203" name="Spring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11800"/>
                <a:ext cx="10515600" cy="584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129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7D66-5529-4481-7DE8-8980E4AA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Computing an Affinity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8733E1-7999-024A-8ABE-C9CD3BC5E65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3002B2-5ED8-0F43-B423-068DB436A6BD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7543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 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Squared distances to its 3 neighbors: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=1,</m:t>
                          </m:r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=4,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‖xᵢ−x₁‖² = 1,  ‖xᵢ−x₂‖² = 4,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=9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‖xᵢ−x₃‖² = 9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Bandwidth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 (so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2σᵢ² = 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Task: compute the conditional affinities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p(j|i)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3002B2-5ED8-0F43-B423-068DB436A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754326"/>
              </a:xfrm>
              <a:prstGeom prst="rect">
                <a:avLst/>
              </a:prstGeom>
              <a:blipFill>
                <a:blip r:embed="rId2"/>
                <a:stretch>
                  <a:fillRect l="-730" t="-1449" b="-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D0927-092E-334A-B1E4-19474BFC6402}"/>
              </a:ext>
            </a:extLst>
          </p:cNvPr>
          <p:cNvSpPr/>
          <p:nvPr/>
        </p:nvSpPr>
        <p:spPr>
          <a:xfrm>
            <a:off x="6210300" y="2336800"/>
            <a:ext cx="5143500" cy="3759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AA71F-71DE-BD45-BE3B-32E57ABE460D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332206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Unnormalized 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exp(−d²/2)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=0.607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w₁=e^−0.5=0.607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=0.135,</m:t>
                          </m:r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−4.5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=0.011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w₂=e^−2=0.135,  w₃=e^−4.5=0.011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=0.753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Z = 0.753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0.607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p(1|i)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0.135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=0.179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p(2|i)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0.011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=0.015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p(3|i)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Nearest neighbor dominates the distribution.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AA71F-71DE-BD45-BE3B-32E57ABE4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3322063"/>
              </a:xfrm>
              <a:prstGeom prst="rect">
                <a:avLst/>
              </a:prstGeom>
              <a:blipFill>
                <a:blip r:embed="rId3"/>
                <a:stretch>
                  <a:fillRect l="-539" t="-763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29435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DE21-9ECF-E480-88E1-3A3E3002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Perplexity &amp; Bandwidth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CEB020-A53A-CC47-B695-05C1236C1BE4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EED10F-0F1B-FC49-A676-C93B2D4BF95A}"/>
                  </a:ext>
                </a:extLst>
              </p:cNvPr>
              <p:cNvSpPr txBox="1"/>
              <p:nvPr/>
            </p:nvSpPr>
            <p:spPr>
              <a:xfrm>
                <a:off x="2540000" y="1870417"/>
                <a:ext cx="8813800" cy="3231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Perplexity sets the effective number of neighbors;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solved so: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EED10F-0F1B-FC49-A676-C93B2D4BF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0" y="1870417"/>
                <a:ext cx="8813800" cy="323165"/>
              </a:xfrm>
              <a:prstGeom prst="rect">
                <a:avLst/>
              </a:prstGeom>
              <a:blipFill>
                <a:blip r:embed="rId2"/>
                <a:stretch>
                  <a:fillRect l="-432" t="-384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B7805A-4572-7B46-BF67-00476591A148}"/>
              </a:ext>
            </a:extLst>
          </p:cNvPr>
          <p:cNvSpPr/>
          <p:nvPr/>
        </p:nvSpPr>
        <p:spPr>
          <a:xfrm>
            <a:off x="838200" y="2387600"/>
            <a:ext cx="10515600" cy="8128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79003-0A57-CB48-BFE3-10C053E43129}"/>
                  </a:ext>
                </a:extLst>
              </p:cNvPr>
              <p:cNvSpPr txBox="1"/>
              <p:nvPr/>
            </p:nvSpPr>
            <p:spPr>
              <a:xfrm>
                <a:off x="1016000" y="2415627"/>
                <a:ext cx="10160000" cy="756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FFFFFF"/>
                              </a:solidFill>
                            </a:rPr>
                            <m:t>Perp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FFFFFF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FFFFFF"/>
                              </a:solidFill>
                            </a:rPr>
                            <m:t>H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FFFFFF"/>
                                  </a:solidFill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 i="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FFFFFF"/>
                                  </a:solidFill>
                                </a:rPr>
                                <m:t> </m:t>
                              </m:r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FFFFFF"/>
                        </a:solidFill>
                      </a:rPr>
                      <a:t>Perp(Pᵢ) = 2^H(Pᵢ),   H(Pᵢ) = −Σⱼ p(j|i) log₂ p(j|i)</a:t>
                    </a:r>
                  </mc:Fallback>
                </mc:AlternateContent>
                <a:endParaRPr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79003-0A57-CB48-BFE3-10C053E43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15627"/>
                <a:ext cx="10160000" cy="756746"/>
              </a:xfrm>
              <a:prstGeom prst="rect">
                <a:avLst/>
              </a:prstGeom>
              <a:blipFill>
                <a:blip r:embed="rId3"/>
                <a:stretch>
                  <a:fillRect t="-116667" b="-16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E11922-CB90-BD49-A63A-36FA60FECF1D}"/>
              </a:ext>
            </a:extLst>
          </p:cNvPr>
          <p:cNvSpPr/>
          <p:nvPr/>
        </p:nvSpPr>
        <p:spPr>
          <a:xfrm>
            <a:off x="838200" y="3352800"/>
            <a:ext cx="5143500" cy="2743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D48C0-6BFD-CB4C-AB4E-1BAFD5B5CEC4}"/>
                  </a:ext>
                </a:extLst>
              </p:cNvPr>
              <p:cNvSpPr/>
              <p:nvPr/>
            </p:nvSpPr>
            <p:spPr>
              <a:xfrm>
                <a:off x="838200" y="3352800"/>
                <a:ext cx="5143500" cy="431800"/>
              </a:xfrm>
              <a:prstGeom prst="rect">
                <a:avLst/>
              </a:prstGeom>
              <a:solidFill>
                <a:srgbClr val="85754D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Low perplexity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≈5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FFFFFF"/>
                        </a:solidFill>
                      </a:rPr>
                      <a:t>≈5</a:t>
                    </a:r>
                  </mc:Fallback>
                </mc:AlternateContent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)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D48C0-6BFD-CB4C-AB4E-1BAFD5B5C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52800"/>
                <a:ext cx="5143500" cy="431800"/>
              </a:xfrm>
              <a:prstGeom prst="rect">
                <a:avLst/>
              </a:prstGeom>
              <a:blipFill>
                <a:blip r:embed="rId4"/>
                <a:stretch>
                  <a:fillRect l="-24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A9BD99-E319-624D-A39A-13D4EB145CA7}"/>
                  </a:ext>
                </a:extLst>
              </p:cNvPr>
              <p:cNvSpPr txBox="1"/>
              <p:nvPr/>
            </p:nvSpPr>
            <p:spPr>
              <a:xfrm>
                <a:off x="1016000" y="3886200"/>
                <a:ext cx="4787900" cy="12464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Small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affinity concentrated on a few nearest points.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Captures fine local structure; map may fragment into many tiny blobs.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Sensitive to noise.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A9BD99-E319-624D-A39A-13D4EB145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886200"/>
                <a:ext cx="4787900" cy="1246495"/>
              </a:xfrm>
              <a:prstGeom prst="rect">
                <a:avLst/>
              </a:prstGeom>
              <a:blipFill>
                <a:blip r:embed="rId5"/>
                <a:stretch>
                  <a:fillRect l="-531" t="-2020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C70063-742D-AF4D-8561-532039EC50D7}"/>
              </a:ext>
            </a:extLst>
          </p:cNvPr>
          <p:cNvSpPr/>
          <p:nvPr/>
        </p:nvSpPr>
        <p:spPr>
          <a:xfrm>
            <a:off x="6210300" y="3352800"/>
            <a:ext cx="5143500" cy="2743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67929-0B30-1F4B-B6F9-AE108566BC19}"/>
                  </a:ext>
                </a:extLst>
              </p:cNvPr>
              <p:cNvSpPr/>
              <p:nvPr/>
            </p:nvSpPr>
            <p:spPr>
              <a:xfrm>
                <a:off x="6210300" y="3352800"/>
                <a:ext cx="5143500" cy="431800"/>
              </a:xfrm>
              <a:prstGeom prst="rect">
                <a:avLst/>
              </a:prstGeom>
              <a:solidFill>
                <a:srgbClr val="4B2E83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High perplexity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≈50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FFFFFF"/>
                        </a:solidFill>
                      </a:rPr>
                      <a:t>≈50</a:t>
                    </a:r>
                  </mc:Fallback>
                </mc:AlternateContent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)</a:t>
                </a: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67929-0B30-1F4B-B6F9-AE108566B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3352800"/>
                <a:ext cx="5143500" cy="431800"/>
              </a:xfrm>
              <a:prstGeom prst="rect">
                <a:avLst/>
              </a:prstGeom>
              <a:blipFill>
                <a:blip r:embed="rId6"/>
                <a:stretch>
                  <a:fillRect l="-24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4E9F5E-D2CA-9840-8A66-6E6397B8535C}"/>
                  </a:ext>
                </a:extLst>
              </p:cNvPr>
              <p:cNvSpPr txBox="1"/>
              <p:nvPr/>
            </p:nvSpPr>
            <p:spPr>
              <a:xfrm>
                <a:off x="6388100" y="3886200"/>
                <a:ext cx="4787900" cy="101566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Larger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mass spread over many neighbors.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Smoother, more global layout; small clusters may merge.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Rule of thumb: perplexity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5,50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∈ [5, 50]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&gt;3·</m:t>
                        </m:r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333333"/>
                            </a:solidFill>
                          </a:rPr>
                          <m:t>perplexity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n &gt; 3·perplexity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4E9F5E-D2CA-9840-8A66-6E6397B85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3886200"/>
                <a:ext cx="4787900" cy="1015663"/>
              </a:xfrm>
              <a:prstGeom prst="rect">
                <a:avLst/>
              </a:prstGeom>
              <a:blipFill>
                <a:blip r:embed="rId7"/>
                <a:stretch>
                  <a:fillRect l="-531" t="-250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86899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E4F4-CF58-1C79-1A59-A71D9FD2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One Gradient Step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E40F8B-4D8D-8C4F-90BC-FC86FE72F412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F6628-103A-4D4B-992F-8918E5A22C5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8991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Two map points (1-D for clarity):</a:t>
                </a:r>
              </a:p>
              <a:p>
                <a:pPr>
                  <a:buNone/>
                </a:pPr>
                <a:endParaRPr lang="en-US" sz="2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=0.0,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4B2E83"/>
                          </a:solidFill>
                        </a:rPr>
                        <m:t>  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=2.0</m:t>
                      </m:r>
                    </m:oMath>
                  </m:oMathPara>
                </a14:m>
                <a:endParaRPr lang="en-US" sz="200"/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Affinities for this pair:</a:t>
                </a:r>
              </a:p>
              <a:p>
                <a:pPr>
                  <a:buNone/>
                </a:pPr>
                <a:endParaRPr lang="en-US" sz="2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=0.40,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4B2E83"/>
                          </a:solidFill>
                        </a:rPr>
                        <m:t>  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=0.10</m:t>
                      </m:r>
                    </m:oMath>
                  </m:oMathPara>
                </a14:m>
                <a:endParaRPr lang="en-US" sz="2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Task: compute the pairwise gradient contribution and the updated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with learning rate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F6628-103A-4D4B-992F-8918E5A22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899110"/>
              </a:xfrm>
              <a:prstGeom prst="rect">
                <a:avLst/>
              </a:prstGeom>
              <a:blipFill>
                <a:blip r:embed="rId2"/>
                <a:stretch>
                  <a:fillRect l="-730" t="-1333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4FE997-F1EE-174B-A258-12F78321930A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D4511-ECAA-5146-9946-58F7604581D8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4708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Student-t factor: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5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5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</m:e>
                          </m:d>
                        </m:e>
                        <m: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Pairwise gradient term: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·0.2</m:t>
                      </m:r>
                    </m:oMath>
                  </m:oMathPara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0.30</m:t>
                          </m:r>
                        </m:e>
                      </m:d>
                      <m:d>
                        <m:d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−2.0</m:t>
                          </m:r>
                        </m:e>
                      </m:d>
                      <m:d>
                        <m:d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0.2</m:t>
                          </m:r>
                        </m:e>
                      </m: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=−0.48</m:t>
                      </m:r>
                    </m:oMath>
                  </m:oMathPara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Gradient descent step: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←0.0−100</m:t>
                      </m:r>
                      <m:d>
                        <m:d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−0.48</m:t>
                          </m:r>
                        </m:e>
                      </m:d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15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=0.048</m:t>
                      </m:r>
                    </m:oMath>
                  </m:oMathPara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attractive force pulls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toward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D4511-ECAA-5146-9946-58F76045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470869"/>
              </a:xfrm>
              <a:prstGeom prst="rect">
                <a:avLst/>
              </a:prstGeom>
              <a:blipFill>
                <a:blip r:embed="rId3"/>
                <a:stretch>
                  <a:fillRect l="-539" t="-1026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61389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1725-AD53-C14D-AC8F-4C083DC8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t-SNE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356088-7038-A74A-A8AF-D273FEADBA23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9D7A54-F418-C846-959E-F0C85120C229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BEE36-38AD-4C4D-95DD-01B97B44F8B1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Given squared distances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0.5,2.0,6.0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from point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three conditional affinities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verify they sum to 1.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BEE36-38AD-4C4D-95DD-01B97B44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297C1574-CC2C-824C-B438-5834494AEC06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174562-6004-5443-80D3-BAC9501197AF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8B4B8-3897-2E46-BBF4-B9976F71DDEA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point distribution has entropy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H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=3.0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bits. Find its perplexity. If the target perplexity is 30, should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increase or decrease? Explain.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8B4B8-3897-2E46-BBF4-B9976F71D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479541F9-32E1-0548-AF37-9A5DBE0474A6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72835E-C791-124D-BCB9-F560353E5D2B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52A0E-670D-094D-8F10-35090F426B3A}"/>
                  </a:ext>
                </a:extLst>
              </p:cNvPr>
              <p:cNvSpPr txBox="1"/>
              <p:nvPr/>
            </p:nvSpPr>
            <p:spPr>
              <a:xfrm>
                <a:off x="1854200" y="5387305"/>
                <a:ext cx="9296400" cy="6045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For map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3,0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=0.20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Student-t factor and the pairwise gradient. Is the force attractive or repulsive?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52A0E-670D-094D-8F10-35090F426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87305"/>
                <a:ext cx="9296400" cy="604589"/>
              </a:xfrm>
              <a:prstGeom prst="rect">
                <a:avLst/>
              </a:prstGeom>
              <a:blipFill>
                <a:blip r:embed="rId4"/>
                <a:stretch>
                  <a:fillRect l="-273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90997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8033-637E-8456-F1D5-5664CAFB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1: The Gaussian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Given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Squared distances from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: 0.5, 2.0, 6.0</m:t>
                    </m:r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so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Weights"/>
              <p:cNvSpPr txBox="1"/>
              <p:nvPr/>
            </p:nvSpPr>
            <p:spPr>
              <a:xfrm>
                <a:off x="838200" y="3149600"/>
                <a:ext cx="5334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Score each neighbour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exp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exp(−0.25)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0.779     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exp(−1.0)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0.368     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exp(−3.0) = 0.050</a:t>
                </a:r>
              </a:p>
            </p:txBody>
          </p:sp>
        </mc:Choice>
        <mc:Fallback>
          <p:sp>
            <p:nvSpPr>
              <p:cNvPr id="202" name="Weigh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Note"/>
              <p:cNvSpPr txBox="1"/>
              <p:nvPr/>
            </p:nvSpPr>
            <p:spPr>
              <a:xfrm>
                <a:off x="838200" y="4876800"/>
                <a:ext cx="5334000" cy="1193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Only the squared distance enters, so no coordinates are needed. The third neighbour is already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15×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weaker than the first.</a:t>
                </a:r>
              </a:p>
            </p:txBody>
          </p:sp>
        </mc:Choice>
        <mc:Fallback>
          <p:sp>
            <p:nvSpPr>
              <p:cNvPr id="203" name="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76800"/>
                <a:ext cx="5334000" cy="1193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49600"/>
            <a:ext cx="4876800" cy="2921000"/>
            <a:chOff x="6477000" y="3149600"/>
            <a:chExt cx="4876800" cy="2921000"/>
          </a:xfrm>
        </p:grpSpPr>
        <p:sp>
          <p:nvSpPr>
            <p:cNvPr id="302" name="Frame"/>
            <p:cNvSpPr/>
            <p:nvPr/>
          </p:nvSpPr>
          <p:spPr>
            <a:xfrm>
              <a:off x="6477000" y="3149600"/>
              <a:ext cx="4876800" cy="2921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274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Gaussian weights before normalising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 flipV="1">
              <a:off x="7081520" y="4361891"/>
              <a:ext cx="97536" cy="2072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 flipV="1">
              <a:off x="7179056" y="4346042"/>
              <a:ext cx="97536" cy="1585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 flipV="1">
              <a:off x="7276592" y="4333850"/>
              <a:ext cx="97536" cy="1219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 flipV="1">
              <a:off x="7374128" y="4326534"/>
              <a:ext cx="97536" cy="73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 flipV="1">
              <a:off x="7471664" y="4324096"/>
              <a:ext cx="97536" cy="243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>
              <a:off x="7569200" y="4324096"/>
              <a:ext cx="97536" cy="243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>
              <a:off x="7666736" y="4326534"/>
              <a:ext cx="97536" cy="73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1" name="seg"/>
            <p:cNvCxnSpPr/>
            <p:nvPr/>
          </p:nvCxnSpPr>
          <p:spPr>
            <a:xfrm>
              <a:off x="7764272" y="4333850"/>
              <a:ext cx="97536" cy="1219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2" name="seg"/>
            <p:cNvCxnSpPr/>
            <p:nvPr/>
          </p:nvCxnSpPr>
          <p:spPr>
            <a:xfrm>
              <a:off x="7861808" y="4346042"/>
              <a:ext cx="97536" cy="1585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3" name="seg"/>
            <p:cNvCxnSpPr/>
            <p:nvPr/>
          </p:nvCxnSpPr>
          <p:spPr>
            <a:xfrm>
              <a:off x="7959344" y="4361891"/>
              <a:ext cx="97536" cy="2072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4" name="seg"/>
            <p:cNvCxnSpPr/>
            <p:nvPr/>
          </p:nvCxnSpPr>
          <p:spPr>
            <a:xfrm>
              <a:off x="8056880" y="4382618"/>
              <a:ext cx="97536" cy="2316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5" name="seg"/>
            <p:cNvCxnSpPr/>
            <p:nvPr/>
          </p:nvCxnSpPr>
          <p:spPr>
            <a:xfrm>
              <a:off x="8154416" y="4405782"/>
              <a:ext cx="97536" cy="2804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6" name="seg"/>
            <p:cNvCxnSpPr/>
            <p:nvPr/>
          </p:nvCxnSpPr>
          <p:spPr>
            <a:xfrm>
              <a:off x="8251952" y="4433824"/>
              <a:ext cx="97536" cy="3048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7" name="seg"/>
            <p:cNvCxnSpPr/>
            <p:nvPr/>
          </p:nvCxnSpPr>
          <p:spPr>
            <a:xfrm>
              <a:off x="8349488" y="4464304"/>
              <a:ext cx="97536" cy="3291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8" name="seg"/>
            <p:cNvCxnSpPr/>
            <p:nvPr/>
          </p:nvCxnSpPr>
          <p:spPr>
            <a:xfrm>
              <a:off x="8447024" y="4497222"/>
              <a:ext cx="97536" cy="3413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9" name="seg"/>
            <p:cNvCxnSpPr/>
            <p:nvPr/>
          </p:nvCxnSpPr>
          <p:spPr>
            <a:xfrm>
              <a:off x="8544560" y="4531360"/>
              <a:ext cx="97536" cy="3535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0" name="seg"/>
            <p:cNvCxnSpPr/>
            <p:nvPr/>
          </p:nvCxnSpPr>
          <p:spPr>
            <a:xfrm>
              <a:off x="8642096" y="4566717"/>
              <a:ext cx="97536" cy="3657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1" name="seg"/>
            <p:cNvCxnSpPr/>
            <p:nvPr/>
          </p:nvCxnSpPr>
          <p:spPr>
            <a:xfrm>
              <a:off x="8739632" y="4603293"/>
              <a:ext cx="97536" cy="3657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2" name="seg"/>
            <p:cNvCxnSpPr/>
            <p:nvPr/>
          </p:nvCxnSpPr>
          <p:spPr>
            <a:xfrm>
              <a:off x="8837168" y="4639869"/>
              <a:ext cx="97536" cy="3657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3" name="seg"/>
            <p:cNvCxnSpPr/>
            <p:nvPr/>
          </p:nvCxnSpPr>
          <p:spPr>
            <a:xfrm>
              <a:off x="8934704" y="4676445"/>
              <a:ext cx="97536" cy="3535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4" name="seg"/>
            <p:cNvCxnSpPr/>
            <p:nvPr/>
          </p:nvCxnSpPr>
          <p:spPr>
            <a:xfrm>
              <a:off x="9032240" y="4711802"/>
              <a:ext cx="97536" cy="3535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5" name="seg"/>
            <p:cNvCxnSpPr/>
            <p:nvPr/>
          </p:nvCxnSpPr>
          <p:spPr>
            <a:xfrm>
              <a:off x="9129776" y="4747158"/>
              <a:ext cx="97536" cy="3291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6" name="seg"/>
            <p:cNvCxnSpPr/>
            <p:nvPr/>
          </p:nvCxnSpPr>
          <p:spPr>
            <a:xfrm>
              <a:off x="9227312" y="4780077"/>
              <a:ext cx="97536" cy="3169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7" name="seg"/>
            <p:cNvCxnSpPr/>
            <p:nvPr/>
          </p:nvCxnSpPr>
          <p:spPr>
            <a:xfrm>
              <a:off x="9324848" y="4811776"/>
              <a:ext cx="97536" cy="3048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8" name="seg"/>
            <p:cNvCxnSpPr/>
            <p:nvPr/>
          </p:nvCxnSpPr>
          <p:spPr>
            <a:xfrm>
              <a:off x="9422384" y="4842256"/>
              <a:ext cx="97536" cy="2804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9" name="seg"/>
            <p:cNvCxnSpPr/>
            <p:nvPr/>
          </p:nvCxnSpPr>
          <p:spPr>
            <a:xfrm>
              <a:off x="9519920" y="4870298"/>
              <a:ext cx="97536" cy="2560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0" name="seg"/>
            <p:cNvCxnSpPr/>
            <p:nvPr/>
          </p:nvCxnSpPr>
          <p:spPr>
            <a:xfrm>
              <a:off x="9617456" y="4895901"/>
              <a:ext cx="97536" cy="2316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1" name="seg"/>
            <p:cNvCxnSpPr/>
            <p:nvPr/>
          </p:nvCxnSpPr>
          <p:spPr>
            <a:xfrm>
              <a:off x="9714992" y="4919066"/>
              <a:ext cx="97536" cy="2194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2" name="seg"/>
            <p:cNvCxnSpPr/>
            <p:nvPr/>
          </p:nvCxnSpPr>
          <p:spPr>
            <a:xfrm>
              <a:off x="9812528" y="4941011"/>
              <a:ext cx="97536" cy="1950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3" name="seg"/>
            <p:cNvCxnSpPr/>
            <p:nvPr/>
          </p:nvCxnSpPr>
          <p:spPr>
            <a:xfrm>
              <a:off x="9910064" y="4960518"/>
              <a:ext cx="97536" cy="1706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4" name="seg"/>
            <p:cNvCxnSpPr/>
            <p:nvPr/>
          </p:nvCxnSpPr>
          <p:spPr>
            <a:xfrm>
              <a:off x="10007600" y="4977587"/>
              <a:ext cx="97536" cy="1585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5" name="seg"/>
            <p:cNvCxnSpPr/>
            <p:nvPr/>
          </p:nvCxnSpPr>
          <p:spPr>
            <a:xfrm>
              <a:off x="10105136" y="4993437"/>
              <a:ext cx="97536" cy="1341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6" name="seg"/>
            <p:cNvCxnSpPr/>
            <p:nvPr/>
          </p:nvCxnSpPr>
          <p:spPr>
            <a:xfrm>
              <a:off x="10202672" y="5006848"/>
              <a:ext cx="97536" cy="1219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7" name="seg"/>
            <p:cNvCxnSpPr/>
            <p:nvPr/>
          </p:nvCxnSpPr>
          <p:spPr>
            <a:xfrm>
              <a:off x="10300208" y="5019040"/>
              <a:ext cx="97536" cy="975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8" name="seg"/>
            <p:cNvCxnSpPr/>
            <p:nvPr/>
          </p:nvCxnSpPr>
          <p:spPr>
            <a:xfrm>
              <a:off x="10397744" y="5028794"/>
              <a:ext cx="97536" cy="853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9" name="seg"/>
            <p:cNvCxnSpPr/>
            <p:nvPr/>
          </p:nvCxnSpPr>
          <p:spPr>
            <a:xfrm>
              <a:off x="10495280" y="5037328"/>
              <a:ext cx="97536" cy="73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0" name="seg"/>
            <p:cNvCxnSpPr/>
            <p:nvPr/>
          </p:nvCxnSpPr>
          <p:spPr>
            <a:xfrm>
              <a:off x="10592816" y="5044643"/>
              <a:ext cx="97536" cy="73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1" name="seg"/>
            <p:cNvCxnSpPr/>
            <p:nvPr/>
          </p:nvCxnSpPr>
          <p:spPr>
            <a:xfrm>
              <a:off x="10690352" y="5051958"/>
              <a:ext cx="97536" cy="487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2" name="seg"/>
            <p:cNvCxnSpPr/>
            <p:nvPr/>
          </p:nvCxnSpPr>
          <p:spPr>
            <a:xfrm>
              <a:off x="10787888" y="5056835"/>
              <a:ext cx="97536" cy="487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3" name="seg"/>
            <p:cNvCxnSpPr/>
            <p:nvPr/>
          </p:nvCxnSpPr>
          <p:spPr>
            <a:xfrm>
              <a:off x="10885424" y="5061712"/>
              <a:ext cx="97536" cy="365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4" name="seg"/>
            <p:cNvCxnSpPr/>
            <p:nvPr/>
          </p:nvCxnSpPr>
          <p:spPr>
            <a:xfrm>
              <a:off x="6959600" y="5080000"/>
              <a:ext cx="402336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45" name="seg"/>
            <p:cNvCxnSpPr/>
            <p:nvPr/>
          </p:nvCxnSpPr>
          <p:spPr>
            <a:xfrm flipV="1">
              <a:off x="8431174" y="4491126"/>
              <a:ext cx="0" cy="588874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46" name="d"/>
            <p:cNvSpPr/>
            <p:nvPr/>
          </p:nvSpPr>
          <p:spPr>
            <a:xfrm>
              <a:off x="8387994" y="50368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lab"/>
            <p:cNvSpPr txBox="1"/>
            <p:nvPr/>
          </p:nvSpPr>
          <p:spPr>
            <a:xfrm>
              <a:off x="8507374" y="4364302"/>
              <a:ext cx="584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0.779</a:t>
              </a:r>
            </a:p>
          </p:txBody>
        </p:sp>
        <p:cxnSp>
          <p:nvCxnSpPr>
            <p:cNvPr id="348" name="seg"/>
            <p:cNvCxnSpPr/>
            <p:nvPr/>
          </p:nvCxnSpPr>
          <p:spPr>
            <a:xfrm flipV="1">
              <a:off x="9293149" y="4802022"/>
              <a:ext cx="0" cy="277978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49" name="d"/>
            <p:cNvSpPr/>
            <p:nvPr/>
          </p:nvSpPr>
          <p:spPr>
            <a:xfrm>
              <a:off x="9249969" y="50368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lab"/>
            <p:cNvSpPr txBox="1"/>
            <p:nvPr/>
          </p:nvSpPr>
          <p:spPr>
            <a:xfrm>
              <a:off x="9369349" y="4674903"/>
              <a:ext cx="584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0.368</a:t>
              </a:r>
            </a:p>
          </p:txBody>
        </p:sp>
        <p:cxnSp>
          <p:nvCxnSpPr>
            <p:cNvPr id="351" name="seg"/>
            <p:cNvCxnSpPr/>
            <p:nvPr/>
          </p:nvCxnSpPr>
          <p:spPr>
            <a:xfrm flipV="1">
              <a:off x="10555021" y="5042205"/>
              <a:ext cx="0" cy="37795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52" name="d"/>
            <p:cNvSpPr/>
            <p:nvPr/>
          </p:nvSpPr>
          <p:spPr>
            <a:xfrm>
              <a:off x="10511841" y="5036820"/>
              <a:ext cx="86360" cy="8636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lab"/>
            <p:cNvSpPr txBox="1"/>
            <p:nvPr/>
          </p:nvSpPr>
          <p:spPr>
            <a:xfrm>
              <a:off x="10631221" y="4915356"/>
              <a:ext cx="584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0.050</a:t>
              </a:r>
            </a:p>
          </p:txBody>
        </p:sp>
        <p:sp>
          <p:nvSpPr>
            <p:cNvPr id="354" name="d"/>
            <p:cNvSpPr/>
            <p:nvPr/>
          </p:nvSpPr>
          <p:spPr>
            <a:xfrm>
              <a:off x="7505700" y="5016500"/>
              <a:ext cx="127000" cy="1270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5" name="lab"/>
                <p:cNvSpPr txBox="1"/>
                <p:nvPr/>
              </p:nvSpPr>
              <p:spPr>
                <a:xfrm>
                  <a:off x="7467600" y="5232400"/>
                  <a:ext cx="3302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C0397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55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5232400"/>
                  <a:ext cx="330200" cy="22860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7695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4F9D-48DE-3AAF-6566-F581B302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2: Normalise and Verify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Weights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Weights from Step 1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0.779       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0.368       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0.050</m:t>
                      </m:r>
                    </m:oMath>
                  </m:oMathPara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201" name="Weight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Z"/>
              <p:cNvSpPr txBox="1"/>
              <p:nvPr/>
            </p:nvSpPr>
            <p:spPr>
              <a:xfrm>
                <a:off x="838200" y="3149600"/>
                <a:ext cx="5334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Add them up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Z = 0.779 + 0.368 + 0.050 = 1.197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Z is the normaliser in the denominator of p(j|i).</a:t>
                </a:r>
              </a:p>
            </p:txBody>
          </p:sp>
        </mc:Choice>
        <mc:Fallback>
          <p:sp>
            <p:nvSpPr>
              <p:cNvPr id="202" name="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P"/>
          <p:cNvSpPr txBox="1"/>
          <p:nvPr/>
        </p:nvSpPr>
        <p:spPr>
          <a:xfrm>
            <a:off x="6426200" y="3149600"/>
            <a:ext cx="4927600" cy="14224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Divide each weight by Z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p(1|i) = 0.651      p(2|i) = 0.307      p(3|i) = 0.042</a:t>
            </a:r>
          </a:p>
        </p:txBody>
      </p:sp>
      <p:sp>
        <p:nvSpPr>
          <p:cNvPr id="204" name="Check"/>
          <p:cNvSpPr txBox="1"/>
          <p:nvPr/>
        </p:nvSpPr>
        <p:spPr>
          <a:xfrm>
            <a:off x="838200" y="4775200"/>
            <a:ext cx="10515600" cy="1295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Verification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0.651 + 0.307 + 0.042 = 1.000 ✓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The check is automatic: dividing by the sum of the weights forces the row to be a probability distribution. Note how the ratios are preserved — 0.779/0.368 = 2.12 and 0.651/0.307 = 2.12.</a:t>
            </a:r>
          </a:p>
        </p:txBody>
      </p:sp>
    </p:spTree>
    <p:extLst>
      <p:ext uri="{BB962C8B-B14F-4D97-AF65-F5344CB8AC3E}">
        <p14:creationId xmlns:p14="http://schemas.microsoft.com/office/powerpoint/2010/main" val="217927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E223-893A-616B-AF0D-E48C4260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Step 1: From Entropy to Perplexity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Given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i's distribution has entropy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 3.0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bits. Find the perplexity.</a:t>
                </a: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Apply"/>
              <p:cNvSpPr txBox="1"/>
              <p:nvPr/>
            </p:nvSpPr>
            <p:spPr>
              <a:xfrm>
                <a:off x="838200" y="3149600"/>
                <a:ext cx="5334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Apply the definition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Perp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 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raised to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8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Point i behaves as if it had 8 equally likely neighbours.</a:t>
                </a:r>
              </a:p>
            </p:txBody>
          </p:sp>
        </mc:Choice>
        <mc:Fallback>
          <p:sp>
            <p:nvSpPr>
              <p:cNvPr id="202" name="Appl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Sense"/>
              <p:cNvSpPr txBox="1"/>
              <p:nvPr/>
            </p:nvSpPr>
            <p:spPr>
              <a:xfrm>
                <a:off x="6426200" y="3149600"/>
                <a:ext cx="49276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Sanity check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uniform distribution over 8 neighbours has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log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8 = 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bits — exactly the case given.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So 3 bits and 8 effective neighbours are two ways of saying the same thing.</a:t>
                </a:r>
              </a:p>
            </p:txBody>
          </p:sp>
        </mc:Choice>
        <mc:Fallback>
          <p:sp>
            <p:nvSpPr>
              <p:cNvPr id="203" name="Sens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149600"/>
                <a:ext cx="49276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Scale"/>
              <p:cNvSpPr txBox="1"/>
              <p:nvPr/>
            </p:nvSpPr>
            <p:spPr>
              <a:xfrm>
                <a:off x="838200" y="4851400"/>
                <a:ext cx="10515600" cy="1219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Useful reference points: 1 bit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→ 2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neighbours, 3 bits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→ 8, 4.91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bits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→ 30, 5.64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bits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→ 50.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Each extra bit doubles the effective neighbourhood.</a:t>
                </a:r>
              </a:p>
            </p:txBody>
          </p:sp>
        </mc:Choice>
        <mc:Fallback>
          <p:sp>
            <p:nvSpPr>
              <p:cNvPr id="204" name="Sca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51400"/>
                <a:ext cx="10515600" cy="12192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75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690B4E-5262-26B6-0D76-F9C81E4165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E2 Solution — Step 2: Which Way Does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Move?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690B4E-5262-26B6-0D76-F9C81E4165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Gap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Where we stand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Current perplexity = 8, target perplexity = 30 — the neighbourhood is too tight.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irection"/>
              <p:cNvSpPr txBox="1"/>
              <p:nvPr/>
            </p:nvSpPr>
            <p:spPr>
              <a:xfrm>
                <a:off x="838200" y="3149600"/>
                <a:ext cx="5334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Which way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move?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333333"/>
                    </a:solidFill>
                  </a:rPr>
                  <a:t>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b="1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A wider Gaussian gives distant neighbours more weight, which flattens the distribution, raises the entropy and therefore raises the perplexity.</a:t>
                </a:r>
              </a:p>
            </p:txBody>
          </p:sp>
        </mc:Choice>
        <mc:Fallback>
          <p:sp>
            <p:nvSpPr>
              <p:cNvPr id="202" name="Direc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Monotone"/>
              <p:cNvSpPr txBox="1"/>
              <p:nvPr/>
            </p:nvSpPr>
            <p:spPr>
              <a:xfrm>
                <a:off x="6426200" y="3149600"/>
                <a:ext cx="49276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fontScale="92500" lnSpcReduction="10000"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Why the direction is unambiguous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→ 0: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all weight on the nearest point,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→ 0,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perplexity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 1.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→ ∞: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uniform over all n − 1 points, perplexity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− 1.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Perplexity rises monotonically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3" name="Monoton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149600"/>
                <a:ext cx="49276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Search"/>
              <p:cNvSpPr txBox="1"/>
              <p:nvPr/>
            </p:nvSpPr>
            <p:spPr>
              <a:xfrm>
                <a:off x="838200" y="5003800"/>
                <a:ext cx="10515600" cy="1066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That monotonicity is what makes the binary search in t-SNE reliable: for each point it brackets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and halves the interval until 2 raised to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matches the target perplexity.</a:t>
                </a:r>
              </a:p>
            </p:txBody>
          </p:sp>
        </mc:Choice>
        <mc:Fallback>
          <p:sp>
            <p:nvSpPr>
              <p:cNvPr id="204" name="Searc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03800"/>
                <a:ext cx="10515600" cy="10668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77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7FD0-F320-ACEF-1E2B-329D9AA9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1: The Student-t Factor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Given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(0, 0), 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(3, 0), 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0.05, 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0.20</m:t>
                      </m:r>
                    </m:oMath>
                  </m:oMathPara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Factor"/>
              <p:cNvSpPr txBox="1"/>
              <p:nvPr/>
            </p:nvSpPr>
            <p:spPr>
              <a:xfrm>
                <a:off x="838200" y="3149600"/>
                <a:ext cx="5334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 Student-t factor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9</m:t>
                      </m:r>
                    </m:oMath>
                  </m:oMathPara>
                </a14:m>
                <a:endParaRPr lang="en-US" sz="1500" b="1" dirty="0">
                  <a:solidFill>
                    <a:srgbClr val="4B2E8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(1 + 9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0.1</m:t>
                      </m:r>
                    </m:oMath>
                  </m:oMathPara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202" name="Fact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Meaning"/>
          <p:cNvSpPr txBox="1"/>
          <p:nvPr/>
        </p:nvSpPr>
        <p:spPr>
          <a:xfrm>
            <a:off x="838200" y="4876800"/>
            <a:ext cx="5334000" cy="1193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This factor damps the force between distant pairs: at map distance 3 it is 0.1, while for a pair sitting on top of each other it would be 1.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49600"/>
            <a:ext cx="4876800" cy="2921000"/>
            <a:chOff x="6477000" y="3149600"/>
            <a:chExt cx="4876800" cy="2921000"/>
          </a:xfrm>
        </p:grpSpPr>
        <p:sp>
          <p:nvSpPr>
            <p:cNvPr id="302" name="Frame"/>
            <p:cNvSpPr/>
            <p:nvPr/>
          </p:nvSpPr>
          <p:spPr>
            <a:xfrm>
              <a:off x="6477000" y="3149600"/>
              <a:ext cx="4876800" cy="2921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274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The pair in the map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>
              <a:off x="7264400" y="4953000"/>
              <a:ext cx="373380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sp>
          <p:nvSpPr>
            <p:cNvPr id="305" name="d"/>
            <p:cNvSpPr/>
            <p:nvPr/>
          </p:nvSpPr>
          <p:spPr>
            <a:xfrm>
              <a:off x="7556500" y="4889500"/>
              <a:ext cx="127000" cy="1270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10223500" y="4889500"/>
              <a:ext cx="127000" cy="1270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07" name="seg"/>
            <p:cNvCxnSpPr/>
            <p:nvPr/>
          </p:nvCxnSpPr>
          <p:spPr>
            <a:xfrm>
              <a:off x="7620000" y="4508500"/>
              <a:ext cx="2667000" cy="0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cxnSp>
          <p:nvCxnSpPr>
            <p:cNvPr id="308" name="seg"/>
            <p:cNvCxnSpPr/>
            <p:nvPr/>
          </p:nvCxnSpPr>
          <p:spPr>
            <a:xfrm flipV="1">
              <a:off x="7620000" y="4437380"/>
              <a:ext cx="0" cy="142240"/>
            </a:xfrm>
            <a:prstGeom prst="line">
              <a:avLst/>
            </a:prstGeom>
            <a:ln w="15875">
              <a:solidFill>
                <a:srgbClr val="C0397A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 flipV="1">
              <a:off x="10287000" y="4437380"/>
              <a:ext cx="0" cy="142240"/>
            </a:xfrm>
            <a:prstGeom prst="line">
              <a:avLst/>
            </a:prstGeom>
            <a:ln w="15875">
              <a:solidFill>
                <a:srgbClr val="C0397A"/>
              </a:solidFill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0" name="lab"/>
                <p:cNvSpPr txBox="1"/>
                <p:nvPr/>
              </p:nvSpPr>
              <p:spPr>
                <a:xfrm>
                  <a:off x="7188200" y="5181600"/>
                  <a:ext cx="1270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 = (0, 0)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0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8200" y="5181600"/>
                  <a:ext cx="1270000" cy="228600"/>
                </a:xfrm>
                <a:prstGeom prst="rect">
                  <a:avLst/>
                </a:prstGeom>
                <a:blipFill>
                  <a:blip r:embed="rId4"/>
                  <a:stretch>
                    <a:fillRect t="-5263" b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1" name="lab"/>
                <p:cNvSpPr txBox="1"/>
                <p:nvPr/>
              </p:nvSpPr>
              <p:spPr>
                <a:xfrm>
                  <a:off x="9855200" y="5181600"/>
                  <a:ext cx="1270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00A7B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solidFill>
                                  <a:srgbClr val="00A7B5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00A7B5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>
                            <a:solidFill>
                              <a:srgbClr val="00A7B5"/>
                            </a:solidFill>
                            <a:latin typeface="Cambria Math" panose="02040503050406030204" pitchFamily="18" charset="0"/>
                          </a:rPr>
                          <m:t> = (3, 0)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1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5200" y="5181600"/>
                  <a:ext cx="1270000" cy="228600"/>
                </a:xfrm>
                <a:prstGeom prst="rect">
                  <a:avLst/>
                </a:prstGeom>
                <a:blipFill>
                  <a:blip r:embed="rId5"/>
                  <a:stretch>
                    <a:fillRect t="-10526" b="-26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2" name="lab"/>
            <p:cNvSpPr txBox="1"/>
            <p:nvPr/>
          </p:nvSpPr>
          <p:spPr>
            <a:xfrm>
              <a:off x="7683500" y="4254500"/>
              <a:ext cx="2667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map distance 3, squared 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150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389F-4AB0-DDC9-43CB-1153D222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2: The Pairwise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Formula"/>
              <p:cNvSpPr txBox="1"/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pairwise term of the gradient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4 (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(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(1 + 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500" b="1" dirty="0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201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Plug"/>
              <p:cNvSpPr txBox="1"/>
              <p:nvPr/>
            </p:nvSpPr>
            <p:spPr>
              <a:xfrm>
                <a:off x="838200" y="3225800"/>
                <a:ext cx="5334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Substitute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0.05 − 0.20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−0.15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(−3, 0)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Student-t factor = 0.1</a:t>
                </a:r>
              </a:p>
            </p:txBody>
          </p:sp>
        </mc:Choice>
        <mc:Fallback>
          <p:sp>
            <p:nvSpPr>
              <p:cNvPr id="202" name="Plu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25800"/>
                <a:ext cx="5334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Result"/>
              <p:cNvSpPr txBox="1"/>
              <p:nvPr/>
            </p:nvSpPr>
            <p:spPr>
              <a:xfrm>
                <a:off x="6426200" y="3225800"/>
                <a:ext cx="49276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Multiply through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4 ×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(−0.15)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× 0.1 =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−0.06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(−0.06)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(−3, 0) = (0.18, 0)</a:t>
                </a:r>
              </a:p>
            </p:txBody>
          </p:sp>
        </mc:Choice>
        <mc:Fallback>
          <p:sp>
            <p:nvSpPr>
              <p:cNvPr id="203" name="Resul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225800"/>
                <a:ext cx="49276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Note"/>
              <p:cNvSpPr txBox="1"/>
              <p:nvPr/>
            </p:nvSpPr>
            <p:spPr>
              <a:xfrm>
                <a:off x="838200" y="5054600"/>
                <a:ext cx="10515600" cy="1016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So this pair contributes (0.18, 0) to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Gradient descent moves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against that vector, i.e. by (−0.18, 0) times the learning rate.</a:t>
                </a:r>
              </a:p>
            </p:txBody>
          </p:sp>
        </mc:Choice>
        <mc:Fallback>
          <p:sp>
            <p:nvSpPr>
              <p:cNvPr id="204" name="No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54600"/>
                <a:ext cx="10515600" cy="10160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66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CF28-DC16-1A22-6269-F67A5520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3: Attraction or Repulsion?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Sign"/>
              <p:cNvSpPr txBox="1"/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3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Read the sign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0.05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smaller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0.20: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the map claims these points are closer than the data says.</a:t>
                </a:r>
              </a:p>
            </p:txBody>
          </p:sp>
        </mc:Choice>
        <mc:Fallback>
          <p:sp>
            <p:nvSpPr>
              <p:cNvPr id="201" name="Sig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Answer"/>
              <p:cNvSpPr txBox="1"/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Verdict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b="1" dirty="0">
                    <a:solidFill>
                      <a:srgbClr val="FFFFFF"/>
                    </a:solidFill>
                  </a:rPr>
                  <a:t>The force is repulsive.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moves by (−0.18,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0) ×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learning rate — directly away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02" name="Answ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Rule"/>
              <p:cNvSpPr txBox="1"/>
              <p:nvPr/>
            </p:nvSpPr>
            <p:spPr>
              <a:xfrm>
                <a:off x="838200" y="4876800"/>
                <a:ext cx="5334000" cy="1270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lnSpcReduction="10000"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The general rule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attraction: bring true neighbours together.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repulsion: separate pairs the map placed too close.</a:t>
                </a:r>
              </a:p>
            </p:txBody>
          </p:sp>
        </mc:Choice>
        <mc:Fallback>
          <p:sp>
            <p:nvSpPr>
              <p:cNvPr id="203" name="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76800"/>
                <a:ext cx="5334000" cy="1270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225800"/>
            <a:ext cx="4876800" cy="2844800"/>
            <a:chOff x="6477000" y="3225800"/>
            <a:chExt cx="4876800" cy="2844800"/>
          </a:xfrm>
        </p:grpSpPr>
        <p:sp>
          <p:nvSpPr>
            <p:cNvPr id="302" name="Frame"/>
            <p:cNvSpPr/>
            <p:nvPr/>
          </p:nvSpPr>
          <p:spPr>
            <a:xfrm>
              <a:off x="6477000" y="3225800"/>
              <a:ext cx="4876800" cy="28448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3" name="lab"/>
                <p:cNvSpPr txBox="1"/>
                <p:nvPr/>
              </p:nvSpPr>
              <p:spPr>
                <a:xfrm>
                  <a:off x="6680200" y="3403600"/>
                  <a:ext cx="44704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:r>
                    <a:rPr lang="en-US" sz="1400" b="1" dirty="0">
                      <a:solidFill>
                        <a:srgbClr val="4B2E83"/>
                      </a:solidFill>
                    </a:rPr>
                    <a:t>Direction of the force 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en-US" sz="1400" b="1" dirty="0">
                    <a:solidFill>
                      <a:srgbClr val="4B2E83"/>
                    </a:solidFill>
                  </a:endParaRPr>
                </a:p>
              </p:txBody>
            </p:sp>
          </mc:Choice>
          <mc:Fallback>
            <p:sp>
              <p:nvSpPr>
                <p:cNvPr id="303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200" y="3403600"/>
                  <a:ext cx="4470400" cy="228600"/>
                </a:xfrm>
                <a:prstGeom prst="rect">
                  <a:avLst/>
                </a:prstGeom>
                <a:blipFill>
                  <a:blip r:embed="rId5"/>
                  <a:stretch>
                    <a:fillRect l="-2557" t="-15000" b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4" name="seg"/>
            <p:cNvCxnSpPr/>
            <p:nvPr/>
          </p:nvCxnSpPr>
          <p:spPr>
            <a:xfrm>
              <a:off x="7459980" y="4978400"/>
              <a:ext cx="368808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sp>
          <p:nvSpPr>
            <p:cNvPr id="305" name="d"/>
            <p:cNvSpPr/>
            <p:nvPr/>
          </p:nvSpPr>
          <p:spPr>
            <a:xfrm>
              <a:off x="8318500" y="4914900"/>
              <a:ext cx="127000" cy="1270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d"/>
            <p:cNvSpPr/>
            <p:nvPr/>
          </p:nvSpPr>
          <p:spPr>
            <a:xfrm>
              <a:off x="10833100" y="4914900"/>
              <a:ext cx="127000" cy="1270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07" name="seg"/>
            <p:cNvCxnSpPr/>
            <p:nvPr/>
          </p:nvCxnSpPr>
          <p:spPr>
            <a:xfrm flipH="1">
              <a:off x="7585710" y="4726940"/>
              <a:ext cx="670560" cy="0"/>
            </a:xfrm>
            <a:prstGeom prst="line">
              <a:avLst/>
            </a:prstGeom>
            <a:ln w="28575">
              <a:solidFill>
                <a:srgbClr val="C0397A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 flipV="1">
              <a:off x="7585710" y="4626356"/>
              <a:ext cx="209550" cy="100584"/>
            </a:xfrm>
            <a:prstGeom prst="line">
              <a:avLst/>
            </a:prstGeom>
            <a:ln w="28575">
              <a:solidFill>
                <a:srgbClr val="C0397A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>
              <a:off x="7585710" y="4726940"/>
              <a:ext cx="209550" cy="100584"/>
            </a:xfrm>
            <a:prstGeom prst="line">
              <a:avLst/>
            </a:prstGeom>
            <a:ln w="28575">
              <a:solidFill>
                <a:srgbClr val="C0397A"/>
              </a:solidFill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0" name="lab"/>
                <p:cNvSpPr txBox="1"/>
                <p:nvPr/>
              </p:nvSpPr>
              <p:spPr>
                <a:xfrm>
                  <a:off x="8204200" y="5207000"/>
                  <a:ext cx="4318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0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200" y="5207000"/>
                  <a:ext cx="431800" cy="228600"/>
                </a:xfrm>
                <a:prstGeom prst="rect">
                  <a:avLst/>
                </a:prstGeom>
                <a:blipFill>
                  <a:blip r:embed="rId6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1" name="lab"/>
                <p:cNvSpPr txBox="1"/>
                <p:nvPr/>
              </p:nvSpPr>
              <p:spPr>
                <a:xfrm>
                  <a:off x="10718800" y="5207000"/>
                  <a:ext cx="4318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solidFill>
                                  <a:srgbClr val="00A7B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solidFill>
                                  <a:srgbClr val="00A7B5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00A7B5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1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8800" y="5207000"/>
                  <a:ext cx="431800" cy="228600"/>
                </a:xfrm>
                <a:prstGeom prst="rect">
                  <a:avLst/>
                </a:prstGeom>
                <a:blipFill>
                  <a:blip r:embed="rId7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2" name="lab"/>
                <p:cNvSpPr txBox="1"/>
                <p:nvPr/>
              </p:nvSpPr>
              <p:spPr>
                <a:xfrm>
                  <a:off x="7866380" y="4422140"/>
                  <a:ext cx="2794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C039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C0397A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C0397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400" b="1" dirty="0">
                      <a:solidFill>
                        <a:srgbClr val="C0397A"/>
                      </a:solidFill>
                    </a:rPr>
                    <a:t> is pushed away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C039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C0397A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C0397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en-US" sz="1400" b="1" dirty="0">
                    <a:solidFill>
                      <a:srgbClr val="C0397A"/>
                    </a:solidFill>
                  </a:endParaRPr>
                </a:p>
              </p:txBody>
            </p:sp>
          </mc:Choice>
          <mc:Fallback>
            <p:sp>
              <p:nvSpPr>
                <p:cNvPr id="312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6380" y="4422140"/>
                  <a:ext cx="2794000" cy="228600"/>
                </a:xfrm>
                <a:prstGeom prst="rect">
                  <a:avLst/>
                </a:prstGeom>
                <a:blipFill>
                  <a:blip r:embed="rId8"/>
                  <a:stretch>
                    <a:fillRect t="-26316" b="-36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80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C783D1-FED8-F641-83A7-97BD7BCBEF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0F6BF-DCF7-F744-84B8-FFA0530C5416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2B823-8A60-B542-B77F-9F230961BF0A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5F0EB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952A1-01DE-7B40-AFEB-209C47961368}"/>
              </a:ext>
            </a:extLst>
          </p:cNvPr>
          <p:cNvSpPr txBox="1"/>
          <p:nvPr/>
        </p:nvSpPr>
        <p:spPr>
          <a:xfrm>
            <a:off x="787400" y="2857500"/>
            <a:ext cx="965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UMAP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790BD-7467-4B49-8573-2248BE69279C}"/>
              </a:ext>
            </a:extLst>
          </p:cNvPr>
          <p:cNvSpPr txBox="1"/>
          <p:nvPr/>
        </p:nvSpPr>
        <p:spPr>
          <a:xfrm>
            <a:off x="838200" y="4191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Uniform Manifold Approximation and Projection</a:t>
            </a:r>
          </a:p>
        </p:txBody>
      </p:sp>
    </p:spTree>
    <p:extLst>
      <p:ext uri="{BB962C8B-B14F-4D97-AF65-F5344CB8AC3E}">
        <p14:creationId xmlns:p14="http://schemas.microsoft.com/office/powerpoint/2010/main" val="418211567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FF5F-518B-E56C-3891-8EE87809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UMAP: The Intuition</a:t>
            </a:r>
          </a:p>
        </p:txBody>
      </p:sp>
      <p:sp>
        <p:nvSpPr>
          <p:cNvPr id="201" name="Idea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The idea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Build a weighted graph of who is near whom in high dimensions, then draw a 2-D graph that looks as much like it as possible.</a:t>
            </a:r>
          </a:p>
        </p:txBody>
      </p:sp>
      <p:sp>
        <p:nvSpPr>
          <p:cNvPr id="202" name="Halves"/>
          <p:cNvSpPr txBox="1"/>
          <p:nvPr/>
        </p:nvSpPr>
        <p:spPr>
          <a:xfrm>
            <a:off x="838200" y="3149600"/>
            <a:ext cx="5334000" cy="17272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lnSpcReduction="1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Two halves of the algorithm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Graph construction: each point links to its k nearest neighbours, with weights that fall off with distance.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Layout: move the 2-D points so their edge weights match — attraction along edges, repulsion against randomly sampled non-neighbours.</a:t>
            </a:r>
          </a:p>
        </p:txBody>
      </p:sp>
      <p:sp>
        <p:nvSpPr>
          <p:cNvPr id="203" name="Diff"/>
          <p:cNvSpPr txBox="1"/>
          <p:nvPr/>
        </p:nvSpPr>
        <p:spPr>
          <a:xfrm>
            <a:off x="838200" y="5029200"/>
            <a:ext cx="53340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fontScale="77500" lnSpcReduction="2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How it differs from t-SNE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 fuzzy graph and cross-entropy, instead of distributions and KL divergence.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Negative sampling keeps it fast and tends to preserve more global structure.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49600"/>
            <a:ext cx="4876800" cy="2921000"/>
            <a:chOff x="6477000" y="3149600"/>
            <a:chExt cx="4876800" cy="2921000"/>
          </a:xfrm>
        </p:grpSpPr>
        <p:sp>
          <p:nvSpPr>
            <p:cNvPr id="302" name="Frame"/>
            <p:cNvSpPr/>
            <p:nvPr/>
          </p:nvSpPr>
          <p:spPr>
            <a:xfrm>
              <a:off x="6477000" y="3149600"/>
              <a:ext cx="4876800" cy="2921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274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A weighted k-NN graph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 flipV="1">
              <a:off x="7523480" y="4704080"/>
              <a:ext cx="614680" cy="614680"/>
            </a:xfrm>
            <a:prstGeom prst="line">
              <a:avLst/>
            </a:prstGeom>
            <a:ln w="19812">
              <a:solidFill>
                <a:srgbClr val="4B2E83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 flipH="1" flipV="1">
              <a:off x="7747000" y="4089400"/>
              <a:ext cx="391160" cy="614680"/>
            </a:xfrm>
            <a:prstGeom prst="line">
              <a:avLst/>
            </a:prstGeom>
            <a:ln w="15240">
              <a:solidFill>
                <a:srgbClr val="4B2E83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>
              <a:off x="7523480" y="5318760"/>
              <a:ext cx="949960" cy="111760"/>
            </a:xfrm>
            <a:prstGeom prst="line">
              <a:avLst/>
            </a:prstGeom>
            <a:ln w="16764">
              <a:solidFill>
                <a:srgbClr val="4B2E83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 flipV="1">
              <a:off x="8138160" y="4424680"/>
              <a:ext cx="726440" cy="279400"/>
            </a:xfrm>
            <a:prstGeom prst="line">
              <a:avLst/>
            </a:prstGeom>
            <a:ln w="12192">
              <a:solidFill>
                <a:srgbClr val="4B2E83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>
              <a:off x="7747000" y="4089400"/>
              <a:ext cx="1117600" cy="335280"/>
            </a:xfrm>
            <a:prstGeom prst="line">
              <a:avLst/>
            </a:prstGeom>
            <a:ln w="8382">
              <a:solidFill>
                <a:srgbClr val="4B2E83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 flipV="1">
              <a:off x="8473440" y="4424680"/>
              <a:ext cx="391160" cy="1005840"/>
            </a:xfrm>
            <a:prstGeom prst="line">
              <a:avLst/>
            </a:prstGeom>
            <a:ln w="10668">
              <a:solidFill>
                <a:srgbClr val="4B2E83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 flipV="1">
              <a:off x="10317480" y="4480560"/>
              <a:ext cx="558800" cy="726440"/>
            </a:xfrm>
            <a:prstGeom prst="line">
              <a:avLst/>
            </a:prstGeom>
            <a:ln w="18288">
              <a:solidFill>
                <a:srgbClr val="4B2E83"/>
              </a:solidFill>
            </a:ln>
          </p:spPr>
        </p:cxnSp>
        <p:cxnSp>
          <p:nvCxnSpPr>
            <p:cNvPr id="311" name="seg"/>
            <p:cNvCxnSpPr/>
            <p:nvPr/>
          </p:nvCxnSpPr>
          <p:spPr>
            <a:xfrm>
              <a:off x="10317480" y="5207000"/>
              <a:ext cx="894080" cy="111760"/>
            </a:xfrm>
            <a:prstGeom prst="line">
              <a:avLst/>
            </a:prstGeom>
            <a:ln w="15240">
              <a:solidFill>
                <a:srgbClr val="4B2E83"/>
              </a:solidFill>
            </a:ln>
          </p:spPr>
        </p:cxnSp>
        <p:cxnSp>
          <p:nvCxnSpPr>
            <p:cNvPr id="312" name="seg"/>
            <p:cNvCxnSpPr/>
            <p:nvPr/>
          </p:nvCxnSpPr>
          <p:spPr>
            <a:xfrm flipH="1" flipV="1">
              <a:off x="10093960" y="3921760"/>
              <a:ext cx="782320" cy="558800"/>
            </a:xfrm>
            <a:prstGeom prst="line">
              <a:avLst/>
            </a:prstGeom>
            <a:ln w="12192">
              <a:solidFill>
                <a:srgbClr val="4B2E83"/>
              </a:solidFill>
            </a:ln>
          </p:spPr>
        </p:cxnSp>
        <p:cxnSp>
          <p:nvCxnSpPr>
            <p:cNvPr id="313" name="seg"/>
            <p:cNvCxnSpPr/>
            <p:nvPr/>
          </p:nvCxnSpPr>
          <p:spPr>
            <a:xfrm>
              <a:off x="10093960" y="3921760"/>
              <a:ext cx="223520" cy="1285240"/>
            </a:xfrm>
            <a:prstGeom prst="line">
              <a:avLst/>
            </a:prstGeom>
            <a:ln w="7620">
              <a:solidFill>
                <a:srgbClr val="4B2E83"/>
              </a:solidFill>
            </a:ln>
          </p:spPr>
        </p:cxnSp>
        <p:cxnSp>
          <p:nvCxnSpPr>
            <p:cNvPr id="314" name="seg"/>
            <p:cNvCxnSpPr/>
            <p:nvPr/>
          </p:nvCxnSpPr>
          <p:spPr>
            <a:xfrm>
              <a:off x="10876280" y="4480560"/>
              <a:ext cx="335280" cy="838200"/>
            </a:xfrm>
            <a:prstGeom prst="line">
              <a:avLst/>
            </a:prstGeom>
            <a:ln w="9906">
              <a:solidFill>
                <a:srgbClr val="4B2E83"/>
              </a:solidFill>
            </a:ln>
          </p:spPr>
        </p:cxnSp>
        <p:cxnSp>
          <p:nvCxnSpPr>
            <p:cNvPr id="315" name="seg"/>
            <p:cNvCxnSpPr/>
            <p:nvPr/>
          </p:nvCxnSpPr>
          <p:spPr>
            <a:xfrm flipV="1">
              <a:off x="8864600" y="3921760"/>
              <a:ext cx="1229360" cy="502920"/>
            </a:xfrm>
            <a:prstGeom prst="line">
              <a:avLst/>
            </a:prstGeom>
            <a:ln w="9525">
              <a:solidFill>
                <a:srgbClr val="595959"/>
              </a:solidFill>
              <a:prstDash val="dash"/>
            </a:ln>
          </p:spPr>
        </p:cxnSp>
        <p:sp>
          <p:nvSpPr>
            <p:cNvPr id="316" name="d"/>
            <p:cNvSpPr/>
            <p:nvPr/>
          </p:nvSpPr>
          <p:spPr>
            <a:xfrm>
              <a:off x="7472680" y="526796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d"/>
            <p:cNvSpPr/>
            <p:nvPr/>
          </p:nvSpPr>
          <p:spPr>
            <a:xfrm>
              <a:off x="8087360" y="465328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d"/>
            <p:cNvSpPr/>
            <p:nvPr/>
          </p:nvSpPr>
          <p:spPr>
            <a:xfrm>
              <a:off x="7696200" y="403860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d"/>
            <p:cNvSpPr/>
            <p:nvPr/>
          </p:nvSpPr>
          <p:spPr>
            <a:xfrm>
              <a:off x="8422640" y="537972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d"/>
            <p:cNvSpPr/>
            <p:nvPr/>
          </p:nvSpPr>
          <p:spPr>
            <a:xfrm>
              <a:off x="8813800" y="4373880"/>
              <a:ext cx="101600" cy="101600"/>
            </a:xfrm>
            <a:prstGeom prst="ellipse">
              <a:avLst/>
            </a:prstGeom>
            <a:solidFill>
              <a:srgbClr val="4B2E8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d"/>
            <p:cNvSpPr/>
            <p:nvPr/>
          </p:nvSpPr>
          <p:spPr>
            <a:xfrm>
              <a:off x="10266680" y="5156200"/>
              <a:ext cx="101600" cy="1016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d"/>
            <p:cNvSpPr/>
            <p:nvPr/>
          </p:nvSpPr>
          <p:spPr>
            <a:xfrm>
              <a:off x="10825480" y="4429760"/>
              <a:ext cx="101600" cy="1016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d"/>
            <p:cNvSpPr/>
            <p:nvPr/>
          </p:nvSpPr>
          <p:spPr>
            <a:xfrm>
              <a:off x="10043160" y="3870960"/>
              <a:ext cx="101600" cy="1016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d"/>
            <p:cNvSpPr/>
            <p:nvPr/>
          </p:nvSpPr>
          <p:spPr>
            <a:xfrm>
              <a:off x="11160760" y="5267960"/>
              <a:ext cx="101600" cy="1016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lab"/>
            <p:cNvSpPr txBox="1"/>
            <p:nvPr/>
          </p:nvSpPr>
          <p:spPr>
            <a:xfrm>
              <a:off x="7411720" y="3586480"/>
              <a:ext cx="2794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thicker edge = larger weight w</a:t>
              </a:r>
            </a:p>
          </p:txBody>
        </p:sp>
        <p:sp>
          <p:nvSpPr>
            <p:cNvPr id="326" name="lab"/>
            <p:cNvSpPr txBox="1"/>
            <p:nvPr/>
          </p:nvSpPr>
          <p:spPr>
            <a:xfrm>
              <a:off x="8971280" y="3975608"/>
              <a:ext cx="1016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weak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183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293C-8361-4891-C732-723AD0CE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the UMAP Ingredients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hree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Three ingredients behind the formulas on the next slide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local connectivity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local bandwidth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one symmetric edge weight</a:t>
                </a:r>
              </a:p>
            </p:txBody>
          </p:sp>
        </mc:Choice>
        <mc:Fallback>
          <p:sp>
            <p:nvSpPr>
              <p:cNvPr id="201" name="Thre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Rho"/>
              <p:cNvSpPr txBox="1"/>
              <p:nvPr/>
            </p:nvSpPr>
            <p:spPr>
              <a:xfrm>
                <a:off x="838200" y="3124200"/>
                <a:ext cx="5334000" cy="1803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 distance to the nearest neighbour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Subtracting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makes the closest neighbour's weight exactly 1, so every point keeps at least one full-strength edge.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That is what stops isolated points from dropping out of the graph.</a:t>
                </a:r>
              </a:p>
            </p:txBody>
          </p:sp>
        </mc:Choice>
        <mc:Fallback>
          <p:sp>
            <p:nvSpPr>
              <p:cNvPr id="202" name="Rh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24200"/>
                <a:ext cx="5334000" cy="1803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Sigma"/>
              <p:cNvSpPr txBox="1"/>
              <p:nvPr/>
            </p:nvSpPr>
            <p:spPr>
              <a:xfrm>
                <a:off x="6426200" y="3124200"/>
                <a:ext cx="4927600" cy="1803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the local bandwidth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Solved per point so its row of weights sums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log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Same role as perplexity in t-SNE: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in dense regions,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in sparse ones.</a:t>
                </a:r>
              </a:p>
            </p:txBody>
          </p:sp>
        </mc:Choice>
        <mc:Fallback>
          <p:sp>
            <p:nvSpPr>
              <p:cNvPr id="203" name="Sigm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124200"/>
                <a:ext cx="4927600" cy="1803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V"/>
              <p:cNvSpPr txBox="1"/>
              <p:nvPr/>
            </p:nvSpPr>
            <p:spPr>
              <a:xfrm>
                <a:off x="838200" y="5080000"/>
                <a:ext cx="10515600" cy="990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 lnSpcReduction="10000"/>
              </a:bodyPr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merging the two directed edges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— the fuzzy "or": the edge counts if either point claims the other, without double-counting the overlap, and the result stays in [0, 1].</a:t>
                </a:r>
              </a:p>
            </p:txBody>
          </p:sp>
        </mc:Choice>
        <mc:Fallback>
          <p:sp>
            <p:nvSpPr>
              <p:cNvPr id="204" name="V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80000"/>
                <a:ext cx="10515600" cy="9906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276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D035-9BF5-A882-9AFF-C22226B0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UMAP: High-Dimensional 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7EC246-E7C7-4840-9ADF-995AACB4B98E}"/>
                  </a:ext>
                </a:extLst>
              </p:cNvPr>
              <p:cNvSpPr txBox="1"/>
              <p:nvPr/>
            </p:nvSpPr>
            <p:spPr>
              <a:xfrm>
                <a:off x="838200" y="1778000"/>
                <a:ext cx="10515600" cy="3231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UMAP builds a weighted k-NN graph in high-D, then finds a low-D layout with a matching graph. For each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neighbors: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7EC246-E7C7-4840-9ADF-995AACB4B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78000"/>
                <a:ext cx="10515600" cy="323165"/>
              </a:xfrm>
              <a:prstGeom prst="rect">
                <a:avLst/>
              </a:prstGeom>
              <a:blipFill>
                <a:blip r:embed="rId2"/>
                <a:stretch>
                  <a:fillRect l="-362" t="-7692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00EC97-A7B9-5D40-9C6D-73E28DC65C89}"/>
              </a:ext>
            </a:extLst>
          </p:cNvPr>
          <p:cNvSpPr/>
          <p:nvPr/>
        </p:nvSpPr>
        <p:spPr>
          <a:xfrm>
            <a:off x="838200" y="2311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535F43-E6D2-CB4A-825E-E7B00871A896}"/>
                  </a:ext>
                </a:extLst>
              </p:cNvPr>
              <p:cNvSpPr txBox="1"/>
              <p:nvPr/>
            </p:nvSpPr>
            <p:spPr>
              <a:xfrm>
                <a:off x="1016000" y="2396974"/>
                <a:ext cx="10160000" cy="6416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9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9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900" i="0">
                            <a:solidFill>
                              <a:schemeClr val="bg1"/>
                            </a:solidFill>
                          </a:rPr>
                          <m:t>min</m:t>
                        </m:r>
                      </m:e>
                      <m:sub>
                        <m:r>
                          <a:rPr lang="en-US" sz="19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5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5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900" dirty="0">
                    <a:solidFill>
                      <a:schemeClr val="bg1"/>
                    </a:solidFill>
                  </a:rPr>
                  <a:t>      ;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9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9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1900" i="0">
                            <a:solidFill>
                              <a:schemeClr val="bg1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9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9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9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9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5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d>
                                          <m:dPr>
                                            <m:ctrlPr>
                                              <a:rPr lang="en-US" sz="15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5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50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50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50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5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50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50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sz="19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9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90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90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b>
                                    <m:r>
                                      <a:rPr lang="en-US" sz="19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9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9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  <m:r>
                      <a:rPr lang="en-US" sz="19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500" i="0">
                            <a:solidFill>
                              <a:schemeClr val="bg1"/>
                            </a:solidFill>
                          </a:rPr>
                          <m:t>log</m:t>
                        </m:r>
                      </m:e>
                      <m:sub>
                        <m:r>
                          <a:rPr lang="en-US" sz="15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1500" i="0">
                        <a:solidFill>
                          <a:schemeClr val="bg1"/>
                        </a:solidFill>
                      </a:rPr>
                      <m:t> </m:t>
                    </m:r>
                    <m:r>
                      <a:rPr lang="en-US" sz="15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9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535F43-E6D2-CB4A-825E-E7B00871A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396974"/>
                <a:ext cx="10160000" cy="641651"/>
              </a:xfrm>
              <a:prstGeom prst="rect">
                <a:avLst/>
              </a:prstGeom>
              <a:blipFill>
                <a:blip r:embed="rId3"/>
                <a:stretch>
                  <a:fillRect t="-44231" b="-8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4800F2-47DC-464C-B706-56C747BA58BC}"/>
              </a:ext>
            </a:extLst>
          </p:cNvPr>
          <p:cNvSpPr/>
          <p:nvPr/>
        </p:nvSpPr>
        <p:spPr>
          <a:xfrm>
            <a:off x="838200" y="3327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E72B8D-1AF4-464F-B447-E40AF87EC4F6}"/>
                  </a:ext>
                </a:extLst>
              </p:cNvPr>
              <p:cNvSpPr txBox="1"/>
              <p:nvPr/>
            </p:nvSpPr>
            <p:spPr>
              <a:xfrm>
                <a:off x="1016000" y="3347893"/>
                <a:ext cx="10160000" cy="77181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9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ar-AE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5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5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9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5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5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sz="19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900" i="0">
                          <a:solidFill>
                            <a:schemeClr val="bg1"/>
                          </a:solidFill>
                        </a:rPr>
                        <m:t>exp</m:t>
                      </m:r>
                      <m:d>
                        <m:dPr>
                          <m:ctrlPr>
                            <a:rPr lang="ar-AE" sz="19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19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1900" i="0">
                                  <a:solidFill>
                                    <a:schemeClr val="bg1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ar-AE" sz="19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9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ar-AE" sz="15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ar-AE" sz="1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15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 sz="15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ar-AE" sz="15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ar-AE" sz="19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9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9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ar-AE" sz="19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ar-AE" sz="19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9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ar-AE" sz="19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E72B8D-1AF4-464F-B447-E40AF87EC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347893"/>
                <a:ext cx="10160000" cy="77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21EF24-EF8A-3D47-A3FF-B99FF957BC3D}"/>
              </a:ext>
            </a:extLst>
          </p:cNvPr>
          <p:cNvSpPr/>
          <p:nvPr/>
        </p:nvSpPr>
        <p:spPr>
          <a:xfrm>
            <a:off x="838200" y="4343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9B10AB-59A2-5D44-8F08-080B3FF13E9C}"/>
                  </a:ext>
                </a:extLst>
              </p:cNvPr>
              <p:cNvSpPr txBox="1"/>
              <p:nvPr/>
            </p:nvSpPr>
            <p:spPr>
              <a:xfrm>
                <a:off x="1016000" y="4545641"/>
                <a:ext cx="10160000" cy="40831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9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9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  <m:r>
                        <a:rPr lang="en-US" sz="19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9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9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9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𝑗𝑖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9B10AB-59A2-5D44-8F08-080B3FF13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545641"/>
                <a:ext cx="10160000" cy="408317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53294-FC2A-5540-8785-595C97F96C70}"/>
                  </a:ext>
                </a:extLst>
              </p:cNvPr>
              <p:cNvSpPr txBox="1"/>
              <p:nvPr/>
            </p:nvSpPr>
            <p:spPr>
              <a:xfrm>
                <a:off x="838200" y="5384800"/>
                <a:ext cx="10515600" cy="78483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(local connectivity): distance to the nearest neighbor — guarantees each point connects to at least one other.</a:t>
                </a:r>
              </a:p>
              <a:p>
                <a:pPr marL="228600" indent="-22860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(bandwidth): solved per point so the row of weights sums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333333"/>
                            </a:solidFill>
                          </a:rPr>
                          <m:t>log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1500" i="0">
                        <a:solidFill>
                          <a:srgbClr val="333333"/>
                        </a:solidFill>
                      </a:rPr>
                      <m:t> 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— adapts to local density.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Symmetrization combines the two directed edges via the probabilistic t-conorm (fuzzy union).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53294-FC2A-5540-8785-595C97F96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84800"/>
                <a:ext cx="10515600" cy="784830"/>
              </a:xfrm>
              <a:prstGeom prst="rect">
                <a:avLst/>
              </a:prstGeom>
              <a:blipFill>
                <a:blip r:embed="rId6"/>
                <a:stretch>
                  <a:fillRect l="-241" t="-1587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84995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CE01-B18C-69ED-72BB-20C9C5AB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UMAP: Low-D Layout &amp; Cost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ACC37C-5E51-C745-9B49-FB6ED1304654}"/>
                  </a:ext>
                </a:extLst>
              </p:cNvPr>
              <p:cNvSpPr txBox="1"/>
              <p:nvPr/>
            </p:nvSpPr>
            <p:spPr>
              <a:xfrm>
                <a:off x="838200" y="1828800"/>
                <a:ext cx="10515600" cy="5861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In the low-D embedding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sz="15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, edge weights use a smooth differentiable curve with parameters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fit to the min-dist hyperparameter: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ACC37C-5E51-C745-9B49-FB6ED130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800"/>
                <a:ext cx="10515600" cy="586122"/>
              </a:xfrm>
              <a:prstGeom prst="rect">
                <a:avLst/>
              </a:prstGeom>
              <a:blipFill>
                <a:blip r:embed="rId2"/>
                <a:stretch>
                  <a:fillRect l="-362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6049C2-19EB-4C46-8D70-BCD7B4E33AFC}"/>
              </a:ext>
            </a:extLst>
          </p:cNvPr>
          <p:cNvSpPr/>
          <p:nvPr/>
        </p:nvSpPr>
        <p:spPr>
          <a:xfrm>
            <a:off x="838200" y="2540000"/>
            <a:ext cx="10515600" cy="7366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A29B8-553A-E449-95FC-6A1B66E8FFAC}"/>
                  </a:ext>
                </a:extLst>
              </p:cNvPr>
              <p:cNvSpPr txBox="1"/>
              <p:nvPr/>
            </p:nvSpPr>
            <p:spPr>
              <a:xfrm>
                <a:off x="1016000" y="2623062"/>
                <a:ext cx="10160000" cy="5704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1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sz="1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ar-AE" sz="1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ar-AE" sz="1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ar-AE" sz="1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1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 sz="18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ar-AE" sz="1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ar-AE" sz="1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ar-AE" sz="1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ar-AE" sz="1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A29B8-553A-E449-95FC-6A1B66E8F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623062"/>
                <a:ext cx="10160000" cy="570477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5CB3F2-212A-F044-A296-6498CF1F9A63}"/>
              </a:ext>
            </a:extLst>
          </p:cNvPr>
          <p:cNvSpPr/>
          <p:nvPr/>
        </p:nvSpPr>
        <p:spPr>
          <a:xfrm>
            <a:off x="838200" y="34290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743756-1A52-DA4C-B67D-754151C8818C}"/>
                  </a:ext>
                </a:extLst>
              </p:cNvPr>
              <p:cNvSpPr txBox="1"/>
              <p:nvPr/>
            </p:nvSpPr>
            <p:spPr>
              <a:xfrm>
                <a:off x="1016000" y="3488831"/>
                <a:ext cx="10160000" cy="69313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5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ar-AE" sz="15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ar-AE" sz="1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5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sz="15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5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ar-AE" sz="15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ar-AE" sz="1500" i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500" i="0">
                                  <a:solidFill>
                                    <a:schemeClr val="bg1"/>
                                  </a:solidFill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ar-AE" sz="1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1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ar-AE" sz="15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sz="15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ar-AE" sz="15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ar-AE" sz="1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5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ar-AE" sz="1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5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ar-AE" sz="15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ar-AE" sz="1500" i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500" i="0">
                                  <a:solidFill>
                                    <a:schemeClr val="bg1"/>
                                  </a:solidFill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ar-AE" sz="15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15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15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ar-AE" sz="15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ar-AE" sz="15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ar-AE" sz="15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ar-AE" sz="15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743756-1A52-DA4C-B67D-754151C88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488831"/>
                <a:ext cx="10160000" cy="693138"/>
              </a:xfrm>
              <a:prstGeom prst="rect">
                <a:avLst/>
              </a:prstGeom>
              <a:blipFill>
                <a:blip r:embed="rId4"/>
                <a:stretch>
                  <a:fillRect t="-108929" b="-15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C6B7F-8BB6-4041-B54C-580F83815542}"/>
                  </a:ext>
                </a:extLst>
              </p:cNvPr>
              <p:cNvSpPr txBox="1"/>
              <p:nvPr/>
            </p:nvSpPr>
            <p:spPr>
              <a:xfrm>
                <a:off x="838200" y="4419600"/>
                <a:ext cx="10515600" cy="12650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Cost is the fuzzy-set cross-entropy between high-D memberships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and low-D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First term = attractive force (pulls connected points together); second term = repulsive force (pushes non-neighbors apart).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Optimized by stochastic gradient descent with negative sampling — unlike t-SNE, UMAP preserves more global structure and scales near-linearly.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Defaults: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≈1.577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≈0.895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500" i="0">
                        <a:solidFill>
                          <a:srgbClr val="333333"/>
                        </a:solidFill>
                      </a:rPr>
                      <m:t>min</m:t>
                    </m:r>
                    <m:r>
                      <m:rPr>
                        <m:nor/>
                      </m:rPr>
                      <a:rPr lang="en-US" sz="1500" i="0">
                        <a:solidFill>
                          <a:srgbClr val="333333"/>
                        </a:solidFill>
                      </a:rPr>
                      <m:t>_</m:t>
                    </m:r>
                    <m:r>
                      <m:rPr>
                        <m:nor/>
                      </m:rPr>
                      <a:rPr lang="en-US" sz="1500" i="0">
                        <a:solidFill>
                          <a:srgbClr val="333333"/>
                        </a:solidFill>
                      </a:rPr>
                      <m:t>dist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C6B7F-8BB6-4041-B54C-580F8381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600"/>
                <a:ext cx="10515600" cy="1265026"/>
              </a:xfrm>
              <a:prstGeom prst="rect">
                <a:avLst/>
              </a:prstGeom>
              <a:blipFill>
                <a:blip r:embed="rId5"/>
                <a:stretch>
                  <a:fillRect l="-241" t="-1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03732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55F82BE-C7CB-81B3-76CF-DD516961ECB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Example 1: Local Connectivity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55F82BE-C7CB-81B3-76CF-DD516961E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5A707C-BFBD-DD44-BE42-FD468162DEA5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CF55-F605-BF4D-BECC-E0FF3BAF124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1446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neighbors with Euclidean distances: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0.5,0.8,1.4</m:t>
                          </m:r>
                        </m:e>
                      </m:d>
                    </m:oMath>
                  </m:oMathPara>
                </a14:m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1. Find the local connectivity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2.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directed weights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exp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333333"/>
                                </a:solidFill>
                              </a:rPr>
                              <m:t>max</m:t>
                            </m:r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CF55-F605-BF4D-BECC-E0FF3BAF1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144626"/>
              </a:xfrm>
              <a:prstGeom prst="rect">
                <a:avLst/>
              </a:prstGeom>
              <a:blipFill>
                <a:blip r:embed="rId3"/>
                <a:stretch>
                  <a:fillRect l="-730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0B611D3-F8D7-A042-BB82-6CCA39486055}"/>
              </a:ext>
            </a:extLst>
          </p:cNvPr>
          <p:cNvSpPr/>
          <p:nvPr/>
        </p:nvSpPr>
        <p:spPr>
          <a:xfrm>
            <a:off x="6210300" y="2235200"/>
            <a:ext cx="5143500" cy="3886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CD1045-7160-D04E-90FC-4BEF7AB23D00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572000" cy="314810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nearest-neighbor distance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min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Shifted distances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max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0.0,0.3,0.9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Weights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exp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333333"/>
                                </a:solidFill>
                              </a:rPr>
                              <m:t>shift</m:t>
                            </m:r>
                          </m:num>
                          <m:den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=1.000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−0.3</m:t>
                          </m:r>
                        </m:sup>
                      </m:sSup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=0.741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−0.9</m:t>
                          </m:r>
                        </m:sup>
                      </m:sSup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=0.407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nearest neighbor always gets weight 1 — this is what local connectivity guarantees.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CD1045-7160-D04E-90FC-4BEF7AB23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572000" cy="3148106"/>
              </a:xfrm>
              <a:prstGeom prst="rect">
                <a:avLst/>
              </a:prstGeom>
              <a:blipFill>
                <a:blip r:embed="rId4"/>
                <a:stretch>
                  <a:fillRect l="-554" t="-806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18041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D8A7-C1DF-16F6-C1D3-270A94A7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Fuzzy Union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75A550-59AD-F04B-8D82-829E2742BC3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32FD2A-2D10-CD4F-8A59-46B091C380ED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5414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directed membership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are not equal: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wᵢⱼ = 0.80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=0.50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wⱼᵢ = 0.50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symmetric edge weight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using the probabilistic t-conorm (fuzzy union):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vᵢⱼ = wᵢⱼ + wⱼᵢ − wᵢⱼ·wⱼᵢ</a:t>
                    </a:r>
                  </mc:Fallback>
                </mc:AlternateContent>
                <a:endParaRPr lang="en-US" sz="3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32FD2A-2D10-CD4F-8A59-46B091C38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541465"/>
              </a:xfrm>
              <a:prstGeom prst="rect">
                <a:avLst/>
              </a:prstGeom>
              <a:blipFill>
                <a:blip r:embed="rId2"/>
                <a:stretch>
                  <a:fillRect l="-730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551A63-D97A-1B41-9C97-4A0FEF92124D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8418EF-3867-CA45-8BCD-A084F71D9360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572000" cy="24622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Substitute the two directed weights: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=0.80+0.50−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0.80</m:t>
                              </m:r>
                            </m:e>
                          </m:d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0.50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vᵢⱼ = 0.80 + 0.50 − (0.80)(0.50)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=1.30−0.40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    = 1.30 − 0.40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=0.90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    = 0.90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Interpretation: the fuzzy union is larger than either directed weight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0.90&gt;0.80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0.90 &gt; 0.80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), but stays bounded in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[0, 1]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An edge is strong if either endpoint considers the other a neighbor.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8418EF-3867-CA45-8BCD-A084F71D9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572000" cy="2462213"/>
              </a:xfrm>
              <a:prstGeom prst="rect">
                <a:avLst/>
              </a:prstGeom>
              <a:blipFill>
                <a:blip r:embed="rId3"/>
                <a:stretch>
                  <a:fillRect l="-554" t="-1031" b="-2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17729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148C16-A997-1A60-DA5D-13137B4275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Example 3: Low-D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B148C16-A997-1A60-DA5D-13137B427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7A3468-FA61-124C-97C1-492BBA3C66B9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2246E-D803-5748-BB90-9F26CFB77CAE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2442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Two embedded points are separated by distance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 − yⱼ‖ = 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UMAP default curve parameters: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=1.577,</m:t>
                          </m:r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=0.895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a = 1.577,   b = 0.895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low-D edge weight:</a:t>
                </a: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(1 + a‖yᵢ−yⱼ‖²ᵇ)⁻¹</a:t>
                    </a:r>
                  </mc:Fallback>
                </mc:AlternateContent>
                <a:endParaRPr lang="en-US" sz="2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2246E-D803-5748-BB90-9F26CFB77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244269"/>
              </a:xfrm>
              <a:prstGeom prst="rect">
                <a:avLst/>
              </a:prstGeom>
              <a:blipFill>
                <a:blip r:embed="rId3"/>
                <a:stretch>
                  <a:fillRect l="-730" t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5FA6F5-A639-A141-875A-BA669CE1A8E5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07A65B-B4B7-F445-AD0F-AD3EF6DC6549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445000" cy="329327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Squared distance term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‖yᵢ−yⱼ‖² = 4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Raise to power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0.895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=3.43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4^0.895 = 3.43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Scale by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add 1: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1+1.577·3.43=6.41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1 + 1.577 · 3.43 = 6.41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Invert: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6.41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=0.156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1 / 6.41 = 0.156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Distant points get a small low-D weight; if their high-D membership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is large, the attractive term pulls them closer next step.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07A65B-B4B7-F445-AD0F-AD3EF6DC6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445000" cy="3293274"/>
              </a:xfrm>
              <a:prstGeom prst="rect">
                <a:avLst/>
              </a:prstGeom>
              <a:blipFill>
                <a:blip r:embed="rId4"/>
                <a:stretch>
                  <a:fillRect l="-570" t="-769" r="-285" b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7230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102C-85C4-B891-800D-E071126D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C16761-3864-814F-9957-7D97710589D8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29C3E3-3171-ED42-A9AF-4C1AA1347C74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A2CCD-0F8E-5F40-9CD6-84107A2B77E9}"/>
                  </a:ext>
                </a:extLst>
              </p:cNvPr>
              <p:cNvSpPr txBox="1"/>
              <p:nvPr/>
            </p:nvSpPr>
            <p:spPr>
              <a:xfrm>
                <a:off x="1854200" y="2272813"/>
                <a:ext cx="9296400" cy="73757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E1.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has neighbor distances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0.3,0.6,0.6,1.0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).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the four directed weights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 i="0">
                        <a:solidFill>
                          <a:srgbClr val="333333"/>
                        </a:solidFill>
                      </a:rPr>
                      <m:t>exp</m:t>
                    </m:r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 i="0">
                                <a:solidFill>
                                  <a:srgbClr val="333333"/>
                                </a:solidFill>
                              </a:rPr>
                              <m:t>max</m:t>
                            </m:r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A2CCD-0F8E-5F40-9CD6-84107A2B7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272813"/>
                <a:ext cx="9296400" cy="737574"/>
              </a:xfrm>
              <a:prstGeom prst="rect">
                <a:avLst/>
              </a:prstGeom>
              <a:blipFill>
                <a:blip r:embed="rId2"/>
                <a:stretch>
                  <a:fillRect l="-273" t="-1695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AB39D09E-37AD-2D47-AD4A-A6A1C18BA489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091C73-7B68-D747-83FD-662B904DA6A5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0649B-E642-1A40-BC76-5A07E9EFA951}"/>
                  </a:ext>
                </a:extLst>
              </p:cNvPr>
              <p:cNvSpPr txBox="1"/>
              <p:nvPr/>
            </p:nvSpPr>
            <p:spPr>
              <a:xfrm>
                <a:off x="1854200" y="3853399"/>
                <a:ext cx="9296400" cy="6244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E2.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Two directed memberships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Compute the symmetric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then verify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0649B-E642-1A40-BC76-5A07E9EFA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53399"/>
                <a:ext cx="9296400" cy="624402"/>
              </a:xfrm>
              <a:prstGeom prst="rect">
                <a:avLst/>
              </a:prstGeom>
              <a:blipFill>
                <a:blip r:embed="rId3"/>
                <a:stretch>
                  <a:fillRect l="-273"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54F03277-5147-8949-B1B8-8070A21EC9B0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B1C93F4-CF36-004A-93B9-B31544F88C5F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396ED8-29F7-FE4F-9826-5C9A4CF8F531}"/>
                  </a:ext>
                </a:extLst>
              </p:cNvPr>
              <p:cNvSpPr txBox="1"/>
              <p:nvPr/>
            </p:nvSpPr>
            <p:spPr>
              <a:xfrm>
                <a:off x="1854200" y="5289073"/>
                <a:ext cx="9296400" cy="8010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E3.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=1.577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=0.895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compute the low-D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for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for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Which pair is pulled together more strongly?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396ED8-29F7-FE4F-9826-5C9A4CF8F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289073"/>
                <a:ext cx="9296400" cy="801053"/>
              </a:xfrm>
              <a:prstGeom prst="rect">
                <a:avLst/>
              </a:prstGeom>
              <a:blipFill>
                <a:blip r:embed="rId4"/>
                <a:stretch>
                  <a:fillRect l="-273"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37478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6A7931-AF6D-88F1-53CF-7FF0DEEA285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E1 Solution — Step 1: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8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and the Shifted Distances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86A7931-AF6D-88F1-53CF-7FF0DEEA2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b="-2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Given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Neighbour distances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(0.3, 0.6, 0.6, 1.0),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4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0.5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Rho"/>
              <p:cNvSpPr txBox="1"/>
              <p:nvPr/>
            </p:nvSpPr>
            <p:spPr>
              <a:xfrm>
                <a:off x="838200" y="3149600"/>
                <a:ext cx="5334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1a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Local connectivity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min d = 0.3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is simply the distance to the nearest neighbour — nothing is fitted here.</a:t>
                </a:r>
              </a:p>
            </p:txBody>
          </p:sp>
        </mc:Choice>
        <mc:Fallback>
          <p:sp>
            <p:nvSpPr>
              <p:cNvPr id="202" name="Rh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Shift"/>
              <p:cNvSpPr txBox="1"/>
              <p:nvPr/>
            </p:nvSpPr>
            <p:spPr>
              <a:xfrm>
                <a:off x="6426200" y="3149600"/>
                <a:ext cx="49276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1b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Shift, then clip at zero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max(0,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 = 0,  0.3,  0.3,  0.7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The nearest neighbour lands exactly on zero; nothing can go negative.</a:t>
                </a:r>
              </a:p>
            </p:txBody>
          </p:sp>
        </mc:Choice>
        <mc:Fallback>
          <p:sp>
            <p:nvSpPr>
              <p:cNvPr id="203" name="Shif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149600"/>
                <a:ext cx="49276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Scale"/>
              <p:cNvSpPr txBox="1"/>
              <p:nvPr/>
            </p:nvSpPr>
            <p:spPr>
              <a:xfrm>
                <a:off x="838200" y="4851400"/>
                <a:ext cx="10515600" cy="1219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1c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Divide by the bandwidth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(d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0,  0.6,  0.6,  1.4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These four numbers are the exponents that Step 2 feeds into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i="0">
                        <a:solidFill>
                          <a:srgbClr val="595959"/>
                        </a:solidFill>
                      </a:rPr>
                      <m:t>exp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(−·).</m:t>
                    </m:r>
                  </m:oMath>
                </a14:m>
                <a:endParaRPr lang="en-US" sz="1400" i="1" dirty="0">
                  <a:solidFill>
                    <a:srgbClr val="595959"/>
                  </a:solidFill>
                </a:endParaRPr>
              </a:p>
            </p:txBody>
          </p:sp>
        </mc:Choice>
        <mc:Fallback>
          <p:sp>
            <p:nvSpPr>
              <p:cNvPr id="204" name="Sca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51400"/>
                <a:ext cx="10515600" cy="1219200"/>
              </a:xfrm>
              <a:prstGeom prst="roundRect">
                <a:avLst>
                  <a:gd name="adj" fmla="val 4000"/>
                </a:avLst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9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7609-4894-70D9-26C3-D8D7E54E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2: The Directed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Exp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Exponentiate the four numbers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 = exp(−0) = 1.000      exp(−0.6) = 0.549  (twice)      exp(−1.4) = 0.247</a:t>
                </a:r>
              </a:p>
            </p:txBody>
          </p:sp>
        </mc:Choice>
        <mc:Fallback>
          <p:sp>
            <p:nvSpPr>
              <p:cNvPr id="201" name="Ex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Answer"/>
          <p:cNvSpPr txBox="1"/>
          <p:nvPr/>
        </p:nvSpPr>
        <p:spPr>
          <a:xfrm>
            <a:off x="838200" y="3149600"/>
            <a:ext cx="5334000" cy="14224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four directed weights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w = (1.000, 0.549, 0.549, 0.247)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Check"/>
              <p:cNvSpPr txBox="1"/>
              <p:nvPr/>
            </p:nvSpPr>
            <p:spPr>
              <a:xfrm>
                <a:off x="838200" y="4749800"/>
                <a:ext cx="5334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Worth noticing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nearest neighbour always gets weight exactly 1.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row sums to 2.344, above the target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log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4 = 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so UMAP would shrink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slightly.</a:t>
                </a:r>
              </a:p>
            </p:txBody>
          </p:sp>
        </mc:Choice>
        <mc:Fallback>
          <p:sp>
            <p:nvSpPr>
              <p:cNvPr id="203" name="Check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49800"/>
                <a:ext cx="5334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 r="-237"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1" name="Plot"/>
          <p:cNvGrpSpPr/>
          <p:nvPr/>
        </p:nvGrpSpPr>
        <p:grpSpPr>
          <a:xfrm>
            <a:off x="6477000" y="3149600"/>
            <a:ext cx="4876800" cy="2921000"/>
            <a:chOff x="6477000" y="3149600"/>
            <a:chExt cx="4876800" cy="2921000"/>
          </a:xfrm>
        </p:grpSpPr>
        <p:sp>
          <p:nvSpPr>
            <p:cNvPr id="302" name="Frame"/>
            <p:cNvSpPr/>
            <p:nvPr/>
          </p:nvSpPr>
          <p:spPr>
            <a:xfrm>
              <a:off x="6477000" y="3149600"/>
              <a:ext cx="4876800" cy="2921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274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Weight against distance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>
              <a:off x="7759700" y="3632200"/>
              <a:ext cx="95250" cy="18097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>
              <a:off x="7854950" y="3813175"/>
              <a:ext cx="95250" cy="16383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>
              <a:off x="7950200" y="3977005"/>
              <a:ext cx="95250" cy="14859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>
              <a:off x="8045450" y="4125595"/>
              <a:ext cx="95250" cy="13525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>
              <a:off x="8140700" y="4260850"/>
              <a:ext cx="95250" cy="1200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>
              <a:off x="8235950" y="4380865"/>
              <a:ext cx="95250" cy="11049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>
              <a:off x="8331200" y="4491355"/>
              <a:ext cx="95250" cy="9906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1" name="seg"/>
            <p:cNvCxnSpPr/>
            <p:nvPr/>
          </p:nvCxnSpPr>
          <p:spPr>
            <a:xfrm>
              <a:off x="8426450" y="4590415"/>
              <a:ext cx="95250" cy="9144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2" name="seg"/>
            <p:cNvCxnSpPr/>
            <p:nvPr/>
          </p:nvCxnSpPr>
          <p:spPr>
            <a:xfrm>
              <a:off x="8521700" y="4681855"/>
              <a:ext cx="95250" cy="8001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3" name="seg"/>
            <p:cNvCxnSpPr/>
            <p:nvPr/>
          </p:nvCxnSpPr>
          <p:spPr>
            <a:xfrm>
              <a:off x="8616950" y="4761865"/>
              <a:ext cx="95250" cy="7429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4" name="seg"/>
            <p:cNvCxnSpPr/>
            <p:nvPr/>
          </p:nvCxnSpPr>
          <p:spPr>
            <a:xfrm>
              <a:off x="8712200" y="4836160"/>
              <a:ext cx="95250" cy="6667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5" name="seg"/>
            <p:cNvCxnSpPr/>
            <p:nvPr/>
          </p:nvCxnSpPr>
          <p:spPr>
            <a:xfrm>
              <a:off x="8807450" y="4902835"/>
              <a:ext cx="95250" cy="6096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6" name="seg"/>
            <p:cNvCxnSpPr/>
            <p:nvPr/>
          </p:nvCxnSpPr>
          <p:spPr>
            <a:xfrm>
              <a:off x="8902700" y="4963795"/>
              <a:ext cx="95250" cy="5334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7" name="seg"/>
            <p:cNvCxnSpPr/>
            <p:nvPr/>
          </p:nvCxnSpPr>
          <p:spPr>
            <a:xfrm>
              <a:off x="8997950" y="5017135"/>
              <a:ext cx="95250" cy="4953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8" name="seg"/>
            <p:cNvCxnSpPr/>
            <p:nvPr/>
          </p:nvCxnSpPr>
          <p:spPr>
            <a:xfrm>
              <a:off x="9093200" y="5066665"/>
              <a:ext cx="95250" cy="4572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9" name="seg"/>
            <p:cNvCxnSpPr/>
            <p:nvPr/>
          </p:nvCxnSpPr>
          <p:spPr>
            <a:xfrm>
              <a:off x="9188450" y="5112385"/>
              <a:ext cx="95250" cy="4000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0" name="seg"/>
            <p:cNvCxnSpPr/>
            <p:nvPr/>
          </p:nvCxnSpPr>
          <p:spPr>
            <a:xfrm>
              <a:off x="9283700" y="5152390"/>
              <a:ext cx="95250" cy="3619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1" name="seg"/>
            <p:cNvCxnSpPr/>
            <p:nvPr/>
          </p:nvCxnSpPr>
          <p:spPr>
            <a:xfrm>
              <a:off x="9378950" y="5188585"/>
              <a:ext cx="95250" cy="3429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2" name="seg"/>
            <p:cNvCxnSpPr/>
            <p:nvPr/>
          </p:nvCxnSpPr>
          <p:spPr>
            <a:xfrm>
              <a:off x="9474200" y="5222875"/>
              <a:ext cx="95250" cy="2857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3" name="seg"/>
            <p:cNvCxnSpPr/>
            <p:nvPr/>
          </p:nvCxnSpPr>
          <p:spPr>
            <a:xfrm>
              <a:off x="7607300" y="5537200"/>
              <a:ext cx="205740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24" name="seg"/>
            <p:cNvCxnSpPr/>
            <p:nvPr/>
          </p:nvCxnSpPr>
          <p:spPr>
            <a:xfrm flipV="1">
              <a:off x="7721600" y="3479800"/>
              <a:ext cx="0" cy="205740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25" name="seg"/>
            <p:cNvCxnSpPr/>
            <p:nvPr/>
          </p:nvCxnSpPr>
          <p:spPr>
            <a:xfrm flipV="1">
              <a:off x="7759700" y="3632200"/>
              <a:ext cx="0" cy="1905000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26" name="d"/>
            <p:cNvSpPr/>
            <p:nvPr/>
          </p:nvSpPr>
          <p:spPr>
            <a:xfrm>
              <a:off x="7708900" y="3581400"/>
              <a:ext cx="101600" cy="1016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lab"/>
            <p:cNvSpPr txBox="1"/>
            <p:nvPr/>
          </p:nvSpPr>
          <p:spPr>
            <a:xfrm>
              <a:off x="7861300" y="3517900"/>
              <a:ext cx="635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1.000</a:t>
              </a:r>
            </a:p>
          </p:txBody>
        </p:sp>
        <p:sp>
          <p:nvSpPr>
            <p:cNvPr id="328" name="lab"/>
            <p:cNvSpPr txBox="1"/>
            <p:nvPr/>
          </p:nvSpPr>
          <p:spPr>
            <a:xfrm>
              <a:off x="7581900" y="5676900"/>
              <a:ext cx="38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0.3</a:t>
              </a:r>
            </a:p>
          </p:txBody>
        </p:sp>
        <p:cxnSp>
          <p:nvCxnSpPr>
            <p:cNvPr id="329" name="seg"/>
            <p:cNvCxnSpPr/>
            <p:nvPr/>
          </p:nvCxnSpPr>
          <p:spPr>
            <a:xfrm flipV="1">
              <a:off x="8331200" y="4491355"/>
              <a:ext cx="0" cy="1045845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30" name="d"/>
            <p:cNvSpPr/>
            <p:nvPr/>
          </p:nvSpPr>
          <p:spPr>
            <a:xfrm>
              <a:off x="8280400" y="4440936"/>
              <a:ext cx="101600" cy="1016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lab"/>
            <p:cNvSpPr txBox="1"/>
            <p:nvPr/>
          </p:nvSpPr>
          <p:spPr>
            <a:xfrm>
              <a:off x="8432800" y="4377436"/>
              <a:ext cx="635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0.549</a:t>
              </a:r>
            </a:p>
          </p:txBody>
        </p:sp>
        <p:sp>
          <p:nvSpPr>
            <p:cNvPr id="332" name="lab"/>
            <p:cNvSpPr txBox="1"/>
            <p:nvPr/>
          </p:nvSpPr>
          <p:spPr>
            <a:xfrm>
              <a:off x="8153400" y="5676900"/>
              <a:ext cx="38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0.6</a:t>
              </a:r>
            </a:p>
          </p:txBody>
        </p:sp>
        <p:cxnSp>
          <p:nvCxnSpPr>
            <p:cNvPr id="333" name="seg"/>
            <p:cNvCxnSpPr/>
            <p:nvPr/>
          </p:nvCxnSpPr>
          <p:spPr>
            <a:xfrm flipV="1">
              <a:off x="9093200" y="5066665"/>
              <a:ext cx="0" cy="470535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34" name="d"/>
            <p:cNvSpPr/>
            <p:nvPr/>
          </p:nvSpPr>
          <p:spPr>
            <a:xfrm>
              <a:off x="9042400" y="5016627"/>
              <a:ext cx="101600" cy="1016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lab"/>
            <p:cNvSpPr txBox="1"/>
            <p:nvPr/>
          </p:nvSpPr>
          <p:spPr>
            <a:xfrm>
              <a:off x="9194800" y="4953127"/>
              <a:ext cx="635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0.247</a:t>
              </a:r>
            </a:p>
          </p:txBody>
        </p:sp>
        <p:sp>
          <p:nvSpPr>
            <p:cNvPr id="336" name="lab"/>
            <p:cNvSpPr txBox="1"/>
            <p:nvPr/>
          </p:nvSpPr>
          <p:spPr>
            <a:xfrm>
              <a:off x="8915400" y="5676900"/>
              <a:ext cx="38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7" name="lab"/>
                <p:cNvSpPr txBox="1"/>
                <p:nvPr/>
              </p:nvSpPr>
              <p:spPr>
                <a:xfrm>
                  <a:off x="8509000" y="5676900"/>
                  <a:ext cx="3810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×2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37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9000" y="5676900"/>
                  <a:ext cx="381000" cy="228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178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5901-FDFF-386D-BB24-E5E8723A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The Fuzzy Union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Given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0.6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0.9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the same pair seen from each end.</a:t>
                </a: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Compute"/>
              <p:cNvSpPr txBox="1"/>
              <p:nvPr/>
            </p:nvSpPr>
            <p:spPr>
              <a:xfrm>
                <a:off x="838200" y="3149600"/>
                <a:ext cx="5334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1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Apply the t-conorm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0.6 + 0.9 −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(0.6)(0.9)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= 1.5 − 0.54 = 0.96</a:t>
                </a:r>
              </a:p>
            </p:txBody>
          </p:sp>
        </mc:Choice>
        <mc:Fallback>
          <p:sp>
            <p:nvSpPr>
              <p:cNvPr id="202" name="Compu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Verify"/>
              <p:cNvSpPr txBox="1"/>
              <p:nvPr/>
            </p:nvSpPr>
            <p:spPr>
              <a:xfrm>
                <a:off x="6426200" y="3149600"/>
                <a:ext cx="49276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Verify the bounds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1 − (1 −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0.6)(1 − 0.9) = 1 − 0.04 = 0.96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Written this way the bounds are obvious: both factors lie in [0,1], so their product does too, and v stays in [0,1].</a:t>
                </a:r>
              </a:p>
            </p:txBody>
          </p:sp>
        </mc:Choice>
        <mc:Fallback>
          <p:sp>
            <p:nvSpPr>
              <p:cNvPr id="203" name="Verif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149600"/>
                <a:ext cx="49276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Read"/>
          <p:cNvSpPr txBox="1"/>
          <p:nvPr/>
        </p:nvSpPr>
        <p:spPr>
          <a:xfrm>
            <a:off x="838200" y="4851400"/>
            <a:ext cx="10515600" cy="1219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Reading it: the edge survives if either point claims the other. v = 0.96 is above both inputs but below 1 — asymmetric views reinforce rather than average out.</a:t>
            </a:r>
          </a:p>
        </p:txBody>
      </p:sp>
    </p:spTree>
    <p:extLst>
      <p:ext uri="{BB962C8B-B14F-4D97-AF65-F5344CB8AC3E}">
        <p14:creationId xmlns:p14="http://schemas.microsoft.com/office/powerpoint/2010/main" val="394838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3E487C-5F87-F2B6-6260-5F704AC953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E3 Solution — Step 1: Evaluate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8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3E487C-5F87-F2B6-6260-5F704AC95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Given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 +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^2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with a = 1.577, b = 0.895, so the exponent 2b = 1.79.  Evaluate at D = 1 and D = 3.</a:t>
                </a: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D1"/>
              <p:cNvSpPr txBox="1"/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1a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Distance 1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1^1.79 = 1,  so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(1 + 1.577) = 1 / 2.577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0.388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2" name="D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D3"/>
              <p:cNvSpPr txBox="1"/>
              <p:nvPr/>
            </p:nvSpPr>
            <p:spPr>
              <a:xfrm>
                <a:off x="6426200" y="3225800"/>
                <a:ext cx="49276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1b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Distance 3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3^1.79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 7.15,  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× 7.15 = 11.27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sz="1600" b="1" dirty="0">
                    <a:solidFill>
                      <a:srgbClr val="333333"/>
                    </a:solidFill>
                  </a:rPr>
                  <a:t> / 12.27 = 0.081</a:t>
                </a:r>
              </a:p>
            </p:txBody>
          </p:sp>
        </mc:Choice>
        <mc:Fallback>
          <p:sp>
            <p:nvSpPr>
              <p:cNvPr id="203" name="D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225800"/>
                <a:ext cx="49276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Note"/>
          <p:cNvSpPr txBox="1"/>
          <p:nvPr/>
        </p:nvSpPr>
        <p:spPr>
          <a:xfrm>
            <a:off x="838200" y="4902200"/>
            <a:ext cx="10515600" cy="1168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Note the shape: unlike a Gaussian this curve has heavy tails, and a and b are fitted from min_dist and spread rather than chosen by hand.</a:t>
            </a:r>
          </a:p>
        </p:txBody>
      </p:sp>
    </p:spTree>
    <p:extLst>
      <p:ext uri="{BB962C8B-B14F-4D97-AF65-F5344CB8AC3E}">
        <p14:creationId xmlns:p14="http://schemas.microsoft.com/office/powerpoint/2010/main" val="172242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AB82-69B1-F980-2DA5-BEEC317F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2: Which Pair Is Pulled Harder?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Compare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Compare the two weights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1) = 0.388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against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3) = 0.081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a factor of about 4.8.</a:t>
                </a:r>
              </a:p>
            </p:txBody>
          </p:sp>
        </mc:Choice>
        <mc:Fallback>
          <p:sp>
            <p:nvSpPr>
              <p:cNvPr id="201" name="Compar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Answer"/>
          <p:cNvSpPr txBox="1"/>
          <p:nvPr/>
        </p:nvSpPr>
        <p:spPr>
          <a:xfrm>
            <a:off x="838200" y="3149600"/>
            <a:ext cx="5334000" cy="14986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The pair at distance 1 is pulled together far more strongly.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Attraction scales with the edge weight, and that weight falls steeply with map distance.</a:t>
            </a:r>
          </a:p>
        </p:txBody>
      </p:sp>
      <p:sp>
        <p:nvSpPr>
          <p:cNvPr id="203" name="Why"/>
          <p:cNvSpPr txBox="1"/>
          <p:nvPr/>
        </p:nvSpPr>
        <p:spPr>
          <a:xfrm>
            <a:off x="838200" y="4826000"/>
            <a:ext cx="5334000" cy="12446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fontScale="92500" lnSpcReduction="200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Why this matters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Close pairs dominate the attractive term, so local structure is fitted first.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Distant pairs contribute mostly through repulsion, sampled rather than summed.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49600"/>
            <a:ext cx="4876800" cy="2921000"/>
            <a:chOff x="6477000" y="3149600"/>
            <a:chExt cx="4876800" cy="2921000"/>
          </a:xfrm>
        </p:grpSpPr>
        <p:sp>
          <p:nvSpPr>
            <p:cNvPr id="302" name="Frame"/>
            <p:cNvSpPr/>
            <p:nvPr/>
          </p:nvSpPr>
          <p:spPr>
            <a:xfrm>
              <a:off x="6477000" y="3149600"/>
              <a:ext cx="4876800" cy="2921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3" name="lab"/>
                <p:cNvSpPr txBox="1"/>
                <p:nvPr/>
              </p:nvSpPr>
              <p:spPr>
                <a:xfrm>
                  <a:off x="6680200" y="3327400"/>
                  <a:ext cx="44704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l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lang="en-US" sz="1400" b="1" dirty="0">
                      <a:solidFill>
                        <a:srgbClr val="4B2E83"/>
                      </a:solidFill>
                    </a:rPr>
                    <a:t> against map distance</a:t>
                  </a:r>
                </a:p>
              </p:txBody>
            </p:sp>
          </mc:Choice>
          <mc:Fallback>
            <p:sp>
              <p:nvSpPr>
                <p:cNvPr id="303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200" y="3327400"/>
                  <a:ext cx="4470400" cy="228600"/>
                </a:xfrm>
                <a:prstGeom prst="rect">
                  <a:avLst/>
                </a:prstGeom>
                <a:blipFill>
                  <a:blip r:embed="rId3"/>
                  <a:stretch>
                    <a:fillRect l="-1705" t="-27778" b="-4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4" name="seg"/>
            <p:cNvCxnSpPr/>
            <p:nvPr/>
          </p:nvCxnSpPr>
          <p:spPr>
            <a:xfrm>
              <a:off x="7328408" y="4408526"/>
              <a:ext cx="93472" cy="5491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>
              <a:off x="7421880" y="4463440"/>
              <a:ext cx="93472" cy="6776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>
              <a:off x="7515352" y="4531208"/>
              <a:ext cx="93472" cy="7360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>
              <a:off x="7608824" y="4604817"/>
              <a:ext cx="93472" cy="7477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8" name="seg"/>
            <p:cNvCxnSpPr/>
            <p:nvPr/>
          </p:nvCxnSpPr>
          <p:spPr>
            <a:xfrm>
              <a:off x="7702296" y="4679594"/>
              <a:ext cx="93472" cy="72441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09" name="seg"/>
            <p:cNvCxnSpPr/>
            <p:nvPr/>
          </p:nvCxnSpPr>
          <p:spPr>
            <a:xfrm>
              <a:off x="7795768" y="4752035"/>
              <a:ext cx="93472" cy="6893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0" name="seg"/>
            <p:cNvCxnSpPr/>
            <p:nvPr/>
          </p:nvCxnSpPr>
          <p:spPr>
            <a:xfrm>
              <a:off x="7889240" y="4820971"/>
              <a:ext cx="93472" cy="642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1" name="seg"/>
            <p:cNvCxnSpPr/>
            <p:nvPr/>
          </p:nvCxnSpPr>
          <p:spPr>
            <a:xfrm>
              <a:off x="7982712" y="4885233"/>
              <a:ext cx="93472" cy="5725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2" name="seg"/>
            <p:cNvCxnSpPr/>
            <p:nvPr/>
          </p:nvCxnSpPr>
          <p:spPr>
            <a:xfrm>
              <a:off x="8076184" y="4942484"/>
              <a:ext cx="93472" cy="5257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3" name="seg"/>
            <p:cNvCxnSpPr/>
            <p:nvPr/>
          </p:nvCxnSpPr>
          <p:spPr>
            <a:xfrm>
              <a:off x="8169656" y="4995062"/>
              <a:ext cx="93472" cy="4673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4" name="seg"/>
            <p:cNvCxnSpPr/>
            <p:nvPr/>
          </p:nvCxnSpPr>
          <p:spPr>
            <a:xfrm>
              <a:off x="8263128" y="5041798"/>
              <a:ext cx="93472" cy="4206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5" name="seg"/>
            <p:cNvCxnSpPr/>
            <p:nvPr/>
          </p:nvCxnSpPr>
          <p:spPr>
            <a:xfrm>
              <a:off x="8356600" y="5083861"/>
              <a:ext cx="93472" cy="3738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6" name="seg"/>
            <p:cNvCxnSpPr/>
            <p:nvPr/>
          </p:nvCxnSpPr>
          <p:spPr>
            <a:xfrm>
              <a:off x="8450072" y="5121250"/>
              <a:ext cx="93472" cy="3388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7" name="seg"/>
            <p:cNvCxnSpPr/>
            <p:nvPr/>
          </p:nvCxnSpPr>
          <p:spPr>
            <a:xfrm>
              <a:off x="8543544" y="5155133"/>
              <a:ext cx="93472" cy="3037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8" name="seg"/>
            <p:cNvCxnSpPr/>
            <p:nvPr/>
          </p:nvCxnSpPr>
          <p:spPr>
            <a:xfrm>
              <a:off x="8637016" y="5185512"/>
              <a:ext cx="93472" cy="2687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19" name="seg"/>
            <p:cNvCxnSpPr/>
            <p:nvPr/>
          </p:nvCxnSpPr>
          <p:spPr>
            <a:xfrm>
              <a:off x="8730488" y="5212385"/>
              <a:ext cx="93472" cy="23368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0" name="seg"/>
            <p:cNvCxnSpPr/>
            <p:nvPr/>
          </p:nvCxnSpPr>
          <p:spPr>
            <a:xfrm>
              <a:off x="8823960" y="5235753"/>
              <a:ext cx="93472" cy="2220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1" name="seg"/>
            <p:cNvCxnSpPr/>
            <p:nvPr/>
          </p:nvCxnSpPr>
          <p:spPr>
            <a:xfrm>
              <a:off x="8917432" y="5257952"/>
              <a:ext cx="93472" cy="19863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2" name="seg"/>
            <p:cNvCxnSpPr/>
            <p:nvPr/>
          </p:nvCxnSpPr>
          <p:spPr>
            <a:xfrm>
              <a:off x="9010904" y="5277815"/>
              <a:ext cx="93472" cy="17526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3" name="seg"/>
            <p:cNvCxnSpPr/>
            <p:nvPr/>
          </p:nvCxnSpPr>
          <p:spPr>
            <a:xfrm>
              <a:off x="9104376" y="5295341"/>
              <a:ext cx="93472" cy="1518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4" name="seg"/>
            <p:cNvCxnSpPr/>
            <p:nvPr/>
          </p:nvCxnSpPr>
          <p:spPr>
            <a:xfrm>
              <a:off x="9197848" y="5310530"/>
              <a:ext cx="93472" cy="1518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5" name="seg"/>
            <p:cNvCxnSpPr/>
            <p:nvPr/>
          </p:nvCxnSpPr>
          <p:spPr>
            <a:xfrm>
              <a:off x="9291320" y="5325720"/>
              <a:ext cx="93472" cy="1285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6" name="seg"/>
            <p:cNvCxnSpPr/>
            <p:nvPr/>
          </p:nvCxnSpPr>
          <p:spPr>
            <a:xfrm>
              <a:off x="9384792" y="5338572"/>
              <a:ext cx="93472" cy="1168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7" name="seg"/>
            <p:cNvCxnSpPr/>
            <p:nvPr/>
          </p:nvCxnSpPr>
          <p:spPr>
            <a:xfrm>
              <a:off x="9478264" y="5350256"/>
              <a:ext cx="93472" cy="1168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8" name="seg"/>
            <p:cNvCxnSpPr/>
            <p:nvPr/>
          </p:nvCxnSpPr>
          <p:spPr>
            <a:xfrm>
              <a:off x="9571736" y="5361940"/>
              <a:ext cx="93472" cy="934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29" name="seg"/>
            <p:cNvCxnSpPr/>
            <p:nvPr/>
          </p:nvCxnSpPr>
          <p:spPr>
            <a:xfrm>
              <a:off x="9665208" y="5371287"/>
              <a:ext cx="93472" cy="934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0" name="seg"/>
            <p:cNvCxnSpPr/>
            <p:nvPr/>
          </p:nvCxnSpPr>
          <p:spPr>
            <a:xfrm>
              <a:off x="9758680" y="5380634"/>
              <a:ext cx="93472" cy="817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1" name="seg"/>
            <p:cNvCxnSpPr/>
            <p:nvPr/>
          </p:nvCxnSpPr>
          <p:spPr>
            <a:xfrm>
              <a:off x="9852152" y="5388813"/>
              <a:ext cx="93472" cy="8179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2" name="seg"/>
            <p:cNvCxnSpPr/>
            <p:nvPr/>
          </p:nvCxnSpPr>
          <p:spPr>
            <a:xfrm>
              <a:off x="9945624" y="5396992"/>
              <a:ext cx="93472" cy="701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3" name="seg"/>
            <p:cNvCxnSpPr/>
            <p:nvPr/>
          </p:nvCxnSpPr>
          <p:spPr>
            <a:xfrm>
              <a:off x="10039096" y="5404002"/>
              <a:ext cx="93472" cy="7010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4" name="seg"/>
            <p:cNvCxnSpPr/>
            <p:nvPr/>
          </p:nvCxnSpPr>
          <p:spPr>
            <a:xfrm>
              <a:off x="10132568" y="5411013"/>
              <a:ext cx="93472" cy="584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5" name="seg"/>
            <p:cNvCxnSpPr/>
            <p:nvPr/>
          </p:nvCxnSpPr>
          <p:spPr>
            <a:xfrm>
              <a:off x="10226040" y="5416855"/>
              <a:ext cx="93472" cy="584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6" name="seg"/>
            <p:cNvCxnSpPr/>
            <p:nvPr/>
          </p:nvCxnSpPr>
          <p:spPr>
            <a:xfrm>
              <a:off x="10319512" y="5422697"/>
              <a:ext cx="93472" cy="5842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7" name="seg"/>
            <p:cNvCxnSpPr/>
            <p:nvPr/>
          </p:nvCxnSpPr>
          <p:spPr>
            <a:xfrm>
              <a:off x="10412984" y="5428539"/>
              <a:ext cx="93472" cy="467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8" name="seg"/>
            <p:cNvCxnSpPr/>
            <p:nvPr/>
          </p:nvCxnSpPr>
          <p:spPr>
            <a:xfrm>
              <a:off x="10506456" y="5433212"/>
              <a:ext cx="93472" cy="467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39" name="seg"/>
            <p:cNvCxnSpPr/>
            <p:nvPr/>
          </p:nvCxnSpPr>
          <p:spPr>
            <a:xfrm>
              <a:off x="10599928" y="5437886"/>
              <a:ext cx="93472" cy="350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0" name="seg"/>
            <p:cNvCxnSpPr/>
            <p:nvPr/>
          </p:nvCxnSpPr>
          <p:spPr>
            <a:xfrm>
              <a:off x="10693400" y="5441391"/>
              <a:ext cx="93472" cy="4674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1" name="seg"/>
            <p:cNvCxnSpPr/>
            <p:nvPr/>
          </p:nvCxnSpPr>
          <p:spPr>
            <a:xfrm>
              <a:off x="10786872" y="5446065"/>
              <a:ext cx="93472" cy="350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2" name="seg"/>
            <p:cNvCxnSpPr/>
            <p:nvPr/>
          </p:nvCxnSpPr>
          <p:spPr>
            <a:xfrm>
              <a:off x="10880344" y="5449570"/>
              <a:ext cx="93472" cy="350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3" name="seg"/>
            <p:cNvCxnSpPr/>
            <p:nvPr/>
          </p:nvCxnSpPr>
          <p:spPr>
            <a:xfrm>
              <a:off x="10973816" y="5453075"/>
              <a:ext cx="93472" cy="350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4" name="seg"/>
            <p:cNvCxnSpPr/>
            <p:nvPr/>
          </p:nvCxnSpPr>
          <p:spPr>
            <a:xfrm>
              <a:off x="11067288" y="5456580"/>
              <a:ext cx="93472" cy="350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5" name="seg"/>
            <p:cNvCxnSpPr/>
            <p:nvPr/>
          </p:nvCxnSpPr>
          <p:spPr>
            <a:xfrm>
              <a:off x="11160760" y="5460086"/>
              <a:ext cx="93472" cy="233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6" name="seg"/>
            <p:cNvCxnSpPr/>
            <p:nvPr/>
          </p:nvCxnSpPr>
          <p:spPr>
            <a:xfrm>
              <a:off x="11254232" y="5462422"/>
              <a:ext cx="93472" cy="3505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7" name="seg"/>
            <p:cNvCxnSpPr/>
            <p:nvPr/>
          </p:nvCxnSpPr>
          <p:spPr>
            <a:xfrm>
              <a:off x="11347704" y="5465928"/>
              <a:ext cx="93472" cy="233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8" name="seg"/>
            <p:cNvCxnSpPr/>
            <p:nvPr/>
          </p:nvCxnSpPr>
          <p:spPr>
            <a:xfrm>
              <a:off x="11441176" y="5468264"/>
              <a:ext cx="93472" cy="2337"/>
            </a:xfrm>
            <a:prstGeom prst="line">
              <a:avLst/>
            </a:prstGeom>
            <a:ln w="22225">
              <a:solidFill>
                <a:srgbClr val="4B2E83"/>
              </a:solidFill>
            </a:ln>
          </p:spPr>
        </p:cxnSp>
        <p:cxnSp>
          <p:nvCxnSpPr>
            <p:cNvPr id="349" name="seg"/>
            <p:cNvCxnSpPr/>
            <p:nvPr/>
          </p:nvCxnSpPr>
          <p:spPr>
            <a:xfrm>
              <a:off x="7188200" y="5537200"/>
              <a:ext cx="443992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50" name="seg"/>
            <p:cNvCxnSpPr/>
            <p:nvPr/>
          </p:nvCxnSpPr>
          <p:spPr>
            <a:xfrm flipV="1">
              <a:off x="7258304" y="4345432"/>
              <a:ext cx="0" cy="1191768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51" name="seg"/>
            <p:cNvCxnSpPr/>
            <p:nvPr/>
          </p:nvCxnSpPr>
          <p:spPr>
            <a:xfrm flipV="1">
              <a:off x="8356600" y="5083861"/>
              <a:ext cx="0" cy="453339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52" name="d"/>
            <p:cNvSpPr/>
            <p:nvPr/>
          </p:nvSpPr>
          <p:spPr>
            <a:xfrm>
              <a:off x="8299450" y="5026711"/>
              <a:ext cx="114300" cy="1143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lab"/>
            <p:cNvSpPr txBox="1"/>
            <p:nvPr/>
          </p:nvSpPr>
          <p:spPr>
            <a:xfrm>
              <a:off x="8483600" y="4969561"/>
              <a:ext cx="635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0.388</a:t>
              </a:r>
            </a:p>
          </p:txBody>
        </p:sp>
        <p:sp>
          <p:nvSpPr>
            <p:cNvPr id="354" name="lab"/>
            <p:cNvSpPr txBox="1"/>
            <p:nvPr/>
          </p:nvSpPr>
          <p:spPr>
            <a:xfrm>
              <a:off x="8077200" y="5676900"/>
              <a:ext cx="66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D = 1</a:t>
              </a:r>
            </a:p>
          </p:txBody>
        </p:sp>
        <p:cxnSp>
          <p:nvCxnSpPr>
            <p:cNvPr id="355" name="seg"/>
            <p:cNvCxnSpPr/>
            <p:nvPr/>
          </p:nvCxnSpPr>
          <p:spPr>
            <a:xfrm flipV="1">
              <a:off x="10693400" y="5441975"/>
              <a:ext cx="0" cy="95225"/>
            </a:xfrm>
            <a:prstGeom prst="line">
              <a:avLst/>
            </a:prstGeom>
            <a:ln w="15875">
              <a:solidFill>
                <a:srgbClr val="C0397A"/>
              </a:solidFill>
              <a:prstDash val="dash"/>
            </a:ln>
          </p:spPr>
        </p:cxnSp>
        <p:sp>
          <p:nvSpPr>
            <p:cNvPr id="356" name="d"/>
            <p:cNvSpPr/>
            <p:nvPr/>
          </p:nvSpPr>
          <p:spPr>
            <a:xfrm>
              <a:off x="10636250" y="5384825"/>
              <a:ext cx="114300" cy="1143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lab"/>
            <p:cNvSpPr txBox="1"/>
            <p:nvPr/>
          </p:nvSpPr>
          <p:spPr>
            <a:xfrm>
              <a:off x="10820400" y="5327675"/>
              <a:ext cx="635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0.081</a:t>
              </a:r>
            </a:p>
          </p:txBody>
        </p:sp>
        <p:sp>
          <p:nvSpPr>
            <p:cNvPr id="358" name="lab"/>
            <p:cNvSpPr txBox="1"/>
            <p:nvPr/>
          </p:nvSpPr>
          <p:spPr>
            <a:xfrm>
              <a:off x="10414000" y="5676900"/>
              <a:ext cx="66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D =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608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8B6737-7FEA-794D-BDF1-8E6CCF68A0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00E6E-EA68-BB42-B420-090B08CBEAC2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474B3-B77F-294C-BF0D-4AAEB5266739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A914D-F184-794F-A0F9-BC022CB92875}"/>
              </a:ext>
            </a:extLst>
          </p:cNvPr>
          <p:cNvSpPr txBox="1"/>
          <p:nvPr/>
        </p:nvSpPr>
        <p:spPr>
          <a:xfrm>
            <a:off x="787400" y="2857500"/>
            <a:ext cx="1041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Clustering Profiling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07BEA-5180-024E-8C9A-CD06B46859F7}"/>
              </a:ext>
            </a:extLst>
          </p:cNvPr>
          <p:cNvSpPr txBox="1"/>
          <p:nvPr/>
        </p:nvSpPr>
        <p:spPr>
          <a:xfrm>
            <a:off x="838200" y="4191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5F0EB"/>
                </a:solidFill>
                <a:latin typeface="Calibri"/>
                <a:cs typeface="Calibri"/>
              </a:rPr>
              <a:t>Characterizing &amp; Validating Clusters with Matrix Statistics</a:t>
            </a:r>
          </a:p>
        </p:txBody>
      </p:sp>
    </p:spTree>
    <p:extLst>
      <p:ext uri="{BB962C8B-B14F-4D97-AF65-F5344CB8AC3E}">
        <p14:creationId xmlns:p14="http://schemas.microsoft.com/office/powerpoint/2010/main" val="327357054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88FB-7446-8550-219E-490CA4E6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Centroids, Medoids &amp; Profiles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AB0F4-BC45-604C-BE57-01F65A7135D3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cluster profile summarizes each cluster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Cₖ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by a vector of feature statistics over its members.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AB0F4-BC45-604C-BE57-01F65A71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338554"/>
              </a:xfrm>
              <a:prstGeom prst="rect">
                <a:avLst/>
              </a:prstGeom>
              <a:blipFill>
                <a:blip r:embed="rId2"/>
                <a:stretch>
                  <a:fillRect l="-362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035962-F222-5D4C-BB91-BD63711A30C9}"/>
              </a:ext>
            </a:extLst>
          </p:cNvPr>
          <p:cNvSpPr/>
          <p:nvPr/>
        </p:nvSpPr>
        <p:spPr>
          <a:xfrm>
            <a:off x="838200" y="2514600"/>
            <a:ext cx="10515600" cy="7366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9D3CE0-4460-F749-A640-3B7487C3D809}"/>
                  </a:ext>
                </a:extLst>
              </p:cNvPr>
              <p:cNvSpPr txBox="1"/>
              <p:nvPr/>
            </p:nvSpPr>
            <p:spPr>
              <a:xfrm>
                <a:off x="1016000" y="2498244"/>
                <a:ext cx="10160000" cy="7693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Centroid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:  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Centroid:  μₖ = (1/|Cₖ|) Σ xᵢ, i ∈ Cₖ  ∈ ℝᵈ</a:t>
                    </a:r>
                  </mc:Fallback>
                </mc:AlternateContent>
                <a:endParaRPr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9D3CE0-4460-F749-A640-3B7487C3D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98244"/>
                <a:ext cx="10160000" cy="769313"/>
              </a:xfrm>
              <a:prstGeom prst="rect">
                <a:avLst/>
              </a:prstGeom>
              <a:blipFill>
                <a:blip r:embed="rId3"/>
                <a:stretch>
                  <a:fillRect t="-119355" b="-16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F9F1DD-4FE2-BF4E-83E7-4993C353761C}"/>
              </a:ext>
            </a:extLst>
          </p:cNvPr>
          <p:cNvSpPr/>
          <p:nvPr/>
        </p:nvSpPr>
        <p:spPr>
          <a:xfrm>
            <a:off x="838200" y="3429000"/>
            <a:ext cx="10515600" cy="7366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02EB46-2E45-DF47-B713-2C5FD82B959C}"/>
                  </a:ext>
                </a:extLst>
              </p:cNvPr>
              <p:cNvSpPr txBox="1"/>
              <p:nvPr/>
            </p:nvSpPr>
            <p:spPr>
              <a:xfrm>
                <a:off x="1016000" y="3610165"/>
                <a:ext cx="10160000" cy="3742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Profile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score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):  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⊘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m:rPr>
                              <m:nor/>
                            </m:rPr>
                            <a:rPr lang="en-US" sz="1800" i="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Profile (z-score):  zₖ = (μₖ − μ) ⊘ σ  ∈ ℝᵈ</a:t>
                    </a:r>
                  </mc:Fallback>
                </mc:AlternateContent>
                <a:endParaRPr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02EB46-2E45-DF47-B713-2C5FD82B9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610165"/>
                <a:ext cx="10160000" cy="374270"/>
              </a:xfrm>
              <a:prstGeom prst="rect">
                <a:avLst/>
              </a:prstGeom>
              <a:blipFill>
                <a:blip r:embed="rId4"/>
                <a:stretch>
                  <a:fillRect t="-333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D0F9C3-22E4-884D-B499-2E77D2C009FF}"/>
                  </a:ext>
                </a:extLst>
              </p:cNvPr>
              <p:cNvSpPr txBox="1"/>
              <p:nvPr/>
            </p:nvSpPr>
            <p:spPr>
              <a:xfrm>
                <a:off x="838200" y="4368800"/>
                <a:ext cx="10515600" cy="10527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Medoid: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argmin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mₖ = argminₓ Σ ‖x − xᵢ‖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the most central actual member (robust to outliers).</a:t>
                </a:r>
              </a:p>
              <a:p>
                <a:pPr marL="285750" indent="-285750">
                  <a:buFont typeface="Arial"/>
                  <a:buChar char="•"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the global mean vector,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the global per-feature std;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⊘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element-wise division.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The z-profile shows how many std deviations each feature deviates from the overall mean.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Stacking profiles row-wise gives the profile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500" i="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m:rPr>
                                    <m:nor/>
                                  </m:rPr>
                                  <a:rPr lang="en-US" sz="1500" i="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Z = [z₁ ⋯ zₖ]ᵀ ∈ ℝᵏˣᵈ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the basis of a heatmap.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D0F9C3-22E4-884D-B499-2E77D2C00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8800"/>
                <a:ext cx="10515600" cy="1052789"/>
              </a:xfrm>
              <a:prstGeom prst="rect">
                <a:avLst/>
              </a:prstGeom>
              <a:blipFill>
                <a:blip r:embed="rId5"/>
                <a:stretch>
                  <a:fillRect l="-241" t="-34940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92206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7002-7AA0-DC8E-184D-22575ECC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Validation: Silhouette &amp; F-Statistic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A7D83-2740-2C44-A255-C61C9D81235A}"/>
              </a:ext>
            </a:extLst>
          </p:cNvPr>
          <p:cNvSpPr/>
          <p:nvPr/>
        </p:nvSpPr>
        <p:spPr>
          <a:xfrm>
            <a:off x="838200" y="1905000"/>
            <a:ext cx="10515600" cy="4318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Silhouette — cohesion vs separation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07CC59-2B7A-3642-810B-743F8B3892C1}"/>
                  </a:ext>
                </a:extLst>
              </p:cNvPr>
              <p:cNvSpPr txBox="1"/>
              <p:nvPr/>
            </p:nvSpPr>
            <p:spPr>
              <a:xfrm>
                <a:off x="1016000" y="2438400"/>
                <a:ext cx="10160000" cy="114832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−1,1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s(i) = (b(i) − a(i)) / max(a(i), b(i))   ∈ [−1, 1]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a(i)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= mean distance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others in its own cluster (cohesion);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b(i)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= lowest mean distance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any other cluster (separation). Overall quality =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 i="0">
                                <a:solidFill>
                                  <a:srgbClr val="333333"/>
                                </a:solidFill>
                              </a:rPr>
                              <m:t>mean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meanᵢ s(i)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 Values near +1 = well clustered; near 0 = on a boundary; negative = likely misassigned.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07CC59-2B7A-3642-810B-743F8B389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38400"/>
                <a:ext cx="10160000" cy="1148328"/>
              </a:xfrm>
              <a:prstGeom prst="rect">
                <a:avLst/>
              </a:prstGeom>
              <a:blipFill>
                <a:blip r:embed="rId2"/>
                <a:stretch>
                  <a:fillRect l="-375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4EF9B2A-082B-CF43-A670-5A35B8B70320}"/>
              </a:ext>
            </a:extLst>
          </p:cNvPr>
          <p:cNvSpPr/>
          <p:nvPr/>
        </p:nvSpPr>
        <p:spPr>
          <a:xfrm>
            <a:off x="838200" y="4089400"/>
            <a:ext cx="10515600" cy="4318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ANOVA F-statistic — per-feature discriminative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1BF0A-B630-A840-BFFB-B39B4286514B}"/>
                  </a:ext>
                </a:extLst>
              </p:cNvPr>
              <p:cNvSpPr txBox="1"/>
              <p:nvPr/>
            </p:nvSpPr>
            <p:spPr>
              <a:xfrm>
                <a:off x="1016000" y="4622800"/>
                <a:ext cx="10160000" cy="176554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00857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1700" i="1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00" i="1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00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𝑘𝑗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sz="1700" i="1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00" i="1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00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700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𝑖𝑗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𝜇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nary>
                                </m:num>
                                <m:den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00857B"/>
                        </a:solidFill>
                      </a:rPr>
                      <a:t>Fⱼ = [ Σₖ |Cₖ|(μₖⱼ−μⱼ)² / (K−1) ] / [ Σₖ Σᵢ (xᵢⱼ−μₖⱼ)² / (n−K) ]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For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the ratio of between-cluster variance to within-cluster variance. Large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means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separates the clusters well — it ranks which variables drive the partition. This is the per-feature numerator/denominator of one-way ANOVA.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1BF0A-B630-A840-BFFB-B39B4286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622800"/>
                <a:ext cx="10160000" cy="1765548"/>
              </a:xfrm>
              <a:prstGeom prst="rect">
                <a:avLst/>
              </a:prstGeom>
              <a:blipFill>
                <a:blip r:embed="rId3"/>
                <a:stretch>
                  <a:fillRect l="-375" t="-17021" b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27076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2FD2-C3F8-D8C2-310A-DCDFABAC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Silhouette of a Point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D0C2A3-E584-154F-8F70-95918E2BE87A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5569F-96AC-DE48-A0C9-527C8EDC8CF9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66199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sits in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A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Its distances to the two members of its own cluster are 1 and 3. To the nearest other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B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its mean distance is 6.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the silhouette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s(i)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5569F-96AC-DE48-A0C9-527C8EDC8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661993"/>
              </a:xfrm>
              <a:prstGeom prst="rect">
                <a:avLst/>
              </a:prstGeom>
              <a:blipFill>
                <a:blip r:embed="rId2"/>
                <a:stretch>
                  <a:fillRect l="-730" t="-1527" r="-730" b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D37AC3-4D93-3641-8877-462254F6AAD2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A45F5-86D3-F244-90DF-9F92F20A0B3C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332116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Solution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1+3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a(i) = (1+3)/2 = 2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b(i) = 6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s(i) = (b − a)/max(a,b)</a:t>
                    </a:r>
                  </mc:Fallback>
                </mc:AlternateContent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6−2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2,6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(6 − 2)/max(2,6)</a:t>
                    </a:r>
                  </mc:Fallback>
                </mc:AlternateContent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=0.667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4/6 = 0.667</a:t>
                    </a:r>
                  </mc:Fallback>
                </mc:AlternateContent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≈0.67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s(i) ≈ 0.67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the point is well matched to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A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clearly separated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B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A45F5-86D3-F244-90DF-9F92F20A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3321166"/>
              </a:xfrm>
              <a:prstGeom prst="rect">
                <a:avLst/>
              </a:prstGeom>
              <a:blipFill>
                <a:blip r:embed="rId3"/>
                <a:stretch>
                  <a:fillRect l="-539" t="-763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84479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019A-F94B-0D5D-39A3-D569459C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Centroid z-Profile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EAF23A-178F-1B4D-B3F3-81D53F283D41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746A7-7A98-0046-9B91-BCF60EB2F562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206325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70,0.45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 i="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μₖ = [70, 0.45]ᵀ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(cluster mean)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50,0.30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 i="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 = [50, 0.30]ᵀ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(global mean)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10,0.05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 i="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σ = [10, 0.05]ᵀ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(global std)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standardized profile vector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zₖ = (μₖ − μ) ⊘ 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interpret it.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746A7-7A98-0046-9B91-BCF60EB2F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2063257"/>
              </a:xfrm>
              <a:prstGeom prst="rect">
                <a:avLst/>
              </a:prstGeom>
              <a:blipFill>
                <a:blip r:embed="rId2"/>
                <a:stretch>
                  <a:fillRect l="-748" t="-1227" b="-3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2D5D3B-7201-8F4D-A50A-D860E6DD3CD1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6F68A-8F30-C947-A66E-7B14E1C010D4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65034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20,0.15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μₖ − μ = [20, 0.15]ᵀ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0.15</m:t>
                                      </m:r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0.05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zₖ = [20/10, 0.15/0.05]ᵀ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2.0,3.0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 i="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[2.0, 3.0]ᵀ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Feature 1 sits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2σ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above the overall mean; feature 2 sits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3σ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above. Both features are strongly elevated — this cluster is the 'high on both' segment, with feature 2 the more distinctive.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6F68A-8F30-C947-A66E-7B14E1C01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650341"/>
              </a:xfrm>
              <a:prstGeom prst="rect">
                <a:avLst/>
              </a:prstGeom>
              <a:blipFill>
                <a:blip r:embed="rId3"/>
                <a:stretch>
                  <a:fillRect l="-539" t="-957" r="-270" b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41890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717B-915A-64D2-D1C8-5513B89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F-Statistic Feature Ranking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7A9918-FAA1-044C-94E6-953C4AA0137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0A2F3-E79E-7745-91D3-E57DE216ED0B}"/>
                  </a:ext>
                </a:extLst>
              </p:cNvPr>
              <p:cNvSpPr txBox="1"/>
              <p:nvPr/>
            </p:nvSpPr>
            <p:spPr>
              <a:xfrm>
                <a:off x="838200" y="2336800"/>
                <a:ext cx="4826000" cy="285687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clustering on 4 features.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for each feature gives the vector:</a:t>
                </a:r>
              </a:p>
              <a:p>
                <a:pPr>
                  <a:buNone/>
                </a:pPr>
                <a:endParaRPr lang="en-US" sz="50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700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38.2,12.5,3.1,0.7</m:t>
                              </m:r>
                            </m:e>
                          </m:d>
                        </m:e>
                        <m:sup>
                          <m:r>
                            <m:rPr>
                              <m:nor/>
                            </m:rPr>
                            <a:rPr lang="en-US" sz="1700" i="0">
                              <a:solidFill>
                                <a:srgbClr val="4B2E83"/>
                              </a:solidFill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Rank features by discriminative power and decide which to keep in the profile.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Reading the chart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Income &amp; Age separate clusters strongly.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Tenure is weak; Region is near-noise (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0A2F3-E79E-7745-91D3-E57DE216E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36800"/>
                <a:ext cx="4826000" cy="2856872"/>
              </a:xfrm>
              <a:prstGeom prst="rect">
                <a:avLst/>
              </a:prstGeom>
              <a:blipFill>
                <a:blip r:embed="rId2"/>
                <a:stretch>
                  <a:fillRect l="-789" t="-442" r="-1579" b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1" name="FChart"/>
          <p:cNvGraphicFramePr/>
          <p:nvPr/>
        </p:nvGraphicFramePr>
        <p:xfrm>
          <a:off x="5969000" y="2311400"/>
          <a:ext cx="53848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1534222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003F-9F44-42E4-8B9E-241DC710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Profiling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A19903-6D18-BE4E-8606-5DADAE7D28F2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CE6A08-9E65-854E-830A-5E66FC7753CF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97E28-5669-AD42-8164-87F76151FD74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Silhouette.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has own-cluster distances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2,4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and nearest other-cluster mean distance 4.5.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16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4B2E83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sz="16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4B2E83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sz="16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4B2E83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97E28-5669-AD42-8164-87F76151F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E3DD2C39-CBB0-8948-85BB-72548D2A5D7D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CC0D2D-E49D-A64D-B8CB-498E9CECC05E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B03E3-2F0B-FB4E-B123-00D2716E4FD4}"/>
                  </a:ext>
                </a:extLst>
              </p:cNvPr>
              <p:cNvSpPr txBox="1"/>
              <p:nvPr/>
            </p:nvSpPr>
            <p:spPr>
              <a:xfrm>
                <a:off x="1854200" y="3856092"/>
                <a:ext cx="9296400" cy="6190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z-Profile.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Cluster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120,8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global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100,5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std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40,1.5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en-US" sz="1600" i="0">
                            <a:solidFill>
                              <a:srgbClr val="333333"/>
                            </a:solidFill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⊘</m:t>
                    </m:r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sz="1600" dirty="0">
                    <a:solidFill>
                      <a:srgbClr val="4B2E83"/>
                    </a:solidFill>
                  </a:rPr>
                  <a:t> and say which feature is most distinctive.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B03E3-2F0B-FB4E-B123-00D2716E4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56092"/>
                <a:ext cx="9296400" cy="619016"/>
              </a:xfrm>
              <a:prstGeom prst="rect">
                <a:avLst/>
              </a:prstGeom>
              <a:blipFill>
                <a:blip r:embed="rId3"/>
                <a:stretch>
                  <a:fillRect l="-27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484170AF-4CF0-2947-BD0A-04CBB2043932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997C26-29CC-7F40-A527-683EE7A2E4AF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55160C-07C8-F245-A886-2011A9E88EA0}"/>
                  </a:ext>
                </a:extLst>
              </p:cNvPr>
              <p:cNvSpPr txBox="1"/>
              <p:nvPr/>
            </p:nvSpPr>
            <p:spPr>
              <a:xfrm>
                <a:off x="1854200" y="5247972"/>
                <a:ext cx="9296400" cy="88325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F-Statistic.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Between-cluster var of feature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24.0 (df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−1=2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); within-cluster var = 4.0 (df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24.0</m:t>
                            </m:r>
                          </m:num>
                          <m:den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4.0</m:t>
                            </m:r>
                          </m:num>
                          <m:den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1600" dirty="0">
                    <a:solidFill>
                      <a:srgbClr val="4B2E83"/>
                    </a:solidFill>
                  </a:rPr>
                  <a:t> and judge if feature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>
                    <a:solidFill>
                      <a:srgbClr val="4B2E83"/>
                    </a:solidFill>
                  </a:rPr>
                  <a:t> separates clusters.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55160C-07C8-F245-A886-2011A9E88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247972"/>
                <a:ext cx="9296400" cy="883255"/>
              </a:xfrm>
              <a:prstGeom prst="rect">
                <a:avLst/>
              </a:prstGeom>
              <a:blipFill>
                <a:blip r:embed="rId4"/>
                <a:stretch>
                  <a:fillRect l="-273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86273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51E7-34C5-6F70-04CE-44B38220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1: a(i) and b(i)</a:t>
            </a:r>
          </a:p>
        </p:txBody>
      </p:sp>
      <p:sp>
        <p:nvSpPr>
          <p:cNvPr id="201" name="Given"/>
          <p:cNvSpPr txBox="1"/>
          <p:nvPr/>
        </p:nvSpPr>
        <p:spPr>
          <a:xfrm>
            <a:off x="838200" y="1905000"/>
            <a:ext cx="10515600" cy="10414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Given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Distances to the two other members of its own cluster: 2 and 4.   Mean distance to the nearest other cluster: 4.5.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A"/>
              <p:cNvSpPr txBox="1"/>
              <p:nvPr/>
            </p:nvSpPr>
            <p:spPr>
              <a:xfrm>
                <a:off x="838200" y="3149600"/>
                <a:ext cx="5334000" cy="1600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1a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a(i), the cohesion term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a(i) = (2 + 4) / 2 = 3.0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a(i) is the average distance to the other points in the same cluster — how tight the point sits with its own group.</a:t>
                </a:r>
              </a:p>
            </p:txBody>
          </p:sp>
        </mc:Choice>
        <mc:Fallback>
          <p:sp>
            <p:nvSpPr>
              <p:cNvPr id="202" name="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9600"/>
                <a:ext cx="5334000" cy="1600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B"/>
              <p:cNvSpPr txBox="1"/>
              <p:nvPr/>
            </p:nvSpPr>
            <p:spPr>
              <a:xfrm>
                <a:off x="6426200" y="3149600"/>
                <a:ext cx="4927600" cy="16002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1b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b(i), the separation term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b(i) = 4.5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b(i) is the mean distance to the members of the closest other cluster — the best available alternative home.</a:t>
                </a:r>
              </a:p>
            </p:txBody>
          </p:sp>
        </mc:Choice>
        <mc:Fallback>
          <p:sp>
            <p:nvSpPr>
              <p:cNvPr id="203" name="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149600"/>
                <a:ext cx="4927600" cy="1600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Note"/>
          <p:cNvSpPr txBox="1"/>
          <p:nvPr/>
        </p:nvSpPr>
        <p:spPr>
          <a:xfrm>
            <a:off x="838200" y="4927600"/>
            <a:ext cx="10515600" cy="1143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Only the nearest rival cluster enters b(i): silhouette asks "could this point have done better next door?", not "how far is everything else?".</a:t>
            </a:r>
          </a:p>
        </p:txBody>
      </p:sp>
    </p:spTree>
    <p:extLst>
      <p:ext uri="{BB962C8B-B14F-4D97-AF65-F5344CB8AC3E}">
        <p14:creationId xmlns:p14="http://schemas.microsoft.com/office/powerpoint/2010/main" val="117969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7D0B-55B8-B9C1-ABCB-234D82BC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E1 Solution — Step 2: The Silhouette s(i)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Formula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Combine them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s(i) = (b(i) − a(i)) / max(a(i), b(i)) = (4.5 − 3.0) / 4.5 = 1.5 / 4.5</a:t>
                </a:r>
              </a:p>
            </p:txBody>
          </p:sp>
        </mc:Choice>
        <mc:Fallback>
          <p:sp>
            <p:nvSpPr>
              <p:cNvPr id="201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Answer"/>
          <p:cNvSpPr txBox="1"/>
          <p:nvPr/>
        </p:nvSpPr>
        <p:spPr>
          <a:xfrm>
            <a:off x="838200" y="3149600"/>
            <a:ext cx="5334000" cy="14224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a(i) = 3.0        b(i) = 4.5        s(i) = 0.33</a:t>
            </a:r>
          </a:p>
        </p:txBody>
      </p:sp>
      <p:sp>
        <p:nvSpPr>
          <p:cNvPr id="203" name="Read"/>
          <p:cNvSpPr txBox="1"/>
          <p:nvPr/>
        </p:nvSpPr>
        <p:spPr>
          <a:xfrm>
            <a:off x="838200" y="4749800"/>
            <a:ext cx="5334000" cy="1320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How to read 0.33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Positive, so the point is in the better of the two clusters.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Well short of 1, so it sits fairly close to the boundary — its own cluster is only 1.5 units tighter than the rival.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49600"/>
            <a:ext cx="4876800" cy="2921000"/>
            <a:chOff x="6477000" y="3149600"/>
            <a:chExt cx="4876800" cy="2921000"/>
          </a:xfrm>
        </p:grpSpPr>
        <p:sp>
          <p:nvSpPr>
            <p:cNvPr id="302" name="Frame"/>
            <p:cNvSpPr/>
            <p:nvPr/>
          </p:nvSpPr>
          <p:spPr>
            <a:xfrm>
              <a:off x="6477000" y="3149600"/>
              <a:ext cx="4876800" cy="2921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274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Where 0.33 falls on the scale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>
              <a:off x="6985000" y="4572000"/>
              <a:ext cx="381000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 flipV="1">
              <a:off x="6985000" y="4457700"/>
              <a:ext cx="0" cy="228600"/>
            </a:xfrm>
            <a:prstGeom prst="line">
              <a:avLst/>
            </a:prstGeom>
            <a:ln w="15875">
              <a:solidFill>
                <a:srgbClr val="595959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 flipV="1">
              <a:off x="8890000" y="4457700"/>
              <a:ext cx="0" cy="228600"/>
            </a:xfrm>
            <a:prstGeom prst="line">
              <a:avLst/>
            </a:prstGeom>
            <a:ln w="15875">
              <a:solidFill>
                <a:srgbClr val="595959"/>
              </a:solidFill>
            </a:ln>
          </p:spPr>
        </p:cxnSp>
        <p:cxnSp>
          <p:nvCxnSpPr>
            <p:cNvPr id="307" name="seg"/>
            <p:cNvCxnSpPr/>
            <p:nvPr/>
          </p:nvCxnSpPr>
          <p:spPr>
            <a:xfrm flipV="1">
              <a:off x="10795000" y="4457700"/>
              <a:ext cx="0" cy="228600"/>
            </a:xfrm>
            <a:prstGeom prst="line">
              <a:avLst/>
            </a:prstGeom>
            <a:ln w="15875">
              <a:solidFill>
                <a:srgbClr val="595959"/>
              </a:solidFill>
            </a:ln>
          </p:spPr>
        </p:cxnSp>
        <p:sp>
          <p:nvSpPr>
            <p:cNvPr id="308" name="lab"/>
            <p:cNvSpPr txBox="1"/>
            <p:nvPr/>
          </p:nvSpPr>
          <p:spPr>
            <a:xfrm>
              <a:off x="6807200" y="4724400"/>
              <a:ext cx="38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−1</a:t>
              </a:r>
            </a:p>
          </p:txBody>
        </p:sp>
        <p:sp>
          <p:nvSpPr>
            <p:cNvPr id="309" name="lab"/>
            <p:cNvSpPr txBox="1"/>
            <p:nvPr/>
          </p:nvSpPr>
          <p:spPr>
            <a:xfrm>
              <a:off x="8712200" y="4724400"/>
              <a:ext cx="38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0</a:t>
              </a:r>
            </a:p>
          </p:txBody>
        </p:sp>
        <p:sp>
          <p:nvSpPr>
            <p:cNvPr id="310" name="lab"/>
            <p:cNvSpPr txBox="1"/>
            <p:nvPr/>
          </p:nvSpPr>
          <p:spPr>
            <a:xfrm>
              <a:off x="10617200" y="4724400"/>
              <a:ext cx="38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1</a:t>
              </a:r>
            </a:p>
          </p:txBody>
        </p:sp>
        <p:sp>
          <p:nvSpPr>
            <p:cNvPr id="311" name="lab"/>
            <p:cNvSpPr txBox="1"/>
            <p:nvPr/>
          </p:nvSpPr>
          <p:spPr>
            <a:xfrm>
              <a:off x="6985000" y="5003800"/>
              <a:ext cx="1524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wrong cluster</a:t>
              </a:r>
            </a:p>
          </p:txBody>
        </p:sp>
        <p:sp>
          <p:nvSpPr>
            <p:cNvPr id="312" name="lab"/>
            <p:cNvSpPr txBox="1"/>
            <p:nvPr/>
          </p:nvSpPr>
          <p:spPr>
            <a:xfrm>
              <a:off x="8128000" y="5003800"/>
              <a:ext cx="1651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on the boundary</a:t>
              </a:r>
            </a:p>
          </p:txBody>
        </p:sp>
        <p:sp>
          <p:nvSpPr>
            <p:cNvPr id="313" name="lab"/>
            <p:cNvSpPr txBox="1"/>
            <p:nvPr/>
          </p:nvSpPr>
          <p:spPr>
            <a:xfrm>
              <a:off x="9474200" y="5003800"/>
              <a:ext cx="1397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well placed</a:t>
              </a:r>
            </a:p>
          </p:txBody>
        </p:sp>
        <p:sp>
          <p:nvSpPr>
            <p:cNvPr id="314" name="d"/>
            <p:cNvSpPr/>
            <p:nvPr/>
          </p:nvSpPr>
          <p:spPr>
            <a:xfrm>
              <a:off x="9448165" y="4495800"/>
              <a:ext cx="152400" cy="152400"/>
            </a:xfrm>
            <a:prstGeom prst="ellipse">
              <a:avLst/>
            </a:prstGeom>
            <a:solidFill>
              <a:srgbClr val="C039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cxnSp>
          <p:nvCxnSpPr>
            <p:cNvPr id="315" name="seg"/>
            <p:cNvCxnSpPr/>
            <p:nvPr/>
          </p:nvCxnSpPr>
          <p:spPr>
            <a:xfrm flipV="1">
              <a:off x="9524365" y="4000500"/>
              <a:ext cx="0" cy="571500"/>
            </a:xfrm>
            <a:prstGeom prst="line">
              <a:avLst/>
            </a:prstGeom>
            <a:ln w="19050">
              <a:solidFill>
                <a:srgbClr val="C0397A"/>
              </a:solidFill>
              <a:prstDash val="dash"/>
            </a:ln>
          </p:spPr>
        </p:cxnSp>
        <p:sp>
          <p:nvSpPr>
            <p:cNvPr id="316" name="lab"/>
            <p:cNvSpPr txBox="1"/>
            <p:nvPr/>
          </p:nvSpPr>
          <p:spPr>
            <a:xfrm>
              <a:off x="8940165" y="3822700"/>
              <a:ext cx="1270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s(i) = 0.33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852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9EB3-0F2D-CB4C-D3F0-D11F4AE0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Step 1: Standardise the Gaps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Given"/>
              <p:cNvSpPr txBox="1"/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Given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Cluster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(120, 8)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  global mean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(100, 5)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     standard deviations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(40, 1.5)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201" name="Giv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Gaps"/>
              <p:cNvSpPr txBox="1"/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1a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Raw gaps from the global mean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feature 1: 120 − 100 = 20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feature 2: 8 − 5 = 3</a:t>
                </a:r>
              </a:p>
            </p:txBody>
          </p:sp>
        </mc:Choice>
        <mc:Fallback>
          <p:sp>
            <p:nvSpPr>
              <p:cNvPr id="202" name="Gap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Z"/>
              <p:cNvSpPr txBox="1"/>
              <p:nvPr/>
            </p:nvSpPr>
            <p:spPr>
              <a:xfrm>
                <a:off x="6426200" y="3225800"/>
                <a:ext cx="49276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Step 1b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FFFFFF"/>
                    </a:solidFill>
                  </a:rPr>
                  <a:t> Divide each gap by its own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1500" b="1" dirty="0">
                  <a:solidFill>
                    <a:srgbClr val="FFFFFF"/>
                  </a:solidFill>
                </a:endParaRP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= 20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/ 40 = 0.5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= 3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/ 1.5 = 2.0</a:t>
                </a:r>
              </a:p>
            </p:txBody>
          </p:sp>
        </mc:Choice>
        <mc:Fallback>
          <p:sp>
            <p:nvSpPr>
              <p:cNvPr id="203" name="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225800"/>
                <a:ext cx="49276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Why"/>
          <p:cNvSpPr txBox="1"/>
          <p:nvPr/>
        </p:nvSpPr>
        <p:spPr>
          <a:xfrm>
            <a:off x="838200" y="4927600"/>
            <a:ext cx="10515600" cy="1143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The raw gaps point at feature 1 (20 versus 3), but the scaling reverses the ranking — this is exactly why profiles are read in standard deviations, not raw units.</a:t>
            </a:r>
          </a:p>
        </p:txBody>
      </p:sp>
    </p:spTree>
    <p:extLst>
      <p:ext uri="{BB962C8B-B14F-4D97-AF65-F5344CB8AC3E}">
        <p14:creationId xmlns:p14="http://schemas.microsoft.com/office/powerpoint/2010/main" val="118858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148D-FD53-FD2D-9AFC-E295A33F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E2 Solution — Step 2: The Distinctive Feature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Profile"/>
              <p:cNvSpPr txBox="1"/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Read the profile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(0.5, 2.0)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both features sit above the global average, but by very different amounts.</a:t>
                </a:r>
              </a:p>
            </p:txBody>
          </p:sp>
        </mc:Choice>
        <mc:Fallback>
          <p:sp>
            <p:nvSpPr>
              <p:cNvPr id="201" name="Profi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041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Answer"/>
          <p:cNvSpPr txBox="1"/>
          <p:nvPr/>
        </p:nvSpPr>
        <p:spPr>
          <a:xfrm>
            <a:off x="838200" y="3149600"/>
            <a:ext cx="5334000" cy="14986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 2 is the distinctive one.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FFFFFF"/>
                </a:solidFill>
              </a:rPr>
              <a:t>It runs 2 standard deviations above the global mean, against 0.5 for feature 1.</a:t>
            </a:r>
          </a:p>
        </p:txBody>
      </p:sp>
      <p:sp>
        <p:nvSpPr>
          <p:cNvPr id="203" name="Naming"/>
          <p:cNvSpPr txBox="1"/>
          <p:nvPr/>
        </p:nvSpPr>
        <p:spPr>
          <a:xfrm>
            <a:off x="838200" y="4826000"/>
            <a:ext cx="5334000" cy="12446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 fontScale="92500"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Using it to name the cluster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Quote the features with |z| above about 1 and ignore the rest.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Here: "average on feature 1, strongly elevated on feature 2".</a:t>
            </a:r>
          </a:p>
        </p:txBody>
      </p:sp>
      <p:grpSp>
        <p:nvGrpSpPr>
          <p:cNvPr id="301" name="Plot"/>
          <p:cNvGrpSpPr/>
          <p:nvPr/>
        </p:nvGrpSpPr>
        <p:grpSpPr>
          <a:xfrm>
            <a:off x="6477000" y="3149600"/>
            <a:ext cx="4876800" cy="2921000"/>
            <a:chOff x="6477000" y="3149600"/>
            <a:chExt cx="4876800" cy="2921000"/>
          </a:xfrm>
        </p:grpSpPr>
        <p:sp>
          <p:nvSpPr>
            <p:cNvPr id="302" name="Frame"/>
            <p:cNvSpPr/>
            <p:nvPr/>
          </p:nvSpPr>
          <p:spPr>
            <a:xfrm>
              <a:off x="6477000" y="3149600"/>
              <a:ext cx="4876800" cy="2921000"/>
            </a:xfrm>
            <a:prstGeom prst="roundRect">
              <a:avLst>
                <a:gd name="adj" fmla="val 4000"/>
              </a:avLst>
            </a:prstGeom>
            <a:solidFill>
              <a:srgbClr val="F7F4FB"/>
            </a:solidFill>
            <a:ln w="12700">
              <a:solidFill>
                <a:srgbClr val="C6B7DC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lab"/>
            <p:cNvSpPr txBox="1"/>
            <p:nvPr/>
          </p:nvSpPr>
          <p:spPr>
            <a:xfrm>
              <a:off x="6680200" y="3327400"/>
              <a:ext cx="44704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z-profile of the cluster</a:t>
              </a:r>
            </a:p>
          </p:txBody>
        </p:sp>
        <p:cxnSp>
          <p:nvCxnSpPr>
            <p:cNvPr id="304" name="seg"/>
            <p:cNvCxnSpPr/>
            <p:nvPr/>
          </p:nvCxnSpPr>
          <p:spPr>
            <a:xfrm flipV="1">
              <a:off x="8229600" y="3677920"/>
              <a:ext cx="0" cy="1752600"/>
            </a:xfrm>
            <a:prstGeom prst="line">
              <a:avLst/>
            </a:prstGeom>
            <a:ln w="15875">
              <a:solidFill>
                <a:srgbClr val="595959"/>
              </a:solidFill>
            </a:ln>
          </p:spPr>
        </p:cxnSp>
        <p:cxnSp>
          <p:nvCxnSpPr>
            <p:cNvPr id="305" name="seg"/>
            <p:cNvCxnSpPr/>
            <p:nvPr/>
          </p:nvCxnSpPr>
          <p:spPr>
            <a:xfrm>
              <a:off x="8229600" y="3970020"/>
              <a:ext cx="584200" cy="0"/>
            </a:xfrm>
            <a:prstGeom prst="line">
              <a:avLst/>
            </a:prstGeom>
            <a:ln w="152400">
              <a:solidFill>
                <a:srgbClr val="4B2E83"/>
              </a:solidFill>
            </a:ln>
          </p:spPr>
        </p:cxnSp>
        <p:cxnSp>
          <p:nvCxnSpPr>
            <p:cNvPr id="306" name="seg"/>
            <p:cNvCxnSpPr/>
            <p:nvPr/>
          </p:nvCxnSpPr>
          <p:spPr>
            <a:xfrm>
              <a:off x="8229600" y="4612640"/>
              <a:ext cx="2336800" cy="0"/>
            </a:xfrm>
            <a:prstGeom prst="line">
              <a:avLst/>
            </a:prstGeom>
            <a:ln w="152400">
              <a:solidFill>
                <a:srgbClr val="C0397A"/>
              </a:solidFill>
            </a:ln>
          </p:spPr>
        </p:cxnSp>
        <p:sp>
          <p:nvSpPr>
            <p:cNvPr id="307" name="lab"/>
            <p:cNvSpPr txBox="1"/>
            <p:nvPr/>
          </p:nvSpPr>
          <p:spPr>
            <a:xfrm>
              <a:off x="7010400" y="3855720"/>
              <a:ext cx="1143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>
                <a:buNone/>
              </a:pPr>
              <a:r>
                <a:rPr lang="en-US" sz="1400" b="1" dirty="0">
                  <a:solidFill>
                    <a:srgbClr val="595959"/>
                  </a:solidFill>
                </a:rPr>
                <a:t>feature 1</a:t>
              </a:r>
            </a:p>
          </p:txBody>
        </p:sp>
        <p:sp>
          <p:nvSpPr>
            <p:cNvPr id="308" name="lab"/>
            <p:cNvSpPr txBox="1"/>
            <p:nvPr/>
          </p:nvSpPr>
          <p:spPr>
            <a:xfrm>
              <a:off x="7010400" y="4498340"/>
              <a:ext cx="1143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>
                <a:buNone/>
              </a:pPr>
              <a:r>
                <a:rPr lang="en-US" sz="1400" b="1" dirty="0">
                  <a:solidFill>
                    <a:srgbClr val="595959"/>
                  </a:solidFill>
                </a:rPr>
                <a:t>feature 2</a:t>
              </a:r>
            </a:p>
          </p:txBody>
        </p:sp>
        <p:sp>
          <p:nvSpPr>
            <p:cNvPr id="309" name="lab"/>
            <p:cNvSpPr txBox="1"/>
            <p:nvPr/>
          </p:nvSpPr>
          <p:spPr>
            <a:xfrm>
              <a:off x="8966200" y="3855720"/>
              <a:ext cx="889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4B2E83"/>
                  </a:solidFill>
                </a:rPr>
                <a:t>z = 0.5</a:t>
              </a:r>
            </a:p>
          </p:txBody>
        </p:sp>
        <p:sp>
          <p:nvSpPr>
            <p:cNvPr id="310" name="lab"/>
            <p:cNvSpPr txBox="1"/>
            <p:nvPr/>
          </p:nvSpPr>
          <p:spPr>
            <a:xfrm>
              <a:off x="10718800" y="4498340"/>
              <a:ext cx="8890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buNone/>
              </a:pPr>
              <a:r>
                <a:rPr lang="en-US" sz="1400" b="1" dirty="0">
                  <a:solidFill>
                    <a:srgbClr val="C0397A"/>
                  </a:solidFill>
                </a:rPr>
                <a:t>z = 2.0</a:t>
              </a:r>
            </a:p>
          </p:txBody>
        </p:sp>
        <p:cxnSp>
          <p:nvCxnSpPr>
            <p:cNvPr id="311" name="seg"/>
            <p:cNvCxnSpPr/>
            <p:nvPr/>
          </p:nvCxnSpPr>
          <p:spPr>
            <a:xfrm>
              <a:off x="8229600" y="5430520"/>
              <a:ext cx="2804160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sp>
          <p:nvSpPr>
            <p:cNvPr id="312" name="lab"/>
            <p:cNvSpPr txBox="1"/>
            <p:nvPr/>
          </p:nvSpPr>
          <p:spPr>
            <a:xfrm>
              <a:off x="8064500" y="5532120"/>
              <a:ext cx="330200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buNone/>
              </a:pPr>
              <a:r>
                <a:rPr lang="en-US" sz="1400" dirty="0">
                  <a:solidFill>
                    <a:srgbClr val="595959"/>
                  </a:solidFill>
                </a:rPr>
                <a:t>0</a:t>
              </a:r>
            </a:p>
          </p:txBody>
        </p:sp>
        <p:cxnSp>
          <p:nvCxnSpPr>
            <p:cNvPr id="313" name="seg"/>
            <p:cNvCxnSpPr/>
            <p:nvPr/>
          </p:nvCxnSpPr>
          <p:spPr>
            <a:xfrm flipV="1">
              <a:off x="9398000" y="5337048"/>
              <a:ext cx="0" cy="93472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4" name="lab"/>
                <p:cNvSpPr txBox="1"/>
                <p:nvPr/>
              </p:nvSpPr>
              <p:spPr>
                <a:xfrm>
                  <a:off x="9194800" y="5532120"/>
                  <a:ext cx="4064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4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4800" y="5532120"/>
                  <a:ext cx="406400" cy="228600"/>
                </a:xfrm>
                <a:prstGeom prst="rect">
                  <a:avLst/>
                </a:prstGeom>
                <a:blipFill>
                  <a:blip r:embed="rId3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5" name="seg"/>
            <p:cNvCxnSpPr/>
            <p:nvPr/>
          </p:nvCxnSpPr>
          <p:spPr>
            <a:xfrm flipV="1">
              <a:off x="10566400" y="5337048"/>
              <a:ext cx="0" cy="93472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6" name="lab"/>
                <p:cNvSpPr txBox="1"/>
                <p:nvPr/>
              </p:nvSpPr>
              <p:spPr>
                <a:xfrm>
                  <a:off x="10363200" y="5532120"/>
                  <a:ext cx="406400" cy="2286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316" name="lab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3200" y="5532120"/>
                  <a:ext cx="406400" cy="228600"/>
                </a:xfrm>
                <a:prstGeom prst="rect">
                  <a:avLst/>
                </a:prstGeom>
                <a:blipFill>
                  <a:blip r:embed="rId4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0382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1E750-AC33-F81B-D938-CACC14F7D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1: The Two Mean Squares</a:t>
            </a:r>
          </a:p>
        </p:txBody>
      </p:sp>
      <p:sp>
        <p:nvSpPr>
          <p:cNvPr id="201" name="Given"/>
          <p:cNvSpPr txBox="1"/>
          <p:nvPr/>
        </p:nvSpPr>
        <p:spPr>
          <a:xfrm>
            <a:off x="838200" y="1905000"/>
            <a:ext cx="10515600" cy="11176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</a:rPr>
              <a:t>Given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600" dirty="0">
                <a:solidFill>
                  <a:srgbClr val="333333"/>
                </a:solidFill>
              </a:rPr>
              <a:t>Between-cluster variation = 24.0 with K − 1 = 2 degrees of freedom;  within-cluster variation = 4.0 with n − K = 27.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MSB"/>
              <p:cNvSpPr txBox="1"/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1a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Between-cluster mean square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24.0 / 2 = 12.0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Variation explained by the cluster labels, per degree of freedom.</a:t>
                </a:r>
              </a:p>
            </p:txBody>
          </p:sp>
        </mc:Choice>
        <mc:Fallback>
          <p:sp>
            <p:nvSpPr>
              <p:cNvPr id="202" name="MS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25800"/>
                <a:ext cx="5334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MSW"/>
              <p:cNvSpPr txBox="1"/>
              <p:nvPr/>
            </p:nvSpPr>
            <p:spPr>
              <a:xfrm>
                <a:off x="6426200" y="3225800"/>
                <a:ext cx="49276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1b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Within-cluster mean square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4.0 / 27 = 0.148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400" i="1" dirty="0">
                    <a:solidFill>
                      <a:srgbClr val="595959"/>
                    </a:solidFill>
                  </a:rPr>
                  <a:t>Left-over variation inside the clusters — the noise level.</a:t>
                </a:r>
              </a:p>
            </p:txBody>
          </p:sp>
        </mc:Choice>
        <mc:Fallback>
          <p:sp>
            <p:nvSpPr>
              <p:cNvPr id="203" name="MSW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225800"/>
                <a:ext cx="49276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Idea"/>
          <p:cNvSpPr txBox="1"/>
          <p:nvPr/>
        </p:nvSpPr>
        <p:spPr>
          <a:xfrm>
            <a:off x="838200" y="4927600"/>
            <a:ext cx="10515600" cy="11430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F is a ratio of these two mean squares: signal from the grouping divided by noise within the groups. Dividing by the degrees of freedom is what makes the two comparable.</a:t>
            </a:r>
          </a:p>
        </p:txBody>
      </p:sp>
    </p:spTree>
    <p:extLst>
      <p:ext uri="{BB962C8B-B14F-4D97-AF65-F5344CB8AC3E}">
        <p14:creationId xmlns:p14="http://schemas.microsoft.com/office/powerpoint/2010/main" val="180556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051C-8FC6-7DB9-7FC0-882558DA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E3 Solution — Step 2: F and the Verdict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Divide"/>
              <p:cNvSpPr txBox="1"/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2 ·</m:t>
                    </m:r>
                  </m:oMath>
                </a14:m>
                <a:r>
                  <a:rPr lang="en-US" sz="1500" b="1" dirty="0">
                    <a:solidFill>
                      <a:srgbClr val="4B2E83"/>
                    </a:solidFill>
                  </a:rPr>
                  <a:t> Take the ratio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= 12.0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0.148 = 81.0        (equivalently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12 × 27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/ 4)</a:t>
                </a:r>
              </a:p>
            </p:txBody>
          </p:sp>
        </mc:Choice>
        <mc:Fallback>
          <p:sp>
            <p:nvSpPr>
              <p:cNvPr id="201" name="Divid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5000"/>
                <a:ext cx="10515600" cy="1117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Answer"/>
              <p:cNvSpPr txBox="1"/>
              <p:nvPr/>
            </p:nvSpPr>
            <p:spPr>
              <a:xfrm>
                <a:off x="838200" y="3225800"/>
                <a:ext cx="5334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4B2E83"/>
              </a:solidFill>
              <a:ln w="12700">
                <a:solidFill>
                  <a:srgbClr val="4B2E83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Answer</a:t>
                </a:r>
              </a:p>
              <a:p>
                <a:pPr algn="l">
                  <a:spcBef>
                    <a:spcPts val="4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6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6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= 81.0</m:t>
                    </m:r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on (2, 27) degrees of freedom.</a:t>
                </a:r>
              </a:p>
              <a:p>
                <a:pPr algn="l">
                  <a:spcBef>
                    <a:spcPts val="400"/>
                  </a:spcBef>
                  <a:buNone/>
                </a:pPr>
                <a:r>
                  <a:rPr lang="en-US" sz="1600" dirty="0">
                    <a:solidFill>
                      <a:srgbClr val="FFFFFF"/>
                    </a:solidFill>
                  </a:rPr>
                  <a:t>The 5% critical value is about 3.35, so feature j separates the clusters very strongly.</a:t>
                </a:r>
              </a:p>
            </p:txBody>
          </p:sp>
        </mc:Choice>
        <mc:Fallback>
          <p:sp>
            <p:nvSpPr>
              <p:cNvPr id="202" name="Answ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25800"/>
                <a:ext cx="5334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Read"/>
              <p:cNvSpPr txBox="1"/>
              <p:nvPr/>
            </p:nvSpPr>
            <p:spPr>
              <a:xfrm>
                <a:off x="6426200" y="3225800"/>
                <a:ext cx="49276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7F4FB"/>
              </a:solidFill>
              <a:ln w="12700">
                <a:solidFill>
                  <a:srgbClr val="C6B7DC"/>
                </a:solidFill>
              </a:ln>
            </p:spPr>
            <p:txBody>
              <a:bodyPr wrap="square" lIns="128520" tIns="91440" rIns="128520" bIns="91440" anchor="t">
                <a:normAutofit/>
              </a:bodyPr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What that means in practice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Between-cluster spread is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81×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the within-cluster noise level.</a:t>
                </a:r>
              </a:p>
              <a:p>
                <a:pPr marL="228600" indent="-228600" algn="l">
                  <a:spcBef>
                    <a:spcPts val="400"/>
                  </a:spcBef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Rank features by F to decide which ones to put in the cluster narrative.</a:t>
                </a:r>
              </a:p>
            </p:txBody>
          </p:sp>
        </mc:Choice>
        <mc:Fallback>
          <p:sp>
            <p:nvSpPr>
              <p:cNvPr id="203" name="Rea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200" y="3225800"/>
                <a:ext cx="49276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6B7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veat"/>
          <p:cNvSpPr txBox="1"/>
          <p:nvPr/>
        </p:nvSpPr>
        <p:spPr>
          <a:xfrm>
            <a:off x="838200" y="5003800"/>
            <a:ext cx="10515600" cy="106680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12700">
            <a:solidFill>
              <a:srgbClr val="C6B7DC"/>
            </a:solidFill>
          </a:ln>
        </p:spPr>
        <p:txBody>
          <a:bodyPr wrap="square" lIns="128520" tIns="91440" rIns="128520" bIns="91440" anchor="t">
            <a:norm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n-US" sz="1400" i="1" dirty="0">
                <a:solidFill>
                  <a:srgbClr val="595959"/>
                </a:solidFill>
              </a:rPr>
              <a:t>Caveat: the clusters were themselves fitted to separate the data, so treat F as a ranking device rather than an honest hypothesis test — the p-value is optimistic by construction.</a:t>
            </a:r>
          </a:p>
        </p:txBody>
      </p:sp>
    </p:spTree>
    <p:extLst>
      <p:ext uri="{BB962C8B-B14F-4D97-AF65-F5344CB8AC3E}">
        <p14:creationId xmlns:p14="http://schemas.microsoft.com/office/powerpoint/2010/main" val="146843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DFCD-50AF-AF6E-6438-69CE9309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Choosing a Method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B1F6B2-C318-AC43-AB02-E36FB20D8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825785"/>
              </p:ext>
            </p:extLst>
          </p:nvPr>
        </p:nvGraphicFramePr>
        <p:xfrm>
          <a:off x="838200" y="1905000"/>
          <a:ext cx="105156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581772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86137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968337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Best for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 object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14157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K-means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Spherical, balanced clusters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Centroids μₖ, minimize Σ‖x−μₖ‖²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9479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Hierarchical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Nested structure, dendrograms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Linkage on distance matrix D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27794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DBSCAN</a:t>
                      </a:r>
                    </a:p>
                  </a:txBody>
                  <a:tcPr anchor="ctr">
                    <a:solidFill>
                      <a:srgbClr val="8575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Arbitrary shapes, 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ε-neighborhoods, density reachability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07357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t-SNE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2-D visualization, local structure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KL(P∥Q) on affinity matrices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9986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UMAP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Fast embedding, local+global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Cross-entropy on fuzzy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01772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Profiling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Interpreting clusters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z-profiles, silhouette, F-stat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02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68658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F8FA-A5C9-1C23-53B7-53F63BE0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Clusters to Personas: Naming Ideas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2B45E-A2B2-EA4A-96E3-59E026FE7866}"/>
              </a:ext>
            </a:extLst>
          </p:cNvPr>
          <p:cNvSpPr txBox="1"/>
          <p:nvPr/>
        </p:nvSpPr>
        <p:spPr>
          <a:xfrm>
            <a:off x="838200" y="1778000"/>
            <a:ext cx="105156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500" dirty="0">
                <a:solidFill>
                  <a:srgbClr val="333333"/>
                </a:solidFill>
              </a:rPr>
              <a:t>Once clusters are profiled by their z-score signatures, give each a memorable persona name. Six naming strategies, each with example names: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98E1D6-64F1-594F-915D-D5FCAD48E3EC}"/>
              </a:ext>
            </a:extLst>
          </p:cNvPr>
          <p:cNvSpPr/>
          <p:nvPr/>
        </p:nvSpPr>
        <p:spPr>
          <a:xfrm>
            <a:off x="838200" y="23622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FB72A7-2788-A547-A31A-0B020D0274DB}"/>
              </a:ext>
            </a:extLst>
          </p:cNvPr>
          <p:cNvSpPr/>
          <p:nvPr/>
        </p:nvSpPr>
        <p:spPr>
          <a:xfrm>
            <a:off x="838200" y="2362200"/>
            <a:ext cx="3378200" cy="4318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1. Behavior-Based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E2F0D-2D7F-4A4F-AD4E-272142CEB88F}"/>
              </a:ext>
            </a:extLst>
          </p:cNvPr>
          <p:cNvSpPr txBox="1"/>
          <p:nvPr/>
        </p:nvSpPr>
        <p:spPr>
          <a:xfrm>
            <a:off x="990600" y="28702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the dominant action or usage pattern in the cluster.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4B2E83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Power Users, Window Shoppers, Weekend Warriors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622CD71-0004-4149-854B-A82F4E03EDD5}"/>
              </a:ext>
            </a:extLst>
          </p:cNvPr>
          <p:cNvSpPr/>
          <p:nvPr/>
        </p:nvSpPr>
        <p:spPr>
          <a:xfrm>
            <a:off x="4406900" y="23622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3CFA92-6405-1946-8570-0EF2DCC8F059}"/>
              </a:ext>
            </a:extLst>
          </p:cNvPr>
          <p:cNvSpPr/>
          <p:nvPr/>
        </p:nvSpPr>
        <p:spPr>
          <a:xfrm>
            <a:off x="4406900" y="2362200"/>
            <a:ext cx="3378200" cy="4318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2. Value Tier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842ACE-E56F-CC4C-B3FE-5B034026E8C3}"/>
              </a:ext>
            </a:extLst>
          </p:cNvPr>
          <p:cNvSpPr txBox="1"/>
          <p:nvPr/>
        </p:nvSpPr>
        <p:spPr>
          <a:xfrm>
            <a:off x="4559300" y="28702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spend level or lifetime value (high z on revenue features).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00A7B5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High Rollers, Budget Seekers, Whales, Casual Spenders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BF0D257-7E18-E04B-AE61-16575C13F6EF}"/>
              </a:ext>
            </a:extLst>
          </p:cNvPr>
          <p:cNvSpPr/>
          <p:nvPr/>
        </p:nvSpPr>
        <p:spPr>
          <a:xfrm>
            <a:off x="7975600" y="23622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4D65A9-6185-334A-ACA8-EE11DA4E4740}"/>
              </a:ext>
            </a:extLst>
          </p:cNvPr>
          <p:cNvSpPr/>
          <p:nvPr/>
        </p:nvSpPr>
        <p:spPr>
          <a:xfrm>
            <a:off x="7975600" y="2362200"/>
            <a:ext cx="3378200" cy="4318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3. Lifestage / Demo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0BB3A8-87AE-594C-A976-C0F02BA764F8}"/>
              </a:ext>
            </a:extLst>
          </p:cNvPr>
          <p:cNvSpPr txBox="1"/>
          <p:nvPr/>
        </p:nvSpPr>
        <p:spPr>
          <a:xfrm>
            <a:off x="8128000" y="28702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the standout demographic or life-stage trait.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7AB648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Young Urbanites, Empty Nesters, New Parents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333108-646B-1F42-AB5F-BFF4E17F5463}"/>
              </a:ext>
            </a:extLst>
          </p:cNvPr>
          <p:cNvSpPr/>
          <p:nvPr/>
        </p:nvSpPr>
        <p:spPr>
          <a:xfrm>
            <a:off x="838200" y="43180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339FDC-5558-3540-B019-86353A034B45}"/>
              </a:ext>
            </a:extLst>
          </p:cNvPr>
          <p:cNvSpPr/>
          <p:nvPr/>
        </p:nvSpPr>
        <p:spPr>
          <a:xfrm>
            <a:off x="838200" y="4318000"/>
            <a:ext cx="3378200" cy="4318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4. Archetype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B22A4-0584-3643-B4FF-60024008AF92}"/>
              </a:ext>
            </a:extLst>
          </p:cNvPr>
          <p:cNvSpPr txBox="1"/>
          <p:nvPr/>
        </p:nvSpPr>
        <p:spPr>
          <a:xfrm>
            <a:off x="990600" y="4826000"/>
            <a:ext cx="3073400" cy="728405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Borrow a familiar persona archetype or metaphor.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85754D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The Explorer, The Loyalist, The Skeptic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122D749-639A-9E49-A7F0-678A59B4D8E4}"/>
              </a:ext>
            </a:extLst>
          </p:cNvPr>
          <p:cNvSpPr/>
          <p:nvPr/>
        </p:nvSpPr>
        <p:spPr>
          <a:xfrm>
            <a:off x="4406900" y="43180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CF5E9-0410-4048-8564-8EF930302843}"/>
              </a:ext>
            </a:extLst>
          </p:cNvPr>
          <p:cNvSpPr/>
          <p:nvPr/>
        </p:nvSpPr>
        <p:spPr>
          <a:xfrm>
            <a:off x="4406900" y="4318000"/>
            <a:ext cx="3378200" cy="431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5. Need / Motivation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5C57F3-6906-9C47-A18A-AF2F31ECD7D4}"/>
              </a:ext>
            </a:extLst>
          </p:cNvPr>
          <p:cNvSpPr txBox="1"/>
          <p:nvPr/>
        </p:nvSpPr>
        <p:spPr>
          <a:xfrm>
            <a:off x="4559300" y="48260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Name from the core need or job-to-be-done the cluster expresses.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D1578A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Convenience Cravers, Status Seekers, Deal Hunters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355D6F8-BFF9-7F4C-971B-910ED817B541}"/>
              </a:ext>
            </a:extLst>
          </p:cNvPr>
          <p:cNvSpPr/>
          <p:nvPr/>
        </p:nvSpPr>
        <p:spPr>
          <a:xfrm>
            <a:off x="7975600" y="4318000"/>
            <a:ext cx="33782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0B8438-8EE7-4042-9BC6-6E5569B47CF2}"/>
              </a:ext>
            </a:extLst>
          </p:cNvPr>
          <p:cNvSpPr/>
          <p:nvPr/>
        </p:nvSpPr>
        <p:spPr>
          <a:xfrm>
            <a:off x="7975600" y="4318000"/>
            <a:ext cx="3378200" cy="4318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6. Feature Signature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E37470-75F1-5B46-BA1F-9DC32652D05D}"/>
              </a:ext>
            </a:extLst>
          </p:cNvPr>
          <p:cNvSpPr txBox="1"/>
          <p:nvPr/>
        </p:nvSpPr>
        <p:spPr>
          <a:xfrm>
            <a:off x="8128000" y="4826000"/>
            <a:ext cx="3073400" cy="91307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>
              <a:buNone/>
            </a:pPr>
            <a:r>
              <a:rPr lang="en-US" sz="1300" dirty="0">
                <a:solidFill>
                  <a:srgbClr val="333333"/>
                </a:solidFill>
              </a:rPr>
              <a:t>Encode the top one or two z-score features directly in the name.</a:t>
            </a:r>
          </a:p>
          <a:p>
            <a:pPr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85754D"/>
                </a:solidFill>
              </a:rPr>
              <a:t>e.g. </a:t>
            </a:r>
            <a:r>
              <a:rPr lang="en-US" sz="1200" i="1" dirty="0">
                <a:solidFill>
                  <a:srgbClr val="595959"/>
                </a:solidFill>
              </a:rPr>
              <a:t>High-Freq / Low-Basket, Mobile-First Browsers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F9574A-17AD-AC4D-BD70-49B4C3AB3789}"/>
              </a:ext>
            </a:extLst>
          </p:cNvPr>
          <p:cNvSpPr/>
          <p:nvPr/>
        </p:nvSpPr>
        <p:spPr>
          <a:xfrm>
            <a:off x="838200" y="6121400"/>
            <a:ext cx="10515600" cy="101600"/>
          </a:xfrm>
          <a:prstGeom prst="round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8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6613</TotalTime>
  <Words>17341</Words>
  <Application>Microsoft Macintosh PowerPoint</Application>
  <PresentationFormat>Widescreen</PresentationFormat>
  <Paragraphs>2057</Paragraphs>
  <Slides>170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170</vt:i4>
      </vt:variant>
    </vt:vector>
  </HeadingPairs>
  <TitlesOfParts>
    <vt:vector size="176" baseType="lpstr">
      <vt:lpstr>Aptos</vt:lpstr>
      <vt:lpstr>Arial</vt:lpstr>
      <vt:lpstr>Calibri</vt:lpstr>
      <vt:lpstr>Cambria Math</vt:lpstr>
      <vt:lpstr>Consolas</vt:lpstr>
      <vt:lpstr>Office Theme [1775876968803]</vt:lpstr>
      <vt:lpstr>Cluster Analysis A Linear-Algebra Approach to Unsupervised Learning</vt:lpstr>
      <vt:lpstr>Course Roadmap</vt:lpstr>
      <vt:lpstr>PowerPoint Presentation</vt:lpstr>
      <vt:lpstr>What Is a Cluster?</vt:lpstr>
      <vt:lpstr>Example: People, Features &amp; Clusters</vt:lpstr>
      <vt:lpstr>Clustering as a Partition</vt:lpstr>
      <vt:lpstr>Exercise: Is It a Valid Clustering?</vt:lpstr>
      <vt:lpstr>The Data Matrix X</vt:lpstr>
      <vt:lpstr>Why Distance Matters</vt:lpstr>
      <vt:lpstr>Distance Metrics &amp; Norms</vt:lpstr>
      <vt:lpstr>Distances in 2D — Visual Intuition</vt:lpstr>
      <vt:lpstr>The Distance Matrix D</vt:lpstr>
      <vt:lpstr>Squared Distances: The Gram Matrix Trick</vt:lpstr>
      <vt:lpstr>Example: A Distance via the Gram Trick</vt:lpstr>
      <vt:lpstr>Exercise: Build the Distance Matrix</vt:lpstr>
      <vt:lpstr>Solution — Step 2: Multiply — the Diagonal of XX^T</vt:lpstr>
      <vt:lpstr>Solution — Step 3: Gram Matrix G = XX^T</vt:lpstr>
      <vt:lpstr>Solution — Step 4: Gram Trick → D_ij^2</vt:lpstr>
      <vt:lpstr>Solution — Step 5: Distance Matrix D</vt:lpstr>
      <vt:lpstr>Similarity vs. Dissimilarity</vt:lpstr>
      <vt:lpstr>Standardization</vt:lpstr>
      <vt:lpstr>The Curse of Dimensionality</vt:lpstr>
      <vt:lpstr>Step 1 — Expand the Squared Distance</vt:lpstr>
      <vt:lpstr>Step 2 — Collect Into the Gram Matrix</vt:lpstr>
      <vt:lpstr>Step 3 — Diagonal &amp; Matrix Form</vt:lpstr>
      <vt:lpstr>Step 4 — Plug In and Recover D</vt:lpstr>
      <vt:lpstr>Exercise 1: Standardization in Matrix Form</vt:lpstr>
      <vt:lpstr>Exercise 2 — Step 1: Set Up the Centering</vt:lpstr>
      <vt:lpstr>Exercise 2 — Step 2: Column Means</vt:lpstr>
      <vt:lpstr>Exercise 2 — Step 3: Subtract the Means</vt:lpstr>
      <vt:lpstr>Exercise 2 — Step 4: Check &amp; Standardize</vt:lpstr>
      <vt:lpstr>Exercise 3 — Step 1: Set Up the Scaling</vt:lpstr>
      <vt:lpstr>Exercise 3 — Step 2: Column Standard Deviations</vt:lpstr>
      <vt:lpstr>Exercise 3 — Step 3: Build the Scaling Matrix</vt:lpstr>
      <vt:lpstr>Exercise 3 — Step 4: Scale to Unit Variance</vt:lpstr>
      <vt:lpstr>Foundations — Exercises</vt:lpstr>
      <vt:lpstr>Exercise 1: Distance Matrix — Step 1</vt:lpstr>
      <vt:lpstr>Exercise 1: Distance Matrix — Step 2</vt:lpstr>
      <vt:lpstr>Exercise 1: Distance Matrix — Step 3</vt:lpstr>
      <vt:lpstr>Exercise 2: Metric Comparison — Step 1</vt:lpstr>
      <vt:lpstr>Exercise 2: Metric Comparison — Step 2</vt:lpstr>
      <vt:lpstr>Exercise 2: Metric Comparison — Step 3</vt:lpstr>
      <vt:lpstr>Exercise 3: Standardization — Step 1</vt:lpstr>
      <vt:lpstr>Exercise 3: Standardization — Step 2</vt:lpstr>
      <vt:lpstr>Exercise 3: Standardization — Step 3</vt:lpstr>
      <vt:lpstr>PowerPoint Presentation</vt:lpstr>
      <vt:lpstr>K-Means: The Objective</vt:lpstr>
      <vt:lpstr>Lloyd's Algorithm: History &amp; Intuition</vt:lpstr>
      <vt:lpstr>Lloyd's Algorithm</vt:lpstr>
      <vt:lpstr>Lloyd's Algorithm</vt:lpstr>
      <vt:lpstr>Lloyd's Algorithm</vt:lpstr>
      <vt:lpstr>Lloyd's Algorithm</vt:lpstr>
      <vt:lpstr>Lloyd's Algorithm</vt:lpstr>
      <vt:lpstr>Lloyd's Algorithm</vt:lpstr>
      <vt:lpstr>Initialization: k-means++</vt:lpstr>
      <vt:lpstr>Lloyd Iteration — Step 1: Assignment</vt:lpstr>
      <vt:lpstr>Lloyd Iteration — Step 2: Update Centroids</vt:lpstr>
      <vt:lpstr>Lloyd Iteration — Step 3: Inertia &amp; Convergence</vt:lpstr>
      <vt:lpstr>Matrix Form — Step 1: Stack the Data</vt:lpstr>
      <vt:lpstr>Matrix Form — Step 2: Stack the Centroids</vt:lpstr>
      <vt:lpstr>Distance Matrix — Step 1: The Formula</vt:lpstr>
      <vt:lpstr>Distance Matrix — Step 2: Compute Column 1</vt:lpstr>
      <vt:lpstr>Distance Matrix — Step 3: Assemble D</vt:lpstr>
      <vt:lpstr>Assignment — Step 1: Nearest Centroid (argmin)</vt:lpstr>
      <vt:lpstr>Assignment — Step 2: One-Hot Matrix Z</vt:lpstr>
      <vt:lpstr>Update — Step 1: Cluster Sums Z^T X</vt:lpstr>
      <vt:lpstr>Update — Step 2: Cluster Sizes &amp; Divide</vt:lpstr>
      <vt:lpstr>Update — Step 3: New Centroids M^((1))</vt:lpstr>
      <vt:lpstr>Inertia — Step 1: Keep Each Point’s Own Distance</vt:lpstr>
      <vt:lpstr>Inertia — Step 2: Sum to Get J</vt:lpstr>
      <vt:lpstr>Example 2: Choosing k (Elbow)</vt:lpstr>
      <vt:lpstr>Example 3: Scaling Changes Clusters</vt:lpstr>
      <vt:lpstr>K-Means — Exercises</vt:lpstr>
      <vt:lpstr>PowerPoint Presentation</vt:lpstr>
      <vt:lpstr>Agglomerative Clustering</vt:lpstr>
      <vt:lpstr>Types of Linkage</vt:lpstr>
      <vt:lpstr>The Dendrogram</vt:lpstr>
      <vt:lpstr>Updating Distances: Lance–Williams</vt:lpstr>
      <vt:lpstr>Example 1: Single-Linkage by Hand</vt:lpstr>
      <vt:lpstr>Example 2: Ward vs Single Linkage</vt:lpstr>
      <vt:lpstr>Example 3: Cophenetic Correlation</vt:lpstr>
      <vt:lpstr>Hierarchical — Exercises</vt:lpstr>
      <vt:lpstr>E1 Solution — Step 1: First Merge (Complete Linkage)</vt:lpstr>
      <vt:lpstr>E1 Solution — Step 2: Second Merge</vt:lpstr>
      <vt:lpstr>E1 Solution — Step 3: Root Merge and Comparison</vt:lpstr>
      <vt:lpstr>E2 Solution — Step 1: The Lance–Williams Formula</vt:lpstr>
      <vt:lpstr>E2 Solution — Step 2: Substitute and Simplify</vt:lpstr>
      <vt:lpstr>E3 Solution — Step 1: How a Horizontal Cut Works</vt:lpstr>
      <vt:lpstr>E3 Solution — Step 2: Cuts at Height 4.5 and 6</vt:lpstr>
      <vt:lpstr>End-to-End Example: Five Points and the Data Matrix</vt:lpstr>
      <vt:lpstr>Step 1: Gram Matrix G = XX^T</vt:lpstr>
      <vt:lpstr>Step 2: Squared Distances by the Gram Trick</vt:lpstr>
      <vt:lpstr>Step 3: The Euclidean Distance Matrix 𝐃</vt:lpstr>
      <vt:lpstr>Step 4: Merge 1 — Nearest Pair at Height 2</vt:lpstr>
      <vt:lpstr>Step 5: Merge 2 — Height 3</vt:lpstr>
      <vt:lpstr>Step 6: Merge 3 — Height 4</vt:lpstr>
      <vt:lpstr>Step 7: Merge 4 — Root at Height 5</vt:lpstr>
      <vt:lpstr>Step 8: Sketching the Dendrogram</vt:lpstr>
      <vt:lpstr>PowerPoint Presentation</vt:lpstr>
      <vt:lpstr>Reading the Notation: Neighbourhoods and Core Points</vt:lpstr>
      <vt:lpstr>The DBSCAN Algorithm, Step by Step</vt:lpstr>
      <vt:lpstr>Density: Core, Border &amp; Noise</vt:lpstr>
      <vt:lpstr>DBSCAN Algorithm</vt:lpstr>
      <vt:lpstr>Example 1: Point Classification</vt:lpstr>
      <vt:lpstr>Solution — Step 1: Neighbourhoods of A, B and C</vt:lpstr>
      <vt:lpstr>Solution — Step 2: A, B and C are Core Points</vt:lpstr>
      <vt:lpstr>Solution — Step 3: Are D and E Dense Enough?</vt:lpstr>
      <vt:lpstr>Solution — Step 4: F, an Isolated Point</vt:lpstr>
      <vt:lpstr>Solution — Step 5: Final Labelling</vt:lpstr>
      <vt:lpstr>Example 2: Choosing ε (k-distance)</vt:lpstr>
      <vt:lpstr>Example 3: Non-Convex Shapes</vt:lpstr>
      <vt:lpstr>DBSCAN — Exercises</vt:lpstr>
      <vt:lpstr>E1 Solution — Step 1: The Neighbourhoods</vt:lpstr>
      <vt:lpstr>E1 Solution — Step 2: The Core Test</vt:lpstr>
      <vt:lpstr>E1 Solution — Step 3: The Outlier and Final Labels</vt:lpstr>
      <vt:lpstr>E2 Solution — Step 1: The Definitions You Need</vt:lpstr>
      <vt:lpstr>E2 Solution — Step 2: The Proof and Cluster Assignment</vt:lpstr>
      <vt:lpstr>E3 Solution — Step 1: Why k-Means Cannot Split Rings</vt:lpstr>
      <vt:lpstr>E3 Solution — Step 2: Why DBSCAN Can, and When It Fails</vt:lpstr>
      <vt:lpstr>PowerPoint Presentation</vt:lpstr>
      <vt:lpstr>SNE: The Idea in One Sentence</vt:lpstr>
      <vt:lpstr>From Distance to Probability: a 1-D Example</vt:lpstr>
      <vt:lpstr>The Bandwidth Sets the Scale (Perplexity)</vt:lpstr>
      <vt:lpstr>Perplexity: the Effective Neighbour Count</vt:lpstr>
      <vt:lpstr>Why Match Distributions, Not Distances</vt:lpstr>
      <vt:lpstr>High-D Affinities: the Conditional p(j|i)</vt:lpstr>
      <vt:lpstr>Symmetrising: from p(j|i) to the Joint p_ij</vt:lpstr>
      <vt:lpstr>Low-D Affinities: the Student-t q_ij</vt:lpstr>
      <vt:lpstr>The Cost: Matching Q to P</vt:lpstr>
      <vt:lpstr>The Gradient: Attraction and Repulsion</vt:lpstr>
      <vt:lpstr>Example 1: Computing an Affinity</vt:lpstr>
      <vt:lpstr>Example 2: Perplexity &amp; Bandwidth</vt:lpstr>
      <vt:lpstr>Example 3: One Gradient Step</vt:lpstr>
      <vt:lpstr>t-SNE — Exercises</vt:lpstr>
      <vt:lpstr>E1 Solution — Step 1: The Gaussian Weights</vt:lpstr>
      <vt:lpstr>E1 Solution — Step 2: Normalise and Verify</vt:lpstr>
      <vt:lpstr>E2 Solution — Step 1: From Entropy to Perplexity</vt:lpstr>
      <vt:lpstr>E2 Solution — Step 2: Which Way Does σi Move?</vt:lpstr>
      <vt:lpstr>E3 Solution — Step 1: The Student-t Factor</vt:lpstr>
      <vt:lpstr>E3 Solution — Step 2: The Pairwise Gradient</vt:lpstr>
      <vt:lpstr>E3 Solution — Step 3: Attraction or Repulsion?</vt:lpstr>
      <vt:lpstr>PowerPoint Presentation</vt:lpstr>
      <vt:lpstr>UMAP: The Intuition</vt:lpstr>
      <vt:lpstr>Reading the UMAP Ingredients</vt:lpstr>
      <vt:lpstr>UMAP: High-Dimensional Graph</vt:lpstr>
      <vt:lpstr>UMAP: Low-D Layout &amp; Cost</vt:lpstr>
      <vt:lpstr>Example 1: Local Connectivity ρi</vt:lpstr>
      <vt:lpstr>Example 2: Fuzzy Union</vt:lpstr>
      <vt:lpstr>Example 3: Low-D Weight q_ij</vt:lpstr>
      <vt:lpstr>UMAP — Exercises</vt:lpstr>
      <vt:lpstr>E1 Solution — Step 1: ρi and the Shifted Distances</vt:lpstr>
      <vt:lpstr>E1 Solution — Step 2: The Directed Weights</vt:lpstr>
      <vt:lpstr>E2 Solution — The Fuzzy Union</vt:lpstr>
      <vt:lpstr>E3 Solution — Step 1: Evaluate q_ij</vt:lpstr>
      <vt:lpstr>E3 Solution — Step 2: Which Pair Is Pulled Harder?</vt:lpstr>
      <vt:lpstr>PowerPoint Presentation</vt:lpstr>
      <vt:lpstr>Centroids, Medoids &amp; Profiles</vt:lpstr>
      <vt:lpstr>Validation: Silhouette &amp; F-Statistic</vt:lpstr>
      <vt:lpstr>Example 1: Silhouette of a Point</vt:lpstr>
      <vt:lpstr>Example 2: Centroid z-Profile</vt:lpstr>
      <vt:lpstr>Example 3: F-Statistic Feature Ranking</vt:lpstr>
      <vt:lpstr>Clustering Profiling — Exercises</vt:lpstr>
      <vt:lpstr>E1 Solution — Step 1: a(i) and b(i)</vt:lpstr>
      <vt:lpstr>E1 Solution — Step 2: The Silhouette s(i)</vt:lpstr>
      <vt:lpstr>E2 Solution — Step 1: Standardise the Gaps</vt:lpstr>
      <vt:lpstr>E2 Solution — Step 2: The Distinctive Feature</vt:lpstr>
      <vt:lpstr>E3 Solution — Step 1: The Two Mean Squares</vt:lpstr>
      <vt:lpstr>E3 Solution — Step 2: F and the Verdict</vt:lpstr>
      <vt:lpstr>Choosing a Method</vt:lpstr>
      <vt:lpstr>From Clusters to Personas: Naming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160</cp:revision>
  <dcterms:created xsi:type="dcterms:W3CDTF">2018-06-07T21:39:02Z</dcterms:created>
  <dcterms:modified xsi:type="dcterms:W3CDTF">2026-08-03T20:43:55Z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