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16"/>
  </p:notesMasterIdLst>
  <p:sldIdLst>
    <p:sldId id="591" r:id="rId90"/>
    <p:sldId id="592" r:id="rId91"/>
    <p:sldId id="448" r:id="rId6"/>
    <p:sldId id="593" r:id="rId92"/>
    <p:sldId id="447" r:id="rId7"/>
    <p:sldId id="594" r:id="rId93"/>
    <p:sldId id="446" r:id="rId8"/>
    <p:sldId id="595" r:id="rId94"/>
    <p:sldId id="490" r:id="rId9"/>
    <p:sldId id="596" r:id="rId95"/>
    <p:sldId id="434" r:id="rId10"/>
    <p:sldId id="597" r:id="rId96"/>
    <p:sldId id="492" r:id="rId11"/>
    <p:sldId id="598" r:id="rId97"/>
    <p:sldId id="437" r:id="rId12"/>
    <p:sldId id="599" r:id="rId98"/>
    <p:sldId id="438" r:id="rId13"/>
    <p:sldId id="600" r:id="rId99"/>
    <p:sldId id="430" r:id="rId14"/>
    <p:sldId id="601" r:id="rId100"/>
    <p:sldId id="440" r:id="rId15"/>
    <p:sldId id="602" r:id="rId101"/>
    <p:sldId id="494" r:id="rId16"/>
    <p:sldId id="603" r:id="rId102"/>
    <p:sldId id="496" r:id="rId17"/>
    <p:sldId id="604" r:id="rId103"/>
    <p:sldId id="498" r:id="rId18"/>
    <p:sldId id="605" r:id="rId104"/>
    <p:sldId id="499" r:id="rId19"/>
    <p:sldId id="606" r:id="rId105"/>
    <p:sldId id="500" r:id="rId20"/>
    <p:sldId id="607" r:id="rId106"/>
    <p:sldId id="501" r:id="rId21"/>
    <p:sldId id="608" r:id="rId107"/>
    <p:sldId id="502" r:id="rId22"/>
    <p:sldId id="609" r:id="rId108"/>
    <p:sldId id="441" r:id="rId23"/>
    <p:sldId id="610" r:id="rId109"/>
    <p:sldId id="442" r:id="rId24"/>
    <p:sldId id="611" r:id="rId110"/>
    <p:sldId id="443" r:id="rId25"/>
    <p:sldId id="612" r:id="rId111"/>
    <p:sldId id="524" r:id="rId26"/>
    <p:sldId id="613" r:id="rId112"/>
    <p:sldId id="526" r:id="rId27"/>
    <p:sldId id="614" r:id="rId113"/>
    <p:sldId id="528" r:id="rId28"/>
    <p:sldId id="615" r:id="rId114"/>
    <p:sldId id="530" r:id="rId29"/>
    <p:sldId id="616" r:id="rId115"/>
    <p:sldId id="509" r:id="rId30"/>
    <p:sldId id="617" r:id="rId89"/>
    <p:sldId id="531" r:id="rId31"/>
    <p:sldId id="618" r:id="rId88"/>
    <p:sldId id="533" r:id="rId32"/>
    <p:sldId id="619" r:id="rId87"/>
    <p:sldId id="538" r:id="rId33"/>
    <p:sldId id="620" r:id="rId86"/>
    <p:sldId id="537" r:id="rId34"/>
    <p:sldId id="621" r:id="rId5"/>
    <p:sldId id="539" r:id="rId35"/>
    <p:sldId id="622" r:id="rId121"/>
    <p:sldId id="541" r:id="rId36"/>
    <p:sldId id="623" r:id="rId122"/>
    <p:sldId id="543" r:id="rId37"/>
    <p:sldId id="624" r:id="rId123"/>
    <p:sldId id="545" r:id="rId38"/>
    <p:sldId id="625" r:id="rId124"/>
    <p:sldId id="445" r:id="rId39"/>
    <p:sldId id="626" r:id="rId125"/>
    <p:sldId id="547" r:id="rId40"/>
    <p:sldId id="627" r:id="rId126"/>
    <p:sldId id="549" r:id="rId41"/>
    <p:sldId id="628" r:id="rId127"/>
    <p:sldId id="551" r:id="rId42"/>
    <p:sldId id="629" r:id="rId128"/>
    <p:sldId id="553" r:id="rId43"/>
    <p:sldId id="630" r:id="rId129"/>
    <p:sldId id="555" r:id="rId44"/>
    <p:sldId id="631" r:id="rId130"/>
    <p:sldId id="557" r:id="rId45"/>
    <p:sldId id="632" r:id="rId131"/>
    <p:sldId id="559" r:id="rId46"/>
    <p:sldId id="633" r:id="rId132"/>
    <p:sldId id="561" r:id="rId47"/>
    <p:sldId id="634" r:id="rId133"/>
    <p:sldId id="563" r:id="rId48"/>
    <p:sldId id="635" r:id="rId134"/>
    <p:sldId id="456" r:id="rId49"/>
    <p:sldId id="636" r:id="rId135"/>
    <p:sldId id="449" r:id="rId50"/>
    <p:sldId id="637" r:id="rId136"/>
    <p:sldId id="513" r:id="rId51"/>
    <p:sldId id="638" r:id="rId137"/>
    <p:sldId id="450" r:id="rId52"/>
    <p:sldId id="639" r:id="rId138"/>
    <p:sldId id="514" r:id="rId53"/>
    <p:sldId id="640" r:id="rId139"/>
    <p:sldId id="515" r:id="rId54"/>
    <p:sldId id="641" r:id="rId140"/>
    <p:sldId id="516" r:id="rId55"/>
    <p:sldId id="642" r:id="rId141"/>
    <p:sldId id="517" r:id="rId56"/>
    <p:sldId id="643" r:id="rId142"/>
    <p:sldId id="518" r:id="rId57"/>
    <p:sldId id="644" r:id="rId143"/>
    <p:sldId id="451" r:id="rId58"/>
    <p:sldId id="645" r:id="rId144"/>
    <p:sldId id="564" r:id="rId59"/>
    <p:sldId id="646" r:id="rId145"/>
    <p:sldId id="566" r:id="rId60"/>
    <p:sldId id="647" r:id="rId146"/>
    <p:sldId id="568" r:id="rId61"/>
    <p:sldId id="648" r:id="rId147"/>
    <p:sldId id="569" r:id="rId62"/>
    <p:sldId id="649" r:id="rId148"/>
    <p:sldId id="571" r:id="rId63"/>
    <p:sldId id="650" r:id="rId149"/>
    <p:sldId id="572" r:id="rId64"/>
    <p:sldId id="651" r:id="rId150"/>
    <p:sldId id="574" r:id="rId65"/>
    <p:sldId id="652" r:id="rId151"/>
    <p:sldId id="576" r:id="rId66"/>
    <p:sldId id="653" r:id="rId152"/>
    <p:sldId id="589" r:id="rId67"/>
    <p:sldId id="654" r:id="rId153"/>
    <p:sldId id="590" r:id="rId68"/>
    <p:sldId id="655" r:id="rId154"/>
    <p:sldId id="581" r:id="rId69"/>
    <p:sldId id="656" r:id="rId155"/>
    <p:sldId id="583" r:id="rId70"/>
    <p:sldId id="657" r:id="rId156"/>
    <p:sldId id="585" r:id="rId71"/>
    <p:sldId id="658" r:id="rId157"/>
    <p:sldId id="586" r:id="rId72"/>
    <p:sldId id="659" r:id="rId158"/>
    <p:sldId id="588" r:id="rId73"/>
    <p:sldId id="660" r:id="rId159"/>
    <p:sldId id="453" r:id="rId74"/>
    <p:sldId id="661" r:id="rId160"/>
    <p:sldId id="454" r:id="rId75"/>
    <p:sldId id="662" r:id="rId161"/>
    <p:sldId id="455" r:id="rId76"/>
    <p:sldId id="663" r:id="rId162"/>
    <p:sldId id="302" r:id="rId77"/>
    <p:sldId id="664" r:id="rId163"/>
    <p:sldId id="457" r:id="rId78"/>
    <p:sldId id="665" r:id="rId164"/>
    <p:sldId id="458" r:id="rId79"/>
    <p:sldId id="666" r:id="rId165"/>
    <p:sldId id="459" r:id="rId80"/>
    <p:sldId id="667" r:id="rId166"/>
    <p:sldId id="460" r:id="rId81"/>
    <p:sldId id="668" r:id="rId167"/>
    <p:sldId id="461" r:id="rId82"/>
    <p:sldId id="669" r:id="rId168"/>
    <p:sldId id="462" r:id="rId83"/>
    <p:sldId id="670" r:id="rId169"/>
    <p:sldId id="463" r:id="rId84"/>
    <p:sldId id="671" r:id="rId170"/>
    <p:sldId id="464" r:id="rId85"/>
    <p:sldId id="672" r:id="rId1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E83"/>
    <a:srgbClr val="D1578A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/>
    <p:restoredTop sz="93827"/>
  </p:normalViewPr>
  <p:slideViewPr>
    <p:cSldViewPr snapToGrid="0" snapToObjects="1">
      <p:cViewPr varScale="1">
        <p:scale>
          <a:sx n="125" d="100"/>
          <a:sy n="125" d="100"/>
        </p:scale>
        <p:origin x="16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1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110.xml"/><Relationship Id="rId87" Type="http://schemas.openxmlformats.org/officeDocument/2006/relationships/slide" Target="slides/slide109.xml"/><Relationship Id="rId88" Type="http://schemas.openxmlformats.org/officeDocument/2006/relationships/slide" Target="slides/slide108.xml"/><Relationship Id="rId89" Type="http://schemas.openxmlformats.org/officeDocument/2006/relationships/slide" Target="slides/slide107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slide" Target="slides/slide88.xml"/><Relationship Id="rId98" Type="http://schemas.openxmlformats.org/officeDocument/2006/relationships/slide" Target="slides/slide89.xml"/><Relationship Id="rId99" Type="http://schemas.openxmlformats.org/officeDocument/2006/relationships/slide" Target="slides/slide90.xml"/><Relationship Id="rId100" Type="http://schemas.openxmlformats.org/officeDocument/2006/relationships/slide" Target="slides/slide91.xml"/><Relationship Id="rId101" Type="http://schemas.openxmlformats.org/officeDocument/2006/relationships/slide" Target="slides/slide92.xml"/><Relationship Id="rId102" Type="http://schemas.openxmlformats.org/officeDocument/2006/relationships/slide" Target="slides/slide93.xml"/><Relationship Id="rId103" Type="http://schemas.openxmlformats.org/officeDocument/2006/relationships/slide" Target="slides/slide94.xml"/><Relationship Id="rId104" Type="http://schemas.openxmlformats.org/officeDocument/2006/relationships/slide" Target="slides/slide95.xml"/><Relationship Id="rId105" Type="http://schemas.openxmlformats.org/officeDocument/2006/relationships/slide" Target="slides/slide96.xml"/><Relationship Id="rId106" Type="http://schemas.openxmlformats.org/officeDocument/2006/relationships/slide" Target="slides/slide97.xml"/><Relationship Id="rId107" Type="http://schemas.openxmlformats.org/officeDocument/2006/relationships/slide" Target="slides/slide98.xml"/><Relationship Id="rId108" Type="http://schemas.openxmlformats.org/officeDocument/2006/relationships/slide" Target="slides/slide99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5" Type="http://schemas.openxmlformats.org/officeDocument/2006/relationships/slide" Target="slides/slide126.xml"/><Relationship Id="rId136" Type="http://schemas.openxmlformats.org/officeDocument/2006/relationships/slide" Target="slides/slide127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42" Type="http://schemas.openxmlformats.org/officeDocument/2006/relationships/slide" Target="slides/slide133.xml"/><Relationship Id="rId143" Type="http://schemas.openxmlformats.org/officeDocument/2006/relationships/slide" Target="slides/slide134.xml"/><Relationship Id="rId144" Type="http://schemas.openxmlformats.org/officeDocument/2006/relationships/slide" Target="slides/slide135.xml"/><Relationship Id="rId145" Type="http://schemas.openxmlformats.org/officeDocument/2006/relationships/slide" Target="slides/slide136.xml"/><Relationship Id="rId146" Type="http://schemas.openxmlformats.org/officeDocument/2006/relationships/slide" Target="slides/slide137.xml"/><Relationship Id="rId147" Type="http://schemas.openxmlformats.org/officeDocument/2006/relationships/slide" Target="slides/slide138.xml"/><Relationship Id="rId148" Type="http://schemas.openxmlformats.org/officeDocument/2006/relationships/slide" Target="slides/slide139.xml"/><Relationship Id="rId149" Type="http://schemas.openxmlformats.org/officeDocument/2006/relationships/slide" Target="slides/slide140.xml"/><Relationship Id="rId150" Type="http://schemas.openxmlformats.org/officeDocument/2006/relationships/slide" Target="slides/slide141.xml"/><Relationship Id="rId151" Type="http://schemas.openxmlformats.org/officeDocument/2006/relationships/slide" Target="slides/slide142.xml"/><Relationship Id="rId152" Type="http://schemas.openxmlformats.org/officeDocument/2006/relationships/slide" Target="slides/slide143.xml"/><Relationship Id="rId153" Type="http://schemas.openxmlformats.org/officeDocument/2006/relationships/slide" Target="slides/slide144.xml"/><Relationship Id="rId154" Type="http://schemas.openxmlformats.org/officeDocument/2006/relationships/slide" Target="slides/slide145.xml"/><Relationship Id="rId155" Type="http://schemas.openxmlformats.org/officeDocument/2006/relationships/slide" Target="slides/slide146.xml"/><Relationship Id="rId156" Type="http://schemas.openxmlformats.org/officeDocument/2006/relationships/slide" Target="slides/slide147.xml"/><Relationship Id="rId157" Type="http://schemas.openxmlformats.org/officeDocument/2006/relationships/slide" Target="slides/slide148.xml"/><Relationship Id="rId158" Type="http://schemas.openxmlformats.org/officeDocument/2006/relationships/slide" Target="slides/slide149.xml"/><Relationship Id="rId159" Type="http://schemas.openxmlformats.org/officeDocument/2006/relationships/slide" Target="slides/slide150.xml"/><Relationship Id="rId160" Type="http://schemas.openxmlformats.org/officeDocument/2006/relationships/slide" Target="slides/slide151.xml"/><Relationship Id="rId161" Type="http://schemas.openxmlformats.org/officeDocument/2006/relationships/slide" Target="slides/slide152.xml"/><Relationship Id="rId162" Type="http://schemas.openxmlformats.org/officeDocument/2006/relationships/slide" Target="slides/slide153.xml"/><Relationship Id="rId163" Type="http://schemas.openxmlformats.org/officeDocument/2006/relationships/slide" Target="slides/slide154.xml"/><Relationship Id="rId164" Type="http://schemas.openxmlformats.org/officeDocument/2006/relationships/slide" Target="slides/slide155.xml"/><Relationship Id="rId165" Type="http://schemas.openxmlformats.org/officeDocument/2006/relationships/slide" Target="slides/slide156.xml"/><Relationship Id="rId166" Type="http://schemas.openxmlformats.org/officeDocument/2006/relationships/slide" Target="slides/slide157.xml"/><Relationship Id="rId167" Type="http://schemas.openxmlformats.org/officeDocument/2006/relationships/slide" Target="slides/slide158.xml"/><Relationship Id="rId168" Type="http://schemas.openxmlformats.org/officeDocument/2006/relationships/slide" Target="slides/slide159.xml"/><Relationship Id="rId169" Type="http://schemas.openxmlformats.org/officeDocument/2006/relationships/slide" Target="slides/slide160.xml"/><Relationship Id="rId170" Type="http://schemas.openxmlformats.org/officeDocument/2006/relationships/slide" Target="slides/slide161.xml"/><Relationship Id="rId171" Type="http://schemas.openxmlformats.org/officeDocument/2006/relationships/slide" Target="slides/slide16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Inertia J vs. k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J(k)</c:v>
          </c:tx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strLit>
          </c:cat>
          <c:val>
            <c:numLit>
              <c:formatCode>General</c:formatCode>
              <c:ptCount val="6"/>
              <c:pt idx="0">
                <c:v>820</c:v>
              </c:pt>
              <c:pt idx="1">
                <c:v>340</c:v>
              </c:pt>
              <c:pt idx="2">
                <c:v>95</c:v>
              </c:pt>
              <c:pt idx="3">
                <c:v>78</c:v>
              </c:pt>
              <c:pt idx="4">
                <c:v>64</c:v>
              </c:pt>
              <c:pt idx="5">
                <c:v>55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C17-B242-BD8D-663844BBD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87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9" r:id="rId4"/>
    <p:sldLayoutId id="2147483740" r:id="rId5"/>
    <p:sldLayoutId id="2147483741" r:id="rId6"/>
    <p:sldLayoutId id="214748374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0.png"/><Relationship Id="rId3" Type="http://schemas.openxmlformats.org/officeDocument/2006/relationships/image" Target="../media/image3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0.png"/><Relationship Id="rId3" Type="http://schemas.openxmlformats.org/officeDocument/2006/relationships/image" Target="../media/image380.png"/><Relationship Id="rId4" Type="http://schemas.openxmlformats.org/officeDocument/2006/relationships/image" Target="../media/image39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420.png"/><Relationship Id="rId4" Type="http://schemas.openxmlformats.org/officeDocument/2006/relationships/image" Target="../media/image4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0.png"/><Relationship Id="rId3" Type="http://schemas.openxmlformats.org/officeDocument/2006/relationships/image" Target="../media/image450.png"/><Relationship Id="rId4" Type="http://schemas.openxmlformats.org/officeDocument/2006/relationships/image" Target="../media/image460.png"/><Relationship Id="rId5" Type="http://schemas.openxmlformats.org/officeDocument/2006/relationships/image" Target="../media/image47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0.png"/><Relationship Id="rId3" Type="http://schemas.openxmlformats.org/officeDocument/2006/relationships/image" Target="../media/image49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png"/><Relationship Id="rId3" Type="http://schemas.openxmlformats.org/officeDocument/2006/relationships/chart" Target="../charts/char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0.png"/><Relationship Id="rId3" Type="http://schemas.openxmlformats.org/officeDocument/2006/relationships/image" Target="../media/image54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0.png"/><Relationship Id="rId3" Type="http://schemas.openxmlformats.org/officeDocument/2006/relationships/image" Target="../media/image560.png"/><Relationship Id="rId4" Type="http://schemas.openxmlformats.org/officeDocument/2006/relationships/image" Target="../media/image57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0.png"/><Relationship Id="rId3" Type="http://schemas.openxmlformats.org/officeDocument/2006/relationships/image" Target="../media/image59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0.png"/><Relationship Id="rId3" Type="http://schemas.openxmlformats.org/officeDocument/2006/relationships/image" Target="../media/image610.png"/><Relationship Id="rId4" Type="http://schemas.openxmlformats.org/officeDocument/2006/relationships/image" Target="../media/image620.png"/><Relationship Id="rId5" Type="http://schemas.openxmlformats.org/officeDocument/2006/relationships/image" Target="../media/image63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0.png"/><Relationship Id="rId3" Type="http://schemas.openxmlformats.org/officeDocument/2006/relationships/image" Target="../media/image660.png"/><Relationship Id="rId4" Type="http://schemas.openxmlformats.org/officeDocument/2006/relationships/image" Target="../media/image6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0.png"/><Relationship Id="rId3" Type="http://schemas.openxmlformats.org/officeDocument/2006/relationships/image" Target="../media/image69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0.png"/><Relationship Id="rId3" Type="http://schemas.openxmlformats.org/officeDocument/2006/relationships/image" Target="../media/image72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F5A8-3D66-39AA-C0FB-6C6F8A4F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Roadmap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31EDFC-AE34-914A-B76F-E80BDA52C870}"/>
              </a:ext>
            </a:extLst>
          </p:cNvPr>
          <p:cNvSpPr/>
          <p:nvPr/>
        </p:nvSpPr>
        <p:spPr>
          <a:xfrm>
            <a:off x="838200" y="18796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31A6DE-09B9-9A40-A953-A515B07C1602}"/>
              </a:ext>
            </a:extLst>
          </p:cNvPr>
          <p:cNvSpPr/>
          <p:nvPr/>
        </p:nvSpPr>
        <p:spPr>
          <a:xfrm>
            <a:off x="1016000" y="2070100"/>
            <a:ext cx="635000" cy="635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579302-D2BF-FF4F-8098-5AE688162E7A}"/>
                  </a:ext>
                </a:extLst>
              </p:cNvPr>
              <p:cNvSpPr txBox="1"/>
              <p:nvPr/>
            </p:nvSpPr>
            <p:spPr>
              <a:xfrm>
                <a:off x="1828800" y="21259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Foundations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Clusters, distance, norms, the data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X</a:t>
                    </a:r>
                  </mc:Fallback>
                </mc:AlternateContent>
                <a:endParaRPr lang="en-US" sz="12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579302-D2BF-FF4F-8098-5AE688162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125990"/>
                <a:ext cx="3975100" cy="523220"/>
              </a:xfrm>
              <a:prstGeom prst="rect">
                <a:avLst/>
              </a:prstGeom>
              <a:blipFill>
                <a:blip r:embed="rId2"/>
                <a:stretch>
                  <a:fillRect l="-958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6554B3-DC40-1647-8314-FB760FBF9978}"/>
              </a:ext>
            </a:extLst>
          </p:cNvPr>
          <p:cNvSpPr/>
          <p:nvPr/>
        </p:nvSpPr>
        <p:spPr>
          <a:xfrm>
            <a:off x="6210300" y="18796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13741F-CF40-2847-B9DA-DFA5ED06C120}"/>
              </a:ext>
            </a:extLst>
          </p:cNvPr>
          <p:cNvSpPr/>
          <p:nvPr/>
        </p:nvSpPr>
        <p:spPr>
          <a:xfrm>
            <a:off x="6388100" y="2070100"/>
            <a:ext cx="635000" cy="6350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FE5BD-C7C9-3F4D-A601-2E80328620E7}"/>
              </a:ext>
            </a:extLst>
          </p:cNvPr>
          <p:cNvSpPr txBox="1"/>
          <p:nvPr/>
        </p:nvSpPr>
        <p:spPr>
          <a:xfrm>
            <a:off x="7200900" y="19812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K-Means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Centroids, WCSS, Lloyd's algorithm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BAE748-4989-DA4C-BDDA-C6DE3BF345A5}"/>
              </a:ext>
            </a:extLst>
          </p:cNvPr>
          <p:cNvSpPr/>
          <p:nvPr/>
        </p:nvSpPr>
        <p:spPr>
          <a:xfrm>
            <a:off x="838200" y="29972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560163-FC0B-B24C-A93D-0B0ED692559C}"/>
              </a:ext>
            </a:extLst>
          </p:cNvPr>
          <p:cNvSpPr/>
          <p:nvPr/>
        </p:nvSpPr>
        <p:spPr>
          <a:xfrm>
            <a:off x="1016000" y="3187700"/>
            <a:ext cx="635000" cy="6350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ADE7F8-2EBE-314D-9C4B-C4F8401BA070}"/>
              </a:ext>
            </a:extLst>
          </p:cNvPr>
          <p:cNvSpPr txBox="1"/>
          <p:nvPr/>
        </p:nvSpPr>
        <p:spPr>
          <a:xfrm>
            <a:off x="1828800" y="30988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7AB648"/>
                </a:solidFill>
                <a:latin typeface="Arial"/>
              </a:rPr>
              <a:t>Hierarchical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Dendrograms, linkage, Lance-Williams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B5F3ECE-58FF-804C-A7AD-844A8BF6A465}"/>
              </a:ext>
            </a:extLst>
          </p:cNvPr>
          <p:cNvSpPr/>
          <p:nvPr/>
        </p:nvSpPr>
        <p:spPr>
          <a:xfrm>
            <a:off x="6210300" y="29972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DB6B99-A17B-0847-A1C6-53C1AAA655B3}"/>
              </a:ext>
            </a:extLst>
          </p:cNvPr>
          <p:cNvSpPr/>
          <p:nvPr/>
        </p:nvSpPr>
        <p:spPr>
          <a:xfrm>
            <a:off x="6388100" y="3187700"/>
            <a:ext cx="635000" cy="6350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3C9A1-74DD-F84C-9CDF-A3850C2C31A8}"/>
              </a:ext>
            </a:extLst>
          </p:cNvPr>
          <p:cNvSpPr txBox="1"/>
          <p:nvPr/>
        </p:nvSpPr>
        <p:spPr>
          <a:xfrm>
            <a:off x="7200900" y="30988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85754D"/>
                </a:solidFill>
                <a:latin typeface="Arial"/>
              </a:rPr>
              <a:t>DBSCAN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Density, neighborhoods, reachability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1C5B4FC-2F91-E746-9F75-13BFA0BF6D3B}"/>
              </a:ext>
            </a:extLst>
          </p:cNvPr>
          <p:cNvSpPr/>
          <p:nvPr/>
        </p:nvSpPr>
        <p:spPr>
          <a:xfrm>
            <a:off x="838200" y="41148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ADDD0C-ED2B-3042-ABAE-E19AF3FE7FD5}"/>
              </a:ext>
            </a:extLst>
          </p:cNvPr>
          <p:cNvSpPr/>
          <p:nvPr/>
        </p:nvSpPr>
        <p:spPr>
          <a:xfrm>
            <a:off x="1016000" y="4305300"/>
            <a:ext cx="635000" cy="6350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8484E-AEFE-844A-A8CA-9B6D6C1EABE6}"/>
                  </a:ext>
                </a:extLst>
              </p:cNvPr>
              <p:cNvSpPr txBox="1"/>
              <p:nvPr/>
            </p:nvSpPr>
            <p:spPr>
              <a:xfrm>
                <a:off x="1828800" y="43611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t-SNE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P</a:t>
                    </a:r>
                  </mc:Fallback>
                </mc:AlternateContent>
                <a:r>
                  <a:rPr lang="en-US" sz="1200" dirty="0">
                    <a:solidFill>
                      <a:srgbClr val="595959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Q</a:t>
                    </a:r>
                  </mc:Fallback>
                </mc:AlternateContent>
                <a:r>
                  <a:rPr lang="en-US" sz="1200" dirty="0">
                    <a:solidFill>
                      <a:srgbClr val="595959"/>
                    </a:solidFill>
                  </a:rPr>
                  <a:t>, KL divergence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8484E-AEFE-844A-A8CA-9B6D6C1E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361190"/>
                <a:ext cx="3975100" cy="523220"/>
              </a:xfrm>
              <a:prstGeom prst="rect">
                <a:avLst/>
              </a:prstGeom>
              <a:blipFill>
                <a:blip r:embed="rId3"/>
                <a:stretch>
                  <a:fillRect l="-958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4AB70F-4E26-4947-9D77-B33F80EF1D33}"/>
              </a:ext>
            </a:extLst>
          </p:cNvPr>
          <p:cNvSpPr/>
          <p:nvPr/>
        </p:nvSpPr>
        <p:spPr>
          <a:xfrm>
            <a:off x="6210300" y="41148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7266D4-C9D5-754C-B172-D1083507B7BE}"/>
              </a:ext>
            </a:extLst>
          </p:cNvPr>
          <p:cNvSpPr/>
          <p:nvPr/>
        </p:nvSpPr>
        <p:spPr>
          <a:xfrm>
            <a:off x="6388100" y="4305300"/>
            <a:ext cx="635000" cy="6350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F3D01D-B223-384E-87FA-643C285E9EF2}"/>
                  </a:ext>
                </a:extLst>
              </p:cNvPr>
              <p:cNvSpPr txBox="1"/>
              <p:nvPr/>
            </p:nvSpPr>
            <p:spPr>
              <a:xfrm>
                <a:off x="7200900" y="43611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  <a:latin typeface="Arial"/>
                  </a:rPr>
                  <a:t>UMAP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Fuzzy simplicial sets, graph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A</a:t>
                    </a:r>
                  </mc:Fallback>
                </mc:AlternateContent>
                <a:endParaRPr lang="en-US" sz="12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F3D01D-B223-384E-87FA-643C285E9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4361190"/>
                <a:ext cx="3975100" cy="523220"/>
              </a:xfrm>
              <a:prstGeom prst="rect">
                <a:avLst/>
              </a:prstGeom>
              <a:blipFill>
                <a:blip r:embed="rId4"/>
                <a:stretch>
                  <a:fillRect l="-637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6445ED-31AF-154C-AB85-A01A191DD434}"/>
              </a:ext>
            </a:extLst>
          </p:cNvPr>
          <p:cNvSpPr/>
          <p:nvPr/>
        </p:nvSpPr>
        <p:spPr>
          <a:xfrm>
            <a:off x="838200" y="52324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6F841C-B184-814F-868C-C4F79AD28F3B}"/>
              </a:ext>
            </a:extLst>
          </p:cNvPr>
          <p:cNvSpPr/>
          <p:nvPr/>
        </p:nvSpPr>
        <p:spPr>
          <a:xfrm>
            <a:off x="1016000" y="5422900"/>
            <a:ext cx="635000" cy="635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39781-5FBA-D74C-875D-A4AADBD8877C}"/>
              </a:ext>
            </a:extLst>
          </p:cNvPr>
          <p:cNvSpPr txBox="1"/>
          <p:nvPr/>
        </p:nvSpPr>
        <p:spPr>
          <a:xfrm>
            <a:off x="1828800" y="53340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4B2E83"/>
                </a:solidFill>
                <a:latin typeface="Arial"/>
              </a:rPr>
              <a:t>Profiling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Cluster means, silhouette, validation</a:t>
            </a:r>
          </a:p>
        </p:txBody>
      </p:sp>
    </p:spTree>
    <p:extLst>
      <p:ext uri="{BB962C8B-B14F-4D97-AF65-F5344CB8AC3E}">
        <p14:creationId xmlns:p14="http://schemas.microsoft.com/office/powerpoint/2010/main" val="290322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1E38AC-9949-3E4E-B35B-8604197723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4E220-8D4E-C74D-B8DC-098ED743938C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B7F2F-6DBD-4A46-A4AA-6107B9D44DB2}"/>
              </a:ext>
            </a:extLst>
          </p:cNvPr>
          <p:cNvSpPr txBox="1"/>
          <p:nvPr/>
        </p:nvSpPr>
        <p:spPr>
          <a:xfrm>
            <a:off x="15240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D19A5-6DFB-D54B-A3C3-AC9970866096}"/>
              </a:ext>
            </a:extLst>
          </p:cNvPr>
          <p:cNvSpPr txBox="1"/>
          <p:nvPr/>
        </p:nvSpPr>
        <p:spPr>
          <a:xfrm>
            <a:off x="1498600" y="3492500"/>
            <a:ext cx="914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Foundations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028DF-44FF-1148-9FC3-1D9F8DF4696A}"/>
                  </a:ext>
                </a:extLst>
              </p:cNvPr>
              <p:cNvSpPr txBox="1"/>
              <p:nvPr/>
            </p:nvSpPr>
            <p:spPr>
              <a:xfrm>
                <a:off x="1524000" y="4699000"/>
                <a:ext cx="9144000" cy="4308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2200" dirty="0">
                    <a:solidFill>
                      <a:srgbClr val="F5F0EB"/>
                    </a:solidFill>
                    <a:latin typeface="Calibri"/>
                    <a:cs typeface="Calibri"/>
                  </a:rPr>
                  <a:t>Clusters, distance metrics, norms, and the data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22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2200">
                        <a:solidFill>
                          <a:srgbClr val="F5F0EB"/>
                        </a:solidFill>
                      </a:rPr>
                      <a:t>X</a:t>
                    </a:r>
                  </mc:Fallback>
                </mc:AlternateContent>
                <a:endParaRPr lang="en-US" sz="2200" dirty="0">
                  <a:solidFill>
                    <a:srgbClr val="F5F0EB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028DF-44FF-1148-9FC3-1D9F8DF46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699000"/>
                <a:ext cx="9144000" cy="430887"/>
              </a:xfrm>
              <a:prstGeom prst="rect">
                <a:avLst/>
              </a:prstGeom>
              <a:blipFill>
                <a:blip r:embed="rId2"/>
                <a:stretch>
                  <a:fillRect l="-971" t="-1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08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9547-5519-9079-DA11-2628D1F3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Cluster?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6B85C4-C281-ED4E-A42E-E6CD3296271A}"/>
              </a:ext>
            </a:extLst>
          </p:cNvPr>
          <p:cNvSpPr/>
          <p:nvPr/>
        </p:nvSpPr>
        <p:spPr>
          <a:xfrm>
            <a:off x="838200" y="1905000"/>
            <a:ext cx="54610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516B3-E8B1-A04D-9DB6-AFC3D1CEEE70}"/>
                  </a:ext>
                </a:extLst>
              </p:cNvPr>
              <p:cNvSpPr txBox="1"/>
              <p:nvPr/>
            </p:nvSpPr>
            <p:spPr>
              <a:xfrm>
                <a:off x="1092200" y="2235200"/>
                <a:ext cx="4953000" cy="27607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2200" b="1" dirty="0">
                    <a:solidFill>
                      <a:srgbClr val="4B2E83"/>
                    </a:solidFill>
                    <a:latin typeface="Arial"/>
                  </a:rPr>
                  <a:t>Definition</a:t>
                </a: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 cluster is a subset of observations similar to one another and dissimilar to observations in other subsets.</a:t>
                </a:r>
              </a:p>
              <a:p>
                <a:pPr>
                  <a:buNone/>
                </a:pPr>
                <a:endParaRPr lang="en-US" sz="1200"/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Given the data matrix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 …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nor/>
                            </m:rPr>
                            <a:rPr lang="en-US" sz="22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9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 clustering is a partition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of the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row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516B3-E8B1-A04D-9DB6-AFC3D1CE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2235200"/>
                <a:ext cx="4953000" cy="2760756"/>
              </a:xfrm>
              <a:prstGeom prst="rect">
                <a:avLst/>
              </a:prstGeom>
              <a:blipFill>
                <a:blip r:embed="rId2"/>
                <a:stretch>
                  <a:fillRect l="-1276" t="-1835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DE840302-B41E-9E44-AB4D-FC5DA3F5E961}"/>
              </a:ext>
            </a:extLst>
          </p:cNvPr>
          <p:cNvSpPr/>
          <p:nvPr/>
        </p:nvSpPr>
        <p:spPr>
          <a:xfrm>
            <a:off x="7620000" y="26670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79C999-30AE-1F44-BC95-5EBA603CE11B}"/>
              </a:ext>
            </a:extLst>
          </p:cNvPr>
          <p:cNvSpPr/>
          <p:nvPr/>
        </p:nvSpPr>
        <p:spPr>
          <a:xfrm>
            <a:off x="7848600" y="27940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D3E66A-142E-1645-B1F8-F7CA33EA9249}"/>
              </a:ext>
            </a:extLst>
          </p:cNvPr>
          <p:cNvSpPr/>
          <p:nvPr/>
        </p:nvSpPr>
        <p:spPr>
          <a:xfrm>
            <a:off x="7721600" y="29718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821877-ECD0-BE4D-90A3-D045EDF984AD}"/>
              </a:ext>
            </a:extLst>
          </p:cNvPr>
          <p:cNvSpPr/>
          <p:nvPr/>
        </p:nvSpPr>
        <p:spPr>
          <a:xfrm>
            <a:off x="7950200" y="30226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745DAD-FCB9-0B41-AAE2-6439164CD894}"/>
              </a:ext>
            </a:extLst>
          </p:cNvPr>
          <p:cNvSpPr/>
          <p:nvPr/>
        </p:nvSpPr>
        <p:spPr>
          <a:xfrm>
            <a:off x="7543800" y="28702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21A51D-9CD2-BF40-A8B0-B8DAFE00034E}"/>
              </a:ext>
            </a:extLst>
          </p:cNvPr>
          <p:cNvSpPr/>
          <p:nvPr/>
        </p:nvSpPr>
        <p:spPr>
          <a:xfrm>
            <a:off x="7797800" y="25654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725204-A5BF-B74C-833C-DE80FE26C66A}"/>
              </a:ext>
            </a:extLst>
          </p:cNvPr>
          <p:cNvSpPr/>
          <p:nvPr/>
        </p:nvSpPr>
        <p:spPr>
          <a:xfrm>
            <a:off x="9652000" y="2540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331E4E-72B1-4848-8A07-FBE8F55FE6BF}"/>
              </a:ext>
            </a:extLst>
          </p:cNvPr>
          <p:cNvSpPr/>
          <p:nvPr/>
        </p:nvSpPr>
        <p:spPr>
          <a:xfrm>
            <a:off x="9880600" y="2667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E56F6F-7EA8-BA4C-981E-2BB73929C886}"/>
              </a:ext>
            </a:extLst>
          </p:cNvPr>
          <p:cNvSpPr/>
          <p:nvPr/>
        </p:nvSpPr>
        <p:spPr>
          <a:xfrm>
            <a:off x="9753600" y="28448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56255E-25D6-214D-95E0-BCD1D934E831}"/>
              </a:ext>
            </a:extLst>
          </p:cNvPr>
          <p:cNvSpPr/>
          <p:nvPr/>
        </p:nvSpPr>
        <p:spPr>
          <a:xfrm>
            <a:off x="9982200" y="28956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FAEDEE-1640-C749-B9CD-9B5765DC9EC9}"/>
              </a:ext>
            </a:extLst>
          </p:cNvPr>
          <p:cNvSpPr/>
          <p:nvPr/>
        </p:nvSpPr>
        <p:spPr>
          <a:xfrm>
            <a:off x="9575800" y="27432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CE80A9-E092-5144-A91F-73BC007DEA38}"/>
              </a:ext>
            </a:extLst>
          </p:cNvPr>
          <p:cNvSpPr/>
          <p:nvPr/>
        </p:nvSpPr>
        <p:spPr>
          <a:xfrm>
            <a:off x="9829800" y="2438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5F4F0E-C83F-D74E-8D9A-6288E3960FA7}"/>
              </a:ext>
            </a:extLst>
          </p:cNvPr>
          <p:cNvSpPr/>
          <p:nvPr/>
        </p:nvSpPr>
        <p:spPr>
          <a:xfrm>
            <a:off x="8636000" y="4572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44FF02-E3AF-6F47-8E9A-BFE00EC34AB8}"/>
              </a:ext>
            </a:extLst>
          </p:cNvPr>
          <p:cNvSpPr/>
          <p:nvPr/>
        </p:nvSpPr>
        <p:spPr>
          <a:xfrm>
            <a:off x="8864600" y="4699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78C15D-A925-4048-B40F-FE5E267A1A9B}"/>
              </a:ext>
            </a:extLst>
          </p:cNvPr>
          <p:cNvSpPr/>
          <p:nvPr/>
        </p:nvSpPr>
        <p:spPr>
          <a:xfrm>
            <a:off x="8737600" y="48768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D0A208-1F46-B040-91E2-E63CC0DAE4AA}"/>
              </a:ext>
            </a:extLst>
          </p:cNvPr>
          <p:cNvSpPr/>
          <p:nvPr/>
        </p:nvSpPr>
        <p:spPr>
          <a:xfrm>
            <a:off x="8966200" y="49276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8C1027-0D1C-CE43-A504-B63E082549CF}"/>
              </a:ext>
            </a:extLst>
          </p:cNvPr>
          <p:cNvSpPr/>
          <p:nvPr/>
        </p:nvSpPr>
        <p:spPr>
          <a:xfrm>
            <a:off x="8559800" y="47752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B796E2-FB99-4F46-9947-E4D7A496D718}"/>
              </a:ext>
            </a:extLst>
          </p:cNvPr>
          <p:cNvSpPr/>
          <p:nvPr/>
        </p:nvSpPr>
        <p:spPr>
          <a:xfrm>
            <a:off x="8813800" y="4470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8C6657-DB9F-8442-B9EB-242BEF647DB1}"/>
              </a:ext>
            </a:extLst>
          </p:cNvPr>
          <p:cNvSpPr txBox="1"/>
          <p:nvPr/>
        </p:nvSpPr>
        <p:spPr>
          <a:xfrm>
            <a:off x="6858000" y="5461000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Three clusters in feature space: points within a group are close; groups are far apart.</a:t>
            </a:r>
          </a:p>
        </p:txBody>
      </p:sp>
    </p:spTree>
    <p:extLst>
      <p:ext uri="{BB962C8B-B14F-4D97-AF65-F5344CB8AC3E}">
        <p14:creationId xmlns:p14="http://schemas.microsoft.com/office/powerpoint/2010/main" val="79458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7778-58EE-23A1-FEEB-01F50045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4" y="-457200"/>
            <a:ext cx="3932237" cy="1600200"/>
          </a:xfrm>
        </p:spPr>
        <p:txBody>
          <a:bodyPr/>
          <a:lstStyle/>
          <a:p>
            <a:r>
              <a:rPr lang="en-US" dirty="0"/>
              <a:t>Example: People, Features &amp; Clusters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C5A5E7-3A32-584C-AF3E-328DDE093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12924"/>
              </p:ext>
            </p:extLst>
          </p:nvPr>
        </p:nvGraphicFramePr>
        <p:xfrm>
          <a:off x="1905000" y="2006600"/>
          <a:ext cx="8382000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93473812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812206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25999033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95294006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4595643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Person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Income (k€)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 Score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02646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C₁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554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Ben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C₁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56445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Cara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C₂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092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Dan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C₂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759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Eli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C₃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3325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Fay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54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C₃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865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01FCD9A-D610-584D-A19B-57691D63400F}"/>
              </a:ext>
            </a:extLst>
          </p:cNvPr>
          <p:cNvSpPr txBox="1"/>
          <p:nvPr/>
        </p:nvSpPr>
        <p:spPr>
          <a:xfrm>
            <a:off x="1905000" y="5461000"/>
            <a:ext cx="83820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Each row is a person (observation); the feature columns form the data matrix X. People sharing a cluster have similar feature values — and differ from people in other clusters.</a:t>
            </a:r>
          </a:p>
        </p:txBody>
      </p:sp>
    </p:spTree>
    <p:extLst>
      <p:ext uri="{BB962C8B-B14F-4D97-AF65-F5344CB8AC3E}">
        <p14:creationId xmlns:p14="http://schemas.microsoft.com/office/powerpoint/2010/main" val="3226624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BD5F-5957-A394-C2A3-FDF2EB5B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as a Partition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12CC45-0B08-E649-8D60-27DC654DF75E}"/>
              </a:ext>
            </a:extLst>
          </p:cNvPr>
          <p:cNvSpPr/>
          <p:nvPr/>
        </p:nvSpPr>
        <p:spPr>
          <a:xfrm>
            <a:off x="838200" y="1905000"/>
            <a:ext cx="105156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163B9A-7643-954A-A4BE-D85F30027081}"/>
                  </a:ext>
                </a:extLst>
              </p:cNvPr>
              <p:cNvSpPr txBox="1"/>
              <p:nvPr/>
            </p:nvSpPr>
            <p:spPr>
              <a:xfrm>
                <a:off x="1143000" y="2184400"/>
                <a:ext cx="9906000" cy="267150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A hard clustering of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points into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groups is a partition 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 satisfying: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Coverage: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∪…∪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 (every point assigned)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Disjoint: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for all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 (no overlap)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Non-empty: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for all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9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900" dirty="0"/>
              </a:p>
              <a:p>
                <a:pPr>
                  <a:buNone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Assignment matrix.  </a:t>
                </a:r>
                <a:r>
                  <a:rPr lang="en-US" sz="1900" dirty="0">
                    <a:solidFill>
                      <a:srgbClr val="333333"/>
                    </a:solidFill>
                  </a:rPr>
                  <a:t>Encode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as a binary matrix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 Each row of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sums to 1: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Soft clustering relaxes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(responsibilities), rows still sum to 1.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163B9A-7643-954A-A4BE-D85F3002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184400"/>
                <a:ext cx="9906000" cy="2671501"/>
              </a:xfrm>
              <a:prstGeom prst="rect">
                <a:avLst/>
              </a:prstGeom>
              <a:blipFill>
                <a:blip r:embed="rId2"/>
                <a:stretch>
                  <a:fillRect l="-768" t="-943" r="-384" b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35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6409-13F4-CA71-CDF5-78C776D5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09" y="-546100"/>
            <a:ext cx="10515600" cy="1320800"/>
          </a:xfrm>
        </p:spPr>
        <p:txBody>
          <a:bodyPr/>
          <a:lstStyle/>
          <a:p>
            <a:r>
              <a:rPr lang="en-US" dirty="0"/>
              <a:t>Exercise: Is It a Valid Clustering?</a:t>
            </a:r>
          </a:p>
        </p:txBody>
      </p:sp>
      <p:sp>
        <p:nvSpPr>
          <p:cNvPr id="100" name="Instruction"/>
          <p:cNvSpPr txBox="1"/>
          <p:nvPr/>
        </p:nvSpPr>
        <p:spPr>
          <a:xfrm>
            <a:off x="209909" y="8382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595959"/>
                </a:solidFill>
                <a:latin typeface="Calibri"/>
              </a:rPr>
              <a:t>For each candidate C, decide whether it is a valid hard clustering of {x₁,…,x₆}.  (Click to reveal each solution.)</a:t>
            </a:r>
          </a:p>
        </p:txBody>
      </p:sp>
      <p:sp>
        <p:nvSpPr>
          <p:cNvPr id="101" name="Exercise (a)"/>
          <p:cNvSpPr/>
          <p:nvPr/>
        </p:nvSpPr>
        <p:spPr>
          <a:xfrm>
            <a:off x="744747" y="15642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(a)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C₁={x₁,x₂},  C₂={x₃,x₄},  C₃={x₅,x₆}</a:t>
            </a:r>
          </a:p>
        </p:txBody>
      </p:sp>
      <p:sp>
        <p:nvSpPr>
          <p:cNvPr id="201" name="Solution (a)"/>
          <p:cNvSpPr/>
          <p:nvPr/>
        </p:nvSpPr>
        <p:spPr>
          <a:xfrm>
            <a:off x="6904247" y="15642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7AB648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✓ 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covers all 6 · disjoint · none empty</a:t>
            </a:r>
          </a:p>
        </p:txBody>
      </p:sp>
      <p:sp>
        <p:nvSpPr>
          <p:cNvPr id="102" name="Exercise (b)"/>
          <p:cNvSpPr/>
          <p:nvPr/>
        </p:nvSpPr>
        <p:spPr>
          <a:xfrm>
            <a:off x="744747" y="26691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(b)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C₁={x₁,x₂,x₃},  C₂={x₃,x₄,x₅,x₆}</a:t>
            </a:r>
          </a:p>
        </p:txBody>
      </p:sp>
      <p:sp>
        <p:nvSpPr>
          <p:cNvPr id="202" name="Solution (b)"/>
          <p:cNvSpPr/>
          <p:nvPr/>
        </p:nvSpPr>
        <p:spPr>
          <a:xfrm>
            <a:off x="6904247" y="26691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Disjoint fails:  x₃ ∈ C₁ ∩ C₂</a:t>
            </a:r>
          </a:p>
        </p:txBody>
      </p:sp>
      <p:sp>
        <p:nvSpPr>
          <p:cNvPr id="103" name="Exercise (c)"/>
          <p:cNvSpPr/>
          <p:nvPr/>
        </p:nvSpPr>
        <p:spPr>
          <a:xfrm>
            <a:off x="744747" y="37740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(c)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C₁={x₁,x₂},  C₂={x₄,x₅,x₆}</a:t>
            </a:r>
          </a:p>
        </p:txBody>
      </p:sp>
      <p:sp>
        <p:nvSpPr>
          <p:cNvPr id="203" name="Solution (c)"/>
          <p:cNvSpPr/>
          <p:nvPr/>
        </p:nvSpPr>
        <p:spPr>
          <a:xfrm>
            <a:off x="6904247" y="37740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Coverage fails:  x₃ unassigned</a:t>
            </a:r>
          </a:p>
        </p:txBody>
      </p:sp>
      <p:sp>
        <p:nvSpPr>
          <p:cNvPr id="104" name="Exercise (d)"/>
          <p:cNvSpPr/>
          <p:nvPr/>
        </p:nvSpPr>
        <p:spPr>
          <a:xfrm>
            <a:off x="744747" y="48789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(d)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C₁={x₁,…,x₆},  C₂=∅</a:t>
            </a:r>
          </a:p>
        </p:txBody>
      </p:sp>
      <p:sp>
        <p:nvSpPr>
          <p:cNvPr id="204" name="Solution (d)"/>
          <p:cNvSpPr/>
          <p:nvPr/>
        </p:nvSpPr>
        <p:spPr>
          <a:xfrm>
            <a:off x="6904247" y="48789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Non-empty fails:  C₂ = ∅</a:t>
            </a:r>
          </a:p>
        </p:txBody>
      </p:sp>
    </p:spTree>
    <p:extLst>
      <p:ext uri="{BB962C8B-B14F-4D97-AF65-F5344CB8AC3E}">
        <p14:creationId xmlns:p14="http://schemas.microsoft.com/office/powerpoint/2010/main" val="156993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2" grpId="0" animBg="1"/>
      <p:bldP spid="203" grpId="0" animBg="1"/>
      <p:bldP spid="20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9DCE-B7EE-1082-04B8-27F48671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Data Matrix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D0465B-4C4F-8A4C-A2E1-E15FBA0AF544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080000" cy="23008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All clustering begins with the data matrix: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Rows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=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observations.  Row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is the feature vector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9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9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m:rPr>
                                <m:nor/>
                              </m:rPr>
                              <a:rPr lang="en-US" sz="19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xᵢᵀ ∈ ℝᵈ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Columns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=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features (dimensions).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Entry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xᵢⱼ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is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of observation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Clustering groups the </a:t>
                </a:r>
                <a:r>
                  <a:rPr lang="en-US" sz="1900" b="1" dirty="0">
                    <a:solidFill>
                      <a:srgbClr val="4B2E83"/>
                    </a:solidFill>
                  </a:rPr>
                  <a:t>rows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of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X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by the geometry of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ℝᵈ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D0465B-4C4F-8A4C-A2E1-E15FBA0A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080000" cy="2300886"/>
              </a:xfrm>
              <a:prstGeom prst="rect">
                <a:avLst/>
              </a:prstGeom>
              <a:blipFill>
                <a:blip r:embed="rId2"/>
                <a:stretch>
                  <a:fillRect l="-1247" t="-1648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2C061F-9F55-6E48-8034-42B764BD05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69000" y="2349500"/>
              <a:ext cx="4826000" cy="223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102353587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390207998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029638107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038762642"/>
                        </a:ext>
                      </a:extLst>
                    </a:gridCol>
                  </a:tblGrid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001025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2441076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⋱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129633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663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2C061F-9F55-6E48-8034-42B764BD05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69000" y="2349500"/>
              <a:ext cx="4826000" cy="223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102353587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390207998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029638107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038762642"/>
                        </a:ext>
                      </a:extLst>
                    </a:gridCol>
                  </a:tblGrid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2273" r="-303158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2273" r="-203158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2273" r="-3158" b="-3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001025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102273" r="-30315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102273" r="-20315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102273" r="-3158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2441076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⋱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129633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302273" r="-303158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302273" r="-203158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302273" r="-3158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6635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1E7EF7-F088-0C43-B7B8-71B049220275}"/>
                  </a:ext>
                </a:extLst>
              </p:cNvPr>
              <p:cNvSpPr txBox="1"/>
              <p:nvPr/>
            </p:nvSpPr>
            <p:spPr>
              <a:xfrm>
                <a:off x="5969000" y="5143500"/>
                <a:ext cx="5080000" cy="35856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X ∈ ℝⁿˣᵈ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(n rows = observations,  d cols = features)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1E7EF7-F088-0C43-B7B8-71B04922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5143500"/>
                <a:ext cx="5080000" cy="358560"/>
              </a:xfrm>
              <a:prstGeom prst="rect">
                <a:avLst/>
              </a:prstGeom>
              <a:blipFill>
                <a:blip r:embed="rId4"/>
                <a:stretch>
                  <a:fillRect t="-68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73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5FD1-C7D8-90B4-FB83-90BFDEB5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Distance Matters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DDAC2-6965-B847-BD09-0631262D41BC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7683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Every clustering algorithm answers one question: how close are two observations?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Closeness is measured by a distance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on the rows of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The choice of distance defines the shape of clusters: spherical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), axis-aligned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), correlation-aware (Mahalanobis).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Change the metric and you change the clusters — the data does not change, the geometry does.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DDAC2-6965-B847-BD09-0631262D4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768322"/>
              </a:xfrm>
              <a:prstGeom prst="rect">
                <a:avLst/>
              </a:prstGeom>
              <a:blipFill>
                <a:blip r:embed="rId2"/>
                <a:stretch>
                  <a:fillRect l="-909" t="-1370" r="-1591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1965D8-E325-004C-9925-AF270E117614}"/>
              </a:ext>
            </a:extLst>
          </p:cNvPr>
          <p:cNvSpPr/>
          <p:nvPr/>
        </p:nvSpPr>
        <p:spPr>
          <a:xfrm>
            <a:off x="6477000" y="2032000"/>
            <a:ext cx="4876800" cy="3683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AF4F3B-8168-404C-AEBE-6D57752AC886}"/>
                  </a:ext>
                </a:extLst>
              </p:cNvPr>
              <p:cNvSpPr txBox="1"/>
              <p:nvPr/>
            </p:nvSpPr>
            <p:spPr>
              <a:xfrm>
                <a:off x="6705600" y="3057892"/>
                <a:ext cx="4419600" cy="16312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Arial"/>
                  </a:rPr>
                  <a:t>The central object</a:t>
                </a:r>
              </a:p>
              <a:p>
                <a:pPr>
                  <a:buNone/>
                </a:pPr>
                <a:endParaRPr lang="en-US" sz="6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F5F0EB"/>
                    </a:solidFill>
                  </a:rPr>
                  <a:t>A metric satisfies: non-negativity, identity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F5F0EB"/>
                    </a:solidFill>
                  </a:rPr>
                  <a:t>, symmetry, and the triangle inequality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F5F0EB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AF4F3B-8168-404C-AEBE-6D57752AC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3057892"/>
                <a:ext cx="4419600" cy="1631216"/>
              </a:xfrm>
              <a:prstGeom prst="rect">
                <a:avLst/>
              </a:prstGeom>
              <a:blipFill>
                <a:blip r:embed="rId3"/>
                <a:stretch>
                  <a:fillRect l="-1146" t="-769" r="-287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48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D288-A352-763D-1A31-B06529E0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Metrics &amp; Norms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78DF3-4EEA-064D-959F-C80BC8B684FD}"/>
              </a:ext>
            </a:extLst>
          </p:cNvPr>
          <p:cNvSpPr/>
          <p:nvPr/>
        </p:nvSpPr>
        <p:spPr>
          <a:xfrm>
            <a:off x="838200" y="19050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99F08-4C09-AA43-9428-128B7BDB35D9}"/>
                  </a:ext>
                </a:extLst>
              </p:cNvPr>
              <p:cNvSpPr txBox="1"/>
              <p:nvPr/>
            </p:nvSpPr>
            <p:spPr>
              <a:xfrm>
                <a:off x="1016000" y="20066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</a:rPr>
                  <a:t>Euclidean  (L₂)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18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Straight-line distance; spherical clusters.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99F08-4C09-AA43-9428-128B7BDB3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06600"/>
                <a:ext cx="4787900" cy="1031051"/>
              </a:xfrm>
              <a:prstGeom prst="rect">
                <a:avLst/>
              </a:prstGeom>
              <a:blipFill>
                <a:blip r:embed="rId2"/>
                <a:stretch>
                  <a:fillRect l="-1061" t="-48193" b="-1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D4D8BE-B7B6-C64D-BF16-428DB22D29A0}"/>
              </a:ext>
            </a:extLst>
          </p:cNvPr>
          <p:cNvSpPr/>
          <p:nvPr/>
        </p:nvSpPr>
        <p:spPr>
          <a:xfrm>
            <a:off x="6210300" y="19050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A03F21-A667-D343-9A73-6EAE23C31DF5}"/>
                  </a:ext>
                </a:extLst>
              </p:cNvPr>
              <p:cNvSpPr txBox="1"/>
              <p:nvPr/>
            </p:nvSpPr>
            <p:spPr>
              <a:xfrm>
                <a:off x="6388100" y="20066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00A7B5"/>
                    </a:solidFill>
                    <a:latin typeface="Arial"/>
                  </a:rPr>
                  <a:t>Manhattan  (L₁)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Grid distance; robust to outliers.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A03F21-A667-D343-9A73-6EAE23C31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2006600"/>
                <a:ext cx="4787900" cy="1031051"/>
              </a:xfrm>
              <a:prstGeom prst="rect">
                <a:avLst/>
              </a:prstGeom>
              <a:blipFill>
                <a:blip r:embed="rId3"/>
                <a:stretch>
                  <a:fillRect l="-796" t="-55422" b="-13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BF86A8-4483-C344-92D0-C172294F95CB}"/>
              </a:ext>
            </a:extLst>
          </p:cNvPr>
          <p:cNvSpPr/>
          <p:nvPr/>
        </p:nvSpPr>
        <p:spPr>
          <a:xfrm>
            <a:off x="838200" y="41148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52777-2781-2142-B2D7-E6539950A6D7}"/>
                  </a:ext>
                </a:extLst>
              </p:cNvPr>
              <p:cNvSpPr txBox="1"/>
              <p:nvPr/>
            </p:nvSpPr>
            <p:spPr>
              <a:xfrm>
                <a:off x="1016000" y="42164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7AB648"/>
                    </a:solidFill>
                    <a:latin typeface="Arial"/>
                  </a:rPr>
                  <a:t>Chebyshev  (L∞)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333333"/>
                              </a:solidFill>
                            </a:rPr>
                            <m:t>max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Dominant-coordinate distance.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52777-2781-2142-B2D7-E6539950A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216400"/>
                <a:ext cx="4787900" cy="1031051"/>
              </a:xfrm>
              <a:prstGeom prst="rect">
                <a:avLst/>
              </a:prstGeom>
              <a:blipFill>
                <a:blip r:embed="rId4"/>
                <a:stretch>
                  <a:fillRect l="-1061" t="-2439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8DDEF1-86F8-7C44-9951-3507C8F5B27F}"/>
              </a:ext>
            </a:extLst>
          </p:cNvPr>
          <p:cNvSpPr/>
          <p:nvPr/>
        </p:nvSpPr>
        <p:spPr>
          <a:xfrm>
            <a:off x="6210300" y="41148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9B90C-8507-3348-9646-C9E296363878}"/>
                  </a:ext>
                </a:extLst>
              </p:cNvPr>
              <p:cNvSpPr txBox="1"/>
              <p:nvPr/>
            </p:nvSpPr>
            <p:spPr>
              <a:xfrm>
                <a:off x="6388100" y="42164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D1578A"/>
                    </a:solidFill>
                    <a:latin typeface="Arial"/>
                  </a:rPr>
                  <a:t>Mahalanobis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>
                                  <a:solidFill>
                                    <a:srgbClr val="333333"/>
                                  </a:solidFill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Scales by covariance S; correlation-aware.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9B90C-8507-3348-9646-C9E296363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4216400"/>
                <a:ext cx="4787900" cy="1031051"/>
              </a:xfrm>
              <a:prstGeom prst="rect">
                <a:avLst/>
              </a:prstGeom>
              <a:blipFill>
                <a:blip r:embed="rId5"/>
                <a:stretch>
                  <a:fillRect l="-796" t="-2439" b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34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8058-D674-7C24-DA36-33762F1B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Distance Matrix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67404-D105-4740-87BD-50B8E1C53F80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207000" cy="291727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From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we build the pairwise distance matrix:</a:t>
                </a:r>
              </a:p>
              <a:p>
                <a:pPr>
                  <a:buNone/>
                </a:pPr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endParaRPr lang="en-US" sz="4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Symmetric: 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70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, 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Zero diagonal: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Stores all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pairwise distances — input to hierarchical clustering and DBSCAN.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m:rPr>
                            <m:nor/>
                          </m:rPr>
                          <a:rPr lang="en-US" sz="170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 (the Gram matrix trick).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67404-D105-4740-87BD-50B8E1C53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207000" cy="2917273"/>
              </a:xfrm>
              <a:prstGeom prst="rect">
                <a:avLst/>
              </a:prstGeom>
              <a:blipFill>
                <a:blip r:embed="rId2"/>
                <a:stretch>
                  <a:fillRect l="-973" t="-870"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ADC1F8-9EE4-FB49-98F2-84E8F7A27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4590184"/>
                  </p:ext>
                </p:extLst>
              </p:nvPr>
            </p:nvGraphicFramePr>
            <p:xfrm>
              <a:off x="6172200" y="2286000"/>
              <a:ext cx="5080000" cy="264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2016037658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413600512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503525069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1096409705"/>
                        </a:ext>
                      </a:extLst>
                    </a:gridCol>
                  </a:tblGrid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45382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21928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212509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8697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ADC1F8-9EE4-FB49-98F2-84E8F7A27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4590184"/>
                  </p:ext>
                </p:extLst>
              </p:nvPr>
            </p:nvGraphicFramePr>
            <p:xfrm>
              <a:off x="6172200" y="2286000"/>
              <a:ext cx="5080000" cy="264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2016037658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413600512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503525069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1096409705"/>
                        </a:ext>
                      </a:extLst>
                    </a:gridCol>
                  </a:tblGrid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923" r="-3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1923" r="-2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1923" r="-1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1923" r="-3000" b="-3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45382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01923" r="-3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101923" r="-2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101923" r="-1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101923" r="-3000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21928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201923" r="-3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201923" r="-2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201923" r="-1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201923" r="-3000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212509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301923" r="-3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301923" r="-2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301923" r="-1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301923" r="-3000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8697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743C2-8E9A-0D44-8520-9675CB068007}"/>
                  </a:ext>
                </a:extLst>
              </p:cNvPr>
              <p:cNvSpPr txBox="1"/>
              <p:nvPr/>
            </p:nvSpPr>
            <p:spPr>
              <a:xfrm>
                <a:off x="6172200" y="5080000"/>
                <a:ext cx="5080000" cy="37279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rgbClr val="595959"/>
                    </a:solidFill>
                    <a:latin typeface="Calibri"/>
                  </a:rPr>
                  <a:t>  is symmetric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595959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rgbClr val="595959"/>
                    </a:solidFill>
                    <a:latin typeface="Calibri"/>
                  </a:rPr>
                  <a:t>) with zero diagonal.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743C2-8E9A-0D44-8520-9675CB068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080000"/>
                <a:ext cx="5080000" cy="372794"/>
              </a:xfrm>
              <a:prstGeom prst="rect">
                <a:avLst/>
              </a:prstGeom>
              <a:blipFill>
                <a:blip r:embed="rId4"/>
                <a:stretch>
                  <a:fillRect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86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20B4-4DD9-F13B-EEF9-2A2D6390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Squared Distances: The Gram Matrix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Body"/>
              <p:cNvSpPr txBox="1"/>
              <p:nvPr/>
            </p:nvSpPr>
            <p:spPr>
              <a:xfrm>
                <a:off x="838200" y="1905000"/>
                <a:ext cx="10515600" cy="431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rtlCol="0" anchor="t">
                <a:norm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For the squared L₂ distance, expand the Euclidean norm: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  <m:sup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3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3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nor/>
                            </m:rPr>
                            <a:rPr lang="en-US" sz="23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Collect every inner product into the Gram matrix </a:t>
                </a:r>
                <a:r>
                  <a:rPr lang="en-US" sz="1700" b="1" dirty="0">
                    <a:solidFill>
                      <a:srgbClr val="333333"/>
                    </a:solidFill>
                  </a:rPr>
                  <a:t>G = XXᵀ</a:t>
                </a:r>
                <a:r>
                  <a:rPr lang="en-US" sz="1700" dirty="0">
                    <a:solidFill>
                      <a:srgbClr val="333333"/>
                    </a:solidFill>
                  </a:rPr>
                  <a:t>,  with entry Gᵢⱼ = xᵢᵀxⱼ: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3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Diagonal of G holds the squared norms:  ‖xᵢ‖² = Gᵢᵢ.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All n² squared distances come from one matrix product XXᵀ — vectorized and BLAS-fast.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Matrix form:  D² = g·1ᵀ + 1·gᵀ − 2G,  where g = diag(G).</a:t>
                </a:r>
              </a:p>
            </p:txBody>
          </p:sp>
        </mc:Choice>
        <mc:Fallback xmlns="">
          <p:sp>
            <p:nvSpPr>
              <p:cNvPr id="50" name="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4318000"/>
              </a:xfrm>
              <a:prstGeom prst="rect">
                <a:avLst/>
              </a:prstGeom>
              <a:blipFill>
                <a:blip r:embed="rId2"/>
                <a:stretch>
                  <a:fillRect l="-1327" t="-17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84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61AF-AE7B-0421-F860-073849D9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Example: A Distance via the Gram Trick</a:t>
            </a:r>
          </a:p>
        </p:txBody>
      </p:sp>
      <p:sp>
        <p:nvSpPr>
          <p:cNvPr id="60" name="Problem"/>
          <p:cNvSpPr txBox="1"/>
          <p:nvPr/>
        </p:nvSpPr>
        <p:spPr>
          <a:xfrm>
            <a:off x="838200" y="1905000"/>
            <a:ext cx="10515600" cy="11684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13716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Problem.  </a:t>
            </a:r>
            <a:r>
              <a:rPr lang="en-US" sz="1700" dirty="0">
                <a:solidFill>
                  <a:srgbClr val="333333"/>
                </a:solidFill>
              </a:rPr>
              <a:t>Given xᵢ = (3, 4) and xⱼ = (0, 1) in ℝ², compute D²ᵢⱼ with the Gram trick.</a:t>
            </a:r>
          </a:p>
          <a:p>
            <a:pPr>
              <a:buNone/>
            </a:pPr>
            <a:r>
              <a:rPr lang="en-US" sz="1500" i="1" dirty="0">
                <a:solidFill>
                  <a:srgbClr val="595959"/>
                </a:solidFill>
              </a:rPr>
              <a:t>Click to reveal the solution.</a:t>
            </a:r>
          </a:p>
        </p:txBody>
      </p:sp>
      <p:sp>
        <p:nvSpPr>
          <p:cNvPr id="201" name="Solution Steps"/>
          <p:cNvSpPr txBox="1"/>
          <p:nvPr/>
        </p:nvSpPr>
        <p:spPr>
          <a:xfrm>
            <a:off x="838200" y="3327400"/>
            <a:ext cx="7061200" cy="269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2E83"/>
            </a:solidFill>
          </a:ln>
        </p:spPr>
        <p:txBody>
          <a:bodyPr lIns="137160" tIns="91440" rIns="91440" bIns="45720" rtlCol="0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Solution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‖xᵢ‖² = 3² + 4² = 25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‖xⱼ‖² = 0² + 1² = 1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xᵢᵀxⱼ = 3·0 + 4·1 = 4</a:t>
            </a:r>
          </a:p>
          <a:p>
            <a:pPr>
              <a:buNone/>
            </a:pPr>
            <a:r>
              <a:rPr lang="en-US" sz="1800" b="1" dirty="0">
                <a:solidFill>
                  <a:srgbClr val="4B2E83"/>
                </a:solidFill>
              </a:rPr>
              <a:t>D²ᵢⱼ = 25 + 1 − 2·4 = 18</a:t>
            </a:r>
          </a:p>
        </p:txBody>
      </p:sp>
      <p:sp>
        <p:nvSpPr>
          <p:cNvPr id="202" name="Answer"/>
          <p:cNvSpPr txBox="1"/>
          <p:nvPr/>
        </p:nvSpPr>
        <p:spPr>
          <a:xfrm>
            <a:off x="8204200" y="3327400"/>
            <a:ext cx="3149600" cy="2692400"/>
          </a:xfrm>
          <a:prstGeom prst="roundRect">
            <a:avLst>
              <a:gd name="adj" fmla="val 8000"/>
            </a:avLst>
          </a:prstGeom>
          <a:solidFill>
            <a:srgbClr val="4B2E83"/>
          </a:solidFill>
          <a:ln>
            <a:noFill/>
          </a:ln>
        </p:spPr>
        <p:txBody>
          <a:bodyPr lIns="45720" tIns="45720" rIns="45720" bIns="45720" rtlCol="0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B7A57A"/>
                </a:solidFill>
              </a:rPr>
              <a:t>Result</a:t>
            </a:r>
          </a:p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D²ᵢⱼ = 18</a:t>
            </a:r>
          </a:p>
          <a:p>
            <a:pPr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Dᵢⱼ = √18 ≈ 4.24</a:t>
            </a:r>
          </a:p>
        </p:txBody>
      </p:sp>
    </p:spTree>
    <p:extLst>
      <p:ext uri="{BB962C8B-B14F-4D97-AF65-F5344CB8AC3E}">
        <p14:creationId xmlns:p14="http://schemas.microsoft.com/office/powerpoint/2010/main" val="19739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F99A-DA37-E201-A8C7-ABDBA7B6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Exercise: Build the Distance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C450D-1E03-CB43-A55E-EF5DB99615C6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33528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4006717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2318916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991748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101704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7584041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4656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31884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1179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971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15925"/>
                  </a:ext>
                </a:extLst>
              </a:tr>
            </a:tbl>
          </a:graphicData>
        </a:graphic>
      </p:graphicFrame>
      <p:sp>
        <p:nvSpPr>
          <p:cNvPr id="60" name="Problem"/>
          <p:cNvSpPr txBox="1"/>
          <p:nvPr/>
        </p:nvSpPr>
        <p:spPr>
          <a:xfrm>
            <a:off x="838200" y="1905000"/>
            <a:ext cx="10515600" cy="11684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13716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Problem.  </a:t>
            </a:r>
            <a:r>
              <a:rPr lang="en-US" sz="1700" dirty="0">
                <a:solidFill>
                  <a:srgbClr val="333333"/>
                </a:solidFill>
              </a:rPr>
              <a:t>For the four points below in ℝ², build the 4×4 Euclidean distance matrix D.</a:t>
            </a:r>
          </a:p>
          <a:p>
            <a:pPr>
              <a:buNone/>
            </a:pPr>
            <a:r>
              <a:rPr lang="en-US" sz="1500" i="1" dirty="0">
                <a:solidFill>
                  <a:srgbClr val="595959"/>
                </a:solidFill>
              </a:rPr>
              <a:t>Click to reveal the solution.</a:t>
            </a:r>
          </a:p>
        </p:txBody>
      </p:sp>
      <p:sp>
        <p:nvSpPr>
          <p:cNvPr id="61" name="Points"/>
          <p:cNvSpPr txBox="1"/>
          <p:nvPr/>
        </p:nvSpPr>
        <p:spPr>
          <a:xfrm>
            <a:off x="838200" y="3352800"/>
            <a:ext cx="482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2E83"/>
            </a:solidFill>
          </a:ln>
        </p:spPr>
        <p:txBody>
          <a:bodyPr lIns="137160" tIns="82296" rIns="91440" bIns="45720" rtlCol="0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Points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a = (0, 0)  b = (3, 0)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c = (0, 4)  d = (3, 4)</a:t>
            </a:r>
          </a:p>
          <a:p>
            <a:pPr>
              <a:buNone/>
            </a:pPr>
            <a:r>
              <a:rPr lang="en-US" sz="1600" i="1" dirty="0">
                <a:solidFill>
                  <a:srgbClr val="595959"/>
                </a:solidFill>
              </a:rPr>
              <a:t>Recall:  Dᵢⱼ = ‖xᵢ − xⱼ‖</a:t>
            </a:r>
          </a:p>
        </p:txBody>
      </p:sp>
    </p:spTree>
    <p:extLst>
      <p:ext uri="{BB962C8B-B14F-4D97-AF65-F5344CB8AC3E}">
        <p14:creationId xmlns:p14="http://schemas.microsoft.com/office/powerpoint/2010/main" val="10026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9D12-B5D9-0C5B-33E3-4F6BF852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1: Squared Norms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4E01F0-CC43-014C-B2C6-9910AA3362C0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For L₂ (Gram trick):   D²ᵢⱼ = ‖xᵢ‖² + ‖xⱼ‖² − 2 xᵢᵀ xⱼ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12F093-890F-0844-8046-D18976C60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294862"/>
              </p:ext>
            </p:extLst>
          </p:nvPr>
        </p:nvGraphicFramePr>
        <p:xfrm>
          <a:off x="2921000" y="3200400"/>
          <a:ext cx="6350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0842351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730347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83940408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Point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xᵢ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‖xᵢ‖²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9916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(0, 0)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0² + 0²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65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(3, 0)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3² + 0² = 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6395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(0, 4)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0² + 4² =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493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(3, 4)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3² + 4² = 25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8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736432-7207-1F46-9FFF-EFC8FFF94CEB}"/>
              </a:ext>
            </a:extLst>
          </p:cNvPr>
          <p:cNvSpPr txBox="1"/>
          <p:nvPr/>
        </p:nvSpPr>
        <p:spPr>
          <a:xfrm>
            <a:off x="2921000" y="57150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These four values become the diagonal of the Gram matrix G.</a:t>
            </a:r>
          </a:p>
        </p:txBody>
      </p:sp>
    </p:spTree>
    <p:extLst>
      <p:ext uri="{BB962C8B-B14F-4D97-AF65-F5344CB8AC3E}">
        <p14:creationId xmlns:p14="http://schemas.microsoft.com/office/powerpoint/2010/main" val="1536453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0453-196D-1FF4-A339-716557BE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2: Gram Matrix G = XXᵀ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B8FF4C-9C99-E34E-AA04-AFA0A1BD4382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For L₂ (Gram trick):   D²ᵢⱼ = ‖xᵢ‖² + ‖xⱼ‖² − 2 xᵢᵀ xⱼ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98CA4-90D3-2B4E-8685-CB9A70FB7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582621"/>
              </p:ext>
            </p:extLst>
          </p:nvPr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5541175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15894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8118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605631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1590357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3323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12255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6085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97207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6919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6CEE3E-54BB-EE4B-83F7-6C1540BA29E9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Gᵢⱼ = xᵢᵀ xⱼ — its diagonal equals the squared norms ‖xᵢ‖² from Step 1.</a:t>
            </a:r>
          </a:p>
        </p:txBody>
      </p:sp>
    </p:spTree>
    <p:extLst>
      <p:ext uri="{BB962C8B-B14F-4D97-AF65-F5344CB8AC3E}">
        <p14:creationId xmlns:p14="http://schemas.microsoft.com/office/powerpoint/2010/main" val="289641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08D1-BD8C-BBA9-E055-F8C0CE2A8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3: Squared Distances D²ᵢⱼ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D35C873-0BF6-C74D-9FBF-500D795E59D7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For L₂ (Gram trick):   D²ᵢⱼ = ‖xᵢ‖² + ‖xⱼ‖² − 2 xᵢᵀ xⱼ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1166C1-9FC8-8140-99CB-0AA2DB130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32411"/>
              </p:ext>
            </p:extLst>
          </p:nvPr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10354723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122263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7715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448036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8138539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3706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6694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9041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36543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5765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B40E12-4876-2447-BFEF-58BD8BBB90DD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D²ᵢⱼ = ‖xᵢ‖² + ‖xⱼ‖² − 2Gᵢⱼ.   e.g.  D²(b,d) = 9 + 25 − 2(9) = 16.</a:t>
            </a:r>
          </a:p>
        </p:txBody>
      </p:sp>
    </p:spTree>
    <p:extLst>
      <p:ext uri="{BB962C8B-B14F-4D97-AF65-F5344CB8AC3E}">
        <p14:creationId xmlns:p14="http://schemas.microsoft.com/office/powerpoint/2010/main" val="1274200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F39B-E99A-DBDA-1DFC-E1E4DDA6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4: Distance Matrix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83939E-9B94-7C45-A6B5-35BCB1730E48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Take entrywise square roots:   Dᵢⱼ = √(D²ᵢⱼ)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6EEABB-A048-3A49-98E3-DAA10FA7D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42621"/>
              </p:ext>
            </p:extLst>
          </p:nvPr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1744349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9793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821417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08251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0866321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8612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3348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0571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460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3440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80F182-EE74-F144-B2A4-29FBB90951E5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Symmetric with zero diagonal — the 3-4-5 rectangle. This matches the exercise answer.</a:t>
            </a:r>
          </a:p>
        </p:txBody>
      </p:sp>
    </p:spTree>
    <p:extLst>
      <p:ext uri="{BB962C8B-B14F-4D97-AF65-F5344CB8AC3E}">
        <p14:creationId xmlns:p14="http://schemas.microsoft.com/office/powerpoint/2010/main" val="2663469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1611-118A-1DF7-4581-76D69AF3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vs. Dissimilarity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FEADBB-8213-224E-B629-8C1C4935DF41}"/>
              </a:ext>
            </a:extLst>
          </p:cNvPr>
          <p:cNvSpPr/>
          <p:nvPr/>
        </p:nvSpPr>
        <p:spPr>
          <a:xfrm>
            <a:off x="838200" y="1905000"/>
            <a:ext cx="51435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700B-85F3-CD47-94F6-95D9D93F2077}"/>
                  </a:ext>
                </a:extLst>
              </p:cNvPr>
              <p:cNvSpPr txBox="1"/>
              <p:nvPr/>
            </p:nvSpPr>
            <p:spPr>
              <a:xfrm>
                <a:off x="1066800" y="2082800"/>
                <a:ext cx="4724400" cy="215417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b="1" dirty="0">
                    <a:solidFill>
                      <a:srgbClr val="00A7B5"/>
                    </a:solidFill>
                    <a:latin typeface="Arial"/>
                  </a:rPr>
                  <a:t>Dissimilarity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00A7B5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900" i="1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900" b="1" dirty="0">
                  <a:solidFill>
                    <a:srgbClr val="00A7B5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700"/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Small when points are alike, large when different.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Cosine distance: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Used directly by hierarchical clustering, DBSCAN.</a:t>
                </a: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≥0, 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700B-85F3-CD47-94F6-95D9D93F2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82800"/>
                <a:ext cx="4724400" cy="2154179"/>
              </a:xfrm>
              <a:prstGeom prst="rect">
                <a:avLst/>
              </a:prstGeom>
              <a:blipFill>
                <a:blip r:embed="rId2"/>
                <a:stretch>
                  <a:fillRect l="-1340" t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3BBBA5-FCC5-FF43-83F3-A198697F65F7}"/>
              </a:ext>
            </a:extLst>
          </p:cNvPr>
          <p:cNvSpPr/>
          <p:nvPr/>
        </p:nvSpPr>
        <p:spPr>
          <a:xfrm>
            <a:off x="6210300" y="1905000"/>
            <a:ext cx="51435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1C3AD-E82F-6047-A89F-321740B2BF6C}"/>
                  </a:ext>
                </a:extLst>
              </p:cNvPr>
              <p:cNvSpPr txBox="1"/>
              <p:nvPr/>
            </p:nvSpPr>
            <p:spPr>
              <a:xfrm>
                <a:off x="6438900" y="2082800"/>
                <a:ext cx="4724400" cy="23654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b="1" dirty="0">
                    <a:solidFill>
                      <a:srgbClr val="D1578A"/>
                    </a:solidFill>
                    <a:latin typeface="Arial"/>
                  </a:rPr>
                  <a:t>Similarity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900" i="1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900" b="1" dirty="0">
                  <a:solidFill>
                    <a:srgbClr val="D1578A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700"/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Large when points are alike, small when different.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Cosine similarity: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Gaussian kernel: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333333"/>
                        </a:solidFill>
                      </a:rPr>
                      <m:t>exp</m:t>
                    </m:r>
                    <m:d>
                      <m:d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:r>
                  <a:rPr lang="en-US" sz="1800" dirty="0">
                    <a:solidFill>
                      <a:srgbClr val="333333"/>
                    </a:solidFill>
                  </a:rPr>
                  <a:t>Often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solidFill>
                      <a:srgbClr val="333333"/>
                    </a:solidFill>
                  </a:rPr>
                  <a:t>   or 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rad>
                  </m:oMath>
                </a14:m>
                <a:endParaRPr lang="en-US" sz="1800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1C3AD-E82F-6047-A89F-321740B2B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082800"/>
                <a:ext cx="4724400" cy="2365456"/>
              </a:xfrm>
              <a:prstGeom prst="rect">
                <a:avLst/>
              </a:prstGeom>
              <a:blipFill>
                <a:blip r:embed="rId3"/>
                <a:stretch>
                  <a:fillRect l="-1072" t="-1604" b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200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C77B-947D-BD54-55E4-D8AA3770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E1304F-CB18-9E4B-BC46-E4E75B837C08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10515600" cy="6155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Euclidean distance is dominated by large-scale features. A variable in dollars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) swamps one in years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). We rescale each column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to zero mean and unit variance: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E1304F-CB18-9E4B-BC46-E4E75B837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615553"/>
              </a:xfrm>
              <a:prstGeom prst="rect">
                <a:avLst/>
              </a:prstGeom>
              <a:blipFill>
                <a:blip r:embed="rId2"/>
                <a:stretch>
                  <a:fillRect l="-483" t="-4082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3861D9-EE3E-FB49-BF37-15760B356132}"/>
              </a:ext>
            </a:extLst>
          </p:cNvPr>
          <p:cNvSpPr/>
          <p:nvPr/>
        </p:nvSpPr>
        <p:spPr>
          <a:xfrm>
            <a:off x="838200" y="2946400"/>
            <a:ext cx="10515600" cy="1219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5BA89-497B-C745-96F1-9D093ABE934C}"/>
                  </a:ext>
                </a:extLst>
              </p:cNvPr>
              <p:cNvSpPr txBox="1"/>
              <p:nvPr/>
            </p:nvSpPr>
            <p:spPr>
              <a:xfrm>
                <a:off x="1016000" y="3221550"/>
                <a:ext cx="10160000" cy="66890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rgbClr val="FFFFFF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5BA89-497B-C745-96F1-9D093ABE9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221550"/>
                <a:ext cx="10160000" cy="668901"/>
              </a:xfrm>
              <a:prstGeom prst="rect">
                <a:avLst/>
              </a:prstGeom>
              <a:blipFill>
                <a:blip r:embed="rId3"/>
                <a:stretch>
                  <a:fillRect t="-50000" b="-8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5FABE2-6080-4042-AC02-0F465E2A65E1}"/>
                  </a:ext>
                </a:extLst>
              </p:cNvPr>
              <p:cNvSpPr txBox="1"/>
              <p:nvPr/>
            </p:nvSpPr>
            <p:spPr>
              <a:xfrm>
                <a:off x="838200" y="4419600"/>
                <a:ext cx="10515600" cy="101014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In matrix form: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 where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diag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After standardization every feature contributes equally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Alternatives: min-max scaling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robust scaling by median / IQR.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5FABE2-6080-4042-AC02-0F465E2A6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10515600" cy="1010148"/>
              </a:xfrm>
              <a:prstGeom prst="rect">
                <a:avLst/>
              </a:prstGeom>
              <a:blipFill>
                <a:blip r:embed="rId4"/>
                <a:stretch>
                  <a:fillRect l="-36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439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FCD7-3CBC-26BE-E843-E5A8723E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1DC53-0338-4C4D-8DEB-73EA9ABF56F9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9370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As dimension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grows, pairwise distances concentrate: the nearest and farthest neighbors become almost equidistant.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Formally,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70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700">
                                    <a:solidFill>
                                      <a:srgbClr val="333333"/>
                                    </a:solidFill>
                                  </a:rPr>
                                  <m:t>min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333333"/>
                                </a:solidFill>
                              </a:rPr>
                              <m:t>min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for many distributions.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Volume escapes to the corners: a unit ball fills a vanishing fraction of the unit cube.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Consequence: Euclidean clustering degrades in high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 Reduce dimension first (t-SNE, UMAP, PCA) or use cosine/Mahalanobis distance.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1DC53-0338-4C4D-8DEB-73EA9ABF5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937022"/>
              </a:xfrm>
              <a:prstGeom prst="rect">
                <a:avLst/>
              </a:prstGeom>
              <a:blipFill>
                <a:blip r:embed="rId2"/>
                <a:stretch>
                  <a:fillRect l="-682" t="-862" r="-1364" b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41443D-6724-394B-A049-92228AA4C3C3}"/>
              </a:ext>
            </a:extLst>
          </p:cNvPr>
          <p:cNvSpPr/>
          <p:nvPr/>
        </p:nvSpPr>
        <p:spPr>
          <a:xfrm>
            <a:off x="6604000" y="2133600"/>
            <a:ext cx="4749800" cy="3810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625359-2344-9341-A0AF-CCE3756B82DC}"/>
                  </a:ext>
                </a:extLst>
              </p:cNvPr>
              <p:cNvSpPr txBox="1"/>
              <p:nvPr/>
            </p:nvSpPr>
            <p:spPr>
              <a:xfrm>
                <a:off x="6832600" y="2362200"/>
                <a:ext cx="4292600" cy="200619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85754D"/>
                    </a:solidFill>
                    <a:latin typeface="Arial"/>
                  </a:rPr>
                  <a:t>Distance concentration</a:t>
                </a: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>
                          <a:solidFill>
                            <a:srgbClr val="4B2E83"/>
                          </a:solidFill>
                        </a:rPr>
                        <m:t>E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 lang="en-US" sz="700"/>
              </a:p>
              <a:p>
                <a:pPr>
                  <a:buNone/>
                </a:pPr>
                <a:endParaRPr lang="en-US" sz="7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i.i.d. unit-variance entries, the expected norm grows 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while the spread stays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so all points sit near a thin shell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625359-2344-9341-A0AF-CCE3756B8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292600" cy="2006190"/>
              </a:xfrm>
              <a:prstGeom prst="rect">
                <a:avLst/>
              </a:prstGeom>
              <a:blipFill>
                <a:blip r:embed="rId3"/>
                <a:stretch>
                  <a:fillRect l="-1475" t="-1887" b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317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— Expand the Squared Distance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EB461-9982-C44E-99A5-39A3BE67078A}"/>
              </a:ext>
            </a:extLst>
          </p:cNvPr>
          <p:cNvSpPr txBox="1"/>
          <p:nvPr/>
        </p:nvSpPr>
        <p:spPr>
          <a:xfrm>
            <a:off x="838200" y="2235200"/>
            <a:ext cx="5461000" cy="221599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 Euclidean distance can’t be vectorized directly — the square root blocks it.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Square the distance and expand the norm. Every term becomes an inner product, and inner products are exactly what one matrix multiply delivers.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Goal: rewrite each distance using only dot products of the data points.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3653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Expand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Only inner products remain — ready to vectorize.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365310"/>
              </a:xfrm>
              <a:prstGeom prst="rect">
                <a:avLst/>
              </a:prstGeom>
              <a:blipFill>
                <a:blip r:embed="rId2"/>
                <a:stretch>
                  <a:fillRect l="-860" t="-1852" b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513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— Collect Into the Gram Matrix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2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Stack the three points as rows of the data matrix X (3×2):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Then every inner product is a single entry of the Gram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blipFill>
                <a:blip r:embed="rId2"/>
                <a:stretch>
                  <a:fillRect l="-698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Build the Gram matrix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One matrix product gives all n² inner products — vectorized and BLAS-fast.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blipFill>
                <a:blip r:embed="rId3"/>
                <a:stretch>
                  <a:fillRect l="-860" t="-1379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760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— Diagonal &amp; Matrix Form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3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diagonal of G holds the squared norms: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Collect them into the vector g = diag(G):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blipFill>
                <a:blip r:embed="rId2"/>
                <a:stretch>
                  <a:fillRect l="-698" t="-1439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4570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Matrix form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+1·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with 1 = all-ones vector.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Entrywise this is just: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457002"/>
              </a:xfrm>
              <a:prstGeom prst="rect">
                <a:avLst/>
              </a:prstGeom>
              <a:blipFill>
                <a:blip r:embed="rId3"/>
                <a:stretch>
                  <a:fillRect l="-860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333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— Plug In and Recover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4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2821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Plug in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With g = (0, 9, 16), add the diagonal terms and subtract 2G: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282146"/>
              </a:xfrm>
              <a:prstGeom prst="rect">
                <a:avLst/>
              </a:prstGeom>
              <a:blipFill>
                <a:blip r:embed="rId2"/>
                <a:stretch>
                  <a:fillRect l="-698" t="-1980"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Take the elementwise square root: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entire distance matrix from one product XXᵀ — symmetric, with zero diagonal.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blipFill>
                <a:blip r:embed="rId3"/>
                <a:stretch>
                  <a:fillRect l="-860" t="-1379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40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A2B2-FFBE-C66D-CF9F-DB9FDAB6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Exercise 1: Standardization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Problem"/>
              <p:cNvSpPr/>
              <p:nvPr/>
            </p:nvSpPr>
            <p:spPr>
              <a:xfrm>
                <a:off x="838200" y="1905000"/>
                <a:ext cx="10515600" cy="15494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45720" rIns="137160" bIns="45720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Problem.  </a:t>
                </a:r>
                <a:r>
                  <a:rPr lang="en-US" sz="1700" dirty="0">
                    <a:solidFill>
                      <a:srgbClr val="333333"/>
                    </a:solidFill>
                  </a:rPr>
                  <a:t>A data matrix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has rows = observations. Express the z-score standardization Z using only matrix operations: which matrix centers the columns, and which rescales them?</a:t>
                </a:r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(Click to reveal the solution.)</a:t>
                </a:r>
              </a:p>
            </p:txBody>
          </p:sp>
        </mc:Choice>
        <mc:Fallback xmlns=""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549400"/>
              </a:xfrm>
              <a:prstGeom prst="roundRect">
                <a:avLst>
                  <a:gd name="adj" fmla="val 6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Solution"/>
              <p:cNvSpPr/>
              <p:nvPr/>
            </p:nvSpPr>
            <p:spPr>
              <a:xfrm>
                <a:off x="838200" y="3505200"/>
                <a:ext cx="10515600" cy="2692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Solution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Center the columns (H), then rescale each to unit standard deviation (S):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⇒ 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sSup>
                        <m:sSupPr>
                          <m:ctrlPr>
                            <a:rPr lang="en-US" sz="195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95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</p:txBody>
          </p:sp>
        </mc:Choice>
        <mc:Fallback xmlns=""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5200"/>
                <a:ext cx="10515600" cy="2692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7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1: Set Up the Centering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4  ·  Centering operator: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Center each column by subtracting its mean, so every feature has mean zero. Start from the 3×2 data matrix: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Goal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Find the column-mean vector and the centered matrix: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35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2: Column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4  ·  Column means: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Average each column: sum the entries down each column, then divide by the number of rows n = 3.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Sum each column, then divide by n = 3: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(1 + 3 + 5,  10 + 20 + 30) = (9,  60)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(9,  60) = (3,  20)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9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3: Subtract the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4  ·  Centered matrix: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𝐇𝐗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Broadcast the mean vector μ across all three rows and subtract it from X — this is exactly the centered matrix HX.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50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4: Check &amp; Standardize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OF 4  ·  Each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now has mean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Why it matters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Every column of the centered matrix now sums to zero, so the data is mean-centered — exactly what covariance estimation and PCA require.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Standardize next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Divide each centered column by its standard deviation to put every feature on one scale: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60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1: Set Up the 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4  ·  Standardize: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  (S = diag of column std-devs)</a:t>
                </a: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Centering in Exercise 2 removed the mean. The columns still have different spreads, so now rescale each one by its own standard deviation σ.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Goal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Recall the centered matrix from Exercise 2: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Build the scale matrix S = diag(σ), then divide each column by its σ.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8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2: Column Standard Deviations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4  ·  Sample std-dev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 − 1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34043" b="-787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Each centered column already has mean 0, so its variance is the mean of its squares. Divide the sum of squares by n − 1 = 2, then take the square root.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(−2)² + 0² + 2²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(−10)² + 0² + 10²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=(2,  10)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20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3: Build the Scaling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4  ·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),  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Place the standard deviations on the diagonal of S. Its inverse simply reciprocates each diagonal entry — the off-diagonals stay zero.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(2, 10)=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50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4: Scale to Unit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OF 4  ·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  →  every column: mean 0, variance 1</a:t>
                </a: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Multiply on the right by S⁻¹ to divide each column by its σ. The result Z has mean 0 and unit variance in every column — fully standardized.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763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C74C-12B1-A002-5180-0AF59C0C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Foundations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D236A4-3215-B443-87F4-B71ECDF00651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A4E4CC-C964-794D-8FC7-043D6668A2A9}"/>
              </a:ext>
            </a:extLst>
          </p:cNvPr>
          <p:cNvSpPr/>
          <p:nvPr/>
        </p:nvSpPr>
        <p:spPr>
          <a:xfrm>
            <a:off x="1625600" y="1905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52EF1-C68A-A24C-8DBF-DBB71C1F1799}"/>
                  </a:ext>
                </a:extLst>
              </p:cNvPr>
              <p:cNvSpPr txBox="1"/>
              <p:nvPr/>
            </p:nvSpPr>
            <p:spPr>
              <a:xfrm>
                <a:off x="1854200" y="2281292"/>
                <a:ext cx="9296400" cy="6190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Distance matrix.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4,6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1,6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Euclidean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Verify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zero diagonal.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52EF1-C68A-A24C-8DBF-DBB71C1F1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281292"/>
                <a:ext cx="9296400" cy="619016"/>
              </a:xfrm>
              <a:prstGeom prst="rect">
                <a:avLst/>
              </a:prstGeom>
              <a:blipFill>
                <a:blip r:embed="rId2"/>
                <a:stretch>
                  <a:fillRect l="-273" t="-20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BF06B69C-FA29-F348-B46B-96F3A5CDDA3D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EF680A-E102-F348-8879-6BA11261B459}"/>
              </a:ext>
            </a:extLst>
          </p:cNvPr>
          <p:cNvSpPr/>
          <p:nvPr/>
        </p:nvSpPr>
        <p:spPr>
          <a:xfrm>
            <a:off x="1625600" y="3429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F7637-398E-3B47-9DE0-2BA87A5BE6BB}"/>
                  </a:ext>
                </a:extLst>
              </p:cNvPr>
              <p:cNvSpPr txBox="1"/>
              <p:nvPr/>
            </p:nvSpPr>
            <p:spPr>
              <a:xfrm>
                <a:off x="1854200" y="38224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Metric comparison.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2,0,1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0,3,1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Order them and explain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F7637-398E-3B47-9DE0-2BA87A5BE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224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r="-273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AC05425-830A-BF49-9AF9-88FDDEADAB80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F72888-5237-8941-8FFD-72ABF83D454F}"/>
              </a:ext>
            </a:extLst>
          </p:cNvPr>
          <p:cNvSpPr/>
          <p:nvPr/>
        </p:nvSpPr>
        <p:spPr>
          <a:xfrm>
            <a:off x="1625600" y="4953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F50D1-D57D-DB4A-A05C-99829708E560}"/>
                  </a:ext>
                </a:extLst>
              </p:cNvPr>
              <p:cNvSpPr txBox="1"/>
              <p:nvPr/>
            </p:nvSpPr>
            <p:spPr>
              <a:xfrm>
                <a:off x="1854200" y="53464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Standardization.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Feature column has values (10, 20, 30, 40). Compute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and the z-scored 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Show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F50D1-D57D-DB4A-A05C-99829708E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464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3138" t="-22917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807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3  ·  Euclidean distance entries: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Three points in ℝ²:   a = (1, 2),   b = (4, 6),   c = (1, 6). Build the 3×3 matrix D of pairwise Euclidean distances.</a:t>
            </a:r>
          </a:p>
        </p:txBody>
      </p:sp>
      <p:sp>
        <p:nvSpPr>
          <p:cNvPr id="201" name="Solution"/>
          <p:cNvSpPr/>
          <p:nvPr/>
        </p:nvSpPr>
        <p:spPr>
          <a:xfrm>
            <a:off x="838200" y="4140200"/>
            <a:ext cx="10515600" cy="2311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B2E83"/>
            </a:solidFill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Setup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D is 3×3, symmetric, with a zero diagonal — the distance from a point to itself is 0.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So only three numbers determine D:  d(a, b),  d(a, c),  and  d(b, c).</a:t>
            </a:r>
          </a:p>
        </p:txBody>
      </p:sp>
    </p:spTree>
    <p:extLst>
      <p:ext uri="{BB962C8B-B14F-4D97-AF65-F5344CB8AC3E}">
        <p14:creationId xmlns:p14="http://schemas.microsoft.com/office/powerpoint/2010/main" val="142828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3  ·  Euclidean formula: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Compute the straight-line distance between each pair from their coordinate differences Δx and Δy.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(4−1)² + (6−2)²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9 + 16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0² + (6−2)²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(4−1)² + 0²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95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3  ·  Verify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, 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Order the points a, b, c. Place each distance symmetrically (Dᵢⱼ = Dⱼᵢ); the diagonal is 0 since a point is zero distance from itself.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Symmetric (D = Dᵀ) with zero diagonal — a valid Euclidean distance matrix.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58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3  ·  every norm acts on the same difference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Two vectors in ℝ³:   a = (2, 0, 1),   b = (0, 3, 1). The L₁, L₂ and L∞ norms all measure the same difference vector — so compute it once.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=(2−0,  0−3,  1−1)=(2,  −3,  0)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This one vector feeds all three norm calculations.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00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2</a:t>
            </a:r>
          </a:p>
        </p:txBody>
      </p:sp>
      <p:sp>
        <p:nvSpPr>
          <p:cNvPr id="59" name="Reference"/>
          <p:cNvSpPr/>
          <p:nvPr/>
        </p:nvSpPr>
        <p:spPr>
          <a:xfrm>
            <a:off x="838200" y="1854200"/>
            <a:ext cx="10515600" cy="584200"/>
          </a:xfrm>
          <a:prstGeom prst="roundRect">
            <a:avLst>
              <a:gd name="adj" fmla="val 18000"/>
            </a:avLst>
          </a:prstGeom>
          <a:solidFill>
            <a:srgbClr val="F5F0EB"/>
          </a:solidFill>
          <a:ln>
            <a:noFill/>
          </a:ln>
        </p:spPr>
        <p:txBody>
          <a:bodyPr lIns="91440" tIns="0" rIns="91440" bIns="0" rtlCol="0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4B2E83"/>
                </a:solidFill>
              </a:rPr>
              <a:t>STEP 2 OF 3   ·   L₁ = Σ|xᵢ|   ·   L₂ = √(Σ xᵢ²)   ·   L∞ = max|xᵢ|</a:t>
            </a:r>
          </a:p>
        </p:txBody>
      </p:sp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L₁ sums the absolute values, L₂ is the root of the summed squares, and L∞ takes the single largest absolute component.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=|2| + |−3| + |0|=5</m:t>
                      </m:r>
                    </m:oMath>
                  </m:oMathPara>
                </a14:m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2² + (−3)² + 0²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≈3.61</m:t>
                      </m:r>
                    </m:oMath>
                  </m:oMathPara>
                </a14:m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(|2|, |−3|, |0|)=3</m:t>
                      </m:r>
                    </m:oMath>
                  </m:oMathPara>
                </a14:m>
                <a:endParaRPr lang="en-US" sz="3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93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3  ·  General ordering: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Rank the three values from Step 2, then connect the result to the general norm inequality.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5≥</m:t>
                      </m:r>
                      <m:rad>
                        <m:radPr>
                          <m:degHide m:val="on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≈3.61≥3</m:t>
                      </m:r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  L₁ ≥ L₂ ≥ L∞, matching the general rule.</a:t>
                </a:r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As p grows, large components are down-weighted, so the p-norm shrinks.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93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3  ·  Mean: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Σ"/>
                        <m:limLoc m:val="subSup"/>
                        <m:sup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12766" b="-404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 single feature column with four values:   x = (10, 20, 30, 40). Start by computing the mean μ.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 + 20 + 30 + 40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64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3  ·  Population std-dev: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Σ"/>
                            <m:limLoc m:val="subSup"/>
                            <m:supHide m:val="on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i="1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500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8511" b="-425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Deviations from μ = 25 are (−15, −5, 5, 15). Average their squares, then take the square root.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(−15)² + (−5)² + 5² + 15²</m:t>
                              </m:r>
                            </m:num>
                            <m:den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</m:num>
                            <m:den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≈11.18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34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3  ·  z-score: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Divide each deviation (−15, −5, 5, 15) by σ ≈ 11.18. Because the deviations already sum to zero, the z-scores must as well.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(−15, −5, 5, 15)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</m:e>
                          </m:rad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≈(−1.34, −0.45, 0.45, 1.34)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Σ"/>
                          <m:limLoc m:val="subSup"/>
                          <m:sup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Σ(xᵢ − μ) = Σxᵢ − nμ = 100 − 100 = 0, so the z-scores sum to zero.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8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BA033E-0AE9-3042-AECA-4AD7FD64C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FDF0A1-BB11-994B-B3B6-C04B9713F4CD}"/>
              </a:ext>
            </a:extLst>
          </p:cNvPr>
          <p:cNvSpPr/>
          <p:nvPr/>
        </p:nvSpPr>
        <p:spPr>
          <a:xfrm>
            <a:off x="838200" y="3810000"/>
            <a:ext cx="1524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E6E27-A384-C746-B0F3-409768D6BE32}"/>
              </a:ext>
            </a:extLst>
          </p:cNvPr>
          <p:cNvSpPr txBox="1"/>
          <p:nvPr/>
        </p:nvSpPr>
        <p:spPr>
          <a:xfrm>
            <a:off x="8382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1EFB9-0417-A643-9A39-4BB994330A24}"/>
              </a:ext>
            </a:extLst>
          </p:cNvPr>
          <p:cNvSpPr txBox="1"/>
          <p:nvPr/>
        </p:nvSpPr>
        <p:spPr>
          <a:xfrm>
            <a:off x="787400" y="28575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4AC8B-FB0A-F646-BD65-634E3AE8484A}"/>
                  </a:ext>
                </a:extLst>
              </p:cNvPr>
              <p:cNvSpPr txBox="1"/>
              <p:nvPr/>
            </p:nvSpPr>
            <p:spPr>
              <a:xfrm>
                <a:off x="838200" y="4127500"/>
                <a:ext cx="9652000" cy="40562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2000" dirty="0">
                    <a:solidFill>
                      <a:srgbClr val="F5F0EB"/>
                    </a:solidFill>
                    <a:latin typeface="Calibri"/>
                    <a:cs typeface="Calibri"/>
                  </a:rPr>
                  <a:t>Centroid-based partitioning: minimizing within-cluster variance via Lloyd's algorithm in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solidFill>
                                  <a:srgbClr val="F5F0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>
                                <a:solidFill>
                                  <a:srgbClr val="F5F0EB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000">
                                <a:solidFill>
                                  <a:srgbClr val="F5F0EB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2000">
                        <a:solidFill>
                          <a:srgbClr val="F5F0EB"/>
                        </a:solidFill>
                      </a:rPr>
                      <a:t>ℝᵈ</a:t>
                    </a:r>
                  </mc:Fallback>
                </mc:AlternateContent>
                <a:endParaRPr lang="en-US" sz="2000" dirty="0">
                  <a:solidFill>
                    <a:srgbClr val="F5F0EB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4AC8B-FB0A-F646-BD65-634E3AE8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7500"/>
                <a:ext cx="9652000" cy="405624"/>
              </a:xfrm>
              <a:prstGeom prst="rect">
                <a:avLst/>
              </a:prstGeom>
              <a:blipFill>
                <a:blip r:embed="rId2"/>
                <a:stretch>
                  <a:fillRect l="-788" t="-5882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456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4C7F-3450-4290-CD0D-9D53AE51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K-Means: The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6C7C7-41A3-F042-87AF-5DA1C2748AB4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6155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K-means partitions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clusters by minimizing the total </a:t>
                </a:r>
                <a:r>
                  <a:rPr lang="en-US" sz="1700" b="1" dirty="0">
                    <a:solidFill>
                      <a:srgbClr val="4B2E83"/>
                    </a:solidFill>
                  </a:rPr>
                  <a:t>within-cluster sum of squares </a:t>
                </a:r>
                <a:r>
                  <a:rPr lang="en-US" sz="1700" dirty="0">
                    <a:solidFill>
                      <a:srgbClr val="333333"/>
                    </a:solidFill>
                  </a:rPr>
                  <a:t>(WCSS), also called inertia: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6C7C7-41A3-F042-87AF-5DA1C2748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615553"/>
              </a:xfrm>
              <a:prstGeom prst="rect">
                <a:avLst/>
              </a:prstGeom>
              <a:blipFill>
                <a:blip r:embed="rId2"/>
                <a:stretch>
                  <a:fillRect l="-362"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957323-FE80-144F-89B0-F0AE06FCCFA4}"/>
              </a:ext>
            </a:extLst>
          </p:cNvPr>
          <p:cNvSpPr/>
          <p:nvPr/>
        </p:nvSpPr>
        <p:spPr>
          <a:xfrm>
            <a:off x="838200" y="2946400"/>
            <a:ext cx="10515600" cy="1320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8F888C-1B1F-2248-A062-618475C00FBA}"/>
                  </a:ext>
                </a:extLst>
              </p:cNvPr>
              <p:cNvSpPr txBox="1"/>
              <p:nvPr/>
            </p:nvSpPr>
            <p:spPr>
              <a:xfrm>
                <a:off x="1016000" y="3127822"/>
                <a:ext cx="10160000" cy="95795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2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22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2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2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8F888C-1B1F-2248-A062-618475C00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127822"/>
                <a:ext cx="10160000" cy="957955"/>
              </a:xfrm>
              <a:prstGeom prst="rect">
                <a:avLst/>
              </a:prstGeom>
              <a:blipFill>
                <a:blip r:embed="rId3"/>
                <a:stretch>
                  <a:fillRect t="-121053" b="-16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A8354-2ED3-E046-B141-4255D436A059}"/>
                  </a:ext>
                </a:extLst>
              </p:cNvPr>
              <p:cNvSpPr txBox="1"/>
              <p:nvPr/>
            </p:nvSpPr>
            <p:spPr>
              <a:xfrm>
                <a:off x="838200" y="4546600"/>
                <a:ext cx="10515600" cy="9649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is the centroid (mean vector) of cluster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non-convex in the assignments — finding the global optimum is NP-hard.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Lloyd's algorithm minimizes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by alternating two steps, each of which can only decrease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A8354-2ED3-E046-B141-4255D436A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6600"/>
                <a:ext cx="10515600" cy="964944"/>
              </a:xfrm>
              <a:prstGeom prst="rect">
                <a:avLst/>
              </a:prstGeom>
              <a:blipFill>
                <a:blip r:embed="rId4"/>
                <a:stretch>
                  <a:fillRect l="-362" t="-3552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965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64DE-C5AB-B659-065D-EAA82FB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Lloyd's Algorithm: History &amp; Intuition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91512-B290-BF47-8633-D380896E46AD}"/>
              </a:ext>
            </a:extLst>
          </p:cNvPr>
          <p:cNvSpPr txBox="1"/>
          <p:nvPr/>
        </p:nvSpPr>
        <p:spPr>
          <a:xfrm>
            <a:off x="838200" y="1905000"/>
            <a:ext cx="1051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333333"/>
                </a:solidFill>
              </a:rPr>
              <a:t>From 1950s signal quantization to the workhorse of modern clustering.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C8808-4177-C64C-8090-9884C2C01D01}"/>
              </a:ext>
            </a:extLst>
          </p:cNvPr>
          <p:cNvSpPr/>
          <p:nvPr/>
        </p:nvSpPr>
        <p:spPr>
          <a:xfrm>
            <a:off x="8382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01B6-C7C6-B240-8033-E172EABF461A}"/>
              </a:ext>
            </a:extLst>
          </p:cNvPr>
          <p:cNvSpPr/>
          <p:nvPr/>
        </p:nvSpPr>
        <p:spPr>
          <a:xfrm>
            <a:off x="838200" y="2540000"/>
            <a:ext cx="5143500" cy="533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 Bit of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162F-8C44-8A4F-87F2-06F4A4242B25}"/>
              </a:ext>
            </a:extLst>
          </p:cNvPr>
          <p:cNvSpPr txBox="1"/>
          <p:nvPr/>
        </p:nvSpPr>
        <p:spPr>
          <a:xfrm>
            <a:off x="1016000" y="3175000"/>
            <a:ext cx="4787900" cy="164673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Devised by Stuart Lloyd at Bell Labs in 1957 to quantize signals for pulse-code modulation (PCM).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Circulated internally for years — formally published only in 1982.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Found independently by Forgy (1965); MacQueen (1967) coined the name “k-means.”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036FF-8614-0141-BA30-87D5931ACD7B}"/>
              </a:ext>
            </a:extLst>
          </p:cNvPr>
          <p:cNvSpPr/>
          <p:nvPr/>
        </p:nvSpPr>
        <p:spPr>
          <a:xfrm>
            <a:off x="62103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4EE4C-077A-E348-8CCD-19117ECE287C}"/>
              </a:ext>
            </a:extLst>
          </p:cNvPr>
          <p:cNvSpPr/>
          <p:nvPr/>
        </p:nvSpPr>
        <p:spPr>
          <a:xfrm>
            <a:off x="6210300" y="2540000"/>
            <a:ext cx="5143500" cy="533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The Core 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690EA-EDFB-4A46-86B5-F9A44A496DD2}"/>
              </a:ext>
            </a:extLst>
          </p:cNvPr>
          <p:cNvSpPr txBox="1"/>
          <p:nvPr/>
        </p:nvSpPr>
        <p:spPr>
          <a:xfrm>
            <a:off x="6388100" y="3175000"/>
            <a:ext cx="4787900" cy="189038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Pick k centroids, then alternate two cheap steps:</a:t>
            </a:r>
          </a:p>
          <a:p>
            <a:pPr marL="457200" lvl="1" indent="-228600">
              <a:lnSpc>
                <a:spcPts val="1700"/>
              </a:lnSpc>
              <a:spcBef>
                <a:spcPts val="200"/>
              </a:spcBef>
              <a:buFont typeface="Arial"/>
              <a:buChar char="–"/>
            </a:pPr>
            <a:r>
              <a:rPr lang="en-US" sz="1400" dirty="0">
                <a:solidFill>
                  <a:srgbClr val="333333"/>
                </a:solidFill>
              </a:rPr>
              <a:t>Assign each point to its nearest centroid.</a:t>
            </a:r>
          </a:p>
          <a:p>
            <a:pPr marL="457200" lvl="1" indent="-228600">
              <a:lnSpc>
                <a:spcPts val="1700"/>
              </a:lnSpc>
              <a:spcBef>
                <a:spcPts val="200"/>
              </a:spcBef>
              <a:buFont typeface="Arial"/>
              <a:buChar char="–"/>
            </a:pPr>
            <a:r>
              <a:rPr lang="en-US" sz="1400" dirty="0">
                <a:solidFill>
                  <a:srgbClr val="333333"/>
                </a:solidFill>
              </a:rPr>
              <a:t>Recompute each centroid as the mean of its points.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Every step lowers the within-cluster SSE — so it can only improve.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 form of coordinate descent: it hill-climbs to a local optimum.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E1928-F631-B042-ADEB-5FB4025C1AD0}"/>
              </a:ext>
            </a:extLst>
          </p:cNvPr>
          <p:cNvSpPr txBox="1"/>
          <p:nvPr/>
        </p:nvSpPr>
        <p:spPr>
          <a:xfrm>
            <a:off x="838200" y="5867400"/>
            <a:ext cx="10515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595959"/>
                </a:solidFill>
              </a:rPr>
              <a:t>Simple, fast, and guaranteed to converge — but only to a local optimum, so we run several random restarts.</a:t>
            </a:r>
          </a:p>
        </p:txBody>
      </p:sp>
    </p:spTree>
    <p:extLst>
      <p:ext uri="{BB962C8B-B14F-4D97-AF65-F5344CB8AC3E}">
        <p14:creationId xmlns:p14="http://schemas.microsoft.com/office/powerpoint/2010/main" val="1217213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64DE-C5AB-B659-065D-EAA82FB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Lloyd's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91512-B290-BF47-8633-D380896E46AD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Initialize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then alternate until assignments stop changing: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91512-B290-BF47-8633-D380896E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l="-36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C8808-4177-C64C-8090-9884C2C01D01}"/>
              </a:ext>
            </a:extLst>
          </p:cNvPr>
          <p:cNvSpPr/>
          <p:nvPr/>
        </p:nvSpPr>
        <p:spPr>
          <a:xfrm>
            <a:off x="8382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01B6-C7C6-B240-8033-E172EABF461A}"/>
              </a:ext>
            </a:extLst>
          </p:cNvPr>
          <p:cNvSpPr/>
          <p:nvPr/>
        </p:nvSpPr>
        <p:spPr>
          <a:xfrm>
            <a:off x="838200" y="2540000"/>
            <a:ext cx="5143500" cy="533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1.  Assignment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CB162F-8C44-8A4F-87F2-06F4A4242B25}"/>
                  </a:ext>
                </a:extLst>
              </p:cNvPr>
              <p:cNvSpPr txBox="1"/>
              <p:nvPr/>
            </p:nvSpPr>
            <p:spPr>
              <a:xfrm>
                <a:off x="1016000" y="3175000"/>
                <a:ext cx="4787900" cy="126464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Assign each point to its nearest centroid:</a:t>
                </a:r>
              </a:p>
              <a:p>
                <a:pPr>
                  <a:buNone/>
                </a:pPr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4B2E83"/>
                              </a:solidFill>
                            </a:rPr>
                            <m:t>argmin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8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Fixes the binary assignment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  Cost: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iter.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CB162F-8C44-8A4F-87F2-06F4A4242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175000"/>
                <a:ext cx="4787900" cy="1264642"/>
              </a:xfrm>
              <a:prstGeom prst="rect">
                <a:avLst/>
              </a:prstGeom>
              <a:blipFill>
                <a:blip r:embed="rId3"/>
                <a:stretch>
                  <a:fillRect l="-796" t="-2000" r="-2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036FF-8614-0141-BA30-87D5931ACD7B}"/>
              </a:ext>
            </a:extLst>
          </p:cNvPr>
          <p:cNvSpPr/>
          <p:nvPr/>
        </p:nvSpPr>
        <p:spPr>
          <a:xfrm>
            <a:off x="62103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4EE4C-077A-E348-8CCD-19117ECE287C}"/>
              </a:ext>
            </a:extLst>
          </p:cNvPr>
          <p:cNvSpPr/>
          <p:nvPr/>
        </p:nvSpPr>
        <p:spPr>
          <a:xfrm>
            <a:off x="6210300" y="2540000"/>
            <a:ext cx="5143500" cy="533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2.  Update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690EA-EDFB-4A46-86B5-F9A44A496DD2}"/>
                  </a:ext>
                </a:extLst>
              </p:cNvPr>
              <p:cNvSpPr txBox="1"/>
              <p:nvPr/>
            </p:nvSpPr>
            <p:spPr>
              <a:xfrm>
                <a:off x="6388100" y="3175000"/>
                <a:ext cx="4787900" cy="167289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Recompute each centroid as the cluster mean:</a:t>
                </a:r>
              </a:p>
              <a:p>
                <a:pPr>
                  <a:buNone/>
                </a:pPr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LA least-squares solution minimizing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  Cost: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iter.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690EA-EDFB-4A46-86B5-F9A44A496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3175000"/>
                <a:ext cx="4787900" cy="1672894"/>
              </a:xfrm>
              <a:prstGeom prst="rect">
                <a:avLst/>
              </a:prstGeom>
              <a:blipFill>
                <a:blip r:embed="rId4"/>
                <a:stretch>
                  <a:fillRect l="-796" t="-38636" r="-3183" b="-4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E1928-F631-B042-ADEB-5FB4025C1AD0}"/>
                  </a:ext>
                </a:extLst>
              </p:cNvPr>
              <p:cNvSpPr txBox="1"/>
              <p:nvPr/>
            </p:nvSpPr>
            <p:spPr>
              <a:xfrm>
                <a:off x="838200" y="5867400"/>
                <a:ext cx="10515600" cy="55399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Each step is non-increasing 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, so k-means converges to a local minimum in finitely many iterations. Restart from several initializations and keep the lowest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E1928-F631-B042-ADEB-5FB4025C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67400"/>
                <a:ext cx="10515600" cy="553998"/>
              </a:xfrm>
              <a:prstGeom prst="rect">
                <a:avLst/>
              </a:prstGeom>
              <a:blipFill>
                <a:blip r:embed="rId5"/>
                <a:stretch>
                  <a:fillRect l="-362" t="-4545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695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BEA2-74FB-D8FF-FC4E-51818388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49B20-FE34-3D45-B49F-4D3A83204F2D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9028F-59EE-5842-86E0-5A8A9D7B274C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4FAAD-4629-7440-AF8A-F197776DC9BD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BF7C3-3B94-4043-B28E-5EC5FC318ECC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0A1B41-23B5-CC41-80E4-5774670F6F05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1B4A3B-6338-504F-8DD8-557FCAE6F927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1E2EDF-AD29-7044-A193-7ED1FEF9E0BB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29A9D-DE84-E246-8018-F25E6254433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C651E2-3D96-D148-B03D-86D6DEBDE421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F956B-85B3-E448-8CA4-C23D197A6447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FA3AE8-9A09-E64F-93AF-5672271741D7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C6F204-E74B-1F40-99D8-B3E91F9A5487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B75F1-AC4E-B549-B7A2-8B3761B440AC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D271E-0984-F646-8759-E07C2EC92B17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BB1F9F-EF0F-C949-A433-E8B7E3E015AD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A14B96-FA07-234A-B343-812137C46688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72EE30-58B8-4041-9D56-1DD3AA8D3FFF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7D504-0AB7-1241-9361-AA827CDF6665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97575-39AA-A34A-BC8E-B80AD0350C99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0B324-B755-5042-9842-8CFF145FB35F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C86E5-0633-D744-B5DA-7D3307F66F4D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0A0C5-3C9E-364C-B2AC-650F402ABA86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DDD268-2E40-B043-854E-BB0CE0A2F410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0E722-58AF-4044-B184-3D2B3BD4FCED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FFF84C-A538-184B-AC73-0996462E3A1E}"/>
              </a:ext>
            </a:extLst>
          </p:cNvPr>
          <p:cNvSpPr txBox="1"/>
          <p:nvPr/>
        </p:nvSpPr>
        <p:spPr>
          <a:xfrm>
            <a:off x="61976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DD2E43-21CC-4A45-9D45-C893225D2C29}"/>
              </a:ext>
            </a:extLst>
          </p:cNvPr>
          <p:cNvSpPr txBox="1"/>
          <p:nvPr/>
        </p:nvSpPr>
        <p:spPr>
          <a:xfrm>
            <a:off x="5943600" y="60198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675070-C59C-944B-89DA-D0D213C8FB51}"/>
              </a:ext>
            </a:extLst>
          </p:cNvPr>
          <p:cNvSpPr txBox="1"/>
          <p:nvPr/>
        </p:nvSpPr>
        <p:spPr>
          <a:xfrm>
            <a:off x="71120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B490D8-2C28-2643-B39B-87484FF19903}"/>
              </a:ext>
            </a:extLst>
          </p:cNvPr>
          <p:cNvSpPr txBox="1"/>
          <p:nvPr/>
        </p:nvSpPr>
        <p:spPr>
          <a:xfrm>
            <a:off x="5943600" y="51054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75D023-217A-034B-9F4E-C52A252D324A}"/>
              </a:ext>
            </a:extLst>
          </p:cNvPr>
          <p:cNvSpPr txBox="1"/>
          <p:nvPr/>
        </p:nvSpPr>
        <p:spPr>
          <a:xfrm>
            <a:off x="80264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96EA0-E7AC-EE4C-B716-51B4156E712A}"/>
              </a:ext>
            </a:extLst>
          </p:cNvPr>
          <p:cNvSpPr txBox="1"/>
          <p:nvPr/>
        </p:nvSpPr>
        <p:spPr>
          <a:xfrm>
            <a:off x="5943600" y="41910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3457A9-8089-4847-87E5-B1498422F574}"/>
              </a:ext>
            </a:extLst>
          </p:cNvPr>
          <p:cNvSpPr txBox="1"/>
          <p:nvPr/>
        </p:nvSpPr>
        <p:spPr>
          <a:xfrm>
            <a:off x="89408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59026-DDB1-0E4B-8162-CB879CDD5577}"/>
              </a:ext>
            </a:extLst>
          </p:cNvPr>
          <p:cNvSpPr txBox="1"/>
          <p:nvPr/>
        </p:nvSpPr>
        <p:spPr>
          <a:xfrm>
            <a:off x="5943600" y="32766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8EC06-FFF6-2A4B-ADF7-97D97619C178}"/>
              </a:ext>
            </a:extLst>
          </p:cNvPr>
          <p:cNvSpPr txBox="1"/>
          <p:nvPr/>
        </p:nvSpPr>
        <p:spPr>
          <a:xfrm>
            <a:off x="98552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4E892D-92BA-1D45-A5EF-2F71FD621734}"/>
              </a:ext>
            </a:extLst>
          </p:cNvPr>
          <p:cNvSpPr txBox="1"/>
          <p:nvPr/>
        </p:nvSpPr>
        <p:spPr>
          <a:xfrm>
            <a:off x="5943600" y="23622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A25373-E501-6642-8A71-EEC704DEB4F4}"/>
              </a:ext>
            </a:extLst>
          </p:cNvPr>
          <p:cNvSpPr txBox="1"/>
          <p:nvPr/>
        </p:nvSpPr>
        <p:spPr>
          <a:xfrm>
            <a:off x="10769600" y="6159500"/>
            <a:ext cx="431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D9B4DA-7922-2241-BA35-AFDE597AEE7C}"/>
              </a:ext>
            </a:extLst>
          </p:cNvPr>
          <p:cNvSpPr txBox="1"/>
          <p:nvPr/>
        </p:nvSpPr>
        <p:spPr>
          <a:xfrm>
            <a:off x="5943600" y="1447800"/>
            <a:ext cx="431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19FF06-0B99-1642-ACAF-FC09D3425754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AEE7CC-0A2F-0340-9E04-44AE8F31C372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5F51D1-7ED0-914E-BBFC-5AE61EDBE802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174CF1-3E37-8C4F-A0D4-8E4B93B2C40A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4759CC-BBE5-C04D-B7DC-5AE397ED4259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BFDEA2-2EB6-9848-9A16-A0B60AB9E353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6F3F92-15C9-3949-832F-80867A006D21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8F9A6B-2FBD-F949-AB01-067181C2B0FB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5AFA2C2-711D-6B44-AEFD-55EA08E53447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F2183EE-53D4-D74C-A439-72ED7BF96AAF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3FFEEB-F0F9-8A41-AEA0-FF41CD727877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44AE8B6-C472-4F43-A79A-9B0DDE1DA690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044F95D2-4966-924E-A9AB-AC8C58D077A5}"/>
              </a:ext>
            </a:extLst>
          </p:cNvPr>
          <p:cNvSpPr/>
          <p:nvPr/>
        </p:nvSpPr>
        <p:spPr>
          <a:xfrm>
            <a:off x="7785100" y="3898900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33E046D6-1C12-BD4A-94A0-74E1255C8B00}"/>
              </a:ext>
            </a:extLst>
          </p:cNvPr>
          <p:cNvSpPr/>
          <p:nvPr/>
        </p:nvSpPr>
        <p:spPr>
          <a:xfrm>
            <a:off x="8242300" y="34417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6120FF36-B994-E948-92DA-6FB47EE80C84}"/>
              </a:ext>
            </a:extLst>
          </p:cNvPr>
          <p:cNvSpPr/>
          <p:nvPr/>
        </p:nvSpPr>
        <p:spPr>
          <a:xfrm>
            <a:off x="8699500" y="41275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44CE72-30DB-A948-8555-38B667CA8E27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0 · Initialize centroids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1F5D06-FD84-0546-89BF-3710126C2F6B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Place k = 3 centroids </a:t>
            </a:r>
            <a:r>
              <a:rPr lang="el-GR" sz="1600">
                <a:solidFill>
                  <a:srgbClr val="333333"/>
                </a:solidFill>
              </a:rPr>
              <a:t>μ₁, μ₂, μ₃ </a:t>
            </a:r>
            <a:r>
              <a:rPr lang="en-US" sz="1600">
                <a:solidFill>
                  <a:srgbClr val="333333"/>
                </a:solidFill>
              </a:rPr>
              <a:t>at starting positions. Every point is still unassigned — the two-step loop has not run yet.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F2D20C-31E5-F147-B2E8-0E0457E47F3E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6E727-6D15-F548-9853-2CD4A9A32FC1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AAE7BB-730D-074F-9F8A-05637B425096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B3C008-4F36-C542-A089-BF35249EC5CB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5803881-E915-A84B-8DB1-A3EB551B220C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53B388-61F1-B845-AD72-6B2257CEEF78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621664AE-CE7D-0A4A-A6C6-0266604B9627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2FD7DE-7AC2-AE44-BA71-840C1A600754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2533415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E657-81BC-0B2E-4122-85BC74C0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472D34-E76C-0549-AB30-16DF16C4ADE6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917A0-1918-7A49-B255-72806C94F604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0EDB24-ACD3-5E43-A10C-8ACBEA665410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27F0B-55D8-684E-9FDE-48723F325483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7A5DD-4CF6-1641-A238-912B6D174E91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F0C4E-0DCB-F14C-8D1C-39B94BDB2294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83F9AD-53FF-0F4D-A6C9-2D0C0C4B0700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AE50F1-3022-3040-B1AA-07765ED19A9C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8E4BB-7470-1043-99A2-374F9C40E2CF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C4A10-0806-444F-ADB6-F91F6F796EEE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EF84E7-1228-F042-9250-F335AB3E4B55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6EA69-3FE3-8F4E-9747-710C78BFFBBB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081F2B-952A-1C42-B05B-DE709A700618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8EC4A-4B4C-814F-B3EC-86E5A2B11665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3963B-62E3-A341-B1DE-2409E735C3FF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C4CF2-F5F0-4F42-BE5C-5AA349F16023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032F6C-B0D8-EF43-B986-A7377835B5F2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CD556-C8F2-9F4F-9F33-C3C934B020D5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E512FB-E498-6B41-B147-E56E79E20D01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4F46BD-290C-994A-8EE4-6B9500C2856A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AE30A2-12C6-D446-A98A-E4977629A5BD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287E40-EFC7-644B-9638-49503A5ADEC1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74F4BB-5047-D84C-9701-2FA9D4042777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261008-0F91-E14F-AD23-0BB9CEA4D9B3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0609C8-9B7C-3D45-A72D-A8E61DED6CC2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3EC447-FC12-4D43-B535-29C022E5392B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1E494E-4545-F142-B863-CEE13AE934C0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7D295-D3B4-964D-AA92-8275CDD8F7B1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3A827F-C388-134F-9DB8-56447C66E920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43967A-056A-C544-9D62-256A6B435C0B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9FA8D-D22F-0D4F-985E-7D74BBE53D76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D469EA-43AA-EF48-B44D-DCE237F1C6C0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85917-8B36-E243-9104-01832FBF0DBB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0C374F-552A-6B4B-8F32-3667663F4544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1BF4B9-8F59-3F47-BB8D-ACD20C11EB8E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61F85D-327B-894E-9341-D53120BF4AAE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DF986F-9C23-854A-92CA-0C859710AF67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8DE4C1-5A39-134E-BBC4-869BBAAFB377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BA0042-0A97-9747-94D7-94FCD6316AA5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2EEAFA-E90C-B041-98BD-BDE91B9617C6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786B0AC-F100-524F-A715-AE650DB55D59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0975C4-EF04-5F4A-ACBD-C814FC705A8C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4CA5B4-4AD9-FA44-BF5A-E9802DA1423B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10FF9B4-F892-AD47-B6E6-6E60E6327E34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B52F983-1B18-9547-A548-29890A2B452B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ADC0C30-6C2D-7A4E-84D6-17E8A9204D3D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1DE612B-C035-0E43-AC45-E3FD12DF9AB3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B50664A-416E-414F-A08A-B6D9F8E73955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F892AE73-B5DA-1B4E-A2E2-E75268B8A60D}"/>
              </a:ext>
            </a:extLst>
          </p:cNvPr>
          <p:cNvSpPr/>
          <p:nvPr/>
        </p:nvSpPr>
        <p:spPr>
          <a:xfrm>
            <a:off x="7785100" y="3898900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91454927-5E3C-CE4B-A7E6-9F031A4254A3}"/>
              </a:ext>
            </a:extLst>
          </p:cNvPr>
          <p:cNvSpPr/>
          <p:nvPr/>
        </p:nvSpPr>
        <p:spPr>
          <a:xfrm>
            <a:off x="8242300" y="34417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ACB011EC-7490-9A4E-BED5-8E60955427A2}"/>
              </a:ext>
            </a:extLst>
          </p:cNvPr>
          <p:cNvSpPr/>
          <p:nvPr/>
        </p:nvSpPr>
        <p:spPr>
          <a:xfrm>
            <a:off x="8699500" y="41275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54D5D5-E5E6-BF47-9241-AD844D65D6E9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1 · Assignment (iteration 1)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217B1B-333F-8044-BF4F-407BF4552CC4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Assign each point to its nearest centroid:  cᵢ = argminₖ ‖xᵢ − </a:t>
            </a:r>
            <a:r>
              <a:rPr lang="el-GR" sz="1600">
                <a:solidFill>
                  <a:srgbClr val="333333"/>
                </a:solidFill>
              </a:rPr>
              <a:t>μ</a:t>
            </a:r>
            <a:r>
              <a:rPr lang="en-US" sz="1600">
                <a:solidFill>
                  <a:srgbClr val="333333"/>
                </a:solidFill>
              </a:rPr>
              <a:t>ₖ‖².  Point colours now show the current cluster membership.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662C5C-273F-C14B-9968-859462D1BEED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9B4462-20B8-8F42-8C94-08777CD65D56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E85EAA-FF3C-3146-BFAC-44191546345D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FD862-E8B4-C949-8319-E890792E250B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13CC32-48A7-884B-8E65-42269723427D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822E29-E86E-514F-846D-9CD65E61FE85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14F94029-0322-5141-80BB-63CC9561E8DD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787C6D-DB5B-B849-9E8D-D8408BD94326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158175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A1CE-2C78-1D49-A4F7-25ADF318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DC363-8A49-BE41-BE00-9F9D2EE1E25C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6149D7-E250-294B-BAC9-1BB430D20A94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60CC2-9146-CD46-A58D-20E7E620BD35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B8DD9-2F11-6E44-898D-4BC427DF34D1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B48FE5-3918-F344-A7AD-CA90C6D04A96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1D58F-61A8-654A-AFE5-16359FCF00D0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E9639-1C49-0C4F-8935-D44DFFC5E4E1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FB7241-2E59-FA42-9F71-E9BAD2762F2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C1EEB4-27C2-FE4E-94B7-FA91FE4DEDBA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02062-1471-3248-9A5C-C1F5C4290B49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A34F3C-5ED1-7549-B4C2-42BC8ABC08EC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E1B08-4AF9-4544-B083-953A07A97C79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0BABF-7EC4-EF48-817D-C0FB16BC0EBF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2AC487-52F0-AE4B-B69D-32914479C4BE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729367-620F-7C41-8C6F-6CDC149D53DE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FDF7D1-935D-BF4A-8D90-DC8E194CF7BF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271AB2-3FDB-8D43-837C-EA5C43178AC5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1A091-E804-9341-8604-E4ADC3B76300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4AFEAA-1160-D449-B843-6D8804D7ADED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2CEB9A-4242-F64C-A696-BC1BBD521CE3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09ED0-A2DA-DB4A-8AE4-1E9E60A8ADF5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2C02C0-4504-334E-BB67-35C839F02449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3525FD-ECD4-C441-A71E-709A0ECBA316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9B6321-6F20-8A4F-8BBD-8B5D49340BE9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8AAB6-6D28-244D-8DC9-87394D019C78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CC6B8B-C87A-9245-B029-52356703DB11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2C916-6A8F-6B40-BE30-6AB137DA959C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573A22-810E-D54F-A1FD-B225F2D4B98A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E62E23-E94F-CE40-80EA-05CAC9A9E5F7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E82457-DFFD-9943-B014-8C94FAA93F38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F4E732-744B-444C-949E-0C0AE6D0DB0E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B42E5D-D599-2D49-9E00-2EE3BB8CD017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5DCC89-0490-F047-9239-2ECA5734533A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FC103E-F858-7C4B-8417-1A8DBF767745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9D5F9-4B3D-884A-9710-4FCA1340F81F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9C4678-E799-9144-A456-1DA29F076E47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E09B69F-1153-B94B-A5AD-E4FB4849487E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89BFB0-7624-8140-BF45-9F295B578806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45E11C-8BD8-AF46-8407-77A2FC55B3FC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A50C4E-A151-844E-A5FE-5DCD97A883F4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35D2E4-E218-FF43-BDCC-B3C3FFE4CE75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80889A-3F6D-1145-83CE-788726B02E45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26CD77-640D-6046-98CF-00D9B16A9723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5E8A4C5-EDD0-B340-9491-C477DA33B7F6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1725189-1441-3247-8ADF-D5133BF43B94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AE0639-7B8C-3A46-AF68-F18BA6BBC30F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332F95-E541-8947-99A3-797539C10C86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27CFCCB-EA31-7940-BCDD-52C1F25FA0FE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4ABBE81-CB2F-274A-819A-814A09852AFC}"/>
              </a:ext>
            </a:extLst>
          </p:cNvPr>
          <p:cNvSpPr/>
          <p:nvPr/>
        </p:nvSpPr>
        <p:spPr>
          <a:xfrm>
            <a:off x="7810500" y="39243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C1E0359A-FA84-254C-B550-4270DE4B3452}"/>
              </a:ext>
            </a:extLst>
          </p:cNvPr>
          <p:cNvSpPr/>
          <p:nvPr/>
        </p:nvSpPr>
        <p:spPr>
          <a:xfrm>
            <a:off x="8267700" y="34671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5046A891-C3E7-0C40-8495-AFA443BB5400}"/>
              </a:ext>
            </a:extLst>
          </p:cNvPr>
          <p:cNvSpPr/>
          <p:nvPr/>
        </p:nvSpPr>
        <p:spPr>
          <a:xfrm>
            <a:off x="8724900" y="41529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16018D0A-73D6-934E-86D9-4858D0FA8CD8}"/>
              </a:ext>
            </a:extLst>
          </p:cNvPr>
          <p:cNvSpPr/>
          <p:nvPr/>
        </p:nvSpPr>
        <p:spPr>
          <a:xfrm>
            <a:off x="7113016" y="3624579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F77DFE9D-310F-5C47-92CB-391395B89261}"/>
              </a:ext>
            </a:extLst>
          </p:cNvPr>
          <p:cNvSpPr/>
          <p:nvPr/>
        </p:nvSpPr>
        <p:spPr>
          <a:xfrm>
            <a:off x="9042400" y="2403856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C1CB0CCA-87DF-3A44-83D6-4D26CF53D781}"/>
              </a:ext>
            </a:extLst>
          </p:cNvPr>
          <p:cNvSpPr/>
          <p:nvPr/>
        </p:nvSpPr>
        <p:spPr>
          <a:xfrm>
            <a:off x="8438896" y="50419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D4344E-D9B3-D245-91EF-ABDE90728AB7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2 · Update (iteration 1)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6AFB38-F04B-9849-A9FB-A31750094D59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Move each centroid to the mean of its assigned points:  </a:t>
            </a:r>
            <a:r>
              <a:rPr lang="el-GR" sz="1600">
                <a:solidFill>
                  <a:srgbClr val="333333"/>
                </a:solidFill>
              </a:rPr>
              <a:t>μ</a:t>
            </a:r>
            <a:r>
              <a:rPr lang="en-US" sz="1600">
                <a:solidFill>
                  <a:srgbClr val="333333"/>
                </a:solidFill>
              </a:rPr>
              <a:t>ₖ = (1/|Cₖ|) </a:t>
            </a:r>
            <a:r>
              <a:rPr lang="el-GR" sz="1600">
                <a:solidFill>
                  <a:srgbClr val="333333"/>
                </a:solidFill>
              </a:rPr>
              <a:t>Σ </a:t>
            </a:r>
            <a:r>
              <a:rPr lang="en-US" sz="1600">
                <a:solidFill>
                  <a:srgbClr val="333333"/>
                </a:solidFill>
              </a:rPr>
              <a:t>xᵢ.  Hollow markers show the previous centroid positions.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FEBE86-8B06-5F4F-A6C3-EA88A21D63AB}"/>
              </a:ext>
            </a:extLst>
          </p:cNvPr>
          <p:cNvSpPr/>
          <p:nvPr/>
        </p:nvSpPr>
        <p:spPr>
          <a:xfrm>
            <a:off x="711200" y="47244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09E1BF-A15B-3C44-9F80-47C812922471}"/>
              </a:ext>
            </a:extLst>
          </p:cNvPr>
          <p:cNvSpPr txBox="1"/>
          <p:nvPr/>
        </p:nvSpPr>
        <p:spPr>
          <a:xfrm>
            <a:off x="1016000" y="46863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E5937C7-BB70-444E-BAD1-14DED01F8898}"/>
              </a:ext>
            </a:extLst>
          </p:cNvPr>
          <p:cNvSpPr/>
          <p:nvPr/>
        </p:nvSpPr>
        <p:spPr>
          <a:xfrm>
            <a:off x="711200" y="50800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D98524-6F7C-904D-A892-22BAC22A34DF}"/>
              </a:ext>
            </a:extLst>
          </p:cNvPr>
          <p:cNvSpPr txBox="1"/>
          <p:nvPr/>
        </p:nvSpPr>
        <p:spPr>
          <a:xfrm>
            <a:off x="1016000" y="50419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539DEE7-CC0C-9342-A243-518275ADE6C0}"/>
              </a:ext>
            </a:extLst>
          </p:cNvPr>
          <p:cNvSpPr/>
          <p:nvPr/>
        </p:nvSpPr>
        <p:spPr>
          <a:xfrm>
            <a:off x="711200" y="5435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2C001B-42CD-C844-981D-B1219781482E}"/>
              </a:ext>
            </a:extLst>
          </p:cNvPr>
          <p:cNvSpPr txBox="1"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8DCA6CE5-00DC-8840-8B87-2C971E75FB0F}"/>
              </a:ext>
            </a:extLst>
          </p:cNvPr>
          <p:cNvSpPr/>
          <p:nvPr/>
        </p:nvSpPr>
        <p:spPr>
          <a:xfrm>
            <a:off x="698500" y="57912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535375-076C-CD4B-AAB9-4DE1C34BE9FF}"/>
              </a:ext>
            </a:extLst>
          </p:cNvPr>
          <p:cNvSpPr txBox="1"/>
          <p:nvPr/>
        </p:nvSpPr>
        <p:spPr>
          <a:xfrm>
            <a:off x="1016000" y="57531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New centroid</a:t>
            </a: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D99A426B-422F-D34F-84BD-1A652C68E17F}"/>
              </a:ext>
            </a:extLst>
          </p:cNvPr>
          <p:cNvSpPr/>
          <p:nvPr/>
        </p:nvSpPr>
        <p:spPr>
          <a:xfrm>
            <a:off x="698500" y="6146800"/>
            <a:ext cx="228600" cy="2286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838CBA-6812-1D4B-AAAA-48F9B786C9A3}"/>
              </a:ext>
            </a:extLst>
          </p:cNvPr>
          <p:cNvSpPr txBox="1"/>
          <p:nvPr/>
        </p:nvSpPr>
        <p:spPr>
          <a:xfrm>
            <a:off x="1016000" y="61087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Previous centroid</a:t>
            </a:r>
          </a:p>
        </p:txBody>
      </p:sp>
    </p:spTree>
    <p:extLst>
      <p:ext uri="{BB962C8B-B14F-4D97-AF65-F5344CB8AC3E}">
        <p14:creationId xmlns:p14="http://schemas.microsoft.com/office/powerpoint/2010/main" val="11335835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0B27-1D0A-3A69-4566-A9AC5669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D3E0D-8087-1341-9484-CFDE4DD98FE7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9BF76-A76E-AE4E-9686-9BE5ED951636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B4DD9-F467-B94D-9D79-2033813281AB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72C31-8274-8E4F-A97A-84CB0DBE1AF9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E2484-C3D1-854D-9B32-3F32A5A1D120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26971-E8F1-E240-B0FA-50A5D7D109D1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BFF4B-5F09-6A4B-9581-D0BA3CB39DB0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226EE-DD7B-D14E-A35B-E34912EE842B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F77F7-B67F-4548-90A8-61D1C15015C4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7C041A-61CB-624A-B692-42A9EAB4CEDF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C440E-9981-274A-8123-D5BAA94868A4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9AD3D-247B-4F43-998F-4F47AE1D7136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6A0A7-95FA-E748-B2A1-4C343137CD68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05D577-5007-A24D-A409-0C2954EB31A6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71DED3-1D9E-EA4C-BE88-477CD916882A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BF759-F77E-A943-80C5-B79B1673CE04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D4ECF-B168-F745-BC8B-40B354B4D48B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C5A054-EB54-9B44-8B73-A107EEE5555F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7D4EB-98CA-B747-9F3A-C217789CC31F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44AA27-156F-E64C-AB85-7AF48BAD35A8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C1FE26-DE7A-C942-85FA-D6A7EFF242F9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31A64B-126B-7A4B-8F28-FE256EE0C24F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B58E87-E2F4-2344-81B5-089F985F7727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410AC3-4531-E24B-97AA-1597762B4EBA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4ACE32-33DB-5D47-871F-4021D36563F6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B6B31B-4955-DB4B-AA2A-D2B8D0D2B427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37FC3-621A-164D-ABF9-0946B5552E3C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3C4F2F-BA7B-A046-B0AC-3909A80D0ABC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F7BC1-9494-E844-8416-C7240D31A810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A3704F-CB71-7E41-B6FF-CF0EF9CA165F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EB892D-8601-C843-AF39-E318DC9BF41F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30B8B2-DD8A-4747-B3B7-572F14721789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C4B18D-86C2-354F-B2BC-D22A595AF935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84B537-B3E1-1142-B374-9EEC89B672A6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353556-417C-D34E-A94E-3F37EB9B31F5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C0185A-E46D-204F-8FB7-EDDE1C62107A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47C919-4351-AF42-A6ED-46B1DC16D5A8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AD9DC18-0998-7147-9D94-2E5D687AC045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7EA5B0-FBF2-534B-BBE6-8B251831AFBA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6AF952-B2F0-094F-914A-90A073FCB775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C6848C1-DBAC-BF4A-9561-AF91569819B4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D83FAF9-6209-3740-88F8-CED890CE7B3D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54BC5B-ACA2-564A-9539-5D9E8AD049E1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C4520DE-7DA2-9B40-AB07-DB64ED4FEDF1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0CB2D68-B18F-964C-A332-5E0BC27D0B81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63E6346-35A2-B540-83A9-9ABFD24B1B7B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EABA225-FABF-E544-BBE7-67CD6DFB8D87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B0356D-23E9-1841-84F2-52D8479FAE5F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6FC95A51-D46B-B84B-94C1-22D000C23E99}"/>
              </a:ext>
            </a:extLst>
          </p:cNvPr>
          <p:cNvSpPr/>
          <p:nvPr/>
        </p:nvSpPr>
        <p:spPr>
          <a:xfrm>
            <a:off x="7113016" y="3624579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B175A891-12AE-544E-ACCA-2E5E78092B90}"/>
              </a:ext>
            </a:extLst>
          </p:cNvPr>
          <p:cNvSpPr/>
          <p:nvPr/>
        </p:nvSpPr>
        <p:spPr>
          <a:xfrm>
            <a:off x="9042400" y="2403856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4A2640A9-66A6-694B-91EA-22B246D71DAC}"/>
              </a:ext>
            </a:extLst>
          </p:cNvPr>
          <p:cNvSpPr/>
          <p:nvPr/>
        </p:nvSpPr>
        <p:spPr>
          <a:xfrm>
            <a:off x="8438896" y="50419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2713B5-7F3F-EF40-81FE-8EF923A14750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1 · Assignment (iteration 2)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E3059F-86D5-6649-A1B7-00EE346628E2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Re-assign every point to the nearest updated centroid. Memberships sharpen — the three clusters now separate cleanly.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74FDE6-DE95-E442-9193-8DA81A0C40B2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1601E1-09EA-0241-81C5-5F953FAFDA35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22B024-64B9-EB49-A9A6-23B6C7C84FCE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28D25C-8C79-F342-92D4-1860A4A1D069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3D7E83D-1727-834D-9A90-847919A53C77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5ED740-D471-D048-A77F-9A95D28BABFC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C5F106F-D46F-1647-BF8F-85C2E0435DCE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92BA79-25D4-FC4E-A5D9-B520648EE4CC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21899899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7247-20F7-B770-AF3F-A2823B53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F3332-CF62-834A-9B90-48279B4A893E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71E3A-B5A9-8F4D-BFAF-C7BB9DE5184E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21E76-E8EB-184C-AD90-A02D0F564A9C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E1960E-65AC-914E-B8E2-F9F86105F15C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BCC66-8F28-2743-8639-678A9B728475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C2FCC-7A36-154E-95F1-0C2BB7AAAE5C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4C27-FC72-FB47-9611-400695B66CFC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872D9-6B19-FA41-9C73-847089B365B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DC05D-B76C-BB46-A9FF-26D45D5DBAA8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5EA70-8E3E-9B47-BC5C-387C5F870898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77D838-BDC3-F548-88A9-0579E0A99C32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C9FC85-941B-F047-B599-C68906F320D3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903E62-2A9F-8F48-AC39-B4FF16FF4E5A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C319C-4368-6B43-BE14-CA9FAEF018BC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4389F7-9634-9B4D-9750-781BC589BC2F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0B7B57-023E-9241-8B27-3B0CD4FFDDF9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2377E-1742-EA40-BA86-7858508EFC19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11181-4481-DF46-9383-5B99AC8933E8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9EE720-34D8-F44D-AAC7-FCAAEB02CDE4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D456C0-B989-0D4C-ABDA-2E69A50611C3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8A073-460D-5345-A828-1FF9BB312E97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47D2E6-8B35-0D43-BBC2-CE0B448837CC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A86E2-7156-3842-AA15-5C78308D004A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834694-19E2-FF41-92C7-60DB6B29D07A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219809-059B-754A-B3C1-46A2A3EFC306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8DFAEC-4E1B-9749-8489-95B46D3F327E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0A1843-4024-F040-8A5A-89AE1B16F7A8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CA8B5-ACDD-C347-987C-D2E5A710D0C6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08F79-4DF2-3140-9E03-2771D715D291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E778B7-4A61-CC49-92DE-9373FF8015B6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28647F-5DFC-2E4E-8AB8-AD90655B9B7D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ECFC83-FC56-384D-AEE0-7E532151A523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7DFC19-ADC7-FF40-AB96-338E33E11496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D610F5-4847-564E-9FB1-829FE564D085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C65DE2-0D0A-EE49-BEA2-A778BE11FE6A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66853-3ABC-504F-B74F-AE7BCB60AACD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F7CA05-BBDD-454B-A144-28974931D821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D93CF1-42BA-7A49-B188-FE42E0BC3054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F9B0A3D-2F4F-BB41-AAD1-C2C17BCC5E91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CADEA0-E5DD-8F4E-AAFB-B050957B112A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399183-DC9B-0043-998C-ACCD7EEF9F02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777128-28FC-4F4C-82BD-6D2AF2751226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1F073A-3ABD-244F-9423-96883FDD3A7B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21B164A-D68E-E94E-8C06-15CB41D11DB9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56F779-EE47-AC4D-9D44-BE7D00D6CC6B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E353354-88A8-3B46-A48E-792052BC433B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32861E-AA9E-6044-B5D3-CB606FD42EBF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3C1A00C-407E-D94D-98D1-03CF5C05236B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D165C777-03FE-2945-AB29-5D2444873227}"/>
              </a:ext>
            </a:extLst>
          </p:cNvPr>
          <p:cNvSpPr/>
          <p:nvPr/>
        </p:nvSpPr>
        <p:spPr>
          <a:xfrm>
            <a:off x="7138416" y="3649979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845A55E5-A176-364A-AC04-C6B889BE04EC}"/>
              </a:ext>
            </a:extLst>
          </p:cNvPr>
          <p:cNvSpPr/>
          <p:nvPr/>
        </p:nvSpPr>
        <p:spPr>
          <a:xfrm>
            <a:off x="9067800" y="2429256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E0380E65-A6BB-0241-BE9C-2ECE504C0196}"/>
              </a:ext>
            </a:extLst>
          </p:cNvPr>
          <p:cNvSpPr/>
          <p:nvPr/>
        </p:nvSpPr>
        <p:spPr>
          <a:xfrm>
            <a:off x="8464296" y="50673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976B677C-8AB8-7341-888B-58315058D2E0}"/>
              </a:ext>
            </a:extLst>
          </p:cNvPr>
          <p:cNvSpPr/>
          <p:nvPr/>
        </p:nvSpPr>
        <p:spPr>
          <a:xfrm>
            <a:off x="7044436" y="2563876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09E18DDE-678F-D149-B066-87FAA8841A1A}"/>
              </a:ext>
            </a:extLst>
          </p:cNvPr>
          <p:cNvSpPr/>
          <p:nvPr/>
        </p:nvSpPr>
        <p:spPr>
          <a:xfrm>
            <a:off x="9897364" y="24130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569B87E2-DE21-5944-A145-E7943B69BA59}"/>
              </a:ext>
            </a:extLst>
          </p:cNvPr>
          <p:cNvSpPr/>
          <p:nvPr/>
        </p:nvSpPr>
        <p:spPr>
          <a:xfrm>
            <a:off x="8288020" y="513334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D46945-3B57-5A4B-9AEB-1509F523CC76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2 · Update (iteration 2) — converged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C7A50E-85CA-B149-AC7F-9E0B25F371E9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Centroids settle on the final cluster means. The next assignment would not change, so Lloyd's algorithm has converged to a local minimum of J.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1650C1-F888-A54A-BA37-8C9E83EA6FB4}"/>
              </a:ext>
            </a:extLst>
          </p:cNvPr>
          <p:cNvSpPr/>
          <p:nvPr/>
        </p:nvSpPr>
        <p:spPr>
          <a:xfrm>
            <a:off x="711200" y="47244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31683F-4BDE-8D49-AA2A-70181EA3CBBF}"/>
              </a:ext>
            </a:extLst>
          </p:cNvPr>
          <p:cNvSpPr txBox="1"/>
          <p:nvPr/>
        </p:nvSpPr>
        <p:spPr>
          <a:xfrm>
            <a:off x="1016000" y="46863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504F8D-B9F8-094B-B185-A51B4FE7DB2E}"/>
              </a:ext>
            </a:extLst>
          </p:cNvPr>
          <p:cNvSpPr/>
          <p:nvPr/>
        </p:nvSpPr>
        <p:spPr>
          <a:xfrm>
            <a:off x="711200" y="50800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85AEEB-024B-8B40-A29B-4D178E56AE44}"/>
              </a:ext>
            </a:extLst>
          </p:cNvPr>
          <p:cNvSpPr txBox="1"/>
          <p:nvPr/>
        </p:nvSpPr>
        <p:spPr>
          <a:xfrm>
            <a:off x="1016000" y="50419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AD8B3EF-C987-1840-B898-78FAD94822ED}"/>
              </a:ext>
            </a:extLst>
          </p:cNvPr>
          <p:cNvSpPr/>
          <p:nvPr/>
        </p:nvSpPr>
        <p:spPr>
          <a:xfrm>
            <a:off x="711200" y="5435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7C9349-9715-704F-9296-2EA7029177C4}"/>
              </a:ext>
            </a:extLst>
          </p:cNvPr>
          <p:cNvSpPr txBox="1"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311D76CF-80EE-7342-9D72-B0707FDF4FE7}"/>
              </a:ext>
            </a:extLst>
          </p:cNvPr>
          <p:cNvSpPr/>
          <p:nvPr/>
        </p:nvSpPr>
        <p:spPr>
          <a:xfrm>
            <a:off x="698500" y="57912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3E78C8-1AE3-F94A-9394-35FBB03DDEBC}"/>
              </a:ext>
            </a:extLst>
          </p:cNvPr>
          <p:cNvSpPr txBox="1"/>
          <p:nvPr/>
        </p:nvSpPr>
        <p:spPr>
          <a:xfrm>
            <a:off x="1016000" y="57531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Final centroid</a:t>
            </a: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3A0FA0A3-9336-914C-814C-27E5FF060134}"/>
              </a:ext>
            </a:extLst>
          </p:cNvPr>
          <p:cNvSpPr/>
          <p:nvPr/>
        </p:nvSpPr>
        <p:spPr>
          <a:xfrm>
            <a:off x="698500" y="6146800"/>
            <a:ext cx="228600" cy="2286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C61E18-C82D-E34F-AF00-EE1105897532}"/>
              </a:ext>
            </a:extLst>
          </p:cNvPr>
          <p:cNvSpPr txBox="1"/>
          <p:nvPr/>
        </p:nvSpPr>
        <p:spPr>
          <a:xfrm>
            <a:off x="1016000" y="61087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Previous centroid</a:t>
            </a:r>
          </a:p>
        </p:txBody>
      </p:sp>
    </p:spTree>
    <p:extLst>
      <p:ext uri="{BB962C8B-B14F-4D97-AF65-F5344CB8AC3E}">
        <p14:creationId xmlns:p14="http://schemas.microsoft.com/office/powerpoint/2010/main" val="2705647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BC71-86F7-326E-297A-E2C79013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Initialization: k-means++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3F33D-294A-1B45-BEA3-9636A12D436B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06210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Random initialization can place two centroids in the same true cluster, trapping Lloyd in a bad local minimum.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k-means++ spreads initial centroids using a probability proportional to squared distance from the nearest chosen centroid.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Guarantees expected cost within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the optimum — a provable approximation bound.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Standard default in scikit-learn (init='k-means++').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3F33D-294A-1B45-BEA3-9636A12D4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062103"/>
              </a:xfrm>
              <a:prstGeom prst="rect">
                <a:avLst/>
              </a:prstGeom>
              <a:blipFill>
                <a:blip r:embed="rId2"/>
                <a:stretch>
                  <a:fillRect l="-682" t="-1227" r="-682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BCF88F-9170-4946-92E9-9156CE8994AD}"/>
              </a:ext>
            </a:extLst>
          </p:cNvPr>
          <p:cNvSpPr/>
          <p:nvPr/>
        </p:nvSpPr>
        <p:spPr>
          <a:xfrm>
            <a:off x="6477000" y="2133600"/>
            <a:ext cx="4826000" cy="3810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0134-2540-3A47-AC8B-590F4B834797}"/>
                  </a:ext>
                </a:extLst>
              </p:cNvPr>
              <p:cNvSpPr txBox="1"/>
              <p:nvPr/>
            </p:nvSpPr>
            <p:spPr>
              <a:xfrm>
                <a:off x="6705600" y="2336800"/>
                <a:ext cx="4368800" cy="19697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00A7B5"/>
                    </a:solidFill>
                    <a:latin typeface="Arial"/>
                  </a:rPr>
                  <a:t>The procedure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uniformly at random from the rows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min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Choose the next centroid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5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 until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centroids are chosen, then run Lloyd.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0134-2540-3A47-AC8B-590F4B834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336800"/>
                <a:ext cx="4368800" cy="1969770"/>
              </a:xfrm>
              <a:prstGeom prst="rect">
                <a:avLst/>
              </a:prstGeom>
              <a:blipFill>
                <a:blip r:embed="rId3"/>
                <a:stretch>
                  <a:fillRect l="-870" t="-641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660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1: Assignment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3542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Assign each point to its nearest centroid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Compare every point to both centroids μ₁ = (1, 1) and μ₂ = (8, 8), and pick the smaller squared distance.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The three low points fall to cluster 1; the three high points fall to cluster 2.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36960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Assignment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b="1" dirty="0">
                <a:solidFill>
                  <a:srgbClr val="1F6FB2"/>
                </a:solidFill>
              </a:rPr>
              <a:t>Cluster 1  →  μ₁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1F6FB2"/>
                </a:solidFill>
                <a:latin typeface="Cambria Math"/>
              </a:rPr>
              <a:t>x₁=(1,1)   x₂=(1,2)   x₃=(2,1)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E8833A"/>
                </a:solidFill>
              </a:rPr>
              <a:t>Cluster 2  →  μ₂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E8833A"/>
                </a:solidFill>
                <a:latin typeface="Cambria Math"/>
              </a:rPr>
              <a:t>x₄=(8,8)   x₅=(9,8)   x₆=(8,9)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39355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2: Update Centroids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12338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Recompute each centroid as the cluster mean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Average the points assigned to each cluster, coordinate by coordinate.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Both centroids move toward the centre of their three points.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8312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Update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b="1" dirty="0">
                <a:solidFill>
                  <a:srgbClr val="1F6FB2"/>
                </a:solidFill>
              </a:rPr>
              <a:t>Cluster 1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1F6FB2"/>
                </a:solidFill>
                <a:latin typeface="Cambria Math"/>
              </a:rPr>
              <a:t>μ₁ = (1+1+2, 1+2+1) / 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1F6FB2"/>
                </a:solidFill>
                <a:latin typeface="Cambria Math"/>
              </a:rPr>
              <a:t>     = (4, 4) / 3 = (1.33, 1.33)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E8833A"/>
                </a:solidFill>
              </a:rPr>
              <a:t>Cluster 2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E8833A"/>
                </a:solidFill>
                <a:latin typeface="Cambria Math"/>
              </a:rPr>
              <a:t>μ₂ = (8+9+8, 8+8+9) / 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E8833A"/>
                </a:solidFill>
                <a:latin typeface="Cambria Math"/>
              </a:rPr>
              <a:t>     = (25, 25) / 3 = (8.33, 8.33)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584028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3: Inertia &amp; Convergence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3542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Measure the within-cluster spread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Inertia J adds up the squared distance from every point to its own centroid.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Re-assigning with the updated centroids keeps every point in the same cluster, so the algorithm has converged in one iteration.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4311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Inertia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1 spread:  </a:t>
            </a:r>
            <a:r>
              <a:rPr lang="en-US" sz="1500" b="1" dirty="0">
                <a:solidFill>
                  <a:srgbClr val="1F6FB2"/>
                </a:solidFill>
                <a:latin typeface="Cambria Math"/>
              </a:rPr>
              <a:t>1.33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2 spread:  </a:t>
            </a:r>
            <a:r>
              <a:rPr lang="en-US" sz="1500" b="1" dirty="0">
                <a:solidFill>
                  <a:srgbClr val="E8833A"/>
                </a:solidFill>
                <a:latin typeface="Cambria Math"/>
              </a:rPr>
              <a:t>1.33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333333"/>
                </a:solidFill>
                <a:latin typeface="Cambria Math"/>
              </a:rPr>
              <a:t>J = 1.33 + 1.33 = 2.67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00A7B5"/>
                </a:solidFill>
              </a:rPr>
              <a:t>Assignments unchanged  ⇒  converged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6696839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90EF-7222-5516-02A9-8FD250F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 — Step 1: Stack the 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2C87D-17C9-E741-820D-E9A2EDF08D1B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414DE-BF21-534C-BDA4-C9E87AF796E9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Rows are data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578D9-00D4-C64E-8A83-CAB1EA9DFBCF}"/>
              </a:ext>
            </a:extLst>
          </p:cNvPr>
          <p:cNvSpPr txBox="1"/>
          <p:nvPr/>
        </p:nvSpPr>
        <p:spPr>
          <a:xfrm>
            <a:off x="609600" y="2844800"/>
            <a:ext cx="546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Stack the six observations x₁…x₆ as the rows of the data matrix X.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X is 6×2: six points, two features per point.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5730A-8D89-F84E-88E3-1F952EE4054E}"/>
              </a:ext>
            </a:extLst>
          </p:cNvPr>
          <p:cNvSpPr txBox="1"/>
          <p:nvPr/>
        </p:nvSpPr>
        <p:spPr>
          <a:xfrm>
            <a:off x="609600" y="45466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Each column is one feature dimension.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714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90EF-7222-5516-02A9-8FD250F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 — Step 2: Stack the Centroids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2C87D-17C9-E741-820D-E9A2EDF08D1B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414DE-BF21-534C-BDA4-C9E87AF796E9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Rows are centroids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578D9-00D4-C64E-8A83-CAB1EA9DFBCF}"/>
              </a:ext>
            </a:extLst>
          </p:cNvPr>
          <p:cNvSpPr txBox="1"/>
          <p:nvPr/>
        </p:nvSpPr>
        <p:spPr>
          <a:xfrm>
            <a:off x="609600" y="2844800"/>
            <a:ext cx="546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Stack the two initial centroids μ₁ = (1, 1) and μ₂ = (8, 8) as the rows of M⁽⁰⁾ (2×2).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1 = blue, cluster 2 = orange. We keep this colour coding throughout.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5730A-8D89-F84E-88E3-1F952EE4054E}"/>
              </a:ext>
            </a:extLst>
          </p:cNvPr>
          <p:cNvSpPr txBox="1"/>
          <p:nvPr/>
        </p:nvSpPr>
        <p:spPr>
          <a:xfrm>
            <a:off x="609600" y="45466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One row per cluster centre.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(0)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2826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1: The Formula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Every point to every centroid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CA49-F08A-9B43-835C-8A43C92E1E04}"/>
              </a:ext>
            </a:extLst>
          </p:cNvPr>
          <p:cNvSpPr txBox="1"/>
          <p:nvPr/>
        </p:nvSpPr>
        <p:spPr>
          <a:xfrm>
            <a:off x="609600" y="2844800"/>
            <a:ext cx="546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Build a 6×2 matrix D. Entry D(i, k) is the squared Euclidean distance from point xᵢ to centroid μₖ.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Column 1 measures distance to μ₁ (blue); column 2 to μ₂ (orange).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Smaller entry in a row = the nearer centroid.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𝑖𝑘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8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9139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2: Compute Column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Distances to μ₁ = (1,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CA49-F08A-9B43-835C-8A43C92E1E04}"/>
              </a:ext>
            </a:extLst>
          </p:cNvPr>
          <p:cNvSpPr txBox="1"/>
          <p:nvPr/>
        </p:nvSpPr>
        <p:spPr>
          <a:xfrm>
            <a:off x="609600" y="2844800"/>
            <a:ext cx="546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Set k = 1 and apply the formula to each point. For x₂ = (1, 2):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Repeating for all six points fills column 1 of 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Column 1 = squared distances to μ₁.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1−1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2−1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=0+1=1</m:t>
                      </m:r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9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(·, 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𝜇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₁)=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98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113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113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7621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3: Assemble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All distances at once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CA49-F08A-9B43-835C-8A43C92E1E04}"/>
              </a:ext>
            </a:extLst>
          </p:cNvPr>
          <p:cNvSpPr txBox="1"/>
          <p:nvPr/>
        </p:nvSpPr>
        <p:spPr>
          <a:xfrm>
            <a:off x="609600" y="2844800"/>
            <a:ext cx="546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Column 1 = distances to μ₁ (blue); column 2 = distances to μ₂ (orange).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The smaller value in each row (bold) marks the nearer centroid.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Bold entries preview the assignment in the next step.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98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113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113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811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33A-3E00-72BA-B17B-4DAD0360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— Step 1: Nearest Centroid (argmin)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A669A5-123F-554A-84A3-C18B2B93F0B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E252C-B0C1-3041-A6AA-2632D963D700}"/>
              </a:ext>
            </a:extLst>
          </p:cNvPr>
          <p:cNvSpPr txBox="1"/>
          <p:nvPr/>
        </p:nvSpPr>
        <p:spPr>
          <a:xfrm>
            <a:off x="609600" y="23368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Pick the nearest centroid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65808-EE54-AA4E-BD45-50DA632AB6B4}"/>
              </a:ext>
            </a:extLst>
          </p:cNvPr>
          <p:cNvSpPr txBox="1"/>
          <p:nvPr/>
        </p:nvSpPr>
        <p:spPr>
          <a:xfrm>
            <a:off x="609600" y="2844800"/>
            <a:ext cx="558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For each row of D, the assignment cᵢ is the column index of the smaller squared distance — the nearer centroid.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Rows 1–3 → cluster 1 (blue);  rows 4–6 → cluster 2 (orange).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79302-A7D6-FD47-A67A-13978F160F57}"/>
              </a:ext>
            </a:extLst>
          </p:cNvPr>
          <p:cNvSpPr txBox="1"/>
          <p:nvPr/>
        </p:nvSpPr>
        <p:spPr>
          <a:xfrm>
            <a:off x="609600" y="4470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 records each point’s cluster label.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𝑎𝑟𝑔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𝑚𝑖𝑛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9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4562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33A-3E00-72BA-B17B-4DAD0360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— Step 2: One-Hot Matrix Z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A669A5-123F-554A-84A3-C18B2B93F0B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E252C-B0C1-3041-A6AA-2632D963D700}"/>
              </a:ext>
            </a:extLst>
          </p:cNvPr>
          <p:cNvSpPr txBox="1"/>
          <p:nvPr/>
        </p:nvSpPr>
        <p:spPr>
          <a:xfrm>
            <a:off x="609600" y="23368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Encode labels as a binary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65808-EE54-AA4E-BD45-50DA632AB6B4}"/>
              </a:ext>
            </a:extLst>
          </p:cNvPr>
          <p:cNvSpPr txBox="1"/>
          <p:nvPr/>
        </p:nvSpPr>
        <p:spPr>
          <a:xfrm>
            <a:off x="609600" y="2844800"/>
            <a:ext cx="558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Z is 6×2. Row i puts a 1 in the assigned column and 0 elsewhere — the one-hot code of cᵢ.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Each column sum is the cluster size: 3 and 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79302-A7D6-FD47-A67A-13978F160F57}"/>
              </a:ext>
            </a:extLst>
          </p:cNvPr>
          <p:cNvSpPr txBox="1"/>
          <p:nvPr/>
        </p:nvSpPr>
        <p:spPr>
          <a:xfrm>
            <a:off x="609600" y="4470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Z turns the assignment into linear algebra.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3751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1: Cluster Sums ZᵀX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Each row of Zᵀ picks its cluster’s points and adds them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Row 1 (blue) = [1 1 1 0 0 0] selects x₁,x₂,x₃ → sum (4, 4).  Row 2 (orange) = [0 0 0 1 1 1] selects x₄,x₅,x₆ → sum (25, 25).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7300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2: Cluster Sizes &amp; Divide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Zᵀ1 counts each cluster, then divide the sums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Each cluster has Nₖ = 3 points. Dividing row k of ZᵀX by Nₖ gives the new centroid μₖ.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1=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  (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𝑐𝑙𝑢𝑠𝑡𝑒𝑟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𝑠𝑖𝑧𝑒𝑠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8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1F6FB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1F6FB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E883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E883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182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3: New Centroids M⁽¹⁾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Each centroid moves to its cluster 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Centroids shift toward their points. Re-running the assignment leaves every cluster unchanged — the iteration has converged.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(0)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 → 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1.33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1.33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8.33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8.33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4231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BDB-EEFC-8759-075C-7535C13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— Step 1: Keep Each Point’s Own Distance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7DF0B9-74E3-9A4C-A1B9-36A7E0C42BB4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9A3F4-0386-C340-AC3C-72228418C0F8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Z ⊙ D keeps each point’s distance to its own centroid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E3E75-592A-404A-9521-C6001A352A36}"/>
              </a:ext>
            </a:extLst>
          </p:cNvPr>
          <p:cNvSpPr txBox="1"/>
          <p:nvPr/>
        </p:nvSpPr>
        <p:spPr>
          <a:xfrm>
            <a:off x="609600" y="5054600"/>
            <a:ext cx="558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The element-wise product masks D with Z: where Z = 1 the squared distance (to the updated centroid M⁽¹⁾) is kept; everywhere else it becomes 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0.22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4304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BDB-EEFC-8759-075C-7535C13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— Step 2: Sum to Get J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7DF0B9-74E3-9A4C-A1B9-36A7E0C42BB4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9A3F4-0386-C340-AC3C-72228418C0F8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Add every kept entry → total inertia 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E3E75-592A-404A-9521-C6001A352A36}"/>
              </a:ext>
            </a:extLst>
          </p:cNvPr>
          <p:cNvSpPr txBox="1"/>
          <p:nvPr/>
        </p:nvSpPr>
        <p:spPr>
          <a:xfrm>
            <a:off x="609600" y="5054600"/>
            <a:ext cx="558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Each cluster contributes 1.33. Re-running assignment with M⁽¹⁾ leaves Z unchanged — the iteration has converged.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𝐽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/>
                            </a:rPr>
                            <m:t>0.22 + 0.56 + 0.56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/>
                            </a:rPr>
                            <m:t>0.22 + 0.56 + 0.56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1F6FB2"/>
                          </a:solidFill>
                          <a:latin typeface="Cambria Math"/>
                        </a:rPr>
                        <m:t>1.33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E8833A"/>
                          </a:solidFill>
                          <a:latin typeface="Cambria Math"/>
                        </a:rPr>
                        <m:t>1.33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2.67</m:t>
                      </m:r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266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C068-D16F-EAE0-2394-84E9736D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Choosing k (Elbow)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74B6F0-E81A-CB4D-92A1-9A44F5048298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8DA17-B8B1-8744-BE75-887A66DB6F98}"/>
                  </a:ext>
                </a:extLst>
              </p:cNvPr>
              <p:cNvSpPr txBox="1"/>
              <p:nvPr/>
            </p:nvSpPr>
            <p:spPr>
              <a:xfrm>
                <a:off x="838200" y="2159000"/>
                <a:ext cx="4724400" cy="216982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Run k-means 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=1…6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plot inertia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Pick the 'elbow' where marginal gain drops.</a:t>
                </a:r>
              </a:p>
              <a:p>
                <a:pPr>
                  <a:buNone/>
                </a:pPr>
                <a:endParaRPr lang="en-US" sz="7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Reading the curve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always decreases 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grows.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elbow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where adding clusters stops cutting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sharply.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Beyond the elbow, extra clusters only split noise.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8DA17-B8B1-8744-BE75-887A66DB6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9000"/>
                <a:ext cx="4724400" cy="2169825"/>
              </a:xfrm>
              <a:prstGeom prst="rect">
                <a:avLst/>
              </a:prstGeom>
              <a:blipFill>
                <a:blip r:embed="rId2"/>
                <a:stretch>
                  <a:fillRect l="-804" t="-581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ElbowChart"/>
          <p:cNvGraphicFramePr/>
          <p:nvPr/>
        </p:nvGraphicFramePr>
        <p:xfrm>
          <a:off x="5715000" y="2222500"/>
          <a:ext cx="5638800" cy="387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1650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6425-5FB7-0074-DBD4-0EED5D59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Scaling Changes Clusters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485515-52A8-6F48-A7AB-D2AB61120D7E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D77E30-28E2-774E-A8DD-DE4E5B3ECC12}"/>
              </a:ext>
            </a:extLst>
          </p:cNvPr>
          <p:cNvSpPr/>
          <p:nvPr/>
        </p:nvSpPr>
        <p:spPr>
          <a:xfrm>
            <a:off x="838200" y="2311400"/>
            <a:ext cx="5143500" cy="3784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2403E-899C-2846-B4AE-E36853C71188}"/>
                  </a:ext>
                </a:extLst>
              </p:cNvPr>
              <p:cNvSpPr txBox="1"/>
              <p:nvPr/>
            </p:nvSpPr>
            <p:spPr>
              <a:xfrm>
                <a:off x="1066800" y="2514600"/>
                <a:ext cx="4724400" cy="182492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B7A57A"/>
                    </a:solidFill>
                    <a:latin typeface="Arial"/>
                  </a:rPr>
                  <a:t>Raw features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Age (20–60) and Income ($20k–$120k).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333333"/>
                                      </a:solidFill>
                                    </a:rPr>
                                    <m:t>Δage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333333"/>
                                      </a:solidFill>
                                    </a:rPr>
                                    <m:t>Δincome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Income spans ~100,000 while age spans ~40. The squared income term dominates the norm — clusters split almost entirely on income.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2403E-899C-2846-B4AE-E36853C7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14600"/>
                <a:ext cx="4724400" cy="1824923"/>
              </a:xfrm>
              <a:prstGeom prst="rect">
                <a:avLst/>
              </a:prstGeom>
              <a:blipFill>
                <a:blip r:embed="rId2"/>
                <a:stretch>
                  <a:fillRect l="-1072" t="-2083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0968C8-568C-9F46-A09F-8E688BD3BE40}"/>
              </a:ext>
            </a:extLst>
          </p:cNvPr>
          <p:cNvSpPr/>
          <p:nvPr/>
        </p:nvSpPr>
        <p:spPr>
          <a:xfrm>
            <a:off x="6210300" y="2311400"/>
            <a:ext cx="5143500" cy="3784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439D6-55DB-1F4F-ADD2-734737AA96E9}"/>
                  </a:ext>
                </a:extLst>
              </p:cNvPr>
              <p:cNvSpPr txBox="1"/>
              <p:nvPr/>
            </p:nvSpPr>
            <p:spPr>
              <a:xfrm>
                <a:off x="6438900" y="2514600"/>
                <a:ext cx="4724400" cy="201574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A7B5"/>
                    </a:solidFill>
                    <a:latin typeface="Arial"/>
                  </a:rPr>
                  <a:t>Standardized (z-score)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column rescaled to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num>
                        <m:den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Both features now contribute equally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·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Clusters reflect joint age–income structure. Always standardize before a Euclidean k-means.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439D6-55DB-1F4F-ADD2-734737AA9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514600"/>
                <a:ext cx="4724400" cy="2015745"/>
              </a:xfrm>
              <a:prstGeom prst="rect">
                <a:avLst/>
              </a:prstGeom>
              <a:blipFill>
                <a:blip r:embed="rId3"/>
                <a:stretch>
                  <a:fillRect l="-804" t="-1887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8914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B7D4-E544-DA87-3344-F06957D6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0C9E46-303C-A241-A9E0-B0BFC127D1B7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4F5889-DB10-F444-B72A-CD0C2F831E99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EBBA6-4617-5B4B-8502-C18CF6A348A8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Two iterations.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Run Lloyd to convergence and give final centroids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EBBA6-4617-5B4B-8502-C18CF6A34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1C7CC26C-4A3B-5F4A-BC2E-E0B35E420014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877246-760D-F341-99F2-3DC31B5F4ACA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E152F7-68A6-464C-B39E-3396E280D55C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Bad initialization.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Using the same data, show that 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can converge to a worse local optimum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Compare both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values.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E152F7-68A6-464C-B39E-3396E280D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D801405B-854B-264C-8F72-CCF72CB4858D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180288-627F-D347-9868-59141ECDEF9D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8A6F2D-4901-3F4B-9C40-C11F3FFA1E03}"/>
                  </a:ext>
                </a:extLst>
              </p:cNvPr>
              <p:cNvSpPr txBox="1"/>
              <p:nvPr/>
            </p:nvSpPr>
            <p:spPr>
              <a:xfrm>
                <a:off x="1854200" y="5300775"/>
                <a:ext cx="9296400" cy="77764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k-means++ probabilities.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chosen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points at distances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0,2,7,8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selection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for each remaining point.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8A6F2D-4901-3F4B-9C40-C11F3FFA1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00775"/>
                <a:ext cx="9296400" cy="777649"/>
              </a:xfrm>
              <a:prstGeom prst="rect">
                <a:avLst/>
              </a:prstGeom>
              <a:blipFill>
                <a:blip r:embed="rId4"/>
                <a:stretch>
                  <a:fillRect l="-273" t="-1613" b="-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2229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011686-373C-AB40-8B73-B9B089EB0B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F067B-99AD-C144-99E2-593684F72CE0}"/>
              </a:ext>
            </a:extLst>
          </p:cNvPr>
          <p:cNvSpPr/>
          <p:nvPr/>
        </p:nvSpPr>
        <p:spPr>
          <a:xfrm>
            <a:off x="838200" y="3810000"/>
            <a:ext cx="1524000" cy="101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9FDD6-BE41-B54A-A5DC-B1F290D465EA}"/>
              </a:ext>
            </a:extLst>
          </p:cNvPr>
          <p:cNvSpPr txBox="1"/>
          <p:nvPr/>
        </p:nvSpPr>
        <p:spPr>
          <a:xfrm>
            <a:off x="8382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4B2E8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16E9D-13EA-7242-956E-3021E45EDA1C}"/>
              </a:ext>
            </a:extLst>
          </p:cNvPr>
          <p:cNvSpPr txBox="1"/>
          <p:nvPr/>
        </p:nvSpPr>
        <p:spPr>
          <a:xfrm>
            <a:off x="787400" y="28575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200" b="1">
                <a:solidFill>
                  <a:srgbClr val="FFFFFF"/>
                </a:solidFill>
                <a:latin typeface="Arial"/>
                <a:cs typeface="Arial"/>
              </a:rPr>
              <a:t>Hierarchical 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159D4-56D3-E044-BBCE-0DFEEDC41F73}"/>
              </a:ext>
            </a:extLst>
          </p:cNvPr>
          <p:cNvSpPr txBox="1"/>
          <p:nvPr/>
        </p:nvSpPr>
        <p:spPr>
          <a:xfrm>
            <a:off x="838200" y="4127500"/>
            <a:ext cx="9906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Agglomerative merging, linkage criteria, and the dendrogram — a nested family of partitions</a:t>
            </a:r>
          </a:p>
        </p:txBody>
      </p:sp>
    </p:spTree>
    <p:extLst>
      <p:ext uri="{BB962C8B-B14F-4D97-AF65-F5344CB8AC3E}">
        <p14:creationId xmlns:p14="http://schemas.microsoft.com/office/powerpoint/2010/main" val="10285036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4FC1-D696-DF26-B0F8-4D8BFDD9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Agglomerative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6EAA0-86B2-4F45-ABA4-A170B17E7ED6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1852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Agglomerative = bottom-up. Start with each of the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points as its own singleton cluster.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Repeatedly merge the two closest clusters until one cluster remains.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Produces a full hierarchy of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nested partitions — no need to pre-specify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k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Cut the hierarchy at any height to obtain a flat clustering.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Driven entirely by the distance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and a linkage rule.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6EAA0-86B2-4F45-ABA4-A170B17E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185214"/>
              </a:xfrm>
              <a:prstGeom prst="rect">
                <a:avLst/>
              </a:prstGeom>
              <a:blipFill>
                <a:blip r:embed="rId2"/>
                <a:stretch>
                  <a:fillRect l="-682" t="-1156" r="-1364" b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F4F689-8891-3B44-90C2-B85781AC8004}"/>
              </a:ext>
            </a:extLst>
          </p:cNvPr>
          <p:cNvSpPr/>
          <p:nvPr/>
        </p:nvSpPr>
        <p:spPr>
          <a:xfrm>
            <a:off x="6604000" y="2032000"/>
            <a:ext cx="4749800" cy="3962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BFA5F-084D-0440-A28D-280385E5135A}"/>
                  </a:ext>
                </a:extLst>
              </p:cNvPr>
              <p:cNvSpPr txBox="1"/>
              <p:nvPr/>
            </p:nvSpPr>
            <p:spPr>
              <a:xfrm>
                <a:off x="6832600" y="2235200"/>
                <a:ext cx="4445000" cy="180049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7AB648"/>
                    </a:solidFill>
                    <a:latin typeface="Arial"/>
                  </a:rPr>
                  <a:t>Algorithm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D ∈ ℝⁿˣⁿ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point is its own cluster: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|C| = n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Find the pair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(Cₐ, Cᵇ)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minimizing linkage distance.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Merge them; update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for the new cluster.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n−1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times, recording merge heights.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Cost: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595959"/>
                        </a:solidFill>
                      </a:rPr>
                      <a:t>O(n³)</a:t>
                    </a:r>
                  </mc:Fallback>
                </mc:AlternateContent>
                <a:r>
                  <a:rPr lang="en-US" sz="1500" i="1" dirty="0">
                    <a:solidFill>
                      <a:srgbClr val="595959"/>
                    </a:solidFill>
                  </a:rPr>
                  <a:t> naive,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595959"/>
                        </a:solidFill>
                      </a:rPr>
                      <a:t>O(n² log n)</a:t>
                    </a:r>
                  </mc:Fallback>
                </mc:AlternateContent>
                <a:r>
                  <a:rPr lang="en-US" sz="1500" i="1" dirty="0">
                    <a:solidFill>
                      <a:srgbClr val="595959"/>
                    </a:solidFill>
                  </a:rPr>
                  <a:t> with priority queues.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BFA5F-084D-0440-A28D-280385E5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235200"/>
                <a:ext cx="4445000" cy="1800493"/>
              </a:xfrm>
              <a:prstGeom prst="rect">
                <a:avLst/>
              </a:prstGeom>
              <a:blipFill>
                <a:blip r:embed="rId3"/>
                <a:stretch>
                  <a:fillRect l="-855" t="-1408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2110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C7F8-78C4-07DF-5EB3-F7E998EF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Linkage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CFFD45-69BD-BB44-99DA-C3AA441EFFC6}"/>
              </a:ext>
            </a:extLst>
          </p:cNvPr>
          <p:cNvSpPr/>
          <p:nvPr/>
        </p:nvSpPr>
        <p:spPr>
          <a:xfrm>
            <a:off x="838200" y="19050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27551-AF21-E24C-B977-4D27C83C6458}"/>
              </a:ext>
            </a:extLst>
          </p:cNvPr>
          <p:cNvSpPr/>
          <p:nvPr/>
        </p:nvSpPr>
        <p:spPr>
          <a:xfrm>
            <a:off x="838200" y="19050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Single (min)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73200-28AC-8D4F-91DB-2343B999DAA8}"/>
                  </a:ext>
                </a:extLst>
              </p:cNvPr>
              <p:cNvSpPr txBox="1"/>
              <p:nvPr/>
            </p:nvSpPr>
            <p:spPr>
              <a:xfrm>
                <a:off x="990600" y="2438400"/>
                <a:ext cx="4838700" cy="8684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min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min ‖xᵢ − xⱼ‖,  i∈A, j∈B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Nearest pair across clusters. Finds elongated, chain-like clusters but suffers from chaining.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73200-28AC-8D4F-91DB-2343B999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38400"/>
                <a:ext cx="4838700" cy="868443"/>
              </a:xfrm>
              <a:prstGeom prst="rect">
                <a:avLst/>
              </a:prstGeom>
              <a:blipFill>
                <a:blip r:embed="rId2"/>
                <a:stretch>
                  <a:fillRect l="-525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0731BD-AF9A-D245-BD44-8F4DB5C9ADBF}"/>
              </a:ext>
            </a:extLst>
          </p:cNvPr>
          <p:cNvSpPr/>
          <p:nvPr/>
        </p:nvSpPr>
        <p:spPr>
          <a:xfrm>
            <a:off x="6210300" y="19050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D761D-EFA5-7D42-94C7-9A15D7291DBA}"/>
              </a:ext>
            </a:extLst>
          </p:cNvPr>
          <p:cNvSpPr/>
          <p:nvPr/>
        </p:nvSpPr>
        <p:spPr>
          <a:xfrm>
            <a:off x="6210300" y="19050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Complete (max)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A4CB-5C73-184C-A3DA-03D804D3F6B6}"/>
                  </a:ext>
                </a:extLst>
              </p:cNvPr>
              <p:cNvSpPr txBox="1"/>
              <p:nvPr/>
            </p:nvSpPr>
            <p:spPr>
              <a:xfrm>
                <a:off x="6362700" y="2438400"/>
                <a:ext cx="4838700" cy="8684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max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max ‖xᵢ − xⱼ‖,  i∈A, j∈B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Farthest pair. Produces compact, roughly equal-diameter clusters; sensitive to outliers.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A4CB-5C73-184C-A3DA-03D804D3F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2438400"/>
                <a:ext cx="4838700" cy="868443"/>
              </a:xfrm>
              <a:prstGeom prst="rect">
                <a:avLst/>
              </a:prstGeom>
              <a:blipFill>
                <a:blip r:embed="rId3"/>
                <a:stretch>
                  <a:fillRect l="-524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08C4ED-F7C6-CC4E-89BD-8650E249B640}"/>
              </a:ext>
            </a:extLst>
          </p:cNvPr>
          <p:cNvSpPr/>
          <p:nvPr/>
        </p:nvSpPr>
        <p:spPr>
          <a:xfrm>
            <a:off x="838200" y="40132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9B2F7-A2E3-5841-996E-FF52E7CAD9F7}"/>
              </a:ext>
            </a:extLst>
          </p:cNvPr>
          <p:cNvSpPr/>
          <p:nvPr/>
        </p:nvSpPr>
        <p:spPr>
          <a:xfrm>
            <a:off x="838200" y="40132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Average (UPGMA)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D19AA-1001-F441-8711-B918E1A3E20A}"/>
                  </a:ext>
                </a:extLst>
              </p:cNvPr>
              <p:cNvSpPr txBox="1"/>
              <p:nvPr/>
            </p:nvSpPr>
            <p:spPr>
              <a:xfrm>
                <a:off x="990600" y="4546600"/>
                <a:ext cx="4838700" cy="11865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(1/|A||B|) Σ ‖xᵢ − xⱼ‖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Mean of all cross-pair distances. A balanced compromise between single and complete.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D19AA-1001-F441-8711-B918E1A3E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46600"/>
                <a:ext cx="4838700" cy="1186543"/>
              </a:xfrm>
              <a:prstGeom prst="rect">
                <a:avLst/>
              </a:prstGeom>
              <a:blipFill>
                <a:blip r:embed="rId4"/>
                <a:stretch>
                  <a:fillRect l="-525" t="-72340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6535DE-09EA-2E49-A0D8-0A1EB0A42FA5}"/>
              </a:ext>
            </a:extLst>
          </p:cNvPr>
          <p:cNvSpPr/>
          <p:nvPr/>
        </p:nvSpPr>
        <p:spPr>
          <a:xfrm>
            <a:off x="6210300" y="40132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F4CF8-A9AC-E741-BC2C-FB130CE14F17}"/>
              </a:ext>
            </a:extLst>
          </p:cNvPr>
          <p:cNvSpPr/>
          <p:nvPr/>
        </p:nvSpPr>
        <p:spPr>
          <a:xfrm>
            <a:off x="6210300" y="40132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Ward (variance)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BBFFE6-AE8F-E34F-A670-26F95DC651E0}"/>
                  </a:ext>
                </a:extLst>
              </p:cNvPr>
              <p:cNvSpPr txBox="1"/>
              <p:nvPr/>
            </p:nvSpPr>
            <p:spPr>
              <a:xfrm>
                <a:off x="6362700" y="4546600"/>
                <a:ext cx="4838700" cy="10938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Δ = (|A||B|/(|A|+|B|)) ‖μA − μB‖²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Merge that minimizes the increase in within-cluster variance. Tends to give spherical clusters.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BBFFE6-AE8F-E34F-A670-26F95DC65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4546600"/>
                <a:ext cx="4838700" cy="1093889"/>
              </a:xfrm>
              <a:prstGeom prst="rect">
                <a:avLst/>
              </a:prstGeom>
              <a:blipFill>
                <a:blip r:embed="rId5"/>
                <a:stretch>
                  <a:fillRect l="-524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1620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94CC-CD05-F65D-1FDD-4316F9CE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Dendrogram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09E45-B391-8146-893D-B8061A51DB31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4724400" cy="280076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 dendrogram is a binary tree recording the full merge sequence.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Leaves are the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singleton points; the root is the single all-inclusive cluster.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merge is drawn at a height equal to the linkage distance at which it occurred.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Cutting horizontally at a chosen height yields a flat clustering — the number of vertical lines crossed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= k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Long vertical edges signal well-separated clusters; short ones signal weak structure.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09E45-B391-8146-893D-B8061A51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4724400" cy="2800767"/>
              </a:xfrm>
              <a:prstGeom prst="rect">
                <a:avLst/>
              </a:prstGeom>
              <a:blipFill>
                <a:blip r:embed="rId2"/>
                <a:stretch>
                  <a:fillRect l="-804" t="-450" r="-1072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046212-24EF-0C46-A068-F1A1035BA9C0}"/>
              </a:ext>
            </a:extLst>
          </p:cNvPr>
          <p:cNvSpPr/>
          <p:nvPr/>
        </p:nvSpPr>
        <p:spPr>
          <a:xfrm>
            <a:off x="5740400" y="2095500"/>
            <a:ext cx="5613400" cy="400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1D9F2-C2BD-F840-84C2-879E4B7CF4AD}"/>
              </a:ext>
            </a:extLst>
          </p:cNvPr>
          <p:cNvSpPr/>
          <p:nvPr/>
        </p:nvSpPr>
        <p:spPr>
          <a:xfrm>
            <a:off x="6271260" y="4699000"/>
            <a:ext cx="30480" cy="762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774BE-B57E-4844-8AA6-96E9DD0AAD0B}"/>
              </a:ext>
            </a:extLst>
          </p:cNvPr>
          <p:cNvSpPr/>
          <p:nvPr/>
        </p:nvSpPr>
        <p:spPr>
          <a:xfrm>
            <a:off x="6906259" y="4699000"/>
            <a:ext cx="30480" cy="762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62B85-511F-3A46-A413-01FB0AC7EB49}"/>
              </a:ext>
            </a:extLst>
          </p:cNvPr>
          <p:cNvSpPr/>
          <p:nvPr/>
        </p:nvSpPr>
        <p:spPr>
          <a:xfrm>
            <a:off x="6286500" y="4683760"/>
            <a:ext cx="635000" cy="3048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84C95-5E0D-7E4A-B912-8DA986C44696}"/>
              </a:ext>
            </a:extLst>
          </p:cNvPr>
          <p:cNvSpPr/>
          <p:nvPr/>
        </p:nvSpPr>
        <p:spPr>
          <a:xfrm>
            <a:off x="9319260" y="4445000"/>
            <a:ext cx="30480" cy="1016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EB852-F73D-8F4F-BD18-44AF0FE63D38}"/>
              </a:ext>
            </a:extLst>
          </p:cNvPr>
          <p:cNvSpPr/>
          <p:nvPr/>
        </p:nvSpPr>
        <p:spPr>
          <a:xfrm>
            <a:off x="10398760" y="4445000"/>
            <a:ext cx="30480" cy="1016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549FEF-F193-154C-BBC1-B7EF495C046D}"/>
              </a:ext>
            </a:extLst>
          </p:cNvPr>
          <p:cNvSpPr/>
          <p:nvPr/>
        </p:nvSpPr>
        <p:spPr>
          <a:xfrm>
            <a:off x="9334500" y="4429760"/>
            <a:ext cx="1079500" cy="3048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75281-69CF-1048-8B68-1646E33D5EDE}"/>
              </a:ext>
            </a:extLst>
          </p:cNvPr>
          <p:cNvSpPr/>
          <p:nvPr/>
        </p:nvSpPr>
        <p:spPr>
          <a:xfrm>
            <a:off x="6588759" y="3810000"/>
            <a:ext cx="30480" cy="889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877A1-19B9-9140-B4B8-F59E996B837F}"/>
              </a:ext>
            </a:extLst>
          </p:cNvPr>
          <p:cNvSpPr/>
          <p:nvPr/>
        </p:nvSpPr>
        <p:spPr>
          <a:xfrm>
            <a:off x="8112759" y="3810000"/>
            <a:ext cx="30480" cy="165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F2B850-284C-0540-8805-62FCAFCC7674}"/>
              </a:ext>
            </a:extLst>
          </p:cNvPr>
          <p:cNvSpPr/>
          <p:nvPr/>
        </p:nvSpPr>
        <p:spPr>
          <a:xfrm>
            <a:off x="6604000" y="3794760"/>
            <a:ext cx="1524000" cy="3048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53071C-7D7F-F04D-A272-5BFB35AB860F}"/>
              </a:ext>
            </a:extLst>
          </p:cNvPr>
          <p:cNvSpPr/>
          <p:nvPr/>
        </p:nvSpPr>
        <p:spPr>
          <a:xfrm>
            <a:off x="7350759" y="2921000"/>
            <a:ext cx="30480" cy="889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7C471-97A2-6F46-B8BC-AE88865F0DD4}"/>
              </a:ext>
            </a:extLst>
          </p:cNvPr>
          <p:cNvSpPr/>
          <p:nvPr/>
        </p:nvSpPr>
        <p:spPr>
          <a:xfrm>
            <a:off x="9859010" y="2921000"/>
            <a:ext cx="30480" cy="1524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70FD2-B764-8946-A702-C785D38E08A9}"/>
              </a:ext>
            </a:extLst>
          </p:cNvPr>
          <p:cNvSpPr/>
          <p:nvPr/>
        </p:nvSpPr>
        <p:spPr>
          <a:xfrm>
            <a:off x="7366000" y="2905760"/>
            <a:ext cx="2508250" cy="3048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9DF4E-834D-0442-BE35-C4E98002EEC9}"/>
              </a:ext>
            </a:extLst>
          </p:cNvPr>
          <p:cNvSpPr txBox="1"/>
          <p:nvPr/>
        </p:nvSpPr>
        <p:spPr>
          <a:xfrm>
            <a:off x="6159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5FBC9-5C87-D14B-897B-7BE5109A1D7D}"/>
              </a:ext>
            </a:extLst>
          </p:cNvPr>
          <p:cNvSpPr txBox="1"/>
          <p:nvPr/>
        </p:nvSpPr>
        <p:spPr>
          <a:xfrm>
            <a:off x="6794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9D40AB-280D-8B40-B146-FD71E8FF1FB9}"/>
              </a:ext>
            </a:extLst>
          </p:cNvPr>
          <p:cNvSpPr txBox="1"/>
          <p:nvPr/>
        </p:nvSpPr>
        <p:spPr>
          <a:xfrm>
            <a:off x="80010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C46C7-5A5F-D44F-8CAC-32968F20ADAD}"/>
              </a:ext>
            </a:extLst>
          </p:cNvPr>
          <p:cNvSpPr txBox="1"/>
          <p:nvPr/>
        </p:nvSpPr>
        <p:spPr>
          <a:xfrm>
            <a:off x="9207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14F0B-0857-4745-92CF-3B192A65FDFA}"/>
              </a:ext>
            </a:extLst>
          </p:cNvPr>
          <p:cNvSpPr txBox="1"/>
          <p:nvPr/>
        </p:nvSpPr>
        <p:spPr>
          <a:xfrm>
            <a:off x="102870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066EE1-A56F-6447-B841-61EC6B130D83}"/>
              </a:ext>
            </a:extLst>
          </p:cNvPr>
          <p:cNvSpPr txBox="1"/>
          <p:nvPr/>
        </p:nvSpPr>
        <p:spPr>
          <a:xfrm>
            <a:off x="5778500" y="23495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595959"/>
                </a:solidFill>
              </a:rPr>
              <a:t>height = merge distance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5013DD-E520-5745-A999-AC077032C7CA}"/>
              </a:ext>
            </a:extLst>
          </p:cNvPr>
          <p:cNvSpPr/>
          <p:nvPr/>
        </p:nvSpPr>
        <p:spPr>
          <a:xfrm>
            <a:off x="5969000" y="3365500"/>
            <a:ext cx="5207000" cy="1905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226CB-0110-D94C-8C20-9B40AE5802A2}"/>
              </a:ext>
            </a:extLst>
          </p:cNvPr>
          <p:cNvSpPr txBox="1"/>
          <p:nvPr/>
        </p:nvSpPr>
        <p:spPr>
          <a:xfrm>
            <a:off x="9652000" y="31496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cut → 3 clusters</a:t>
            </a:r>
          </a:p>
        </p:txBody>
      </p:sp>
    </p:spTree>
    <p:extLst>
      <p:ext uri="{BB962C8B-B14F-4D97-AF65-F5344CB8AC3E}">
        <p14:creationId xmlns:p14="http://schemas.microsoft.com/office/powerpoint/2010/main" val="41204373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208C-03FC-A9E2-EA71-CDB13C4C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Distances: Lance–Williams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7AA66A-6F86-5049-8B67-0832A3A64DAA}"/>
              </a:ext>
            </a:extLst>
          </p:cNvPr>
          <p:cNvSpPr/>
          <p:nvPr/>
        </p:nvSpPr>
        <p:spPr>
          <a:xfrm>
            <a:off x="838200" y="1905000"/>
            <a:ext cx="10515600" cy="9144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5087B-5F55-2E41-BC93-CACCA91CA86B}"/>
                  </a:ext>
                </a:extLst>
              </p:cNvPr>
              <p:cNvSpPr txBox="1"/>
              <p:nvPr/>
            </p:nvSpPr>
            <p:spPr>
              <a:xfrm>
                <a:off x="1016000" y="2162145"/>
                <a:ext cx="10160000" cy="4001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5087B-5F55-2E41-BC93-CACCA91C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162145"/>
                <a:ext cx="10160000" cy="400110"/>
              </a:xfrm>
              <a:prstGeom prst="rect">
                <a:avLst/>
              </a:prstGeom>
              <a:blipFill>
                <a:blip r:embed="rId2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9CD80F-ED4B-6345-B1BE-B29B78C0B12C}"/>
                  </a:ext>
                </a:extLst>
              </p:cNvPr>
              <p:cNvSpPr txBox="1"/>
              <p:nvPr/>
            </p:nvSpPr>
            <p:spPr>
              <a:xfrm>
                <a:off x="838200" y="30226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single recurrence updates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after each merge — coefficients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define the linkage: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9CD80F-ED4B-6345-B1BE-B29B78C0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22600"/>
                <a:ext cx="10515600" cy="338554"/>
              </a:xfrm>
              <a:prstGeom prst="rect">
                <a:avLst/>
              </a:prstGeom>
              <a:blipFill>
                <a:blip r:embed="rId3"/>
                <a:stretch>
                  <a:fillRect l="-36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244F8A3-2500-854F-9563-BCDA14F10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710806"/>
                  </p:ext>
                </p:extLst>
              </p:nvPr>
            </p:nvGraphicFramePr>
            <p:xfrm>
              <a:off x="838200" y="3657600"/>
              <a:ext cx="10515600" cy="23562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384432393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97420784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12743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67781197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604319137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rgbClr val="FFFFFF"/>
                              </a:solidFill>
                            </a:rPr>
                            <a:t>Linkage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11434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Single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464432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Complete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69102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Average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3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3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62821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Ward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68431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244F8A3-2500-854F-9563-BCDA14F10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710806"/>
                  </p:ext>
                </p:extLst>
              </p:nvPr>
            </p:nvGraphicFramePr>
            <p:xfrm>
              <a:off x="838200" y="3657600"/>
              <a:ext cx="10515600" cy="23562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384432393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97420784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12743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67781197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604319137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rgbClr val="FFFFFF"/>
                              </a:solidFill>
                            </a:rPr>
                            <a:t>Linkage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941" r="-303030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941" r="-201205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941" r="-102424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941" r="-1807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11434"/>
                      </a:ext>
                    </a:extLst>
                  </a:tr>
                  <a:tr h="46234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Single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94595" r="-303030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94595" r="-201205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94595" r="-102424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94595" r="-1807" b="-3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464432"/>
                      </a:ext>
                    </a:extLst>
                  </a:tr>
                  <a:tr h="46234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Complete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00000" r="-303030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0000" r="-20120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00000" r="-102424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00000" r="-1807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691025"/>
                      </a:ext>
                    </a:extLst>
                  </a:tr>
                  <a:tr h="5266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Average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57143" r="-303030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57143" r="-201205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57143" r="-102424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57143" r="-1807" b="-9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628215"/>
                      </a:ext>
                    </a:extLst>
                  </a:tr>
                  <a:tr h="473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Ward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405405" r="-30303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405405" r="-201205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405405" r="-102424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405405" r="-1807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6843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42627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ACE2-7166-729C-F0B4-6DA4433F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Single-Linkage by Hand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56314F-F287-284E-8153-2F756948527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986C1-4827-E744-A4A2-137806E11DB9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16562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Distance matrix over points A, B, C, D: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D over A,B,C,D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Build the single-linkage hierarchy and give merge heights.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986C1-4827-E744-A4A2-137806E11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1656287"/>
              </a:xfrm>
              <a:prstGeom prst="rect">
                <a:avLst/>
              </a:prstGeom>
              <a:blipFill>
                <a:blip r:embed="rId2"/>
                <a:stretch>
                  <a:fillRect l="-748" t="-1527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916530-0FC4-CC49-A564-EE78439FCF1B}"/>
              </a:ext>
            </a:extLst>
          </p:cNvPr>
          <p:cNvSpPr/>
          <p:nvPr/>
        </p:nvSpPr>
        <p:spPr>
          <a:xfrm>
            <a:off x="5969000" y="2235200"/>
            <a:ext cx="5384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C2883-7300-7C43-A413-3D3065DB5466}"/>
                  </a:ext>
                </a:extLst>
              </p:cNvPr>
              <p:cNvSpPr txBox="1"/>
              <p:nvPr/>
            </p:nvSpPr>
            <p:spPr>
              <a:xfrm>
                <a:off x="6197600" y="2438400"/>
                <a:ext cx="5080000" cy="195130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  <a:latin typeface="Arial"/>
                  </a:rPr>
                  <a:t>Solution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Min entry = 2 → merge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B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{A,B}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 at height 2.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Update (single = min):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6,5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d(AB,C)=min(6,5)=5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;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D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10,9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d(AB,D)=min(10,9)=9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Now min = 4 → merge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D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{C,D}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 at height 4.</a:t>
                </a:r>
              </a:p>
              <a:p>
                <a:pPr marL="285750" indent="-285750">
                  <a:buFont typeface="Arial"/>
                  <a:buAutoNum type="arabicPeriod"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CD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AB</m:t>
                                </m:r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C</m:t>
                                </m:r>
                              </m:e>
                            </m:d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AB</m:t>
                                </m:r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D</m:t>
                                </m:r>
                              </m:e>
                            </m:d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d(AB,CD)=min(d(AB,C),d(AB,D))=5</a:t>
                    </a:r>
                  </mc:Fallback>
                </mc:AlternateContent>
                <a:endParaRPr lang="en-US" sz="1400" dirty="0">
                  <a:solidFill>
                    <a:srgbClr val="333333"/>
                  </a:solidFill>
                </a:endParaRP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Merge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{AB}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CD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{CD}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 at height 5 → root.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Order: (AB)@2, (CD)@4, root@5.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C2883-7300-7C43-A413-3D3065DB5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438400"/>
                <a:ext cx="5080000" cy="1951303"/>
              </a:xfrm>
              <a:prstGeom prst="rect">
                <a:avLst/>
              </a:prstGeom>
              <a:blipFill>
                <a:blip r:embed="rId3"/>
                <a:stretch>
                  <a:fillRect l="-748" t="-1299" b="-3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55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E745-098E-563A-15D6-D9DA1D1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Ward vs Single Linkage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CDC838E-4858-474B-9AA0-0177C2568EA5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99D5E1-B4F9-A94B-91B2-84D6CB50DA96}"/>
              </a:ext>
            </a:extLst>
          </p:cNvPr>
          <p:cNvSpPr/>
          <p:nvPr/>
        </p:nvSpPr>
        <p:spPr>
          <a:xfrm>
            <a:off x="8382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4971D-D860-114F-8E7A-66C3BC75E690}"/>
              </a:ext>
            </a:extLst>
          </p:cNvPr>
          <p:cNvSpPr/>
          <p:nvPr/>
        </p:nvSpPr>
        <p:spPr>
          <a:xfrm>
            <a:off x="838200" y="2235200"/>
            <a:ext cx="5143500" cy="4572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Single linkage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62FB0-FE31-0A42-9D82-9875D7813C9D}"/>
              </a:ext>
            </a:extLst>
          </p:cNvPr>
          <p:cNvSpPr txBox="1"/>
          <p:nvPr/>
        </p:nvSpPr>
        <p:spPr>
          <a:xfrm>
            <a:off x="1066800" y="2844800"/>
            <a:ext cx="47244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Merge criterion: nearest single pair across clusters.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On two interlocking crescents, follows the local chain — recovers the non-convex moons.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Vulnerable to a single bridging point that chains two true clusters together.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Cluster sizes can be very unbalanced.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41A5C0-A8CC-7044-BE00-AD90B32DDB61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9D738-46B7-8B48-A38E-1B027F1863EE}"/>
              </a:ext>
            </a:extLst>
          </p:cNvPr>
          <p:cNvSpPr/>
          <p:nvPr/>
        </p:nvSpPr>
        <p:spPr>
          <a:xfrm>
            <a:off x="6210300" y="2235200"/>
            <a:ext cx="5143500" cy="457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Ward linkage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AA2489-1ABF-0741-9BD0-3F508D16530E}"/>
                  </a:ext>
                </a:extLst>
              </p:cNvPr>
              <p:cNvSpPr txBox="1"/>
              <p:nvPr/>
            </p:nvSpPr>
            <p:spPr>
              <a:xfrm>
                <a:off x="6438900" y="2844800"/>
                <a:ext cx="4724400" cy="181588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Merge criterion: minimize increase in total within-cluster variance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On the same moons, cuts straight across — prefers compact, spherical blobs.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Robust to chaining; resistant to single bridging points.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Tends to produce balanced, similar-size clusters.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AA2489-1ABF-0741-9BD0-3F508D165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844800"/>
                <a:ext cx="4724400" cy="1815882"/>
              </a:xfrm>
              <a:prstGeom prst="rect">
                <a:avLst/>
              </a:prstGeom>
              <a:blipFill>
                <a:blip r:embed="rId2"/>
                <a:stretch>
                  <a:fillRect l="-536" t="-7639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3070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BAC4-E413-5112-EAEC-2FB4975E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Cophenetic Correlation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1DB285-279F-924A-A634-C32FC602723D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3FBB3F-DD8E-4B47-AFEE-1A21914BDE8E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212083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cophenetic distance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the merge height at which points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first join the same cluster.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cophenetic correlation measures how faithfully the dendrogram preserves the original distances: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>
                          <a:solidFill>
                            <a:srgbClr val="333333"/>
                          </a:solidFill>
                        </a:rPr>
                        <m:t>CCC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>
                          <a:solidFill>
                            <a:srgbClr val="333333"/>
                          </a:solidFill>
                        </a:rPr>
                        <m:t>corr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vec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vec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original distances,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cophenetic distances (both flattened over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pairs).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3FBB3F-DD8E-4B47-AFEE-1A21914B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2120837"/>
              </a:xfrm>
              <a:prstGeom prst="rect">
                <a:avLst/>
              </a:prstGeom>
              <a:blipFill>
                <a:blip r:embed="rId2"/>
                <a:stretch>
                  <a:fillRect l="-748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4CF060-F677-2E45-9B6C-A3A4092EE297}"/>
              </a:ext>
            </a:extLst>
          </p:cNvPr>
          <p:cNvSpPr/>
          <p:nvPr/>
        </p:nvSpPr>
        <p:spPr>
          <a:xfrm>
            <a:off x="5969000" y="2235200"/>
            <a:ext cx="5384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D89907-8B02-A242-B842-C1365BD7D7AA}"/>
                  </a:ext>
                </a:extLst>
              </p:cNvPr>
              <p:cNvSpPr txBox="1"/>
              <p:nvPr/>
            </p:nvSpPr>
            <p:spPr>
              <a:xfrm>
                <a:off x="6197600" y="2438400"/>
                <a:ext cx="5080000" cy="215443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  <a:latin typeface="Arial"/>
                  </a:rPr>
                  <a:t>Interpretation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Using Example 1 heights: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D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D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D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Pearson-correlate these 6 cophenetic values against the 6 original distances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2,6,10,5,9,4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CCC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≈0.96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here — close to 1 means the tree is a trustworthy summary of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Use it to compare linkages.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D89907-8B02-A242-B842-C1365BD7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438400"/>
                <a:ext cx="5080000" cy="2154436"/>
              </a:xfrm>
              <a:prstGeom prst="rect">
                <a:avLst/>
              </a:prstGeom>
              <a:blipFill>
                <a:blip r:embed="rId3"/>
                <a:stretch>
                  <a:fillRect l="-748" t="-1176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877999"/>
      </p:ext>
    </p:extLst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K-Means and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Hierarchical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9350</Words>
  <Application>Microsoft Macintosh PowerPoint</Application>
  <PresentationFormat>Widescreen</PresentationFormat>
  <Paragraphs>1382</Paragraphs>
  <Slides>111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Aptos</vt:lpstr>
      <vt:lpstr>Arial</vt:lpstr>
      <vt:lpstr>Calibri</vt:lpstr>
      <vt:lpstr>Cambria Math</vt:lpstr>
      <vt:lpstr>Consolas</vt:lpstr>
      <vt:lpstr>Office Theme [1775876968803]</vt:lpstr>
      <vt:lpstr>Cluster Analysis A Linear-Algebra Approach to Unsupervised Learning</vt:lpstr>
      <vt:lpstr>Course Roadmap</vt:lpstr>
      <vt:lpstr>PowerPoint Presentation</vt:lpstr>
      <vt:lpstr>What Is a Cluster?</vt:lpstr>
      <vt:lpstr>Example: People, Features &amp; Clusters</vt:lpstr>
      <vt:lpstr>Clustering as a Partition</vt:lpstr>
      <vt:lpstr>Exercise: Is It a Valid Clustering?</vt:lpstr>
      <vt:lpstr>The Data Matrix X</vt:lpstr>
      <vt:lpstr>Why Distance Matters</vt:lpstr>
      <vt:lpstr>Distance Metrics &amp; Norms</vt:lpstr>
      <vt:lpstr>The Distance Matrix D</vt:lpstr>
      <vt:lpstr>Squared Distances: The Gram Matrix Trick</vt:lpstr>
      <vt:lpstr>Example: A Distance via the Gram Trick</vt:lpstr>
      <vt:lpstr>Exercise: Build the Distance Matrix</vt:lpstr>
      <vt:lpstr>Solution — Step 1: Squared Norms</vt:lpstr>
      <vt:lpstr>Solution — Step 2: Gram Matrix G = XXᵀ</vt:lpstr>
      <vt:lpstr>Solution — Step 3: Squared Distances D²ᵢⱼ</vt:lpstr>
      <vt:lpstr>Solution — Step 4: Distance Matrix D</vt:lpstr>
      <vt:lpstr>Similarity vs. Dissimilarity</vt:lpstr>
      <vt:lpstr>Standardization</vt:lpstr>
      <vt:lpstr>The Curse of Dimensionality</vt:lpstr>
      <vt:lpstr>Step 1 — Expand the Squared Distance</vt:lpstr>
      <vt:lpstr>Step 2 — Collect Into the Gram Matrix</vt:lpstr>
      <vt:lpstr>Step 3 — Diagonal &amp; Matrix Form</vt:lpstr>
      <vt:lpstr>Step 4 — Plug In and Recover D</vt:lpstr>
      <vt:lpstr>Exercise 1: Standardization in Matrix Form</vt:lpstr>
      <vt:lpstr>Exercise 2 — Step 1: Set Up the Centering</vt:lpstr>
      <vt:lpstr>Exercise 2 — Step 2: Column Means</vt:lpstr>
      <vt:lpstr>Exercise 2 — Step 3: Subtract the Means</vt:lpstr>
      <vt:lpstr>Exercise 2 — Step 4: Check &amp; Standardize</vt:lpstr>
      <vt:lpstr>Exercise 3 — Step 1: Set Up the Scaling</vt:lpstr>
      <vt:lpstr>Exercise 3 — Step 2: Column Standard Deviations</vt:lpstr>
      <vt:lpstr>Exercise 3 — Step 3: Build the Scaling Matrix</vt:lpstr>
      <vt:lpstr>Exercise 3 — Step 4: Scale to Unit Variance</vt:lpstr>
      <vt:lpstr>Foundations — Exercises</vt:lpstr>
      <vt:lpstr>Exercise 1: Distance Matrix — Step 1</vt:lpstr>
      <vt:lpstr>Exercise 1: Distance Matrix — Step 2</vt:lpstr>
      <vt:lpstr>Exercise 1: Distance Matrix — Step 3</vt:lpstr>
      <vt:lpstr>Exercise 2: Metric Comparison — Step 1</vt:lpstr>
      <vt:lpstr>Exercise 2: Metric Comparison — Step 2</vt:lpstr>
      <vt:lpstr>Exercise 2: Metric Comparison — Step 3</vt:lpstr>
      <vt:lpstr>Exercise 3: Standardization — Step 1</vt:lpstr>
      <vt:lpstr>Exercise 3: Standardization — Step 2</vt:lpstr>
      <vt:lpstr>Exercise 3: Standardization — Step 3</vt:lpstr>
      <vt:lpstr>PowerPoint Presentation</vt:lpstr>
      <vt:lpstr>K-Means: The Objective</vt:lpstr>
      <vt:lpstr>Lloyd's Algorithm: History &amp; Intuition</vt:lpstr>
      <vt:lpstr>Lloyd's Algorithm</vt:lpstr>
      <vt:lpstr>Lloyd's Algorithm</vt:lpstr>
      <vt:lpstr>Lloyd's Algorithm</vt:lpstr>
      <vt:lpstr>Lloyd's Algorithm</vt:lpstr>
      <vt:lpstr>Lloyd's Algorithm</vt:lpstr>
      <vt:lpstr>Lloyd's Algorithm</vt:lpstr>
      <vt:lpstr>Initialization: k-means++</vt:lpstr>
      <vt:lpstr>Lloyd Iteration — Step 1: Assignment</vt:lpstr>
      <vt:lpstr>Lloyd Iteration — Step 2: Update Centroids</vt:lpstr>
      <vt:lpstr>Lloyd Iteration — Step 3: Inertia &amp; Convergence</vt:lpstr>
      <vt:lpstr>Matrix Form — Step 1: Stack the Data</vt:lpstr>
      <vt:lpstr>Matrix Form — Step 2: Stack the Centroids</vt:lpstr>
      <vt:lpstr>Distance Matrix — Step 1: The Formula</vt:lpstr>
      <vt:lpstr>Distance Matrix — Step 2: Compute Column 1</vt:lpstr>
      <vt:lpstr>Distance Matrix — Step 3: Assemble D</vt:lpstr>
      <vt:lpstr>Assignment — Step 1: Nearest Centroid (argmin)</vt:lpstr>
      <vt:lpstr>Assignment — Step 2: One-Hot Matrix Z</vt:lpstr>
      <vt:lpstr>Update — Step 1: Cluster Sums ZᵀX</vt:lpstr>
      <vt:lpstr>Update — Step 2: Cluster Sizes &amp; Divide</vt:lpstr>
      <vt:lpstr>Update — Step 3: New Centroids M⁽¹⁾</vt:lpstr>
      <vt:lpstr>Inertia — Step 1: Keep Each Point’s Own Distance</vt:lpstr>
      <vt:lpstr>Inertia — Step 2: Sum to Get J</vt:lpstr>
      <vt:lpstr>Example 2: Choosing k (Elbow)</vt:lpstr>
      <vt:lpstr>Example 3: Scaling Changes Clusters</vt:lpstr>
      <vt:lpstr>K-Means — Exercises</vt:lpstr>
      <vt:lpstr>PowerPoint Presentation</vt:lpstr>
      <vt:lpstr>Agglomerative Clustering</vt:lpstr>
      <vt:lpstr>Types of Linkage</vt:lpstr>
      <vt:lpstr>The Dendrogram</vt:lpstr>
      <vt:lpstr>Updating Distances: Lance–Williams</vt:lpstr>
      <vt:lpstr>Example 1: Single-Linkage by Hand</vt:lpstr>
      <vt:lpstr>Example 2: Ward vs Single Linkage</vt:lpstr>
      <vt:lpstr>Example 3: Cophenetic Correlation</vt:lpstr>
      <vt:lpstr>Hierarchical — Exercises</vt:lpstr>
      <vt:lpstr>PowerPoint Presentation</vt:lpstr>
      <vt:lpstr>Density: Core, Border &amp; Noise</vt:lpstr>
      <vt:lpstr>DBSCAN Algorithm</vt:lpstr>
      <vt:lpstr>Example 1: Point Classification</vt:lpstr>
      <vt:lpstr>Example 2: Choosing ε (k-distance)</vt:lpstr>
      <vt:lpstr>Example 3: Non-Convex Shapes</vt:lpstr>
      <vt:lpstr>DBSCAN — Exercises</vt:lpstr>
      <vt:lpstr>PowerPoint Presentation</vt:lpstr>
      <vt:lpstr>t-SNE: High-D vs Low-D Affinities</vt:lpstr>
      <vt:lpstr>t-SNE: Cost &amp; Gradient</vt:lpstr>
      <vt:lpstr>Example 1: Computing an Affinity</vt:lpstr>
      <vt:lpstr>Example 2: Perplexity &amp; Bandwidth</vt:lpstr>
      <vt:lpstr>Example 3: One Gradient Step</vt:lpstr>
      <vt:lpstr>t-SNE — Exercises</vt:lpstr>
      <vt:lpstr>PowerPoint Presentation</vt:lpstr>
      <vt:lpstr>UMAP: High-Dimensional Graph</vt:lpstr>
      <vt:lpstr>UMAP: Low-D Layout &amp; Cost</vt:lpstr>
      <vt:lpstr>Example 1: Local Connectivity ρᵢ</vt:lpstr>
      <vt:lpstr>Example 2: Fuzzy Union</vt:lpstr>
      <vt:lpstr>Example 3: Low-D Weight qᵢⱼ</vt:lpstr>
      <vt:lpstr>UMAP — Exercises</vt:lpstr>
      <vt:lpstr>PowerPoint Presentation</vt:lpstr>
      <vt:lpstr>Centroids, Medoids &amp; Profiles</vt:lpstr>
      <vt:lpstr>Validation: Silhouette &amp; F-Statistic</vt:lpstr>
      <vt:lpstr>Example 1: Silhouette of a Point</vt:lpstr>
      <vt:lpstr>Example 2: Centroid z-Profile</vt:lpstr>
      <vt:lpstr>Example 3: F-Statistic Feature Ranking</vt:lpstr>
      <vt:lpstr>Clustering Profiling — Exercises</vt:lpstr>
      <vt:lpstr>Choosing a Method</vt:lpstr>
      <vt:lpstr>From Clusters to Personas: Naming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2026-06-11T21:42:17Z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