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4" r:id="rId4"/>
  </p:sldMasterIdLst>
  <p:notesMasterIdLst>
    <p:notesMasterId r:id="rId246"/>
  </p:notesMasterIdLst>
  <p:sldIdLst>
    <p:sldId id="1036" r:id="rId87"/>
    <p:sldId id="1037" r:id="rId88"/>
    <p:sldId id="432" r:id="rId6"/>
    <p:sldId id="1038" r:id="rId89"/>
    <p:sldId id="546" r:id="rId7"/>
    <p:sldId id="1039" r:id="rId90"/>
    <p:sldId id="547" r:id="rId8"/>
    <p:sldId id="1040" r:id="rId91"/>
    <p:sldId id="548" r:id="rId9"/>
    <p:sldId id="1041" r:id="rId92"/>
    <p:sldId id="549" r:id="rId10"/>
    <p:sldId id="1042" r:id="rId93"/>
    <p:sldId id="433" r:id="rId11"/>
    <p:sldId id="1043" r:id="rId94"/>
    <p:sldId id="550" r:id="rId12"/>
    <p:sldId id="1044" r:id="rId95"/>
    <p:sldId id="1035" r:id="rId13"/>
    <p:sldId id="1045" r:id="rId96"/>
    <p:sldId id="435" r:id="rId14"/>
    <p:sldId id="1046" r:id="rId97"/>
    <p:sldId id="527" r:id="rId15"/>
    <p:sldId id="1047" r:id="rId98"/>
    <p:sldId id="592" r:id="rId16"/>
    <p:sldId id="1048" r:id="rId99"/>
    <p:sldId id="593" r:id="rId17"/>
    <p:sldId id="1049" r:id="rId100"/>
    <p:sldId id="573" r:id="rId18"/>
    <p:sldId id="1050" r:id="rId101"/>
    <p:sldId id="574" r:id="rId19"/>
    <p:sldId id="1051" r:id="rId102"/>
    <p:sldId id="575" r:id="rId20"/>
    <p:sldId id="1052" r:id="rId103"/>
    <p:sldId id="572" r:id="rId21"/>
    <p:sldId id="1053" r:id="rId104"/>
    <p:sldId id="577" r:id="rId22"/>
    <p:sldId id="1054" r:id="rId105"/>
    <p:sldId id="578" r:id="rId23"/>
    <p:sldId id="1055" r:id="rId106"/>
    <p:sldId id="579" r:id="rId24"/>
    <p:sldId id="1056" r:id="rId107"/>
    <p:sldId id="580" r:id="rId25"/>
    <p:sldId id="1057" r:id="rId108"/>
    <p:sldId id="581" r:id="rId26"/>
    <p:sldId id="1058" r:id="rId109"/>
    <p:sldId id="582" r:id="rId27"/>
    <p:sldId id="1059" r:id="rId110"/>
    <p:sldId id="583" r:id="rId28"/>
    <p:sldId id="1060" r:id="rId111"/>
    <p:sldId id="584" r:id="rId29"/>
    <p:sldId id="1061" r:id="rId112"/>
    <p:sldId id="585" r:id="rId30"/>
    <p:sldId id="1062" r:id="rId113"/>
    <p:sldId id="586" r:id="rId31"/>
    <p:sldId id="1063" r:id="rId114"/>
    <p:sldId id="587" r:id="rId32"/>
    <p:sldId id="1064" r:id="rId115"/>
    <p:sldId id="588" r:id="rId33"/>
    <p:sldId id="1065" r:id="rId116"/>
    <p:sldId id="589" r:id="rId34"/>
    <p:sldId id="1066" r:id="rId117"/>
    <p:sldId id="590" r:id="rId35"/>
    <p:sldId id="1067" r:id="rId118"/>
    <p:sldId id="591" r:id="rId36"/>
    <p:sldId id="1068" r:id="rId119"/>
    <p:sldId id="526" r:id="rId37"/>
    <p:sldId id="1069" r:id="rId120"/>
    <p:sldId id="529" r:id="rId38"/>
    <p:sldId id="1070" r:id="rId121"/>
    <p:sldId id="438" r:id="rId39"/>
    <p:sldId id="1071" r:id="rId122"/>
    <p:sldId id="439" r:id="rId40"/>
    <p:sldId id="1072" r:id="rId123"/>
    <p:sldId id="525" r:id="rId41"/>
    <p:sldId id="1073" r:id="rId124"/>
    <p:sldId id="513" r:id="rId42"/>
    <p:sldId id="1074" r:id="rId125"/>
    <p:sldId id="604" r:id="rId43"/>
    <p:sldId id="1075" r:id="rId126"/>
    <p:sldId id="605" r:id="rId44"/>
    <p:sldId id="1076" r:id="rId127"/>
    <p:sldId id="606" r:id="rId45"/>
    <p:sldId id="1077" r:id="rId128"/>
    <p:sldId id="615" r:id="rId46"/>
    <p:sldId id="1078" r:id="rId129"/>
    <p:sldId id="616" r:id="rId47"/>
    <p:sldId id="1079" r:id="rId130"/>
    <p:sldId id="617" r:id="rId48"/>
    <p:sldId id="1080" r:id="rId131"/>
    <p:sldId id="618" r:id="rId49"/>
    <p:sldId id="1081" r:id="rId132"/>
    <p:sldId id="608" r:id="rId50"/>
    <p:sldId id="1082" r:id="rId133"/>
    <p:sldId id="610" r:id="rId51"/>
    <p:sldId id="1083" r:id="rId134"/>
    <p:sldId id="611" r:id="rId52"/>
    <p:sldId id="1084" r:id="rId135"/>
    <p:sldId id="514" r:id="rId53"/>
    <p:sldId id="1085" r:id="rId136"/>
    <p:sldId id="515" r:id="rId54"/>
    <p:sldId id="1086" r:id="rId137"/>
    <p:sldId id="623" r:id="rId55"/>
    <p:sldId id="1087" r:id="rId138"/>
    <p:sldId id="624" r:id="rId56"/>
    <p:sldId id="1088" r:id="rId139"/>
    <p:sldId id="625" r:id="rId57"/>
    <p:sldId id="1089" r:id="rId140"/>
    <p:sldId id="626" r:id="rId58"/>
    <p:sldId id="1090" r:id="rId141"/>
    <p:sldId id="628" r:id="rId59"/>
    <p:sldId id="1091" r:id="rId142"/>
    <p:sldId id="629" r:id="rId60"/>
    <p:sldId id="1092" r:id="rId143"/>
    <p:sldId id="634" r:id="rId61"/>
    <p:sldId id="1093" r:id="rId144"/>
    <p:sldId id="635" r:id="rId62"/>
    <p:sldId id="1094" r:id="rId145"/>
    <p:sldId id="636" r:id="rId63"/>
    <p:sldId id="1095" r:id="rId146"/>
    <p:sldId id="637" r:id="rId64"/>
    <p:sldId id="1096" r:id="rId147"/>
    <p:sldId id="638" r:id="rId65"/>
    <p:sldId id="1097" r:id="rId148"/>
    <p:sldId id="643" r:id="rId66"/>
    <p:sldId id="1098" r:id="rId149"/>
    <p:sldId id="644" r:id="rId67"/>
    <p:sldId id="1099" r:id="rId150"/>
    <p:sldId id="645" r:id="rId68"/>
    <p:sldId id="1100" r:id="rId151"/>
    <p:sldId id="646" r:id="rId69"/>
    <p:sldId id="1101" r:id="rId152"/>
    <p:sldId id="647" r:id="rId70"/>
    <p:sldId id="1102" r:id="rId153"/>
    <p:sldId id="651" r:id="rId71"/>
    <p:sldId id="1103" r:id="rId154"/>
    <p:sldId id="652" r:id="rId72"/>
    <p:sldId id="1104" r:id="rId155"/>
    <p:sldId id="653" r:id="rId73"/>
    <p:sldId id="1105" r:id="rId156"/>
    <p:sldId id="654" r:id="rId74"/>
    <p:sldId id="1106" r:id="rId157"/>
    <p:sldId id="658" r:id="rId75"/>
    <p:sldId id="1107" r:id="rId158"/>
    <p:sldId id="659" r:id="rId76"/>
    <p:sldId id="1108" r:id="rId159"/>
    <p:sldId id="661" r:id="rId77"/>
    <p:sldId id="1109" r:id="rId160"/>
    <p:sldId id="663" r:id="rId78"/>
    <p:sldId id="1110" r:id="rId161"/>
    <p:sldId id="667" r:id="rId79"/>
    <p:sldId id="1111" r:id="rId162"/>
    <p:sldId id="668" r:id="rId80"/>
    <p:sldId id="1112" r:id="rId163"/>
    <p:sldId id="669" r:id="rId81"/>
    <p:sldId id="1113" r:id="rId164"/>
    <p:sldId id="670" r:id="rId82"/>
    <p:sldId id="1114" r:id="rId16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578A"/>
    <a:srgbClr val="4B2E83"/>
    <a:srgbClr val="F2C11E"/>
    <a:srgbClr val="FFEC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3"/>
    <p:restoredTop sz="93836"/>
  </p:normalViewPr>
  <p:slideViewPr>
    <p:cSldViewPr snapToGrid="0" snapToObjects="1">
      <p:cViewPr varScale="1">
        <p:scale>
          <a:sx n="91" d="100"/>
          <a:sy n="91" d="100"/>
        </p:scale>
        <p:origin x="192" y="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49.xml"/><Relationship Id="rId54" Type="http://schemas.openxmlformats.org/officeDocument/2006/relationships/slide" Target="slides/slide50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7" Type="http://schemas.openxmlformats.org/officeDocument/2006/relationships/slide" Target="slides/slide53.xml"/><Relationship Id="rId58" Type="http://schemas.openxmlformats.org/officeDocument/2006/relationships/slide" Target="slides/slide54.xml"/><Relationship Id="rId59" Type="http://schemas.openxmlformats.org/officeDocument/2006/relationships/slide" Target="slides/slide55.xml"/><Relationship Id="rId60" Type="http://schemas.openxmlformats.org/officeDocument/2006/relationships/slide" Target="slides/slide56.xml"/><Relationship Id="rId61" Type="http://schemas.openxmlformats.org/officeDocument/2006/relationships/slide" Target="slides/slide57.xml"/><Relationship Id="rId62" Type="http://schemas.openxmlformats.org/officeDocument/2006/relationships/slide" Target="slides/slide58.xml"/><Relationship Id="rId63" Type="http://schemas.openxmlformats.org/officeDocument/2006/relationships/slide" Target="slides/slide59.xml"/><Relationship Id="rId64" Type="http://schemas.openxmlformats.org/officeDocument/2006/relationships/slide" Target="slides/slide60.xml"/><Relationship Id="rId65" Type="http://schemas.openxmlformats.org/officeDocument/2006/relationships/slide" Target="slides/slide61.xml"/><Relationship Id="rId66" Type="http://schemas.openxmlformats.org/officeDocument/2006/relationships/slide" Target="slides/slide62.xml"/><Relationship Id="rId67" Type="http://schemas.openxmlformats.org/officeDocument/2006/relationships/slide" Target="slides/slide63.xml"/><Relationship Id="rId68" Type="http://schemas.openxmlformats.org/officeDocument/2006/relationships/slide" Target="slides/slide64.xml"/><Relationship Id="rId69" Type="http://schemas.openxmlformats.org/officeDocument/2006/relationships/slide" Target="slides/slide65.xml"/><Relationship Id="rId70" Type="http://schemas.openxmlformats.org/officeDocument/2006/relationships/slide" Target="slides/slide66.xml"/><Relationship Id="rId71" Type="http://schemas.openxmlformats.org/officeDocument/2006/relationships/slide" Target="slides/slide67.xml"/><Relationship Id="rId72" Type="http://schemas.openxmlformats.org/officeDocument/2006/relationships/slide" Target="slides/slide68.xml"/><Relationship Id="rId73" Type="http://schemas.openxmlformats.org/officeDocument/2006/relationships/slide" Target="slides/slide69.xml"/><Relationship Id="rId74" Type="http://schemas.openxmlformats.org/officeDocument/2006/relationships/slide" Target="slides/slide70.xml"/><Relationship Id="rId75" Type="http://schemas.openxmlformats.org/officeDocument/2006/relationships/slide" Target="slides/slide71.xml"/><Relationship Id="rId76" Type="http://schemas.openxmlformats.org/officeDocument/2006/relationships/slide" Target="slides/slide72.xml"/><Relationship Id="rId77" Type="http://schemas.openxmlformats.org/officeDocument/2006/relationships/slide" Target="slides/slide73.xml"/><Relationship Id="rId78" Type="http://schemas.openxmlformats.org/officeDocument/2006/relationships/slide" Target="slides/slide74.xml"/><Relationship Id="rId79" Type="http://schemas.openxmlformats.org/officeDocument/2006/relationships/slide" Target="slides/slide75.xml"/><Relationship Id="rId80" Type="http://schemas.openxmlformats.org/officeDocument/2006/relationships/slide" Target="slides/slide76.xml"/><Relationship Id="rId81" Type="http://schemas.openxmlformats.org/officeDocument/2006/relationships/slide" Target="slides/slide77.xml"/><Relationship Id="rId82" Type="http://schemas.openxmlformats.org/officeDocument/2006/relationships/slide" Target="slides/slide78.xml"/><Relationship Id="rId87" Type="http://schemas.openxmlformats.org/officeDocument/2006/relationships/slide" Target="slides/slide78.xml"/><Relationship Id="rId88" Type="http://schemas.openxmlformats.org/officeDocument/2006/relationships/slide" Target="slides/slide79.xml"/><Relationship Id="rId89" Type="http://schemas.openxmlformats.org/officeDocument/2006/relationships/slide" Target="slides/slide80.xml"/><Relationship Id="rId90" Type="http://schemas.openxmlformats.org/officeDocument/2006/relationships/slide" Target="slides/slide81.xml"/><Relationship Id="rId91" Type="http://schemas.openxmlformats.org/officeDocument/2006/relationships/slide" Target="slides/slide82.xml"/><Relationship Id="rId92" Type="http://schemas.openxmlformats.org/officeDocument/2006/relationships/slide" Target="slides/slide83.xml"/><Relationship Id="rId93" Type="http://schemas.openxmlformats.org/officeDocument/2006/relationships/slide" Target="slides/slide84.xml"/><Relationship Id="rId94" Type="http://schemas.openxmlformats.org/officeDocument/2006/relationships/slide" Target="slides/slide85.xml"/><Relationship Id="rId95" Type="http://schemas.openxmlformats.org/officeDocument/2006/relationships/slide" Target="slides/slide86.xml"/><Relationship Id="rId96" Type="http://schemas.openxmlformats.org/officeDocument/2006/relationships/slide" Target="slides/slide87.xml"/><Relationship Id="rId97" Type="http://schemas.openxmlformats.org/officeDocument/2006/relationships/slide" Target="slides/slide88.xml"/><Relationship Id="rId98" Type="http://schemas.openxmlformats.org/officeDocument/2006/relationships/slide" Target="slides/slide89.xml"/><Relationship Id="rId99" Type="http://schemas.openxmlformats.org/officeDocument/2006/relationships/slide" Target="slides/slide90.xml"/><Relationship Id="rId100" Type="http://schemas.openxmlformats.org/officeDocument/2006/relationships/slide" Target="slides/slide91.xml"/><Relationship Id="rId101" Type="http://schemas.openxmlformats.org/officeDocument/2006/relationships/slide" Target="slides/slide92.xml"/><Relationship Id="rId102" Type="http://schemas.openxmlformats.org/officeDocument/2006/relationships/slide" Target="slides/slide93.xml"/><Relationship Id="rId103" Type="http://schemas.openxmlformats.org/officeDocument/2006/relationships/slide" Target="slides/slide94.xml"/><Relationship Id="rId104" Type="http://schemas.openxmlformats.org/officeDocument/2006/relationships/slide" Target="slides/slide95.xml"/><Relationship Id="rId105" Type="http://schemas.openxmlformats.org/officeDocument/2006/relationships/slide" Target="slides/slide96.xml"/><Relationship Id="rId106" Type="http://schemas.openxmlformats.org/officeDocument/2006/relationships/slide" Target="slides/slide97.xml"/><Relationship Id="rId107" Type="http://schemas.openxmlformats.org/officeDocument/2006/relationships/slide" Target="slides/slide98.xml"/><Relationship Id="rId108" Type="http://schemas.openxmlformats.org/officeDocument/2006/relationships/slide" Target="slides/slide99.xml"/><Relationship Id="rId109" Type="http://schemas.openxmlformats.org/officeDocument/2006/relationships/slide" Target="slides/slide100.xml"/><Relationship Id="rId110" Type="http://schemas.openxmlformats.org/officeDocument/2006/relationships/slide" Target="slides/slide101.xml"/><Relationship Id="rId111" Type="http://schemas.openxmlformats.org/officeDocument/2006/relationships/slide" Target="slides/slide102.xml"/><Relationship Id="rId112" Type="http://schemas.openxmlformats.org/officeDocument/2006/relationships/slide" Target="slides/slide103.xml"/><Relationship Id="rId113" Type="http://schemas.openxmlformats.org/officeDocument/2006/relationships/slide" Target="slides/slide104.xml"/><Relationship Id="rId114" Type="http://schemas.openxmlformats.org/officeDocument/2006/relationships/slide" Target="slides/slide105.xml"/><Relationship Id="rId115" Type="http://schemas.openxmlformats.org/officeDocument/2006/relationships/slide" Target="slides/slide106.xml"/><Relationship Id="rId116" Type="http://schemas.openxmlformats.org/officeDocument/2006/relationships/slide" Target="slides/slide107.xml"/><Relationship Id="rId117" Type="http://schemas.openxmlformats.org/officeDocument/2006/relationships/slide" Target="slides/slide108.xml"/><Relationship Id="rId118" Type="http://schemas.openxmlformats.org/officeDocument/2006/relationships/slide" Target="slides/slide109.xml"/><Relationship Id="rId119" Type="http://schemas.openxmlformats.org/officeDocument/2006/relationships/slide" Target="slides/slide110.xml"/><Relationship Id="rId120" Type="http://schemas.openxmlformats.org/officeDocument/2006/relationships/slide" Target="slides/slide111.xml"/><Relationship Id="rId121" Type="http://schemas.openxmlformats.org/officeDocument/2006/relationships/slide" Target="slides/slide112.xml"/><Relationship Id="rId122" Type="http://schemas.openxmlformats.org/officeDocument/2006/relationships/slide" Target="slides/slide113.xml"/><Relationship Id="rId123" Type="http://schemas.openxmlformats.org/officeDocument/2006/relationships/slide" Target="slides/slide114.xml"/><Relationship Id="rId124" Type="http://schemas.openxmlformats.org/officeDocument/2006/relationships/slide" Target="slides/slide115.xml"/><Relationship Id="rId125" Type="http://schemas.openxmlformats.org/officeDocument/2006/relationships/slide" Target="slides/slide116.xml"/><Relationship Id="rId126" Type="http://schemas.openxmlformats.org/officeDocument/2006/relationships/slide" Target="slides/slide117.xml"/><Relationship Id="rId127" Type="http://schemas.openxmlformats.org/officeDocument/2006/relationships/slide" Target="slides/slide118.xml"/><Relationship Id="rId128" Type="http://schemas.openxmlformats.org/officeDocument/2006/relationships/slide" Target="slides/slide119.xml"/><Relationship Id="rId129" Type="http://schemas.openxmlformats.org/officeDocument/2006/relationships/slide" Target="slides/slide120.xml"/><Relationship Id="rId130" Type="http://schemas.openxmlformats.org/officeDocument/2006/relationships/slide" Target="slides/slide121.xml"/><Relationship Id="rId131" Type="http://schemas.openxmlformats.org/officeDocument/2006/relationships/slide" Target="slides/slide122.xml"/><Relationship Id="rId132" Type="http://schemas.openxmlformats.org/officeDocument/2006/relationships/slide" Target="slides/slide123.xml"/><Relationship Id="rId133" Type="http://schemas.openxmlformats.org/officeDocument/2006/relationships/slide" Target="slides/slide124.xml"/><Relationship Id="rId134" Type="http://schemas.openxmlformats.org/officeDocument/2006/relationships/slide" Target="slides/slide125.xml"/><Relationship Id="rId135" Type="http://schemas.openxmlformats.org/officeDocument/2006/relationships/slide" Target="slides/slide126.xml"/><Relationship Id="rId136" Type="http://schemas.openxmlformats.org/officeDocument/2006/relationships/slide" Target="slides/slide127.xml"/><Relationship Id="rId137" Type="http://schemas.openxmlformats.org/officeDocument/2006/relationships/slide" Target="slides/slide128.xml"/><Relationship Id="rId138" Type="http://schemas.openxmlformats.org/officeDocument/2006/relationships/slide" Target="slides/slide129.xml"/><Relationship Id="rId139" Type="http://schemas.openxmlformats.org/officeDocument/2006/relationships/slide" Target="slides/slide130.xml"/><Relationship Id="rId140" Type="http://schemas.openxmlformats.org/officeDocument/2006/relationships/slide" Target="slides/slide131.xml"/><Relationship Id="rId141" Type="http://schemas.openxmlformats.org/officeDocument/2006/relationships/slide" Target="slides/slide132.xml"/><Relationship Id="rId142" Type="http://schemas.openxmlformats.org/officeDocument/2006/relationships/slide" Target="slides/slide133.xml"/><Relationship Id="rId143" Type="http://schemas.openxmlformats.org/officeDocument/2006/relationships/slide" Target="slides/slide134.xml"/><Relationship Id="rId144" Type="http://schemas.openxmlformats.org/officeDocument/2006/relationships/slide" Target="slides/slide135.xml"/><Relationship Id="rId145" Type="http://schemas.openxmlformats.org/officeDocument/2006/relationships/slide" Target="slides/slide136.xml"/><Relationship Id="rId146" Type="http://schemas.openxmlformats.org/officeDocument/2006/relationships/slide" Target="slides/slide137.xml"/><Relationship Id="rId147" Type="http://schemas.openxmlformats.org/officeDocument/2006/relationships/slide" Target="slides/slide138.xml"/><Relationship Id="rId148" Type="http://schemas.openxmlformats.org/officeDocument/2006/relationships/slide" Target="slides/slide139.xml"/><Relationship Id="rId149" Type="http://schemas.openxmlformats.org/officeDocument/2006/relationships/slide" Target="slides/slide140.xml"/><Relationship Id="rId150" Type="http://schemas.openxmlformats.org/officeDocument/2006/relationships/slide" Target="slides/slide141.xml"/><Relationship Id="rId151" Type="http://schemas.openxmlformats.org/officeDocument/2006/relationships/slide" Target="slides/slide142.xml"/><Relationship Id="rId152" Type="http://schemas.openxmlformats.org/officeDocument/2006/relationships/slide" Target="slides/slide143.xml"/><Relationship Id="rId153" Type="http://schemas.openxmlformats.org/officeDocument/2006/relationships/slide" Target="slides/slide144.xml"/><Relationship Id="rId154" Type="http://schemas.openxmlformats.org/officeDocument/2006/relationships/slide" Target="slides/slide145.xml"/><Relationship Id="rId155" Type="http://schemas.openxmlformats.org/officeDocument/2006/relationships/slide" Target="slides/slide146.xml"/><Relationship Id="rId156" Type="http://schemas.openxmlformats.org/officeDocument/2006/relationships/slide" Target="slides/slide147.xml"/><Relationship Id="rId157" Type="http://schemas.openxmlformats.org/officeDocument/2006/relationships/slide" Target="slides/slide148.xml"/><Relationship Id="rId158" Type="http://schemas.openxmlformats.org/officeDocument/2006/relationships/slide" Target="slides/slide149.xml"/><Relationship Id="rId159" Type="http://schemas.openxmlformats.org/officeDocument/2006/relationships/slide" Target="slides/slide150.xml"/><Relationship Id="rId160" Type="http://schemas.openxmlformats.org/officeDocument/2006/relationships/slide" Target="slides/slide151.xml"/><Relationship Id="rId161" Type="http://schemas.openxmlformats.org/officeDocument/2006/relationships/slide" Target="slides/slide152.xml"/><Relationship Id="rId162" Type="http://schemas.openxmlformats.org/officeDocument/2006/relationships/slide" Target="slides/slide153.xml"/><Relationship Id="rId163" Type="http://schemas.openxmlformats.org/officeDocument/2006/relationships/slide" Target="slides/slide154.xml"/><Relationship Id="rId164" Type="http://schemas.openxmlformats.org/officeDocument/2006/relationships/slide" Target="slides/slide155.xml"/><Relationship Id="rId165" Type="http://schemas.openxmlformats.org/officeDocument/2006/relationships/slide" Target="slides/slide156.xml"/><Relationship Id="rId246" Type="http://schemas.openxmlformats.org/officeDocument/2006/relationships/notesMaster" Target="notesMasters/notesMaster1.xml"/><Relationship Id="rId247" Type="http://schemas.openxmlformats.org/officeDocument/2006/relationships/presProps" Target="presProps.xml"/><Relationship Id="rId248" Type="http://schemas.openxmlformats.org/officeDocument/2006/relationships/viewProps" Target="viewProps.xml"/><Relationship Id="rId249" Type="http://schemas.openxmlformats.org/officeDocument/2006/relationships/theme" Target="theme/theme1.xml"/><Relationship Id="rId250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600" b="1">
                <a:solidFill>
                  <a:srgbClr val="4B2E83"/>
                </a:solidFill>
              </a:defRPr>
            </a:pPr>
            <a:r>
              <a:rPr lang="en-US" sz="1600" b="1">
                <a:solidFill>
                  <a:srgbClr val="4B2E83"/>
                </a:solidFill>
              </a:rPr>
              <a:t>Scree Plot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Eigenvalue</c:v>
          </c:tx>
          <c:spPr>
            <a:ln w="28575">
              <a:solidFill>
                <a:srgbClr val="00A7B5"/>
              </a:solidFill>
            </a:ln>
          </c:spPr>
          <c:marker>
            <c:symbol val="circle"/>
            <c:size val="7"/>
            <c:spPr>
              <a:solidFill>
                <a:srgbClr val="4B2E83"/>
              </a:solidFill>
            </c:spPr>
          </c:marker>
          <c:cat>
            <c:strLit>
              <c:ptCount val="7"/>
              <c:pt idx="0">
                <c:v>PC1</c:v>
              </c:pt>
              <c:pt idx="1">
                <c:v>PC2</c:v>
              </c:pt>
              <c:pt idx="2">
                <c:v>PC3</c:v>
              </c:pt>
              <c:pt idx="3">
                <c:v>PC4</c:v>
              </c:pt>
              <c:pt idx="4">
                <c:v>PC5</c:v>
              </c:pt>
              <c:pt idx="5">
                <c:v>PC6</c:v>
              </c:pt>
              <c:pt idx="6">
                <c:v>PC7</c:v>
              </c:pt>
            </c:strLit>
          </c:cat>
          <c:val>
            <c:numLit>
              <c:formatCode>General</c:formatCode>
              <c:ptCount val="7"/>
              <c:pt idx="0">
                <c:v>3.4</c:v>
              </c:pt>
              <c:pt idx="1">
                <c:v>1.8</c:v>
              </c:pt>
              <c:pt idx="2">
                <c:v>1.1000000000000001</c:v>
              </c:pt>
              <c:pt idx="3">
                <c:v>0.5</c:v>
              </c:pt>
              <c:pt idx="4">
                <c:v>0.35</c:v>
              </c:pt>
              <c:pt idx="5">
                <c:v>0.2</c:v>
              </c:pt>
              <c:pt idx="6">
                <c:v>0.1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1B27-BF45-AD60-3DB208CBB6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"/>
        <c:axId val="2"/>
      </c:line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 sz="1400"/>
                </a:pPr>
                <a:r>
                  <a:rPr lang="en-US" sz="1400"/>
                  <a:t>Eigenvalue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1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zero"/>
    <c:showDLblsOverMax val="1"/>
  </c:char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600" b="1">
                <a:solidFill>
                  <a:srgbClr val="4B2E83"/>
                </a:solidFill>
              </a:defRPr>
            </a:pPr>
            <a:r>
              <a:rPr lang="en-US" sz="1600" b="1">
                <a:solidFill>
                  <a:srgbClr val="4B2E83"/>
                </a:solidFill>
              </a:rPr>
              <a:t>Original data in (x₁, x₂) space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Observations</c:v>
          </c:tx>
          <c:spPr>
            <a:ln w="19050">
              <a:noFill/>
            </a:ln>
          </c:spPr>
          <c:marker>
            <c:symbol val="circle"/>
            <c:size val="9"/>
            <c:spPr>
              <a:solidFill>
                <a:srgbClr val="4B2E83"/>
              </a:solidFill>
              <a:ln>
                <a:noFill/>
              </a:ln>
            </c:spPr>
          </c:marker>
          <c:xVal>
            <c:numLit>
              <c:formatCode>General</c:formatCode>
              <c:ptCount val="5"/>
              <c:pt idx="0">
                <c:v>3</c:v>
              </c:pt>
              <c:pt idx="1">
                <c:v>4</c:v>
              </c:pt>
              <c:pt idx="2">
                <c:v>5</c:v>
              </c:pt>
              <c:pt idx="3">
                <c:v>6</c:v>
              </c:pt>
              <c:pt idx="4">
                <c:v>7</c:v>
              </c:pt>
            </c:numLit>
          </c:xVal>
          <c:yVal>
            <c:numLit>
              <c:formatCode>General</c:formatCode>
              <c:ptCount val="5"/>
              <c:pt idx="0">
                <c:v>4</c:v>
              </c:pt>
              <c:pt idx="1">
                <c:v>3</c:v>
              </c:pt>
              <c:pt idx="2">
                <c:v>5</c:v>
              </c:pt>
              <c:pt idx="3">
                <c:v>7</c:v>
              </c:pt>
              <c:pt idx="4">
                <c:v>6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D67E-E246-BF94-D1E0100B04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1"/>
        <c:axId val="222"/>
      </c:scatterChart>
      <c:valAx>
        <c:axId val="111"/>
        <c:scaling>
          <c:orientation val="minMax"/>
          <c:max val="8"/>
          <c:min val="2"/>
        </c:scaling>
        <c:delete val="0"/>
        <c:axPos val="b"/>
        <c:title>
          <c:tx>
            <c:rich>
              <a:bodyPr/>
              <a:lstStyle/>
              <a:p>
                <a:pPr>
                  <a:defRPr sz="1400" b="1"/>
                </a:pPr>
                <a:r>
                  <a:rPr lang="en-US" sz="1400" b="1"/>
                  <a:t>x₁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222"/>
        <c:crosses val="autoZero"/>
        <c:crossBetween val="midCat"/>
      </c:valAx>
      <c:valAx>
        <c:axId val="222"/>
        <c:scaling>
          <c:orientation val="minMax"/>
          <c:max val="8"/>
          <c:min val="2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1400" b="1"/>
                </a:pPr>
                <a:r>
                  <a:rPr lang="en-US" sz="1400" b="1"/>
                  <a:t>x₂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111"/>
        <c:crosses val="autoZero"/>
        <c:crossBetween val="midCat"/>
      </c:valAx>
    </c:plotArea>
    <c:plotVisOnly val="1"/>
    <c:dispBlanksAs val="zero"/>
    <c:showDLblsOverMax val="1"/>
  </c:char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600" b="1">
                <a:solidFill>
                  <a:srgbClr val="4B2E83"/>
                </a:solidFill>
              </a:defRPr>
            </a:pPr>
            <a:r>
              <a:rPr lang="en-US" sz="1600" b="1">
                <a:solidFill>
                  <a:srgbClr val="4B2E83"/>
                </a:solidFill>
              </a:rPr>
              <a:t>Variance explained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v>Variance %</c:v>
          </c:tx>
          <c:invertIfNegative val="1"/>
          <c:dPt>
            <c:idx val="0"/>
            <c:invertIfNegative val="1"/>
            <c:bubble3D val="0"/>
            <c:spPr>
              <a:solidFill>
                <a:srgbClr val="7AB648"/>
              </a:solidFill>
            </c:spPr>
            <c:extLst>
              <c:ext xmlns:c16="http://schemas.microsoft.com/office/drawing/2014/chart" uri="{C3380CC4-5D6E-409C-BE32-E72D297353CC}">
                <c16:uniqueId val="{00000001-3F1E-2442-BB10-5E9CBAD7CB3B}"/>
              </c:ext>
            </c:extLst>
          </c:dPt>
          <c:dPt>
            <c:idx val="1"/>
            <c:invertIfNegative val="1"/>
            <c:bubble3D val="0"/>
            <c:spPr>
              <a:solidFill>
                <a:srgbClr val="D1578A"/>
              </a:solidFill>
            </c:spPr>
            <c:extLst>
              <c:ext xmlns:c16="http://schemas.microsoft.com/office/drawing/2014/chart" uri="{C3380CC4-5D6E-409C-BE32-E72D297353CC}">
                <c16:uniqueId val="{00000003-3F1E-2442-BB10-5E9CBAD7CB3B}"/>
              </c:ext>
            </c:extLst>
          </c:dPt>
          <c:dLbls>
            <c:numFmt formatCode="0&quot;%&quot;" sourceLinked="0"/>
            <c:spPr>
              <a:noFill/>
            </c:spPr>
            <c:txPr>
              <a:bodyPr/>
              <a:lstStyle/>
              <a:p>
                <a:pPr>
                  <a:defRPr sz="160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PC1</c:v>
              </c:pt>
              <c:pt idx="1">
                <c:v>PC2</c:v>
              </c:pt>
            </c:strLit>
          </c:cat>
          <c:val>
            <c:numLit>
              <c:formatCode>General</c:formatCode>
              <c:ptCount val="2"/>
              <c:pt idx="0">
                <c:v>90</c:v>
              </c:pt>
              <c:pt idx="1">
                <c:v>10</c:v>
              </c:pt>
            </c:numLit>
          </c:val>
          <c:extLst>
            <c:ext xmlns:c16="http://schemas.microsoft.com/office/drawing/2014/chart" uri="{C3380CC4-5D6E-409C-BE32-E72D297353CC}">
              <c16:uniqueId val="{00000004-3F1E-2442-BB10-5E9CBAD7CB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11"/>
        <c:axId val="222"/>
      </c:barChart>
      <c:catAx>
        <c:axId val="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500" b="1"/>
            </a:pPr>
            <a:endParaRPr lang="en-US"/>
          </a:p>
        </c:txPr>
        <c:crossAx val="222"/>
        <c:crosses val="autoZero"/>
        <c:auto val="1"/>
        <c:lblAlgn val="ctr"/>
        <c:lblOffset val="100"/>
        <c:noMultiLvlLbl val="1"/>
      </c:catAx>
      <c:valAx>
        <c:axId val="222"/>
        <c:scaling>
          <c:orientation val="minMax"/>
          <c:max val="100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111"/>
        <c:crosses val="autoZero"/>
        <c:crossBetween val="between"/>
      </c:valAx>
    </c:plotArea>
    <c:plotVisOnly val="1"/>
    <c:dispBlanksAs val="zero"/>
    <c:showDLblsOverMax val="1"/>
  </c:char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600" b="1"/>
            </a:pPr>
            <a:r>
              <a:rPr lang="en-US" sz="1600" b="1"/>
              <a:t>Variance Explained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v>Variance</c:v>
          </c:tx>
          <c:invertIfNegative val="1"/>
          <c:dPt>
            <c:idx val="0"/>
            <c:invertIfNegative val="1"/>
            <c:bubble3D val="0"/>
            <c:spPr>
              <a:solidFill>
                <a:srgbClr val="7AB648"/>
              </a:solidFill>
            </c:spPr>
            <c:extLst>
              <c:ext xmlns:c16="http://schemas.microsoft.com/office/drawing/2014/chart" uri="{C3380CC4-5D6E-409C-BE32-E72D297353CC}">
                <c16:uniqueId val="{00000001-A543-324F-8542-3BA2E53081E3}"/>
              </c:ext>
            </c:extLst>
          </c:dPt>
          <c:dPt>
            <c:idx val="1"/>
            <c:invertIfNegative val="1"/>
            <c:bubble3D val="0"/>
            <c:spPr>
              <a:solidFill>
                <a:srgbClr val="D1578A"/>
              </a:solidFill>
            </c:spPr>
            <c:extLst>
              <c:ext xmlns:c16="http://schemas.microsoft.com/office/drawing/2014/chart" uri="{C3380CC4-5D6E-409C-BE32-E72D297353CC}">
                <c16:uniqueId val="{00000003-A543-324F-8542-3BA2E53081E3}"/>
              </c:ext>
            </c:extLst>
          </c:dPt>
          <c:dLbls>
            <c:numFmt formatCode="0.0&quot;%&quot;" sourceLinked="0"/>
            <c:spPr>
              <a:noFill/>
            </c:spPr>
            <c:txPr>
              <a:bodyPr/>
              <a:lstStyle/>
              <a:p>
                <a:pPr>
                  <a:defRPr sz="140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PC1</c:v>
              </c:pt>
              <c:pt idx="1">
                <c:v>PC2</c:v>
              </c:pt>
            </c:strLit>
          </c:cat>
          <c:val>
            <c:numLit>
              <c:formatCode>General</c:formatCode>
              <c:ptCount val="2"/>
              <c:pt idx="0">
                <c:v>96.9</c:v>
              </c:pt>
              <c:pt idx="1">
                <c:v>3.1</c:v>
              </c:pt>
            </c:numLit>
          </c:val>
          <c:extLst>
            <c:ext xmlns:c16="http://schemas.microsoft.com/office/drawing/2014/chart" uri="{C3380CC4-5D6E-409C-BE32-E72D297353CC}">
              <c16:uniqueId val="{00000004-A543-324F-8542-3BA2E53081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1"/>
        <c:axId val="222"/>
      </c:barChart>
      <c:catAx>
        <c:axId val="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222"/>
        <c:crosses val="autoZero"/>
        <c:auto val="1"/>
        <c:lblAlgn val="ctr"/>
        <c:lblOffset val="100"/>
        <c:noMultiLvlLbl val="1"/>
      </c:catAx>
      <c:valAx>
        <c:axId val="222"/>
        <c:scaling>
          <c:orientation val="minMax"/>
          <c:max val="100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111"/>
        <c:crosses val="autoZero"/>
        <c:crossBetween val="between"/>
      </c:valAx>
    </c:plotArea>
    <c:plotVisOnly val="1"/>
    <c:dispBlanksAs val="zero"/>
    <c:showDLblsOverMax val="1"/>
  </c:char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US" sz="1600" b="1"/>
              <a:t>Cumulative Variance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Cumulative %</c:v>
          </c:tx>
          <c:invertIfNegative val="1"/>
          <c:dPt>
            <c:idx val="0"/>
            <c:invertIfNegative val="0"/>
            <c:bubble3D val="0"/>
            <c:spPr>
              <a:solidFill>
                <a:srgbClr val="00A7B5"/>
              </a:solidFill>
            </c:spPr>
            <c:extLst>
              <c:ext xmlns:c16="http://schemas.microsoft.com/office/drawing/2014/chart" uri="{C3380CC4-5D6E-409C-BE32-E72D297353CC}">
                <c16:uniqueId val="{00000001-D9B9-C84D-9688-32570F9A4733}"/>
              </c:ext>
            </c:extLst>
          </c:dPt>
          <c:dPt>
            <c:idx val="1"/>
            <c:invertIfNegative val="0"/>
            <c:bubble3D val="0"/>
            <c:spPr>
              <a:solidFill>
                <a:srgbClr val="00A7B5"/>
              </a:solidFill>
            </c:spPr>
            <c:extLst>
              <c:ext xmlns:c16="http://schemas.microsoft.com/office/drawing/2014/chart" uri="{C3380CC4-5D6E-409C-BE32-E72D297353CC}">
                <c16:uniqueId val="{00000003-D9B9-C84D-9688-32570F9A4733}"/>
              </c:ext>
            </c:extLst>
          </c:dPt>
          <c:dPt>
            <c:idx val="2"/>
            <c:invertIfNegative val="0"/>
            <c:bubble3D val="0"/>
            <c:spPr>
              <a:solidFill>
                <a:srgbClr val="7AB648"/>
              </a:solidFill>
            </c:spPr>
            <c:extLst>
              <c:ext xmlns:c16="http://schemas.microsoft.com/office/drawing/2014/chart" uri="{C3380CC4-5D6E-409C-BE32-E72D297353CC}">
                <c16:uniqueId val="{00000005-D9B9-C84D-9688-32570F9A4733}"/>
              </c:ext>
            </c:extLst>
          </c:dPt>
          <c:dPt>
            <c:idx val="3"/>
            <c:invertIfNegative val="0"/>
            <c:bubble3D val="0"/>
            <c:spPr>
              <a:solidFill>
                <a:srgbClr val="7AB648"/>
              </a:solidFill>
            </c:spPr>
            <c:extLst>
              <c:ext xmlns:c16="http://schemas.microsoft.com/office/drawing/2014/chart" uri="{C3380CC4-5D6E-409C-BE32-E72D297353CC}">
                <c16:uniqueId val="{00000007-D9B9-C84D-9688-32570F9A4733}"/>
              </c:ext>
            </c:extLst>
          </c:dPt>
          <c:dPt>
            <c:idx val="4"/>
            <c:invertIfNegative val="0"/>
            <c:bubble3D val="0"/>
            <c:spPr>
              <a:solidFill>
                <a:srgbClr val="7AB648"/>
              </a:solidFill>
            </c:spPr>
            <c:extLst>
              <c:ext xmlns:c16="http://schemas.microsoft.com/office/drawing/2014/chart" uri="{C3380CC4-5D6E-409C-BE32-E72D297353CC}">
                <c16:uniqueId val="{00000009-D9B9-C84D-9688-32570F9A4733}"/>
              </c:ext>
            </c:extLst>
          </c:dPt>
          <c:dPt>
            <c:idx val="5"/>
            <c:invertIfNegative val="0"/>
            <c:bubble3D val="0"/>
            <c:spPr>
              <a:solidFill>
                <a:srgbClr val="7AB648"/>
              </a:solidFill>
            </c:spPr>
            <c:extLst>
              <c:ext xmlns:c16="http://schemas.microsoft.com/office/drawing/2014/chart" uri="{C3380CC4-5D6E-409C-BE32-E72D297353CC}">
                <c16:uniqueId val="{0000000B-D9B9-C84D-9688-32570F9A4733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30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6"/>
              <c:pt idx="0">
                <c:v>PC1</c:v>
              </c:pt>
              <c:pt idx="1">
                <c:v>PC2</c:v>
              </c:pt>
              <c:pt idx="2">
                <c:v>PC3</c:v>
              </c:pt>
              <c:pt idx="3">
                <c:v>PC4</c:v>
              </c:pt>
              <c:pt idx="4">
                <c:v>PC5</c:v>
              </c:pt>
              <c:pt idx="5">
                <c:v>PC6</c:v>
              </c:pt>
            </c:strLit>
          </c:cat>
          <c:val>
            <c:numLit>
              <c:formatCode>General</c:formatCode>
              <c:ptCount val="6"/>
              <c:pt idx="0">
                <c:v>51.7</c:v>
              </c:pt>
              <c:pt idx="1">
                <c:v>75</c:v>
              </c:pt>
              <c:pt idx="2">
                <c:v>86.7</c:v>
              </c:pt>
              <c:pt idx="3">
                <c:v>93.3</c:v>
              </c:pt>
              <c:pt idx="4">
                <c:v>97.5</c:v>
              </c:pt>
              <c:pt idx="5">
                <c:v>100</c:v>
              </c:pt>
            </c:numLit>
          </c:val>
          <c:extLst>
            <c:ext xmlns:c16="http://schemas.microsoft.com/office/drawing/2014/chart" uri="{C3380CC4-5D6E-409C-BE32-E72D297353CC}">
              <c16:uniqueId val="{0000000C-D9B9-C84D-9688-32570F9A47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1"/>
        <c:axId val="222"/>
      </c:barChart>
      <c:catAx>
        <c:axId val="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222"/>
        <c:crosses val="autoZero"/>
        <c:auto val="1"/>
        <c:lblAlgn val="ctr"/>
        <c:lblOffset val="100"/>
        <c:noMultiLvlLbl val="1"/>
      </c:catAx>
      <c:valAx>
        <c:axId val="222"/>
        <c:scaling>
          <c:orientation val="minMax"/>
          <c:max val="100"/>
          <c:min val="0"/>
        </c:scaling>
        <c:delete val="0"/>
        <c:axPos val="l"/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111"/>
        <c:crosses val="autoZero"/>
        <c:crossBetween val="between"/>
      </c:valAx>
    </c:plotArea>
    <c:plotVisOnly val="1"/>
    <c:dispBlanksAs val="zero"/>
    <c:showDLblsOverMax val="1"/>
  </c:char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US" sz="1600" b="1"/>
              <a:t>Scree Plot (eigenvalues)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Eigenvalue</c:v>
          </c:tx>
          <c:spPr>
            <a:ln w="28575">
              <a:solidFill>
                <a:srgbClr val="4B2E83"/>
              </a:solidFill>
            </a:ln>
          </c:spPr>
          <c:marker>
            <c:symbol val="circle"/>
            <c:size val="7"/>
            <c:spPr>
              <a:solidFill>
                <a:srgbClr val="4B2E83"/>
              </a:solidFill>
              <a:ln>
                <a:solidFill>
                  <a:srgbClr val="4B2E83"/>
                </a:solidFill>
              </a:ln>
            </c:spPr>
          </c:marker>
          <c:dLbls>
            <c:numFmt formatCode="0.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300" b="1"/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6"/>
              <c:pt idx="0">
                <c:v>PC1</c:v>
              </c:pt>
              <c:pt idx="1">
                <c:v>PC2</c:v>
              </c:pt>
              <c:pt idx="2">
                <c:v>PC3</c:v>
              </c:pt>
              <c:pt idx="3">
                <c:v>PC4</c:v>
              </c:pt>
              <c:pt idx="4">
                <c:v>PC5</c:v>
              </c:pt>
              <c:pt idx="5">
                <c:v>PC6</c:v>
              </c:pt>
            </c:strLit>
          </c:cat>
          <c:val>
            <c:numLit>
              <c:formatCode>General</c:formatCode>
              <c:ptCount val="6"/>
              <c:pt idx="0">
                <c:v>3.1</c:v>
              </c:pt>
              <c:pt idx="1">
                <c:v>1.4</c:v>
              </c:pt>
              <c:pt idx="2">
                <c:v>0.7</c:v>
              </c:pt>
              <c:pt idx="3">
                <c:v>0.4</c:v>
              </c:pt>
              <c:pt idx="4">
                <c:v>0.25</c:v>
              </c:pt>
              <c:pt idx="5">
                <c:v>0.15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0A6D-524B-83A3-4E5B75FA61F5}"/>
            </c:ext>
          </c:extLst>
        </c:ser>
        <c:ser>
          <c:idx val="1"/>
          <c:order val="1"/>
          <c:tx>
            <c:v>λ = 1 (Kaiser)</c:v>
          </c:tx>
          <c:spPr>
            <a:ln w="19050">
              <a:solidFill>
                <a:srgbClr val="B7A57A"/>
              </a:solidFill>
              <a:prstDash val="dash"/>
            </a:ln>
          </c:spPr>
          <c:marker>
            <c:symbol val="none"/>
          </c:marker>
          <c:cat>
            <c:strLit>
              <c:ptCount val="6"/>
              <c:pt idx="0">
                <c:v>PC1</c:v>
              </c:pt>
              <c:pt idx="1">
                <c:v>PC2</c:v>
              </c:pt>
              <c:pt idx="2">
                <c:v>PC3</c:v>
              </c:pt>
              <c:pt idx="3">
                <c:v>PC4</c:v>
              </c:pt>
              <c:pt idx="4">
                <c:v>PC5</c:v>
              </c:pt>
              <c:pt idx="5">
                <c:v>PC6</c:v>
              </c:pt>
            </c:strLit>
          </c:cat>
          <c:val>
            <c:numLit>
              <c:formatCode>General</c:formatCode>
              <c:ptCount val="6"/>
              <c:pt idx="0">
                <c:v>1</c:v>
              </c:pt>
              <c:pt idx="1">
                <c:v>1</c:v>
              </c:pt>
              <c:pt idx="2">
                <c:v>1</c:v>
              </c:pt>
              <c:pt idx="3">
                <c:v>1</c:v>
              </c:pt>
              <c:pt idx="4">
                <c:v>1</c:v>
              </c:pt>
              <c:pt idx="5">
                <c:v>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0A6D-524B-83A3-4E5B75FA61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33"/>
        <c:axId val="444"/>
      </c:lineChart>
      <c:catAx>
        <c:axId val="333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444"/>
        <c:crosses val="autoZero"/>
        <c:auto val="1"/>
        <c:lblAlgn val="ctr"/>
        <c:lblOffset val="100"/>
        <c:noMultiLvlLbl val="1"/>
      </c:catAx>
      <c:valAx>
        <c:axId val="444"/>
        <c:scaling>
          <c:orientation val="minMax"/>
          <c:max val="3.5"/>
          <c:min val="0"/>
        </c:scaling>
        <c:delete val="0"/>
        <c:axPos val="l"/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333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300"/>
          </a:pPr>
          <a:endParaRPr lang="en-US"/>
        </a:p>
      </c:txPr>
    </c:legend>
    <c:plotVisOnly val="1"/>
    <c:dispBlanksAs val="zero"/>
    <c:showDLblsOverMax val="1"/>
  </c:chart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9E4F28-BF19-8E4B-A267-F456DA2B306E}" type="datetimeFigureOut">
              <a:rPr lang="en-US" smtClean="0"/>
              <a:t>6/19/26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F15BD0-F2D7-F343-84F0-98B3430FB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807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  <p:sp>
        <p:nvSpPr>
          <p:cNvPr id="100" name="TopAccentBar"/>
          <p:cNvSpPr/>
          <p:nvPr userDrawn="1"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GoldAccentLine"/>
          <p:cNvSpPr/>
          <p:nvPr userDrawn="1"/>
        </p:nvSpPr>
        <p:spPr>
          <a:xfrm>
            <a:off x="0" y="91440"/>
            <a:ext cx="12192000" cy="27432"/>
          </a:xfrm>
          <a:prstGeom prst="rect">
            <a:avLst/>
          </a:prstGeom>
          <a:solidFill>
            <a:srgbClr val="F2C01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BottomAccentBar"/>
          <p:cNvSpPr/>
          <p:nvPr userDrawn="1"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1" name="BCTopBar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2" name="BCSilverLine"/>
          <p:cNvSpPr/>
          <p:nvPr/>
        </p:nvSpPr>
        <p:spPr>
          <a:xfrm>
            <a:off x="0" y="76200"/>
            <a:ext cx="12192000" cy="19050"/>
          </a:xfrm>
          <a:prstGeom prst="rect">
            <a:avLst/>
          </a:prstGeom>
          <a:solidFill>
            <a:srgbClr val="A7A9A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3" name="BCBottomBar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4" name="BCLogo"/>
          <p:cNvSpPr/>
          <p:nvPr/>
        </p:nvSpPr>
        <p:spPr>
          <a:xfrm>
            <a:off x="9144000" y="6400800"/>
            <a:ext cx="289560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91440" bIns="0" anchor="ctr" anchorCtr="0"/>
          <a:lstStyle/>
          <a:p>
            <a:pPr algn="r"/>
            <a:endParaRPr lang="en-US" sz="900" b="1" spc="200" dirty="0">
              <a:solidFill>
                <a:srgbClr val="4B2E83"/>
              </a:solidFill>
              <a:latin typeface="Arial"/>
            </a:endParaRPr>
          </a:p>
        </p:txBody>
      </p:sp>
      <p:sp>
        <p:nvSpPr>
          <p:cNvPr id="2010" name="AuthorInfo"/>
          <p:cNvSpPr/>
          <p:nvPr/>
        </p:nvSpPr>
        <p:spPr>
          <a:xfrm>
            <a:off x="152400" y="6400800"/>
            <a:ext cx="853440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/>
          <a:lstStyle/>
          <a:p>
            <a:pPr algn="l"/>
            <a:r>
              <a:rPr lang="en-US" sz="900" dirty="0">
                <a:solidFill>
                  <a:srgbClr val="4B2E83"/>
                </a:solidFill>
                <a:latin typeface="+mn-lt"/>
              </a:rPr>
              <a:t>Pedro Albuquerque, PhD (</a:t>
            </a:r>
            <a:r>
              <a:rPr lang="en-US" sz="900" dirty="0" err="1">
                <a:solidFill>
                  <a:srgbClr val="4B2E83"/>
                </a:solidFill>
                <a:latin typeface="+mn-lt"/>
              </a:rPr>
              <a:t>pedroalb@uwb.edu</a:t>
            </a:r>
            <a:r>
              <a:rPr lang="en-US" sz="900" dirty="0">
                <a:solidFill>
                  <a:srgbClr val="4B2E83"/>
                </a:solidFill>
                <a:latin typeface="+mn-lt"/>
              </a:rPr>
              <a:t>)</a:t>
            </a:r>
          </a:p>
        </p:txBody>
      </p:sp>
      <p:pic>
        <p:nvPicPr>
          <p:cNvPr id="9" name="Picture 8" descr="A purple letters on a black background&#10;&#10;AI-generated content may be incorrect.">
            <a:extLst>
              <a:ext uri="{FF2B5EF4-FFF2-40B4-BE49-F238E27FC236}">
                <a16:creationId xmlns:a16="http://schemas.microsoft.com/office/drawing/2014/main" id="{E462ACF0-778E-E7EE-EC6D-064CC249F90F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9372600" y="6473509"/>
            <a:ext cx="2743200" cy="21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7" r:id="rId2"/>
    <p:sldLayoutId id="2147483739" r:id="rId3"/>
    <p:sldLayoutId id="2147483740" r:id="rId4"/>
    <p:sldLayoutId id="2147483741" r:id="rId5"/>
    <p:sldLayoutId id="2147483742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4B2E83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D3748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2D3748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2D3748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D3748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D3748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rgbClr val="2D3748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Relationship Id="rId7" Type="http://schemas.openxmlformats.org/officeDocument/2006/relationships/image" Target="../media/image5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image" Target="../media/image58.png"/><Relationship Id="rId7" Type="http://schemas.openxmlformats.org/officeDocument/2006/relationships/image" Target="../media/image5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0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51.png"/><Relationship Id="rId6" Type="http://schemas.openxmlformats.org/officeDocument/2006/relationships/image" Target="../media/image63.png"/><Relationship Id="rId7" Type="http://schemas.openxmlformats.org/officeDocument/2006/relationships/image" Target="../media/image6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5.png"/><Relationship Id="rId3" Type="http://schemas.openxmlformats.org/officeDocument/2006/relationships/image" Target="../media/image66.png"/><Relationship Id="rId4" Type="http://schemas.openxmlformats.org/officeDocument/2006/relationships/image" Target="../media/image6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3.png"/><Relationship Id="rId3" Type="http://schemas.openxmlformats.org/officeDocument/2006/relationships/image" Target="../media/image6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9.png"/><Relationship Id="rId3" Type="http://schemas.openxmlformats.org/officeDocument/2006/relationships/image" Target="../media/image7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1.png"/><Relationship Id="rId3" Type="http://schemas.openxmlformats.org/officeDocument/2006/relationships/image" Target="../media/image7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Relationship Id="rId4" Type="http://schemas.openxmlformats.org/officeDocument/2006/relationships/image" Target="../media/image75.png"/><Relationship Id="rId5" Type="http://schemas.openxmlformats.org/officeDocument/2006/relationships/image" Target="../media/image57.png"/><Relationship Id="rId6" Type="http://schemas.openxmlformats.org/officeDocument/2006/relationships/image" Target="../media/image76.png"/><Relationship Id="rId7" Type="http://schemas.openxmlformats.org/officeDocument/2006/relationships/image" Target="../media/image7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8.png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51.png"/><Relationship Id="rId6" Type="http://schemas.openxmlformats.org/officeDocument/2006/relationships/image" Target="../media/image80.png"/><Relationship Id="rId7" Type="http://schemas.openxmlformats.org/officeDocument/2006/relationships/image" Target="../media/image8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2.png"/><Relationship Id="rId3" Type="http://schemas.openxmlformats.org/officeDocument/2006/relationships/image" Target="../media/image83.png"/><Relationship Id="rId4" Type="http://schemas.openxmlformats.org/officeDocument/2006/relationships/image" Target="../media/image84.png"/><Relationship Id="rId5" Type="http://schemas.openxmlformats.org/officeDocument/2006/relationships/image" Target="../media/image85.png"/><Relationship Id="rId6" Type="http://schemas.openxmlformats.org/officeDocument/2006/relationships/image" Target="../media/image86.png"/><Relationship Id="rId7" Type="http://schemas.openxmlformats.org/officeDocument/2006/relationships/image" Target="../media/image8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10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8.png"/><Relationship Id="rId3" Type="http://schemas.openxmlformats.org/officeDocument/2006/relationships/image" Target="../media/image89.png"/><Relationship Id="rId4" Type="http://schemas.openxmlformats.org/officeDocument/2006/relationships/image" Target="../media/image9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0.png"/><Relationship Id="rId3" Type="http://schemas.openxmlformats.org/officeDocument/2006/relationships/image" Target="../media/image110.png"/><Relationship Id="rId4" Type="http://schemas.openxmlformats.org/officeDocument/2006/relationships/image" Target="../media/image120.png"/><Relationship Id="rId5" Type="http://schemas.openxmlformats.org/officeDocument/2006/relationships/image" Target="../media/image130.png"/><Relationship Id="rId6" Type="http://schemas.openxmlformats.org/officeDocument/2006/relationships/chart" Target="../charts/char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0.png"/><Relationship Id="rId3" Type="http://schemas.openxmlformats.org/officeDocument/2006/relationships/image" Target="../media/image150.png"/><Relationship Id="rId4" Type="http://schemas.openxmlformats.org/officeDocument/2006/relationships/image" Target="../media/image160.png"/><Relationship Id="rId5" Type="http://schemas.openxmlformats.org/officeDocument/2006/relationships/image" Target="../media/image170.png"/><Relationship Id="rId6" Type="http://schemas.openxmlformats.org/officeDocument/2006/relationships/image" Target="../media/image180.png"/><Relationship Id="rId7" Type="http://schemas.openxmlformats.org/officeDocument/2006/relationships/image" Target="../media/image190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1.png"/><Relationship Id="rId3" Type="http://schemas.openxmlformats.org/officeDocument/2006/relationships/chart" Target="../charts/char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2.png"/><Relationship Id="rId3" Type="http://schemas.openxmlformats.org/officeDocument/2006/relationships/image" Target="../media/image9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4.png"/><Relationship Id="rId3" Type="http://schemas.openxmlformats.org/officeDocument/2006/relationships/image" Target="../media/image95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6.png"/><Relationship Id="rId3" Type="http://schemas.openxmlformats.org/officeDocument/2006/relationships/image" Target="../media/image97.png"/><Relationship Id="rId4" Type="http://schemas.openxmlformats.org/officeDocument/2006/relationships/image" Target="../media/image98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9.png"/><Relationship Id="rId3" Type="http://schemas.openxmlformats.org/officeDocument/2006/relationships/image" Target="../media/image101.png"/><Relationship Id="rId4" Type="http://schemas.openxmlformats.org/officeDocument/2006/relationships/image" Target="../media/image102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3.png"/><Relationship Id="rId3" Type="http://schemas.openxmlformats.org/officeDocument/2006/relationships/image" Target="../media/image104.png"/><Relationship Id="rId4" Type="http://schemas.openxmlformats.org/officeDocument/2006/relationships/image" Target="../media/image105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6.png"/><Relationship Id="rId3" Type="http://schemas.openxmlformats.org/officeDocument/2006/relationships/image" Target="../media/image107.png"/><Relationship Id="rId4" Type="http://schemas.openxmlformats.org/officeDocument/2006/relationships/image" Target="../media/image108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9.png"/><Relationship Id="rId3" Type="http://schemas.openxmlformats.org/officeDocument/2006/relationships/image" Target="../media/image11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2.png"/><Relationship Id="rId3" Type="http://schemas.openxmlformats.org/officeDocument/2006/relationships/chart" Target="../charts/chart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0.png"/><Relationship Id="rId3" Type="http://schemas.openxmlformats.org/officeDocument/2006/relationships/image" Target="../media/image210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0.png"/><Relationship Id="rId3" Type="http://schemas.openxmlformats.org/officeDocument/2006/relationships/image" Target="../media/image230.png"/><Relationship Id="rId4" Type="http://schemas.openxmlformats.org/officeDocument/2006/relationships/image" Target="../media/image240.png"/><Relationship Id="rId5" Type="http://schemas.openxmlformats.org/officeDocument/2006/relationships/image" Target="../media/image250.png"/><Relationship Id="rId6" Type="http://schemas.openxmlformats.org/officeDocument/2006/relationships/image" Target="../media/image260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3.png"/><Relationship Id="rId3" Type="http://schemas.openxmlformats.org/officeDocument/2006/relationships/image" Target="../media/image114.png"/><Relationship Id="rId4" Type="http://schemas.openxmlformats.org/officeDocument/2006/relationships/image" Target="../media/image115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6.png"/><Relationship Id="rId3" Type="http://schemas.openxmlformats.org/officeDocument/2006/relationships/image" Target="../media/image117.png"/><Relationship Id="rId4" Type="http://schemas.openxmlformats.org/officeDocument/2006/relationships/image" Target="../media/image118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9.png"/><Relationship Id="rId3" Type="http://schemas.openxmlformats.org/officeDocument/2006/relationships/image" Target="../media/image121.png"/><Relationship Id="rId4" Type="http://schemas.openxmlformats.org/officeDocument/2006/relationships/image" Target="../media/image122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3.png"/><Relationship Id="rId3" Type="http://schemas.openxmlformats.org/officeDocument/2006/relationships/image" Target="../media/image124.png"/><Relationship Id="rId4" Type="http://schemas.openxmlformats.org/officeDocument/2006/relationships/image" Target="../media/image125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6.png"/><Relationship Id="rId3" Type="http://schemas.openxmlformats.org/officeDocument/2006/relationships/chart" Target="../charts/chart4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7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8.png"/><Relationship Id="rId3" Type="http://schemas.openxmlformats.org/officeDocument/2006/relationships/image" Target="../media/image129.png"/><Relationship Id="rId4" Type="http://schemas.openxmlformats.org/officeDocument/2006/relationships/image" Target="../media/image13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2.png"/><Relationship Id="rId3" Type="http://schemas.openxmlformats.org/officeDocument/2006/relationships/image" Target="../media/image133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4.png"/><Relationship Id="rId3" Type="http://schemas.openxmlformats.org/officeDocument/2006/relationships/image" Target="../media/image135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6.png"/><Relationship Id="rId3" Type="http://schemas.openxmlformats.org/officeDocument/2006/relationships/image" Target="../media/image137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8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9.png"/><Relationship Id="rId3" Type="http://schemas.openxmlformats.org/officeDocument/2006/relationships/image" Target="../media/image14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2.png"/><Relationship Id="rId3" Type="http://schemas.openxmlformats.org/officeDocument/2006/relationships/image" Target="../media/image143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4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5.png"/><Relationship Id="rId3" Type="http://schemas.openxmlformats.org/officeDocument/2006/relationships/image" Target="../media/image146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7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8.png"/><Relationship Id="rId3" Type="http://schemas.openxmlformats.org/officeDocument/2006/relationships/image" Target="../media/image149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1.png"/><Relationship Id="rId3" Type="http://schemas.openxmlformats.org/officeDocument/2006/relationships/image" Target="../media/image152.png"/><Relationship Id="rId4" Type="http://schemas.openxmlformats.org/officeDocument/2006/relationships/image" Target="../media/image153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4.png"/><Relationship Id="rId3" Type="http://schemas.openxmlformats.org/officeDocument/2006/relationships/image" Target="../media/image155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6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7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5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6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B24C6A4-3588-404F-B036-83F107B008AA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B79E48-40D4-0247-ADDE-B678E9E350CC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Course Roadmap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ED78A7-EE2D-B347-ACDB-F37917FC1629}"/>
              </a:ext>
            </a:extLst>
          </p:cNvPr>
          <p:cNvSpPr txBox="1"/>
          <p:nvPr/>
        </p:nvSpPr>
        <p:spPr>
          <a:xfrm>
            <a:off x="762000" y="1524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i="1">
                <a:solidFill>
                  <a:srgbClr val="333333"/>
                </a:solidFill>
              </a:rPr>
              <a:t>Four classical-to-modern techniques, one unifying goal: represent complex data as low-dimensional vectors that preserve the structure that matters.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921E54A-B33C-D04E-9579-F1F921F05B58}"/>
              </a:ext>
            </a:extLst>
          </p:cNvPr>
          <p:cNvSpPr/>
          <p:nvPr/>
        </p:nvSpPr>
        <p:spPr>
          <a:xfrm>
            <a:off x="762000" y="2413000"/>
            <a:ext cx="5143500" cy="1524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DC98F7B-0017-E545-9D27-E559D40CDD02}"/>
              </a:ext>
            </a:extLst>
          </p:cNvPr>
          <p:cNvSpPr/>
          <p:nvPr/>
        </p:nvSpPr>
        <p:spPr>
          <a:xfrm>
            <a:off x="990600" y="2641600"/>
            <a:ext cx="609600" cy="6096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3C867E-A7A4-3440-950B-8361C9897408}"/>
              </a:ext>
            </a:extLst>
          </p:cNvPr>
          <p:cNvSpPr txBox="1"/>
          <p:nvPr/>
        </p:nvSpPr>
        <p:spPr>
          <a:xfrm>
            <a:off x="1778000" y="2667000"/>
            <a:ext cx="3937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4B2E83"/>
                </a:solidFill>
              </a:rPr>
              <a:t>Principal Component Analysis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11B958-9420-8045-A4D4-704DDBAE15F9}"/>
              </a:ext>
            </a:extLst>
          </p:cNvPr>
          <p:cNvSpPr txBox="1"/>
          <p:nvPr/>
        </p:nvSpPr>
        <p:spPr>
          <a:xfrm>
            <a:off x="1778000" y="3098800"/>
            <a:ext cx="3937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Linear projection maximizing variance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B80E6D0-82DA-6F44-993B-8775384914AD}"/>
              </a:ext>
            </a:extLst>
          </p:cNvPr>
          <p:cNvSpPr/>
          <p:nvPr/>
        </p:nvSpPr>
        <p:spPr>
          <a:xfrm>
            <a:off x="6286500" y="2413000"/>
            <a:ext cx="5143500" cy="1524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723C5ED-6028-DF41-88CE-E0295A663D65}"/>
              </a:ext>
            </a:extLst>
          </p:cNvPr>
          <p:cNvSpPr/>
          <p:nvPr/>
        </p:nvSpPr>
        <p:spPr>
          <a:xfrm>
            <a:off x="6515100" y="2641600"/>
            <a:ext cx="609600" cy="6096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A75D36-6796-D142-ADCA-891307543013}"/>
              </a:ext>
            </a:extLst>
          </p:cNvPr>
          <p:cNvSpPr txBox="1"/>
          <p:nvPr/>
        </p:nvSpPr>
        <p:spPr>
          <a:xfrm>
            <a:off x="7302500" y="2667000"/>
            <a:ext cx="3937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00A7B5"/>
                </a:solidFill>
              </a:rPr>
              <a:t>Correspondence Analysis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3FEAF8-DE7D-7143-A22B-67E85D7000C9}"/>
              </a:ext>
            </a:extLst>
          </p:cNvPr>
          <p:cNvSpPr txBox="1"/>
          <p:nvPr/>
        </p:nvSpPr>
        <p:spPr>
          <a:xfrm>
            <a:off x="7302500" y="3098800"/>
            <a:ext cx="3937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PCA for categorical / contingency data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A592F8B-3710-E248-A07F-878AA26E81CA}"/>
              </a:ext>
            </a:extLst>
          </p:cNvPr>
          <p:cNvSpPr/>
          <p:nvPr/>
        </p:nvSpPr>
        <p:spPr>
          <a:xfrm>
            <a:off x="762000" y="4241800"/>
            <a:ext cx="5143500" cy="1524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9C585E9-0975-8743-A935-262821D15D61}"/>
              </a:ext>
            </a:extLst>
          </p:cNvPr>
          <p:cNvSpPr/>
          <p:nvPr/>
        </p:nvSpPr>
        <p:spPr>
          <a:xfrm>
            <a:off x="990600" y="4470400"/>
            <a:ext cx="609600" cy="6096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D9072A-5A48-4248-858B-826C42AFCD92}"/>
              </a:ext>
            </a:extLst>
          </p:cNvPr>
          <p:cNvSpPr txBox="1"/>
          <p:nvPr/>
        </p:nvSpPr>
        <p:spPr>
          <a:xfrm>
            <a:off x="1778000" y="4495800"/>
            <a:ext cx="3937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7AB648"/>
                </a:solidFill>
              </a:rPr>
              <a:t>Multidimensional Scaling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65EFC8-76B6-324E-8DB8-2E690702AE3E}"/>
              </a:ext>
            </a:extLst>
          </p:cNvPr>
          <p:cNvSpPr txBox="1"/>
          <p:nvPr/>
        </p:nvSpPr>
        <p:spPr>
          <a:xfrm>
            <a:off x="1778000" y="4927600"/>
            <a:ext cx="3937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Embedding from distances alone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2B46010-94EA-4B47-A7EE-BE9C07516A1E}"/>
              </a:ext>
            </a:extLst>
          </p:cNvPr>
          <p:cNvSpPr/>
          <p:nvPr/>
        </p:nvSpPr>
        <p:spPr>
          <a:xfrm>
            <a:off x="6286500" y="4241800"/>
            <a:ext cx="5143500" cy="1524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00DDEFE-6B0D-624C-BB4C-616B22AFE255}"/>
              </a:ext>
            </a:extLst>
          </p:cNvPr>
          <p:cNvSpPr/>
          <p:nvPr/>
        </p:nvSpPr>
        <p:spPr>
          <a:xfrm>
            <a:off x="6515100" y="4470400"/>
            <a:ext cx="609600" cy="6096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235C720-FACB-2C49-889F-36A67D84FE5C}"/>
              </a:ext>
            </a:extLst>
          </p:cNvPr>
          <p:cNvSpPr txBox="1"/>
          <p:nvPr/>
        </p:nvSpPr>
        <p:spPr>
          <a:xfrm>
            <a:off x="7302500" y="4495800"/>
            <a:ext cx="3937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D1578A"/>
                </a:solidFill>
              </a:rPr>
              <a:t>Autoencoders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6E4A01-323F-E84C-92C7-47BDE33C9FB7}"/>
              </a:ext>
            </a:extLst>
          </p:cNvPr>
          <p:cNvSpPr txBox="1"/>
          <p:nvPr/>
        </p:nvSpPr>
        <p:spPr>
          <a:xfrm>
            <a:off x="7302500" y="4927600"/>
            <a:ext cx="3937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Nonlinear neural compression &amp; embeddings</a:t>
            </a:r>
          </a:p>
        </p:txBody>
      </p:sp>
    </p:spTree>
    <p:extLst>
      <p:ext uri="{BB962C8B-B14F-4D97-AF65-F5344CB8AC3E}">
        <p14:creationId xmlns:p14="http://schemas.microsoft.com/office/powerpoint/2010/main" val="3727557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742764E-DA90-D546-A99D-842B5985A111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64C42D-4937-2144-971A-36B9B763F84C}"/>
              </a:ext>
            </a:extLst>
          </p:cNvPr>
          <p:cNvSpPr txBox="1"/>
          <p:nvPr/>
        </p:nvSpPr>
        <p:spPr>
          <a:xfrm>
            <a:off x="762000" y="685800"/>
            <a:ext cx="10668000" cy="609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Principal Component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7429E2-5537-3949-9B79-B3E77E9E9009}"/>
              </a:ext>
            </a:extLst>
          </p:cNvPr>
          <p:cNvSpPr txBox="1"/>
          <p:nvPr/>
        </p:nvSpPr>
        <p:spPr>
          <a:xfrm>
            <a:off x="762000" y="1371600"/>
            <a:ext cx="106680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i="1">
                <a:solidFill>
                  <a:srgbClr val="333333"/>
                </a:solidFill>
              </a:rPr>
              <a:t>Linear projection that maximizes variance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24F9EE6-3F77-2F41-98CA-1253B671BA28}"/>
              </a:ext>
            </a:extLst>
          </p:cNvPr>
          <p:cNvSpPr/>
          <p:nvPr/>
        </p:nvSpPr>
        <p:spPr>
          <a:xfrm>
            <a:off x="762000" y="2159000"/>
            <a:ext cx="51435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5FE548-000C-C64A-A99A-8058595A10D0}"/>
              </a:ext>
            </a:extLst>
          </p:cNvPr>
          <p:cNvSpPr txBox="1"/>
          <p:nvPr/>
        </p:nvSpPr>
        <p:spPr>
          <a:xfrm>
            <a:off x="1041400" y="2387600"/>
            <a:ext cx="45847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INTUITION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EF534C-E72F-274A-842C-DA616192EA22}"/>
              </a:ext>
            </a:extLst>
          </p:cNvPr>
          <p:cNvSpPr txBox="1"/>
          <p:nvPr/>
        </p:nvSpPr>
        <p:spPr>
          <a:xfrm>
            <a:off x="1041400" y="2895600"/>
            <a:ext cx="4584700" cy="3251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>
                <a:solidFill>
                  <a:srgbClr val="333333"/>
                </a:solidFill>
              </a:rPr>
              <a:t>Find new axes — the principal components — that point in the directions of greatest variance in the data. The first captures the most spread; each next captures the most that remains while staying perpendicular to the others. Keeping the top few axes preserves the dominant structure and discards noise.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A9A84FE-752D-7F4D-85D3-9538685C35F8}"/>
              </a:ext>
            </a:extLst>
          </p:cNvPr>
          <p:cNvSpPr/>
          <p:nvPr/>
        </p:nvSpPr>
        <p:spPr>
          <a:xfrm>
            <a:off x="6286500" y="2159000"/>
            <a:ext cx="51435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3F9AB4-2BA9-F248-95E3-E23AE140E1F2}"/>
              </a:ext>
            </a:extLst>
          </p:cNvPr>
          <p:cNvSpPr txBox="1"/>
          <p:nvPr/>
        </p:nvSpPr>
        <p:spPr>
          <a:xfrm>
            <a:off x="6565900" y="2387600"/>
            <a:ext cx="45847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HOW TO USE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68613E-7DFB-884A-81DA-65598D5AA2CD}"/>
              </a:ext>
            </a:extLst>
          </p:cNvPr>
          <p:cNvSpPr txBox="1"/>
          <p:nvPr/>
        </p:nvSpPr>
        <p:spPr>
          <a:xfrm>
            <a:off x="6565900" y="2895600"/>
            <a:ext cx="4584700" cy="3251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>
                <a:solidFill>
                  <a:srgbClr val="333333"/>
                </a:solidFill>
              </a:rPr>
              <a:t>•  Center and standardize the features
•  Compute the covariance matrix, then its eigenvectors (or use SVD)
•  Rank components by explained variance (scree plot)
•  Keep the top-k and project the data onto them
•  Use for: visualization, denoising, preprocessing</a:t>
            </a:r>
          </a:p>
        </p:txBody>
      </p:sp>
    </p:spTree>
    <p:extLst>
      <p:ext uri="{BB962C8B-B14F-4D97-AF65-F5344CB8AC3E}">
        <p14:creationId xmlns:p14="http://schemas.microsoft.com/office/powerpoint/2010/main" val="46680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CECA917-B270-9044-B250-B443A75286AD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1C8D5E-5AFE-1C42-8896-560F377F558C}"/>
              </a:ext>
            </a:extLst>
          </p:cNvPr>
          <p:cNvSpPr txBox="1"/>
          <p:nvPr/>
        </p:nvSpPr>
        <p:spPr>
          <a:xfrm>
            <a:off x="762000" y="685800"/>
            <a:ext cx="10668000" cy="609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800" b="1">
                <a:solidFill>
                  <a:srgbClr val="00A7B5"/>
                </a:solidFill>
              </a:rPr>
              <a:t>Correspondence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3DF2FB-8F0E-A64B-A159-90C6DEF10A10}"/>
              </a:ext>
            </a:extLst>
          </p:cNvPr>
          <p:cNvSpPr txBox="1"/>
          <p:nvPr/>
        </p:nvSpPr>
        <p:spPr>
          <a:xfrm>
            <a:off x="762000" y="1371600"/>
            <a:ext cx="106680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i="1">
                <a:solidFill>
                  <a:srgbClr val="333333"/>
                </a:solidFill>
              </a:rPr>
              <a:t>PCA's cousin for categorical / contingency data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6A6C7D2-163F-C64A-A26F-4E6D32BDD672}"/>
              </a:ext>
            </a:extLst>
          </p:cNvPr>
          <p:cNvSpPr/>
          <p:nvPr/>
        </p:nvSpPr>
        <p:spPr>
          <a:xfrm>
            <a:off x="762000" y="2159000"/>
            <a:ext cx="51435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7D696A-9A2D-494D-AA93-46ABFED31725}"/>
              </a:ext>
            </a:extLst>
          </p:cNvPr>
          <p:cNvSpPr txBox="1"/>
          <p:nvPr/>
        </p:nvSpPr>
        <p:spPr>
          <a:xfrm>
            <a:off x="1041400" y="2387600"/>
            <a:ext cx="45847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>
                <a:solidFill>
                  <a:srgbClr val="00A7B5"/>
                </a:solidFill>
              </a:rPr>
              <a:t>INTUITION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AEEFAE-7F92-034A-83A6-921E73630380}"/>
              </a:ext>
            </a:extLst>
          </p:cNvPr>
          <p:cNvSpPr txBox="1"/>
          <p:nvPr/>
        </p:nvSpPr>
        <p:spPr>
          <a:xfrm>
            <a:off x="1041400" y="2895600"/>
            <a:ext cx="4584700" cy="3251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>
                <a:solidFill>
                  <a:srgbClr val="333333"/>
                </a:solidFill>
              </a:rPr>
              <a:t>Take a contingency table — counts of how categories co-occur — and measure how far it strays from independence (chi-square distances). CA places both the rows and the columns in one shared low-dimensional space, so categories that tend to occur together land near each other and associations become visible at a glance.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D44039F-AD44-FD44-AA84-12D79052CFCC}"/>
              </a:ext>
            </a:extLst>
          </p:cNvPr>
          <p:cNvSpPr/>
          <p:nvPr/>
        </p:nvSpPr>
        <p:spPr>
          <a:xfrm>
            <a:off x="6286500" y="2159000"/>
            <a:ext cx="51435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51A1C0-2DD6-E24A-ADFF-8DE68FF128BB}"/>
              </a:ext>
            </a:extLst>
          </p:cNvPr>
          <p:cNvSpPr txBox="1"/>
          <p:nvPr/>
        </p:nvSpPr>
        <p:spPr>
          <a:xfrm>
            <a:off x="6565900" y="2387600"/>
            <a:ext cx="45847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>
                <a:solidFill>
                  <a:srgbClr val="00A7B5"/>
                </a:solidFill>
              </a:rPr>
              <a:t>HOW TO USE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2C7E3F-4DBF-1641-8DFD-C219A2DA5454}"/>
              </a:ext>
            </a:extLst>
          </p:cNvPr>
          <p:cNvSpPr txBox="1"/>
          <p:nvPr/>
        </p:nvSpPr>
        <p:spPr>
          <a:xfrm>
            <a:off x="6565900" y="2895600"/>
            <a:ext cx="4584700" cy="3251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>
                <a:solidFill>
                  <a:srgbClr val="333333"/>
                </a:solidFill>
              </a:rPr>
              <a:t>•  Start from a contingency table of category counts
•  Convert counts to row and column profiles (relative frequencies)
•  Decompose the standardized residuals via SVD
•  Plot rows and columns together on the first 2 axes (biplot)
•  Read nearby points as associated; check inertia per axis</a:t>
            </a:r>
          </a:p>
        </p:txBody>
      </p:sp>
    </p:spTree>
    <p:extLst>
      <p:ext uri="{BB962C8B-B14F-4D97-AF65-F5344CB8AC3E}">
        <p14:creationId xmlns:p14="http://schemas.microsoft.com/office/powerpoint/2010/main" val="1054983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7E926C9-1C49-9B44-8AE0-D60566FA6537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37E1C7-DF3F-114A-BEA6-1BBA993E7CF5}"/>
              </a:ext>
            </a:extLst>
          </p:cNvPr>
          <p:cNvSpPr txBox="1"/>
          <p:nvPr/>
        </p:nvSpPr>
        <p:spPr>
          <a:xfrm>
            <a:off x="762000" y="685800"/>
            <a:ext cx="10668000" cy="609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800" b="1">
                <a:solidFill>
                  <a:srgbClr val="7AB648"/>
                </a:solidFill>
              </a:rPr>
              <a:t>Multidimensional Scaling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4D28BA-83F6-AC49-9554-C422BEA8D017}"/>
              </a:ext>
            </a:extLst>
          </p:cNvPr>
          <p:cNvSpPr txBox="1"/>
          <p:nvPr/>
        </p:nvSpPr>
        <p:spPr>
          <a:xfrm>
            <a:off x="762000" y="1371600"/>
            <a:ext cx="106680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i="1">
                <a:solidFill>
                  <a:srgbClr val="333333"/>
                </a:solidFill>
              </a:rPr>
              <a:t>Build an embedding from distances alone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1036F1A-87BB-914B-8B7A-20A282629BCD}"/>
              </a:ext>
            </a:extLst>
          </p:cNvPr>
          <p:cNvSpPr/>
          <p:nvPr/>
        </p:nvSpPr>
        <p:spPr>
          <a:xfrm>
            <a:off x="762000" y="2159000"/>
            <a:ext cx="51435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90EFA4-B3D8-7E41-9281-48088C5B93A2}"/>
              </a:ext>
            </a:extLst>
          </p:cNvPr>
          <p:cNvSpPr txBox="1"/>
          <p:nvPr/>
        </p:nvSpPr>
        <p:spPr>
          <a:xfrm>
            <a:off x="1041400" y="2387600"/>
            <a:ext cx="45847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>
                <a:solidFill>
                  <a:srgbClr val="7AB648"/>
                </a:solidFill>
              </a:rPr>
              <a:t>INTUITION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2C886-7DD6-0240-A5F6-BEBF3F9E4E09}"/>
              </a:ext>
            </a:extLst>
          </p:cNvPr>
          <p:cNvSpPr txBox="1"/>
          <p:nvPr/>
        </p:nvSpPr>
        <p:spPr>
          <a:xfrm>
            <a:off x="1041400" y="2895600"/>
            <a:ext cx="4584700" cy="3251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>
                <a:solidFill>
                  <a:srgbClr val="333333"/>
                </a:solidFill>
              </a:rPr>
              <a:t>Suppose you only know the pairwise distances between objects, not their coordinates. MDS searches for positions in a low-dimensional space so that the distances between the placed points match the given dissimilarities as closely as possible — in effect turning a distance matrix back into a map you can plot.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4D153F1-1832-384B-A58B-E42DFCEBE7B1}"/>
              </a:ext>
            </a:extLst>
          </p:cNvPr>
          <p:cNvSpPr/>
          <p:nvPr/>
        </p:nvSpPr>
        <p:spPr>
          <a:xfrm>
            <a:off x="6286500" y="2159000"/>
            <a:ext cx="51435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9693E8-BB5D-0F44-AA6B-36CC5AA0DD70}"/>
              </a:ext>
            </a:extLst>
          </p:cNvPr>
          <p:cNvSpPr txBox="1"/>
          <p:nvPr/>
        </p:nvSpPr>
        <p:spPr>
          <a:xfrm>
            <a:off x="6565900" y="2387600"/>
            <a:ext cx="45847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>
                <a:solidFill>
                  <a:srgbClr val="7AB648"/>
                </a:solidFill>
              </a:rPr>
              <a:t>HOW TO USE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66D4A0-35F6-F54D-B513-7E1A4639821B}"/>
              </a:ext>
            </a:extLst>
          </p:cNvPr>
          <p:cNvSpPr txBox="1"/>
          <p:nvPr/>
        </p:nvSpPr>
        <p:spPr>
          <a:xfrm>
            <a:off x="6565900" y="2895600"/>
            <a:ext cx="4584700" cy="3251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>
                <a:solidFill>
                  <a:srgbClr val="333333"/>
                </a:solidFill>
              </a:rPr>
              <a:t>•  Assemble a pairwise distance / dissimilarity matrix
•  Choose classical (metric) or non-metric MDS
•  Metric: eigendecompose the double-centered matrix
•  Non-metric: preserve rank order, minimize stress
•  Embed in 2–3D; judge fit with stress / Shepard plot</a:t>
            </a:r>
          </a:p>
        </p:txBody>
      </p:sp>
    </p:spTree>
    <p:extLst>
      <p:ext uri="{BB962C8B-B14F-4D97-AF65-F5344CB8AC3E}">
        <p14:creationId xmlns:p14="http://schemas.microsoft.com/office/powerpoint/2010/main" val="3857201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231DAB3-5DA8-7440-BB6C-DB5168EE0D80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8ABFC0-C1C7-C34F-83CE-8A58E7339760}"/>
              </a:ext>
            </a:extLst>
          </p:cNvPr>
          <p:cNvSpPr txBox="1"/>
          <p:nvPr/>
        </p:nvSpPr>
        <p:spPr>
          <a:xfrm>
            <a:off x="762000" y="685800"/>
            <a:ext cx="10668000" cy="609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800" b="1">
                <a:solidFill>
                  <a:srgbClr val="D1578A"/>
                </a:solidFill>
              </a:rPr>
              <a:t>Autoencoders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445F12-B62D-D840-B979-6C61A01AF485}"/>
              </a:ext>
            </a:extLst>
          </p:cNvPr>
          <p:cNvSpPr txBox="1"/>
          <p:nvPr/>
        </p:nvSpPr>
        <p:spPr>
          <a:xfrm>
            <a:off x="762000" y="1371600"/>
            <a:ext cx="106680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i="1">
                <a:solidFill>
                  <a:srgbClr val="333333"/>
                </a:solidFill>
              </a:rPr>
              <a:t>Nonlinear neural compression &amp; embeddings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4C43FCA-AC76-9D4F-AE20-3E903717CD39}"/>
              </a:ext>
            </a:extLst>
          </p:cNvPr>
          <p:cNvSpPr/>
          <p:nvPr/>
        </p:nvSpPr>
        <p:spPr>
          <a:xfrm>
            <a:off x="762000" y="2159000"/>
            <a:ext cx="51435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0AFF41-7098-C546-AED0-118A816914FD}"/>
              </a:ext>
            </a:extLst>
          </p:cNvPr>
          <p:cNvSpPr txBox="1"/>
          <p:nvPr/>
        </p:nvSpPr>
        <p:spPr>
          <a:xfrm>
            <a:off x="1041400" y="2387600"/>
            <a:ext cx="45847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>
                <a:solidFill>
                  <a:srgbClr val="D1578A"/>
                </a:solidFill>
              </a:rPr>
              <a:t>INTUITION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2C2C2B-BF67-E540-A6BA-A21103848DBF}"/>
              </a:ext>
            </a:extLst>
          </p:cNvPr>
          <p:cNvSpPr txBox="1"/>
          <p:nvPr/>
        </p:nvSpPr>
        <p:spPr>
          <a:xfrm>
            <a:off x="1041400" y="2895600"/>
            <a:ext cx="4584700" cy="3251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>
                <a:solidFill>
                  <a:srgbClr val="333333"/>
                </a:solidFill>
              </a:rPr>
              <a:t>A neural network trained to reproduce its own input through a narrow bottleneck. The encoder squeezes the input into a small latent code; the decoder rebuilds the input from it. To reconstruct well through so few numbers, the network is forced to learn a compact, nonlinear representation of the structure that matters.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8BDED33-C359-8F41-A8E5-6E965CA7A2F0}"/>
              </a:ext>
            </a:extLst>
          </p:cNvPr>
          <p:cNvSpPr/>
          <p:nvPr/>
        </p:nvSpPr>
        <p:spPr>
          <a:xfrm>
            <a:off x="6286500" y="2159000"/>
            <a:ext cx="51435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0E5DFD-210C-0E4F-A643-F23164071A36}"/>
              </a:ext>
            </a:extLst>
          </p:cNvPr>
          <p:cNvSpPr txBox="1"/>
          <p:nvPr/>
        </p:nvSpPr>
        <p:spPr>
          <a:xfrm>
            <a:off x="6565900" y="2387600"/>
            <a:ext cx="45847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>
                <a:solidFill>
                  <a:srgbClr val="D1578A"/>
                </a:solidFill>
              </a:rPr>
              <a:t>HOW TO USE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7F7551-A4EF-2942-B056-7CCAE799BBCF}"/>
              </a:ext>
            </a:extLst>
          </p:cNvPr>
          <p:cNvSpPr txBox="1"/>
          <p:nvPr/>
        </p:nvSpPr>
        <p:spPr>
          <a:xfrm>
            <a:off x="6565900" y="2895600"/>
            <a:ext cx="4584700" cy="3251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>
                <a:solidFill>
                  <a:srgbClr val="333333"/>
                </a:solidFill>
              </a:rPr>
              <a:t>•  Define encoder → bottleneck → decoder layers
•  Train to minimize reconstruction loss (e.g. MSE) on unlabeled data
•  Use the bottleneck activations as learned embeddings
•  Variants: denoising, sparse, variational (VAE)
•  Use for nonlinear reduction, anomaly detection, generation</a:t>
            </a:r>
          </a:p>
        </p:txBody>
      </p:sp>
    </p:spTree>
    <p:extLst>
      <p:ext uri="{BB962C8B-B14F-4D97-AF65-F5344CB8AC3E}">
        <p14:creationId xmlns:p14="http://schemas.microsoft.com/office/powerpoint/2010/main" val="1142677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D5BACBC-E61A-674D-914F-0F92CF6A0BC0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B7F1E9-C061-7248-9164-0653B413600E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Turning Anything into Meaningful Vectors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AB1067-7E10-EB4C-A3D1-0D3B8AF1480F}"/>
              </a:ext>
            </a:extLst>
          </p:cNvPr>
          <p:cNvSpPr txBox="1"/>
          <p:nvPr/>
        </p:nvSpPr>
        <p:spPr>
          <a:xfrm>
            <a:off x="762000" y="1587500"/>
            <a:ext cx="106680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Text, images, users, products, documents, genes — almost any object can be encoded as a point in a vector space. Once data lives in ℝᵈ, geometry does the work: similarity becomes distance, structure becomes shape, and learning becomes optimization.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13C16C9-2861-D249-8CE5-6D2F459C5E67}"/>
              </a:ext>
            </a:extLst>
          </p:cNvPr>
          <p:cNvSpPr/>
          <p:nvPr/>
        </p:nvSpPr>
        <p:spPr>
          <a:xfrm>
            <a:off x="762000" y="3810000"/>
            <a:ext cx="2476500" cy="1524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C4E312-BFF9-424F-9427-C9257AE09F72}"/>
              </a:ext>
            </a:extLst>
          </p:cNvPr>
          <p:cNvSpPr txBox="1"/>
          <p:nvPr/>
        </p:nvSpPr>
        <p:spPr>
          <a:xfrm>
            <a:off x="914400" y="3987800"/>
            <a:ext cx="21717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B7A57A"/>
                </a:solidFill>
              </a:rPr>
              <a:t>Raw object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72F0A2-FD04-0947-9622-3D94C6DF381E}"/>
              </a:ext>
            </a:extLst>
          </p:cNvPr>
          <p:cNvSpPr txBox="1"/>
          <p:nvPr/>
        </p:nvSpPr>
        <p:spPr>
          <a:xfrm>
            <a:off x="914400" y="4521200"/>
            <a:ext cx="21717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Text, image, table row, graph node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27C021AE-4C8C-354E-AF9E-3C2770DE47FA}"/>
              </a:ext>
            </a:extLst>
          </p:cNvPr>
          <p:cNvSpPr/>
          <p:nvPr/>
        </p:nvSpPr>
        <p:spPr>
          <a:xfrm>
            <a:off x="3162300" y="4394200"/>
            <a:ext cx="406400" cy="355600"/>
          </a:xfrm>
          <a:prstGeom prst="rightArrow">
            <a:avLst/>
          </a:prstGeom>
          <a:solidFill>
            <a:srgbClr val="8575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E82B449-AD2E-4547-9795-A0490EDBD8E9}"/>
              </a:ext>
            </a:extLst>
          </p:cNvPr>
          <p:cNvSpPr/>
          <p:nvPr/>
        </p:nvSpPr>
        <p:spPr>
          <a:xfrm>
            <a:off x="3492500" y="3810000"/>
            <a:ext cx="2476500" cy="1524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108A6D-01BD-514B-A663-9986DA974428}"/>
              </a:ext>
            </a:extLst>
          </p:cNvPr>
          <p:cNvSpPr txBox="1"/>
          <p:nvPr/>
        </p:nvSpPr>
        <p:spPr>
          <a:xfrm>
            <a:off x="3644900" y="3987800"/>
            <a:ext cx="21717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00A7B5"/>
                </a:solidFill>
              </a:rPr>
              <a:t>Encoding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1FAE2E-8896-664D-8CA5-5239DBCD5857}"/>
              </a:ext>
            </a:extLst>
          </p:cNvPr>
          <p:cNvSpPr txBox="1"/>
          <p:nvPr/>
        </p:nvSpPr>
        <p:spPr>
          <a:xfrm>
            <a:off x="3644900" y="4521200"/>
            <a:ext cx="21717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Counts, pixels, features, similarities</a:t>
            </a: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A9589025-0BE7-C64F-B7B5-B123197E7797}"/>
              </a:ext>
            </a:extLst>
          </p:cNvPr>
          <p:cNvSpPr/>
          <p:nvPr/>
        </p:nvSpPr>
        <p:spPr>
          <a:xfrm>
            <a:off x="5892800" y="4394200"/>
            <a:ext cx="406400" cy="355600"/>
          </a:xfrm>
          <a:prstGeom prst="rightArrow">
            <a:avLst/>
          </a:prstGeom>
          <a:solidFill>
            <a:srgbClr val="8575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16F0B96-F601-B049-A774-D11FF404A35A}"/>
              </a:ext>
            </a:extLst>
          </p:cNvPr>
          <p:cNvSpPr/>
          <p:nvPr/>
        </p:nvSpPr>
        <p:spPr>
          <a:xfrm>
            <a:off x="6223000" y="3810000"/>
            <a:ext cx="2476500" cy="1524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7089F6-2886-BF49-905B-68E08265B830}"/>
              </a:ext>
            </a:extLst>
          </p:cNvPr>
          <p:cNvSpPr txBox="1"/>
          <p:nvPr/>
        </p:nvSpPr>
        <p:spPr>
          <a:xfrm>
            <a:off x="6375400" y="3987800"/>
            <a:ext cx="21717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Vector x ∈ ℝᵈ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C1BCCF-9EBC-224F-944C-FF5946780789}"/>
              </a:ext>
            </a:extLst>
          </p:cNvPr>
          <p:cNvSpPr txBox="1"/>
          <p:nvPr/>
        </p:nvSpPr>
        <p:spPr>
          <a:xfrm>
            <a:off x="6375400" y="4521200"/>
            <a:ext cx="21717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Coordinates in a space</a:t>
            </a:r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9CA9E0FD-A070-EB43-BA1A-525A49742EFA}"/>
              </a:ext>
            </a:extLst>
          </p:cNvPr>
          <p:cNvSpPr/>
          <p:nvPr/>
        </p:nvSpPr>
        <p:spPr>
          <a:xfrm>
            <a:off x="8623300" y="4394200"/>
            <a:ext cx="406400" cy="355600"/>
          </a:xfrm>
          <a:prstGeom prst="rightArrow">
            <a:avLst/>
          </a:prstGeom>
          <a:solidFill>
            <a:srgbClr val="8575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F049FAE-68E8-9447-9D63-DB98855076E9}"/>
              </a:ext>
            </a:extLst>
          </p:cNvPr>
          <p:cNvSpPr/>
          <p:nvPr/>
        </p:nvSpPr>
        <p:spPr>
          <a:xfrm>
            <a:off x="8953500" y="3810000"/>
            <a:ext cx="2476500" cy="1524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1FE3AB4-28BF-264B-BB17-19F2807C41CC}"/>
              </a:ext>
            </a:extLst>
          </p:cNvPr>
          <p:cNvSpPr txBox="1"/>
          <p:nvPr/>
        </p:nvSpPr>
        <p:spPr>
          <a:xfrm>
            <a:off x="9105900" y="3987800"/>
            <a:ext cx="21717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D1578A"/>
                </a:solidFill>
              </a:rPr>
              <a:t>Embedding z ∈ ℝᵏ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DDA344A-C33D-2E44-A7DC-44E6DB16D7B1}"/>
              </a:ext>
            </a:extLst>
          </p:cNvPr>
          <p:cNvSpPr txBox="1"/>
          <p:nvPr/>
        </p:nvSpPr>
        <p:spPr>
          <a:xfrm>
            <a:off x="9105900" y="4521200"/>
            <a:ext cx="21717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Compressed, meaningful (k ≪ d)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5242712-5F2A-784D-898A-2FC62D28209D}"/>
              </a:ext>
            </a:extLst>
          </p:cNvPr>
          <p:cNvSpPr txBox="1"/>
          <p:nvPr/>
        </p:nvSpPr>
        <p:spPr>
          <a:xfrm>
            <a:off x="762000" y="5651500"/>
            <a:ext cx="1066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85754D"/>
                </a:solidFill>
              </a:rPr>
              <a:t>This deck: four ways to learn the map  x ↦ z  — linear (PCA, CA, MDS) and nonlinear (autoencoders).</a:t>
            </a:r>
          </a:p>
        </p:txBody>
      </p:sp>
    </p:spTree>
    <p:extLst>
      <p:ext uri="{BB962C8B-B14F-4D97-AF65-F5344CB8AC3E}">
        <p14:creationId xmlns:p14="http://schemas.microsoft.com/office/powerpoint/2010/main" val="14012317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C762721-32D7-9D40-902E-046733CDDF3E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AECAB5-7E2C-0D42-86E6-E4C299571388}"/>
              </a:ext>
            </a:extLst>
          </p:cNvPr>
          <p:cNvSpPr txBox="1"/>
          <p:nvPr/>
        </p:nvSpPr>
        <p:spPr>
          <a:xfrm>
            <a:off x="762000" y="685800"/>
            <a:ext cx="10668000" cy="609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Why This Toolkit Enables Advanced Visualization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90183A-4A0F-9945-AC00-994C2FEFB71D}"/>
              </a:ext>
            </a:extLst>
          </p:cNvPr>
          <p:cNvSpPr txBox="1"/>
          <p:nvPr/>
        </p:nvSpPr>
        <p:spPr>
          <a:xfrm>
            <a:off x="762000" y="1346200"/>
            <a:ext cx="10668000" cy="609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Once objects become vectors, dimensionality reduction and clustering reveal structure that is invisible in raw high-dimensional data.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22FC4E3-E91D-7640-A72D-0DE4176D4AA3}"/>
              </a:ext>
            </a:extLst>
          </p:cNvPr>
          <p:cNvSpPr/>
          <p:nvPr/>
        </p:nvSpPr>
        <p:spPr>
          <a:xfrm>
            <a:off x="762000" y="2133600"/>
            <a:ext cx="5143500" cy="18034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CAC1B7B-B22C-2348-B84F-B92A2E949A8C}"/>
              </a:ext>
            </a:extLst>
          </p:cNvPr>
          <p:cNvSpPr/>
          <p:nvPr/>
        </p:nvSpPr>
        <p:spPr>
          <a:xfrm>
            <a:off x="990600" y="2362200"/>
            <a:ext cx="609600" cy="6096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06A0A7-71AF-9848-BD70-DA690046CE3B}"/>
              </a:ext>
            </a:extLst>
          </p:cNvPr>
          <p:cNvSpPr txBox="1"/>
          <p:nvPr/>
        </p:nvSpPr>
        <p:spPr>
          <a:xfrm>
            <a:off x="1803400" y="2387600"/>
            <a:ext cx="38735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700" b="1">
                <a:solidFill>
                  <a:srgbClr val="4B2E83"/>
                </a:solidFill>
              </a:rPr>
              <a:t>Data Reduction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128D9D-4920-2E4E-931D-7EBF01CF7726}"/>
              </a:ext>
            </a:extLst>
          </p:cNvPr>
          <p:cNvSpPr txBox="1"/>
          <p:nvPr/>
        </p:nvSpPr>
        <p:spPr>
          <a:xfrm>
            <a:off x="1803400" y="2844800"/>
            <a:ext cx="3873500" cy="990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PCA, CA and MDS collapse dozens or thousands of dimensions into 2–3, so an entire dataset fits on one screen while keeping its dominant structure.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289922A-2F5D-7F4F-AD67-CCB8B4D04543}"/>
              </a:ext>
            </a:extLst>
          </p:cNvPr>
          <p:cNvSpPr/>
          <p:nvPr/>
        </p:nvSpPr>
        <p:spPr>
          <a:xfrm>
            <a:off x="6286500" y="2133600"/>
            <a:ext cx="5143500" cy="18034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D90AE96-2A0E-FB46-9D12-834723B83F6B}"/>
              </a:ext>
            </a:extLst>
          </p:cNvPr>
          <p:cNvSpPr/>
          <p:nvPr/>
        </p:nvSpPr>
        <p:spPr>
          <a:xfrm>
            <a:off x="6515100" y="2362200"/>
            <a:ext cx="609600" cy="6096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85B78C-B2E7-BB42-AA62-D676AE8A5215}"/>
              </a:ext>
            </a:extLst>
          </p:cNvPr>
          <p:cNvSpPr txBox="1"/>
          <p:nvPr/>
        </p:nvSpPr>
        <p:spPr>
          <a:xfrm>
            <a:off x="7327900" y="2387600"/>
            <a:ext cx="38735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700" b="1">
                <a:solidFill>
                  <a:srgbClr val="D1578A"/>
                </a:solidFill>
              </a:rPr>
              <a:t>Nonlinearity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1340E7-500E-AA4A-9834-96BABFA9243D}"/>
              </a:ext>
            </a:extLst>
          </p:cNvPr>
          <p:cNvSpPr txBox="1"/>
          <p:nvPr/>
        </p:nvSpPr>
        <p:spPr>
          <a:xfrm>
            <a:off x="7327900" y="2844800"/>
            <a:ext cx="3873500" cy="990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Autoencoders and distance-based methods unfold curved manifolds that flat linear projections distort — exposing structure PCA alone would miss.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1F458D8-664F-494F-A246-3A62DD456DFE}"/>
              </a:ext>
            </a:extLst>
          </p:cNvPr>
          <p:cNvSpPr/>
          <p:nvPr/>
        </p:nvSpPr>
        <p:spPr>
          <a:xfrm>
            <a:off x="762000" y="4038600"/>
            <a:ext cx="5143500" cy="18034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13DB850-F78D-4140-BA17-87BB04E76056}"/>
              </a:ext>
            </a:extLst>
          </p:cNvPr>
          <p:cNvSpPr/>
          <p:nvPr/>
        </p:nvSpPr>
        <p:spPr>
          <a:xfrm>
            <a:off x="990600" y="4267200"/>
            <a:ext cx="609600" cy="6096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2BEE31-8CA4-364E-B803-79D4C72C6D13}"/>
              </a:ext>
            </a:extLst>
          </p:cNvPr>
          <p:cNvSpPr txBox="1"/>
          <p:nvPr/>
        </p:nvSpPr>
        <p:spPr>
          <a:xfrm>
            <a:off x="1803400" y="4292600"/>
            <a:ext cx="38735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700" b="1">
                <a:solidFill>
                  <a:srgbClr val="7AB648"/>
                </a:solidFill>
              </a:rPr>
              <a:t>Clustering = Segments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8395E62-7F2D-9A41-AE36-BAFB5C6E53B8}"/>
              </a:ext>
            </a:extLst>
          </p:cNvPr>
          <p:cNvSpPr txBox="1"/>
          <p:nvPr/>
        </p:nvSpPr>
        <p:spPr>
          <a:xfrm>
            <a:off x="1803400" y="4749800"/>
            <a:ext cx="3873500" cy="990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Cluster in the reduced space, then color the embedding by cluster: geometry becomes named groups you can interpret, compare and label.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3D8E8DF-74C2-7043-80A0-752D041F9D9C}"/>
              </a:ext>
            </a:extLst>
          </p:cNvPr>
          <p:cNvSpPr/>
          <p:nvPr/>
        </p:nvSpPr>
        <p:spPr>
          <a:xfrm>
            <a:off x="6286500" y="4038600"/>
            <a:ext cx="5143500" cy="18034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123F9BD-1604-3149-9D7C-4FD0886D145E}"/>
              </a:ext>
            </a:extLst>
          </p:cNvPr>
          <p:cNvSpPr/>
          <p:nvPr/>
        </p:nvSpPr>
        <p:spPr>
          <a:xfrm>
            <a:off x="6515100" y="4267200"/>
            <a:ext cx="609600" cy="6096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83222B-A57B-114C-8444-93048F4C354E}"/>
              </a:ext>
            </a:extLst>
          </p:cNvPr>
          <p:cNvSpPr txBox="1"/>
          <p:nvPr/>
        </p:nvSpPr>
        <p:spPr>
          <a:xfrm>
            <a:off x="7327900" y="4292600"/>
            <a:ext cx="38735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700" b="1">
                <a:solidFill>
                  <a:srgbClr val="00A7B5"/>
                </a:solidFill>
              </a:rPr>
              <a:t>Patterns &amp; Outliers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6EB30C1-5CFB-E248-AF3F-BEF0EC01C750}"/>
              </a:ext>
            </a:extLst>
          </p:cNvPr>
          <p:cNvSpPr txBox="1"/>
          <p:nvPr/>
        </p:nvSpPr>
        <p:spPr>
          <a:xfrm>
            <a:off x="7327900" y="4749800"/>
            <a:ext cx="3873500" cy="990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In the embedding, similarity becomes proximity — neighborhoods, gradients and anomalies become visible to the eye, guiding analysis and QA.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7FBDEBA-044C-854D-96F6-11E3EF53E5C8}"/>
              </a:ext>
            </a:extLst>
          </p:cNvPr>
          <p:cNvSpPr txBox="1"/>
          <p:nvPr/>
        </p:nvSpPr>
        <p:spPr>
          <a:xfrm>
            <a:off x="762000" y="6070600"/>
            <a:ext cx="106680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i="1">
                <a:solidFill>
                  <a:srgbClr val="85754D"/>
                </a:solidFill>
              </a:rPr>
              <a:t>Reduce → embed → cluster → visualize: the pipeline behind modern exploratory data analysis.</a:t>
            </a:r>
          </a:p>
        </p:txBody>
      </p:sp>
    </p:spTree>
    <p:extLst>
      <p:ext uri="{BB962C8B-B14F-4D97-AF65-F5344CB8AC3E}">
        <p14:creationId xmlns:p14="http://schemas.microsoft.com/office/powerpoint/2010/main" val="2417837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F3239B7-CED6-5E44-85EF-BA007DFA8BF0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8E9EC8-1DCD-B345-9FAB-B37FEFAEA706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The Common Thread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32471B-B07C-BA43-B8F3-646A0F0EA1EA}"/>
              </a:ext>
            </a:extLst>
          </p:cNvPr>
          <p:cNvSpPr txBox="1"/>
          <p:nvPr/>
        </p:nvSpPr>
        <p:spPr>
          <a:xfrm>
            <a:off x="762000" y="1524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i="1">
                <a:solidFill>
                  <a:srgbClr val="333333"/>
                </a:solidFill>
              </a:rPr>
              <a:t>All four methods solve one problem: find a low-dimensional representation Z ∈ ℝⁿˣᵏ of data X ∈ ℝⁿˣᵖ that preserves a chosen notion of structure.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FC93E1-0340-0F40-844D-500685443B14}"/>
              </a:ext>
            </a:extLst>
          </p:cNvPr>
          <p:cNvSpPr/>
          <p:nvPr/>
        </p:nvSpPr>
        <p:spPr>
          <a:xfrm>
            <a:off x="762000" y="2349500"/>
            <a:ext cx="2286000" cy="736600"/>
          </a:xfrm>
          <a:prstGeom prst="rect">
            <a:avLst/>
          </a:prstGeom>
          <a:solidFill>
            <a:srgbClr val="4B2E83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4E4AAE-ABDE-D147-86DD-C4FDE447AC8F}"/>
              </a:ext>
            </a:extLst>
          </p:cNvPr>
          <p:cNvSpPr/>
          <p:nvPr/>
        </p:nvSpPr>
        <p:spPr>
          <a:xfrm>
            <a:off x="3048000" y="2349500"/>
            <a:ext cx="2667000" cy="736600"/>
          </a:xfrm>
          <a:prstGeom prst="rect">
            <a:avLst/>
          </a:prstGeom>
          <a:solidFill>
            <a:srgbClr val="4B2E83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Preserves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72E281-B6D7-8F47-A415-E0EB0A398C59}"/>
              </a:ext>
            </a:extLst>
          </p:cNvPr>
          <p:cNvSpPr/>
          <p:nvPr/>
        </p:nvSpPr>
        <p:spPr>
          <a:xfrm>
            <a:off x="5715000" y="2349500"/>
            <a:ext cx="1397000" cy="736600"/>
          </a:xfrm>
          <a:prstGeom prst="rect">
            <a:avLst/>
          </a:prstGeom>
          <a:solidFill>
            <a:srgbClr val="4B2E83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Map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ECDDAD5-0F32-C94B-98AF-36DEFC7D799A}"/>
              </a:ext>
            </a:extLst>
          </p:cNvPr>
          <p:cNvSpPr/>
          <p:nvPr/>
        </p:nvSpPr>
        <p:spPr>
          <a:xfrm>
            <a:off x="7112000" y="2349500"/>
            <a:ext cx="4064000" cy="736600"/>
          </a:xfrm>
          <a:prstGeom prst="rect">
            <a:avLst/>
          </a:prstGeom>
          <a:solidFill>
            <a:srgbClr val="4B2E83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Core operation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3C9753-6D67-8D4B-82B3-5C7197BBFA1E}"/>
              </a:ext>
            </a:extLst>
          </p:cNvPr>
          <p:cNvSpPr/>
          <p:nvPr/>
        </p:nvSpPr>
        <p:spPr>
          <a:xfrm>
            <a:off x="762000" y="3086100"/>
            <a:ext cx="2286000" cy="736600"/>
          </a:xfrm>
          <a:prstGeom prst="rect">
            <a:avLst/>
          </a:prstGeom>
          <a:solidFill>
            <a:srgbClr val="F5F0EB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r>
              <a:rPr lang="en-US" sz="1400" b="1">
                <a:solidFill>
                  <a:srgbClr val="4B2E83"/>
                </a:solidFill>
              </a:rPr>
              <a:t>PCA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F43784-90ED-874A-AE44-644558579853}"/>
              </a:ext>
            </a:extLst>
          </p:cNvPr>
          <p:cNvSpPr/>
          <p:nvPr/>
        </p:nvSpPr>
        <p:spPr>
          <a:xfrm>
            <a:off x="3048000" y="3086100"/>
            <a:ext cx="2667000" cy="736600"/>
          </a:xfrm>
          <a:prstGeom prst="rect">
            <a:avLst/>
          </a:prstGeom>
          <a:solidFill>
            <a:srgbClr val="F5F0EB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Variance / covariance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9448EA0-34DC-1F40-85DC-E157969B8FB6}"/>
              </a:ext>
            </a:extLst>
          </p:cNvPr>
          <p:cNvSpPr/>
          <p:nvPr/>
        </p:nvSpPr>
        <p:spPr>
          <a:xfrm>
            <a:off x="5715000" y="3086100"/>
            <a:ext cx="1397000" cy="736600"/>
          </a:xfrm>
          <a:prstGeom prst="rect">
            <a:avLst/>
          </a:prstGeom>
          <a:solidFill>
            <a:srgbClr val="F5F0EB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Linear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64B6CF1-8873-8B41-9A1B-2752C8AB90E9}"/>
                  </a:ext>
                </a:extLst>
              </p:cNvPr>
              <p:cNvSpPr/>
              <p:nvPr/>
            </p:nvSpPr>
            <p:spPr>
              <a:xfrm>
                <a:off x="7112000" y="3086100"/>
                <a:ext cx="4064000" cy="736600"/>
              </a:xfrm>
              <a:prstGeom prst="rect">
                <a:avLst/>
              </a:prstGeom>
              <a:solidFill>
                <a:srgbClr val="F5F0EB"/>
              </a:solidFill>
              <a:ln w="9525" cap="flat" cmpd="sng" algn="ctr">
                <a:solidFill>
                  <a:srgbClr val="D8D2C4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wrap="square" rtlCol="0" anchor="ctr" anchorCtr="0"/>
              <a:lstStyle/>
              <a:p>
                <a:pPr algn="l"/>
                <a:r>
                  <a:rPr lang="en-US" sz="1400" dirty="0">
                    <a:solidFill>
                      <a:srgbClr val="333333"/>
                    </a:solidFill>
                  </a:rPr>
                  <a:t>Eigen-decomposition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endParaRPr lang="en-US" sz="1400" dirty="0">
                  <a:solidFill>
                    <a:srgbClr val="333333"/>
                  </a:solidFill>
                </a:endParaRPr>
              </a:p>
            </p:txBody>
          </p:sp>
        </mc:Choice>
        <mc:Fallback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64B6CF1-8873-8B41-9A1B-2752C8AB90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000" y="3086100"/>
                <a:ext cx="4064000" cy="7366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9525" cap="flat" cmpd="sng" algn="ctr">
                <a:solidFill>
                  <a:srgbClr val="D8D2C4"/>
                </a:solidFill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248EBAB1-CE37-8244-9D07-2F0531FC57B8}"/>
              </a:ext>
            </a:extLst>
          </p:cNvPr>
          <p:cNvSpPr/>
          <p:nvPr/>
        </p:nvSpPr>
        <p:spPr>
          <a:xfrm>
            <a:off x="762000" y="3822700"/>
            <a:ext cx="2286000" cy="736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r>
              <a:rPr lang="en-US" sz="1400" b="1">
                <a:solidFill>
                  <a:srgbClr val="00A7B5"/>
                </a:solidFill>
              </a:rPr>
              <a:t>Correspondence Analysis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394C524-CD2A-BE4D-8108-C2750C911ADA}"/>
              </a:ext>
            </a:extLst>
          </p:cNvPr>
          <p:cNvSpPr/>
          <p:nvPr/>
        </p:nvSpPr>
        <p:spPr>
          <a:xfrm>
            <a:off x="3048000" y="3822700"/>
            <a:ext cx="2667000" cy="736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r>
              <a:rPr lang="el-GR" sz="1400">
                <a:solidFill>
                  <a:srgbClr val="333333"/>
                </a:solidFill>
              </a:rPr>
              <a:t>χ² </a:t>
            </a:r>
            <a:r>
              <a:rPr lang="en-US" sz="1400">
                <a:solidFill>
                  <a:srgbClr val="333333"/>
                </a:solidFill>
              </a:rPr>
              <a:t>association in tables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181817-C286-F84F-A085-7EF8EB45FAD1}"/>
              </a:ext>
            </a:extLst>
          </p:cNvPr>
          <p:cNvSpPr/>
          <p:nvPr/>
        </p:nvSpPr>
        <p:spPr>
          <a:xfrm>
            <a:off x="5715000" y="3822700"/>
            <a:ext cx="1397000" cy="736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Linear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D307FD-D83B-9849-977B-57DD565E967E}"/>
              </a:ext>
            </a:extLst>
          </p:cNvPr>
          <p:cNvSpPr/>
          <p:nvPr/>
        </p:nvSpPr>
        <p:spPr>
          <a:xfrm>
            <a:off x="7112000" y="3822700"/>
            <a:ext cx="4064000" cy="736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r>
              <a:rPr lang="en-US" sz="1400" dirty="0">
                <a:solidFill>
                  <a:srgbClr val="333333"/>
                </a:solidFill>
              </a:rPr>
              <a:t>SVD of standardized residuals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F119A3-4E7E-494E-A808-39DC8C667FB3}"/>
              </a:ext>
            </a:extLst>
          </p:cNvPr>
          <p:cNvSpPr/>
          <p:nvPr/>
        </p:nvSpPr>
        <p:spPr>
          <a:xfrm>
            <a:off x="762000" y="4559300"/>
            <a:ext cx="2286000" cy="736600"/>
          </a:xfrm>
          <a:prstGeom prst="rect">
            <a:avLst/>
          </a:prstGeom>
          <a:solidFill>
            <a:srgbClr val="F5F0EB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r>
              <a:rPr lang="en-US" sz="1400" b="1">
                <a:solidFill>
                  <a:srgbClr val="7AB648"/>
                </a:solidFill>
              </a:rPr>
              <a:t>MDS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DB612B1-485C-7742-85D3-EE7238111E7D}"/>
              </a:ext>
            </a:extLst>
          </p:cNvPr>
          <p:cNvSpPr/>
          <p:nvPr/>
        </p:nvSpPr>
        <p:spPr>
          <a:xfrm>
            <a:off x="3048000" y="4559300"/>
            <a:ext cx="2667000" cy="736600"/>
          </a:xfrm>
          <a:prstGeom prst="rect">
            <a:avLst/>
          </a:prstGeom>
          <a:solidFill>
            <a:srgbClr val="F5F0EB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Pairwise distances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84D7B0D-B378-D049-B09D-692913322F97}"/>
              </a:ext>
            </a:extLst>
          </p:cNvPr>
          <p:cNvSpPr/>
          <p:nvPr/>
        </p:nvSpPr>
        <p:spPr>
          <a:xfrm>
            <a:off x="5715000" y="4559300"/>
            <a:ext cx="1397000" cy="736600"/>
          </a:xfrm>
          <a:prstGeom prst="rect">
            <a:avLst/>
          </a:prstGeom>
          <a:solidFill>
            <a:srgbClr val="F5F0EB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Linear (classical)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AE81E63B-C6E8-C740-B1B5-1BF1405618FE}"/>
                  </a:ext>
                </a:extLst>
              </p:cNvPr>
              <p:cNvSpPr/>
              <p:nvPr/>
            </p:nvSpPr>
            <p:spPr>
              <a:xfrm>
                <a:off x="7112000" y="4559300"/>
                <a:ext cx="4064000" cy="736600"/>
              </a:xfrm>
              <a:prstGeom prst="rect">
                <a:avLst/>
              </a:prstGeom>
              <a:solidFill>
                <a:srgbClr val="F5F0EB"/>
              </a:solidFill>
              <a:ln w="9525" cap="flat" cmpd="sng" algn="ctr">
                <a:solidFill>
                  <a:srgbClr val="D8D2C4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wrap="square" rtlCol="0" anchor="ctr" anchorCtr="0"/>
              <a:lstStyle/>
              <a:p>
                <a:pPr algn="l"/>
                <a:r>
                  <a:rPr lang="en-US" sz="1400" dirty="0">
                    <a:solidFill>
                      <a:srgbClr val="333333"/>
                    </a:solidFill>
                  </a:rPr>
                  <a:t>Eigen-decomp of </a:t>
                </a:r>
                <a14:m>
                  <m:oMath xmlns:m="http://schemas.openxmlformats.org/officeDocument/2006/math">
                    <m:r>
                      <a:rPr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𝑱</m:t>
                    </m:r>
                    <m:sSup>
                      <m:sSup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p>
                        <m:r>
                          <a:rPr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𝑱</m:t>
                    </m:r>
                  </m:oMath>
                </a14:m>
                <a:endParaRPr lang="en-US" sz="1400" dirty="0">
                  <a:solidFill>
                    <a:srgbClr val="333333"/>
                  </a:solidFill>
                </a:endParaRPr>
              </a:p>
            </p:txBody>
          </p:sp>
        </mc:Choice>
        <mc:Fallback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AE81E63B-C6E8-C740-B1B5-1BF1405618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000" y="4559300"/>
                <a:ext cx="4064000" cy="7366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 cap="flat" cmpd="sng" algn="ctr">
                <a:solidFill>
                  <a:srgbClr val="D8D2C4"/>
                </a:solidFill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566D0E73-7822-EF45-9D18-631C1037BD8F}"/>
              </a:ext>
            </a:extLst>
          </p:cNvPr>
          <p:cNvSpPr/>
          <p:nvPr/>
        </p:nvSpPr>
        <p:spPr>
          <a:xfrm>
            <a:off x="762000" y="5295900"/>
            <a:ext cx="2286000" cy="736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r>
              <a:rPr lang="en-US" sz="1400" b="1">
                <a:solidFill>
                  <a:srgbClr val="D1578A"/>
                </a:solidFill>
              </a:rPr>
              <a:t>Autoencoders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FBA3C87-D919-A342-89F1-48C7780CDF27}"/>
              </a:ext>
            </a:extLst>
          </p:cNvPr>
          <p:cNvSpPr/>
          <p:nvPr/>
        </p:nvSpPr>
        <p:spPr>
          <a:xfrm>
            <a:off x="3048000" y="5295900"/>
            <a:ext cx="2667000" cy="736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Reconstruction error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756B541-F4D3-FC42-9BFD-79442792A801}"/>
              </a:ext>
            </a:extLst>
          </p:cNvPr>
          <p:cNvSpPr/>
          <p:nvPr/>
        </p:nvSpPr>
        <p:spPr>
          <a:xfrm>
            <a:off x="5715000" y="5295900"/>
            <a:ext cx="1397000" cy="736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Nonlinear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4D037D85-61EC-824C-AA08-13DCC3E7F237}"/>
                  </a:ext>
                </a:extLst>
              </p:cNvPr>
              <p:cNvSpPr/>
              <p:nvPr/>
            </p:nvSpPr>
            <p:spPr>
              <a:xfrm>
                <a:off x="7112000" y="5295900"/>
                <a:ext cx="4064000" cy="736600"/>
              </a:xfrm>
              <a:prstGeom prst="rect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D8D2C4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wrap="square" rtlCol="0" anchor="ctr" anchorCtr="0"/>
              <a:lstStyle/>
              <a:p>
                <a:pPr algn="l"/>
                <a:r>
                  <a:rPr lang="en-US" sz="1400" dirty="0">
                    <a:solidFill>
                      <a:srgbClr val="333333"/>
                    </a:solidFill>
                  </a:rPr>
                  <a:t>Gradient descent on </a:t>
                </a:r>
                <a14:m>
                  <m:oMath xmlns:m="http://schemas.openxmlformats.org/officeDocument/2006/math">
                    <m:r>
                      <a:rPr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‖</m:t>
                    </m:r>
                    <m:r>
                      <a:rPr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acc>
                    <m:sSup>
                      <m:sSup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‖</m:t>
                        </m:r>
                      </m:e>
                      <m:sup>
                        <m:r>
                          <a:rPr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US" sz="1400" dirty="0">
                  <a:solidFill>
                    <a:srgbClr val="333333"/>
                  </a:solidFill>
                </a:endParaRPr>
              </a:p>
            </p:txBody>
          </p:sp>
        </mc:Choice>
        <mc:Fallback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4D037D85-61EC-824C-AA08-13DCC3E7F2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000" y="5295900"/>
                <a:ext cx="4064000" cy="7366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9525" cap="flat" cmpd="sng" algn="ctr">
                <a:solidFill>
                  <a:srgbClr val="D8D2C4"/>
                </a:solidFill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8499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E1772A6-9B62-4B4E-9149-A1C73047031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BC3066-1022-114C-8AD8-3E58AEDD4EFC}"/>
              </a:ext>
            </a:extLst>
          </p:cNvPr>
          <p:cNvSpPr/>
          <p:nvPr/>
        </p:nvSpPr>
        <p:spPr>
          <a:xfrm>
            <a:off x="9652000" y="0"/>
            <a:ext cx="2540000" cy="68580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8A841D-2ED6-AA4E-A2DF-6D8FD96BA000}"/>
              </a:ext>
            </a:extLst>
          </p:cNvPr>
          <p:cNvSpPr txBox="1"/>
          <p:nvPr/>
        </p:nvSpPr>
        <p:spPr>
          <a:xfrm>
            <a:off x="1524000" y="1905000"/>
            <a:ext cx="3810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000" b="1">
                <a:solidFill>
                  <a:srgbClr val="B7A57A"/>
                </a:solidFill>
                <a:latin typeface="Arial"/>
                <a:cs typeface="Arial"/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95A651-66C4-3B47-8132-53E359C6A753}"/>
              </a:ext>
            </a:extLst>
          </p:cNvPr>
          <p:cNvSpPr/>
          <p:nvPr/>
        </p:nvSpPr>
        <p:spPr>
          <a:xfrm>
            <a:off x="1524000" y="3175000"/>
            <a:ext cx="1143000" cy="1016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D93D73-202A-D14B-A935-8924F99DDD13}"/>
              </a:ext>
            </a:extLst>
          </p:cNvPr>
          <p:cNvSpPr txBox="1"/>
          <p:nvPr/>
        </p:nvSpPr>
        <p:spPr>
          <a:xfrm>
            <a:off x="1498600" y="3492500"/>
            <a:ext cx="78740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600" b="1">
                <a:solidFill>
                  <a:srgbClr val="FFFFFF"/>
                </a:solidFill>
                <a:latin typeface="Arial"/>
                <a:cs typeface="Arial"/>
              </a:rPr>
              <a:t>Principal Component Analysis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2BEEE0-F213-E24C-A078-3069ED6B44E6}"/>
              </a:ext>
            </a:extLst>
          </p:cNvPr>
          <p:cNvSpPr txBox="1"/>
          <p:nvPr/>
        </p:nvSpPr>
        <p:spPr>
          <a:xfrm>
            <a:off x="1524000" y="5334000"/>
            <a:ext cx="7874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>
                <a:solidFill>
                  <a:srgbClr val="F5F0EB"/>
                </a:solidFill>
              </a:rPr>
              <a:t>Linear projection that maximizes retained variance</a:t>
            </a:r>
          </a:p>
        </p:txBody>
      </p:sp>
    </p:spTree>
    <p:extLst>
      <p:ext uri="{BB962C8B-B14F-4D97-AF65-F5344CB8AC3E}">
        <p14:creationId xmlns:p14="http://schemas.microsoft.com/office/powerpoint/2010/main" val="3993842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4963748-25C3-034F-9A90-0AD5FCAD1ABA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A8ABFF-8B81-D44C-B36C-E2BFDA2A6DC7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PCA — The Core Idea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7B8435-9F3D-FD43-BC19-0D33DD8DFED5}"/>
              </a:ext>
            </a:extLst>
          </p:cNvPr>
          <p:cNvSpPr txBox="1"/>
          <p:nvPr/>
        </p:nvSpPr>
        <p:spPr>
          <a:xfrm>
            <a:off x="762000" y="1498600"/>
            <a:ext cx="106680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i="1">
                <a:solidFill>
                  <a:srgbClr val="85754D"/>
                </a:solidFill>
              </a:rPr>
              <a:t>PCA finds a new orthogonal coordinate system for the data in which the first axis captures the most variance, the second captures the most of what remains, and so 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9344C1-2071-A640-AE9F-E96580404E1A}"/>
              </a:ext>
            </a:extLst>
          </p:cNvPr>
          <p:cNvSpPr txBox="1"/>
          <p:nvPr/>
        </p:nvSpPr>
        <p:spPr>
          <a:xfrm>
            <a:off x="762000" y="2349500"/>
            <a:ext cx="508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Three equivalent views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0E9C47-B8BE-2948-B6E9-C81C62789895}"/>
              </a:ext>
            </a:extLst>
          </p:cNvPr>
          <p:cNvSpPr txBox="1"/>
          <p:nvPr/>
        </p:nvSpPr>
        <p:spPr>
          <a:xfrm>
            <a:off x="762000" y="2730500"/>
            <a:ext cx="5334000" cy="330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• Variance view: directions of maximum spread in the cloud of points.
• Reconstruction view: the k-dim subspace minimizing squared projection error (best-fitting hyperplane).
• Decorrelation view: a rotation that makes the new coordinates mutually uncorrelated.
All three give the same answer: the eigenvectors of the covariance matrix, ordered by eigenvalue.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CF629E-9B80-F14F-9A88-28899F10184E}"/>
              </a:ext>
            </a:extLst>
          </p:cNvPr>
          <p:cNvSpPr txBox="1"/>
          <p:nvPr/>
        </p:nvSpPr>
        <p:spPr>
          <a:xfrm>
            <a:off x="6477000" y="2349500"/>
            <a:ext cx="4953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00A7B5"/>
                </a:solidFill>
              </a:rPr>
              <a:t>Why we do it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4298E52-7E0B-C243-B563-21A62722677E}"/>
              </a:ext>
            </a:extLst>
          </p:cNvPr>
          <p:cNvSpPr/>
          <p:nvPr/>
        </p:nvSpPr>
        <p:spPr>
          <a:xfrm>
            <a:off x="6477000" y="2730500"/>
            <a:ext cx="4953000" cy="6985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0E0C3C-CE50-C542-803A-BB3F81ACEE22}"/>
              </a:ext>
            </a:extLst>
          </p:cNvPr>
          <p:cNvSpPr txBox="1"/>
          <p:nvPr/>
        </p:nvSpPr>
        <p:spPr>
          <a:xfrm>
            <a:off x="6654800" y="2832100"/>
            <a:ext cx="190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Compression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06E4530-9A6B-1244-AF61-EB9EE13773B2}"/>
                  </a:ext>
                </a:extLst>
              </p:cNvPr>
              <p:cNvSpPr txBox="1"/>
              <p:nvPr/>
            </p:nvSpPr>
            <p:spPr>
              <a:xfrm>
                <a:off x="6654800" y="3111500"/>
                <a:ext cx="4572000" cy="362984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333333"/>
                    </a:solidFill>
                  </a:rPr>
                  <a:t>Keep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𝑘</m:t>
                    </m:r>
                    <m:r>
                      <a:rPr>
                        <a:latin typeface="Cambria Math" panose="02040503050406030204" pitchFamily="18" charset="0"/>
                      </a:rPr>
                      <m:t>≪</m:t>
                    </m:r>
                    <m:r>
                      <a:rPr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1350" dirty="0">
                    <a:solidFill>
                      <a:srgbClr val="333333"/>
                    </a:solidFill>
                  </a:rPr>
                  <a:t> coordinates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06E4530-9A6B-1244-AF61-EB9EE13773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4800" y="3111500"/>
                <a:ext cx="4572000" cy="362984"/>
              </a:xfrm>
              <a:prstGeom prst="rect">
                <a:avLst/>
              </a:prstGeom>
              <a:blipFill>
                <a:blip r:embed="rId2"/>
                <a:stretch>
                  <a:fillRect l="-277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7C4F586-D309-BA4A-A13D-895338AA973A}"/>
              </a:ext>
            </a:extLst>
          </p:cNvPr>
          <p:cNvSpPr/>
          <p:nvPr/>
        </p:nvSpPr>
        <p:spPr>
          <a:xfrm>
            <a:off x="6477000" y="3543300"/>
            <a:ext cx="4953000" cy="6985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2D6C61-05EF-784A-A4D3-A306A780B7B8}"/>
              </a:ext>
            </a:extLst>
          </p:cNvPr>
          <p:cNvSpPr txBox="1"/>
          <p:nvPr/>
        </p:nvSpPr>
        <p:spPr>
          <a:xfrm>
            <a:off x="6654800" y="3644900"/>
            <a:ext cx="190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De-noising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BA190D-921F-B54A-A253-5D9B42A9571C}"/>
              </a:ext>
            </a:extLst>
          </p:cNvPr>
          <p:cNvSpPr txBox="1"/>
          <p:nvPr/>
        </p:nvSpPr>
        <p:spPr>
          <a:xfrm>
            <a:off x="6654800" y="39243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Drop low-variance directions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5D86596-616E-B54F-9BB1-E129BBA30665}"/>
              </a:ext>
            </a:extLst>
          </p:cNvPr>
          <p:cNvSpPr/>
          <p:nvPr/>
        </p:nvSpPr>
        <p:spPr>
          <a:xfrm>
            <a:off x="6477000" y="4356100"/>
            <a:ext cx="4953000" cy="6985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207473-3FE7-4B49-98D3-39F3468588FA}"/>
              </a:ext>
            </a:extLst>
          </p:cNvPr>
          <p:cNvSpPr txBox="1"/>
          <p:nvPr/>
        </p:nvSpPr>
        <p:spPr>
          <a:xfrm>
            <a:off x="6654800" y="4457700"/>
            <a:ext cx="190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Visualization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50A1B2-AB6A-5840-A9C1-204404354AF2}"/>
              </a:ext>
            </a:extLst>
          </p:cNvPr>
          <p:cNvSpPr txBox="1"/>
          <p:nvPr/>
        </p:nvSpPr>
        <p:spPr>
          <a:xfrm>
            <a:off x="6654800" y="47371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Plot on PC1–PC2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5346281-A9D7-BF41-A0DD-72432AA991B7}"/>
              </a:ext>
            </a:extLst>
          </p:cNvPr>
          <p:cNvSpPr/>
          <p:nvPr/>
        </p:nvSpPr>
        <p:spPr>
          <a:xfrm>
            <a:off x="6477000" y="5168900"/>
            <a:ext cx="4953000" cy="6985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1402DB-756D-6947-AB8A-4C062DE48D1A}"/>
              </a:ext>
            </a:extLst>
          </p:cNvPr>
          <p:cNvSpPr txBox="1"/>
          <p:nvPr/>
        </p:nvSpPr>
        <p:spPr>
          <a:xfrm>
            <a:off x="6654800" y="5270500"/>
            <a:ext cx="190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Decorrelation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4FF006B-AA29-6A46-8221-B9CD398FB8A9}"/>
              </a:ext>
            </a:extLst>
          </p:cNvPr>
          <p:cNvSpPr txBox="1"/>
          <p:nvPr/>
        </p:nvSpPr>
        <p:spPr>
          <a:xfrm>
            <a:off x="6654800" y="55499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Inputs for downstream models</a:t>
            </a:r>
          </a:p>
        </p:txBody>
      </p:sp>
    </p:spTree>
    <p:extLst>
      <p:ext uri="{BB962C8B-B14F-4D97-AF65-F5344CB8AC3E}">
        <p14:creationId xmlns:p14="http://schemas.microsoft.com/office/powerpoint/2010/main" val="24523664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8509C94-9370-3840-922C-0EEE98D9D346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0964A9-69FE-654B-AA6B-9FE0CF4E7FFF}"/>
              </a:ext>
            </a:extLst>
          </p:cNvPr>
          <p:cNvSpPr txBox="1"/>
          <p:nvPr/>
        </p:nvSpPr>
        <p:spPr>
          <a:xfrm>
            <a:off x="762000" y="685800"/>
            <a:ext cx="10668000" cy="609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Eigenvectors &amp; Eigenvalues — The Intuition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18A2AA-0612-9947-AD63-79B7C883FF8A}"/>
              </a:ext>
            </a:extLst>
          </p:cNvPr>
          <p:cNvSpPr txBox="1"/>
          <p:nvPr/>
        </p:nvSpPr>
        <p:spPr>
          <a:xfrm>
            <a:off x="762000" y="1320800"/>
            <a:ext cx="10668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Applying a matrix usually rotates a vector. A few special vectors keep their direction — they only get scaled. Those are the eigenvectors.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159D55E-A6B7-D448-A9BB-B47BE34F5BB5}"/>
              </a:ext>
            </a:extLst>
          </p:cNvPr>
          <p:cNvSpPr/>
          <p:nvPr/>
        </p:nvSpPr>
        <p:spPr>
          <a:xfrm>
            <a:off x="762000" y="2133600"/>
            <a:ext cx="4826000" cy="10668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BAB9CDC-9532-3B46-8CBC-9772E52027B6}"/>
                  </a:ext>
                </a:extLst>
              </p:cNvPr>
              <p:cNvSpPr txBox="1"/>
              <p:nvPr/>
            </p:nvSpPr>
            <p:spPr>
              <a:xfrm>
                <a:off x="914400" y="2311400"/>
                <a:ext cx="4521200" cy="7112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1" i="1">
                          <a:solidFill>
                            <a:srgbClr val="4B2E83"/>
                          </a:solidFill>
                          <a:latin typeface="Cambria Math"/>
                        </a:rPr>
                        <m:t>𝐴</m:t>
                      </m:r>
                      <m:r>
                        <a:rPr lang="en-US" sz="4000" b="0" i="0">
                          <a:solidFill>
                            <a:srgbClr val="4B2E83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4000" b="1" i="1">
                          <a:solidFill>
                            <a:srgbClr val="4B2E83"/>
                          </a:solidFill>
                          <a:latin typeface="Cambria Math"/>
                        </a:rPr>
                        <m:t>𝑣</m:t>
                      </m:r>
                      <m:r>
                        <a:rPr lang="en-US" sz="4000" b="0" i="0">
                          <a:solidFill>
                            <a:srgbClr val="4B2E83"/>
                          </a:solidFill>
                          <a:latin typeface="Cambria Math"/>
                        </a:rPr>
                        <m:t> = </m:t>
                      </m:r>
                      <m:r>
                        <a:rPr lang="en-US" sz="4000" b="0" i="1">
                          <a:solidFill>
                            <a:srgbClr val="4B2E83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sz="4000" b="0" i="0">
                          <a:solidFill>
                            <a:srgbClr val="4B2E83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4000" b="1" i="1">
                          <a:solidFill>
                            <a:srgbClr val="4B2E83"/>
                          </a:solidFill>
                          <a:latin typeface="Cambria Math"/>
                        </a:rPr>
                        <m:t>𝑣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BAB9CDC-9532-3B46-8CBC-9772E52027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2311400"/>
                <a:ext cx="4521200" cy="711200"/>
              </a:xfrm>
              <a:prstGeom prst="rect">
                <a:avLst/>
              </a:prstGeom>
              <a:blipFill>
                <a:blip r:embed="rId2"/>
                <a:stretch>
                  <a:fillRect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F8DBF158-F668-6D42-800C-09FC44E46466}"/>
              </a:ext>
            </a:extLst>
          </p:cNvPr>
          <p:cNvSpPr txBox="1"/>
          <p:nvPr/>
        </p:nvSpPr>
        <p:spPr>
          <a:xfrm>
            <a:off x="762000" y="3429000"/>
            <a:ext cx="4826000" cy="2540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•  v  — the eigenvector: its direction is preserved
•  </a:t>
            </a:r>
            <a:r>
              <a:rPr lang="el-GR" sz="1600">
                <a:solidFill>
                  <a:srgbClr val="333333"/>
                </a:solidFill>
              </a:rPr>
              <a:t>λ  — </a:t>
            </a:r>
            <a:r>
              <a:rPr lang="en-US" sz="1600">
                <a:solidFill>
                  <a:srgbClr val="333333"/>
                </a:solidFill>
              </a:rPr>
              <a:t>the eigenvalue: the factor v is stretched by
•  Most vectors change direction; eigenvectors do not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C16F7A3-1462-7A46-A126-CBCA68CB8304}"/>
              </a:ext>
            </a:extLst>
          </p:cNvPr>
          <p:cNvSpPr/>
          <p:nvPr/>
        </p:nvSpPr>
        <p:spPr>
          <a:xfrm>
            <a:off x="5969000" y="5067300"/>
            <a:ext cx="4191000" cy="25400"/>
          </a:xfrm>
          <a:prstGeom prst="rect">
            <a:avLst/>
          </a:prstGeom>
          <a:solidFill>
            <a:srgbClr val="DDDDD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0611FB-6F97-5943-B38E-30DFB315B103}"/>
              </a:ext>
            </a:extLst>
          </p:cNvPr>
          <p:cNvSpPr/>
          <p:nvPr/>
        </p:nvSpPr>
        <p:spPr>
          <a:xfrm>
            <a:off x="8115300" y="2159000"/>
            <a:ext cx="25400" cy="3175000"/>
          </a:xfrm>
          <a:prstGeom prst="rect">
            <a:avLst/>
          </a:prstGeom>
          <a:solidFill>
            <a:srgbClr val="DDDDD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E0D0CBA3-503A-AC49-9547-90F67BB5BF12}"/>
              </a:ext>
            </a:extLst>
          </p:cNvPr>
          <p:cNvSpPr/>
          <p:nvPr/>
        </p:nvSpPr>
        <p:spPr>
          <a:xfrm rot="-2400000">
            <a:off x="7875444" y="4284510"/>
            <a:ext cx="2159000" cy="203200"/>
          </a:xfrm>
          <a:prstGeom prst="rightArrow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CAF80B4F-5BB6-0A49-965A-EBF523D2B6FC}"/>
              </a:ext>
            </a:extLst>
          </p:cNvPr>
          <p:cNvSpPr/>
          <p:nvPr/>
        </p:nvSpPr>
        <p:spPr>
          <a:xfrm rot="-2400000">
            <a:off x="7994294" y="4623746"/>
            <a:ext cx="1143000" cy="177800"/>
          </a:xfrm>
          <a:prstGeom prst="rightArrow">
            <a:avLst/>
          </a:prstGeom>
          <a:solidFill>
            <a:srgbClr val="7A5BB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BEF97B3C-46FD-CC45-B341-B2B136B3ADB5}"/>
              </a:ext>
            </a:extLst>
          </p:cNvPr>
          <p:cNvSpPr/>
          <p:nvPr/>
        </p:nvSpPr>
        <p:spPr>
          <a:xfrm rot="-900000">
            <a:off x="8102035" y="4800229"/>
            <a:ext cx="1524000" cy="165100"/>
          </a:xfrm>
          <a:prstGeom prst="rightArrow">
            <a:avLst/>
          </a:prstGeom>
          <a:solidFill>
            <a:srgbClr val="9A9A9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AF714F47-C8BD-3040-BA69-55D061C0A688}"/>
              </a:ext>
            </a:extLst>
          </p:cNvPr>
          <p:cNvSpPr/>
          <p:nvPr/>
        </p:nvSpPr>
        <p:spPr>
          <a:xfrm rot="-4200000">
            <a:off x="7626619" y="4281404"/>
            <a:ext cx="1524000" cy="165100"/>
          </a:xfrm>
          <a:prstGeom prst="rightArrow">
            <a:avLst/>
          </a:prstGeom>
          <a:solidFill>
            <a:srgbClr val="C8C8C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38D0C5D-3BAD-1844-99F2-6007295E8136}"/>
                  </a:ext>
                </a:extLst>
              </p:cNvPr>
              <p:cNvSpPr txBox="1"/>
              <p:nvPr/>
            </p:nvSpPr>
            <p:spPr>
              <a:xfrm>
                <a:off x="9779000" y="3175000"/>
                <a:ext cx="1143000" cy="3048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>
                          <a:solidFill>
                            <a:srgbClr val="4B2E83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sz="1600" b="1" i="1">
                          <a:solidFill>
                            <a:srgbClr val="4B2E83"/>
                          </a:solidFill>
                          <a:latin typeface="Cambria Math"/>
                        </a:rPr>
                        <m:t>𝑣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38D0C5D-3BAD-1844-99F2-6007295E81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9000" y="3175000"/>
                <a:ext cx="1143000" cy="3048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9879A6F-60F6-2043-9C6E-ECE398EA8398}"/>
                  </a:ext>
                </a:extLst>
              </p:cNvPr>
              <p:cNvSpPr txBox="1"/>
              <p:nvPr/>
            </p:nvSpPr>
            <p:spPr>
              <a:xfrm>
                <a:off x="8890000" y="4089400"/>
                <a:ext cx="1143000" cy="3048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>
                          <a:solidFill>
                            <a:srgbClr val="7A5BB0"/>
                          </a:solidFill>
                          <a:latin typeface="Cambria Math"/>
                        </a:rPr>
                        <m:t>𝑣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9879A6F-60F6-2043-9C6E-ECE398EA83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0000" y="4089400"/>
                <a:ext cx="1143000" cy="3048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425D35B-278B-F74F-99C3-4343970CE4BC}"/>
                  </a:ext>
                </a:extLst>
              </p:cNvPr>
              <p:cNvSpPr txBox="1"/>
              <p:nvPr/>
            </p:nvSpPr>
            <p:spPr>
              <a:xfrm>
                <a:off x="9626600" y="4521200"/>
                <a:ext cx="1143000" cy="3048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>
                          <a:solidFill>
                            <a:srgbClr val="9A9A9A"/>
                          </a:solidFill>
                          <a:latin typeface="Cambria Math"/>
                        </a:rPr>
                        <m:t>𝑤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425D35B-278B-F74F-99C3-4343970CE4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6600" y="4521200"/>
                <a:ext cx="1143000" cy="3048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11D7091-0789-A84D-8184-4C8AFBE8EEE8}"/>
                  </a:ext>
                </a:extLst>
              </p:cNvPr>
              <p:cNvSpPr txBox="1"/>
              <p:nvPr/>
            </p:nvSpPr>
            <p:spPr>
              <a:xfrm>
                <a:off x="8432800" y="3454400"/>
                <a:ext cx="1143000" cy="3048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>
                          <a:solidFill>
                            <a:srgbClr val="A0A0A0"/>
                          </a:solidFill>
                          <a:latin typeface="Cambria Math"/>
                        </a:rPr>
                        <m:t>𝐴𝑤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11D7091-0789-A84D-8184-4C8AFBE8EE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2800" y="3454400"/>
                <a:ext cx="1143000" cy="3048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AFF87C52-9B5A-524E-B3E2-99EB1B27E7BF}"/>
              </a:ext>
            </a:extLst>
          </p:cNvPr>
          <p:cNvSpPr txBox="1"/>
          <p:nvPr/>
        </p:nvSpPr>
        <p:spPr>
          <a:xfrm>
            <a:off x="7061200" y="5207000"/>
            <a:ext cx="30988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4B2E83"/>
                </a:solidFill>
              </a:rPr>
              <a:t>same line → eigenvector</a:t>
            </a:r>
          </a:p>
        </p:txBody>
      </p:sp>
    </p:spTree>
    <p:extLst>
      <p:ext uri="{BB962C8B-B14F-4D97-AF65-F5344CB8AC3E}">
        <p14:creationId xmlns:p14="http://schemas.microsoft.com/office/powerpoint/2010/main" val="6974988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093DB08-C37B-2B4E-95E7-3A29E2FF719D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14C6D1-3CD2-8743-9335-9E744E1CAF31}"/>
              </a:ext>
            </a:extLst>
          </p:cNvPr>
          <p:cNvSpPr txBox="1"/>
          <p:nvPr/>
        </p:nvSpPr>
        <p:spPr>
          <a:xfrm>
            <a:off x="762000" y="685800"/>
            <a:ext cx="10668000" cy="609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What the Eigenvalue Tells You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2BC209-3EC0-EB4B-B465-A1E09584B349}"/>
              </a:ext>
            </a:extLst>
          </p:cNvPr>
          <p:cNvSpPr txBox="1"/>
          <p:nvPr/>
        </p:nvSpPr>
        <p:spPr>
          <a:xfrm>
            <a:off x="762000" y="1320800"/>
            <a:ext cx="10668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l-GR" sz="1600">
                <a:solidFill>
                  <a:srgbClr val="333333"/>
                </a:solidFill>
              </a:rPr>
              <a:t>λ </a:t>
            </a:r>
            <a:r>
              <a:rPr lang="en-US" sz="1600">
                <a:solidFill>
                  <a:srgbClr val="333333"/>
                </a:solidFill>
              </a:rPr>
              <a:t>is the signed scale factor along an eigenvector — it stretches, shrinks, flips, or leaves the vector unchanged. (Grey = original v, purple = Av.)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6C7D790-FE9A-584A-8A98-A789D3371DFD}"/>
              </a:ext>
            </a:extLst>
          </p:cNvPr>
          <p:cNvSpPr/>
          <p:nvPr/>
        </p:nvSpPr>
        <p:spPr>
          <a:xfrm>
            <a:off x="762000" y="2133600"/>
            <a:ext cx="2552700" cy="36576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B33E03F-E8B3-D540-A78A-EA498E384BF8}"/>
                  </a:ext>
                </a:extLst>
              </p:cNvPr>
              <p:cNvSpPr txBox="1"/>
              <p:nvPr/>
            </p:nvSpPr>
            <p:spPr>
              <a:xfrm>
                <a:off x="914400" y="2311400"/>
                <a:ext cx="2247900" cy="381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𝜆</m:t>
                          </m:r>
                          <m:r>
                            <a:rPr lang="en-US" sz="2000" b="1" i="0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 &gt; 1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2000" b="1">
                        <a:solidFill>
                          <a:srgbClr val="4B2E83"/>
                        </a:solidFill>
                      </a:rPr>
                      <a:t>λ &gt; 1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B33E03F-E8B3-D540-A78A-EA498E384B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2311400"/>
                <a:ext cx="2247900" cy="381000"/>
              </a:xfrm>
              <a:prstGeom prst="rect">
                <a:avLst/>
              </a:prstGeom>
              <a:blipFill>
                <a:blip r:embed="rId2"/>
                <a:stretch>
                  <a:fillRect b="-21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B54B8F7F-6EB4-194C-9D49-271E61D510E8}"/>
              </a:ext>
            </a:extLst>
          </p:cNvPr>
          <p:cNvSpPr txBox="1"/>
          <p:nvPr/>
        </p:nvSpPr>
        <p:spPr>
          <a:xfrm>
            <a:off x="914400" y="2717800"/>
            <a:ext cx="22479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i="1">
                <a:solidFill>
                  <a:srgbClr val="333333"/>
                </a:solidFill>
              </a:rPr>
              <a:t>Stretch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CB218B3-C612-0C43-896D-7377D07667D7}"/>
              </a:ext>
            </a:extLst>
          </p:cNvPr>
          <p:cNvSpPr/>
          <p:nvPr/>
        </p:nvSpPr>
        <p:spPr>
          <a:xfrm>
            <a:off x="1606550" y="4749800"/>
            <a:ext cx="101600" cy="101600"/>
          </a:xfrm>
          <a:prstGeom prst="ellipse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A229CA3C-F99C-6644-9BA0-84204CE589EC}"/>
              </a:ext>
            </a:extLst>
          </p:cNvPr>
          <p:cNvSpPr/>
          <p:nvPr/>
        </p:nvSpPr>
        <p:spPr>
          <a:xfrm rot="-2280000">
            <a:off x="1592735" y="4536746"/>
            <a:ext cx="609600" cy="152400"/>
          </a:xfrm>
          <a:prstGeom prst="rightArrow">
            <a:avLst/>
          </a:prstGeom>
          <a:solidFill>
            <a:srgbClr val="B0B0B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582BFF3C-0C94-5D47-8418-C432A3824713}"/>
              </a:ext>
            </a:extLst>
          </p:cNvPr>
          <p:cNvSpPr/>
          <p:nvPr/>
        </p:nvSpPr>
        <p:spPr>
          <a:xfrm rot="-2280000">
            <a:off x="1517352" y="4317817"/>
            <a:ext cx="1320800" cy="152400"/>
          </a:xfrm>
          <a:prstGeom prst="rightArrow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2417215-CBC9-234F-B63D-B1B340B597D7}"/>
              </a:ext>
            </a:extLst>
          </p:cNvPr>
          <p:cNvSpPr/>
          <p:nvPr/>
        </p:nvSpPr>
        <p:spPr>
          <a:xfrm>
            <a:off x="3467100" y="2133600"/>
            <a:ext cx="2552700" cy="36576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29F3E4D-4339-3E47-B3AA-493C0DBAF99F}"/>
                  </a:ext>
                </a:extLst>
              </p:cNvPr>
              <p:cNvSpPr txBox="1"/>
              <p:nvPr/>
            </p:nvSpPr>
            <p:spPr>
              <a:xfrm>
                <a:off x="3619500" y="2311400"/>
                <a:ext cx="2247900" cy="381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0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0 &lt; </m:t>
                          </m:r>
                          <m:r>
                            <a:rPr lang="en-US" sz="2000" b="1" i="1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𝜆</m:t>
                          </m:r>
                          <m:r>
                            <a:rPr lang="en-US" sz="2000" b="1" i="0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 &lt; 1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2000" b="1">
                        <a:solidFill>
                          <a:srgbClr val="4B2E83"/>
                        </a:solidFill>
                      </a:rPr>
                      <a:t>0 &lt; λ &lt; 1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29F3E4D-4339-3E47-B3AA-493C0DBAF9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9500" y="2311400"/>
                <a:ext cx="2247900" cy="381000"/>
              </a:xfrm>
              <a:prstGeom prst="rect">
                <a:avLst/>
              </a:prstGeom>
              <a:blipFill>
                <a:blip r:embed="rId3"/>
                <a:stretch>
                  <a:fillRect b="-21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A7CD0FC3-20F0-F544-A03D-9610F5071B63}"/>
              </a:ext>
            </a:extLst>
          </p:cNvPr>
          <p:cNvSpPr txBox="1"/>
          <p:nvPr/>
        </p:nvSpPr>
        <p:spPr>
          <a:xfrm>
            <a:off x="3619500" y="2717800"/>
            <a:ext cx="22479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i="1">
                <a:solidFill>
                  <a:srgbClr val="333333"/>
                </a:solidFill>
              </a:rPr>
              <a:t>Shrink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0643C9A-9CE4-EF48-A88D-302D86C3A6AC}"/>
              </a:ext>
            </a:extLst>
          </p:cNvPr>
          <p:cNvSpPr/>
          <p:nvPr/>
        </p:nvSpPr>
        <p:spPr>
          <a:xfrm>
            <a:off x="4311650" y="4749800"/>
            <a:ext cx="101600" cy="101600"/>
          </a:xfrm>
          <a:prstGeom prst="ellipse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ight Arrow 16">
            <a:extLst>
              <a:ext uri="{FF2B5EF4-FFF2-40B4-BE49-F238E27FC236}">
                <a16:creationId xmlns:a16="http://schemas.microsoft.com/office/drawing/2014/main" id="{95AC1FFB-670B-AB44-9E54-FF92917ACE63}"/>
              </a:ext>
            </a:extLst>
          </p:cNvPr>
          <p:cNvSpPr/>
          <p:nvPr/>
        </p:nvSpPr>
        <p:spPr>
          <a:xfrm rot="-2280000">
            <a:off x="4222452" y="4317817"/>
            <a:ext cx="1320800" cy="152400"/>
          </a:xfrm>
          <a:prstGeom prst="rightArrow">
            <a:avLst/>
          </a:prstGeom>
          <a:solidFill>
            <a:srgbClr val="B0B0B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3215EC0B-6A41-504C-B243-05FDC1474AF6}"/>
              </a:ext>
            </a:extLst>
          </p:cNvPr>
          <p:cNvSpPr/>
          <p:nvPr/>
        </p:nvSpPr>
        <p:spPr>
          <a:xfrm rot="-2280000">
            <a:off x="4292451" y="4521108"/>
            <a:ext cx="660400" cy="152400"/>
          </a:xfrm>
          <a:prstGeom prst="rightArrow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2BF3304-7B23-C548-AB06-764BD1E76FFA}"/>
              </a:ext>
            </a:extLst>
          </p:cNvPr>
          <p:cNvSpPr/>
          <p:nvPr/>
        </p:nvSpPr>
        <p:spPr>
          <a:xfrm>
            <a:off x="6172200" y="2133600"/>
            <a:ext cx="2552700" cy="36576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84C4077-4F0F-9E42-8E9B-786C8012F660}"/>
                  </a:ext>
                </a:extLst>
              </p:cNvPr>
              <p:cNvSpPr txBox="1"/>
              <p:nvPr/>
            </p:nvSpPr>
            <p:spPr>
              <a:xfrm>
                <a:off x="6324600" y="2311400"/>
                <a:ext cx="2247900" cy="381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𝜆</m:t>
                          </m:r>
                          <m:r>
                            <a:rPr lang="en-US" sz="2000" b="1" i="0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 &lt; 0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2000" b="1">
                        <a:solidFill>
                          <a:srgbClr val="4B2E83"/>
                        </a:solidFill>
                      </a:rPr>
                      <a:t>λ &lt; 0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84C4077-4F0F-9E42-8E9B-786C8012F6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4600" y="2311400"/>
                <a:ext cx="2247900" cy="381000"/>
              </a:xfrm>
              <a:prstGeom prst="rect">
                <a:avLst/>
              </a:prstGeom>
              <a:blipFill>
                <a:blip r:embed="rId4"/>
                <a:stretch>
                  <a:fillRect b="-21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B193FAC1-FE41-FB41-B599-84B9A1A480A8}"/>
              </a:ext>
            </a:extLst>
          </p:cNvPr>
          <p:cNvSpPr txBox="1"/>
          <p:nvPr/>
        </p:nvSpPr>
        <p:spPr>
          <a:xfrm>
            <a:off x="6324600" y="2717800"/>
            <a:ext cx="22479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i="1">
                <a:solidFill>
                  <a:srgbClr val="333333"/>
                </a:solidFill>
              </a:rPr>
              <a:t>Flip &amp; scale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28F611A-E4E8-3544-8855-8D8CE43644C1}"/>
              </a:ext>
            </a:extLst>
          </p:cNvPr>
          <p:cNvSpPr/>
          <p:nvPr/>
        </p:nvSpPr>
        <p:spPr>
          <a:xfrm>
            <a:off x="7016750" y="4749800"/>
            <a:ext cx="101600" cy="101600"/>
          </a:xfrm>
          <a:prstGeom prst="ellipse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Right Arrow 22">
            <a:extLst>
              <a:ext uri="{FF2B5EF4-FFF2-40B4-BE49-F238E27FC236}">
                <a16:creationId xmlns:a16="http://schemas.microsoft.com/office/drawing/2014/main" id="{20EFF390-885D-9144-8ACA-6D0B42606D2D}"/>
              </a:ext>
            </a:extLst>
          </p:cNvPr>
          <p:cNvSpPr/>
          <p:nvPr/>
        </p:nvSpPr>
        <p:spPr>
          <a:xfrm rot="-2280000">
            <a:off x="6954474" y="4396006"/>
            <a:ext cx="1066800" cy="152400"/>
          </a:xfrm>
          <a:prstGeom prst="rightArrow">
            <a:avLst/>
          </a:prstGeom>
          <a:solidFill>
            <a:srgbClr val="B0B0B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54DE0626-74FF-4147-A873-95188BDDC303}"/>
              </a:ext>
            </a:extLst>
          </p:cNvPr>
          <p:cNvSpPr/>
          <p:nvPr/>
        </p:nvSpPr>
        <p:spPr>
          <a:xfrm rot="-13080000">
            <a:off x="6113825" y="5052793"/>
            <a:ext cx="1066800" cy="152400"/>
          </a:xfrm>
          <a:prstGeom prst="rightArrow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DFA61725-7CC9-2249-9615-A03FEE7BE310}"/>
              </a:ext>
            </a:extLst>
          </p:cNvPr>
          <p:cNvSpPr/>
          <p:nvPr/>
        </p:nvSpPr>
        <p:spPr>
          <a:xfrm>
            <a:off x="8877300" y="2133600"/>
            <a:ext cx="2552700" cy="36576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35EB11E-F00E-7643-BAF5-FD201BD79CB0}"/>
                  </a:ext>
                </a:extLst>
              </p:cNvPr>
              <p:cNvSpPr txBox="1"/>
              <p:nvPr/>
            </p:nvSpPr>
            <p:spPr>
              <a:xfrm>
                <a:off x="9029700" y="2311400"/>
                <a:ext cx="2247900" cy="381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𝜆</m:t>
                          </m:r>
                          <m:r>
                            <a:rPr lang="en-US" sz="2000" b="1" i="0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 = 1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2000" b="1">
                        <a:solidFill>
                          <a:srgbClr val="4B2E83"/>
                        </a:solidFill>
                      </a:rPr>
                      <a:t>λ = 1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35EB11E-F00E-7643-BAF5-FD201BD79C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9700" y="2311400"/>
                <a:ext cx="2247900" cy="381000"/>
              </a:xfrm>
              <a:prstGeom prst="rect">
                <a:avLst/>
              </a:prstGeom>
              <a:blipFill>
                <a:blip r:embed="rId5"/>
                <a:stretch>
                  <a:fillRect b="-21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6D66C8F4-F16E-D349-BB72-F88B0F2604CB}"/>
              </a:ext>
            </a:extLst>
          </p:cNvPr>
          <p:cNvSpPr txBox="1"/>
          <p:nvPr/>
        </p:nvSpPr>
        <p:spPr>
          <a:xfrm>
            <a:off x="9029700" y="2717800"/>
            <a:ext cx="22479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i="1">
                <a:solidFill>
                  <a:srgbClr val="333333"/>
                </a:solidFill>
              </a:rPr>
              <a:t>Unchanged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9F5B0CD-2C66-A14D-BD91-A91B3226E1CB}"/>
              </a:ext>
            </a:extLst>
          </p:cNvPr>
          <p:cNvSpPr/>
          <p:nvPr/>
        </p:nvSpPr>
        <p:spPr>
          <a:xfrm>
            <a:off x="9721850" y="4749800"/>
            <a:ext cx="101600" cy="101600"/>
          </a:xfrm>
          <a:prstGeom prst="ellipse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Right Arrow 28">
            <a:extLst>
              <a:ext uri="{FF2B5EF4-FFF2-40B4-BE49-F238E27FC236}">
                <a16:creationId xmlns:a16="http://schemas.microsoft.com/office/drawing/2014/main" id="{1F45A524-DBD6-2F43-8DAA-DF21933346A6}"/>
              </a:ext>
            </a:extLst>
          </p:cNvPr>
          <p:cNvSpPr/>
          <p:nvPr/>
        </p:nvSpPr>
        <p:spPr>
          <a:xfrm rot="-2280000">
            <a:off x="9659574" y="4396006"/>
            <a:ext cx="1066800" cy="152400"/>
          </a:xfrm>
          <a:prstGeom prst="rightArrow">
            <a:avLst/>
          </a:prstGeom>
          <a:solidFill>
            <a:srgbClr val="B0B0B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Right Arrow 29">
            <a:extLst>
              <a:ext uri="{FF2B5EF4-FFF2-40B4-BE49-F238E27FC236}">
                <a16:creationId xmlns:a16="http://schemas.microsoft.com/office/drawing/2014/main" id="{A83D504F-70C1-B549-9FBD-596C0D98308E}"/>
              </a:ext>
            </a:extLst>
          </p:cNvPr>
          <p:cNvSpPr/>
          <p:nvPr/>
        </p:nvSpPr>
        <p:spPr>
          <a:xfrm rot="-2280000">
            <a:off x="9659574" y="4396006"/>
            <a:ext cx="1066800" cy="152400"/>
          </a:xfrm>
          <a:prstGeom prst="rightArrow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8783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D097516-E1BE-9948-869D-6302B5BE3AC7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F366FB-1211-4341-9A50-CAD37CEBB687}"/>
              </a:ext>
            </a:extLst>
          </p:cNvPr>
          <p:cNvSpPr txBox="1"/>
          <p:nvPr/>
        </p:nvSpPr>
        <p:spPr>
          <a:xfrm>
            <a:off x="762000" y="685800"/>
            <a:ext cx="8890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Example 1 (2×2) — Step 1: The Setup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781E43E-B028-2543-A4C3-5AF4FC0A9BB0}"/>
              </a:ext>
            </a:extLst>
          </p:cNvPr>
          <p:cNvSpPr/>
          <p:nvPr/>
        </p:nvSpPr>
        <p:spPr>
          <a:xfrm>
            <a:off x="9931400" y="711200"/>
            <a:ext cx="14986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Step 1 / 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B385BA-7F20-2441-876E-97A9992AACAF}"/>
              </a:ext>
            </a:extLst>
          </p:cNvPr>
          <p:cNvSpPr txBox="1"/>
          <p:nvPr/>
        </p:nvSpPr>
        <p:spPr>
          <a:xfrm>
            <a:off x="762000" y="1320800"/>
            <a:ext cx="10668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Goal: find the vectors that A only scales — solve  A v = </a:t>
            </a:r>
            <a:r>
              <a:rPr lang="el-GR" sz="1600">
                <a:solidFill>
                  <a:srgbClr val="333333"/>
                </a:solidFill>
              </a:rPr>
              <a:t>λ </a:t>
            </a:r>
            <a:r>
              <a:rPr lang="en-US" sz="1600">
                <a:solidFill>
                  <a:srgbClr val="333333"/>
                </a:solidFill>
              </a:rPr>
              <a:t>v.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87888C7-B712-C140-994C-D2B0AF52DC1E}"/>
              </a:ext>
            </a:extLst>
          </p:cNvPr>
          <p:cNvSpPr/>
          <p:nvPr/>
        </p:nvSpPr>
        <p:spPr>
          <a:xfrm>
            <a:off x="762000" y="1930400"/>
            <a:ext cx="106680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DE181C9-0081-6644-A9DC-B2CCFCF718F9}"/>
                  </a:ext>
                </a:extLst>
              </p:cNvPr>
              <p:cNvSpPr txBox="1"/>
              <p:nvPr/>
            </p:nvSpPr>
            <p:spPr>
              <a:xfrm>
                <a:off x="1397000" y="2692400"/>
                <a:ext cx="889000" cy="508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1" i="1">
                              <a:latin typeface="Cambria Math"/>
                            </a:rPr>
                            <m:t>𝐴</m:t>
                          </m:r>
                          <m:r>
                            <a:rPr lang="en-US" sz="2400" b="0" i="0">
                              <a:latin typeface="Cambria Math"/>
                            </a:rPr>
                            <m:t> =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A =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DE181C9-0081-6644-A9DC-B2CCFCF718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7000" y="2692400"/>
                <a:ext cx="889000" cy="508000"/>
              </a:xfrm>
              <a:prstGeom prst="rect">
                <a:avLst/>
              </a:prstGeom>
              <a:blipFill>
                <a:blip r:embed="rId2"/>
                <a:stretch>
                  <a:fillRect b="-146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FAFB5CC-5962-5D48-B577-246DAD2E8E78}"/>
                  </a:ext>
                </a:extLst>
              </p:cNvPr>
              <p:cNvSpPr txBox="1"/>
              <p:nvPr/>
            </p:nvSpPr>
            <p:spPr>
              <a:xfrm>
                <a:off x="2336800" y="2489200"/>
                <a:ext cx="2159000" cy="1016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2400" b="1" i="0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US" sz="2400" b="1" i="0"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400" b="1" i="0"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sz="2400" b="1" i="0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[2 1; 1 2]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FAFB5CC-5962-5D48-B577-246DAD2E8E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6800" y="2489200"/>
                <a:ext cx="2159000" cy="1016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48F2766-854B-8045-B8A3-F2876E0A3911}"/>
                  </a:ext>
                </a:extLst>
              </p:cNvPr>
              <p:cNvSpPr txBox="1"/>
              <p:nvPr/>
            </p:nvSpPr>
            <p:spPr>
              <a:xfrm>
                <a:off x="5461000" y="2540000"/>
                <a:ext cx="4826000" cy="508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1" i="1">
                              <a:latin typeface="Cambria Math"/>
                            </a:rPr>
                            <m:t>𝐴</m:t>
                          </m:r>
                          <m:r>
                            <a:rPr lang="en-US" sz="2400" b="0" i="0">
                              <a:latin typeface="Cambria Math"/>
                            </a:rPr>
                            <m:t> </m:t>
                          </m:r>
                          <m:r>
                            <a:rPr lang="en-US" sz="2400" b="1" i="1">
                              <a:latin typeface="Cambria Math"/>
                            </a:rPr>
                            <m:t>𝑣</m:t>
                          </m:r>
                          <m:r>
                            <a:rPr lang="en-US" sz="2400" b="0" i="0">
                              <a:latin typeface="Cambria Math"/>
                            </a:rPr>
                            <m:t> = </m:t>
                          </m:r>
                          <m:r>
                            <a:rPr lang="en-US" sz="2400" b="0" i="1">
                              <a:latin typeface="Cambria Math"/>
                            </a:rPr>
                            <m:t>𝜆</m:t>
                          </m:r>
                          <m:r>
                            <a:rPr lang="en-US" sz="2400" b="0" i="0">
                              <a:latin typeface="Cambria Math"/>
                            </a:rPr>
                            <m:t> </m:t>
                          </m:r>
                          <m:r>
                            <a:rPr lang="en-US" sz="2400" b="1" i="1">
                              <a:latin typeface="Cambria Math"/>
                            </a:rPr>
                            <m:t>𝑣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A v = λ v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48F2766-854B-8045-B8A3-F2876E0A39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00" y="2540000"/>
                <a:ext cx="4826000" cy="508000"/>
              </a:xfrm>
              <a:prstGeom prst="rect">
                <a:avLst/>
              </a:prstGeom>
              <a:blipFill>
                <a:blip r:embed="rId4"/>
                <a:stretch>
                  <a:fillRect b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8EA5E81-17A8-4C4B-8DE5-FF58A91AE562}"/>
                  </a:ext>
                </a:extLst>
              </p:cNvPr>
              <p:cNvSpPr txBox="1"/>
              <p:nvPr/>
            </p:nvSpPr>
            <p:spPr>
              <a:xfrm>
                <a:off x="5461000" y="3149600"/>
                <a:ext cx="5080000" cy="508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0">
                              <a:latin typeface="Cambria Math"/>
                            </a:rPr>
                            <m:t>(</m:t>
                          </m:r>
                          <m:r>
                            <a:rPr lang="en-US" sz="2400" b="1" i="1">
                              <a:latin typeface="Cambria Math"/>
                            </a:rPr>
                            <m:t>𝐴</m:t>
                          </m:r>
                          <m:r>
                            <a:rPr lang="en-US" sz="2400" b="0" i="0">
                              <a:latin typeface="Cambria Math"/>
                            </a:rPr>
                            <m:t> − </m:t>
                          </m:r>
                          <m:r>
                            <a:rPr lang="en-US" sz="2400" b="0" i="1">
                              <a:latin typeface="Cambria Math"/>
                            </a:rPr>
                            <m:t>𝜆</m:t>
                          </m:r>
                          <m:r>
                            <a:rPr lang="en-US" sz="2400" b="1" i="1">
                              <a:latin typeface="Cambria Math"/>
                            </a:rPr>
                            <m:t>𝐼</m:t>
                          </m:r>
                          <m:r>
                            <a:rPr lang="en-US" sz="2400" b="0" i="0">
                              <a:latin typeface="Cambria Math"/>
                            </a:rPr>
                            <m:t>) </m:t>
                          </m:r>
                          <m:r>
                            <a:rPr lang="en-US" sz="2400" b="1" i="1">
                              <a:latin typeface="Cambria Math"/>
                            </a:rPr>
                            <m:t>𝑣</m:t>
                          </m:r>
                          <m:r>
                            <a:rPr lang="en-US" sz="2400" b="0" i="0">
                              <a:latin typeface="Cambria Math"/>
                            </a:rPr>
                            <m:t> = 0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(A - λI) v = 0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8EA5E81-17A8-4C4B-8DE5-FF58A91AE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00" y="3149600"/>
                <a:ext cx="5080000" cy="508000"/>
              </a:xfrm>
              <a:prstGeom prst="rect">
                <a:avLst/>
              </a:prstGeom>
              <a:blipFill>
                <a:blip r:embed="rId5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1AFFD2A5-1291-BA4C-A014-F086EA80A659}"/>
              </a:ext>
            </a:extLst>
          </p:cNvPr>
          <p:cNvSpPr txBox="1"/>
          <p:nvPr/>
        </p:nvSpPr>
        <p:spPr>
          <a:xfrm>
            <a:off x="1397000" y="5207000"/>
            <a:ext cx="93980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i="1">
                <a:solidFill>
                  <a:srgbClr val="00A7B5"/>
                </a:solidFill>
              </a:rPr>
              <a:t>A nonzero v can exist only when  det( A − </a:t>
            </a:r>
            <a:r>
              <a:rPr lang="el-GR" i="1">
                <a:solidFill>
                  <a:srgbClr val="00A7B5"/>
                </a:solidFill>
              </a:rPr>
              <a:t>λ</a:t>
            </a:r>
            <a:r>
              <a:rPr lang="en-US" i="1">
                <a:solidFill>
                  <a:srgbClr val="00A7B5"/>
                </a:solidFill>
              </a:rPr>
              <a:t>I ) = 0  —  the characteristic equation.</a:t>
            </a:r>
          </a:p>
        </p:txBody>
      </p:sp>
    </p:spTree>
    <p:extLst>
      <p:ext uri="{BB962C8B-B14F-4D97-AF65-F5344CB8AC3E}">
        <p14:creationId xmlns:p14="http://schemas.microsoft.com/office/powerpoint/2010/main" val="16513218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74B12B-2DE2-0F46-B47F-FA529571A829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D827BA-418D-EA4D-AD83-DF7ACE7597B8}"/>
              </a:ext>
            </a:extLst>
          </p:cNvPr>
          <p:cNvSpPr txBox="1"/>
          <p:nvPr/>
        </p:nvSpPr>
        <p:spPr>
          <a:xfrm>
            <a:off x="762000" y="685800"/>
            <a:ext cx="8890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Example 1 (2×2) — Step 2: Form A − </a:t>
            </a:r>
            <a:r>
              <a:rPr lang="el-GR" sz="2600" b="1">
                <a:solidFill>
                  <a:srgbClr val="4B2E83"/>
                </a:solidFill>
              </a:rPr>
              <a:t>λ</a:t>
            </a:r>
            <a:r>
              <a:rPr lang="en-US" sz="2600" b="1">
                <a:solidFill>
                  <a:srgbClr val="4B2E83"/>
                </a:solidFill>
              </a:rPr>
              <a:t>I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C23A3F9-3B0D-0345-B926-A4263A19A442}"/>
              </a:ext>
            </a:extLst>
          </p:cNvPr>
          <p:cNvSpPr/>
          <p:nvPr/>
        </p:nvSpPr>
        <p:spPr>
          <a:xfrm>
            <a:off x="9931400" y="711200"/>
            <a:ext cx="14986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Step 2 / 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C22C4C-2C7F-5342-BCA5-B51B477529B8}"/>
              </a:ext>
            </a:extLst>
          </p:cNvPr>
          <p:cNvSpPr txBox="1"/>
          <p:nvPr/>
        </p:nvSpPr>
        <p:spPr>
          <a:xfrm>
            <a:off x="762000" y="1320800"/>
            <a:ext cx="10668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Subtract </a:t>
            </a:r>
            <a:r>
              <a:rPr lang="el-GR" sz="1600">
                <a:solidFill>
                  <a:srgbClr val="333333"/>
                </a:solidFill>
              </a:rPr>
              <a:t>λ </a:t>
            </a:r>
            <a:r>
              <a:rPr lang="en-US" sz="1600">
                <a:solidFill>
                  <a:srgbClr val="333333"/>
                </a:solidFill>
              </a:rPr>
              <a:t>from the diagonal. A nonzero v exists only if this matrix is singular.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6E29BF1-4E92-E049-B2E4-478C288BD766}"/>
              </a:ext>
            </a:extLst>
          </p:cNvPr>
          <p:cNvSpPr/>
          <p:nvPr/>
        </p:nvSpPr>
        <p:spPr>
          <a:xfrm>
            <a:off x="762000" y="1930400"/>
            <a:ext cx="106680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BAB6B7E-3DB0-E640-84F7-CD42BB525F72}"/>
                  </a:ext>
                </a:extLst>
              </p:cNvPr>
              <p:cNvSpPr txBox="1"/>
              <p:nvPr/>
            </p:nvSpPr>
            <p:spPr>
              <a:xfrm>
                <a:off x="1397000" y="2997200"/>
                <a:ext cx="2159000" cy="508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latin typeface="Cambria Math"/>
                        </a:rPr>
                        <m:t>𝐴</m:t>
                      </m:r>
                      <m:r>
                        <a:rPr lang="en-US" sz="2400" b="0" i="0">
                          <a:latin typeface="Cambria Math"/>
                        </a:rPr>
                        <m:t> − </m:t>
                      </m:r>
                      <m:r>
                        <a:rPr lang="en-US" sz="2400" b="0" i="1">
                          <a:latin typeface="Cambria Math"/>
                        </a:rPr>
                        <m:t>𝜆</m:t>
                      </m:r>
                      <m:r>
                        <a:rPr lang="en-US" sz="2400" b="1" i="1">
                          <a:latin typeface="Cambria Math"/>
                        </a:rPr>
                        <m:t>𝐼</m:t>
                      </m:r>
                      <m:r>
                        <a:rPr lang="en-US" sz="2400" b="0" i="0">
                          <a:latin typeface="Cambria Math"/>
                        </a:rPr>
                        <m:t> =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BAB6B7E-3DB0-E640-84F7-CD42BB525F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7000" y="2997200"/>
                <a:ext cx="2159000" cy="508000"/>
              </a:xfrm>
              <a:prstGeom prst="rect">
                <a:avLst/>
              </a:prstGeom>
              <a:blipFill>
                <a:blip r:embed="rId2"/>
                <a:stretch>
                  <a:fillRect b="-1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D7E969B-0ADD-1540-A250-34785E53E04E}"/>
                  </a:ext>
                </a:extLst>
              </p:cNvPr>
              <p:cNvSpPr txBox="1"/>
              <p:nvPr/>
            </p:nvSpPr>
            <p:spPr>
              <a:xfrm>
                <a:off x="3810000" y="2540000"/>
                <a:ext cx="2032000" cy="1016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 b="1" i="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400" b="1" i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1" i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1" i="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D7E969B-0ADD-1540-A250-34785E53E0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0" y="2540000"/>
                <a:ext cx="2032000" cy="1016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BC7CC76-5974-CC4A-AD6F-C10C23F4EDFA}"/>
                  </a:ext>
                </a:extLst>
              </p:cNvPr>
              <p:cNvSpPr txBox="1"/>
              <p:nvPr/>
            </p:nvSpPr>
            <p:spPr>
              <a:xfrm>
                <a:off x="5969000" y="2997200"/>
                <a:ext cx="762000" cy="508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0">
                          <a:latin typeface="Cambria Math"/>
                        </a:rPr>
                        <m:t>−  </m:t>
                      </m:r>
                      <m:r>
                        <a:rPr lang="en-US" sz="2400" b="0" i="1">
                          <a:latin typeface="Cambria Math"/>
                        </a:rPr>
                        <m:t>𝜆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BC7CC76-5974-CC4A-AD6F-C10C23F4ED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9000" y="2997200"/>
                <a:ext cx="762000" cy="508000"/>
              </a:xfrm>
              <a:prstGeom prst="rect">
                <a:avLst/>
              </a:prstGeom>
              <a:blipFill>
                <a:blip r:embed="rId4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5CCF621-B778-7242-8BF6-DF9A15B623EB}"/>
                  </a:ext>
                </a:extLst>
              </p:cNvPr>
              <p:cNvSpPr txBox="1"/>
              <p:nvPr/>
            </p:nvSpPr>
            <p:spPr>
              <a:xfrm>
                <a:off x="6858000" y="2540000"/>
                <a:ext cx="2032000" cy="1016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 b="1" i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1" i="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1" i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1" i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5CCF621-B778-7242-8BF6-DF9A15B623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0" y="2540000"/>
                <a:ext cx="2032000" cy="10160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0175237-AE6F-6649-B8D9-62196B19D645}"/>
                  </a:ext>
                </a:extLst>
              </p:cNvPr>
              <p:cNvSpPr txBox="1"/>
              <p:nvPr/>
            </p:nvSpPr>
            <p:spPr>
              <a:xfrm>
                <a:off x="8890000" y="2997200"/>
                <a:ext cx="381000" cy="508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0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0175237-AE6F-6649-B8D9-62196B19D6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0000" y="2997200"/>
                <a:ext cx="381000" cy="508000"/>
              </a:xfrm>
              <a:prstGeom prst="rect">
                <a:avLst/>
              </a:prstGeom>
              <a:blipFill>
                <a:blip r:embed="rId6"/>
                <a:stretch>
                  <a:fillRect l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3333DB7-F129-604F-BC09-D2474435B7C2}"/>
                  </a:ext>
                </a:extLst>
              </p:cNvPr>
              <p:cNvSpPr txBox="1"/>
              <p:nvPr/>
            </p:nvSpPr>
            <p:spPr>
              <a:xfrm>
                <a:off x="9271000" y="2540000"/>
                <a:ext cx="2159000" cy="1016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 b="1" i="0">
                                    <a:latin typeface="Cambria Math"/>
                                  </a:rPr>
                                  <m:t>2−</m:t>
                                </m:r>
                                <m:r>
                                  <a:rPr lang="en-US" sz="2400" b="1" i="0">
                                    <a:latin typeface="Cambria Math"/>
                                  </a:rPr>
                                  <m:t>𝜆</m:t>
                                </m:r>
                              </m:e>
                              <m:e>
                                <m:r>
                                  <a:rPr lang="en-US" sz="2400" b="1" i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1" i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1" i="0">
                                    <a:latin typeface="Cambria Math"/>
                                  </a:rPr>
                                  <m:t>2−</m:t>
                                </m:r>
                                <m:r>
                                  <a:rPr lang="en-US" sz="2400" b="1" i="0">
                                    <a:latin typeface="Cambria Math"/>
                                  </a:rPr>
                                  <m:t>𝜆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3333DB7-F129-604F-BC09-D2474435B7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1000" y="2540000"/>
                <a:ext cx="2159000" cy="1016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0CE8617D-6CB0-A34D-92FE-DDCACC715A1D}"/>
              </a:ext>
            </a:extLst>
          </p:cNvPr>
          <p:cNvSpPr txBox="1"/>
          <p:nvPr/>
        </p:nvSpPr>
        <p:spPr>
          <a:xfrm>
            <a:off x="1397000" y="5207000"/>
            <a:ext cx="93980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i="1">
                <a:solidFill>
                  <a:srgbClr val="00A7B5"/>
                </a:solidFill>
              </a:rPr>
              <a:t>Set  det( A − </a:t>
            </a:r>
            <a:r>
              <a:rPr lang="el-GR" i="1">
                <a:solidFill>
                  <a:srgbClr val="00A7B5"/>
                </a:solidFill>
              </a:rPr>
              <a:t>λ</a:t>
            </a:r>
            <a:r>
              <a:rPr lang="en-US" i="1">
                <a:solidFill>
                  <a:srgbClr val="00A7B5"/>
                </a:solidFill>
              </a:rPr>
              <a:t>I ) = 0  to find the </a:t>
            </a:r>
            <a:r>
              <a:rPr lang="el-GR" i="1">
                <a:solidFill>
                  <a:srgbClr val="00A7B5"/>
                </a:solidFill>
              </a:rPr>
              <a:t>λ </a:t>
            </a:r>
            <a:r>
              <a:rPr lang="en-US" i="1">
                <a:solidFill>
                  <a:srgbClr val="00A7B5"/>
                </a:solidFill>
              </a:rPr>
              <a:t>that make it singular.</a:t>
            </a:r>
          </a:p>
        </p:txBody>
      </p:sp>
    </p:spTree>
    <p:extLst>
      <p:ext uri="{BB962C8B-B14F-4D97-AF65-F5344CB8AC3E}">
        <p14:creationId xmlns:p14="http://schemas.microsoft.com/office/powerpoint/2010/main" val="24070232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951B291-2EDF-D543-ABBC-65A035CEEB1C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88A16A-8C02-A74B-A00D-C1C826B950C4}"/>
              </a:ext>
            </a:extLst>
          </p:cNvPr>
          <p:cNvSpPr txBox="1"/>
          <p:nvPr/>
        </p:nvSpPr>
        <p:spPr>
          <a:xfrm>
            <a:off x="762000" y="685800"/>
            <a:ext cx="8890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Example 1 (2×2) — Step 3: Solve det = 0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074DEE1-D26F-8842-939D-462974119C97}"/>
              </a:ext>
            </a:extLst>
          </p:cNvPr>
          <p:cNvSpPr/>
          <p:nvPr/>
        </p:nvSpPr>
        <p:spPr>
          <a:xfrm>
            <a:off x="9931400" y="711200"/>
            <a:ext cx="14986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Step 3 / 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265066-8028-8347-974F-3172131A9024}"/>
              </a:ext>
            </a:extLst>
          </p:cNvPr>
          <p:cNvSpPr txBox="1"/>
          <p:nvPr/>
        </p:nvSpPr>
        <p:spPr>
          <a:xfrm>
            <a:off x="762000" y="1320800"/>
            <a:ext cx="10668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Expand the 2×2 determinant into a quadratic in </a:t>
            </a:r>
            <a:r>
              <a:rPr lang="el-GR" sz="1600">
                <a:solidFill>
                  <a:srgbClr val="333333"/>
                </a:solidFill>
              </a:rPr>
              <a:t>λ </a:t>
            </a:r>
            <a:r>
              <a:rPr lang="en-US" sz="1600">
                <a:solidFill>
                  <a:srgbClr val="333333"/>
                </a:solidFill>
              </a:rPr>
              <a:t>and factor it.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8C08B0A-4304-1040-9540-C0824A95AC74}"/>
              </a:ext>
            </a:extLst>
          </p:cNvPr>
          <p:cNvSpPr/>
          <p:nvPr/>
        </p:nvSpPr>
        <p:spPr>
          <a:xfrm>
            <a:off x="762000" y="1930400"/>
            <a:ext cx="106680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BF63481-348D-6140-BA5F-1FB842C91A22}"/>
                  </a:ext>
                </a:extLst>
              </p:cNvPr>
              <p:cNvSpPr txBox="1"/>
              <p:nvPr/>
            </p:nvSpPr>
            <p:spPr>
              <a:xfrm>
                <a:off x="1397000" y="2362200"/>
                <a:ext cx="9398000" cy="2159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>
                          <a:latin typeface="Cambria Math"/>
                        </a:rPr>
                        <m:t>𝑑𝑒𝑡</m:t>
                      </m:r>
                      <m:r>
                        <a:rPr lang="en-US" sz="2200" b="0" i="0">
                          <a:latin typeface="Cambria Math"/>
                        </a:rPr>
                        <m:t>(</m:t>
                      </m:r>
                      <m:r>
                        <a:rPr lang="en-US" sz="2200" b="1" i="1">
                          <a:latin typeface="Cambria Math"/>
                        </a:rPr>
                        <m:t>𝐴</m:t>
                      </m:r>
                      <m:r>
                        <a:rPr lang="en-US" sz="2200" b="0" i="0">
                          <a:latin typeface="Cambria Math"/>
                        </a:rPr>
                        <m:t> − </m:t>
                      </m:r>
                      <m:r>
                        <a:rPr lang="en-US" sz="2200" b="0" i="1">
                          <a:latin typeface="Cambria Math"/>
                        </a:rPr>
                        <m:t>𝜆</m:t>
                      </m:r>
                      <m:r>
                        <a:rPr lang="en-US" sz="2200" b="1" i="1">
                          <a:latin typeface="Cambria Math"/>
                        </a:rPr>
                        <m:t>𝐼</m:t>
                      </m:r>
                      <m:r>
                        <a:rPr lang="en-US" sz="2200" b="0" i="0">
                          <a:latin typeface="Cambria Math"/>
                        </a:rPr>
                        <m:t>)  =  (2 − </m:t>
                      </m:r>
                      <m:r>
                        <a:rPr lang="en-US" sz="2200" b="0" i="1">
                          <a:latin typeface="Cambria Math"/>
                        </a:rPr>
                        <m:t>𝜆</m:t>
                      </m:r>
                      <m:r>
                        <a:rPr lang="en-US" sz="2200" b="0" i="0">
                          <a:latin typeface="Cambria Math"/>
                        </a:rPr>
                        <m:t>)(2 − </m:t>
                      </m:r>
                      <m:r>
                        <a:rPr lang="en-US" sz="2200" b="0" i="1">
                          <a:latin typeface="Cambria Math"/>
                        </a:rPr>
                        <m:t>𝜆</m:t>
                      </m:r>
                      <m:r>
                        <a:rPr lang="en-US" sz="2200" b="0" i="0">
                          <a:latin typeface="Cambria Math"/>
                        </a:rPr>
                        <m:t>) − (1)(1)</m:t>
                      </m:r>
                    </m:oMath>
                  </m:oMathPara>
                </a14:m>
                <a:endParaRPr/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0">
                          <a:latin typeface="Cambria Math"/>
                        </a:rPr>
                        <m:t>=  </m:t>
                      </m:r>
                      <m:sSup>
                        <m:sSup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0">
                              <a:latin typeface="Cambria Math"/>
                            </a:rPr>
                            <m:t>(2 − </m:t>
                          </m:r>
                          <m:r>
                            <a:rPr lang="en-US" sz="2200" b="0" i="1">
                              <a:latin typeface="Cambria Math"/>
                            </a:rPr>
                            <m:t>𝜆</m:t>
                          </m:r>
                          <m:r>
                            <a:rPr lang="en-US" sz="2200" b="0" i="0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1400" b="0" i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200" b="0" i="0">
                          <a:latin typeface="Cambria Math"/>
                        </a:rPr>
                        <m:t>  − 1  =  </m:t>
                      </m:r>
                      <m:sSup>
                        <m:sSup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>
                              <a:latin typeface="Cambria Math"/>
                            </a:rPr>
                            <m:t>𝜆</m:t>
                          </m:r>
                        </m:e>
                        <m:sup>
                          <m:r>
                            <a:rPr lang="en-US" sz="1400" b="0" i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200" b="0" i="0">
                          <a:latin typeface="Cambria Math"/>
                        </a:rPr>
                        <m:t>  − 4</m:t>
                      </m:r>
                      <m:r>
                        <a:rPr lang="en-US" sz="2200" b="0" i="1">
                          <a:latin typeface="Cambria Math"/>
                        </a:rPr>
                        <m:t>𝜆</m:t>
                      </m:r>
                      <m:r>
                        <a:rPr lang="en-US" sz="2200" b="0" i="0">
                          <a:latin typeface="Cambria Math"/>
                        </a:rPr>
                        <m:t> + 3</m:t>
                      </m:r>
                    </m:oMath>
                  </m:oMathPara>
                </a14:m>
                <a:endParaRPr/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0">
                          <a:latin typeface="Cambria Math"/>
                        </a:rPr>
                        <m:t>=  (</m:t>
                      </m:r>
                      <m:r>
                        <a:rPr lang="en-US" sz="2200" b="0" i="1">
                          <a:latin typeface="Cambria Math"/>
                        </a:rPr>
                        <m:t>𝜆</m:t>
                      </m:r>
                      <m:r>
                        <a:rPr lang="en-US" sz="2200" b="0" i="0">
                          <a:latin typeface="Cambria Math"/>
                        </a:rPr>
                        <m:t> − 1)(</m:t>
                      </m:r>
                      <m:r>
                        <a:rPr lang="en-US" sz="2200" b="0" i="1">
                          <a:latin typeface="Cambria Math"/>
                        </a:rPr>
                        <m:t>𝜆</m:t>
                      </m:r>
                      <m:r>
                        <a:rPr lang="en-US" sz="2200" b="0" i="0">
                          <a:latin typeface="Cambria Math"/>
                        </a:rPr>
                        <m:t> − 3)  =  0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BF63481-348D-6140-BA5F-1FB842C91A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7000" y="2362200"/>
                <a:ext cx="9398000" cy="2159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5799808-C41D-4240-8EF7-C6FDDB7CFBB7}"/>
                  </a:ext>
                </a:extLst>
              </p:cNvPr>
              <p:cNvSpPr txBox="1"/>
              <p:nvPr/>
            </p:nvSpPr>
            <p:spPr>
              <a:xfrm>
                <a:off x="1397000" y="5080000"/>
                <a:ext cx="9398000" cy="6096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>
                              <a:latin typeface="Cambria Math"/>
                            </a:rPr>
                            <m:t>𝜆</m:t>
                          </m:r>
                        </m:e>
                        <m:sub>
                          <m:r>
                            <a:rPr lang="en-US" sz="1600" b="0" i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800" b="0" i="0">
                          <a:latin typeface="Cambria Math"/>
                        </a:rPr>
                        <m:t>  =  3            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>
                              <a:latin typeface="Cambria Math"/>
                            </a:rPr>
                            <m:t>𝜆</m:t>
                          </m:r>
                        </m:e>
                        <m:sub>
                          <m:r>
                            <a:rPr lang="en-US" sz="1600" b="0" i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800" b="0" i="0">
                          <a:latin typeface="Cambria Math"/>
                        </a:rPr>
                        <m:t>  =  1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5799808-C41D-4240-8EF7-C6FDDB7CFB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7000" y="5080000"/>
                <a:ext cx="9398000" cy="609600"/>
              </a:xfrm>
              <a:prstGeom prst="rect">
                <a:avLst/>
              </a:prstGeom>
              <a:blipFill>
                <a:blip r:embed="rId3"/>
                <a:stretch>
                  <a:fillRect b="-61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43266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6FFF291-960D-1644-9623-4C9D0DFC6323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B32980-2F8E-7F4F-BD7F-7E4F19D9B659}"/>
              </a:ext>
            </a:extLst>
          </p:cNvPr>
          <p:cNvSpPr txBox="1"/>
          <p:nvPr/>
        </p:nvSpPr>
        <p:spPr>
          <a:xfrm>
            <a:off x="762000" y="685800"/>
            <a:ext cx="8890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Example 1 (2×2) — Step 4: Eigenvector for </a:t>
            </a:r>
            <a:r>
              <a:rPr lang="el-GR" sz="2600" b="1">
                <a:solidFill>
                  <a:srgbClr val="4B2E83"/>
                </a:solidFill>
              </a:rPr>
              <a:t>λ = 3</a:t>
            </a:r>
            <a:endParaRPr lang="en-US" sz="2600" b="1">
              <a:solidFill>
                <a:srgbClr val="4B2E83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AC732A4-3AA6-0043-AC60-0663E71D943A}"/>
              </a:ext>
            </a:extLst>
          </p:cNvPr>
          <p:cNvSpPr/>
          <p:nvPr/>
        </p:nvSpPr>
        <p:spPr>
          <a:xfrm>
            <a:off x="9931400" y="711200"/>
            <a:ext cx="14986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Step 4 / 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DF1BF3-F14F-F44B-8690-15AE0085BFFB}"/>
              </a:ext>
            </a:extLst>
          </p:cNvPr>
          <p:cNvSpPr txBox="1"/>
          <p:nvPr/>
        </p:nvSpPr>
        <p:spPr>
          <a:xfrm>
            <a:off x="762000" y="1320800"/>
            <a:ext cx="10668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Plug </a:t>
            </a:r>
            <a:r>
              <a:rPr lang="el-GR" sz="1600">
                <a:solidFill>
                  <a:srgbClr val="333333"/>
                </a:solidFill>
              </a:rPr>
              <a:t>λ = 3 </a:t>
            </a:r>
            <a:r>
              <a:rPr lang="en-US" sz="1600">
                <a:solidFill>
                  <a:srgbClr val="333333"/>
                </a:solidFill>
              </a:rPr>
              <a:t>into (A − </a:t>
            </a:r>
            <a:r>
              <a:rPr lang="el-GR" sz="1600">
                <a:solidFill>
                  <a:srgbClr val="333333"/>
                </a:solidFill>
              </a:rPr>
              <a:t>λ</a:t>
            </a:r>
            <a:r>
              <a:rPr lang="en-US" sz="1600">
                <a:solidFill>
                  <a:srgbClr val="333333"/>
                </a:solidFill>
              </a:rPr>
              <a:t>I)v = 0 and solve the resulting system.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483C88B-D85E-2A41-908A-E504E2D522DA}"/>
              </a:ext>
            </a:extLst>
          </p:cNvPr>
          <p:cNvSpPr/>
          <p:nvPr/>
        </p:nvSpPr>
        <p:spPr>
          <a:xfrm>
            <a:off x="762000" y="1930400"/>
            <a:ext cx="106680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2860711-800F-CD41-8C61-83EE6CEAAD69}"/>
                  </a:ext>
                </a:extLst>
              </p:cNvPr>
              <p:cNvSpPr txBox="1"/>
              <p:nvPr/>
            </p:nvSpPr>
            <p:spPr>
              <a:xfrm>
                <a:off x="1397000" y="2692400"/>
                <a:ext cx="2159000" cy="508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1" i="1">
                              <a:latin typeface="Cambria Math"/>
                            </a:rPr>
                            <m:t>𝐴</m:t>
                          </m:r>
                          <m:r>
                            <a:rPr lang="en-US" sz="2400" b="0" i="0">
                              <a:latin typeface="Cambria Math"/>
                            </a:rPr>
                            <m:t> − 3</m:t>
                          </m:r>
                          <m:r>
                            <a:rPr lang="en-US" sz="2400" b="1" i="1">
                              <a:latin typeface="Cambria Math"/>
                            </a:rPr>
                            <m:t>𝐼</m:t>
                          </m:r>
                          <m:r>
                            <a:rPr lang="en-US" sz="2400" b="0" i="0">
                              <a:latin typeface="Cambria Math"/>
                            </a:rPr>
                            <m:t> =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A - 3I =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2860711-800F-CD41-8C61-83EE6CEAAD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7000" y="2692400"/>
                <a:ext cx="2159000" cy="508000"/>
              </a:xfrm>
              <a:prstGeom prst="rect">
                <a:avLst/>
              </a:prstGeom>
              <a:blipFill>
                <a:blip r:embed="rId2"/>
                <a:stretch>
                  <a:fillRect b="-146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A5C7B96-8392-A249-925B-4816C1A1CEB4}"/>
                  </a:ext>
                </a:extLst>
              </p:cNvPr>
              <p:cNvSpPr txBox="1"/>
              <p:nvPr/>
            </p:nvSpPr>
            <p:spPr>
              <a:xfrm>
                <a:off x="3810000" y="2489200"/>
                <a:ext cx="2159000" cy="1016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2400" b="1" i="0">
                                        <a:latin typeface="Cambria Math"/>
                                      </a:rPr>
                                      <m:t>−1</m:t>
                                    </m:r>
                                  </m:e>
                                  <m:e>
                                    <m:r>
                                      <a:rPr lang="en-US" sz="2400" b="1" i="0"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400" b="1" i="0"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sz="2400" b="1" i="0">
                                        <a:latin typeface="Cambria Math"/>
                                      </a:rPr>
                                      <m:t>−1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[-1 1; 1 -1]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A5C7B96-8392-A249-925B-4816C1A1CE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0" y="2489200"/>
                <a:ext cx="2159000" cy="1016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569A0CE-51DD-5744-B60B-944A0ECCEB6E}"/>
                  </a:ext>
                </a:extLst>
              </p:cNvPr>
              <p:cNvSpPr txBox="1"/>
              <p:nvPr/>
            </p:nvSpPr>
            <p:spPr>
              <a:xfrm>
                <a:off x="6350000" y="2692400"/>
                <a:ext cx="4826000" cy="508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0">
                              <a:latin typeface="Cambria Math"/>
                            </a:rPr>
                            <m:t>(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𝐴</m:t>
                          </m:r>
                          <m:r>
                            <a:rPr lang="en-US" sz="2000" b="0" i="0">
                              <a:latin typeface="Cambria Math"/>
                            </a:rPr>
                            <m:t> − 3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𝐼</m:t>
                          </m:r>
                          <m:r>
                            <a:rPr lang="en-US" sz="2000" b="0" i="0">
                              <a:latin typeface="Cambria Math"/>
                            </a:rPr>
                            <m:t>) 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𝑣</m:t>
                          </m:r>
                          <m:r>
                            <a:rPr lang="en-US" sz="2000" b="0" i="0">
                              <a:latin typeface="Cambria Math"/>
                            </a:rPr>
                            <m:t> = 0   ⇒   −</m:t>
                          </m:r>
                          <m:r>
                            <a:rPr lang="en-US" sz="2000" b="0" i="1">
                              <a:latin typeface="Cambria Math"/>
                            </a:rPr>
                            <m:t>𝑥</m:t>
                          </m:r>
                          <m:r>
                            <a:rPr lang="en-US" sz="2000" b="0" i="0">
                              <a:latin typeface="Cambria Math"/>
                            </a:rPr>
                            <m:t> + </m:t>
                          </m:r>
                          <m:r>
                            <a:rPr lang="en-US" sz="2000" b="0" i="1">
                              <a:latin typeface="Cambria Math"/>
                            </a:rPr>
                            <m:t>𝑦</m:t>
                          </m:r>
                          <m:r>
                            <a:rPr lang="en-US" sz="2000" b="0" i="0">
                              <a:latin typeface="Cambria Math"/>
                            </a:rPr>
                            <m:t> = 0   ⇒   </m:t>
                          </m:r>
                          <m:r>
                            <a:rPr lang="en-US" sz="2000" b="0" i="1">
                              <a:latin typeface="Cambria Math"/>
                            </a:rPr>
                            <m:t>𝑦</m:t>
                          </m:r>
                          <m:r>
                            <a:rPr lang="en-US" sz="2000" b="0" i="0">
                              <a:latin typeface="Cambria Math"/>
                            </a:rPr>
                            <m:t> = </m:t>
                          </m:r>
                          <m:r>
                            <a:rPr lang="en-US" sz="2000" b="0" i="1">
                              <a:latin typeface="Cambria Math"/>
                            </a:rPr>
                            <m:t>𝑥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(A-3I)v=0  =&gt;  y=x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569A0CE-51DD-5744-B60B-944A0ECCEB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000" y="2692400"/>
                <a:ext cx="4826000" cy="508000"/>
              </a:xfrm>
              <a:prstGeom prst="rect">
                <a:avLst/>
              </a:prstGeom>
              <a:blipFill>
                <a:blip r:embed="rId4"/>
                <a:stretch>
                  <a:fillRect b="-487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0E95411-A2A3-9143-9100-B2DE9E9C65F2}"/>
                  </a:ext>
                </a:extLst>
              </p:cNvPr>
              <p:cNvSpPr txBox="1"/>
              <p:nvPr/>
            </p:nvSpPr>
            <p:spPr>
              <a:xfrm>
                <a:off x="3810000" y="4572000"/>
                <a:ext cx="1143000" cy="6096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1" i="1">
                              <a:latin typeface="Cambria Math"/>
                            </a:rPr>
                            <m:t>𝑣</m:t>
                          </m:r>
                          <m:r>
                            <a:rPr lang="en-US" sz="2400" b="0" i="0">
                              <a:latin typeface="Cambria Math"/>
                            </a:rPr>
                            <m:t> =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v =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0E95411-A2A3-9143-9100-B2DE9E9C65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0" y="4572000"/>
                <a:ext cx="1143000" cy="609600"/>
              </a:xfrm>
              <a:prstGeom prst="rect">
                <a:avLst/>
              </a:prstGeom>
              <a:blipFill>
                <a:blip r:embed="rId5"/>
                <a:stretch>
                  <a:fillRect b="-4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682E79A-B9AF-714D-8EAE-57340900C851}"/>
                  </a:ext>
                </a:extLst>
              </p:cNvPr>
              <p:cNvSpPr txBox="1"/>
              <p:nvPr/>
            </p:nvSpPr>
            <p:spPr>
              <a:xfrm>
                <a:off x="4978400" y="4368800"/>
                <a:ext cx="1143000" cy="1016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2400" b="1" i="0"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400" b="1" i="0"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[1; 1]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682E79A-B9AF-714D-8EAE-57340900C8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400" y="4368800"/>
                <a:ext cx="1143000" cy="1016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9F0F37F-8684-DA4F-8189-51573888F564}"/>
                  </a:ext>
                </a:extLst>
              </p:cNvPr>
              <p:cNvSpPr txBox="1"/>
              <p:nvPr/>
            </p:nvSpPr>
            <p:spPr>
              <a:xfrm>
                <a:off x="6350000" y="4724400"/>
                <a:ext cx="3810000" cy="381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0" i="0">
                              <a:latin typeface="Cambria Math"/>
                            </a:rPr>
                            <m:t>(</m:t>
                          </m:r>
                          <m:r>
                            <a:rPr lang="en-US" sz="1600" b="0" i="1">
                              <a:latin typeface="Cambria Math"/>
                            </a:rPr>
                            <m:t>𝜆</m:t>
                          </m:r>
                          <m:r>
                            <a:rPr lang="en-US" sz="1600" b="0" i="0">
                              <a:latin typeface="Cambria Math"/>
                            </a:rPr>
                            <m:t> = 3)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(λ = 3)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9F0F37F-8684-DA4F-8189-51573888F5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000" y="4724400"/>
                <a:ext cx="3810000" cy="381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8058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C64A371-F9B1-824D-99ED-513780210594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2F6C35-9CD1-0C40-9E7A-69673D4DA6BF}"/>
              </a:ext>
            </a:extLst>
          </p:cNvPr>
          <p:cNvSpPr txBox="1"/>
          <p:nvPr/>
        </p:nvSpPr>
        <p:spPr>
          <a:xfrm>
            <a:off x="762000" y="685800"/>
            <a:ext cx="8890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Example 1 (2×2) — Step 5: Eigenvector for </a:t>
            </a:r>
            <a:r>
              <a:rPr lang="el-GR" sz="2600" b="1">
                <a:solidFill>
                  <a:srgbClr val="4B2E83"/>
                </a:solidFill>
              </a:rPr>
              <a:t>λ = 1</a:t>
            </a:r>
            <a:endParaRPr lang="en-US" sz="2600" b="1">
              <a:solidFill>
                <a:srgbClr val="4B2E83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297D12B-4339-7F41-A260-46B9BB1F7927}"/>
              </a:ext>
            </a:extLst>
          </p:cNvPr>
          <p:cNvSpPr/>
          <p:nvPr/>
        </p:nvSpPr>
        <p:spPr>
          <a:xfrm>
            <a:off x="9931400" y="711200"/>
            <a:ext cx="14986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Step 5 / 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49939C-5F4C-694B-B771-6AF68AAD7FE1}"/>
              </a:ext>
            </a:extLst>
          </p:cNvPr>
          <p:cNvSpPr txBox="1"/>
          <p:nvPr/>
        </p:nvSpPr>
        <p:spPr>
          <a:xfrm>
            <a:off x="762000" y="1320800"/>
            <a:ext cx="10668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Repeat with </a:t>
            </a:r>
            <a:r>
              <a:rPr lang="el-GR" sz="1600">
                <a:solidFill>
                  <a:srgbClr val="333333"/>
                </a:solidFill>
              </a:rPr>
              <a:t>λ = 1, </a:t>
            </a:r>
            <a:r>
              <a:rPr lang="en-US" sz="1600">
                <a:solidFill>
                  <a:srgbClr val="333333"/>
                </a:solidFill>
              </a:rPr>
              <a:t>then collect both eigenpairs.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917AD2D-EE5F-754B-A942-A7823D6284E8}"/>
              </a:ext>
            </a:extLst>
          </p:cNvPr>
          <p:cNvSpPr/>
          <p:nvPr/>
        </p:nvSpPr>
        <p:spPr>
          <a:xfrm>
            <a:off x="762000" y="1930400"/>
            <a:ext cx="106680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BA10E15-1136-3943-93E3-9F8CC9D87EA6}"/>
                  </a:ext>
                </a:extLst>
              </p:cNvPr>
              <p:cNvSpPr txBox="1"/>
              <p:nvPr/>
            </p:nvSpPr>
            <p:spPr>
              <a:xfrm>
                <a:off x="1397000" y="2540000"/>
                <a:ext cx="1905000" cy="508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latin typeface="Cambria Math"/>
                        </a:rPr>
                        <m:t>𝐴</m:t>
                      </m:r>
                      <m:r>
                        <a:rPr lang="en-US" sz="2400" b="0" i="0">
                          <a:latin typeface="Cambria Math"/>
                        </a:rPr>
                        <m:t> − </m:t>
                      </m:r>
                      <m:r>
                        <a:rPr lang="en-US" sz="2400" b="1" i="1">
                          <a:latin typeface="Cambria Math"/>
                        </a:rPr>
                        <m:t>𝐼</m:t>
                      </m:r>
                      <m:r>
                        <a:rPr lang="en-US" sz="2400" b="0" i="0">
                          <a:latin typeface="Cambria Math"/>
                        </a:rPr>
                        <m:t> =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BA10E15-1136-3943-93E3-9F8CC9D87E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7000" y="2540000"/>
                <a:ext cx="1905000" cy="508000"/>
              </a:xfrm>
              <a:prstGeom prst="rect">
                <a:avLst/>
              </a:prstGeom>
              <a:blipFill>
                <a:blip r:embed="rId2"/>
                <a:stretch>
                  <a:fillRect b="-146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E6F1D5B-1AF8-434B-83C6-41891C415EA4}"/>
                  </a:ext>
                </a:extLst>
              </p:cNvPr>
              <p:cNvSpPr txBox="1"/>
              <p:nvPr/>
            </p:nvSpPr>
            <p:spPr>
              <a:xfrm>
                <a:off x="3429000" y="2336800"/>
                <a:ext cx="1905000" cy="1016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 b="1" i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1" i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1" i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1" i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E6F1D5B-1AF8-434B-83C6-41891C415E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0" y="2336800"/>
                <a:ext cx="1905000" cy="1016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DBEFA5D-5D2A-F548-93BD-26B7737641FB}"/>
                  </a:ext>
                </a:extLst>
              </p:cNvPr>
              <p:cNvSpPr txBox="1"/>
              <p:nvPr/>
            </p:nvSpPr>
            <p:spPr>
              <a:xfrm>
                <a:off x="5715000" y="2540000"/>
                <a:ext cx="5080000" cy="508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0">
                          <a:latin typeface="Cambria Math"/>
                        </a:rPr>
                        <m:t>(</m:t>
                      </m:r>
                      <m:r>
                        <a:rPr lang="en-US" sz="2000" b="1" i="1">
                          <a:latin typeface="Cambria Math"/>
                        </a:rPr>
                        <m:t>𝐴</m:t>
                      </m:r>
                      <m:r>
                        <a:rPr lang="en-US" sz="2000" b="0" i="0">
                          <a:latin typeface="Cambria Math"/>
                        </a:rPr>
                        <m:t> − </m:t>
                      </m:r>
                      <m:r>
                        <a:rPr lang="en-US" sz="2000" b="1" i="1">
                          <a:latin typeface="Cambria Math"/>
                        </a:rPr>
                        <m:t>𝐼</m:t>
                      </m:r>
                      <m:r>
                        <a:rPr lang="en-US" sz="2000" b="0" i="0">
                          <a:latin typeface="Cambria Math"/>
                        </a:rPr>
                        <m:t>) </m:t>
                      </m:r>
                      <m:r>
                        <a:rPr lang="en-US" sz="2000" b="1" i="1">
                          <a:latin typeface="Cambria Math"/>
                        </a:rPr>
                        <m:t>𝑣</m:t>
                      </m:r>
                      <m:r>
                        <a:rPr lang="en-US" sz="2000" b="0" i="0">
                          <a:latin typeface="Cambria Math"/>
                        </a:rPr>
                        <m:t> = 0   ⇒   </m:t>
                      </m:r>
                      <m:r>
                        <a:rPr lang="en-US" sz="2000" b="0" i="1">
                          <a:latin typeface="Cambria Math"/>
                        </a:rPr>
                        <m:t>𝑥</m:t>
                      </m:r>
                      <m:r>
                        <a:rPr lang="en-US" sz="2000" b="0" i="0">
                          <a:latin typeface="Cambria Math"/>
                        </a:rPr>
                        <m:t> + </m:t>
                      </m:r>
                      <m:r>
                        <a:rPr lang="en-US" sz="2000" b="0" i="1">
                          <a:latin typeface="Cambria Math"/>
                        </a:rPr>
                        <m:t>𝑦</m:t>
                      </m:r>
                      <m:r>
                        <a:rPr lang="en-US" sz="2000" b="0" i="0">
                          <a:latin typeface="Cambria Math"/>
                        </a:rPr>
                        <m:t> = 0   ⇒   </m:t>
                      </m:r>
                      <m:r>
                        <a:rPr lang="en-US" sz="2000" b="0" i="1">
                          <a:latin typeface="Cambria Math"/>
                        </a:rPr>
                        <m:t>𝑦</m:t>
                      </m:r>
                      <m:r>
                        <a:rPr lang="en-US" sz="2000" b="0" i="0">
                          <a:latin typeface="Cambria Math"/>
                        </a:rPr>
                        <m:t> = −</m:t>
                      </m:r>
                      <m:r>
                        <a:rPr lang="en-US" sz="2000" b="0" i="1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DBEFA5D-5D2A-F548-93BD-26B7737641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0" y="2540000"/>
                <a:ext cx="5080000" cy="508000"/>
              </a:xfrm>
              <a:prstGeom prst="rect">
                <a:avLst/>
              </a:prstGeom>
              <a:blipFill>
                <a:blip r:embed="rId4"/>
                <a:stretch>
                  <a:fillRect b="-487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2450E9E-3F0F-2E43-8BAA-C53B8C7E7A53}"/>
                  </a:ext>
                </a:extLst>
              </p:cNvPr>
              <p:cNvSpPr txBox="1"/>
              <p:nvPr/>
            </p:nvSpPr>
            <p:spPr>
              <a:xfrm>
                <a:off x="3429000" y="3810000"/>
                <a:ext cx="1143000" cy="6096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latin typeface="Cambria Math"/>
                        </a:rPr>
                        <m:t>𝑣</m:t>
                      </m:r>
                      <m:r>
                        <a:rPr lang="en-US" sz="2400" b="0" i="0">
                          <a:latin typeface="Cambria Math"/>
                        </a:rPr>
                        <m:t> =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2450E9E-3F0F-2E43-8BAA-C53B8C7E7A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0" y="3810000"/>
                <a:ext cx="1143000" cy="609600"/>
              </a:xfrm>
              <a:prstGeom prst="rect">
                <a:avLst/>
              </a:prstGeom>
              <a:blipFill>
                <a:blip r:embed="rId5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D6668EB-5DB6-134F-9714-A2B65603DFF6}"/>
                  </a:ext>
                </a:extLst>
              </p:cNvPr>
              <p:cNvSpPr txBox="1"/>
              <p:nvPr/>
            </p:nvSpPr>
            <p:spPr>
              <a:xfrm>
                <a:off x="4597400" y="3606800"/>
                <a:ext cx="1143000" cy="1016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 b="1" i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1" i="0">
                                    <a:latin typeface="Cambria Math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D6668EB-5DB6-134F-9714-A2B65603DF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7400" y="3606800"/>
                <a:ext cx="1143000" cy="1016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12616C6-A5C8-364B-BAF4-3C6ECE3B2ADB}"/>
              </a:ext>
            </a:extLst>
          </p:cNvPr>
          <p:cNvSpPr/>
          <p:nvPr/>
        </p:nvSpPr>
        <p:spPr>
          <a:xfrm>
            <a:off x="1397000" y="5054600"/>
            <a:ext cx="9398000" cy="812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BA012F0-4EAD-C24B-9765-2D56A74D80F5}"/>
                  </a:ext>
                </a:extLst>
              </p:cNvPr>
              <p:cNvSpPr txBox="1"/>
              <p:nvPr/>
            </p:nvSpPr>
            <p:spPr>
              <a:xfrm>
                <a:off x="1651000" y="5232400"/>
                <a:ext cx="8890000" cy="508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0">
                          <a:solidFill>
                            <a:srgbClr val="FFFFFF"/>
                          </a:solidFill>
                          <a:latin typeface="Cambria Math"/>
                        </a:rPr>
                        <m:t>𝐸𝑖𝑔𝑒𝑛𝑝𝑎𝑖𝑟𝑠</m:t>
                      </m:r>
                      <m:r>
                        <a:rPr lang="en-US" sz="1800" b="0" i="0">
                          <a:solidFill>
                            <a:srgbClr val="FFFFFF"/>
                          </a:solidFill>
                          <a:latin typeface="Cambria Math"/>
                        </a:rPr>
                        <m:t>:   </m:t>
                      </m:r>
                      <m:r>
                        <a:rPr lang="en-US" sz="1800" b="0" i="1">
                          <a:solidFill>
                            <a:srgbClr val="FFFFFF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sz="1800" b="0" i="0">
                          <a:solidFill>
                            <a:srgbClr val="FFFFFF"/>
                          </a:solidFill>
                          <a:latin typeface="Cambria Math"/>
                        </a:rPr>
                        <m:t> = 3  →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1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800" b="1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800" b="1" i="0">
                                    <a:solidFill>
                                      <a:srgbClr val="FFFFFF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800" b="1" i="0">
                                    <a:solidFill>
                                      <a:srgbClr val="FFFFFF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800" b="0" i="0">
                          <a:solidFill>
                            <a:srgbClr val="FFFFFF"/>
                          </a:solidFill>
                          <a:latin typeface="Cambria Math"/>
                        </a:rPr>
                        <m:t>          </m:t>
                      </m:r>
                      <m:r>
                        <a:rPr lang="en-US" sz="1800" b="0" i="1">
                          <a:solidFill>
                            <a:srgbClr val="FFFFFF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sz="1800" b="0" i="0">
                          <a:solidFill>
                            <a:srgbClr val="FFFFFF"/>
                          </a:solidFill>
                          <a:latin typeface="Cambria Math"/>
                        </a:rPr>
                        <m:t> = 1  →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1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800" b="1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800" b="1" i="0">
                                    <a:solidFill>
                                      <a:srgbClr val="FFFFFF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800" b="1" i="0">
                                    <a:solidFill>
                                      <a:srgbClr val="FFFFFF"/>
                                    </a:solidFill>
                                    <a:latin typeface="Cambria Math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BA012F0-4EAD-C24B-9765-2D56A74D80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1000" y="5232400"/>
                <a:ext cx="8890000" cy="508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80398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BB90D8B-D078-8945-8462-1F3894555572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4F2F1E-8F4C-9D4C-AC94-C785F6697BD4}"/>
              </a:ext>
            </a:extLst>
          </p:cNvPr>
          <p:cNvSpPr txBox="1"/>
          <p:nvPr/>
        </p:nvSpPr>
        <p:spPr>
          <a:xfrm>
            <a:off x="762000" y="685800"/>
            <a:ext cx="8890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Example 2 (3×3) — Step 1: The Setup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27220DF-49AA-A647-99F3-3EBE28D1D9F0}"/>
              </a:ext>
            </a:extLst>
          </p:cNvPr>
          <p:cNvSpPr/>
          <p:nvPr/>
        </p:nvSpPr>
        <p:spPr>
          <a:xfrm>
            <a:off x="9931400" y="711200"/>
            <a:ext cx="14986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Step 1 / 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D4E58D-B83D-C944-A3C7-2493D9629D6B}"/>
              </a:ext>
            </a:extLst>
          </p:cNvPr>
          <p:cNvSpPr txBox="1"/>
          <p:nvPr/>
        </p:nvSpPr>
        <p:spPr>
          <a:xfrm>
            <a:off x="762000" y="1320800"/>
            <a:ext cx="10668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Same recipe in 3-D: solve A v = </a:t>
            </a:r>
            <a:r>
              <a:rPr lang="el-GR" sz="1600">
                <a:solidFill>
                  <a:srgbClr val="333333"/>
                </a:solidFill>
              </a:rPr>
              <a:t>λ </a:t>
            </a:r>
            <a:r>
              <a:rPr lang="en-US" sz="1600">
                <a:solidFill>
                  <a:srgbClr val="333333"/>
                </a:solidFill>
              </a:rPr>
              <a:t>v through det(A − </a:t>
            </a:r>
            <a:r>
              <a:rPr lang="el-GR" sz="1600">
                <a:solidFill>
                  <a:srgbClr val="333333"/>
                </a:solidFill>
              </a:rPr>
              <a:t>λ</a:t>
            </a:r>
            <a:r>
              <a:rPr lang="en-US" sz="1600">
                <a:solidFill>
                  <a:srgbClr val="333333"/>
                </a:solidFill>
              </a:rPr>
              <a:t>I) = 0.  (A is a companion matrix.)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CD7177B-6D2C-3649-98B7-0C6D8F7EBD66}"/>
              </a:ext>
            </a:extLst>
          </p:cNvPr>
          <p:cNvSpPr/>
          <p:nvPr/>
        </p:nvSpPr>
        <p:spPr>
          <a:xfrm>
            <a:off x="762000" y="1930400"/>
            <a:ext cx="106680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9D1555A-BF30-9947-846A-E70676A5FF81}"/>
                  </a:ext>
                </a:extLst>
              </p:cNvPr>
              <p:cNvSpPr txBox="1"/>
              <p:nvPr/>
            </p:nvSpPr>
            <p:spPr>
              <a:xfrm>
                <a:off x="1524000" y="2895600"/>
                <a:ext cx="889000" cy="508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1" i="1">
                              <a:latin typeface="Cambria Math"/>
                            </a:rPr>
                            <m:t>𝐴</m:t>
                          </m:r>
                          <m:r>
                            <a:rPr lang="en-US" sz="2400" b="0" i="0">
                              <a:latin typeface="Cambria Math"/>
                            </a:rPr>
                            <m:t> =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A =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9D1555A-BF30-9947-846A-E70676A5FF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2895600"/>
                <a:ext cx="889000" cy="508000"/>
              </a:xfrm>
              <a:prstGeom prst="rect">
                <a:avLst/>
              </a:prstGeom>
              <a:blipFill>
                <a:blip r:embed="rId2"/>
                <a:stretch>
                  <a:fillRect b="-1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43BC4C1-48C7-E847-9C7E-3DA68D0856FB}"/>
                  </a:ext>
                </a:extLst>
              </p:cNvPr>
              <p:cNvSpPr txBox="1"/>
              <p:nvPr/>
            </p:nvSpPr>
            <p:spPr>
              <a:xfrm>
                <a:off x="2489200" y="2489200"/>
                <a:ext cx="2794000" cy="1524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["/>
                              <m:endChr m:val="]"/>
                              <m:ctrlPr>
                                <a:rPr lang="en-US" sz="22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200" b="1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2200" b="1" i="0"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200" b="1" i="0"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sz="2200" b="1" i="0"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200" b="1" i="0"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200" b="1" i="0"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200" b="1" i="0"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200" b="1" i="0">
                                        <a:latin typeface="Cambria Math"/>
                                      </a:rPr>
                                      <m:t>6</m:t>
                                    </m:r>
                                  </m:e>
                                  <m:e>
                                    <m:r>
                                      <a:rPr lang="en-US" sz="2200" b="1" i="0">
                                        <a:latin typeface="Cambria Math"/>
                                      </a:rPr>
                                      <m:t>−11</m:t>
                                    </m:r>
                                  </m:e>
                                  <m:e>
                                    <m:r>
                                      <a:rPr lang="en-US" sz="2200" b="1" i="0">
                                        <a:latin typeface="Cambria Math"/>
                                      </a:rPr>
                                      <m:t>6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A matrix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43BC4C1-48C7-E847-9C7E-3DA68D0856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9200" y="2489200"/>
                <a:ext cx="2794000" cy="1524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19F702A-8D7C-494B-A719-2C23277E8B5C}"/>
                  </a:ext>
                </a:extLst>
              </p:cNvPr>
              <p:cNvSpPr txBox="1"/>
              <p:nvPr/>
            </p:nvSpPr>
            <p:spPr>
              <a:xfrm>
                <a:off x="5969000" y="2692400"/>
                <a:ext cx="4826000" cy="508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1" i="1">
                              <a:latin typeface="Cambria Math"/>
                            </a:rPr>
                            <m:t>𝐴</m:t>
                          </m:r>
                          <m:r>
                            <a:rPr lang="en-US" sz="2400" b="0" i="0">
                              <a:latin typeface="Cambria Math"/>
                            </a:rPr>
                            <m:t> </m:t>
                          </m:r>
                          <m:r>
                            <a:rPr lang="en-US" sz="2400" b="1" i="1">
                              <a:latin typeface="Cambria Math"/>
                            </a:rPr>
                            <m:t>𝑣</m:t>
                          </m:r>
                          <m:r>
                            <a:rPr lang="en-US" sz="2400" b="0" i="0">
                              <a:latin typeface="Cambria Math"/>
                            </a:rPr>
                            <m:t> = </m:t>
                          </m:r>
                          <m:r>
                            <a:rPr lang="en-US" sz="2400" b="0" i="1">
                              <a:latin typeface="Cambria Math"/>
                            </a:rPr>
                            <m:t>𝜆</m:t>
                          </m:r>
                          <m:r>
                            <a:rPr lang="en-US" sz="2400" b="0" i="0">
                              <a:latin typeface="Cambria Math"/>
                            </a:rPr>
                            <m:t> </m:t>
                          </m:r>
                          <m:r>
                            <a:rPr lang="en-US" sz="2400" b="1" i="1">
                              <a:latin typeface="Cambria Math"/>
                            </a:rPr>
                            <m:t>𝑣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Av = λv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19F702A-8D7C-494B-A719-2C23277E8B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9000" y="2692400"/>
                <a:ext cx="4826000" cy="508000"/>
              </a:xfrm>
              <a:prstGeom prst="rect">
                <a:avLst/>
              </a:prstGeom>
              <a:blipFill>
                <a:blip r:embed="rId4"/>
                <a:stretch>
                  <a:fillRect b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9B84EAC-7DF1-AB4C-802F-4477CBBB6D7A}"/>
                  </a:ext>
                </a:extLst>
              </p:cNvPr>
              <p:cNvSpPr txBox="1"/>
              <p:nvPr/>
            </p:nvSpPr>
            <p:spPr>
              <a:xfrm>
                <a:off x="5969000" y="3302000"/>
                <a:ext cx="5080000" cy="508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0">
                              <a:latin typeface="Cambria Math"/>
                            </a:rPr>
                            <m:t>(</m:t>
                          </m:r>
                          <m:r>
                            <a:rPr lang="en-US" sz="2400" b="1" i="1">
                              <a:latin typeface="Cambria Math"/>
                            </a:rPr>
                            <m:t>𝐴</m:t>
                          </m:r>
                          <m:r>
                            <a:rPr lang="en-US" sz="2400" b="0" i="0">
                              <a:latin typeface="Cambria Math"/>
                            </a:rPr>
                            <m:t> − </m:t>
                          </m:r>
                          <m:r>
                            <a:rPr lang="en-US" sz="2400" b="0" i="1">
                              <a:latin typeface="Cambria Math"/>
                            </a:rPr>
                            <m:t>𝜆</m:t>
                          </m:r>
                          <m:r>
                            <a:rPr lang="en-US" sz="2400" b="1" i="1">
                              <a:latin typeface="Cambria Math"/>
                            </a:rPr>
                            <m:t>𝐼</m:t>
                          </m:r>
                          <m:r>
                            <a:rPr lang="en-US" sz="2400" b="0" i="0">
                              <a:latin typeface="Cambria Math"/>
                            </a:rPr>
                            <m:t>) </m:t>
                          </m:r>
                          <m:r>
                            <a:rPr lang="en-US" sz="2400" b="1" i="1">
                              <a:latin typeface="Cambria Math"/>
                            </a:rPr>
                            <m:t>𝑣</m:t>
                          </m:r>
                          <m:r>
                            <a:rPr lang="en-US" sz="2400" b="0" i="0">
                              <a:latin typeface="Cambria Math"/>
                            </a:rPr>
                            <m:t> = 0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(A-λI)v=0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9B84EAC-7DF1-AB4C-802F-4477CBBB6D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9000" y="3302000"/>
                <a:ext cx="5080000" cy="508000"/>
              </a:xfrm>
              <a:prstGeom prst="rect">
                <a:avLst/>
              </a:prstGeom>
              <a:blipFill>
                <a:blip r:embed="rId5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8B219E5C-9F9C-9941-AEAB-5497D741C22C}"/>
              </a:ext>
            </a:extLst>
          </p:cNvPr>
          <p:cNvSpPr txBox="1"/>
          <p:nvPr/>
        </p:nvSpPr>
        <p:spPr>
          <a:xfrm>
            <a:off x="1524000" y="5181600"/>
            <a:ext cx="93980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i="1">
                <a:solidFill>
                  <a:srgbClr val="00A7B5"/>
                </a:solidFill>
              </a:rPr>
              <a:t>det( A − </a:t>
            </a:r>
            <a:r>
              <a:rPr lang="el-GR" i="1">
                <a:solidFill>
                  <a:srgbClr val="00A7B5"/>
                </a:solidFill>
              </a:rPr>
              <a:t>λ</a:t>
            </a:r>
            <a:r>
              <a:rPr lang="en-US" i="1">
                <a:solidFill>
                  <a:srgbClr val="00A7B5"/>
                </a:solidFill>
              </a:rPr>
              <a:t>I ) = 0  now expands into a cubic — it will have three eigenvalues.</a:t>
            </a:r>
          </a:p>
        </p:txBody>
      </p:sp>
    </p:spTree>
    <p:extLst>
      <p:ext uri="{BB962C8B-B14F-4D97-AF65-F5344CB8AC3E}">
        <p14:creationId xmlns:p14="http://schemas.microsoft.com/office/powerpoint/2010/main" val="41697364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6F992DF-E0F2-B342-81C7-46509AB39E3A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8611DA-2568-0D4B-B722-3C2C25FD4ADE}"/>
              </a:ext>
            </a:extLst>
          </p:cNvPr>
          <p:cNvSpPr txBox="1"/>
          <p:nvPr/>
        </p:nvSpPr>
        <p:spPr>
          <a:xfrm>
            <a:off x="762000" y="685800"/>
            <a:ext cx="8890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Example 2 (3×3) — Step 2: Form A − </a:t>
            </a:r>
            <a:r>
              <a:rPr lang="el-GR" sz="2600" b="1">
                <a:solidFill>
                  <a:srgbClr val="4B2E83"/>
                </a:solidFill>
              </a:rPr>
              <a:t>λ</a:t>
            </a:r>
            <a:r>
              <a:rPr lang="en-US" sz="2600" b="1">
                <a:solidFill>
                  <a:srgbClr val="4B2E83"/>
                </a:solidFill>
              </a:rPr>
              <a:t>I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ADB7676-E278-A242-A492-8F66778CDB8B}"/>
              </a:ext>
            </a:extLst>
          </p:cNvPr>
          <p:cNvSpPr/>
          <p:nvPr/>
        </p:nvSpPr>
        <p:spPr>
          <a:xfrm>
            <a:off x="9931400" y="711200"/>
            <a:ext cx="14986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Step 2 / 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148ABD-060A-0A4F-85D7-8EB3B330A07E}"/>
              </a:ext>
            </a:extLst>
          </p:cNvPr>
          <p:cNvSpPr txBox="1"/>
          <p:nvPr/>
        </p:nvSpPr>
        <p:spPr>
          <a:xfrm>
            <a:off x="762000" y="1320800"/>
            <a:ext cx="10668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Subtract </a:t>
            </a:r>
            <a:r>
              <a:rPr lang="el-GR" sz="1600">
                <a:solidFill>
                  <a:srgbClr val="333333"/>
                </a:solidFill>
              </a:rPr>
              <a:t>λ </a:t>
            </a:r>
            <a:r>
              <a:rPr lang="en-US" sz="1600">
                <a:solidFill>
                  <a:srgbClr val="333333"/>
                </a:solidFill>
              </a:rPr>
              <a:t>from each diagonal entry.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AEE10EF-89A7-7B4A-9D9A-6D9881DC55FA}"/>
              </a:ext>
            </a:extLst>
          </p:cNvPr>
          <p:cNvSpPr/>
          <p:nvPr/>
        </p:nvSpPr>
        <p:spPr>
          <a:xfrm>
            <a:off x="762000" y="1930400"/>
            <a:ext cx="106680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A10FD35-F4F5-5C4A-BB7C-794CD918F5E8}"/>
                  </a:ext>
                </a:extLst>
              </p:cNvPr>
              <p:cNvSpPr txBox="1"/>
              <p:nvPr/>
            </p:nvSpPr>
            <p:spPr>
              <a:xfrm>
                <a:off x="2159000" y="3149600"/>
                <a:ext cx="2286000" cy="508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latin typeface="Cambria Math"/>
                        </a:rPr>
                        <m:t>𝐴</m:t>
                      </m:r>
                      <m:r>
                        <a:rPr lang="en-US" sz="2400" b="0" i="0">
                          <a:latin typeface="Cambria Math"/>
                        </a:rPr>
                        <m:t> − </m:t>
                      </m:r>
                      <m:r>
                        <a:rPr lang="en-US" sz="2400" b="0" i="1">
                          <a:latin typeface="Cambria Math"/>
                        </a:rPr>
                        <m:t>𝜆</m:t>
                      </m:r>
                      <m:r>
                        <a:rPr lang="en-US" sz="2400" b="1" i="1">
                          <a:latin typeface="Cambria Math"/>
                        </a:rPr>
                        <m:t>𝐼</m:t>
                      </m:r>
                      <m:r>
                        <a:rPr lang="en-US" sz="2400" b="0" i="0">
                          <a:latin typeface="Cambria Math"/>
                        </a:rPr>
                        <m:t> =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A10FD35-F4F5-5C4A-BB7C-794CD918F5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9000" y="3149600"/>
                <a:ext cx="2286000" cy="508000"/>
              </a:xfrm>
              <a:prstGeom prst="rect">
                <a:avLst/>
              </a:prstGeom>
              <a:blipFill>
                <a:blip r:embed="rId2"/>
                <a:stretch>
                  <a:fillRect b="-1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1795D81-F234-0347-84D9-A7D726E716E0}"/>
                  </a:ext>
                </a:extLst>
              </p:cNvPr>
              <p:cNvSpPr txBox="1"/>
              <p:nvPr/>
            </p:nvSpPr>
            <p:spPr>
              <a:xfrm>
                <a:off x="4826000" y="2692400"/>
                <a:ext cx="4064000" cy="1524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200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200" b="1" i="0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US" sz="2200" b="1" i="0">
                                    <a:latin typeface="Cambria Math"/>
                                  </a:rPr>
                                  <m:t>𝜆</m:t>
                                </m:r>
                              </m:e>
                              <m:e>
                                <m:r>
                                  <a:rPr lang="en-US" sz="2200" b="1" i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200" b="1" i="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200" b="1" i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200" b="1" i="0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US" sz="2200" b="1" i="0">
                                    <a:latin typeface="Cambria Math"/>
                                  </a:rPr>
                                  <m:t>𝜆</m:t>
                                </m:r>
                              </m:e>
                              <m:e>
                                <m:r>
                                  <a:rPr lang="en-US" sz="2200" b="1" i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200" b="1" i="0">
                                    <a:latin typeface="Cambria Math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US" sz="2200" b="1" i="0">
                                    <a:latin typeface="Cambria Math"/>
                                  </a:rPr>
                                  <m:t>−11</m:t>
                                </m:r>
                              </m:e>
                              <m:e>
                                <m:r>
                                  <a:rPr lang="en-US" sz="2200" b="1" i="0">
                                    <a:latin typeface="Cambria Math"/>
                                  </a:rPr>
                                  <m:t>6−</m:t>
                                </m:r>
                                <m:r>
                                  <a:rPr lang="en-US" sz="2200" b="1" i="0">
                                    <a:latin typeface="Cambria Math"/>
                                  </a:rPr>
                                  <m:t>𝜆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1795D81-F234-0347-84D9-A7D726E716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6000" y="2692400"/>
                <a:ext cx="4064000" cy="1524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A9640D4F-598A-0D4D-BA8F-D770DE0FCDC9}"/>
              </a:ext>
            </a:extLst>
          </p:cNvPr>
          <p:cNvSpPr txBox="1"/>
          <p:nvPr/>
        </p:nvSpPr>
        <p:spPr>
          <a:xfrm>
            <a:off x="2159000" y="5207000"/>
            <a:ext cx="86360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i="1">
                <a:solidFill>
                  <a:srgbClr val="00A7B5"/>
                </a:solidFill>
              </a:rPr>
              <a:t>Next: expand this determinant by cofactors down the first column.</a:t>
            </a:r>
          </a:p>
        </p:txBody>
      </p:sp>
    </p:spTree>
    <p:extLst>
      <p:ext uri="{BB962C8B-B14F-4D97-AF65-F5344CB8AC3E}">
        <p14:creationId xmlns:p14="http://schemas.microsoft.com/office/powerpoint/2010/main" val="961496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4FBF870-AC7E-8A44-B740-527AD6B6905F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FC5D3F-EEC9-0A4F-9418-7DF5D15C89D0}"/>
              </a:ext>
            </a:extLst>
          </p:cNvPr>
          <p:cNvSpPr txBox="1"/>
          <p:nvPr/>
        </p:nvSpPr>
        <p:spPr>
          <a:xfrm>
            <a:off x="762000" y="685800"/>
            <a:ext cx="8890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Example 2 (3×3) — Step 3: Expand the Determinant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6CC8F4A-B572-6B4F-9AA3-8500E355087E}"/>
              </a:ext>
            </a:extLst>
          </p:cNvPr>
          <p:cNvSpPr/>
          <p:nvPr/>
        </p:nvSpPr>
        <p:spPr>
          <a:xfrm>
            <a:off x="9931400" y="711200"/>
            <a:ext cx="14986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Step 3 / 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D98835-148C-A649-AD4C-429C09B7A594}"/>
              </a:ext>
            </a:extLst>
          </p:cNvPr>
          <p:cNvSpPr txBox="1"/>
          <p:nvPr/>
        </p:nvSpPr>
        <p:spPr>
          <a:xfrm>
            <a:off x="762000" y="1320800"/>
            <a:ext cx="10668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Cofactor expansion down column 1; the middle entry is 0, so it drops out.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EF6A9EE-2EFC-1A4E-A9FF-19974C452568}"/>
              </a:ext>
            </a:extLst>
          </p:cNvPr>
          <p:cNvSpPr/>
          <p:nvPr/>
        </p:nvSpPr>
        <p:spPr>
          <a:xfrm>
            <a:off x="762000" y="1930400"/>
            <a:ext cx="106680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936F6B3-C6FE-4745-91E3-488F26F850D6}"/>
                  </a:ext>
                </a:extLst>
              </p:cNvPr>
              <p:cNvSpPr txBox="1"/>
              <p:nvPr/>
            </p:nvSpPr>
            <p:spPr>
              <a:xfrm>
                <a:off x="1397000" y="2540000"/>
                <a:ext cx="9652000" cy="2794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900" b="0" i="1">
                          <a:solidFill>
                            <a:srgbClr val="333333"/>
                          </a:solidFill>
                          <a:latin typeface="Cambria Math"/>
                        </a:rPr>
                        <m:t>𝑑𝑒𝑡</m:t>
                      </m:r>
                      <m:r>
                        <a:rPr lang="en-US" sz="1900" b="0" i="0">
                          <a:solidFill>
                            <a:srgbClr val="333333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1900" b="1" i="1">
                          <a:solidFill>
                            <a:srgbClr val="333333"/>
                          </a:solidFill>
                          <a:latin typeface="Cambria Math"/>
                        </a:rPr>
                        <m:t>𝐴</m:t>
                      </m:r>
                      <m:r>
                        <a:rPr lang="en-US" sz="1900" b="0" i="0">
                          <a:solidFill>
                            <a:srgbClr val="333333"/>
                          </a:solidFill>
                          <a:latin typeface="Cambria Math"/>
                        </a:rPr>
                        <m:t> − </m:t>
                      </m:r>
                      <m:r>
                        <a:rPr lang="en-US" sz="1900" b="0" i="1">
                          <a:solidFill>
                            <a:srgbClr val="333333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sz="1900" b="1" i="1">
                          <a:solidFill>
                            <a:srgbClr val="333333"/>
                          </a:solidFill>
                          <a:latin typeface="Cambria Math"/>
                        </a:rPr>
                        <m:t>𝐼</m:t>
                      </m:r>
                      <m:r>
                        <a:rPr lang="en-US" sz="1900" b="0" i="0">
                          <a:solidFill>
                            <a:srgbClr val="333333"/>
                          </a:solidFill>
                          <a:latin typeface="Cambria Math"/>
                        </a:rPr>
                        <m:t>)  =  (−</m:t>
                      </m:r>
                      <m:r>
                        <a:rPr lang="en-US" sz="1900" b="0" i="1">
                          <a:solidFill>
                            <a:srgbClr val="333333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sz="1900" b="0" i="0">
                          <a:solidFill>
                            <a:srgbClr val="333333"/>
                          </a:solidFill>
                          <a:latin typeface="Cambria Math"/>
                        </a:rPr>
                        <m:t>)·[ (−</m:t>
                      </m:r>
                      <m:r>
                        <a:rPr lang="en-US" sz="1900" b="0" i="1">
                          <a:solidFill>
                            <a:srgbClr val="333333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sz="1900" b="0" i="0">
                          <a:solidFill>
                            <a:srgbClr val="333333"/>
                          </a:solidFill>
                          <a:latin typeface="Cambria Math"/>
                        </a:rPr>
                        <m:t>)(6 − </m:t>
                      </m:r>
                      <m:r>
                        <a:rPr lang="en-US" sz="1900" b="0" i="1">
                          <a:solidFill>
                            <a:srgbClr val="333333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sz="1900" b="0" i="0">
                          <a:solidFill>
                            <a:srgbClr val="333333"/>
                          </a:solidFill>
                          <a:latin typeface="Cambria Math"/>
                        </a:rPr>
                        <m:t>) − (1)(−11) ]  +  6·[ (1)(1) − 0 ]</m:t>
                      </m:r>
                    </m:oMath>
                  </m:oMathPara>
                </a14:m>
                <a:endParaRPr/>
              </a:p>
              <a:p>
                <a:pPr algn="l">
                  <a:spcBef>
                    <a:spcPts val="1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b="0" i="0">
                          <a:solidFill>
                            <a:srgbClr val="333333"/>
                          </a:solidFill>
                          <a:latin typeface="Cambria Math"/>
                        </a:rPr>
                        <m:t>=  (−</m:t>
                      </m:r>
                      <m:r>
                        <a:rPr lang="en-US" sz="2100" b="0" i="1">
                          <a:solidFill>
                            <a:srgbClr val="333333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sz="2100" b="0" i="0">
                          <a:solidFill>
                            <a:srgbClr val="333333"/>
                          </a:solidFill>
                          <a:latin typeface="Cambria Math"/>
                        </a:rPr>
                        <m:t>)( </m:t>
                      </m:r>
                      <m:sSup>
                        <m:sSup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1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𝜆</m:t>
                          </m:r>
                        </m:e>
                        <m:sup>
                          <m:r>
                            <a:rPr lang="en-US" sz="13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100" b="0" i="0">
                          <a:solidFill>
                            <a:srgbClr val="333333"/>
                          </a:solidFill>
                          <a:latin typeface="Cambria Math"/>
                        </a:rPr>
                        <m:t> − 6</m:t>
                      </m:r>
                      <m:r>
                        <a:rPr lang="en-US" sz="2100" b="0" i="1">
                          <a:solidFill>
                            <a:srgbClr val="333333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sz="2100" b="0" i="0">
                          <a:solidFill>
                            <a:srgbClr val="333333"/>
                          </a:solidFill>
                          <a:latin typeface="Cambria Math"/>
                        </a:rPr>
                        <m:t> + 11 )  +  6</m:t>
                      </m:r>
                    </m:oMath>
                  </m:oMathPara>
                </a14:m>
                <a:endParaRPr/>
              </a:p>
              <a:p>
                <a:pPr algn="l">
                  <a:spcBef>
                    <a:spcPts val="1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b="0" i="0">
                          <a:solidFill>
                            <a:srgbClr val="333333"/>
                          </a:solidFill>
                          <a:latin typeface="Cambria Math"/>
                        </a:rPr>
                        <m:t>=  −</m:t>
                      </m:r>
                      <m:sSup>
                        <m:sSup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1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𝜆</m:t>
                          </m:r>
                        </m:e>
                        <m:sup>
                          <m:r>
                            <a:rPr lang="en-US" sz="13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3</m:t>
                          </m:r>
                        </m:sup>
                      </m:sSup>
                      <m:r>
                        <a:rPr lang="en-US" sz="2100" b="0" i="0">
                          <a:solidFill>
                            <a:srgbClr val="333333"/>
                          </a:solidFill>
                          <a:latin typeface="Cambria Math"/>
                        </a:rPr>
                        <m:t> + 6</m:t>
                      </m:r>
                      <m:sSup>
                        <m:sSup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1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𝜆</m:t>
                          </m:r>
                        </m:e>
                        <m:sup>
                          <m:r>
                            <a:rPr lang="en-US" sz="13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100" b="0" i="0">
                          <a:solidFill>
                            <a:srgbClr val="333333"/>
                          </a:solidFill>
                          <a:latin typeface="Cambria Math"/>
                        </a:rPr>
                        <m:t> − 11</m:t>
                      </m:r>
                      <m:r>
                        <a:rPr lang="en-US" sz="2100" b="0" i="1">
                          <a:solidFill>
                            <a:srgbClr val="333333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sz="2100" b="0" i="0">
                          <a:solidFill>
                            <a:srgbClr val="333333"/>
                          </a:solidFill>
                          <a:latin typeface="Cambria Math"/>
                        </a:rPr>
                        <m:t> + 6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936F6B3-C6FE-4745-91E3-488F26F850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7000" y="2540000"/>
                <a:ext cx="9652000" cy="2794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77147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8B337AB-1F42-FD44-8BB2-F535D774DE0A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4846BF-3950-EE49-996F-25297A676D79}"/>
              </a:ext>
            </a:extLst>
          </p:cNvPr>
          <p:cNvSpPr txBox="1"/>
          <p:nvPr/>
        </p:nvSpPr>
        <p:spPr>
          <a:xfrm>
            <a:off x="762000" y="685800"/>
            <a:ext cx="8890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Example 2 (3×3) — Step 4: Solve the Cubic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51783E4-2023-4F4C-928D-54D527C3260A}"/>
              </a:ext>
            </a:extLst>
          </p:cNvPr>
          <p:cNvSpPr/>
          <p:nvPr/>
        </p:nvSpPr>
        <p:spPr>
          <a:xfrm>
            <a:off x="9931400" y="711200"/>
            <a:ext cx="14986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Step 4 / 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0AE670-3446-7440-B4C4-D51BBD64FC5C}"/>
              </a:ext>
            </a:extLst>
          </p:cNvPr>
          <p:cNvSpPr txBox="1"/>
          <p:nvPr/>
        </p:nvSpPr>
        <p:spPr>
          <a:xfrm>
            <a:off x="762000" y="1320800"/>
            <a:ext cx="10668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Find one integer root, then factor the cubic completely.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68D4C41-8075-334E-8107-EA89119EC7EC}"/>
              </a:ext>
            </a:extLst>
          </p:cNvPr>
          <p:cNvSpPr/>
          <p:nvPr/>
        </p:nvSpPr>
        <p:spPr>
          <a:xfrm>
            <a:off x="762000" y="1930400"/>
            <a:ext cx="106680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EC993BB-6120-C345-A2BC-533E9C019D1E}"/>
                  </a:ext>
                </a:extLst>
              </p:cNvPr>
              <p:cNvSpPr txBox="1"/>
              <p:nvPr/>
            </p:nvSpPr>
            <p:spPr>
              <a:xfrm>
                <a:off x="1397000" y="2463800"/>
                <a:ext cx="9652000" cy="2413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000" b="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en-US" sz="1240" b="0" i="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+ 6</m:t>
                          </m:r>
                          <m:sSup>
                            <m:sSupPr>
                              <m:ctrlPr>
                                <a:rPr lang="en-US" sz="2000" b="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en-US" sz="1240" b="0" i="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− 11</m:t>
                          </m:r>
                          <m:r>
                            <a:rPr lang="en-US" sz="20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𝜆</m:t>
                          </m:r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+ 6 = 0    ⇒    </m:t>
                          </m:r>
                          <m:sSup>
                            <m:sSupPr>
                              <m:ctrlPr>
                                <a:rPr lang="en-US" sz="2000" b="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en-US" sz="1240" b="0" i="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− 6</m:t>
                          </m:r>
                          <m:sSup>
                            <m:sSupPr>
                              <m:ctrlPr>
                                <a:rPr lang="en-US" sz="2000" b="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en-US" sz="1240" b="0" i="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+ 11</m:t>
                          </m:r>
                          <m:r>
                            <a:rPr lang="en-US" sz="20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𝜆</m:t>
                          </m:r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− 6 = 0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−λ³+6λ²−11λ+6=0 ⇒ λ³−6λ²+11λ−6=0</a:t>
                    </a:r>
                  </mc:Fallback>
                </mc:AlternateContent>
                <a:endParaRPr/>
              </a:p>
              <a:p>
                <a:pPr algn="l">
                  <a:spcBef>
                    <a:spcPts val="800"/>
                  </a:spcBef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𝑇𝑟𝑦</m:t>
                          </m:r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sz="20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𝜆</m:t>
                          </m:r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= 1:   1 − 6 + 11 − 6 = 0  ✓    </m:t>
                          </m:r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𝑠𝑜</m:t>
                          </m:r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(</m:t>
                          </m:r>
                          <m:r>
                            <a:rPr lang="en-US" sz="20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𝜆</m:t>
                          </m:r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− 1) </m:t>
                          </m:r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𝑖𝑠</m:t>
                          </m:r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𝑎</m:t>
                          </m:r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𝑓𝑎𝑐𝑡𝑜𝑟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Try λ=1: 0 ✓ so (λ−1) is a factor</a:t>
                    </a:r>
                  </mc:Fallback>
                </mc:AlternateContent>
                <a:endParaRPr/>
              </a:p>
              <a:p>
                <a:pPr algn="l">
                  <a:spcBef>
                    <a:spcPts val="800"/>
                  </a:spcBef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sz="2000" b="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en-US" sz="1240" b="0" i="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− 6</m:t>
                          </m:r>
                          <m:sSup>
                            <m:sSupPr>
                              <m:ctrlPr>
                                <a:rPr lang="en-US" sz="2000" b="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en-US" sz="1240" b="0" i="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+ 11</m:t>
                          </m:r>
                          <m:r>
                            <a:rPr lang="en-US" sz="20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𝜆</m:t>
                          </m:r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− 6 = (</m:t>
                          </m:r>
                          <m:r>
                            <a:rPr lang="en-US" sz="20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𝜆</m:t>
                          </m:r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− 1)(</m:t>
                          </m:r>
                          <m:r>
                            <a:rPr lang="en-US" sz="20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𝜆</m:t>
                          </m:r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− 2)(</m:t>
                          </m:r>
                          <m:r>
                            <a:rPr lang="en-US" sz="20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𝜆</m:t>
                          </m:r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− 3) = 0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λ³−6λ²+11λ−6=(λ−1)(λ−2)(λ−3)=0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EC993BB-6120-C345-A2BC-533E9C019D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7000" y="2463800"/>
                <a:ext cx="9652000" cy="2413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B9C0669-13E8-F843-AC1E-357300CCAA8A}"/>
              </a:ext>
            </a:extLst>
          </p:cNvPr>
          <p:cNvSpPr/>
          <p:nvPr/>
        </p:nvSpPr>
        <p:spPr>
          <a:xfrm>
            <a:off x="1397000" y="5105400"/>
            <a:ext cx="9398000" cy="7112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B94C863-9259-854B-90E3-59A127E33A9E}"/>
                  </a:ext>
                </a:extLst>
              </p:cNvPr>
              <p:cNvSpPr txBox="1"/>
              <p:nvPr/>
            </p:nvSpPr>
            <p:spPr>
              <a:xfrm>
                <a:off x="1651000" y="5232400"/>
                <a:ext cx="8890000" cy="4572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ctr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rgbClr val="FFFFFF"/>
                                  </a:solidFill>
                                  <a:latin typeface="Cambria Math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1488" b="1" i="0">
                                  <a:solidFill>
                                    <a:srgbClr val="FFFFFF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1" i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 = 1      </m:t>
                          </m:r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rgbClr val="FFFFFF"/>
                                  </a:solidFill>
                                  <a:latin typeface="Cambria Math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1488" b="1" i="0">
                                  <a:solidFill>
                                    <a:srgbClr val="FFFFFF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b="1" i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 = 2      </m:t>
                          </m:r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rgbClr val="FFFFFF"/>
                                  </a:solidFill>
                                  <a:latin typeface="Cambria Math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1488" b="1" i="0">
                                  <a:solidFill>
                                    <a:srgbClr val="FFFFFF"/>
                                  </a:solidFill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b="1" i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 = 3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λ1=1  λ2=2  λ3=3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B94C863-9259-854B-90E3-59A127E33A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1000" y="5232400"/>
                <a:ext cx="8890000" cy="457200"/>
              </a:xfrm>
              <a:prstGeom prst="rect">
                <a:avLst/>
              </a:prstGeom>
              <a:blipFill>
                <a:blip r:embed="rId3"/>
                <a:stretch>
                  <a:fillRect b="-243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63956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E9D7FC4-7927-F644-9F6A-3ACCB6C5355E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8F7335-DF62-BC4A-8795-907B0459BB46}"/>
              </a:ext>
            </a:extLst>
          </p:cNvPr>
          <p:cNvSpPr txBox="1"/>
          <p:nvPr/>
        </p:nvSpPr>
        <p:spPr>
          <a:xfrm>
            <a:off x="762000" y="685800"/>
            <a:ext cx="8890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Example 2 (3×3) — Step 5: Eigenvector for </a:t>
            </a:r>
            <a:r>
              <a:rPr lang="el-GR" sz="2600" b="1">
                <a:solidFill>
                  <a:srgbClr val="4B2E83"/>
                </a:solidFill>
              </a:rPr>
              <a:t>λ = 1</a:t>
            </a:r>
            <a:endParaRPr lang="en-US" sz="2600" b="1">
              <a:solidFill>
                <a:srgbClr val="4B2E83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F2DFA99-DEC4-7346-A540-E8918FE8E7DB}"/>
              </a:ext>
            </a:extLst>
          </p:cNvPr>
          <p:cNvSpPr/>
          <p:nvPr/>
        </p:nvSpPr>
        <p:spPr>
          <a:xfrm>
            <a:off x="9931400" y="711200"/>
            <a:ext cx="14986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Step 5 / 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8FE8AA-A252-9742-B7EE-D03624F53F9F}"/>
              </a:ext>
            </a:extLst>
          </p:cNvPr>
          <p:cNvSpPr txBox="1"/>
          <p:nvPr/>
        </p:nvSpPr>
        <p:spPr>
          <a:xfrm>
            <a:off x="762000" y="1320800"/>
            <a:ext cx="10668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Solve (A − I)v = 0; the first two rows give a chain of substitutions.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D5303B3-0235-4B48-A3AA-F3178C9EA6B8}"/>
              </a:ext>
            </a:extLst>
          </p:cNvPr>
          <p:cNvSpPr/>
          <p:nvPr/>
        </p:nvSpPr>
        <p:spPr>
          <a:xfrm>
            <a:off x="762000" y="1930400"/>
            <a:ext cx="106680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1D19E86-8EFE-554B-8B31-F41068E03CC7}"/>
                  </a:ext>
                </a:extLst>
              </p:cNvPr>
              <p:cNvSpPr txBox="1"/>
              <p:nvPr/>
            </p:nvSpPr>
            <p:spPr>
              <a:xfrm>
                <a:off x="1397000" y="2921000"/>
                <a:ext cx="1905000" cy="508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solidFill>
                            <a:srgbClr val="333333"/>
                          </a:solidFill>
                          <a:latin typeface="Cambria Math"/>
                        </a:rPr>
                        <m:t>𝐴</m:t>
                      </m:r>
                      <m:r>
                        <a:rPr lang="en-US" sz="2400" b="0" i="0">
                          <a:solidFill>
                            <a:srgbClr val="333333"/>
                          </a:solidFill>
                          <a:latin typeface="Cambria Math"/>
                        </a:rPr>
                        <m:t> − </m:t>
                      </m:r>
                      <m:r>
                        <a:rPr lang="en-US" sz="2400" b="1" i="1">
                          <a:solidFill>
                            <a:srgbClr val="333333"/>
                          </a:solidFill>
                          <a:latin typeface="Cambria Math"/>
                        </a:rPr>
                        <m:t>𝐼</m:t>
                      </m:r>
                      <m:r>
                        <a:rPr lang="en-US" sz="2400" b="0" i="0">
                          <a:solidFill>
                            <a:srgbClr val="333333"/>
                          </a:solidFill>
                          <a:latin typeface="Cambria Math"/>
                        </a:rPr>
                        <m:t> =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1D19E86-8EFE-554B-8B31-F41068E03C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7000" y="2921000"/>
                <a:ext cx="1905000" cy="508000"/>
              </a:xfrm>
              <a:prstGeom prst="rect">
                <a:avLst/>
              </a:prstGeom>
              <a:blipFill>
                <a:blip r:embed="rId2"/>
                <a:stretch>
                  <a:fillRect b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3D5DCEF-E2B3-3B42-8F4A-644B144E1084}"/>
                  </a:ext>
                </a:extLst>
              </p:cNvPr>
              <p:cNvSpPr txBox="1"/>
              <p:nvPr/>
            </p:nvSpPr>
            <p:spPr>
              <a:xfrm>
                <a:off x="3429000" y="2514600"/>
                <a:ext cx="3048000" cy="1524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200" b="1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200" b="1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−11</m:t>
                                </m:r>
                              </m:e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3D5DCEF-E2B3-3B42-8F4A-644B144E10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0" y="2514600"/>
                <a:ext cx="3048000" cy="1524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2E68D6F-1937-5A4D-B2CF-F58B518F8C19}"/>
                  </a:ext>
                </a:extLst>
              </p:cNvPr>
              <p:cNvSpPr txBox="1"/>
              <p:nvPr/>
            </p:nvSpPr>
            <p:spPr>
              <a:xfrm>
                <a:off x="7112000" y="2768600"/>
                <a:ext cx="4064000" cy="1397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2000" b="0" i="1">
                          <a:solidFill>
                            <a:srgbClr val="333333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 + </m:t>
                      </m:r>
                      <m:r>
                        <a:rPr lang="en-US" sz="2000" b="0" i="1">
                          <a:solidFill>
                            <a:srgbClr val="333333"/>
                          </a:solidFill>
                          <a:latin typeface="Cambria Math"/>
                        </a:rPr>
                        <m:t>𝑦</m:t>
                      </m:r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 = 0   ⇒   </m:t>
                      </m:r>
                      <m:r>
                        <a:rPr lang="en-US" sz="2000" b="0" i="1">
                          <a:solidFill>
                            <a:srgbClr val="333333"/>
                          </a:solidFill>
                          <a:latin typeface="Cambria Math"/>
                        </a:rPr>
                        <m:t>𝑦</m:t>
                      </m:r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r>
                        <a:rPr lang="en-US" sz="2000" b="0" i="1">
                          <a:solidFill>
                            <a:srgbClr val="333333"/>
                          </a:solidFill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/>
              </a:p>
              <a:p>
                <a:pPr algn="l">
                  <a:spcBef>
                    <a:spcPts val="12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2000" b="0" i="1">
                          <a:solidFill>
                            <a:srgbClr val="333333"/>
                          </a:solidFill>
                          <a:latin typeface="Cambria Math"/>
                        </a:rPr>
                        <m:t>𝑦</m:t>
                      </m:r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 + </m:t>
                      </m:r>
                      <m:r>
                        <a:rPr lang="en-US" sz="2000" b="0" i="1">
                          <a:solidFill>
                            <a:srgbClr val="333333"/>
                          </a:solidFill>
                          <a:latin typeface="Cambria Math"/>
                        </a:rPr>
                        <m:t>𝑧</m:t>
                      </m:r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 = 0   ⇒   </m:t>
                      </m:r>
                      <m:r>
                        <a:rPr lang="en-US" sz="2000" b="0" i="1">
                          <a:solidFill>
                            <a:srgbClr val="333333"/>
                          </a:solidFill>
                          <a:latin typeface="Cambria Math"/>
                        </a:rPr>
                        <m:t>𝑧</m:t>
                      </m:r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r>
                        <a:rPr lang="en-US" sz="2000" b="0" i="1">
                          <a:solidFill>
                            <a:srgbClr val="333333"/>
                          </a:solidFill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2E68D6F-1937-5A4D-B2CF-F58B518F8C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000" y="2768600"/>
                <a:ext cx="4064000" cy="1397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37DCE04-B020-604E-B676-11B61737E81E}"/>
                  </a:ext>
                </a:extLst>
              </p:cNvPr>
              <p:cNvSpPr txBox="1"/>
              <p:nvPr/>
            </p:nvSpPr>
            <p:spPr>
              <a:xfrm>
                <a:off x="3429000" y="4724400"/>
                <a:ext cx="889000" cy="6096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solidFill>
                            <a:srgbClr val="333333"/>
                          </a:solidFill>
                          <a:latin typeface="Cambria Math"/>
                        </a:rPr>
                        <m:t>𝑣</m:t>
                      </m:r>
                      <m:r>
                        <a:rPr lang="en-US" sz="2400" b="0" i="0">
                          <a:solidFill>
                            <a:srgbClr val="333333"/>
                          </a:solidFill>
                          <a:latin typeface="Cambria Math"/>
                        </a:rPr>
                        <m:t> =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37DCE04-B020-604E-B676-11B61737E8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0" y="4724400"/>
                <a:ext cx="889000" cy="609600"/>
              </a:xfrm>
              <a:prstGeom prst="rect">
                <a:avLst/>
              </a:prstGeom>
              <a:blipFill>
                <a:blip r:embed="rId5"/>
                <a:stretch>
                  <a:fillRect b="-4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D4565BB-815C-4A4A-B033-AD02629FC5BD}"/>
                  </a:ext>
                </a:extLst>
              </p:cNvPr>
              <p:cNvSpPr txBox="1"/>
              <p:nvPr/>
            </p:nvSpPr>
            <p:spPr>
              <a:xfrm>
                <a:off x="4368800" y="4470400"/>
                <a:ext cx="1016000" cy="1397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200" b="1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200" b="1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D4565BB-815C-4A4A-B033-AD02629FC5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8800" y="4470400"/>
                <a:ext cx="1016000" cy="1397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374D87E-5B13-EA49-BF1F-D5A9CE83978F}"/>
                  </a:ext>
                </a:extLst>
              </p:cNvPr>
              <p:cNvSpPr txBox="1"/>
              <p:nvPr/>
            </p:nvSpPr>
            <p:spPr>
              <a:xfrm>
                <a:off x="5715000" y="4902200"/>
                <a:ext cx="2540000" cy="381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0">
                          <a:solidFill>
                            <a:srgbClr val="00A7B5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1600" b="0" i="1">
                          <a:solidFill>
                            <a:srgbClr val="00A7B5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sz="1600" b="0" i="0">
                          <a:solidFill>
                            <a:srgbClr val="00A7B5"/>
                          </a:solidFill>
                          <a:latin typeface="Cambria Math"/>
                        </a:rPr>
                        <m:t> = 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374D87E-5B13-EA49-BF1F-D5A9CE8397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0" y="4902200"/>
                <a:ext cx="2540000" cy="381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20393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79FAB03-7D10-024B-A02C-26A97886F5F2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85946C-4715-F643-B363-A50940CBF798}"/>
              </a:ext>
            </a:extLst>
          </p:cNvPr>
          <p:cNvSpPr txBox="1"/>
          <p:nvPr/>
        </p:nvSpPr>
        <p:spPr>
          <a:xfrm>
            <a:off x="762000" y="685800"/>
            <a:ext cx="8890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Example 2 (3×3) — Step 6: Eigenvector for </a:t>
            </a:r>
            <a:r>
              <a:rPr lang="el-GR" sz="2600" b="1">
                <a:solidFill>
                  <a:srgbClr val="4B2E83"/>
                </a:solidFill>
              </a:rPr>
              <a:t>λ = 2</a:t>
            </a:r>
            <a:endParaRPr lang="en-US" sz="2600" b="1">
              <a:solidFill>
                <a:srgbClr val="4B2E83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E894403-95F6-994C-BDC1-2B3C2E1A3ABD}"/>
              </a:ext>
            </a:extLst>
          </p:cNvPr>
          <p:cNvSpPr/>
          <p:nvPr/>
        </p:nvSpPr>
        <p:spPr>
          <a:xfrm>
            <a:off x="9931400" y="711200"/>
            <a:ext cx="14986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Step 6 / 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616787-B1A7-9A46-A63A-7E3B6B7F89DF}"/>
              </a:ext>
            </a:extLst>
          </p:cNvPr>
          <p:cNvSpPr txBox="1"/>
          <p:nvPr/>
        </p:nvSpPr>
        <p:spPr>
          <a:xfrm>
            <a:off x="762000" y="1320800"/>
            <a:ext cx="10668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Same substitution chain with </a:t>
            </a:r>
            <a:r>
              <a:rPr lang="el-GR" sz="1600">
                <a:solidFill>
                  <a:srgbClr val="333333"/>
                </a:solidFill>
              </a:rPr>
              <a:t>λ = 2.</a:t>
            </a:r>
            <a:endParaRPr lang="en-US" sz="1600">
              <a:solidFill>
                <a:srgbClr val="333333"/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5BA2660-C247-2640-BD11-4514D3C3C936}"/>
              </a:ext>
            </a:extLst>
          </p:cNvPr>
          <p:cNvSpPr/>
          <p:nvPr/>
        </p:nvSpPr>
        <p:spPr>
          <a:xfrm>
            <a:off x="762000" y="1930400"/>
            <a:ext cx="106680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42BA97-9975-5B40-82EF-406C36F1C3A0}"/>
                  </a:ext>
                </a:extLst>
              </p:cNvPr>
              <p:cNvSpPr txBox="1"/>
              <p:nvPr/>
            </p:nvSpPr>
            <p:spPr>
              <a:xfrm>
                <a:off x="1397000" y="2921000"/>
                <a:ext cx="2032000" cy="508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1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𝐴</m:t>
                          </m:r>
                          <m:r>
                            <a:rPr lang="en-US" sz="24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− 2</m:t>
                          </m:r>
                          <m:r>
                            <a:rPr lang="en-US" sz="2400" b="1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𝐼</m:t>
                          </m:r>
                          <m:r>
                            <a:rPr lang="en-US" sz="24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=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A - 2I =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42BA97-9975-5B40-82EF-406C36F1C3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7000" y="2921000"/>
                <a:ext cx="2032000" cy="508000"/>
              </a:xfrm>
              <a:prstGeom prst="rect">
                <a:avLst/>
              </a:prstGeom>
              <a:blipFill>
                <a:blip r:embed="rId2"/>
                <a:stretch>
                  <a:fillRect b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FA9C1C9-3457-9E43-B79A-1A51D7DD468B}"/>
                  </a:ext>
                </a:extLst>
              </p:cNvPr>
              <p:cNvSpPr txBox="1"/>
              <p:nvPr/>
            </p:nvSpPr>
            <p:spPr>
              <a:xfrm>
                <a:off x="3556000" y="2514600"/>
                <a:ext cx="3048000" cy="1524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["/>
                              <m:endChr m:val="]"/>
                              <m:ctrlPr>
                                <a:rPr lang="en-US" sz="2200" b="1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200" b="1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−2</m:t>
                                    </m:r>
                                  </m:e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−2</m:t>
                                    </m:r>
                                  </m:e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6</m:t>
                                    </m:r>
                                  </m:e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−11</m:t>
                                    </m:r>
                                  </m:e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[A-2I]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FA9C1C9-3457-9E43-B79A-1A51D7DD46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6000" y="2514600"/>
                <a:ext cx="3048000" cy="1524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1E0E56B-DB9C-834D-979A-BCA153576C0B}"/>
                  </a:ext>
                </a:extLst>
              </p:cNvPr>
              <p:cNvSpPr txBox="1"/>
              <p:nvPr/>
            </p:nvSpPr>
            <p:spPr>
              <a:xfrm>
                <a:off x="7112000" y="2768600"/>
                <a:ext cx="4191000" cy="1397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−2</m:t>
                          </m:r>
                          <m:r>
                            <a:rPr lang="en-US" sz="20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+ </m:t>
                          </m:r>
                          <m:r>
                            <a:rPr lang="en-US" sz="20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𝑦</m:t>
                          </m:r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= 0   ⇒   </m:t>
                          </m:r>
                          <m:r>
                            <a:rPr lang="en-US" sz="20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𝑦</m:t>
                          </m:r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= 2</m:t>
                          </m:r>
                          <m:r>
                            <a:rPr lang="en-US" sz="20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𝑥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-2x+y=0 =&gt; y=2x</a:t>
                    </a:r>
                  </mc:Fallback>
                </mc:AlternateContent>
                <a:endParaRPr/>
              </a:p>
              <a:p>
                <a:pPr algn="l">
                  <a:spcBef>
                    <a:spcPts val="1200"/>
                  </a:spcBef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−2</m:t>
                          </m:r>
                          <m:r>
                            <a:rPr lang="en-US" sz="20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𝑦</m:t>
                          </m:r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+ </m:t>
                          </m:r>
                          <m:r>
                            <a:rPr lang="en-US" sz="20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𝑧</m:t>
                          </m:r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= 0   ⇒   </m:t>
                          </m:r>
                          <m:r>
                            <a:rPr lang="en-US" sz="20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𝑧</m:t>
                          </m:r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= 4</m:t>
                          </m:r>
                          <m:r>
                            <a:rPr lang="en-US" sz="20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𝑥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-2y+z=0 =&gt; z=4x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1E0E56B-DB9C-834D-979A-BCA153576C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000" y="2768600"/>
                <a:ext cx="4191000" cy="1397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265866-68CC-C644-BE4E-FBE0128319EE}"/>
                  </a:ext>
                </a:extLst>
              </p:cNvPr>
              <p:cNvSpPr txBox="1"/>
              <p:nvPr/>
            </p:nvSpPr>
            <p:spPr>
              <a:xfrm>
                <a:off x="3556000" y="4724400"/>
                <a:ext cx="889000" cy="6096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1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𝑣</m:t>
                          </m:r>
                          <m:r>
                            <a:rPr lang="en-US" sz="24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=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v =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265866-68CC-C644-BE4E-FBE0128319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6000" y="4724400"/>
                <a:ext cx="889000" cy="609600"/>
              </a:xfrm>
              <a:prstGeom prst="rect">
                <a:avLst/>
              </a:prstGeom>
              <a:blipFill>
                <a:blip r:embed="rId5"/>
                <a:stretch>
                  <a:fillRect b="-4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7B1A5A0-ECE7-6245-AE94-66AFE750924E}"/>
                  </a:ext>
                </a:extLst>
              </p:cNvPr>
              <p:cNvSpPr txBox="1"/>
              <p:nvPr/>
            </p:nvSpPr>
            <p:spPr>
              <a:xfrm>
                <a:off x="4495800" y="4470400"/>
                <a:ext cx="1016000" cy="1397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["/>
                              <m:endChr m:val="]"/>
                              <m:ctrlPr>
                                <a:rPr lang="en-US" sz="2200" b="1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200" b="1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[1;2;4]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7B1A5A0-ECE7-6245-AE94-66AFE75092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5800" y="4470400"/>
                <a:ext cx="1016000" cy="1397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C39BE3A-FC06-8A4F-944B-4C7201472EA7}"/>
                  </a:ext>
                </a:extLst>
              </p:cNvPr>
              <p:cNvSpPr txBox="1"/>
              <p:nvPr/>
            </p:nvSpPr>
            <p:spPr>
              <a:xfrm>
                <a:off x="5842000" y="4902200"/>
                <a:ext cx="2540000" cy="381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0" i="0">
                              <a:solidFill>
                                <a:srgbClr val="00A7B5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sz="1600" b="0" i="1">
                              <a:solidFill>
                                <a:srgbClr val="00A7B5"/>
                              </a:solidFill>
                              <a:latin typeface="Cambria Math"/>
                            </a:rPr>
                            <m:t>𝜆</m:t>
                          </m:r>
                          <m:r>
                            <a:rPr lang="en-US" sz="1600" b="0" i="0">
                              <a:solidFill>
                                <a:srgbClr val="00A7B5"/>
                              </a:solidFill>
                              <a:latin typeface="Cambria Math"/>
                            </a:rPr>
                            <m:t> = 2)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(λ = 2)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C39BE3A-FC06-8A4F-944B-4C7201472E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2000" y="4902200"/>
                <a:ext cx="2540000" cy="381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14773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4C58B49-011C-8F4D-B4D8-815719D6409F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26C577-52DE-DD49-A088-FE5CE35B07AF}"/>
              </a:ext>
            </a:extLst>
          </p:cNvPr>
          <p:cNvSpPr txBox="1"/>
          <p:nvPr/>
        </p:nvSpPr>
        <p:spPr>
          <a:xfrm>
            <a:off x="762000" y="685800"/>
            <a:ext cx="8890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Example 2 (3×3) — Step 7: Eigenvector for </a:t>
            </a:r>
            <a:r>
              <a:rPr lang="el-GR" sz="2600" b="1">
                <a:solidFill>
                  <a:srgbClr val="4B2E83"/>
                </a:solidFill>
              </a:rPr>
              <a:t>λ = 3</a:t>
            </a:r>
            <a:endParaRPr lang="en-US" sz="2600" b="1">
              <a:solidFill>
                <a:srgbClr val="4B2E83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C761616-373F-5141-8C67-557BB6096964}"/>
              </a:ext>
            </a:extLst>
          </p:cNvPr>
          <p:cNvSpPr/>
          <p:nvPr/>
        </p:nvSpPr>
        <p:spPr>
          <a:xfrm>
            <a:off x="9931400" y="711200"/>
            <a:ext cx="14986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Step 7 / 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390543-10DD-0745-844B-3D5700F76F25}"/>
              </a:ext>
            </a:extLst>
          </p:cNvPr>
          <p:cNvSpPr txBox="1"/>
          <p:nvPr/>
        </p:nvSpPr>
        <p:spPr>
          <a:xfrm>
            <a:off x="762000" y="1320800"/>
            <a:ext cx="10668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Last one, then collect all three eigenpairs.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87B6D81-51E2-194E-AC1B-0111739E6322}"/>
              </a:ext>
            </a:extLst>
          </p:cNvPr>
          <p:cNvSpPr/>
          <p:nvPr/>
        </p:nvSpPr>
        <p:spPr>
          <a:xfrm>
            <a:off x="762000" y="1930400"/>
            <a:ext cx="106680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A080A10-47A9-1347-A288-9A04DB4166F5}"/>
                  </a:ext>
                </a:extLst>
              </p:cNvPr>
              <p:cNvSpPr txBox="1"/>
              <p:nvPr/>
            </p:nvSpPr>
            <p:spPr>
              <a:xfrm>
                <a:off x="1270000" y="2692400"/>
                <a:ext cx="2032000" cy="508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solidFill>
                            <a:srgbClr val="333333"/>
                          </a:solidFill>
                          <a:latin typeface="Cambria Math"/>
                        </a:rPr>
                        <m:t>𝐴</m:t>
                      </m:r>
                      <m:r>
                        <a:rPr lang="en-US" sz="2400" b="0" i="0">
                          <a:solidFill>
                            <a:srgbClr val="333333"/>
                          </a:solidFill>
                          <a:latin typeface="Cambria Math"/>
                        </a:rPr>
                        <m:t> − 3</m:t>
                      </m:r>
                      <m:r>
                        <a:rPr lang="en-US" sz="2400" b="1" i="1">
                          <a:solidFill>
                            <a:srgbClr val="333333"/>
                          </a:solidFill>
                          <a:latin typeface="Cambria Math"/>
                        </a:rPr>
                        <m:t>𝐼</m:t>
                      </m:r>
                      <m:r>
                        <a:rPr lang="en-US" sz="2400" b="0" i="0">
                          <a:solidFill>
                            <a:srgbClr val="333333"/>
                          </a:solidFill>
                          <a:latin typeface="Cambria Math"/>
                        </a:rPr>
                        <m:t> =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A080A10-47A9-1347-A288-9A04DB4166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0000" y="2692400"/>
                <a:ext cx="2032000" cy="508000"/>
              </a:xfrm>
              <a:prstGeom prst="rect">
                <a:avLst/>
              </a:prstGeom>
              <a:blipFill>
                <a:blip r:embed="rId2"/>
                <a:stretch>
                  <a:fillRect b="-146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FF4245C-CC3D-9B48-8051-1E64F76C4981}"/>
                  </a:ext>
                </a:extLst>
              </p:cNvPr>
              <p:cNvSpPr txBox="1"/>
              <p:nvPr/>
            </p:nvSpPr>
            <p:spPr>
              <a:xfrm>
                <a:off x="3429000" y="2311400"/>
                <a:ext cx="3048000" cy="14605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200" b="1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200" b="1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−11</m:t>
                                </m:r>
                              </m:e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FF4245C-CC3D-9B48-8051-1E64F76C4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0" y="2311400"/>
                <a:ext cx="3048000" cy="14605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198D72F-F5AB-D047-A9B3-9BD30A54EB12}"/>
                  </a:ext>
                </a:extLst>
              </p:cNvPr>
              <p:cNvSpPr txBox="1"/>
              <p:nvPr/>
            </p:nvSpPr>
            <p:spPr>
              <a:xfrm>
                <a:off x="7112000" y="2540000"/>
                <a:ext cx="4191000" cy="1270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−3</m:t>
                      </m:r>
                      <m:r>
                        <a:rPr lang="en-US" sz="2000" b="0" i="1">
                          <a:solidFill>
                            <a:srgbClr val="333333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 + </m:t>
                      </m:r>
                      <m:r>
                        <a:rPr lang="en-US" sz="2000" b="0" i="1">
                          <a:solidFill>
                            <a:srgbClr val="333333"/>
                          </a:solidFill>
                          <a:latin typeface="Cambria Math"/>
                        </a:rPr>
                        <m:t>𝑦</m:t>
                      </m:r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 = 0   ⇒   </m:t>
                      </m:r>
                      <m:r>
                        <a:rPr lang="en-US" sz="2000" b="0" i="1">
                          <a:solidFill>
                            <a:srgbClr val="333333"/>
                          </a:solidFill>
                          <a:latin typeface="Cambria Math"/>
                        </a:rPr>
                        <m:t>𝑦</m:t>
                      </m:r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 = 3</m:t>
                      </m:r>
                      <m:r>
                        <a:rPr lang="en-US" sz="2000" b="0" i="1">
                          <a:solidFill>
                            <a:srgbClr val="333333"/>
                          </a:solidFill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/>
              </a:p>
              <a:p>
                <a:pPr algn="l">
                  <a:spcBef>
                    <a:spcPts val="12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−3</m:t>
                      </m:r>
                      <m:r>
                        <a:rPr lang="en-US" sz="2000" b="0" i="1">
                          <a:solidFill>
                            <a:srgbClr val="333333"/>
                          </a:solidFill>
                          <a:latin typeface="Cambria Math"/>
                        </a:rPr>
                        <m:t>𝑦</m:t>
                      </m:r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 + </m:t>
                      </m:r>
                      <m:r>
                        <a:rPr lang="en-US" sz="2000" b="0" i="1">
                          <a:solidFill>
                            <a:srgbClr val="333333"/>
                          </a:solidFill>
                          <a:latin typeface="Cambria Math"/>
                        </a:rPr>
                        <m:t>𝑧</m:t>
                      </m:r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 = 0   ⇒   </m:t>
                      </m:r>
                      <m:r>
                        <a:rPr lang="en-US" sz="2000" b="0" i="1">
                          <a:solidFill>
                            <a:srgbClr val="333333"/>
                          </a:solidFill>
                          <a:latin typeface="Cambria Math"/>
                        </a:rPr>
                        <m:t>𝑧</m:t>
                      </m:r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 = 9</m:t>
                      </m:r>
                      <m:r>
                        <a:rPr lang="en-US" sz="2000" b="0" i="1">
                          <a:solidFill>
                            <a:srgbClr val="333333"/>
                          </a:solidFill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198D72F-F5AB-D047-A9B3-9BD30A54EB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000" y="2540000"/>
                <a:ext cx="4191000" cy="1270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CAAA5A1-069E-BB49-BEF3-F543F4451ABC}"/>
                  </a:ext>
                </a:extLst>
              </p:cNvPr>
              <p:cNvSpPr txBox="1"/>
              <p:nvPr/>
            </p:nvSpPr>
            <p:spPr>
              <a:xfrm>
                <a:off x="3429000" y="3962400"/>
                <a:ext cx="889000" cy="6096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solidFill>
                            <a:srgbClr val="333333"/>
                          </a:solidFill>
                          <a:latin typeface="Cambria Math"/>
                        </a:rPr>
                        <m:t>𝑣</m:t>
                      </m:r>
                      <m:r>
                        <a:rPr lang="en-US" sz="2400" b="0" i="0">
                          <a:solidFill>
                            <a:srgbClr val="333333"/>
                          </a:solidFill>
                          <a:latin typeface="Cambria Math"/>
                        </a:rPr>
                        <m:t> =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CAAA5A1-069E-BB49-BEF3-F543F4451A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0" y="3962400"/>
                <a:ext cx="889000" cy="609600"/>
              </a:xfrm>
              <a:prstGeom prst="rect">
                <a:avLst/>
              </a:prstGeom>
              <a:blipFill>
                <a:blip r:embed="rId5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FE5615A-9266-0B42-9973-6448709599E4}"/>
                  </a:ext>
                </a:extLst>
              </p:cNvPr>
              <p:cNvSpPr txBox="1"/>
              <p:nvPr/>
            </p:nvSpPr>
            <p:spPr>
              <a:xfrm>
                <a:off x="4368800" y="3810000"/>
                <a:ext cx="1016000" cy="1143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200" b="1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200" b="1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9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FE5615A-9266-0B42-9973-6448709599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8800" y="3810000"/>
                <a:ext cx="1016000" cy="1143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19EAED2-E50B-A64A-AD15-78476DB416FC}"/>
              </a:ext>
            </a:extLst>
          </p:cNvPr>
          <p:cNvSpPr/>
          <p:nvPr/>
        </p:nvSpPr>
        <p:spPr>
          <a:xfrm>
            <a:off x="1143000" y="5308600"/>
            <a:ext cx="9906000" cy="6096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3F16A81-1651-C743-8B3D-9E19405DC142}"/>
                  </a:ext>
                </a:extLst>
              </p:cNvPr>
              <p:cNvSpPr txBox="1"/>
              <p:nvPr/>
            </p:nvSpPr>
            <p:spPr>
              <a:xfrm>
                <a:off x="1320800" y="5308600"/>
                <a:ext cx="9550400" cy="6096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b="1" i="0">
                          <a:solidFill>
                            <a:srgbClr val="FFFFFF"/>
                          </a:solidFill>
                          <a:latin typeface="Cambria Math"/>
                        </a:rPr>
                        <m:t>𝐸𝑖𝑔𝑒𝑛𝑝𝑎𝑖𝑟𝑠</m:t>
                      </m:r>
                      <m:r>
                        <a:rPr lang="en-US" sz="1500" b="1" i="0">
                          <a:solidFill>
                            <a:srgbClr val="FFFFFF"/>
                          </a:solidFill>
                          <a:latin typeface="Cambria Math"/>
                        </a:rPr>
                        <m:t>:   </m:t>
                      </m:r>
                      <m:r>
                        <a:rPr lang="en-US" sz="1500" b="1" i="1">
                          <a:solidFill>
                            <a:srgbClr val="FFFFFF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sz="1500" b="1" i="0">
                          <a:solidFill>
                            <a:srgbClr val="FFFFFF"/>
                          </a:solidFill>
                          <a:latin typeface="Cambria Math"/>
                        </a:rPr>
                        <m:t> = 1 →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500" b="1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500" b="1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500" b="1" i="0">
                                    <a:solidFill>
                                      <a:srgbClr val="FFFFFF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500" b="1" i="0">
                                    <a:solidFill>
                                      <a:srgbClr val="FFFFFF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500" b="1" i="0">
                                    <a:solidFill>
                                      <a:srgbClr val="FFFFFF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500" b="1" i="0">
                          <a:solidFill>
                            <a:srgbClr val="FFFFFF"/>
                          </a:solidFill>
                          <a:latin typeface="Cambria Math"/>
                        </a:rPr>
                        <m:t>     </m:t>
                      </m:r>
                      <m:r>
                        <a:rPr lang="en-US" sz="1500" b="1" i="1">
                          <a:solidFill>
                            <a:srgbClr val="FFFFFF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sz="1500" b="1" i="0">
                          <a:solidFill>
                            <a:srgbClr val="FFFFFF"/>
                          </a:solidFill>
                          <a:latin typeface="Cambria Math"/>
                        </a:rPr>
                        <m:t> = 2 →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500" b="1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500" b="1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500" b="1" i="0">
                                    <a:solidFill>
                                      <a:srgbClr val="FFFFFF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500" b="1" i="0">
                                    <a:solidFill>
                                      <a:srgbClr val="FFFFFF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1500" b="1" i="0">
                                    <a:solidFill>
                                      <a:srgbClr val="FFFFFF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500" b="1" i="0">
                          <a:solidFill>
                            <a:srgbClr val="FFFFFF"/>
                          </a:solidFill>
                          <a:latin typeface="Cambria Math"/>
                        </a:rPr>
                        <m:t>     </m:t>
                      </m:r>
                      <m:r>
                        <a:rPr lang="en-US" sz="1500" b="1" i="1">
                          <a:solidFill>
                            <a:srgbClr val="FFFFFF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sz="1500" b="1" i="0">
                          <a:solidFill>
                            <a:srgbClr val="FFFFFF"/>
                          </a:solidFill>
                          <a:latin typeface="Cambria Math"/>
                        </a:rPr>
                        <m:t> = 3 →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500" b="1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500" b="1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500" b="1" i="0">
                                    <a:solidFill>
                                      <a:srgbClr val="FFFFFF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500" b="1" i="0">
                                    <a:solidFill>
                                      <a:srgbClr val="FFFFFF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1500" b="1" i="0">
                                    <a:solidFill>
                                      <a:srgbClr val="FFFFFF"/>
                                    </a:solidFill>
                                    <a:latin typeface="Cambria Math"/>
                                  </a:rPr>
                                  <m:t>9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3F16A81-1651-C743-8B3D-9E19405DC1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0800" y="5308600"/>
                <a:ext cx="9550400" cy="6096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49872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8DDF769-2FF8-8143-85BC-62BAB5C19F3A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BB96F3-D8C3-2A44-942C-7BA07D9765F4}"/>
              </a:ext>
            </a:extLst>
          </p:cNvPr>
          <p:cNvSpPr txBox="1"/>
          <p:nvPr/>
        </p:nvSpPr>
        <p:spPr>
          <a:xfrm>
            <a:off x="762000" y="685800"/>
            <a:ext cx="8890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Example 3 (3×3, triangular) — Step 1: The Setup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587A638-0D96-F248-B85F-4911EE4172D4}"/>
              </a:ext>
            </a:extLst>
          </p:cNvPr>
          <p:cNvSpPr/>
          <p:nvPr/>
        </p:nvSpPr>
        <p:spPr>
          <a:xfrm>
            <a:off x="9931400" y="711200"/>
            <a:ext cx="14986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Step 1 / 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63437C-C10A-A14F-A4F2-0764E8B26A3B}"/>
              </a:ext>
            </a:extLst>
          </p:cNvPr>
          <p:cNvSpPr txBox="1"/>
          <p:nvPr/>
        </p:nvSpPr>
        <p:spPr>
          <a:xfrm>
            <a:off x="762000" y="1320800"/>
            <a:ext cx="10668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A third example with an upper-triangular matrix — watch how that shortcuts the determinant.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396DDF2-5773-E048-A4B6-AB7ED812BEA7}"/>
              </a:ext>
            </a:extLst>
          </p:cNvPr>
          <p:cNvSpPr/>
          <p:nvPr/>
        </p:nvSpPr>
        <p:spPr>
          <a:xfrm>
            <a:off x="762000" y="1930400"/>
            <a:ext cx="106680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34DCBB3-6EB9-724E-8B4D-6671C99C4A69}"/>
                  </a:ext>
                </a:extLst>
              </p:cNvPr>
              <p:cNvSpPr txBox="1"/>
              <p:nvPr/>
            </p:nvSpPr>
            <p:spPr>
              <a:xfrm>
                <a:off x="1397000" y="2692400"/>
                <a:ext cx="1143000" cy="508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1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𝐴</m:t>
                          </m:r>
                          <m:r>
                            <a:rPr lang="en-US" sz="24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=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A =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34DCBB3-6EB9-724E-8B4D-6671C99C4A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7000" y="2692400"/>
                <a:ext cx="1143000" cy="508000"/>
              </a:xfrm>
              <a:prstGeom prst="rect">
                <a:avLst/>
              </a:prstGeom>
              <a:blipFill>
                <a:blip r:embed="rId2"/>
                <a:stretch>
                  <a:fillRect b="-146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AAE7069-91C6-8E4A-B578-FFC3541E2C4F}"/>
                  </a:ext>
                </a:extLst>
              </p:cNvPr>
              <p:cNvSpPr txBox="1"/>
              <p:nvPr/>
            </p:nvSpPr>
            <p:spPr>
              <a:xfrm>
                <a:off x="2667000" y="2387600"/>
                <a:ext cx="2794000" cy="14605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["/>
                              <m:endChr m:val="]"/>
                              <m:ctrlPr>
                                <a:rPr lang="en-US" sz="2200" b="1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200" b="1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3</m:t>
                                    </m:r>
                                  </m:e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[A]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AAE7069-91C6-8E4A-B578-FFC3541E2C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0" y="2387600"/>
                <a:ext cx="2794000" cy="14605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0A31118-4C80-8244-957F-F09171D2B322}"/>
                  </a:ext>
                </a:extLst>
              </p:cNvPr>
              <p:cNvSpPr txBox="1"/>
              <p:nvPr/>
            </p:nvSpPr>
            <p:spPr>
              <a:xfrm>
                <a:off x="6350000" y="2540000"/>
                <a:ext cx="4826000" cy="1397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1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𝐴</m:t>
                          </m:r>
                          <m:r>
                            <a:rPr lang="en-US" sz="24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sz="2400" b="1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𝑣</m:t>
                          </m:r>
                          <m:r>
                            <a:rPr lang="en-US" sz="24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= </m:t>
                          </m:r>
                          <m:r>
                            <a:rPr lang="en-US" sz="24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𝜆</m:t>
                          </m:r>
                          <m:r>
                            <a:rPr lang="en-US" sz="24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sz="2400" b="1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𝑣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A v = lambda v</a:t>
                    </a:r>
                  </mc:Fallback>
                </mc:AlternateContent>
                <a:endParaRPr/>
              </a:p>
              <a:p>
                <a:pPr algn="l">
                  <a:spcBef>
                    <a:spcPts val="1200"/>
                  </a:spcBef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sz="2400" b="1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𝐴</m:t>
                          </m:r>
                          <m:r>
                            <a:rPr lang="en-US" sz="24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− </m:t>
                          </m:r>
                          <m:r>
                            <a:rPr lang="en-US" sz="24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𝜆</m:t>
                          </m:r>
                          <m:r>
                            <a:rPr lang="en-US" sz="2400" b="1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𝐼</m:t>
                          </m:r>
                          <m:r>
                            <a:rPr lang="en-US" sz="24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) </m:t>
                          </m:r>
                          <m:r>
                            <a:rPr lang="en-US" sz="2400" b="1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𝑣</m:t>
                          </m:r>
                          <m:r>
                            <a:rPr lang="en-US" sz="24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= 0,   </m:t>
                          </m:r>
                          <m:r>
                            <a:rPr lang="en-US" sz="2400" b="1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𝑣</m:t>
                          </m:r>
                          <m:r>
                            <a:rPr lang="en-US" sz="24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≠ 0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(A-λI)v=0, v≠0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0A31118-4C80-8244-957F-F09171D2B3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000" y="2540000"/>
                <a:ext cx="4826000" cy="1397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6D0ECA63-158B-E64E-9267-2C3F02207D69}"/>
              </a:ext>
            </a:extLst>
          </p:cNvPr>
          <p:cNvSpPr txBox="1"/>
          <p:nvPr/>
        </p:nvSpPr>
        <p:spPr>
          <a:xfrm>
            <a:off x="1397000" y="5232400"/>
            <a:ext cx="9652000" cy="609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i="1">
                <a:solidFill>
                  <a:srgbClr val="00A7B5"/>
                </a:solidFill>
              </a:rPr>
              <a:t>All entries below the diagonal are 0 → the eigenvalues will read straight off the diagonal.</a:t>
            </a:r>
          </a:p>
        </p:txBody>
      </p:sp>
    </p:spTree>
    <p:extLst>
      <p:ext uri="{BB962C8B-B14F-4D97-AF65-F5344CB8AC3E}">
        <p14:creationId xmlns:p14="http://schemas.microsoft.com/office/powerpoint/2010/main" val="12931941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E838C2A-E398-B24B-AB06-FEF83BDBA3FF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7EA9A4-A570-E04D-9CCD-A462645406EB}"/>
              </a:ext>
            </a:extLst>
          </p:cNvPr>
          <p:cNvSpPr txBox="1"/>
          <p:nvPr/>
        </p:nvSpPr>
        <p:spPr>
          <a:xfrm>
            <a:off x="762000" y="685800"/>
            <a:ext cx="8890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Example 3 (3×3, triangular) — Step 2: Form A − </a:t>
            </a:r>
            <a:r>
              <a:rPr lang="el-GR" sz="2600" b="1">
                <a:solidFill>
                  <a:srgbClr val="4B2E83"/>
                </a:solidFill>
              </a:rPr>
              <a:t>λ</a:t>
            </a:r>
            <a:r>
              <a:rPr lang="en-US" sz="2600" b="1">
                <a:solidFill>
                  <a:srgbClr val="4B2E83"/>
                </a:solidFill>
              </a:rPr>
              <a:t>I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6E5BA74-7C1B-0C40-A002-CDB54A259D5D}"/>
              </a:ext>
            </a:extLst>
          </p:cNvPr>
          <p:cNvSpPr/>
          <p:nvPr/>
        </p:nvSpPr>
        <p:spPr>
          <a:xfrm>
            <a:off x="9931400" y="711200"/>
            <a:ext cx="14986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Step 2 / 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3D9C49-0BCB-5649-92F2-4508EEB9C376}"/>
              </a:ext>
            </a:extLst>
          </p:cNvPr>
          <p:cNvSpPr txBox="1"/>
          <p:nvPr/>
        </p:nvSpPr>
        <p:spPr>
          <a:xfrm>
            <a:off x="762000" y="1320800"/>
            <a:ext cx="10668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Subtract </a:t>
            </a:r>
            <a:r>
              <a:rPr lang="el-GR" sz="1600">
                <a:solidFill>
                  <a:srgbClr val="333333"/>
                </a:solidFill>
              </a:rPr>
              <a:t>λ </a:t>
            </a:r>
            <a:r>
              <a:rPr lang="en-US" sz="1600">
                <a:solidFill>
                  <a:srgbClr val="333333"/>
                </a:solidFill>
              </a:rPr>
              <a:t>from each diagonal entry — the zeros below the diagonal stay put.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3BD0CA6-B987-5D47-8FDE-279831EDA359}"/>
              </a:ext>
            </a:extLst>
          </p:cNvPr>
          <p:cNvSpPr/>
          <p:nvPr/>
        </p:nvSpPr>
        <p:spPr>
          <a:xfrm>
            <a:off x="762000" y="1930400"/>
            <a:ext cx="106680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DC97B07-306B-8B41-B4A7-8F054DA00259}"/>
                  </a:ext>
                </a:extLst>
              </p:cNvPr>
              <p:cNvSpPr txBox="1"/>
              <p:nvPr/>
            </p:nvSpPr>
            <p:spPr>
              <a:xfrm>
                <a:off x="2159000" y="2997200"/>
                <a:ext cx="2286000" cy="508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1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𝐴</m:t>
                          </m:r>
                          <m:r>
                            <a:rPr lang="en-US" sz="24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− </m:t>
                          </m:r>
                          <m:r>
                            <a:rPr lang="en-US" sz="24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𝜆</m:t>
                          </m:r>
                          <m:r>
                            <a:rPr lang="en-US" sz="2400" b="1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𝐼</m:t>
                          </m:r>
                          <m:r>
                            <a:rPr lang="en-US" sz="24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=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A - λI =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DC97B07-306B-8B41-B4A7-8F054DA002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9000" y="2997200"/>
                <a:ext cx="2286000" cy="508000"/>
              </a:xfrm>
              <a:prstGeom prst="rect">
                <a:avLst/>
              </a:prstGeom>
              <a:blipFill>
                <a:blip r:embed="rId2"/>
                <a:stretch>
                  <a:fillRect b="-1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0BF9A71-2F6D-134A-908D-8E0A61A94D05}"/>
                  </a:ext>
                </a:extLst>
              </p:cNvPr>
              <p:cNvSpPr txBox="1"/>
              <p:nvPr/>
            </p:nvSpPr>
            <p:spPr>
              <a:xfrm>
                <a:off x="4826000" y="2489200"/>
                <a:ext cx="4064000" cy="1524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["/>
                              <m:endChr m:val="]"/>
                              <m:ctrlPr>
                                <a:rPr lang="en-US" sz="2200" b="1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200" b="1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3−</m:t>
                                    </m:r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𝜆</m:t>
                                    </m:r>
                                  </m:e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1−</m:t>
                                    </m:r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𝜆</m:t>
                                    </m:r>
                                  </m:e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2−</m:t>
                                    </m:r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𝜆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[A-λI]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0BF9A71-2F6D-134A-908D-8E0A61A94D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6000" y="2489200"/>
                <a:ext cx="4064000" cy="1524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5CD753D0-CFA5-9B46-A682-F5356479127E}"/>
              </a:ext>
            </a:extLst>
          </p:cNvPr>
          <p:cNvSpPr txBox="1"/>
          <p:nvPr/>
        </p:nvSpPr>
        <p:spPr>
          <a:xfrm>
            <a:off x="2159000" y="5207000"/>
            <a:ext cx="81280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i="1">
                <a:solidFill>
                  <a:srgbClr val="00A7B5"/>
                </a:solidFill>
              </a:rPr>
              <a:t>Still upper-triangular → det = product of the diagonal entries.</a:t>
            </a:r>
          </a:p>
        </p:txBody>
      </p:sp>
    </p:spTree>
    <p:extLst>
      <p:ext uri="{BB962C8B-B14F-4D97-AF65-F5344CB8AC3E}">
        <p14:creationId xmlns:p14="http://schemas.microsoft.com/office/powerpoint/2010/main" val="39257483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F1906E-DF24-884B-9706-1A3A9529F270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55AF22-1CDD-004A-90E9-1AA95784E1CB}"/>
              </a:ext>
            </a:extLst>
          </p:cNvPr>
          <p:cNvSpPr txBox="1"/>
          <p:nvPr/>
        </p:nvSpPr>
        <p:spPr>
          <a:xfrm>
            <a:off x="762000" y="685800"/>
            <a:ext cx="8890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Example 3 (3×3, triangular) — Step 3: The Determinant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8048DC0-76EF-034B-A492-93AF78E6221F}"/>
              </a:ext>
            </a:extLst>
          </p:cNvPr>
          <p:cNvSpPr/>
          <p:nvPr/>
        </p:nvSpPr>
        <p:spPr>
          <a:xfrm>
            <a:off x="9931400" y="711200"/>
            <a:ext cx="14986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Step 3 / 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3F1EAC-E3D4-ED4F-9A65-E021E60735CE}"/>
              </a:ext>
            </a:extLst>
          </p:cNvPr>
          <p:cNvSpPr txBox="1"/>
          <p:nvPr/>
        </p:nvSpPr>
        <p:spPr>
          <a:xfrm>
            <a:off x="762000" y="1320800"/>
            <a:ext cx="10668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No cofactor expansion needed — the triangular shortcut does the work.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35DCD27-28C1-544C-BBD5-C3BCCA1AB8DB}"/>
              </a:ext>
            </a:extLst>
          </p:cNvPr>
          <p:cNvSpPr/>
          <p:nvPr/>
        </p:nvSpPr>
        <p:spPr>
          <a:xfrm>
            <a:off x="762000" y="1930400"/>
            <a:ext cx="106680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24DB43-36A8-B047-93D7-D88C4F57B7B1}"/>
              </a:ext>
            </a:extLst>
          </p:cNvPr>
          <p:cNvSpPr txBox="1"/>
          <p:nvPr/>
        </p:nvSpPr>
        <p:spPr>
          <a:xfrm>
            <a:off x="1397000" y="2489200"/>
            <a:ext cx="93980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700">
                <a:solidFill>
                  <a:srgbClr val="333333"/>
                </a:solidFill>
              </a:rPr>
              <a:t>For a triangular matrix, the determinant is just the product of the diagonal entries: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2BC5635-51E1-DD43-A022-AD5D3C5FFB99}"/>
                  </a:ext>
                </a:extLst>
              </p:cNvPr>
              <p:cNvSpPr txBox="1"/>
              <p:nvPr/>
            </p:nvSpPr>
            <p:spPr>
              <a:xfrm>
                <a:off x="1397000" y="3175000"/>
                <a:ext cx="9398000" cy="5842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0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𝑑𝑒𝑡</m:t>
                          </m:r>
                          <m:r>
                            <a:rPr lang="en-US" sz="2400" b="0" i="0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sz="2400" b="1" i="1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𝐴</m:t>
                          </m:r>
                          <m:r>
                            <a:rPr lang="en-US" sz="2400" b="0" i="0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 − </m:t>
                          </m:r>
                          <m:r>
                            <a:rPr lang="en-US" sz="2400" b="0" i="1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𝜆</m:t>
                          </m:r>
                          <m:r>
                            <a:rPr lang="en-US" sz="2400" b="1" i="1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𝐼</m:t>
                          </m:r>
                          <m:r>
                            <a:rPr lang="en-US" sz="2400" b="0" i="0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) = (3 − </m:t>
                          </m:r>
                          <m:r>
                            <a:rPr lang="en-US" sz="2400" b="0" i="1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𝜆</m:t>
                          </m:r>
                          <m:r>
                            <a:rPr lang="en-US" sz="2400" b="0" i="0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)(1 − </m:t>
                          </m:r>
                          <m:r>
                            <a:rPr lang="en-US" sz="2400" b="0" i="1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𝜆</m:t>
                          </m:r>
                          <m:r>
                            <a:rPr lang="en-US" sz="2400" b="0" i="0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)(2 − </m:t>
                          </m:r>
                          <m:r>
                            <a:rPr lang="en-US" sz="2400" b="0" i="1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𝜆</m:t>
                          </m:r>
                          <m:r>
                            <a:rPr lang="en-US" sz="2400" b="0" i="0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)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det(A-λI)=(3-λ)(1-λ)(2-λ)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2BC5635-51E1-DD43-A022-AD5D3C5FFB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7000" y="3175000"/>
                <a:ext cx="9398000" cy="5842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6C133E5-782B-3343-A96C-C432540765EE}"/>
                  </a:ext>
                </a:extLst>
              </p:cNvPr>
              <p:cNvSpPr txBox="1"/>
              <p:nvPr/>
            </p:nvSpPr>
            <p:spPr>
              <a:xfrm>
                <a:off x="1397000" y="4191000"/>
                <a:ext cx="9398000" cy="508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2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𝑆𝑒𝑡</m:t>
                          </m:r>
                          <m:r>
                            <a:rPr lang="en-US" sz="22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sz="22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𝑖𝑡</m:t>
                          </m:r>
                          <m:r>
                            <a:rPr lang="en-US" sz="22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sz="22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𝑡𝑜</m:t>
                          </m:r>
                          <m:r>
                            <a:rPr lang="en-US" sz="22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sz="22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𝑧𝑒𝑟𝑜</m:t>
                          </m:r>
                          <m:r>
                            <a:rPr lang="en-US" sz="22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:     (3 − </m:t>
                          </m:r>
                          <m:r>
                            <a:rPr lang="en-US" sz="22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𝜆</m:t>
                          </m:r>
                          <m:r>
                            <a:rPr lang="en-US" sz="22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)(1 − </m:t>
                          </m:r>
                          <m:r>
                            <a:rPr lang="en-US" sz="22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𝜆</m:t>
                          </m:r>
                          <m:r>
                            <a:rPr lang="en-US" sz="22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)(2 − </m:t>
                          </m:r>
                          <m:r>
                            <a:rPr lang="en-US" sz="22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𝜆</m:t>
                          </m:r>
                          <m:r>
                            <a:rPr lang="en-US" sz="22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) = 0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Set it to zero: (3-λ)(1-λ)(2-λ)=0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6C133E5-782B-3343-A96C-C432540765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7000" y="4191000"/>
                <a:ext cx="9398000" cy="508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7F402DB0-7F37-C94A-B3DA-DBB2C8E8C120}"/>
              </a:ext>
            </a:extLst>
          </p:cNvPr>
          <p:cNvSpPr txBox="1"/>
          <p:nvPr/>
        </p:nvSpPr>
        <p:spPr>
          <a:xfrm>
            <a:off x="1397000" y="5232400"/>
            <a:ext cx="93980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i="1">
                <a:solidFill>
                  <a:srgbClr val="00A7B5"/>
                </a:solidFill>
              </a:rPr>
              <a:t>It is already factored — each factor gives one eigenvalue.</a:t>
            </a:r>
          </a:p>
        </p:txBody>
      </p:sp>
    </p:spTree>
    <p:extLst>
      <p:ext uri="{BB962C8B-B14F-4D97-AF65-F5344CB8AC3E}">
        <p14:creationId xmlns:p14="http://schemas.microsoft.com/office/powerpoint/2010/main" val="18853254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09B04A2-CCFE-874C-8F93-F159C48E8EBE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E6938B-3573-9F4B-8D45-5585710F375A}"/>
              </a:ext>
            </a:extLst>
          </p:cNvPr>
          <p:cNvSpPr txBox="1"/>
          <p:nvPr/>
        </p:nvSpPr>
        <p:spPr>
          <a:xfrm>
            <a:off x="762000" y="685800"/>
            <a:ext cx="8890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Example 3 (3×3, triangular) — Step 4: The Eigenvalues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83F2D18-5BD6-0D43-A3A1-D9384B90D94D}"/>
              </a:ext>
            </a:extLst>
          </p:cNvPr>
          <p:cNvSpPr/>
          <p:nvPr/>
        </p:nvSpPr>
        <p:spPr>
          <a:xfrm>
            <a:off x="9931400" y="711200"/>
            <a:ext cx="14986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Step 4 / 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96E428-C5F6-D147-A7FA-5E59E6B25679}"/>
              </a:ext>
            </a:extLst>
          </p:cNvPr>
          <p:cNvSpPr txBox="1"/>
          <p:nvPr/>
        </p:nvSpPr>
        <p:spPr>
          <a:xfrm>
            <a:off x="762000" y="1320800"/>
            <a:ext cx="10668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Each factor set to zero gives one eigenvalue.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8BF4995-4259-E64F-8AAB-D21ACD98D2EA}"/>
              </a:ext>
            </a:extLst>
          </p:cNvPr>
          <p:cNvSpPr/>
          <p:nvPr/>
        </p:nvSpPr>
        <p:spPr>
          <a:xfrm>
            <a:off x="762000" y="1930400"/>
            <a:ext cx="106680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D60696D-C06A-A145-92D2-355613E57FB6}"/>
                  </a:ext>
                </a:extLst>
              </p:cNvPr>
              <p:cNvSpPr txBox="1"/>
              <p:nvPr/>
            </p:nvSpPr>
            <p:spPr>
              <a:xfrm>
                <a:off x="1905000" y="2463800"/>
                <a:ext cx="8382000" cy="2032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3 − </m:t>
                          </m:r>
                          <m:r>
                            <a:rPr lang="en-US" sz="24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𝜆</m:t>
                          </m:r>
                          <m:r>
                            <a:rPr lang="en-US" sz="24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= 0   ⇒   </m:t>
                          </m:r>
                          <m:r>
                            <a:rPr lang="en-US" sz="24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𝜆</m:t>
                          </m:r>
                          <m:r>
                            <a:rPr lang="en-US" sz="24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= 3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3-λ=0 =&gt; λ=3</a:t>
                    </a:r>
                  </mc:Fallback>
                </mc:AlternateContent>
                <a:endParaRPr/>
              </a:p>
              <a:p>
                <a:pPr algn="l">
                  <a:spcBef>
                    <a:spcPts val="1400"/>
                  </a:spcBef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1 − </m:t>
                          </m:r>
                          <m:r>
                            <a:rPr lang="en-US" sz="24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𝜆</m:t>
                          </m:r>
                          <m:r>
                            <a:rPr lang="en-US" sz="24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= 0   ⇒   </m:t>
                          </m:r>
                          <m:r>
                            <a:rPr lang="en-US" sz="24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𝜆</m:t>
                          </m:r>
                          <m:r>
                            <a:rPr lang="en-US" sz="24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= 1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1-λ=0 =&gt; λ=1</a:t>
                    </a:r>
                  </mc:Fallback>
                </mc:AlternateContent>
                <a:endParaRPr/>
              </a:p>
              <a:p>
                <a:pPr algn="l">
                  <a:spcBef>
                    <a:spcPts val="1400"/>
                  </a:spcBef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2 − </m:t>
                          </m:r>
                          <m:r>
                            <a:rPr lang="en-US" sz="24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𝜆</m:t>
                          </m:r>
                          <m:r>
                            <a:rPr lang="en-US" sz="24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= 0   ⇒   </m:t>
                          </m:r>
                          <m:r>
                            <a:rPr lang="en-US" sz="24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𝜆</m:t>
                          </m:r>
                          <m:r>
                            <a:rPr lang="en-US" sz="24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= 2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2-λ=0 =&gt; λ=2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D60696D-C06A-A145-92D2-355613E57F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463800"/>
                <a:ext cx="8382000" cy="2032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22DF0CD-6F95-824F-8C74-9E88805F41FB}"/>
              </a:ext>
            </a:extLst>
          </p:cNvPr>
          <p:cNvSpPr/>
          <p:nvPr/>
        </p:nvSpPr>
        <p:spPr>
          <a:xfrm>
            <a:off x="1905000" y="4978400"/>
            <a:ext cx="8382000" cy="762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A9947F0-6A82-C446-937D-8F9F2248CDBC}"/>
                  </a:ext>
                </a:extLst>
              </p:cNvPr>
              <p:cNvSpPr txBox="1"/>
              <p:nvPr/>
            </p:nvSpPr>
            <p:spPr>
              <a:xfrm>
                <a:off x="2032000" y="4978400"/>
                <a:ext cx="8128000" cy="762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ctr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b="1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>
                                  <a:solidFill>
                                    <a:srgbClr val="FFFFFF"/>
                                  </a:solidFill>
                                  <a:latin typeface="Cambria Math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1200" b="1" i="0">
                                  <a:solidFill>
                                    <a:srgbClr val="FFFFFF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1" i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 = 3      </m:t>
                          </m:r>
                          <m:sSub>
                            <m:sSubPr>
                              <m:ctrlPr>
                                <a:rPr lang="en-US" sz="2000" b="1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>
                                  <a:solidFill>
                                    <a:srgbClr val="FFFFFF"/>
                                  </a:solidFill>
                                  <a:latin typeface="Cambria Math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1200" b="1" i="0">
                                  <a:solidFill>
                                    <a:srgbClr val="FFFFFF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b="1" i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 = 1      </m:t>
                          </m:r>
                          <m:sSub>
                            <m:sSubPr>
                              <m:ctrlPr>
                                <a:rPr lang="en-US" sz="2000" b="1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>
                                  <a:solidFill>
                                    <a:srgbClr val="FFFFFF"/>
                                  </a:solidFill>
                                  <a:latin typeface="Cambria Math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1200" b="1" i="0">
                                  <a:solidFill>
                                    <a:srgbClr val="FFFFFF"/>
                                  </a:solidFill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000" b="1" i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 = 2     ( = </m:t>
                          </m:r>
                          <m:r>
                            <a:rPr lang="en-US" sz="2000" b="1" i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𝑡h𝑒</m:t>
                          </m:r>
                          <m:r>
                            <a:rPr lang="en-US" sz="2000" b="1" i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sz="2000" b="1" i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𝑑𝑖𝑎𝑔𝑜𝑛𝑎𝑙</m:t>
                          </m:r>
                          <m:r>
                            <a:rPr lang="en-US" sz="2000" b="1" i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! )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λ1=3 λ2=1 λ3=2 (the diagonal)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A9947F0-6A82-C446-937D-8F9F2248CD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2000" y="4978400"/>
                <a:ext cx="8128000" cy="762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63420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867FDC8-0602-594A-83ED-1BEB3B4910F8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5FC527-59C3-8E48-AB18-B623A61F526E}"/>
              </a:ext>
            </a:extLst>
          </p:cNvPr>
          <p:cNvSpPr txBox="1"/>
          <p:nvPr/>
        </p:nvSpPr>
        <p:spPr>
          <a:xfrm>
            <a:off x="762000" y="685800"/>
            <a:ext cx="8890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Example 3 (3×3) — Step 5: Eigenvector for </a:t>
            </a:r>
            <a:r>
              <a:rPr lang="el-GR" sz="2600" b="1">
                <a:solidFill>
                  <a:srgbClr val="4B2E83"/>
                </a:solidFill>
              </a:rPr>
              <a:t>λ = 3</a:t>
            </a:r>
            <a:endParaRPr lang="en-US" sz="2600" b="1">
              <a:solidFill>
                <a:srgbClr val="4B2E83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44E4E0E-2788-5E43-9FF2-DE6B7309FFC1}"/>
              </a:ext>
            </a:extLst>
          </p:cNvPr>
          <p:cNvSpPr/>
          <p:nvPr/>
        </p:nvSpPr>
        <p:spPr>
          <a:xfrm>
            <a:off x="9931400" y="711200"/>
            <a:ext cx="14986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Step 5 / 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F5B17E-9EAA-204C-9397-394EBB778456}"/>
              </a:ext>
            </a:extLst>
          </p:cNvPr>
          <p:cNvSpPr txBox="1"/>
          <p:nvPr/>
        </p:nvSpPr>
        <p:spPr>
          <a:xfrm>
            <a:off x="762000" y="1320800"/>
            <a:ext cx="10668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Solve (A − 3I)v = 0.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0F26568-A455-8543-9CF3-7CF90247CD98}"/>
              </a:ext>
            </a:extLst>
          </p:cNvPr>
          <p:cNvSpPr/>
          <p:nvPr/>
        </p:nvSpPr>
        <p:spPr>
          <a:xfrm>
            <a:off x="762000" y="1930400"/>
            <a:ext cx="106680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86255ED-29B8-5947-82B9-EA74BDA1C314}"/>
                  </a:ext>
                </a:extLst>
              </p:cNvPr>
              <p:cNvSpPr txBox="1"/>
              <p:nvPr/>
            </p:nvSpPr>
            <p:spPr>
              <a:xfrm>
                <a:off x="1397000" y="2921000"/>
                <a:ext cx="2159000" cy="508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1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𝐴</m:t>
                          </m:r>
                          <m:r>
                            <a:rPr lang="en-US" sz="24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− 3</m:t>
                          </m:r>
                          <m:r>
                            <a:rPr lang="en-US" sz="2400" b="1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𝐼</m:t>
                          </m:r>
                          <m:r>
                            <a:rPr lang="en-US" sz="24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=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A - 3I =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86255ED-29B8-5947-82B9-EA74BDA1C3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7000" y="2921000"/>
                <a:ext cx="2159000" cy="508000"/>
              </a:xfrm>
              <a:prstGeom prst="rect">
                <a:avLst/>
              </a:prstGeom>
              <a:blipFill>
                <a:blip r:embed="rId2"/>
                <a:stretch>
                  <a:fillRect b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70E0634-7D30-5A44-9FE2-BC77BB11D773}"/>
                  </a:ext>
                </a:extLst>
              </p:cNvPr>
              <p:cNvSpPr txBox="1"/>
              <p:nvPr/>
            </p:nvSpPr>
            <p:spPr>
              <a:xfrm>
                <a:off x="3683000" y="2514600"/>
                <a:ext cx="2794000" cy="1524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["/>
                              <m:endChr m:val="]"/>
                              <m:ctrlPr>
                                <a:rPr lang="en-US" sz="2200" b="1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200" b="1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−2</m:t>
                                    </m:r>
                                  </m:e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−1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[A-3I]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70E0634-7D30-5A44-9FE2-BC77BB11D7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3000" y="2514600"/>
                <a:ext cx="2794000" cy="1524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0BCADB1-8DA7-C646-A120-91E6AFEFDD94}"/>
                  </a:ext>
                </a:extLst>
              </p:cNvPr>
              <p:cNvSpPr txBox="1"/>
              <p:nvPr/>
            </p:nvSpPr>
            <p:spPr>
              <a:xfrm>
                <a:off x="7112000" y="2616200"/>
                <a:ext cx="4064000" cy="1651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2</m:t>
                          </m:r>
                          <m:r>
                            <a:rPr lang="en-US" sz="20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𝑦</m:t>
                          </m:r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= 0   ⇒   </m:t>
                          </m:r>
                          <m:r>
                            <a:rPr lang="en-US" sz="20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𝑦</m:t>
                          </m:r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= 0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2y=0 =&gt; y=0</a:t>
                    </a:r>
                  </mc:Fallback>
                </mc:AlternateContent>
                <a:endParaRPr/>
              </a:p>
              <a:p>
                <a:pPr algn="l">
                  <a:spcBef>
                    <a:spcPts val="1000"/>
                  </a:spcBef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sz="20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𝑧</m:t>
                          </m:r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= 0   ⇒   </m:t>
                          </m:r>
                          <m:r>
                            <a:rPr lang="en-US" sz="20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𝑧</m:t>
                          </m:r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= 0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-z=0 =&gt; z=0</a:t>
                    </a:r>
                  </mc:Fallback>
                </mc:AlternateContent>
                <a:endParaRPr/>
              </a:p>
              <a:p>
                <a:pPr algn="l">
                  <a:spcBef>
                    <a:spcPts val="1000"/>
                  </a:spcBef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𝑖𝑠</m:t>
                          </m:r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𝑓𝑟𝑒𝑒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x is free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0BCADB1-8DA7-C646-A120-91E6AFEFDD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000" y="2616200"/>
                <a:ext cx="4064000" cy="1651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D5464F3-6081-6445-A54F-709F56916C68}"/>
                  </a:ext>
                </a:extLst>
              </p:cNvPr>
              <p:cNvSpPr txBox="1"/>
              <p:nvPr/>
            </p:nvSpPr>
            <p:spPr>
              <a:xfrm>
                <a:off x="3683000" y="4724400"/>
                <a:ext cx="889000" cy="6096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1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𝑣</m:t>
                          </m:r>
                          <m:r>
                            <a:rPr lang="en-US" sz="24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=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v =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D5464F3-6081-6445-A54F-709F56916C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3000" y="4724400"/>
                <a:ext cx="889000" cy="609600"/>
              </a:xfrm>
              <a:prstGeom prst="rect">
                <a:avLst/>
              </a:prstGeom>
              <a:blipFill>
                <a:blip r:embed="rId5"/>
                <a:stretch>
                  <a:fillRect b="-4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558C4FA-2B8B-C44F-A8F4-38E62F2E8DA4}"/>
                  </a:ext>
                </a:extLst>
              </p:cNvPr>
              <p:cNvSpPr txBox="1"/>
              <p:nvPr/>
            </p:nvSpPr>
            <p:spPr>
              <a:xfrm>
                <a:off x="4622800" y="4470400"/>
                <a:ext cx="1016000" cy="1397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["/>
                              <m:endChr m:val="]"/>
                              <m:ctrlPr>
                                <a:rPr lang="en-US" sz="2200" b="1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200" b="1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[1;0;0]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558C4FA-2B8B-C44F-A8F4-38E62F2E8D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2800" y="4470400"/>
                <a:ext cx="1016000" cy="1397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764C44E-FCBA-E741-9227-3E472136B159}"/>
                  </a:ext>
                </a:extLst>
              </p:cNvPr>
              <p:cNvSpPr txBox="1"/>
              <p:nvPr/>
            </p:nvSpPr>
            <p:spPr>
              <a:xfrm>
                <a:off x="5969000" y="4902200"/>
                <a:ext cx="2540000" cy="381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0" i="0">
                              <a:solidFill>
                                <a:srgbClr val="00A7B5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sz="1600" b="0" i="1">
                              <a:solidFill>
                                <a:srgbClr val="00A7B5"/>
                              </a:solidFill>
                              <a:latin typeface="Cambria Math"/>
                            </a:rPr>
                            <m:t>𝜆</m:t>
                          </m:r>
                          <m:r>
                            <a:rPr lang="en-US" sz="1600" b="0" i="0">
                              <a:solidFill>
                                <a:srgbClr val="00A7B5"/>
                              </a:solidFill>
                              <a:latin typeface="Cambria Math"/>
                            </a:rPr>
                            <m:t> = 3)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(λ = 3)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764C44E-FCBA-E741-9227-3E472136B1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9000" y="4902200"/>
                <a:ext cx="2540000" cy="381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70543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DD77435-A52B-484E-BFB5-5688B896AB71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3FC24F-0584-DC4A-8990-FDD307D49C20}"/>
              </a:ext>
            </a:extLst>
          </p:cNvPr>
          <p:cNvSpPr txBox="1"/>
          <p:nvPr/>
        </p:nvSpPr>
        <p:spPr>
          <a:xfrm>
            <a:off x="762000" y="685800"/>
            <a:ext cx="8890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Example 3 (3×3) — Step 6: Eigenvector for </a:t>
            </a:r>
            <a:r>
              <a:rPr lang="el-GR" sz="2600" b="1">
                <a:solidFill>
                  <a:srgbClr val="4B2E83"/>
                </a:solidFill>
              </a:rPr>
              <a:t>λ = 1</a:t>
            </a:r>
            <a:endParaRPr lang="en-US" sz="2600" b="1">
              <a:solidFill>
                <a:srgbClr val="4B2E83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8B2BE8F-8F55-B146-850E-9BD0B37960ED}"/>
              </a:ext>
            </a:extLst>
          </p:cNvPr>
          <p:cNvSpPr/>
          <p:nvPr/>
        </p:nvSpPr>
        <p:spPr>
          <a:xfrm>
            <a:off x="9931400" y="711200"/>
            <a:ext cx="14986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Step 6 / 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DD9206-EB0C-944A-AE3D-E3F59EC84A4A}"/>
              </a:ext>
            </a:extLst>
          </p:cNvPr>
          <p:cNvSpPr txBox="1"/>
          <p:nvPr/>
        </p:nvSpPr>
        <p:spPr>
          <a:xfrm>
            <a:off x="762000" y="1320800"/>
            <a:ext cx="10668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Solve (A − I)v = 0.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27633EB-6217-4049-BA8E-E414707555C5}"/>
              </a:ext>
            </a:extLst>
          </p:cNvPr>
          <p:cNvSpPr/>
          <p:nvPr/>
        </p:nvSpPr>
        <p:spPr>
          <a:xfrm>
            <a:off x="762000" y="1930400"/>
            <a:ext cx="106680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898F6CA-1095-DD48-AAA9-A29C0650D8E6}"/>
                  </a:ext>
                </a:extLst>
              </p:cNvPr>
              <p:cNvSpPr txBox="1"/>
              <p:nvPr/>
            </p:nvSpPr>
            <p:spPr>
              <a:xfrm>
                <a:off x="1397000" y="2921000"/>
                <a:ext cx="1905000" cy="508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1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𝐴</m:t>
                          </m:r>
                          <m:r>
                            <a:rPr lang="en-US" sz="24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− </m:t>
                          </m:r>
                          <m:r>
                            <a:rPr lang="en-US" sz="2400" b="1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𝐼</m:t>
                          </m:r>
                          <m:r>
                            <a:rPr lang="en-US" sz="24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=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A - I =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898F6CA-1095-DD48-AAA9-A29C0650D8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7000" y="2921000"/>
                <a:ext cx="1905000" cy="508000"/>
              </a:xfrm>
              <a:prstGeom prst="rect">
                <a:avLst/>
              </a:prstGeom>
              <a:blipFill>
                <a:blip r:embed="rId2"/>
                <a:stretch>
                  <a:fillRect b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14F70EF-C269-124D-9CDA-4BFECFE520F1}"/>
                  </a:ext>
                </a:extLst>
              </p:cNvPr>
              <p:cNvSpPr txBox="1"/>
              <p:nvPr/>
            </p:nvSpPr>
            <p:spPr>
              <a:xfrm>
                <a:off x="3429000" y="2514600"/>
                <a:ext cx="2794000" cy="1524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["/>
                              <m:endChr m:val="]"/>
                              <m:ctrlPr>
                                <a:rPr lang="en-US" sz="2200" b="1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200" b="1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[A-I]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14F70EF-C269-124D-9CDA-4BFECFE520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0" y="2514600"/>
                <a:ext cx="2794000" cy="1524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128AF9A-C6CB-E142-BF29-F122383F2B64}"/>
                  </a:ext>
                </a:extLst>
              </p:cNvPr>
              <p:cNvSpPr txBox="1"/>
              <p:nvPr/>
            </p:nvSpPr>
            <p:spPr>
              <a:xfrm>
                <a:off x="7112000" y="2768600"/>
                <a:ext cx="4191000" cy="1397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𝑧</m:t>
                          </m:r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= 0    (</m:t>
                          </m:r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𝑟𝑜𝑤</m:t>
                          </m:r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3)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z = 0 (row 3)</a:t>
                    </a:r>
                  </mc:Fallback>
                </mc:AlternateContent>
                <a:endParaRPr/>
              </a:p>
              <a:p>
                <a:pPr algn="l">
                  <a:spcBef>
                    <a:spcPts val="1200"/>
                  </a:spcBef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2</m:t>
                          </m:r>
                          <m:r>
                            <a:rPr lang="en-US" sz="20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+ 2</m:t>
                          </m:r>
                          <m:r>
                            <a:rPr lang="en-US" sz="20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𝑦</m:t>
                          </m:r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= 0   ⇒   </m:t>
                          </m:r>
                          <m:r>
                            <a:rPr lang="en-US" sz="20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n-US" sz="20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= −</m:t>
                          </m:r>
                          <m:r>
                            <a:rPr lang="en-US" sz="20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𝑦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2x+2y=0 =&gt; x=-y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128AF9A-C6CB-E142-BF29-F122383F2B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000" y="2768600"/>
                <a:ext cx="4191000" cy="1397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6037A07-F90F-104C-8A0E-B18D273608C3}"/>
                  </a:ext>
                </a:extLst>
              </p:cNvPr>
              <p:cNvSpPr txBox="1"/>
              <p:nvPr/>
            </p:nvSpPr>
            <p:spPr>
              <a:xfrm>
                <a:off x="3429000" y="4724400"/>
                <a:ext cx="889000" cy="6096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1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𝑣</m:t>
                          </m:r>
                          <m:r>
                            <a:rPr lang="en-US" sz="24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=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v =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6037A07-F90F-104C-8A0E-B18D273608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0" y="4724400"/>
                <a:ext cx="889000" cy="609600"/>
              </a:xfrm>
              <a:prstGeom prst="rect">
                <a:avLst/>
              </a:prstGeom>
              <a:blipFill>
                <a:blip r:embed="rId5"/>
                <a:stretch>
                  <a:fillRect b="-4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634FCC1-8221-1C44-9C90-BC76965F451E}"/>
                  </a:ext>
                </a:extLst>
              </p:cNvPr>
              <p:cNvSpPr txBox="1"/>
              <p:nvPr/>
            </p:nvSpPr>
            <p:spPr>
              <a:xfrm>
                <a:off x="4368800" y="4470400"/>
                <a:ext cx="1143000" cy="1397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["/>
                              <m:endChr m:val="]"/>
                              <m:ctrlPr>
                                <a:rPr lang="en-US" sz="2200" b="1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200" b="1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−1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[1;-1;0]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634FCC1-8221-1C44-9C90-BC76965F45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8800" y="4470400"/>
                <a:ext cx="1143000" cy="1397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4745EBE-A89B-FA48-945F-A002A2ABE4C3}"/>
                  </a:ext>
                </a:extLst>
              </p:cNvPr>
              <p:cNvSpPr txBox="1"/>
              <p:nvPr/>
            </p:nvSpPr>
            <p:spPr>
              <a:xfrm>
                <a:off x="5969000" y="4902200"/>
                <a:ext cx="2540000" cy="381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0" i="0">
                              <a:solidFill>
                                <a:srgbClr val="00A7B5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sz="1600" b="0" i="1">
                              <a:solidFill>
                                <a:srgbClr val="00A7B5"/>
                              </a:solidFill>
                              <a:latin typeface="Cambria Math"/>
                            </a:rPr>
                            <m:t>𝜆</m:t>
                          </m:r>
                          <m:r>
                            <a:rPr lang="en-US" sz="1600" b="0" i="0">
                              <a:solidFill>
                                <a:srgbClr val="00A7B5"/>
                              </a:solidFill>
                              <a:latin typeface="Cambria Math"/>
                            </a:rPr>
                            <m:t> = 1)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(λ = 1)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4745EBE-A89B-FA48-945F-A002A2ABE4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9000" y="4902200"/>
                <a:ext cx="2540000" cy="381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04571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8B92920-4BCF-5C44-9EDC-F693AA5BDEB6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8F0BF2-5F46-204B-81D1-9A2210B6EBDE}"/>
              </a:ext>
            </a:extLst>
          </p:cNvPr>
          <p:cNvSpPr txBox="1"/>
          <p:nvPr/>
        </p:nvSpPr>
        <p:spPr>
          <a:xfrm>
            <a:off x="762000" y="685800"/>
            <a:ext cx="8890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Example 3 (3×3) — Step 7: Eigenvector for </a:t>
            </a:r>
            <a:r>
              <a:rPr lang="el-GR" sz="2600" b="1">
                <a:solidFill>
                  <a:srgbClr val="4B2E83"/>
                </a:solidFill>
              </a:rPr>
              <a:t>λ = 2</a:t>
            </a:r>
            <a:endParaRPr lang="en-US" sz="2600" b="1">
              <a:solidFill>
                <a:srgbClr val="4B2E83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A0DC76C-6719-6A45-850E-A9F5E4F019FC}"/>
              </a:ext>
            </a:extLst>
          </p:cNvPr>
          <p:cNvSpPr/>
          <p:nvPr/>
        </p:nvSpPr>
        <p:spPr>
          <a:xfrm>
            <a:off x="9931400" y="711200"/>
            <a:ext cx="14986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Step 7 / 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376A3B-8842-3540-813A-441620C9C59B}"/>
              </a:ext>
            </a:extLst>
          </p:cNvPr>
          <p:cNvSpPr txBox="1"/>
          <p:nvPr/>
        </p:nvSpPr>
        <p:spPr>
          <a:xfrm>
            <a:off x="762000" y="1320800"/>
            <a:ext cx="10668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Solve (A − 2I)v = 0, then collect all three eigenpairs.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00CF56F-FF5C-DF48-A680-7592CB2FECC3}"/>
              </a:ext>
            </a:extLst>
          </p:cNvPr>
          <p:cNvSpPr/>
          <p:nvPr/>
        </p:nvSpPr>
        <p:spPr>
          <a:xfrm>
            <a:off x="762000" y="1930400"/>
            <a:ext cx="106680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76362E4-62C5-7444-9FAC-6CC6E3A3B400}"/>
                  </a:ext>
                </a:extLst>
              </p:cNvPr>
              <p:cNvSpPr txBox="1"/>
              <p:nvPr/>
            </p:nvSpPr>
            <p:spPr>
              <a:xfrm>
                <a:off x="1219200" y="2717800"/>
                <a:ext cx="2159000" cy="508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200" b="1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𝐴</m:t>
                          </m:r>
                          <m:r>
                            <a:rPr lang="en-US" sz="22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− 2</m:t>
                          </m:r>
                          <m:r>
                            <a:rPr lang="en-US" sz="2200" b="1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𝐼</m:t>
                          </m:r>
                          <m:r>
                            <a:rPr lang="en-US" sz="22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=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600"/>
                      <a:t>A - 2I =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76362E4-62C5-7444-9FAC-6CC6E3A3B4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2717800"/>
                <a:ext cx="2159000" cy="508000"/>
              </a:xfrm>
              <a:prstGeom prst="rect">
                <a:avLst/>
              </a:prstGeom>
              <a:blipFill>
                <a:blip r:embed="rId2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C8CB440-BC35-B042-B162-475A66BC11FF}"/>
                  </a:ext>
                </a:extLst>
              </p:cNvPr>
              <p:cNvSpPr txBox="1"/>
              <p:nvPr/>
            </p:nvSpPr>
            <p:spPr>
              <a:xfrm>
                <a:off x="3403600" y="2362200"/>
                <a:ext cx="2667000" cy="1397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1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000" b="1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20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sz="20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US" sz="20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0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−1</m:t>
                                    </m:r>
                                  </m:e>
                                  <m:e>
                                    <m:r>
                                      <a:rPr lang="en-US" sz="20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0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0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</mc:Choice>
                  <mc:Fallback xmlns="">
                    <a:r>
                      <a:rPr lang="en-US" sz="1600"/>
                      <a:t>[A-2I]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C8CB440-BC35-B042-B162-475A66BC11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3600" y="2362200"/>
                <a:ext cx="2667000" cy="1397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439B0FB-08B7-3B49-8B4E-F41D76551DD9}"/>
                  </a:ext>
                </a:extLst>
              </p:cNvPr>
              <p:cNvSpPr txBox="1"/>
              <p:nvPr/>
            </p:nvSpPr>
            <p:spPr>
              <a:xfrm>
                <a:off x="6604000" y="2489200"/>
                <a:ext cx="4318000" cy="1270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8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sz="18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𝑦</m:t>
                          </m:r>
                          <m:r>
                            <a:rPr lang="en-US" sz="18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= 0   ⇒   </m:t>
                          </m:r>
                          <m:r>
                            <a:rPr lang="en-US" sz="18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𝑦</m:t>
                          </m:r>
                          <m:r>
                            <a:rPr lang="en-US" sz="18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= 0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600"/>
                      <a:t>-y=0 =&gt; y=0</a:t>
                    </a:r>
                  </mc:Fallback>
                </mc:AlternateContent>
                <a:endParaRPr/>
              </a:p>
              <a:p>
                <a:pPr algn="l">
                  <a:spcBef>
                    <a:spcPts val="800"/>
                  </a:spcBef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8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n-US" sz="18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+ 2</m:t>
                          </m:r>
                          <m:r>
                            <a:rPr lang="en-US" sz="18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𝑦</m:t>
                          </m:r>
                          <m:r>
                            <a:rPr lang="en-US" sz="18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= 0   ⇒   </m:t>
                          </m:r>
                          <m:r>
                            <a:rPr lang="en-US" sz="18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n-US" sz="18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= 0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600"/>
                      <a:t>x+2y=0 =&gt; x=0</a:t>
                    </a:r>
                  </mc:Fallback>
                </mc:AlternateContent>
                <a:endParaRPr/>
              </a:p>
              <a:p>
                <a:pPr algn="l">
                  <a:spcBef>
                    <a:spcPts val="800"/>
                  </a:spcBef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8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𝑧</m:t>
                          </m:r>
                          <m:r>
                            <a:rPr lang="en-US" sz="18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sz="18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𝑖𝑠</m:t>
                          </m:r>
                          <m:r>
                            <a:rPr lang="en-US" sz="18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sz="18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𝑓𝑟𝑒𝑒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600"/>
                      <a:t>z is free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439B0FB-08B7-3B49-8B4E-F41D76551D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000" y="2489200"/>
                <a:ext cx="4318000" cy="1270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06ED36B-C037-504A-99AB-9F66F2D7ED64}"/>
                  </a:ext>
                </a:extLst>
              </p:cNvPr>
              <p:cNvSpPr txBox="1"/>
              <p:nvPr/>
            </p:nvSpPr>
            <p:spPr>
              <a:xfrm>
                <a:off x="5054600" y="4089400"/>
                <a:ext cx="762000" cy="5588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200" b="1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𝑣</m:t>
                          </m:r>
                          <m:r>
                            <a:rPr lang="en-US" sz="22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=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600"/>
                      <a:t>v =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06ED36B-C037-504A-99AB-9F66F2D7ED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4600" y="4089400"/>
                <a:ext cx="762000" cy="558800"/>
              </a:xfrm>
              <a:prstGeom prst="rect">
                <a:avLst/>
              </a:prstGeom>
              <a:blipFill>
                <a:blip r:embed="rId5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D136BCA-9431-D14D-8665-C9001133D659}"/>
                  </a:ext>
                </a:extLst>
              </p:cNvPr>
              <p:cNvSpPr txBox="1"/>
              <p:nvPr/>
            </p:nvSpPr>
            <p:spPr>
              <a:xfrm>
                <a:off x="5867400" y="3886200"/>
                <a:ext cx="889000" cy="12192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1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000" b="1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20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0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0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</mc:Choice>
                  <mc:Fallback xmlns="">
                    <a:r>
                      <a:rPr lang="en-US" sz="1600"/>
                      <a:t>[0;0;1]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D136BCA-9431-D14D-8665-C9001133D6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7400" y="3886200"/>
                <a:ext cx="889000" cy="12192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783B5C3-94AA-5949-B903-34B94005C3B2}"/>
              </a:ext>
            </a:extLst>
          </p:cNvPr>
          <p:cNvSpPr/>
          <p:nvPr/>
        </p:nvSpPr>
        <p:spPr>
          <a:xfrm>
            <a:off x="1143000" y="5130800"/>
            <a:ext cx="9906000" cy="7112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71953C3-7E9C-B64E-ADE9-81A3F802A79F}"/>
                  </a:ext>
                </a:extLst>
              </p:cNvPr>
              <p:cNvSpPr txBox="1"/>
              <p:nvPr/>
            </p:nvSpPr>
            <p:spPr>
              <a:xfrm>
                <a:off x="1397000" y="5130800"/>
                <a:ext cx="9398000" cy="7112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ctr"/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700" b="1" i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𝐸𝑖𝑔𝑒𝑛𝑝𝑎𝑖𝑟𝑠</m:t>
                          </m:r>
                          <m:r>
                            <a:rPr lang="en-US" sz="1700" b="1" i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:   </m:t>
                          </m:r>
                          <m:r>
                            <a:rPr lang="en-US" sz="17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𝜆</m:t>
                          </m:r>
                          <m:r>
                            <a:rPr lang="en-US" sz="1700" b="1" i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 = 3 → 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700" b="1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1700" b="1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1700" b="1" i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sz="1700" b="1" i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1700" b="1" i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US" sz="1700" b="1" i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      </m:t>
                          </m:r>
                          <m:r>
                            <a:rPr lang="en-US" sz="17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𝜆</m:t>
                          </m:r>
                          <m:r>
                            <a:rPr lang="en-US" sz="1700" b="1" i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 = 1 → 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700" b="1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1700" b="1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1700" b="1" i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sz="1700" b="1" i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</a:rPr>
                                      <m:t>−1</m:t>
                                    </m:r>
                                  </m:e>
                                  <m:e>
                                    <m:r>
                                      <a:rPr lang="en-US" sz="1700" b="1" i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US" sz="1700" b="1" i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      </m:t>
                          </m:r>
                          <m:r>
                            <a:rPr lang="en-US" sz="17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𝜆</m:t>
                          </m:r>
                          <m:r>
                            <a:rPr lang="en-US" sz="1700" b="1" i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 = 2 → 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700" b="1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1700" b="1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1700" b="1" i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1700" b="1" i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1700" b="1" i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</mc:Choice>
                  <mc:Fallback xmlns="">
                    <a:r>
                      <a:rPr lang="en-US" sz="1600"/>
                      <a:t>Eigenpairs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71953C3-7E9C-B64E-ADE9-81A3F802A7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7000" y="5130800"/>
                <a:ext cx="9398000" cy="7112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90368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13D3C54-7F49-5D47-BA36-E1A1F1C19F13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BAEEF2-63C4-6E44-8827-3D8C8E4F9D8A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PCA — Geometric Intuition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49501E-5761-104F-B4EE-2FB03A10C15D}"/>
              </a:ext>
            </a:extLst>
          </p:cNvPr>
          <p:cNvSpPr/>
          <p:nvPr/>
        </p:nvSpPr>
        <p:spPr>
          <a:xfrm>
            <a:off x="1016000" y="1905000"/>
            <a:ext cx="4572000" cy="4191000"/>
          </a:xfrm>
          <a:prstGeom prst="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C9421B2-CC3F-6D4B-8B87-8AF3CBC4EF40}"/>
              </a:ext>
            </a:extLst>
          </p:cNvPr>
          <p:cNvSpPr/>
          <p:nvPr/>
        </p:nvSpPr>
        <p:spPr>
          <a:xfrm>
            <a:off x="1447800" y="2806700"/>
            <a:ext cx="76200" cy="762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AFE5CD4-0528-874F-A4AD-F69BE691C0F1}"/>
              </a:ext>
            </a:extLst>
          </p:cNvPr>
          <p:cNvSpPr/>
          <p:nvPr/>
        </p:nvSpPr>
        <p:spPr>
          <a:xfrm>
            <a:off x="1943100" y="2971800"/>
            <a:ext cx="76200" cy="762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E532A68-3BB4-2940-B15C-D7C59ADB0561}"/>
              </a:ext>
            </a:extLst>
          </p:cNvPr>
          <p:cNvSpPr/>
          <p:nvPr/>
        </p:nvSpPr>
        <p:spPr>
          <a:xfrm>
            <a:off x="1778000" y="3302000"/>
            <a:ext cx="76200" cy="762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923CAE1-AEA3-F344-B61E-7D0E9DE351F7}"/>
              </a:ext>
            </a:extLst>
          </p:cNvPr>
          <p:cNvSpPr/>
          <p:nvPr/>
        </p:nvSpPr>
        <p:spPr>
          <a:xfrm>
            <a:off x="2273300" y="3136900"/>
            <a:ext cx="76200" cy="762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26064AB-137E-E64A-BBAA-A084D8639C68}"/>
              </a:ext>
            </a:extLst>
          </p:cNvPr>
          <p:cNvSpPr/>
          <p:nvPr/>
        </p:nvSpPr>
        <p:spPr>
          <a:xfrm>
            <a:off x="2438400" y="3467100"/>
            <a:ext cx="76200" cy="762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63B33B7-120A-9148-A59C-80E9749FAA0A}"/>
              </a:ext>
            </a:extLst>
          </p:cNvPr>
          <p:cNvSpPr/>
          <p:nvPr/>
        </p:nvSpPr>
        <p:spPr>
          <a:xfrm>
            <a:off x="2768600" y="3549650"/>
            <a:ext cx="76200" cy="762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FCEBF6F-4BB7-8D45-BE0F-0E5BC7322FAE}"/>
              </a:ext>
            </a:extLst>
          </p:cNvPr>
          <p:cNvSpPr/>
          <p:nvPr/>
        </p:nvSpPr>
        <p:spPr>
          <a:xfrm>
            <a:off x="2933700" y="3797300"/>
            <a:ext cx="76200" cy="762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9B797D8-FFF7-A344-A8F9-B9500FD19141}"/>
              </a:ext>
            </a:extLst>
          </p:cNvPr>
          <p:cNvSpPr/>
          <p:nvPr/>
        </p:nvSpPr>
        <p:spPr>
          <a:xfrm>
            <a:off x="3263900" y="3879850"/>
            <a:ext cx="76200" cy="762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D3421C8-AA18-AF47-8246-6492699A3071}"/>
              </a:ext>
            </a:extLst>
          </p:cNvPr>
          <p:cNvSpPr/>
          <p:nvPr/>
        </p:nvSpPr>
        <p:spPr>
          <a:xfrm>
            <a:off x="3429000" y="4044950"/>
            <a:ext cx="76200" cy="762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35A60D7-8BF6-0344-9CA8-EA80B89BD096}"/>
              </a:ext>
            </a:extLst>
          </p:cNvPr>
          <p:cNvSpPr/>
          <p:nvPr/>
        </p:nvSpPr>
        <p:spPr>
          <a:xfrm>
            <a:off x="3759200" y="4127500"/>
            <a:ext cx="76200" cy="762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07F2043-433D-CE46-A2ED-D6B6129F2994}"/>
              </a:ext>
            </a:extLst>
          </p:cNvPr>
          <p:cNvSpPr/>
          <p:nvPr/>
        </p:nvSpPr>
        <p:spPr>
          <a:xfrm>
            <a:off x="4089400" y="4375150"/>
            <a:ext cx="76200" cy="762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69B6CAE-A818-B849-82AE-11A7677B2009}"/>
              </a:ext>
            </a:extLst>
          </p:cNvPr>
          <p:cNvSpPr/>
          <p:nvPr/>
        </p:nvSpPr>
        <p:spPr>
          <a:xfrm>
            <a:off x="4254500" y="4210050"/>
            <a:ext cx="76200" cy="762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5328BC4-115F-9D47-9A7B-434872C60930}"/>
              </a:ext>
            </a:extLst>
          </p:cNvPr>
          <p:cNvSpPr/>
          <p:nvPr/>
        </p:nvSpPr>
        <p:spPr>
          <a:xfrm>
            <a:off x="4584700" y="4622800"/>
            <a:ext cx="76200" cy="762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6DD8032-1A9A-EC44-A294-AE0FA31D4229}"/>
              </a:ext>
            </a:extLst>
          </p:cNvPr>
          <p:cNvSpPr/>
          <p:nvPr/>
        </p:nvSpPr>
        <p:spPr>
          <a:xfrm>
            <a:off x="4749800" y="4787900"/>
            <a:ext cx="76200" cy="762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022C872-65B2-B849-A825-BC7420A651BF}"/>
              </a:ext>
            </a:extLst>
          </p:cNvPr>
          <p:cNvSpPr/>
          <p:nvPr/>
        </p:nvSpPr>
        <p:spPr>
          <a:xfrm>
            <a:off x="5080000" y="4953000"/>
            <a:ext cx="76200" cy="762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649AF67-9DF2-F24C-9765-C436081A637E}"/>
              </a:ext>
            </a:extLst>
          </p:cNvPr>
          <p:cNvSpPr/>
          <p:nvPr/>
        </p:nvSpPr>
        <p:spPr>
          <a:xfrm>
            <a:off x="2108200" y="3632200"/>
            <a:ext cx="76200" cy="762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2CD84DC-BF9D-754A-B67E-975EEA369996}"/>
              </a:ext>
            </a:extLst>
          </p:cNvPr>
          <p:cNvSpPr/>
          <p:nvPr/>
        </p:nvSpPr>
        <p:spPr>
          <a:xfrm>
            <a:off x="3924300" y="4622800"/>
            <a:ext cx="76200" cy="762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C60DE78-6950-8F40-AD56-C99D66D0D634}"/>
              </a:ext>
            </a:extLst>
          </p:cNvPr>
          <p:cNvSpPr/>
          <p:nvPr/>
        </p:nvSpPr>
        <p:spPr>
          <a:xfrm>
            <a:off x="3098800" y="3384550"/>
            <a:ext cx="76200" cy="762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2DAE4A9-EB61-7447-B1FB-EB5C8C1E8AA3}"/>
              </a:ext>
            </a:extLst>
          </p:cNvPr>
          <p:cNvSpPr/>
          <p:nvPr/>
        </p:nvSpPr>
        <p:spPr>
          <a:xfrm>
            <a:off x="4419600" y="4292600"/>
            <a:ext cx="76200" cy="762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9E48509-BC44-9748-8B9D-3EE33355B8EB}"/>
              </a:ext>
            </a:extLst>
          </p:cNvPr>
          <p:cNvSpPr/>
          <p:nvPr/>
        </p:nvSpPr>
        <p:spPr>
          <a:xfrm>
            <a:off x="3594100" y="4457700"/>
            <a:ext cx="76200" cy="762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Right Arrow 26">
            <a:extLst>
              <a:ext uri="{FF2B5EF4-FFF2-40B4-BE49-F238E27FC236}">
                <a16:creationId xmlns:a16="http://schemas.microsoft.com/office/drawing/2014/main" id="{DA37389B-BC46-E043-AC75-D0EFDE7E3CEB}"/>
              </a:ext>
            </a:extLst>
          </p:cNvPr>
          <p:cNvSpPr/>
          <p:nvPr/>
        </p:nvSpPr>
        <p:spPr>
          <a:xfrm rot="1800000">
            <a:off x="1397000" y="3238500"/>
            <a:ext cx="3810000" cy="1778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1CBF3DE-59BB-9540-805B-109A1FB35E2C}"/>
              </a:ext>
            </a:extLst>
          </p:cNvPr>
          <p:cNvSpPr txBox="1"/>
          <p:nvPr/>
        </p:nvSpPr>
        <p:spPr>
          <a:xfrm>
            <a:off x="4191000" y="2540000"/>
            <a:ext cx="152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 b="1">
                <a:solidFill>
                  <a:srgbClr val="00A7B5"/>
                </a:solidFill>
              </a:rPr>
              <a:t>PC1 (max variance)</a:t>
            </a:r>
          </a:p>
        </p:txBody>
      </p:sp>
      <p:sp>
        <p:nvSpPr>
          <p:cNvPr id="29" name="Right Arrow 28">
            <a:extLst>
              <a:ext uri="{FF2B5EF4-FFF2-40B4-BE49-F238E27FC236}">
                <a16:creationId xmlns:a16="http://schemas.microsoft.com/office/drawing/2014/main" id="{4505CE33-F04C-F64C-95FB-C70636DFAE28}"/>
              </a:ext>
            </a:extLst>
          </p:cNvPr>
          <p:cNvSpPr/>
          <p:nvPr/>
        </p:nvSpPr>
        <p:spPr>
          <a:xfrm rot="-3600000">
            <a:off x="3238500" y="3683000"/>
            <a:ext cx="889000" cy="139700"/>
          </a:xfrm>
          <a:prstGeom prst="rightArrow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8E6310C-8232-D743-9992-52630FB82348}"/>
              </a:ext>
            </a:extLst>
          </p:cNvPr>
          <p:cNvSpPr txBox="1"/>
          <p:nvPr/>
        </p:nvSpPr>
        <p:spPr>
          <a:xfrm>
            <a:off x="1206500" y="5334000"/>
            <a:ext cx="101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 b="1">
                <a:solidFill>
                  <a:srgbClr val="D1578A"/>
                </a:solidFill>
              </a:rPr>
              <a:t>PC2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F495511-58F5-EE4B-833B-27BCF6B6C545}"/>
              </a:ext>
            </a:extLst>
          </p:cNvPr>
          <p:cNvSpPr txBox="1"/>
          <p:nvPr/>
        </p:nvSpPr>
        <p:spPr>
          <a:xfrm>
            <a:off x="6096000" y="1905000"/>
            <a:ext cx="533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Reading the picture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44D5E0E-CA4A-004A-B50C-CF117677037A}"/>
                  </a:ext>
                </a:extLst>
              </p:cNvPr>
              <p:cNvSpPr txBox="1"/>
              <p:nvPr/>
            </p:nvSpPr>
            <p:spPr>
              <a:xfrm>
                <a:off x="6096000" y="2311400"/>
                <a:ext cx="5461000" cy="2151295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600" dirty="0">
                    <a:solidFill>
                      <a:srgbClr val="333333"/>
                    </a:solidFill>
                  </a:rPr>
                  <a:t>• The cloud is elongated: most variation lies along one diagonal direction.</a:t>
                </a:r>
              </a:p>
              <a:p>
                <a:pPr algn="l"/>
                <a:r>
                  <a:rPr lang="en-US" sz="1600" dirty="0">
                    <a:solidFill>
                      <a:srgbClr val="333333"/>
                    </a:solidFill>
                  </a:rPr>
                  <a:t>• PC1 points along that elongation — projecting onto it loses the least information.</a:t>
                </a:r>
              </a:p>
              <a:p>
                <a:pPr algn="l"/>
                <a:r>
                  <a:rPr lang="en-US" sz="1600" dirty="0">
                    <a:solidFill>
                      <a:srgbClr val="333333"/>
                    </a:solidFill>
                  </a:rPr>
                  <a:t>• PC2 is orthogonal to PC1 and captures the leftover spread.</a:t>
                </a:r>
              </a:p>
              <a:p>
                <a:pPr algn="l"/>
                <a:r>
                  <a:rPr lang="en-US" sz="1600" dirty="0">
                    <a:solidFill>
                      <a:srgbClr val="333333"/>
                    </a:solidFill>
                  </a:rPr>
                  <a:t>• Eigenvalue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= variance along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PC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; arrow length ∝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ra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</a:t>
                </a:r>
              </a:p>
              <a:p>
                <a:pPr algn="l"/>
                <a:r>
                  <a:rPr lang="en-US" sz="1600" dirty="0">
                    <a:solidFill>
                      <a:srgbClr val="333333"/>
                    </a:solidFill>
                  </a:rPr>
                  <a:t>• Projecting points onto PC1 alone gives a 1-D summary (the scores).</a:t>
                </a: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44D5E0E-CA4A-004A-B50C-CF11767703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311400"/>
                <a:ext cx="5461000" cy="2151295"/>
              </a:xfrm>
              <a:prstGeom prst="rect">
                <a:avLst/>
              </a:prstGeom>
              <a:blipFill>
                <a:blip r:embed="rId2"/>
                <a:stretch>
                  <a:fillRect l="-696" t="-585" b="-23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46403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685C65A-465C-4E4E-8B5E-EF9F70FCF21D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8DFDB0-E1EC-9149-B565-35537DE5683B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PCA — Eigenvectors &amp; Eigenvalues in 2D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A35092-713A-7942-8F1B-43F8533A3A73}"/>
              </a:ext>
            </a:extLst>
          </p:cNvPr>
          <p:cNvSpPr txBox="1"/>
          <p:nvPr/>
        </p:nvSpPr>
        <p:spPr>
          <a:xfrm>
            <a:off x="762000" y="1447800"/>
            <a:ext cx="1066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i="1">
                <a:solidFill>
                  <a:srgbClr val="85754D"/>
                </a:solidFill>
              </a:rPr>
              <a:t>The covariance matrix S describes the shape of the data cloud. Its eigenvectors give the directions of the cloud's principal axes; its eigenvalues give the variance (spread²) along each.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81E3CA-C272-694F-8E73-90FC139994EB}"/>
              </a:ext>
            </a:extLst>
          </p:cNvPr>
          <p:cNvSpPr/>
          <p:nvPr/>
        </p:nvSpPr>
        <p:spPr>
          <a:xfrm>
            <a:off x="762000" y="2057400"/>
            <a:ext cx="5334000" cy="4038600"/>
          </a:xfrm>
          <a:prstGeom prst="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9CB75C0-09B8-6844-ACE7-EDABBAF8C18D}"/>
              </a:ext>
            </a:extLst>
          </p:cNvPr>
          <p:cNvSpPr/>
          <p:nvPr/>
        </p:nvSpPr>
        <p:spPr>
          <a:xfrm rot="-1680000">
            <a:off x="1778000" y="3365500"/>
            <a:ext cx="3302000" cy="1397000"/>
          </a:xfrm>
          <a:prstGeom prst="ellipse">
            <a:avLst/>
          </a:prstGeom>
          <a:solidFill>
            <a:srgbClr val="EDE7F3"/>
          </a:solidFill>
          <a:ln w="15875" cap="flat" cmpd="sng" algn="ctr">
            <a:solidFill>
              <a:srgbClr val="C9B9E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35AD6E8-BFD5-6C47-8863-C90DE971DDB4}"/>
              </a:ext>
            </a:extLst>
          </p:cNvPr>
          <p:cNvSpPr/>
          <p:nvPr/>
        </p:nvSpPr>
        <p:spPr>
          <a:xfrm>
            <a:off x="3378200" y="4013200"/>
            <a:ext cx="101600" cy="101600"/>
          </a:xfrm>
          <a:prstGeom prst="ellipse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3A683B94-E1F2-F440-9C1B-978617314E79}"/>
              </a:ext>
            </a:extLst>
          </p:cNvPr>
          <p:cNvSpPr/>
          <p:nvPr/>
        </p:nvSpPr>
        <p:spPr>
          <a:xfrm rot="-1680000">
            <a:off x="3341292" y="3636024"/>
            <a:ext cx="1498600" cy="1524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EFAAC7BB-3585-6D44-A259-EDE8AF6BF135}"/>
              </a:ext>
            </a:extLst>
          </p:cNvPr>
          <p:cNvSpPr/>
          <p:nvPr/>
        </p:nvSpPr>
        <p:spPr>
          <a:xfrm rot="-3720000">
            <a:off x="3233606" y="3662610"/>
            <a:ext cx="736600" cy="152400"/>
          </a:xfrm>
          <a:prstGeom prst="rightArrow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F2711F8-CFF6-1246-9154-65C68FA216EE}"/>
                  </a:ext>
                </a:extLst>
              </p:cNvPr>
              <p:cNvSpPr txBox="1"/>
              <p:nvPr/>
            </p:nvSpPr>
            <p:spPr>
              <a:xfrm>
                <a:off x="4876800" y="3175000"/>
                <a:ext cx="1219200" cy="427746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 (</m:t>
                      </m:r>
                      <m:rad>
                        <m:radPr>
                          <m:degHide m:val="on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rad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F2711F8-CFF6-1246-9154-65C68FA216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6800" y="3175000"/>
                <a:ext cx="1219200" cy="427746"/>
              </a:xfrm>
              <a:prstGeom prst="rect">
                <a:avLst/>
              </a:prstGeom>
              <a:blipFill>
                <a:blip r:embed="rId2"/>
                <a:stretch>
                  <a:fillRect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50F47AB-F275-F747-A9BA-25AACB6227E9}"/>
                  </a:ext>
                </a:extLst>
              </p:cNvPr>
              <p:cNvSpPr txBox="1"/>
              <p:nvPr/>
            </p:nvSpPr>
            <p:spPr>
              <a:xfrm>
                <a:off x="1905000" y="3175000"/>
                <a:ext cx="1143000" cy="427746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 (</m:t>
                      </m:r>
                      <m:rad>
                        <m:radPr>
                          <m:degHide m:val="on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rad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50F47AB-F275-F747-A9BA-25AACB6227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3175000"/>
                <a:ext cx="1143000" cy="427746"/>
              </a:xfrm>
              <a:prstGeom prst="rect">
                <a:avLst/>
              </a:prstGeom>
              <a:blipFill>
                <a:blip r:embed="rId3"/>
                <a:stretch>
                  <a:fillRect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5F93D3C2-2393-8549-A8C3-0F2315E91C97}"/>
              </a:ext>
            </a:extLst>
          </p:cNvPr>
          <p:cNvSpPr txBox="1"/>
          <p:nvPr/>
        </p:nvSpPr>
        <p:spPr>
          <a:xfrm>
            <a:off x="939800" y="5638800"/>
            <a:ext cx="49784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>
                <a:solidFill>
                  <a:srgbClr val="4B2E83"/>
                </a:solidFill>
              </a:rPr>
              <a:t>Eigenvectors = axes of the data ellipse • eigenvalues = squared half-lengths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BF80DF-C923-2A4A-BE77-1A0F9F9E62CD}"/>
              </a:ext>
            </a:extLst>
          </p:cNvPr>
          <p:cNvSpPr txBox="1"/>
          <p:nvPr/>
        </p:nvSpPr>
        <p:spPr>
          <a:xfrm>
            <a:off x="6350000" y="20574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What they mean geometrically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974C021-BFEA-834C-A9E4-B21C8D1930C3}"/>
                  </a:ext>
                </a:extLst>
              </p:cNvPr>
              <p:cNvSpPr txBox="1"/>
              <p:nvPr/>
            </p:nvSpPr>
            <p:spPr>
              <a:xfrm>
                <a:off x="6350000" y="2413000"/>
                <a:ext cx="5080000" cy="3337837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𝑆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333333"/>
                    </a:solidFill>
                  </a:rPr>
                  <a:t> — 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333333"/>
                    </a:solidFill>
                  </a:rPr>
                  <a:t> is a direction S only stretches, never rotates.</a:t>
                </a:r>
              </a:p>
              <a:p>
                <a:pPr algn="l">
                  <a:spcBef>
                    <a:spcPts val="600"/>
                  </a:spcBef>
                </a:pPr>
                <a:r>
                  <a:rPr lang="en-US" sz="1400" dirty="0">
                    <a:solidFill>
                      <a:srgbClr val="333333"/>
                    </a:solidFill>
                  </a:rPr>
                  <a:t>• Eigenvector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333333"/>
                    </a:solidFill>
                  </a:rPr>
                  <a:t> = orientation of a principal axis of the data ellipse (the v's are orthogonal).</a:t>
                </a:r>
              </a:p>
              <a:p>
                <a:pPr algn="l">
                  <a:spcBef>
                    <a:spcPts val="600"/>
                  </a:spcBef>
                </a:pPr>
                <a:r>
                  <a:rPr lang="en-US" sz="1400" dirty="0">
                    <a:solidFill>
                      <a:srgbClr val="333333"/>
                    </a:solidFill>
                  </a:rPr>
                  <a:t>• Eigenvalue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333333"/>
                    </a:solidFill>
                  </a:rPr>
                  <a:t> = variance along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333333"/>
                    </a:solidFill>
                  </a:rPr>
                  <a:t>; the ellipse's half-width there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rad>
                  </m:oMath>
                </a14:m>
                <a:r>
                  <a:rPr lang="en-US" sz="1400" dirty="0">
                    <a:solidFill>
                      <a:srgbClr val="333333"/>
                    </a:solidFill>
                  </a:rPr>
                  <a:t>.</a:t>
                </a:r>
              </a:p>
              <a:p>
                <a:pPr algn="l">
                  <a:spcBef>
                    <a:spcPts val="600"/>
                  </a:spcBef>
                </a:pPr>
                <a:r>
                  <a:rPr lang="en-US" sz="1400" dirty="0">
                    <a:solidFill>
                      <a:srgbClr val="333333"/>
                    </a:solidFill>
                  </a:rPr>
                  <a:t>• Largest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1400" dirty="0">
                    <a:solidFill>
                      <a:srgbClr val="333333"/>
                    </a:solidFill>
                  </a:rPr>
                  <a:t> ⇒ direction of maximum spread = PC1; next ⇒ PC2 ⊥ to it.</a:t>
                </a:r>
              </a:p>
              <a:p>
                <a:pPr algn="l">
                  <a:spcBef>
                    <a:spcPts val="600"/>
                  </a:spcBef>
                </a:pPr>
                <a:r>
                  <a:rPr lang="en-US" sz="1400" dirty="0">
                    <a:solidFill>
                      <a:srgbClr val="333333"/>
                    </a:solidFill>
                  </a:rPr>
                  <a:t>• </a:t>
                </a:r>
                <a14:m>
                  <m:oMath xmlns:m="http://schemas.openxmlformats.org/officeDocument/2006/math"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400" dirty="0">
                    <a:solidFill>
                      <a:srgbClr val="333333"/>
                    </a:solidFill>
                  </a:rPr>
                  <a:t> = fraction of variance captured by PC1.</a:t>
                </a:r>
              </a:p>
              <a:p>
                <a:pPr algn="l">
                  <a:spcBef>
                    <a:spcPts val="600"/>
                  </a:spcBef>
                </a:pPr>
                <a:r>
                  <a:rPr lang="en-US" sz="1400" dirty="0">
                    <a:solidFill>
                      <a:srgbClr val="333333"/>
                    </a:solidFill>
                  </a:rPr>
                  <a:t>• Circular cloud 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333333"/>
                    </a:solidFill>
                  </a:rPr>
                  <a:t>; a line 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400" dirty="0">
                    <a:solidFill>
                      <a:srgbClr val="333333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974C021-BFEA-834C-A9E4-B21C8D1930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000" y="2413000"/>
                <a:ext cx="5080000" cy="3337837"/>
              </a:xfrm>
              <a:prstGeom prst="rect">
                <a:avLst/>
              </a:prstGeom>
              <a:blipFill>
                <a:blip r:embed="rId4"/>
                <a:stretch>
                  <a:fillRect l="-499" r="-748" b="-11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56132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C6205AA-3F3F-074B-9113-3A1D7BFFF9F3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969254-75DA-8A42-9BAD-492A5044CF67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PCA — Graphical Representations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CB4EFD-7467-7041-862A-6917B81028D5}"/>
              </a:ext>
            </a:extLst>
          </p:cNvPr>
          <p:cNvSpPr txBox="1"/>
          <p:nvPr/>
        </p:nvSpPr>
        <p:spPr>
          <a:xfrm>
            <a:off x="762000" y="1498600"/>
            <a:ext cx="1066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i="1">
                <a:solidFill>
                  <a:srgbClr val="85754D"/>
                </a:solidFill>
              </a:rPr>
              <a:t>Three standard plots summarize a PCA. Each answers a different question.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BDEE72D-0C50-F74C-B4C7-A9BD8487B499}"/>
              </a:ext>
            </a:extLst>
          </p:cNvPr>
          <p:cNvSpPr/>
          <p:nvPr/>
        </p:nvSpPr>
        <p:spPr>
          <a:xfrm>
            <a:off x="762000" y="2032000"/>
            <a:ext cx="3429000" cy="1651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589479-104F-6E4A-9735-EAC2C3F114B8}"/>
              </a:ext>
            </a:extLst>
          </p:cNvPr>
          <p:cNvSpPr txBox="1"/>
          <p:nvPr/>
        </p:nvSpPr>
        <p:spPr>
          <a:xfrm>
            <a:off x="939800" y="2184400"/>
            <a:ext cx="30734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Score plot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D274F0-9A60-B541-A059-1C42FE030DA2}"/>
              </a:ext>
            </a:extLst>
          </p:cNvPr>
          <p:cNvSpPr txBox="1"/>
          <p:nvPr/>
        </p:nvSpPr>
        <p:spPr>
          <a:xfrm>
            <a:off x="939800" y="2590800"/>
            <a:ext cx="3073400" cy="990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Where do observations sit on PC1–PC2? Reveals clusters, gradients, outliers.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37AFE9E-0B57-D34D-956D-8A9BEF86F377}"/>
              </a:ext>
            </a:extLst>
          </p:cNvPr>
          <p:cNvSpPr/>
          <p:nvPr/>
        </p:nvSpPr>
        <p:spPr>
          <a:xfrm>
            <a:off x="4381500" y="2032000"/>
            <a:ext cx="3429000" cy="1651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2EB2F8-C2BC-3549-AA8B-6B5AF8F66C3F}"/>
              </a:ext>
            </a:extLst>
          </p:cNvPr>
          <p:cNvSpPr txBox="1"/>
          <p:nvPr/>
        </p:nvSpPr>
        <p:spPr>
          <a:xfrm>
            <a:off x="4559300" y="2184400"/>
            <a:ext cx="30734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00A7B5"/>
                </a:solidFill>
              </a:rPr>
              <a:t>Loading plot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7A4E1E-8F76-4E4B-9A6F-AFC55BF9810C}"/>
              </a:ext>
            </a:extLst>
          </p:cNvPr>
          <p:cNvSpPr txBox="1"/>
          <p:nvPr/>
        </p:nvSpPr>
        <p:spPr>
          <a:xfrm>
            <a:off x="4559300" y="2590800"/>
            <a:ext cx="3073400" cy="990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How does each original variable contribute to each PC? Arrows = variable directions.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3BDACAD-5BB1-E24E-BB52-971EB546F832}"/>
              </a:ext>
            </a:extLst>
          </p:cNvPr>
          <p:cNvSpPr/>
          <p:nvPr/>
        </p:nvSpPr>
        <p:spPr>
          <a:xfrm>
            <a:off x="8001000" y="2032000"/>
            <a:ext cx="3429000" cy="1651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C61E51-7357-6D4D-B99F-419C7AAEF332}"/>
              </a:ext>
            </a:extLst>
          </p:cNvPr>
          <p:cNvSpPr txBox="1"/>
          <p:nvPr/>
        </p:nvSpPr>
        <p:spPr>
          <a:xfrm>
            <a:off x="8178800" y="2184400"/>
            <a:ext cx="30734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D1578A"/>
                </a:solidFill>
              </a:rPr>
              <a:t>Biplot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5B2E30-2253-714F-9777-E9AD5816BBE1}"/>
              </a:ext>
            </a:extLst>
          </p:cNvPr>
          <p:cNvSpPr txBox="1"/>
          <p:nvPr/>
        </p:nvSpPr>
        <p:spPr>
          <a:xfrm>
            <a:off x="8178800" y="2590800"/>
            <a:ext cx="3073400" cy="990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Scores + loadings overlaid. Points near an arrow score high on that variable.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55FC12DE-9859-7840-B79E-D42DD0563E48}"/>
              </a:ext>
            </a:extLst>
          </p:cNvPr>
          <p:cNvSpPr/>
          <p:nvPr/>
        </p:nvSpPr>
        <p:spPr>
          <a:xfrm>
            <a:off x="762000" y="3962400"/>
            <a:ext cx="10668000" cy="2133600"/>
          </a:xfrm>
          <a:prstGeom prst="roundRect">
            <a:avLst/>
          </a:prstGeom>
          <a:solidFill>
            <a:srgbClr val="FBFAF7"/>
          </a:solidFill>
          <a:ln w="15875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B05B14-1111-6E4F-A8C2-6C8CC8A52EAC}"/>
              </a:ext>
            </a:extLst>
          </p:cNvPr>
          <p:cNvSpPr txBox="1"/>
          <p:nvPr/>
        </p:nvSpPr>
        <p:spPr>
          <a:xfrm>
            <a:off x="990600" y="4114800"/>
            <a:ext cx="635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Interpretation checklist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D06A44B-BD50-A540-BB7B-242EFFA0BA1C}"/>
              </a:ext>
            </a:extLst>
          </p:cNvPr>
          <p:cNvSpPr txBox="1"/>
          <p:nvPr/>
        </p:nvSpPr>
        <p:spPr>
          <a:xfrm>
            <a:off x="990600" y="4470400"/>
            <a:ext cx="102108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• Axes carry % variance explained — always label them (e.g., "PC1 (62%)").
• Angle between two loading arrows ≈ correlation between those variables (small angle ⇒ positively correlated).
• Length of a loading arrow ⇒ how well that variable is represented in the plotted plane.
• Sign of a PC is arbitrary — only relative positions and directions are meaningful.</a:t>
            </a:r>
          </a:p>
        </p:txBody>
      </p:sp>
    </p:spTree>
    <p:extLst>
      <p:ext uri="{BB962C8B-B14F-4D97-AF65-F5344CB8AC3E}">
        <p14:creationId xmlns:p14="http://schemas.microsoft.com/office/powerpoint/2010/main" val="12686648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3A904C5-2DE9-2047-A98B-5D216A618968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DD9E21-19BD-4143-88D2-D9E54B344041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PCA — Reading a Biplot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EE7402-F7CA-0245-9BE1-E81D8237CEE9}"/>
              </a:ext>
            </a:extLst>
          </p:cNvPr>
          <p:cNvSpPr/>
          <p:nvPr/>
        </p:nvSpPr>
        <p:spPr>
          <a:xfrm>
            <a:off x="889000" y="1714500"/>
            <a:ext cx="4826000" cy="4318000"/>
          </a:xfrm>
          <a:prstGeom prst="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034247-8360-E24B-81E5-EB153DFB1836}"/>
              </a:ext>
            </a:extLst>
          </p:cNvPr>
          <p:cNvSpPr/>
          <p:nvPr/>
        </p:nvSpPr>
        <p:spPr>
          <a:xfrm>
            <a:off x="1016000" y="3860800"/>
            <a:ext cx="4572000" cy="25400"/>
          </a:xfrm>
          <a:prstGeom prst="rect">
            <a:avLst/>
          </a:prstGeom>
          <a:solidFill>
            <a:srgbClr val="BBBBB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0263AD-E5BB-DA4E-B3BA-D53F0248DC71}"/>
              </a:ext>
            </a:extLst>
          </p:cNvPr>
          <p:cNvSpPr/>
          <p:nvPr/>
        </p:nvSpPr>
        <p:spPr>
          <a:xfrm>
            <a:off x="3289300" y="1841500"/>
            <a:ext cx="25400" cy="4064000"/>
          </a:xfrm>
          <a:prstGeom prst="rect">
            <a:avLst/>
          </a:prstGeom>
          <a:solidFill>
            <a:srgbClr val="BBBBB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048C66C-B994-AF44-881B-0AF808C96D13}"/>
              </a:ext>
            </a:extLst>
          </p:cNvPr>
          <p:cNvSpPr/>
          <p:nvPr/>
        </p:nvSpPr>
        <p:spPr>
          <a:xfrm>
            <a:off x="2362200" y="3187700"/>
            <a:ext cx="101600" cy="1016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8CA3993-DD2E-404F-AA13-3270DFDF7A27}"/>
              </a:ext>
            </a:extLst>
          </p:cNvPr>
          <p:cNvSpPr/>
          <p:nvPr/>
        </p:nvSpPr>
        <p:spPr>
          <a:xfrm>
            <a:off x="2489200" y="2933700"/>
            <a:ext cx="101600" cy="1016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D5EF6EC-F566-424B-A839-D9C86275FDC7}"/>
              </a:ext>
            </a:extLst>
          </p:cNvPr>
          <p:cNvSpPr/>
          <p:nvPr/>
        </p:nvSpPr>
        <p:spPr>
          <a:xfrm>
            <a:off x="2171700" y="3124200"/>
            <a:ext cx="101600" cy="1016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E63DBCA-8A4E-3B4E-B436-50F7AB97D107}"/>
              </a:ext>
            </a:extLst>
          </p:cNvPr>
          <p:cNvSpPr/>
          <p:nvPr/>
        </p:nvSpPr>
        <p:spPr>
          <a:xfrm>
            <a:off x="4013200" y="4330700"/>
            <a:ext cx="101600" cy="1016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436E441-C379-B243-86EC-7E0D318A2336}"/>
              </a:ext>
            </a:extLst>
          </p:cNvPr>
          <p:cNvSpPr/>
          <p:nvPr/>
        </p:nvSpPr>
        <p:spPr>
          <a:xfrm>
            <a:off x="4203700" y="4521200"/>
            <a:ext cx="101600" cy="1016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8012E67-29DF-654E-AC03-6F4C460CCEE9}"/>
              </a:ext>
            </a:extLst>
          </p:cNvPr>
          <p:cNvSpPr/>
          <p:nvPr/>
        </p:nvSpPr>
        <p:spPr>
          <a:xfrm>
            <a:off x="3949700" y="4203700"/>
            <a:ext cx="101600" cy="1016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A788FE0-B243-4940-8268-0C591CE98321}"/>
              </a:ext>
            </a:extLst>
          </p:cNvPr>
          <p:cNvSpPr/>
          <p:nvPr/>
        </p:nvSpPr>
        <p:spPr>
          <a:xfrm>
            <a:off x="3505200" y="3060700"/>
            <a:ext cx="101600" cy="1016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C1B4D4A-8ED4-7A42-BBB8-31A0639674DF}"/>
              </a:ext>
            </a:extLst>
          </p:cNvPr>
          <p:cNvSpPr/>
          <p:nvPr/>
        </p:nvSpPr>
        <p:spPr>
          <a:xfrm>
            <a:off x="3695700" y="3187700"/>
            <a:ext cx="101600" cy="1016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1DA107E-AD7C-8443-A591-4C38416ED41D}"/>
              </a:ext>
            </a:extLst>
          </p:cNvPr>
          <p:cNvSpPr/>
          <p:nvPr/>
        </p:nvSpPr>
        <p:spPr>
          <a:xfrm>
            <a:off x="3441700" y="2870200"/>
            <a:ext cx="101600" cy="1016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100F7A0-5A69-6540-9D04-FB06047E0485}"/>
              </a:ext>
            </a:extLst>
          </p:cNvPr>
          <p:cNvSpPr/>
          <p:nvPr/>
        </p:nvSpPr>
        <p:spPr>
          <a:xfrm rot="-915307">
            <a:off x="3302000" y="3857625"/>
            <a:ext cx="1448022" cy="3175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453FA9A-1183-9F40-A869-CF4D23C3E1B5}"/>
              </a:ext>
            </a:extLst>
          </p:cNvPr>
          <p:cNvSpPr txBox="1"/>
          <p:nvPr/>
        </p:nvSpPr>
        <p:spPr>
          <a:xfrm>
            <a:off x="4375150" y="3384550"/>
            <a:ext cx="889000" cy="2286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50" b="1">
                <a:solidFill>
                  <a:srgbClr val="006670"/>
                </a:solidFill>
              </a:rPr>
              <a:t>Income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837137E-4837-7541-B427-CFB8315FCF86}"/>
              </a:ext>
            </a:extLst>
          </p:cNvPr>
          <p:cNvSpPr/>
          <p:nvPr/>
        </p:nvSpPr>
        <p:spPr>
          <a:xfrm rot="2021404">
            <a:off x="3302000" y="3857625"/>
            <a:ext cx="1373715" cy="3175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012B7B-8686-3946-8981-87FB0AEB4861}"/>
              </a:ext>
            </a:extLst>
          </p:cNvPr>
          <p:cNvSpPr txBox="1"/>
          <p:nvPr/>
        </p:nvSpPr>
        <p:spPr>
          <a:xfrm>
            <a:off x="4133850" y="4470400"/>
            <a:ext cx="889000" cy="2286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50" b="1">
                <a:solidFill>
                  <a:srgbClr val="006670"/>
                </a:solidFill>
              </a:rPr>
              <a:t>Age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6D74931-D28B-C04C-BE84-7FFCB3648488}"/>
              </a:ext>
            </a:extLst>
          </p:cNvPr>
          <p:cNvSpPr/>
          <p:nvPr/>
        </p:nvSpPr>
        <p:spPr>
          <a:xfrm rot="-6708085">
            <a:off x="3302000" y="3857625"/>
            <a:ext cx="1367831" cy="3175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25B97F-DCFA-7248-85BA-6DA6ABF0581B}"/>
              </a:ext>
            </a:extLst>
          </p:cNvPr>
          <p:cNvSpPr txBox="1"/>
          <p:nvPr/>
        </p:nvSpPr>
        <p:spPr>
          <a:xfrm>
            <a:off x="2857500" y="3302000"/>
            <a:ext cx="889000" cy="2286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50" b="1" dirty="0">
                <a:solidFill>
                  <a:srgbClr val="006670"/>
                </a:solidFill>
              </a:rPr>
              <a:t>Education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EFA025-0F10-DF49-B4AA-14B352027974}"/>
              </a:ext>
            </a:extLst>
          </p:cNvPr>
          <p:cNvSpPr txBox="1"/>
          <p:nvPr/>
        </p:nvSpPr>
        <p:spPr>
          <a:xfrm>
            <a:off x="4572000" y="3975100"/>
            <a:ext cx="101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50">
                <a:solidFill>
                  <a:srgbClr val="666666"/>
                </a:solidFill>
              </a:rPr>
              <a:t>PC1 (54%)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8CCDB52-CF38-2246-A9C7-646DC9AF0A55}"/>
              </a:ext>
            </a:extLst>
          </p:cNvPr>
          <p:cNvSpPr txBox="1"/>
          <p:nvPr/>
        </p:nvSpPr>
        <p:spPr>
          <a:xfrm>
            <a:off x="3378200" y="1905000"/>
            <a:ext cx="101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50">
                <a:solidFill>
                  <a:srgbClr val="666666"/>
                </a:solidFill>
              </a:rPr>
              <a:t>PC2 (23%)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F395196-39BF-FE45-A138-FF2EDDD3A68C}"/>
              </a:ext>
            </a:extLst>
          </p:cNvPr>
          <p:cNvSpPr txBox="1"/>
          <p:nvPr/>
        </p:nvSpPr>
        <p:spPr>
          <a:xfrm>
            <a:off x="6096000" y="1714500"/>
            <a:ext cx="533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How to read it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5BBE815-AC9A-544D-A4EA-CB0BD478B1EC}"/>
              </a:ext>
            </a:extLst>
          </p:cNvPr>
          <p:cNvSpPr txBox="1"/>
          <p:nvPr/>
        </p:nvSpPr>
        <p:spPr>
          <a:xfrm>
            <a:off x="6096000" y="2108200"/>
            <a:ext cx="5461000" cy="381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>
                <a:solidFill>
                  <a:srgbClr val="333333"/>
                </a:solidFill>
              </a:rPr>
              <a:t>• Three colored clusters → three sub-populations separated mainly along PC1.
• "Income" and "Age" arrows point right → high-PC1 observations are older, higher-income.
• "Income" and "Education" arrows are ~90° apart → roughly uncorrelated in this sample.
• A point far along an arrow's direction scores high on that variable.
• Axes show 54% + 23% = 77% of total variance captured in 2-D.</a:t>
            </a:r>
          </a:p>
        </p:txBody>
      </p:sp>
    </p:spTree>
    <p:extLst>
      <p:ext uri="{BB962C8B-B14F-4D97-AF65-F5344CB8AC3E}">
        <p14:creationId xmlns:p14="http://schemas.microsoft.com/office/powerpoint/2010/main" val="31045565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10CF9BC-27EA-E54C-865D-1F1F5104C0F3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B92285-B95E-DD42-993C-9B02884D8E14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PCA — How Many Components to Keep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CCC34D-31E6-D542-BAFB-F5CDA8AEA7C0}"/>
              </a:ext>
            </a:extLst>
          </p:cNvPr>
          <p:cNvSpPr txBox="1"/>
          <p:nvPr/>
        </p:nvSpPr>
        <p:spPr>
          <a:xfrm>
            <a:off x="762000" y="1498600"/>
            <a:ext cx="1066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i="1">
                <a:solidFill>
                  <a:srgbClr val="85754D"/>
                </a:solidFill>
              </a:rPr>
              <a:t>No single rule is definitive — use several and look for agreement.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3490821-CDE8-0142-B404-A66FB7C924BC}"/>
              </a:ext>
            </a:extLst>
          </p:cNvPr>
          <p:cNvSpPr/>
          <p:nvPr/>
        </p:nvSpPr>
        <p:spPr>
          <a:xfrm>
            <a:off x="762000" y="2006600"/>
            <a:ext cx="5461000" cy="914400"/>
          </a:xfrm>
          <a:prstGeom prst="roundRect">
            <a:avLst/>
          </a:prstGeom>
          <a:solidFill>
            <a:srgbClr val="F5F0EB"/>
          </a:solidFill>
          <a:ln w="15875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B463BA-3DEA-F94B-8FD3-F56BA11E9BDD}"/>
              </a:ext>
            </a:extLst>
          </p:cNvPr>
          <p:cNvSpPr txBox="1"/>
          <p:nvPr/>
        </p:nvSpPr>
        <p:spPr>
          <a:xfrm>
            <a:off x="939800" y="2108200"/>
            <a:ext cx="5105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Kaiser criterion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2E6A6DD-07D2-404D-A1A3-42D2091E73F4}"/>
                  </a:ext>
                </a:extLst>
              </p:cNvPr>
              <p:cNvSpPr txBox="1"/>
              <p:nvPr/>
            </p:nvSpPr>
            <p:spPr>
              <a:xfrm>
                <a:off x="939800" y="2387600"/>
                <a:ext cx="5130800" cy="599395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333333"/>
                    </a:solidFill>
                  </a:rPr>
                  <a:t>Keep components with eigenvalue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US" sz="1350" dirty="0">
                    <a:solidFill>
                      <a:srgbClr val="333333"/>
                    </a:solidFill>
                  </a:rPr>
                  <a:t> (on standardized data): they explain more than one original variable's worth of variance.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2E6A6DD-07D2-404D-A1A3-42D2091E73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00" y="2387600"/>
                <a:ext cx="5130800" cy="599395"/>
              </a:xfrm>
              <a:prstGeom prst="rect">
                <a:avLst/>
              </a:prstGeom>
              <a:blipFill>
                <a:blip r:embed="rId2"/>
                <a:stretch>
                  <a:fillRect l="-246" b="-10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91154B6-2A6B-4442-BE3A-7D95CFA039BB}"/>
              </a:ext>
            </a:extLst>
          </p:cNvPr>
          <p:cNvSpPr/>
          <p:nvPr/>
        </p:nvSpPr>
        <p:spPr>
          <a:xfrm>
            <a:off x="762000" y="3022600"/>
            <a:ext cx="5461000" cy="914400"/>
          </a:xfrm>
          <a:prstGeom prst="roundRect">
            <a:avLst/>
          </a:prstGeom>
          <a:solidFill>
            <a:srgbClr val="F5F0EB"/>
          </a:solidFill>
          <a:ln w="15875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345384-08C4-9445-B042-EF1F86539384}"/>
              </a:ext>
            </a:extLst>
          </p:cNvPr>
          <p:cNvSpPr txBox="1"/>
          <p:nvPr/>
        </p:nvSpPr>
        <p:spPr>
          <a:xfrm>
            <a:off x="939800" y="3124200"/>
            <a:ext cx="5105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Scree / elbow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36BD85B-8B44-9F46-9D93-AB11E03FB0E0}"/>
                  </a:ext>
                </a:extLst>
              </p:cNvPr>
              <p:cNvSpPr txBox="1"/>
              <p:nvPr/>
            </p:nvSpPr>
            <p:spPr>
              <a:xfrm>
                <a:off x="939800" y="3403600"/>
                <a:ext cx="5130800" cy="599395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333333"/>
                    </a:solidFill>
                  </a:rPr>
                  <a:t>Plot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>
                        <a:latin typeface="Cambria Math" panose="02040503050406030204" pitchFamily="18" charset="0"/>
                      </a:rPr>
                      <m:t>vs</m:t>
                    </m:r>
                    <m:r>
                      <a:rPr>
                        <a:latin typeface="Cambria Math" panose="02040503050406030204" pitchFamily="18" charset="0"/>
                      </a:rPr>
                      <m:t> </m:t>
                    </m:r>
                    <m:r>
                      <a:rPr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1350" dirty="0">
                    <a:solidFill>
                      <a:srgbClr val="333333"/>
                    </a:solidFill>
                  </a:rPr>
                  <a:t>; keep components before the curve flattens into the 'rubble'.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36BD85B-8B44-9F46-9D93-AB11E03FB0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00" y="3403600"/>
                <a:ext cx="5130800" cy="599395"/>
              </a:xfrm>
              <a:prstGeom prst="rect">
                <a:avLst/>
              </a:prstGeom>
              <a:blipFill>
                <a:blip r:embed="rId3"/>
                <a:stretch>
                  <a:fillRect l="-246" b="-81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1307488-FB96-6A4F-B7EE-68B0CB36B3D8}"/>
              </a:ext>
            </a:extLst>
          </p:cNvPr>
          <p:cNvSpPr/>
          <p:nvPr/>
        </p:nvSpPr>
        <p:spPr>
          <a:xfrm>
            <a:off x="762000" y="4038600"/>
            <a:ext cx="5461000" cy="914400"/>
          </a:xfrm>
          <a:prstGeom prst="roundRect">
            <a:avLst/>
          </a:prstGeom>
          <a:solidFill>
            <a:srgbClr val="F5F0EB"/>
          </a:solidFill>
          <a:ln w="15875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876615-04E8-574F-B8D8-8E7051F25ACB}"/>
              </a:ext>
            </a:extLst>
          </p:cNvPr>
          <p:cNvSpPr txBox="1"/>
          <p:nvPr/>
        </p:nvSpPr>
        <p:spPr>
          <a:xfrm>
            <a:off x="939800" y="4140200"/>
            <a:ext cx="5105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7AB648"/>
                </a:solidFill>
              </a:rPr>
              <a:t>Cumulative variance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A5EB6E0-4DC6-B44D-83F6-F2D8743B58A6}"/>
                  </a:ext>
                </a:extLst>
              </p:cNvPr>
              <p:cNvSpPr txBox="1"/>
              <p:nvPr/>
            </p:nvSpPr>
            <p:spPr>
              <a:xfrm>
                <a:off x="939800" y="4419600"/>
                <a:ext cx="5130800" cy="362984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333333"/>
                    </a:solidFill>
                  </a:rPr>
                  <a:t>Keep enough PCs to reach a target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>
                        <a:latin typeface="Cambria Math" panose="02040503050406030204" pitchFamily="18" charset="0"/>
                      </a:rPr>
                      <m:t>Σ</m:t>
                    </m:r>
                    <m:r>
                      <a:rPr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1350" dirty="0">
                    <a:solidFill>
                      <a:srgbClr val="333333"/>
                    </a:solidFill>
                  </a:rPr>
                  <a:t> share (e.g., 80–90%).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A5EB6E0-4DC6-B44D-83F6-F2D8743B58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00" y="4419600"/>
                <a:ext cx="5130800" cy="362984"/>
              </a:xfrm>
              <a:prstGeom prst="rect">
                <a:avLst/>
              </a:prstGeom>
              <a:blipFill>
                <a:blip r:embed="rId4"/>
                <a:stretch>
                  <a:fillRect l="-246" b="-13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D71B6EC-8E65-FF40-9107-7B90740E5349}"/>
              </a:ext>
            </a:extLst>
          </p:cNvPr>
          <p:cNvSpPr/>
          <p:nvPr/>
        </p:nvSpPr>
        <p:spPr>
          <a:xfrm>
            <a:off x="762000" y="5054600"/>
            <a:ext cx="5461000" cy="914400"/>
          </a:xfrm>
          <a:prstGeom prst="roundRect">
            <a:avLst/>
          </a:prstGeom>
          <a:solidFill>
            <a:srgbClr val="F5F0EB"/>
          </a:solidFill>
          <a:ln w="15875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59D89A-F507-F849-8356-DEE39BE2AE5A}"/>
              </a:ext>
            </a:extLst>
          </p:cNvPr>
          <p:cNvSpPr txBox="1"/>
          <p:nvPr/>
        </p:nvSpPr>
        <p:spPr>
          <a:xfrm>
            <a:off x="939800" y="5156200"/>
            <a:ext cx="5105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D1578A"/>
                </a:solidFill>
              </a:rPr>
              <a:t>Parallel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8829E07-C70B-4B47-B14C-DD6076B46672}"/>
                  </a:ext>
                </a:extLst>
              </p:cNvPr>
              <p:cNvSpPr txBox="1"/>
              <p:nvPr/>
            </p:nvSpPr>
            <p:spPr>
              <a:xfrm>
                <a:off x="939800" y="5435600"/>
                <a:ext cx="5130800" cy="599395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333333"/>
                    </a:solidFill>
                  </a:rPr>
                  <a:t>Keep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350" dirty="0">
                    <a:solidFill>
                      <a:srgbClr val="333333"/>
                    </a:solidFill>
                  </a:rPr>
                  <a:t> that exceed the j-th eigenvalue from random/permuted data — the most defensible rule.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8829E07-C70B-4B47-B14C-DD6076B466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00" y="5435600"/>
                <a:ext cx="5130800" cy="599395"/>
              </a:xfrm>
              <a:prstGeom prst="rect">
                <a:avLst/>
              </a:prstGeom>
              <a:blipFill>
                <a:blip r:embed="rId5"/>
                <a:stretch>
                  <a:fillRect l="-246" b="-10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01" name="ScreeChart"/>
          <p:cNvGraphicFramePr/>
          <p:nvPr/>
        </p:nvGraphicFramePr>
        <p:xfrm>
          <a:off x="6477000" y="2006600"/>
          <a:ext cx="4953000" cy="393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14307947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7518F52-7980-B14E-8AEE-B417C1EE5CFB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EB6B82-86FA-1247-ADEC-D778113FC5D6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PCA — Matrix Formulation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FAD5FA-9043-A548-AF01-576A4159AE72}"/>
              </a:ext>
            </a:extLst>
          </p:cNvPr>
          <p:cNvSpPr txBox="1"/>
          <p:nvPr/>
        </p:nvSpPr>
        <p:spPr>
          <a:xfrm>
            <a:off x="762000" y="1473200"/>
            <a:ext cx="1066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i="1">
                <a:solidFill>
                  <a:srgbClr val="85754D"/>
                </a:solidFill>
              </a:rPr>
              <a:t>Data matrix X ∈ ℝⁿˣᵖ : n observations (rows), p variables (columns). Center each column to mean 0; standardize if scales differ.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FC5C5A-6FB6-B74C-B657-9DAE84AAACCF}"/>
              </a:ext>
            </a:extLst>
          </p:cNvPr>
          <p:cNvSpPr txBox="1"/>
          <p:nvPr/>
        </p:nvSpPr>
        <p:spPr>
          <a:xfrm>
            <a:off x="762000" y="20574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1 · Centering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60D200E-DA5E-9842-BC68-DAA4AD7615DE}"/>
              </a:ext>
            </a:extLst>
          </p:cNvPr>
          <p:cNvSpPr/>
          <p:nvPr/>
        </p:nvSpPr>
        <p:spPr>
          <a:xfrm>
            <a:off x="762000" y="2362200"/>
            <a:ext cx="5334000" cy="5842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54440AF-607E-7041-A693-CC7A4AD91D42}"/>
                  </a:ext>
                </a:extLst>
              </p:cNvPr>
              <p:cNvSpPr txBox="1"/>
              <p:nvPr/>
            </p:nvSpPr>
            <p:spPr>
              <a:xfrm>
                <a:off x="939800" y="2463800"/>
                <a:ext cx="4978400" cy="612732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bar>
                            <m:barPr>
                              <m:pos m:val="top"/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ba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, </m:t>
                      </m:r>
                      <m:bar>
                        <m:barPr>
                          <m:pos m:val="top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ba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54440AF-607E-7041-A693-CC7A4AD91D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00" y="2463800"/>
                <a:ext cx="4978400" cy="6127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6D3256AE-37C7-844D-A8E0-65192B79BEFF}"/>
              </a:ext>
            </a:extLst>
          </p:cNvPr>
          <p:cNvSpPr txBox="1"/>
          <p:nvPr/>
        </p:nvSpPr>
        <p:spPr>
          <a:xfrm>
            <a:off x="762000" y="29972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2 · Covariance matrix (p×p)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29B528F-5993-5644-8DC8-9662F6948F12}"/>
              </a:ext>
            </a:extLst>
          </p:cNvPr>
          <p:cNvSpPr/>
          <p:nvPr/>
        </p:nvSpPr>
        <p:spPr>
          <a:xfrm>
            <a:off x="762000" y="3302000"/>
            <a:ext cx="5334000" cy="5842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7D20A3C-9A78-3B4D-80A3-39C8B3F17239}"/>
                  </a:ext>
                </a:extLst>
              </p:cNvPr>
              <p:cNvSpPr txBox="1"/>
              <p:nvPr/>
            </p:nvSpPr>
            <p:spPr>
              <a:xfrm>
                <a:off x="939800" y="3403600"/>
                <a:ext cx="4978400" cy="612732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7D20A3C-9A78-3B4D-80A3-39C8B3F172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00" y="3403600"/>
                <a:ext cx="4978400" cy="612732"/>
              </a:xfrm>
              <a:prstGeom prst="rect">
                <a:avLst/>
              </a:prstGeom>
              <a:blipFill>
                <a:blip r:embed="rId3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A13C985F-A064-F645-8A2D-3FF14B14A122}"/>
              </a:ext>
            </a:extLst>
          </p:cNvPr>
          <p:cNvSpPr txBox="1"/>
          <p:nvPr/>
        </p:nvSpPr>
        <p:spPr>
          <a:xfrm>
            <a:off x="762000" y="39370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7AB648"/>
                </a:solidFill>
              </a:rPr>
              <a:t>3 · Eigen-decomposition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FFFABD4-4A7C-9045-AF25-964DE9A517DC}"/>
              </a:ext>
            </a:extLst>
          </p:cNvPr>
          <p:cNvSpPr/>
          <p:nvPr/>
        </p:nvSpPr>
        <p:spPr>
          <a:xfrm>
            <a:off x="762000" y="4241800"/>
            <a:ext cx="5334000" cy="9144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B547CB4-67E2-B042-82F7-0C8D886732F0}"/>
                  </a:ext>
                </a:extLst>
              </p:cNvPr>
              <p:cNvSpPr txBox="1"/>
              <p:nvPr/>
            </p:nvSpPr>
            <p:spPr>
              <a:xfrm>
                <a:off x="939800" y="4343400"/>
                <a:ext cx="4978400" cy="749949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𝑆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, 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>
                          <a:latin typeface="Cambria Math" panose="02040503050406030204" pitchFamily="18" charset="0"/>
                        </a:rPr>
                        <m:t>= 1,…,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/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𝛬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, 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𝛬</m:t>
                      </m:r>
                      <m:r>
                        <a:rPr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diag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≥ … ≥</m:t>
                          </m:r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B547CB4-67E2-B042-82F7-0C8D886732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00" y="4343400"/>
                <a:ext cx="4978400" cy="749949"/>
              </a:xfrm>
              <a:prstGeom prst="rect">
                <a:avLst/>
              </a:prstGeom>
              <a:blipFill>
                <a:blip r:embed="rId4"/>
                <a:stretch>
                  <a:fillRect t="-1667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98EFF22A-0BD7-8E4F-88DB-E370912C6A92}"/>
              </a:ext>
            </a:extLst>
          </p:cNvPr>
          <p:cNvSpPr txBox="1"/>
          <p:nvPr/>
        </p:nvSpPr>
        <p:spPr>
          <a:xfrm>
            <a:off x="6350000" y="20574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D1578A"/>
                </a:solidFill>
              </a:rPr>
              <a:t>4 · Loadings &amp; scores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392ADA5-87F7-3748-AB34-A4B52FD65038}"/>
              </a:ext>
            </a:extLst>
          </p:cNvPr>
          <p:cNvSpPr/>
          <p:nvPr/>
        </p:nvSpPr>
        <p:spPr>
          <a:xfrm>
            <a:off x="6350000" y="2362200"/>
            <a:ext cx="5080000" cy="9144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BC78635-33D8-2340-B8BB-3509965764F5}"/>
                  </a:ext>
                </a:extLst>
              </p:cNvPr>
              <p:cNvSpPr txBox="1"/>
              <p:nvPr/>
            </p:nvSpPr>
            <p:spPr>
              <a:xfrm>
                <a:off x="6527800" y="2463800"/>
                <a:ext cx="4724400" cy="6604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6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Loadings: columns of V (eigenvectors)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Scores</m:t>
                      </m:r>
                      <m:r>
                        <a:rPr>
                          <a:latin typeface="Cambria Math" panose="02040503050406030204" pitchFamily="18" charset="0"/>
                        </a:rPr>
                        <m:t>: 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>
                          <a:latin typeface="Cambria Math" panose="02040503050406030204" pitchFamily="18" charset="0"/>
                        </a:rPr>
                        <m:t> (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rgbClr val="333333"/>
                  </a:solidFill>
                  <a:latin typeface="Cambria Math"/>
                  <a:ea typeface="Cambria Math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BC78635-33D8-2340-B8BB-3509965764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7800" y="2463800"/>
                <a:ext cx="4724400" cy="660400"/>
              </a:xfrm>
              <a:prstGeom prst="rect">
                <a:avLst/>
              </a:prstGeom>
              <a:blipFill>
                <a:blip r:embed="rId5"/>
                <a:stretch>
                  <a:fillRect l="-804" t="-1852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071E2E1C-4001-5A45-8C22-D0C69910EBA8}"/>
              </a:ext>
            </a:extLst>
          </p:cNvPr>
          <p:cNvSpPr txBox="1"/>
          <p:nvPr/>
        </p:nvSpPr>
        <p:spPr>
          <a:xfrm>
            <a:off x="6350000" y="33274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85754D"/>
                </a:solidFill>
              </a:rPr>
              <a:t>5 · k-dim projection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0844EDC7-22A7-ED4C-9CF7-8349CE9C6E40}"/>
              </a:ext>
            </a:extLst>
          </p:cNvPr>
          <p:cNvSpPr/>
          <p:nvPr/>
        </p:nvSpPr>
        <p:spPr>
          <a:xfrm>
            <a:off x="6350000" y="3632200"/>
            <a:ext cx="5080000" cy="9144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006437E-FF13-9C49-9DE5-55B10EF96C8E}"/>
                  </a:ext>
                </a:extLst>
              </p:cNvPr>
              <p:cNvSpPr txBox="1"/>
              <p:nvPr/>
            </p:nvSpPr>
            <p:spPr>
              <a:xfrm>
                <a:off x="6527800" y="3733800"/>
                <a:ext cx="4724400" cy="731739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, 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first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k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columns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/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Reconstruction</m:t>
                      </m:r>
                      <m:r>
                        <a:rPr>
                          <a:latin typeface="Cambria Math" panose="02040503050406030204" pitchFamily="18" charset="0"/>
                        </a:rPr>
                        <m:t>: </m:t>
                      </m:r>
                      <m:acc>
                        <m:accPr>
                          <m:chr m:val="̂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bar>
                            <m:barPr>
                              <m:pos m:val="top"/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ba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006437E-FF13-9C49-9DE5-55B10EF96C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7800" y="3733800"/>
                <a:ext cx="4724400" cy="731739"/>
              </a:xfrm>
              <a:prstGeom prst="rect">
                <a:avLst/>
              </a:prstGeom>
              <a:blipFill>
                <a:blip r:embed="rId6"/>
                <a:stretch>
                  <a:fillRect t="-1724" b="-13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84573FF6-A011-3E42-8506-AE7CD8559577}"/>
              </a:ext>
            </a:extLst>
          </p:cNvPr>
          <p:cNvSpPr txBox="1"/>
          <p:nvPr/>
        </p:nvSpPr>
        <p:spPr>
          <a:xfrm>
            <a:off x="6350000" y="45974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6 · Variance explained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028D4FA8-02C5-F348-A990-02F020282638}"/>
              </a:ext>
            </a:extLst>
          </p:cNvPr>
          <p:cNvSpPr/>
          <p:nvPr/>
        </p:nvSpPr>
        <p:spPr>
          <a:xfrm>
            <a:off x="6350000" y="4902200"/>
            <a:ext cx="5080000" cy="5842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DE10278-5BC2-1444-A188-2339AA4077B7}"/>
                  </a:ext>
                </a:extLst>
              </p:cNvPr>
              <p:cNvSpPr txBox="1"/>
              <p:nvPr/>
            </p:nvSpPr>
            <p:spPr>
              <a:xfrm>
                <a:off x="6527800" y="5003800"/>
                <a:ext cx="4724400" cy="774571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prop</m:t>
                      </m:r>
                      <m:r>
                        <a:rPr>
                          <a:latin typeface="Cambria Math" panose="02040503050406030204" pitchFamily="18" charset="0"/>
                        </a:rPr>
                        <m:t>.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by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𝑃𝐶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/>
                                <m: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DE10278-5BC2-1444-A188-2339AA4077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7800" y="5003800"/>
                <a:ext cx="4724400" cy="774571"/>
              </a:xfrm>
              <a:prstGeom prst="rect">
                <a:avLst/>
              </a:prstGeom>
              <a:blipFill>
                <a:blip r:embed="rId7"/>
                <a:stretch>
                  <a:fillRect t="-11290" b="-7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97459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7518F52-7980-B14E-8AEE-B417C1EE5CFB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EB6B82-86FA-1247-ADEC-D778113FC5D6}"/>
              </a:ext>
            </a:extLst>
          </p:cNvPr>
          <p:cNvSpPr txBox="1"/>
          <p:nvPr/>
        </p:nvSpPr>
        <p:spPr>
          <a:xfrm>
            <a:off x="762000" y="711200"/>
            <a:ext cx="10668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Worked Example: A 5×2 Data Matrix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FAD5FA-9043-A548-AF01-576A4159AE72}"/>
              </a:ext>
            </a:extLst>
          </p:cNvPr>
          <p:cNvSpPr txBox="1"/>
          <p:nvPr/>
        </p:nvSpPr>
        <p:spPr>
          <a:xfrm>
            <a:off x="762000" y="1473200"/>
            <a:ext cx="10668000" cy="31547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i="1">
                <a:solidFill>
                  <a:srgbClr val="85754D"/>
                </a:solidFill>
              </a:rPr>
              <a:t>n = 5 observations (rows), p = 2 variables (columns). We will run the full PCA by hand, then plot the result.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0" name="DataMatrix"/>
              <p:cNvSpPr txBox="1"/>
              <p:nvPr/>
            </p:nvSpPr>
            <p:spPr>
              <a:xfrm>
                <a:off x="889000" y="1905000"/>
                <a:ext cx="5080000" cy="4064000"/>
              </a:xfrm>
              <a:prstGeom prst="rect">
                <a:avLst/>
              </a:prstGeom>
              <a:noFill/>
            </p:spPr>
            <p:txBody>
              <a:bodyPr wrap="square" rtlCol="0" anchor="t">
                <a:normAutofit/>
              </a:bodyPr>
              <a:lstStyle/>
              <a:p>
                <a:pPr algn="ctr"/>
                <a:r>
                  <a:rPr lang="en-US" sz="1600" b="1">
                    <a:solidFill>
                      <a:srgbClr val="4B2E83"/>
                    </a:solidFill>
                  </a:rPr>
                  <a:t>Data matrix  X  (5 × 2)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000" i="1">
                          <a:latin typeface="Cambria Math"/>
                        </a:rPr>
                        <m:t>𝑋</m:t>
                      </m:r>
                      <m:r>
                        <a:rPr sz="200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000"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sz="2000">
                                    <a:latin typeface="Cambria Math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sz="2000">
                                    <a:latin typeface="Cambria Math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sz="2000">
                                    <a:latin typeface="Cambria Math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sz="2000">
                                    <a:latin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sz="2000">
                                    <a:latin typeface="Cambria Math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sz="2000">
                                    <a:latin typeface="Cambria Math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sz="2000">
                                    <a:latin typeface="Cambria Math"/>
                                  </a:rPr>
                                  <m:t>7</m:t>
                                </m:r>
                              </m:e>
                            </m:mr>
                            <m:mr>
                              <m:e>
                                <m:r>
                                  <a:rPr sz="2000">
                                    <a:latin typeface="Cambria Math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sz="2000">
                                    <a:latin typeface="Cambria Math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  <a:p>
                <a:pPr algn="ctr"/>
                <a:r>
                  <a:rPr lang="en-US" sz="1400" i="1">
                    <a:solidFill>
                      <a:srgbClr val="85754D"/>
                    </a:solidFill>
                  </a:rPr>
                  <a:t>Each row = one observation;  columns = variables  x₁, x₂.</a:t>
                </a:r>
              </a:p>
            </p:txBody>
          </p:sp>
        </mc:Choice>
        <mc:Fallback>
          <p:sp>
            <p:nvSpPr>
              <p:cNvPr id="120" name="DataMatrix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000" y="1905000"/>
                <a:ext cx="5080000" cy="4064000"/>
              </a:xfrm>
              <a:prstGeom prst="rect">
                <a:avLst/>
              </a:prstGeom>
              <a:blipFill>
                <a:blip r:embed="rId2"/>
                <a:stretch>
                  <a:fillRect t="-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01" name="ScatterChart"/>
          <p:cNvGraphicFramePr/>
          <p:nvPr/>
        </p:nvGraphicFramePr>
        <p:xfrm>
          <a:off x="6223000" y="1905000"/>
          <a:ext cx="5461000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681759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7518F52-7980-B14E-8AEE-B417C1EE5CFB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EB6B82-86FA-1247-ADEC-D778113FC5D6}"/>
              </a:ext>
            </a:extLst>
          </p:cNvPr>
          <p:cNvSpPr txBox="1"/>
          <p:nvPr/>
        </p:nvSpPr>
        <p:spPr>
          <a:xfrm>
            <a:off x="762000" y="711200"/>
            <a:ext cx="10668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Step 1 · Centering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FAD5FA-9043-A548-AF01-576A4159AE72}"/>
              </a:ext>
            </a:extLst>
          </p:cNvPr>
          <p:cNvSpPr txBox="1"/>
          <p:nvPr/>
        </p:nvSpPr>
        <p:spPr>
          <a:xfrm>
            <a:off x="762000" y="1473200"/>
            <a:ext cx="10668000" cy="31547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i="1">
                <a:solidFill>
                  <a:srgbClr val="85754D"/>
                </a:solidFill>
              </a:rPr>
              <a:t>Subtract each column's mean so every variable is mean-zero — the operation is  Xc = X − 1ₙ x̄ᵀ.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0" name="MeanCard"/>
              <p:cNvSpPr/>
              <p:nvPr/>
            </p:nvSpPr>
            <p:spPr>
              <a:xfrm>
                <a:off x="762000" y="1905000"/>
                <a:ext cx="10668000" cy="17526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00000" tIns="60000" rIns="100000" bIns="60000" anchor="t">
                <a:normAutofit/>
              </a:bodyPr>
              <a:lstStyle/>
              <a:p>
                <a:pPr algn="l"/>
                <a:r>
                  <a:rPr lang="en-US" sz="1450" b="1">
                    <a:solidFill>
                      <a:srgbClr val="00A7B5"/>
                    </a:solidFill>
                  </a:rPr>
                  <a:t>1 · Column means  →  mean vector x̄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̄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sz="2000" i="1">
                              <a:latin typeface="Cambria Math"/>
                            </a:rPr>
                            <m:t>𝑥</m:t>
                          </m:r>
                        </m:e>
                      </m:acc>
                      <m:r>
                        <a:rPr sz="200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000">
                                    <a:latin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sz="2000">
                                    <a:latin typeface="Cambria Math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  <a:p>
                <a:pPr algn="ctr"/>
                <a:r>
                  <a:rPr lang="en-US" sz="1400" i="1">
                    <a:solidFill>
                      <a:srgbClr val="85754D"/>
                    </a:solidFill>
                  </a:rPr>
                  <a:t>x̄₁ = (3+4+5+6+7)/5 = 5      x̄₂ = (4+3+5+7+6)/5 = 5</a:t>
                </a:r>
              </a:p>
            </p:txBody>
          </p:sp>
        </mc:Choice>
        <mc:Fallback>
          <p:sp>
            <p:nvSpPr>
              <p:cNvPr id="130" name="MeanCard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905000"/>
                <a:ext cx="10668000" cy="17526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1" name="CenterCard"/>
              <p:cNvSpPr/>
              <p:nvPr/>
            </p:nvSpPr>
            <p:spPr>
              <a:xfrm>
                <a:off x="762000" y="3810000"/>
                <a:ext cx="10668000" cy="24892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00000" tIns="60000" rIns="100000" bIns="60000" anchor="t">
                <a:normAutofit/>
              </a:bodyPr>
              <a:lstStyle/>
              <a:p>
                <a:pPr algn="l"/>
                <a:r>
                  <a:rPr lang="en-US" sz="1450" b="1">
                    <a:solidFill>
                      <a:srgbClr val="4B2E83"/>
                    </a:solidFill>
                  </a:rPr>
                  <a:t>2 · Subtract the mean from every observation  →  centered matrix Xc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1600" i="1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sz="1600" i="1">
                              <a:latin typeface="Cambria Math"/>
                            </a:rPr>
                            <m:t>𝑐</m:t>
                          </m:r>
                        </m:sub>
                      </m:sSub>
                      <m:r>
                        <a:rPr sz="160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7</m:t>
                                </m:r>
                              </m:e>
                            </m:m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  <m:r>
                        <a:rPr sz="1600">
                          <a:latin typeface="Cambria Math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  <m:r>
                        <a:rPr sz="160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  <a:p>
                <a:pPr algn="ctr"/>
                <a:r>
                  <a:rPr lang="en-US" sz="1400" i="1">
                    <a:solidFill>
                      <a:srgbClr val="85754D"/>
                    </a:solidFill>
                  </a:rPr>
                  <a:t>Each column of Xc now sums to 0 — the data is centred on the origin.</a:t>
                </a:r>
              </a:p>
            </p:txBody>
          </p:sp>
        </mc:Choice>
        <mc:Fallback>
          <p:sp>
            <p:nvSpPr>
              <p:cNvPr id="131" name="CenterCard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810000"/>
                <a:ext cx="10668000" cy="24892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250118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7518F52-7980-B14E-8AEE-B417C1EE5CFB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EB6B82-86FA-1247-ADEC-D778113FC5D6}"/>
              </a:ext>
            </a:extLst>
          </p:cNvPr>
          <p:cNvSpPr txBox="1"/>
          <p:nvPr/>
        </p:nvSpPr>
        <p:spPr>
          <a:xfrm>
            <a:off x="762000" y="711200"/>
            <a:ext cx="10668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Step 2 · Covariance Matrix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FAD5FA-9043-A548-AF01-576A4159AE72}"/>
              </a:ext>
            </a:extLst>
          </p:cNvPr>
          <p:cNvSpPr txBox="1"/>
          <p:nvPr/>
        </p:nvSpPr>
        <p:spPr>
          <a:xfrm>
            <a:off x="762000" y="1473200"/>
            <a:ext cx="10668000" cy="31547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i="1">
                <a:solidFill>
                  <a:srgbClr val="85754D"/>
                </a:solidFill>
              </a:rPr>
              <a:t>Multiply the centered matrix by its transpose and scale —  S = 1/(n−1) · Xcᵀ Xc  (a 2×2 matrix).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0" name="ProdCard"/>
              <p:cNvSpPr/>
              <p:nvPr/>
            </p:nvSpPr>
            <p:spPr>
              <a:xfrm>
                <a:off x="762000" y="1905000"/>
                <a:ext cx="10668000" cy="22860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00000" tIns="60000" rIns="100000" bIns="60000" anchor="t">
                <a:normAutofit/>
              </a:bodyPr>
              <a:lstStyle/>
              <a:p>
                <a:pPr algn="l"/>
                <a:r>
                  <a:rPr lang="en-US" sz="1450" b="1">
                    <a:solidFill>
                      <a:srgbClr val="4B2E83"/>
                    </a:solidFill>
                  </a:rPr>
                  <a:t>1 · Matrix product  Xcᵀ Xc   (2×5 · 5×2  →  2×2)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sz="1500" i="1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sz="1500" i="1">
                              <a:latin typeface="Cambria Math"/>
                            </a:rPr>
                            <m:t>𝑐</m:t>
                          </m:r>
                        </m:sub>
                        <m:sup>
                          <m:r>
                            <a:rPr sz="1500">
                              <a:latin typeface="Cambria Math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1500" i="1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sz="1500" i="1">
                              <a:latin typeface="Cambria Math"/>
                            </a:rPr>
                            <m:t>𝑐</m:t>
                          </m:r>
                        </m:sub>
                      </m:sSub>
                      <m:r>
                        <a:rPr sz="150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sz="1500">
                          <a:latin typeface="Cambria Math"/>
                        </a:rPr>
                        <m:t>·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sz="150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800">
                                    <a:latin typeface="Cambria Math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sz="1800">
                                    <a:latin typeface="Cambria Math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sz="1800">
                                    <a:latin typeface="Cambria Math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sz="1800">
                                    <a:latin typeface="Cambria Math"/>
                                  </a:rPr>
                                  <m:t>10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  <a:p>
                <a:pPr algn="ctr"/>
                <a:r>
                  <a:rPr lang="en-US" sz="1400" i="1">
                    <a:solidFill>
                      <a:srgbClr val="85754D"/>
                    </a:solidFill>
                  </a:rPr>
                  <a:t>diagonal = Σ(column)² → (−2)²+(−1)²+0²+1²+2² = 10    off-diagonal = Σ(col₁·col₂) = 2+2+0+2+2 = 8</a:t>
                </a:r>
              </a:p>
            </p:txBody>
          </p:sp>
        </mc:Choice>
        <mc:Fallback>
          <p:sp>
            <p:nvSpPr>
              <p:cNvPr id="140" name="ProdCard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905000"/>
                <a:ext cx="10668000" cy="22860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1" name="CovCard"/>
              <p:cNvSpPr/>
              <p:nvPr/>
            </p:nvSpPr>
            <p:spPr>
              <a:xfrm>
                <a:off x="762000" y="4381500"/>
                <a:ext cx="10668000" cy="19050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00000" tIns="60000" rIns="100000" bIns="60000" anchor="t">
                <a:normAutofit/>
              </a:bodyPr>
              <a:lstStyle/>
              <a:p>
                <a:pPr algn="l"/>
                <a:r>
                  <a:rPr lang="en-US" sz="1450" b="1">
                    <a:solidFill>
                      <a:srgbClr val="00A7B5"/>
                    </a:solidFill>
                  </a:rPr>
                  <a:t>2 · Scale by 1/(n−1) = 1/4   →   covariance matrix 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900" i="1">
                          <a:latin typeface="Cambria Math"/>
                        </a:rPr>
                        <m:t>𝑆</m:t>
                      </m:r>
                      <m:r>
                        <a:rPr sz="190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150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sz="1500">
                              <a:latin typeface="Cambria Math"/>
                            </a:rPr>
                            <m:t>𝑛</m:t>
                          </m:r>
                          <m:r>
                            <a:rPr sz="1500">
                              <a:latin typeface="Cambria Math"/>
                            </a:rPr>
                            <m:t>−1</m:t>
                          </m:r>
                        </m:den>
                      </m:f>
                      <m:sSubSup>
                        <m:sSub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sz="1700" i="1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sz="1700" i="1">
                              <a:latin typeface="Cambria Math"/>
                            </a:rPr>
                            <m:t>𝑐</m:t>
                          </m:r>
                        </m:sub>
                        <m:sup>
                          <m:r>
                            <a:rPr sz="1700">
                              <a:latin typeface="Cambria Math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1700" i="1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sz="1700" i="1">
                              <a:latin typeface="Cambria Math"/>
                            </a:rPr>
                            <m:t>𝑐</m:t>
                          </m:r>
                        </m:sub>
                      </m:sSub>
                      <m:r>
                        <a:rPr sz="190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150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sz="1500">
                              <a:latin typeface="Cambria Math"/>
                            </a:rPr>
                            <m:t>4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800">
                                    <a:latin typeface="Cambria Math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sz="1800">
                                    <a:latin typeface="Cambria Math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sz="1800">
                                    <a:latin typeface="Cambria Math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sz="1800">
                                    <a:latin typeface="Cambria Math"/>
                                  </a:rPr>
                                  <m:t>10</m:t>
                                </m:r>
                              </m:e>
                            </m:mr>
                          </m:m>
                        </m:e>
                      </m:d>
                      <m:r>
                        <a:rPr sz="190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900">
                                    <a:latin typeface="Cambria Math"/>
                                  </a:rPr>
                                  <m:t>2.5</m:t>
                                </m:r>
                              </m:e>
                              <m:e>
                                <m:r>
                                  <a:rPr sz="1900">
                                    <a:latin typeface="Cambria Math"/>
                                  </a:rPr>
                                  <m:t>2.0</m:t>
                                </m:r>
                              </m:e>
                            </m:mr>
                            <m:mr>
                              <m:e>
                                <m:r>
                                  <a:rPr sz="1900">
                                    <a:latin typeface="Cambria Math"/>
                                  </a:rPr>
                                  <m:t>2.0</m:t>
                                </m:r>
                              </m:e>
                              <m:e>
                                <m:r>
                                  <a:rPr sz="1900">
                                    <a:latin typeface="Cambria Math"/>
                                  </a:rPr>
                                  <m:t>2.5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41" name="CovCard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4381500"/>
                <a:ext cx="10668000" cy="19050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824576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7518F52-7980-B14E-8AEE-B417C1EE5CFB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EB6B82-86FA-1247-ADEC-D778113FC5D6}"/>
              </a:ext>
            </a:extLst>
          </p:cNvPr>
          <p:cNvSpPr txBox="1"/>
          <p:nvPr/>
        </p:nvSpPr>
        <p:spPr>
          <a:xfrm>
            <a:off x="762000" y="711200"/>
            <a:ext cx="10668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Step 3 · Eigenvalues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FAD5FA-9043-A548-AF01-576A4159AE72}"/>
              </a:ext>
            </a:extLst>
          </p:cNvPr>
          <p:cNvSpPr txBox="1"/>
          <p:nvPr/>
        </p:nvSpPr>
        <p:spPr>
          <a:xfrm>
            <a:off x="762000" y="1473200"/>
            <a:ext cx="10668000" cy="31547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i="1">
                <a:solidFill>
                  <a:srgbClr val="85754D"/>
                </a:solidFill>
              </a:rPr>
              <a:t>Part 1 of 3 — solve the characteristic equation  det(S − λI) = 0  for the two eigenvalues.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0" name="CharA"/>
              <p:cNvSpPr/>
              <p:nvPr/>
            </p:nvSpPr>
            <p:spPr>
              <a:xfrm>
                <a:off x="762000" y="1905000"/>
                <a:ext cx="10668000" cy="14224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00000" tIns="50000" rIns="100000" bIns="40000" anchor="t">
                <a:normAutofit/>
              </a:bodyPr>
              <a:lstStyle/>
              <a:p>
                <a:pPr algn="l"/>
                <a:r>
                  <a:rPr lang="en-US" sz="1450" b="1">
                    <a:solidFill>
                      <a:srgbClr val="4B2E83"/>
                    </a:solidFill>
                  </a:rPr>
                  <a:t>1 · Subtract λ from the diagonal of 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 i="1">
                          <a:latin typeface="Cambria Math"/>
                        </a:rPr>
                        <m:t>𝑆</m:t>
                      </m:r>
                      <m:r>
                        <a:rPr sz="1600">
                          <a:latin typeface="Cambria Math"/>
                        </a:rPr>
                        <m:t> − </m:t>
                      </m:r>
                      <m:r>
                        <a:rPr sz="1600" i="1">
                          <a:latin typeface="Cambria Math"/>
                        </a:rPr>
                        <m:t>𝜆</m:t>
                      </m:r>
                      <m:r>
                        <a:rPr sz="1600" i="1">
                          <a:latin typeface="Cambria Math"/>
                        </a:rPr>
                        <m:t>𝐼</m:t>
                      </m:r>
                      <m:r>
                        <a:rPr sz="16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2.5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2.5</m:t>
                                </m:r>
                              </m:e>
                            </m:mr>
                          </m:m>
                        </m:e>
                      </m:d>
                      <m:r>
                        <a:rPr sz="1600">
                          <a:latin typeface="Cambria Math"/>
                        </a:rPr>
                        <m:t> − </m:t>
                      </m:r>
                      <m:r>
                        <a:rPr sz="1600" i="1">
                          <a:latin typeface="Cambria Math"/>
                        </a:rPr>
                        <m:t>𝜆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sz="16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2.5 − </m:t>
                                </m:r>
                                <m:r>
                                  <a:rPr sz="1500">
                                    <a:latin typeface="Cambria Math"/>
                                  </a:rPr>
                                  <m:t>𝜆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2.5 − </m:t>
                                </m:r>
                                <m:r>
                                  <a:rPr sz="1500">
                                    <a:latin typeface="Cambria Math"/>
                                  </a:rPr>
                                  <m:t>𝜆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50" name="Char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905000"/>
                <a:ext cx="10668000" cy="14224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1" name="CharB"/>
              <p:cNvSpPr/>
              <p:nvPr/>
            </p:nvSpPr>
            <p:spPr>
              <a:xfrm>
                <a:off x="762000" y="3454400"/>
                <a:ext cx="10668000" cy="14986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00000" tIns="50000" rIns="100000" bIns="40000" anchor="t">
                <a:normAutofit/>
              </a:bodyPr>
              <a:lstStyle/>
              <a:p>
                <a:pPr algn="l"/>
                <a:r>
                  <a:rPr lang="en-US" sz="1450" b="1">
                    <a:solidFill>
                      <a:srgbClr val="00A7B5"/>
                    </a:solidFill>
                  </a:rPr>
                  <a:t>2 · Set the determinant to zero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>
                          <a:latin typeface="Cambria Math"/>
                        </a:rPr>
                        <m:t>𝑑𝑒𝑡</m:t>
                      </m:r>
                      <m:d>
                        <m:dPr>
                          <m:begChr m:val="|"/>
                          <m:endChr m:val="|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2.5 − </m:t>
                                </m:r>
                                <m:r>
                                  <a:rPr sz="1500">
                                    <a:latin typeface="Cambria Math"/>
                                  </a:rPr>
                                  <m:t>𝜆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2.5 − </m:t>
                                </m:r>
                                <m:r>
                                  <a:rPr sz="1500">
                                    <a:latin typeface="Cambria Math"/>
                                  </a:rPr>
                                  <m:t>𝜆</m:t>
                                </m:r>
                              </m:e>
                            </m:mr>
                          </m:m>
                        </m:e>
                      </m:d>
                      <m:r>
                        <a:rPr sz="1600">
                          <a:latin typeface="Cambria Math"/>
                        </a:rPr>
                        <m:t> = 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sz="1500">
                                  <a:latin typeface="Cambria Math"/>
                                </a:rPr>
                                <m:t>2.5 − </m:t>
                              </m:r>
                              <m:r>
                                <a:rPr sz="1500">
                                  <a:latin typeface="Cambria Math"/>
                                </a:rPr>
                                <m:t>𝜆</m:t>
                              </m:r>
                            </m:e>
                          </m:d>
                        </m:e>
                        <m:sup>
                          <m:r>
                            <a:rPr sz="100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sz="1600">
                          <a:latin typeface="Cambria Math"/>
                        </a:rPr>
                        <m:t> − 4 = 0</m:t>
                      </m:r>
                    </m:oMath>
                  </m:oMathPara>
                </a14:m>
                <a:endParaRPr/>
              </a:p>
              <a:p>
                <a:pPr algn="ctr"/>
                <a:r>
                  <a:rPr lang="en-US" sz="1400" i="1">
                    <a:solidFill>
                      <a:srgbClr val="85754D"/>
                    </a:solidFill>
                  </a:rPr>
                  <a:t>expand:  (2.5 − λ)(2.5 − λ) − (2)(2) = (2.5 − λ)² − 4</a:t>
                </a:r>
              </a:p>
            </p:txBody>
          </p:sp>
        </mc:Choice>
        <mc:Fallback>
          <p:sp>
            <p:nvSpPr>
              <p:cNvPr id="151" name="CharB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454400"/>
                <a:ext cx="10668000" cy="14986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2" name="CharC"/>
              <p:cNvSpPr/>
              <p:nvPr/>
            </p:nvSpPr>
            <p:spPr>
              <a:xfrm>
                <a:off x="762000" y="5080000"/>
                <a:ext cx="10668000" cy="1371600"/>
              </a:xfrm>
              <a:prstGeom prst="roundRect">
                <a:avLst>
                  <a:gd name="adj" fmla="val 4000"/>
                </a:avLst>
              </a:prstGeom>
              <a:solidFill>
                <a:srgbClr val="F7F3EC"/>
              </a:solidFill>
              <a:ln>
                <a:noFill/>
              </a:ln>
            </p:spPr>
            <p:txBody>
              <a:bodyPr wrap="square" lIns="100000" tIns="50000" rIns="100000" bIns="40000" anchor="t">
                <a:normAutofit/>
              </a:bodyPr>
              <a:lstStyle/>
              <a:p>
                <a:pPr algn="l"/>
                <a:r>
                  <a:rPr lang="en-US" sz="1450" b="1">
                    <a:solidFill>
                      <a:srgbClr val="85754D"/>
                    </a:solidFill>
                  </a:rPr>
                  <a:t>3 · Solve for λ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sz="1500">
                                  <a:latin typeface="Cambria Math"/>
                                </a:rPr>
                                <m:t>2.5 − </m:t>
                              </m:r>
                              <m:r>
                                <a:rPr sz="1500">
                                  <a:latin typeface="Cambria Math"/>
                                </a:rPr>
                                <m:t>𝜆</m:t>
                              </m:r>
                            </m:e>
                          </m:d>
                        </m:e>
                        <m:sup>
                          <m:r>
                            <a:rPr sz="100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sz="1600">
                          <a:latin typeface="Cambria Math"/>
                        </a:rPr>
                        <m:t> = 4    ⇒    2.5 − </m:t>
                      </m:r>
                      <m:r>
                        <a:rPr sz="1600">
                          <a:latin typeface="Cambria Math"/>
                        </a:rPr>
                        <m:t>𝜆</m:t>
                      </m:r>
                      <m:r>
                        <a:rPr sz="1600">
                          <a:latin typeface="Cambria Math"/>
                        </a:rPr>
                        <m:t> = ± 2    ⇒    </m:t>
                      </m:r>
                      <m:r>
                        <a:rPr sz="1600">
                          <a:latin typeface="Cambria Math"/>
                        </a:rPr>
                        <m:t>𝜆</m:t>
                      </m:r>
                      <m:r>
                        <a:rPr sz="1600">
                          <a:latin typeface="Cambria Math"/>
                        </a:rPr>
                        <m:t> = 2.5 ∓ 2</m:t>
                      </m:r>
                    </m:oMath>
                  </m:oMathPara>
                </a14:m>
                <a:endParaRPr/>
              </a:p>
              <a:p>
                <a:pPr algn="ctr"/>
                <a:r>
                  <a:rPr lang="en-US" sz="1900" b="1">
                    <a:solidFill>
                      <a:srgbClr val="7AB648"/>
                    </a:solidFill>
                  </a:rPr>
                  <a:t>⇒    λ₁ = 4.5        λ₂ = 0.5</a:t>
                </a:r>
              </a:p>
            </p:txBody>
          </p:sp>
        </mc:Choice>
        <mc:Fallback>
          <p:sp>
            <p:nvSpPr>
              <p:cNvPr id="152" name="CharC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5080000"/>
                <a:ext cx="10668000" cy="1371600"/>
              </a:xfrm>
              <a:prstGeom prst="roundRect">
                <a:avLst>
                  <a:gd name="adj" fmla="val 4000"/>
                </a:avLst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928611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7518F52-7980-B14E-8AEE-B417C1EE5CFB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EB6B82-86FA-1247-ADEC-D778113FC5D6}"/>
              </a:ext>
            </a:extLst>
          </p:cNvPr>
          <p:cNvSpPr txBox="1"/>
          <p:nvPr/>
        </p:nvSpPr>
        <p:spPr>
          <a:xfrm>
            <a:off x="762000" y="711200"/>
            <a:ext cx="10668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Step 3 · Eigenvector for λ₁ = 4.5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FAD5FA-9043-A548-AF01-576A4159AE72}"/>
              </a:ext>
            </a:extLst>
          </p:cNvPr>
          <p:cNvSpPr txBox="1"/>
          <p:nvPr/>
        </p:nvSpPr>
        <p:spPr>
          <a:xfrm>
            <a:off x="762000" y="1473200"/>
            <a:ext cx="10668000" cy="31547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i="1">
                <a:solidFill>
                  <a:srgbClr val="85754D"/>
                </a:solidFill>
              </a:rPr>
              <a:t>Part 2 of 3 — solve  (S − λ₁I)v₁ = 0,  then normalize to unit length.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EvA"/>
              <p:cNvSpPr/>
              <p:nvPr/>
            </p:nvSpPr>
            <p:spPr>
              <a:xfrm>
                <a:off x="762000" y="1879600"/>
                <a:ext cx="10668000" cy="13208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00000" tIns="50000" rIns="100000" bIns="40000" anchor="t">
                <a:normAutofit/>
              </a:bodyPr>
              <a:lstStyle/>
              <a:p>
                <a:pPr algn="l"/>
                <a:r>
                  <a:rPr lang="en-US" sz="1450" b="1">
                    <a:solidFill>
                      <a:srgbClr val="4B2E83"/>
                    </a:solidFill>
                  </a:rPr>
                  <a:t>1 · Form (S − λ₁I) with λ₁ = 4.5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 i="1">
                          <a:latin typeface="Cambria Math"/>
                        </a:rPr>
                        <m:t>𝑆</m:t>
                      </m:r>
                      <m:r>
                        <a:rPr sz="1600">
                          <a:latin typeface="Cambria Math"/>
                        </a:rPr>
                        <m:t> − 4.5 </m:t>
                      </m:r>
                      <m:r>
                        <a:rPr sz="1600" i="1">
                          <a:latin typeface="Cambria Math"/>
                        </a:rPr>
                        <m:t>𝐼</m:t>
                      </m:r>
                      <m:r>
                        <a:rPr sz="16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2.5 − 4.5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2.5 − 4.5</m:t>
                                </m:r>
                              </m:e>
                            </m:mr>
                          </m:m>
                        </m:e>
                      </m:d>
                      <m:r>
                        <a:rPr sz="16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−2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0" name="Ev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879600"/>
                <a:ext cx="10668000" cy="13208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1" name="EvB"/>
              <p:cNvSpPr/>
              <p:nvPr/>
            </p:nvSpPr>
            <p:spPr>
              <a:xfrm>
                <a:off x="762000" y="3302000"/>
                <a:ext cx="10668000" cy="19050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00000" tIns="50000" rIns="100000" bIns="40000" anchor="t">
                <a:normAutofit/>
              </a:bodyPr>
              <a:lstStyle/>
              <a:p>
                <a:pPr algn="l"/>
                <a:r>
                  <a:rPr lang="en-US" sz="1450" b="1">
                    <a:solidFill>
                      <a:srgbClr val="00A7B5"/>
                    </a:solidFill>
                  </a:rPr>
                  <a:t>2 · Solve the homogeneous system  (S − λ₁I)v₁ = 0    (let v₁ = [a, b]ᵀ)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−2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𝑎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𝑏</m:t>
                                </m:r>
                              </m:e>
                            </m:mr>
                          </m:m>
                        </m:e>
                      </m:d>
                      <m:r>
                        <a:rPr sz="16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sz="1600">
                          <a:latin typeface="Cambria Math"/>
                        </a:rPr>
                        <m:t>    ⇒    −2</m:t>
                      </m:r>
                      <m:r>
                        <a:rPr sz="1600">
                          <a:latin typeface="Cambria Math"/>
                        </a:rPr>
                        <m:t>𝑎</m:t>
                      </m:r>
                      <m:r>
                        <a:rPr sz="1600">
                          <a:latin typeface="Cambria Math"/>
                        </a:rPr>
                        <m:t> + 2</m:t>
                      </m:r>
                      <m:r>
                        <a:rPr sz="1600">
                          <a:latin typeface="Cambria Math"/>
                        </a:rPr>
                        <m:t>𝑏</m:t>
                      </m:r>
                      <m:r>
                        <a:rPr sz="1600">
                          <a:latin typeface="Cambria Math"/>
                        </a:rPr>
                        <m:t> = 0    ⇒    </m:t>
                      </m:r>
                      <m:r>
                        <a:rPr sz="1600">
                          <a:latin typeface="Cambria Math"/>
                        </a:rPr>
                        <m:t>𝑎</m:t>
                      </m:r>
                      <m:r>
                        <a:rPr sz="1600">
                          <a:latin typeface="Cambria Math"/>
                        </a:rPr>
                        <m:t> = </m:t>
                      </m:r>
                      <m:r>
                        <a:rPr sz="1600">
                          <a:latin typeface="Cambria Math"/>
                        </a:rPr>
                        <m:t>𝑏</m:t>
                      </m:r>
                    </m:oMath>
                  </m:oMathPara>
                </a14:m>
                <a:endParaRPr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500">
                          <a:latin typeface="Cambria Math"/>
                        </a:rPr>
                        <m:t>𝑠𝑜</m:t>
                      </m:r>
                      <m:r>
                        <a:rPr sz="1500">
                          <a:latin typeface="Cambria Math"/>
                        </a:rPr>
                        <m:t>    </m:t>
                      </m:r>
                      <m:r>
                        <a:rPr sz="1700" i="1">
                          <a:latin typeface="Cambria Math"/>
                        </a:rPr>
                        <m:t>𝑣</m:t>
                      </m:r>
                      <m:r>
                        <a:rPr sz="1700" i="1">
                          <a:latin typeface="Cambria Math"/>
                        </a:rPr>
                        <m:t>₁</m:t>
                      </m:r>
                      <m:r>
                        <a:rPr sz="1700">
                          <a:latin typeface="Cambria Math"/>
                        </a:rPr>
                        <m:t>  ∝ 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sz="1500">
                          <a:latin typeface="Cambria Math"/>
                        </a:rPr>
                        <m:t>    (</m:t>
                      </m:r>
                      <m:r>
                        <a:rPr sz="1500">
                          <a:latin typeface="Cambria Math"/>
                        </a:rPr>
                        <m:t>𝑐h𝑜𝑜𝑠𝑒</m:t>
                      </m:r>
                      <m:r>
                        <a:rPr sz="1500">
                          <a:latin typeface="Cambria Math"/>
                        </a:rPr>
                        <m:t> </m:t>
                      </m:r>
                      <m:r>
                        <a:rPr sz="1500">
                          <a:latin typeface="Cambria Math"/>
                        </a:rPr>
                        <m:t>𝑎</m:t>
                      </m:r>
                      <m:r>
                        <a:rPr sz="1500">
                          <a:latin typeface="Cambria Math"/>
                        </a:rPr>
                        <m:t> = </m:t>
                      </m:r>
                      <m:r>
                        <a:rPr sz="1500">
                          <a:latin typeface="Cambria Math"/>
                        </a:rPr>
                        <m:t>𝑏</m:t>
                      </m:r>
                      <m:r>
                        <a:rPr sz="1500">
                          <a:latin typeface="Cambria Math"/>
                        </a:rPr>
                        <m:t> = 1)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1" name="EvB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302000"/>
                <a:ext cx="10668000" cy="19050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2" name="EvC"/>
              <p:cNvSpPr/>
              <p:nvPr/>
            </p:nvSpPr>
            <p:spPr>
              <a:xfrm>
                <a:off x="762000" y="5334000"/>
                <a:ext cx="10668000" cy="1092200"/>
              </a:xfrm>
              <a:prstGeom prst="roundRect">
                <a:avLst>
                  <a:gd name="adj" fmla="val 4000"/>
                </a:avLst>
              </a:prstGeom>
              <a:solidFill>
                <a:srgbClr val="F7F3EC"/>
              </a:solidFill>
              <a:ln>
                <a:noFill/>
              </a:ln>
            </p:spPr>
            <p:txBody>
              <a:bodyPr wrap="square" lIns="100000" tIns="50000" rIns="100000" bIns="40000" anchor="t">
                <a:normAutofit/>
              </a:bodyPr>
              <a:lstStyle/>
              <a:p>
                <a:pPr algn="l"/>
                <a:r>
                  <a:rPr lang="en-US" sz="1450" b="1">
                    <a:solidFill>
                      <a:srgbClr val="85754D"/>
                    </a:solidFill>
                  </a:rPr>
                  <a:t>3 · Normalize to unit length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500">
                          <a:latin typeface="Cambria Math"/>
                        </a:rPr>
                        <m:t>‖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30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sz="130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sz="1500">
                          <a:latin typeface="Cambria Math"/>
                        </a:rPr>
                        <m:t>‖ = √(1² + 1²) = √2     ⇒     </m:t>
                      </m:r>
                      <m:r>
                        <a:rPr sz="1600" i="1">
                          <a:latin typeface="Cambria Math"/>
                        </a:rPr>
                        <m:t>𝑣</m:t>
                      </m:r>
                      <m:r>
                        <a:rPr sz="1600" i="1">
                          <a:latin typeface="Cambria Math"/>
                        </a:rPr>
                        <m:t>₁</m:t>
                      </m:r>
                      <m:r>
                        <a:rPr sz="1500">
                          <a:latin typeface="Cambria Math"/>
                        </a:rPr>
                        <m:t> = </m:t>
                      </m:r>
                      <m:r>
                        <a:rPr sz="1400">
                          <a:latin typeface="Cambria Math"/>
                        </a:rPr>
                        <m:t>1/√2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sz="15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0.707</m:t>
                                </m:r>
                              </m:e>
                            </m:mr>
                            <m:mr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0.707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2" name="EvC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5334000"/>
                <a:ext cx="10668000" cy="1092200"/>
              </a:xfrm>
              <a:prstGeom prst="roundRect">
                <a:avLst>
                  <a:gd name="adj" fmla="val 4000"/>
                </a:avLst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54104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7518F52-7980-B14E-8AEE-B417C1EE5CFB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EB6B82-86FA-1247-ADEC-D778113FC5D6}"/>
              </a:ext>
            </a:extLst>
          </p:cNvPr>
          <p:cNvSpPr txBox="1"/>
          <p:nvPr/>
        </p:nvSpPr>
        <p:spPr>
          <a:xfrm>
            <a:off x="762000" y="711200"/>
            <a:ext cx="10668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Step 3 · Eigenvector for λ₂ = 0.5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FAD5FA-9043-A548-AF01-576A4159AE72}"/>
              </a:ext>
            </a:extLst>
          </p:cNvPr>
          <p:cNvSpPr txBox="1"/>
          <p:nvPr/>
        </p:nvSpPr>
        <p:spPr>
          <a:xfrm>
            <a:off x="762000" y="1473200"/>
            <a:ext cx="10668000" cy="31547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i="1">
                <a:solidFill>
                  <a:srgbClr val="85754D"/>
                </a:solidFill>
              </a:rPr>
              <a:t>Part 2 of 3 (continued) — solve  (S − λ₂I)v₂ = 0,  then normalize to unit length.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Ev2A"/>
              <p:cNvSpPr/>
              <p:nvPr/>
            </p:nvSpPr>
            <p:spPr>
              <a:xfrm>
                <a:off x="762000" y="1879600"/>
                <a:ext cx="10668000" cy="13208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00000" tIns="50000" rIns="100000" bIns="40000" anchor="t">
                <a:normAutofit/>
              </a:bodyPr>
              <a:lstStyle/>
              <a:p>
                <a:pPr algn="l"/>
                <a:r>
                  <a:rPr lang="en-US" sz="1450" b="1">
                    <a:solidFill>
                      <a:srgbClr val="4B2E83"/>
                    </a:solidFill>
                  </a:rPr>
                  <a:t>1 · Form (S − λ₂I) with λ₂ = 0.5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 i="1">
                          <a:latin typeface="Cambria Math"/>
                        </a:rPr>
                        <m:t>𝑆</m:t>
                      </m:r>
                      <m:r>
                        <a:rPr sz="1600">
                          <a:latin typeface="Cambria Math"/>
                        </a:rPr>
                        <m:t> − 0.5 </m:t>
                      </m:r>
                      <m:r>
                        <a:rPr sz="1600" i="1">
                          <a:latin typeface="Cambria Math"/>
                        </a:rPr>
                        <m:t>𝐼</m:t>
                      </m:r>
                      <m:r>
                        <a:rPr sz="16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2.5 − 0.5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2.5 − 0.5</m:t>
                                </m:r>
                              </m:e>
                            </m:mr>
                          </m:m>
                        </m:e>
                      </m:d>
                      <m:r>
                        <a:rPr sz="16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0" name="Ev2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879600"/>
                <a:ext cx="10668000" cy="13208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1" name="Ev2B"/>
              <p:cNvSpPr/>
              <p:nvPr/>
            </p:nvSpPr>
            <p:spPr>
              <a:xfrm>
                <a:off x="762000" y="3302000"/>
                <a:ext cx="10668000" cy="19050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00000" tIns="50000" rIns="100000" bIns="40000" anchor="t">
                <a:normAutofit/>
              </a:bodyPr>
              <a:lstStyle/>
              <a:p>
                <a:pPr algn="l"/>
                <a:r>
                  <a:rPr lang="en-US" sz="1450" b="1">
                    <a:solidFill>
                      <a:srgbClr val="00A7B5"/>
                    </a:solidFill>
                  </a:rPr>
                  <a:t>2 · Solve the homogeneous system  (S − λ₂I)v₂ = 0    (let v₂ = [a, b]ᵀ)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𝑎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𝑏</m:t>
                                </m:r>
                              </m:e>
                            </m:mr>
                          </m:m>
                        </m:e>
                      </m:d>
                      <m:r>
                        <a:rPr sz="16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sz="1600">
                          <a:latin typeface="Cambria Math"/>
                        </a:rPr>
                        <m:t>    ⇒    2</m:t>
                      </m:r>
                      <m:r>
                        <a:rPr sz="1600">
                          <a:latin typeface="Cambria Math"/>
                        </a:rPr>
                        <m:t>𝑎</m:t>
                      </m:r>
                      <m:r>
                        <a:rPr sz="1600">
                          <a:latin typeface="Cambria Math"/>
                        </a:rPr>
                        <m:t> + 2</m:t>
                      </m:r>
                      <m:r>
                        <a:rPr sz="1600">
                          <a:latin typeface="Cambria Math"/>
                        </a:rPr>
                        <m:t>𝑏</m:t>
                      </m:r>
                      <m:r>
                        <a:rPr sz="1600">
                          <a:latin typeface="Cambria Math"/>
                        </a:rPr>
                        <m:t> = 0    ⇒    </m:t>
                      </m:r>
                      <m:r>
                        <a:rPr sz="1600">
                          <a:latin typeface="Cambria Math"/>
                        </a:rPr>
                        <m:t>𝑎</m:t>
                      </m:r>
                      <m:r>
                        <a:rPr sz="1600">
                          <a:latin typeface="Cambria Math"/>
                        </a:rPr>
                        <m:t> = −</m:t>
                      </m:r>
                      <m:r>
                        <a:rPr sz="1600">
                          <a:latin typeface="Cambria Math"/>
                        </a:rPr>
                        <m:t>𝑏</m:t>
                      </m:r>
                    </m:oMath>
                  </m:oMathPara>
                </a14:m>
                <a:endParaRPr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500">
                          <a:latin typeface="Cambria Math"/>
                        </a:rPr>
                        <m:t>𝑠𝑜</m:t>
                      </m:r>
                      <m:r>
                        <a:rPr sz="1500">
                          <a:latin typeface="Cambria Math"/>
                        </a:rPr>
                        <m:t>    </m:t>
                      </m:r>
                      <m:r>
                        <a:rPr sz="1700" i="1">
                          <a:latin typeface="Cambria Math"/>
                        </a:rPr>
                        <m:t>𝑣</m:t>
                      </m:r>
                      <m:r>
                        <a:rPr sz="1700" i="1">
                          <a:latin typeface="Cambria Math"/>
                        </a:rPr>
                        <m:t>₂</m:t>
                      </m:r>
                      <m:r>
                        <a:rPr sz="1700">
                          <a:latin typeface="Cambria Math"/>
                        </a:rPr>
                        <m:t>  ∝ 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sz="1500">
                          <a:latin typeface="Cambria Math"/>
                        </a:rPr>
                        <m:t>    (</m:t>
                      </m:r>
                      <m:r>
                        <a:rPr sz="1500">
                          <a:latin typeface="Cambria Math"/>
                        </a:rPr>
                        <m:t>𝑐h𝑜𝑜𝑠𝑒</m:t>
                      </m:r>
                      <m:r>
                        <a:rPr sz="1500">
                          <a:latin typeface="Cambria Math"/>
                        </a:rPr>
                        <m:t> </m:t>
                      </m:r>
                      <m:r>
                        <a:rPr sz="1500">
                          <a:latin typeface="Cambria Math"/>
                        </a:rPr>
                        <m:t>𝑎</m:t>
                      </m:r>
                      <m:r>
                        <a:rPr sz="1500">
                          <a:latin typeface="Cambria Math"/>
                        </a:rPr>
                        <m:t> = 1, </m:t>
                      </m:r>
                      <m:r>
                        <a:rPr sz="1500">
                          <a:latin typeface="Cambria Math"/>
                        </a:rPr>
                        <m:t>𝑏</m:t>
                      </m:r>
                      <m:r>
                        <a:rPr sz="1500">
                          <a:latin typeface="Cambria Math"/>
                        </a:rPr>
                        <m:t> = −1)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1" name="Ev2B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302000"/>
                <a:ext cx="10668000" cy="19050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2" name="Ev2C"/>
              <p:cNvSpPr/>
              <p:nvPr/>
            </p:nvSpPr>
            <p:spPr>
              <a:xfrm>
                <a:off x="762000" y="5334000"/>
                <a:ext cx="10668000" cy="1092200"/>
              </a:xfrm>
              <a:prstGeom prst="roundRect">
                <a:avLst>
                  <a:gd name="adj" fmla="val 4000"/>
                </a:avLst>
              </a:prstGeom>
              <a:solidFill>
                <a:srgbClr val="F7F3EC"/>
              </a:solidFill>
              <a:ln>
                <a:noFill/>
              </a:ln>
            </p:spPr>
            <p:txBody>
              <a:bodyPr wrap="square" lIns="100000" tIns="50000" rIns="100000" bIns="40000" anchor="t">
                <a:normAutofit/>
              </a:bodyPr>
              <a:lstStyle/>
              <a:p>
                <a:pPr algn="l"/>
                <a:r>
                  <a:rPr lang="en-US" sz="1450" b="1">
                    <a:solidFill>
                      <a:srgbClr val="85754D"/>
                    </a:solidFill>
                  </a:rPr>
                  <a:t>3 · Normalize to unit length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500">
                          <a:latin typeface="Cambria Math"/>
                        </a:rPr>
                        <m:t>‖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30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sz="1300">
                                    <a:latin typeface="Cambria Math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sz="1500">
                          <a:latin typeface="Cambria Math"/>
                        </a:rPr>
                        <m:t>‖ = √(1² + (−1)²) = √2     ⇒     </m:t>
                      </m:r>
                      <m:r>
                        <a:rPr sz="1600" i="1">
                          <a:latin typeface="Cambria Math"/>
                        </a:rPr>
                        <m:t>𝑣</m:t>
                      </m:r>
                      <m:r>
                        <a:rPr sz="1600" i="1">
                          <a:latin typeface="Cambria Math"/>
                        </a:rPr>
                        <m:t>₂</m:t>
                      </m:r>
                      <m:r>
                        <a:rPr sz="1500">
                          <a:latin typeface="Cambria Math"/>
                        </a:rPr>
                        <m:t> = </m:t>
                      </m:r>
                      <m:r>
                        <a:rPr sz="1400">
                          <a:latin typeface="Cambria Math"/>
                        </a:rPr>
                        <m:t>1/√2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sz="15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0.707</m:t>
                                </m:r>
                              </m:e>
                            </m:mr>
                            <m:mr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−0.707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2" name="Ev2C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5334000"/>
                <a:ext cx="10668000" cy="1092200"/>
              </a:xfrm>
              <a:prstGeom prst="roundRect">
                <a:avLst>
                  <a:gd name="adj" fmla="val 4000"/>
                </a:avLst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856625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7518F52-7980-B14E-8AEE-B417C1EE5CFB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EB6B82-86FA-1247-ADEC-D778113FC5D6}"/>
              </a:ext>
            </a:extLst>
          </p:cNvPr>
          <p:cNvSpPr txBox="1"/>
          <p:nvPr/>
        </p:nvSpPr>
        <p:spPr>
          <a:xfrm>
            <a:off x="762000" y="711200"/>
            <a:ext cx="10668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Step 3 · Assemble  S = VΛVᵀ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FAD5FA-9043-A548-AF01-576A4159AE72}"/>
              </a:ext>
            </a:extLst>
          </p:cNvPr>
          <p:cNvSpPr txBox="1"/>
          <p:nvPr/>
        </p:nvSpPr>
        <p:spPr>
          <a:xfrm>
            <a:off x="762000" y="1473200"/>
            <a:ext cx="10668000" cy="31547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i="1">
                <a:solidFill>
                  <a:srgbClr val="85754D"/>
                </a:solidFill>
              </a:rPr>
              <a:t>Part 3 of 3 — collect the eigenvectors into V (columns) and eigenvalues into Λ (diagonal).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0" name="AsA"/>
              <p:cNvSpPr/>
              <p:nvPr/>
            </p:nvSpPr>
            <p:spPr>
              <a:xfrm>
                <a:off x="762000" y="1905000"/>
                <a:ext cx="10668000" cy="13716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00000" tIns="50000" rIns="100000" bIns="40000" anchor="t">
                <a:normAutofit/>
              </a:bodyPr>
              <a:lstStyle/>
              <a:p>
                <a:pPr algn="l"/>
                <a:r>
                  <a:rPr lang="en-US" sz="1450" b="1">
                    <a:solidFill>
                      <a:srgbClr val="4B2E83"/>
                    </a:solidFill>
                  </a:rPr>
                  <a:t>1 · Eigenvectors → columns of V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700" i="1">
                          <a:latin typeface="Cambria Math"/>
                        </a:rPr>
                        <m:t>𝑉</m:t>
                      </m:r>
                      <m:r>
                        <a:rPr sz="1600">
                          <a:latin typeface="Cambria Math"/>
                        </a:rPr>
                        <m:t> = [ </m:t>
                      </m:r>
                      <m:r>
                        <a:rPr sz="1600" i="1">
                          <a:latin typeface="Cambria Math"/>
                        </a:rPr>
                        <m:t>𝑣</m:t>
                      </m:r>
                      <m:r>
                        <a:rPr sz="1600" i="1">
                          <a:latin typeface="Cambria Math"/>
                        </a:rPr>
                        <m:t>₁</m:t>
                      </m:r>
                      <m:r>
                        <a:rPr sz="1600">
                          <a:latin typeface="Cambria Math"/>
                        </a:rPr>
                        <m:t>   </m:t>
                      </m:r>
                      <m:r>
                        <a:rPr sz="1600" i="1">
                          <a:latin typeface="Cambria Math"/>
                        </a:rPr>
                        <m:t>𝑣</m:t>
                      </m:r>
                      <m:r>
                        <a:rPr sz="1600" i="1">
                          <a:latin typeface="Cambria Math"/>
                        </a:rPr>
                        <m:t>₂</m:t>
                      </m:r>
                      <m:r>
                        <a:rPr sz="1600">
                          <a:latin typeface="Cambria Math"/>
                        </a:rPr>
                        <m:t> ]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0.707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0.707</m:t>
                                </m:r>
                              </m:e>
                            </m:m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0.707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−0.707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70" name="As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905000"/>
                <a:ext cx="10668000" cy="13716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1" name="AsB"/>
              <p:cNvSpPr/>
              <p:nvPr/>
            </p:nvSpPr>
            <p:spPr>
              <a:xfrm>
                <a:off x="762000" y="3403600"/>
                <a:ext cx="10668000" cy="13716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00000" tIns="50000" rIns="100000" bIns="40000" anchor="t">
                <a:normAutofit/>
              </a:bodyPr>
              <a:lstStyle/>
              <a:p>
                <a:pPr algn="l"/>
                <a:r>
                  <a:rPr lang="en-US" sz="1450" b="1">
                    <a:solidFill>
                      <a:srgbClr val="00A7B5"/>
                    </a:solidFill>
                  </a:rPr>
                  <a:t>2 · Eigenvalues → diagonal of Λ  (largest first)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700" i="1">
                          <a:latin typeface="Cambria Math"/>
                        </a:rPr>
                        <m:t>𝛬</m:t>
                      </m:r>
                      <m:r>
                        <a:rPr sz="1600">
                          <a:latin typeface="Cambria Math"/>
                        </a:rPr>
                        <m:t> = </m:t>
                      </m:r>
                      <m:r>
                        <a:rPr sz="1600">
                          <a:latin typeface="Cambria Math"/>
                        </a:rPr>
                        <m:t>𝑑𝑖𝑎𝑔</m:t>
                      </m:r>
                      <m:r>
                        <a:rPr sz="1600">
                          <a:latin typeface="Cambria Math"/>
                        </a:rPr>
                        <m:t>(</m:t>
                      </m:r>
                      <m:r>
                        <a:rPr sz="1600">
                          <a:latin typeface="Cambria Math"/>
                        </a:rPr>
                        <m:t>𝜆</m:t>
                      </m:r>
                      <m:r>
                        <a:rPr sz="1600">
                          <a:latin typeface="Cambria Math"/>
                        </a:rPr>
                        <m:t>₁, </m:t>
                      </m:r>
                      <m:r>
                        <a:rPr sz="1600">
                          <a:latin typeface="Cambria Math"/>
                        </a:rPr>
                        <m:t>𝜆</m:t>
                      </m:r>
                      <m:r>
                        <a:rPr sz="1600">
                          <a:latin typeface="Cambria Math"/>
                        </a:rPr>
                        <m:t>₂)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4.5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0.5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71" name="AsB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403600"/>
                <a:ext cx="10668000" cy="13716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2" name="AsC"/>
              <p:cNvSpPr/>
              <p:nvPr/>
            </p:nvSpPr>
            <p:spPr>
              <a:xfrm>
                <a:off x="762000" y="4902200"/>
                <a:ext cx="10668000" cy="1549400"/>
              </a:xfrm>
              <a:prstGeom prst="roundRect">
                <a:avLst>
                  <a:gd name="adj" fmla="val 4000"/>
                </a:avLst>
              </a:prstGeom>
              <a:solidFill>
                <a:srgbClr val="F7F3EC"/>
              </a:solidFill>
              <a:ln>
                <a:noFill/>
              </a:ln>
            </p:spPr>
            <p:txBody>
              <a:bodyPr wrap="square" lIns="100000" tIns="50000" rIns="100000" bIns="40000" anchor="t">
                <a:normAutofit/>
              </a:bodyPr>
              <a:lstStyle/>
              <a:p>
                <a:pPr algn="l"/>
                <a:r>
                  <a:rPr lang="en-US" sz="1450" b="1">
                    <a:solidFill>
                      <a:srgbClr val="85754D"/>
                    </a:solidFill>
                  </a:rPr>
                  <a:t>3 · Spectral decomposition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700" i="1">
                          <a:latin typeface="Cambria Math"/>
                        </a:rPr>
                        <m:t>𝑆</m:t>
                      </m:r>
                      <m:r>
                        <a:rPr sz="1600">
                          <a:latin typeface="Cambria Math"/>
                        </a:rPr>
                        <m:t> = </m:t>
                      </m:r>
                      <m:r>
                        <a:rPr sz="1700" i="1">
                          <a:latin typeface="Cambria Math"/>
                        </a:rPr>
                        <m:t>𝑉</m:t>
                      </m:r>
                      <m:r>
                        <a:rPr sz="1700" i="1">
                          <a:latin typeface="Cambria Math"/>
                        </a:rPr>
                        <m:t>𝛬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1700" i="1">
                              <a:latin typeface="Cambria Math"/>
                            </a:rPr>
                            <m:t>𝑉</m:t>
                          </m:r>
                        </m:e>
                        <m:sup>
                          <m:r>
                            <a:rPr sz="1100"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sz="16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2.5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2.5</m:t>
                                </m:r>
                              </m:e>
                            </m:mr>
                          </m:m>
                        </m:e>
                      </m:d>
                      <m:r>
                        <a:rPr sz="1600">
                          <a:latin typeface="Cambria Math"/>
                        </a:rPr>
                        <m:t>   ✓</m:t>
                      </m:r>
                    </m:oMath>
                  </m:oMathPara>
                </a14:m>
                <a:endParaRPr/>
              </a:p>
              <a:p>
                <a:pPr algn="ctr"/>
                <a:r>
                  <a:rPr lang="en-US" sz="1400" i="1">
                    <a:solidFill>
                      <a:srgbClr val="85754D"/>
                    </a:solidFill>
                  </a:rPr>
                  <a:t>V is orthogonal (VᵀV = I), so Vᵀ = V⁻¹ — multiplying back reproduces S exactly.</a:t>
                </a:r>
              </a:p>
            </p:txBody>
          </p:sp>
        </mc:Choice>
        <mc:Fallback>
          <p:sp>
            <p:nvSpPr>
              <p:cNvPr id="172" name="AsC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4902200"/>
                <a:ext cx="10668000" cy="1549400"/>
              </a:xfrm>
              <a:prstGeom prst="roundRect">
                <a:avLst>
                  <a:gd name="adj" fmla="val 4000"/>
                </a:avLst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885341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7518F52-7980-B14E-8AEE-B417C1EE5CFB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EB6B82-86FA-1247-ADEC-D778113FC5D6}"/>
              </a:ext>
            </a:extLst>
          </p:cNvPr>
          <p:cNvSpPr txBox="1"/>
          <p:nvPr/>
        </p:nvSpPr>
        <p:spPr>
          <a:xfrm>
            <a:off x="762000" y="711200"/>
            <a:ext cx="10668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Step 4 · Loadings &amp; Scores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FAD5FA-9043-A548-AF01-576A4159AE72}"/>
              </a:ext>
            </a:extLst>
          </p:cNvPr>
          <p:cNvSpPr txBox="1"/>
          <p:nvPr/>
        </p:nvSpPr>
        <p:spPr>
          <a:xfrm>
            <a:off x="762000" y="1473200"/>
            <a:ext cx="10668000" cy="31547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i="1">
                <a:solidFill>
                  <a:srgbClr val="85754D"/>
                </a:solidFill>
              </a:rPr>
              <a:t>Loadings are the columns of V; scores are the centred data projected onto them —  T = Xc V.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LoadCard"/>
              <p:cNvSpPr/>
              <p:nvPr/>
            </p:nvSpPr>
            <p:spPr>
              <a:xfrm>
                <a:off x="762000" y="1905000"/>
                <a:ext cx="10668000" cy="16256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00000" tIns="55000" rIns="100000" bIns="45000" anchor="t">
                <a:normAutofit/>
              </a:bodyPr>
              <a:lstStyle/>
              <a:p>
                <a:pPr algn="l"/>
                <a:r>
                  <a:rPr lang="en-US" sz="1450" b="1">
                    <a:solidFill>
                      <a:srgbClr val="4B2E83"/>
                    </a:solidFill>
                  </a:rPr>
                  <a:t>1 · Loadings = columns of V  (the weight of each variable on each PC)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700" i="1">
                          <a:latin typeface="Cambria Math"/>
                        </a:rPr>
                        <m:t>𝑝</m:t>
                      </m:r>
                      <m:r>
                        <a:rPr sz="1700" i="1">
                          <a:latin typeface="Cambria Math"/>
                        </a:rPr>
                        <m:t>₁</m:t>
                      </m:r>
                      <m:r>
                        <a:rPr sz="17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00">
                                    <a:latin typeface="Cambria Math"/>
                                  </a:rPr>
                                  <m:t>0.707</m:t>
                                </m:r>
                              </m:e>
                            </m:mr>
                            <m:mr>
                              <m:e>
                                <m:r>
                                  <a:rPr sz="1700">
                                    <a:latin typeface="Cambria Math"/>
                                  </a:rPr>
                                  <m:t>0.707</m:t>
                                </m:r>
                              </m:e>
                            </m:mr>
                          </m:m>
                        </m:e>
                      </m:d>
                      <m:r>
                        <a:rPr sz="1500">
                          <a:latin typeface="Cambria Math"/>
                        </a:rPr>
                        <m:t>  (</m:t>
                      </m:r>
                      <m:r>
                        <a:rPr sz="1500">
                          <a:latin typeface="Cambria Math"/>
                        </a:rPr>
                        <m:t>𝑃𝐶</m:t>
                      </m:r>
                      <m:r>
                        <a:rPr sz="1500">
                          <a:latin typeface="Cambria Math"/>
                        </a:rPr>
                        <m:t>1)         </m:t>
                      </m:r>
                      <m:r>
                        <a:rPr sz="1700" i="1">
                          <a:latin typeface="Cambria Math"/>
                        </a:rPr>
                        <m:t>𝑝</m:t>
                      </m:r>
                      <m:r>
                        <a:rPr sz="1700" i="1">
                          <a:latin typeface="Cambria Math"/>
                        </a:rPr>
                        <m:t>₂</m:t>
                      </m:r>
                      <m:r>
                        <a:rPr sz="17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00">
                                    <a:latin typeface="Cambria Math"/>
                                  </a:rPr>
                                  <m:t>0.707</m:t>
                                </m:r>
                              </m:e>
                            </m:mr>
                            <m:mr>
                              <m:e>
                                <m:r>
                                  <a:rPr sz="1700">
                                    <a:latin typeface="Cambria Math"/>
                                  </a:rPr>
                                  <m:t>−0.707</m:t>
                                </m:r>
                              </m:e>
                            </m:mr>
                          </m:m>
                        </m:e>
                      </m:d>
                      <m:r>
                        <a:rPr sz="1500">
                          <a:latin typeface="Cambria Math"/>
                        </a:rPr>
                        <m:t>  (</m:t>
                      </m:r>
                      <m:r>
                        <a:rPr sz="1500">
                          <a:latin typeface="Cambria Math"/>
                        </a:rPr>
                        <m:t>𝑃𝐶</m:t>
                      </m:r>
                      <m:r>
                        <a:rPr sz="1500">
                          <a:latin typeface="Cambria Math"/>
                        </a:rPr>
                        <m:t>2)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0" name="LoadCard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905000"/>
                <a:ext cx="10668000" cy="16256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1" name="ScoreCard"/>
              <p:cNvSpPr/>
              <p:nvPr/>
            </p:nvSpPr>
            <p:spPr>
              <a:xfrm>
                <a:off x="762000" y="3683000"/>
                <a:ext cx="10668000" cy="26670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00000" tIns="55000" rIns="100000" bIns="45000" anchor="t">
                <a:normAutofit/>
              </a:bodyPr>
              <a:lstStyle/>
              <a:p>
                <a:pPr algn="l"/>
                <a:r>
                  <a:rPr lang="en-US" sz="1450" b="1">
                    <a:solidFill>
                      <a:srgbClr val="00A7B5"/>
                    </a:solidFill>
                  </a:rPr>
                  <a:t>2 · Scores  T = Xc V   (project the centred data onto the eigenvectors)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 i="1">
                          <a:latin typeface="Cambria Math"/>
                        </a:rPr>
                        <m:t>𝑇</m:t>
                      </m:r>
                      <m:r>
                        <a:rPr sz="1600">
                          <a:latin typeface="Cambria Math"/>
                        </a:rPr>
                        <m:t> = 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1600" i="1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sz="1600" i="1">
                              <a:latin typeface="Cambria Math"/>
                            </a:rPr>
                            <m:t>𝑐</m:t>
                          </m:r>
                        </m:sub>
                      </m:sSub>
                      <m:r>
                        <a:rPr sz="1600" i="1">
                          <a:latin typeface="Cambria Math"/>
                        </a:rPr>
                        <m:t>𝑉</m:t>
                      </m:r>
                      <m:r>
                        <a:rPr sz="16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0.707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0.707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0.707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−0.707</m:t>
                                </m:r>
                              </m:e>
                            </m:mr>
                          </m:m>
                        </m:e>
                      </m:d>
                      <m:r>
                        <a:rPr sz="16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−2.121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−0.707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−2.121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0.707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2.121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−0.707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2.121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0.707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  <a:p>
                <a:pPr algn="ctr"/>
                <a:r>
                  <a:rPr lang="en-US" sz="1400" i="1">
                    <a:solidFill>
                      <a:srgbClr val="85754D"/>
                    </a:solidFill>
                  </a:rPr>
                  <a:t>Columns of T are the PC1 and PC2 coordinates.   Row 1: (−2)(0.707)+(−1)(0.707) = −2.121 on PC1.</a:t>
                </a:r>
              </a:p>
            </p:txBody>
          </p:sp>
        </mc:Choice>
        <mc:Fallback>
          <p:sp>
            <p:nvSpPr>
              <p:cNvPr id="161" name="ScoreCard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683000"/>
                <a:ext cx="10668000" cy="26670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741354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7518F52-7980-B14E-8AEE-B417C1EE5CFB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EB6B82-86FA-1247-ADEC-D778113FC5D6}"/>
              </a:ext>
            </a:extLst>
          </p:cNvPr>
          <p:cNvSpPr txBox="1"/>
          <p:nvPr/>
        </p:nvSpPr>
        <p:spPr>
          <a:xfrm>
            <a:off x="762000" y="711200"/>
            <a:ext cx="10668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Step 5 · Variance Explained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FAD5FA-9043-A548-AF01-576A4159AE72}"/>
              </a:ext>
            </a:extLst>
          </p:cNvPr>
          <p:cNvSpPr txBox="1"/>
          <p:nvPr/>
        </p:nvSpPr>
        <p:spPr>
          <a:xfrm>
            <a:off x="762000" y="1473200"/>
            <a:ext cx="10668000" cy="31547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i="1">
                <a:solidFill>
                  <a:srgbClr val="85754D"/>
                </a:solidFill>
              </a:rPr>
              <a:t>Each eigenvalue is the variance along its PC; divide by the total to get the share —  λⱼ / Σλ.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0" name="VarCard"/>
              <p:cNvSpPr/>
              <p:nvPr/>
            </p:nvSpPr>
            <p:spPr>
              <a:xfrm>
                <a:off x="762000" y="1905000"/>
                <a:ext cx="5461000" cy="42545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10000" tIns="60000" rIns="100000" bIns="50000" anchor="t">
                <a:normAutofit/>
              </a:bodyPr>
              <a:lstStyle/>
              <a:p>
                <a:pPr algn="l"/>
                <a:r>
                  <a:rPr lang="en-US" sz="1450" b="1">
                    <a:solidFill>
                      <a:srgbClr val="4B2E83"/>
                    </a:solidFill>
                  </a:rPr>
                  <a:t>Proportion of variance per PC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700">
                          <a:latin typeface="Cambria Math"/>
                        </a:rPr>
                        <m:t>𝑝𝑟𝑜𝑝</m:t>
                      </m:r>
                      <m:r>
                        <a:rPr sz="1700">
                          <a:latin typeface="Cambria Math"/>
                        </a:rPr>
                        <m:t>. </m:t>
                      </m:r>
                      <m:r>
                        <a:rPr sz="1700">
                          <a:latin typeface="Cambria Math"/>
                        </a:rPr>
                        <m:t>𝑃𝐶</m:t>
                      </m:r>
                      <m:r>
                        <a:rPr sz="1700">
                          <a:latin typeface="Cambria Math"/>
                        </a:rPr>
                        <m:t>ⱼ</m:t>
                      </m:r>
                      <m:r>
                        <a:rPr sz="1700">
                          <a:latin typeface="Cambria Math"/>
                        </a:rPr>
                        <m:t> = 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1500" i="1">
                              <a:latin typeface="Cambria Math"/>
                            </a:rPr>
                            <m:t>𝜆</m:t>
                          </m:r>
                          <m:r>
                            <a:rPr sz="1500" i="1">
                              <a:latin typeface="Cambria Math"/>
                            </a:rPr>
                            <m:t>ⱼ</m:t>
                          </m:r>
                        </m:num>
                        <m:den>
                          <m:r>
                            <a:rPr sz="1500">
                              <a:latin typeface="Cambria Math"/>
                            </a:rPr>
                            <m:t>𝜆</m:t>
                          </m:r>
                          <m:r>
                            <a:rPr sz="1500">
                              <a:latin typeface="Cambria Math"/>
                            </a:rPr>
                            <m:t>₁ + </m:t>
                          </m:r>
                          <m:r>
                            <a:rPr sz="1500">
                              <a:latin typeface="Cambria Math"/>
                            </a:rPr>
                            <m:t>𝜆</m:t>
                          </m:r>
                          <m:r>
                            <a:rPr sz="1500">
                              <a:latin typeface="Cambria Math"/>
                            </a:rPr>
                            <m:t>₂</m:t>
                          </m:r>
                        </m:den>
                      </m:f>
                    </m:oMath>
                  </m:oMathPara>
                </a14:m>
                <a:endParaRPr/>
              </a:p>
              <a:p>
                <a:pPr algn="l">
                  <a:spcBef>
                    <a:spcPts val="600"/>
                  </a:spcBef>
                </a:pPr>
                <a:r>
                  <a:rPr lang="en-US" sz="1500" b="0">
                    <a:solidFill>
                      <a:srgbClr val="85754D"/>
                    </a:solidFill>
                  </a:rPr>
                  <a:t>Total variance:  λ₁ + λ₂ = 4.5 + 0.5 = 5.0</a:t>
                </a:r>
              </a:p>
              <a:p>
                <a:pPr algn="l">
                  <a:spcBef>
                    <a:spcPts val="400"/>
                  </a:spcBef>
                </a:pPr>
                <a:r>
                  <a:rPr lang="en-US" sz="1700" b="1">
                    <a:solidFill>
                      <a:srgbClr val="7AB648"/>
                    </a:solidFill>
                  </a:rPr>
                  <a:t>PC1 :  4.5 / 5 = 0.90   →   90%</a:t>
                </a:r>
              </a:p>
              <a:p>
                <a:pPr algn="l">
                  <a:spcBef>
                    <a:spcPts val="200"/>
                  </a:spcBef>
                </a:pPr>
                <a:r>
                  <a:rPr lang="en-US" sz="1700" b="1">
                    <a:solidFill>
                      <a:srgbClr val="D1578A"/>
                    </a:solidFill>
                  </a:rPr>
                  <a:t>PC2 :  0.5 / 5 = 0.10   →   10%</a:t>
                </a:r>
              </a:p>
              <a:p>
                <a:pPr algn="l">
                  <a:spcBef>
                    <a:spcPts val="400"/>
                  </a:spcBef>
                </a:pPr>
                <a:r>
                  <a:rPr lang="en-US" sz="1500" b="1">
                    <a:solidFill>
                      <a:srgbClr val="4B2E83"/>
                    </a:solidFill>
                  </a:rPr>
                  <a:t>Cumulative:  PC1 = 90%,  PC1 + PC2 = 100%</a:t>
                </a:r>
              </a:p>
            </p:txBody>
          </p:sp>
        </mc:Choice>
        <mc:Fallback>
          <p:sp>
            <p:nvSpPr>
              <p:cNvPr id="170" name="VarCard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905000"/>
                <a:ext cx="5461000" cy="42545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80" name="VarChart"/>
          <p:cNvGraphicFramePr/>
          <p:nvPr/>
        </p:nvGraphicFramePr>
        <p:xfrm>
          <a:off x="6604000" y="2032000"/>
          <a:ext cx="48895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0657280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7518F52-7980-B14E-8AEE-B417C1EE5CFB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EB6B82-86FA-1247-ADEC-D778113FC5D6}"/>
              </a:ext>
            </a:extLst>
          </p:cNvPr>
          <p:cNvSpPr txBox="1"/>
          <p:nvPr/>
        </p:nvSpPr>
        <p:spPr>
          <a:xfrm>
            <a:off x="762000" y="711200"/>
            <a:ext cx="10668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Step 6 · Plotting the Biplot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FAD5FA-9043-A548-AF01-576A4159AE72}"/>
              </a:ext>
            </a:extLst>
          </p:cNvPr>
          <p:cNvSpPr txBox="1"/>
          <p:nvPr/>
        </p:nvSpPr>
        <p:spPr>
          <a:xfrm>
            <a:off x="762000" y="1473200"/>
            <a:ext cx="10668000" cy="31547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i="1">
                <a:solidFill>
                  <a:srgbClr val="85754D"/>
                </a:solidFill>
              </a:rPr>
              <a:t>Plot the scores in PC space and overlay each original variable as a vector from the origin.</a:t>
            </a:r>
          </a:p>
        </p:txBody>
      </p:sp>
      <p:sp>
        <p:nvSpPr>
          <p:cNvPr id="190" name="StepsCard"/>
          <p:cNvSpPr/>
          <p:nvPr/>
        </p:nvSpPr>
        <p:spPr>
          <a:xfrm>
            <a:off x="635000" y="1905000"/>
            <a:ext cx="4953000" cy="4318000"/>
          </a:xfrm>
          <a:prstGeom prst="roundRect">
            <a:avLst>
              <a:gd name="adj" fmla="val 4000"/>
            </a:avLst>
          </a:prstGeom>
          <a:solidFill>
            <a:srgbClr val="F3EFF8"/>
          </a:solidFill>
          <a:ln>
            <a:noFill/>
          </a:ln>
        </p:spPr>
        <p:txBody>
          <a:bodyPr wrap="square" lIns="110000" tIns="70000" rIns="100000" bIns="50000" anchor="t">
            <a:normAutofit/>
          </a:bodyPr>
          <a:lstStyle/>
          <a:p>
            <a:pPr algn="l"/>
            <a:r>
              <a:rPr lang="en-US" sz="1500" b="1">
                <a:solidFill>
                  <a:srgbClr val="4B2E83"/>
                </a:solidFill>
              </a:rPr>
              <a:t>Plotting PC1, PC2 &amp; the variable vectors</a:t>
            </a:r>
          </a:p>
          <a:p>
            <a:pPr algn="l">
              <a:spcBef>
                <a:spcPts val="600"/>
              </a:spcBef>
            </a:pPr>
            <a:r>
              <a:rPr lang="en-US" sz="1450" b="1">
                <a:solidFill>
                  <a:srgbClr val="4B2E83"/>
                </a:solidFill>
              </a:rPr>
              <a:t>1 · Axes = the PCs.</a:t>
            </a:r>
            <a:r>
              <a:rPr lang="en-US" sz="1450">
                <a:solidFill>
                  <a:srgbClr val="333333"/>
                </a:solidFill>
              </a:rPr>
              <a:t>  PC1 on the x-axis, PC2 on the y-axis; the origin is the data mean.</a:t>
            </a:r>
          </a:p>
          <a:p>
            <a:pPr algn="l">
              <a:spcBef>
                <a:spcPts val="600"/>
              </a:spcBef>
            </a:pPr>
            <a:r>
              <a:rPr lang="en-US" sz="1450" b="1">
                <a:solidFill>
                  <a:srgbClr val="00A7B5"/>
                </a:solidFill>
              </a:rPr>
              <a:t>2 · Plot the scores.</a:t>
            </a:r>
            <a:r>
              <a:rPr lang="en-US" sz="1450">
                <a:solidFill>
                  <a:srgbClr val="333333"/>
                </a:solidFill>
              </a:rPr>
              <a:t>  Place each row of T at its (PC1, PC2) — e.g. obs 1 → (−2.12, −0.71).</a:t>
            </a:r>
          </a:p>
          <a:p>
            <a:pPr algn="l">
              <a:spcBef>
                <a:spcPts val="600"/>
              </a:spcBef>
            </a:pPr>
            <a:r>
              <a:rPr lang="en-US" sz="1450" b="1">
                <a:solidFill>
                  <a:srgbClr val="7AB648"/>
                </a:solidFill>
              </a:rPr>
              <a:t>3 · Draw variable arrows.</a:t>
            </a:r>
            <a:r>
              <a:rPr lang="en-US" sz="1450">
                <a:solidFill>
                  <a:srgbClr val="333333"/>
                </a:solidFill>
              </a:rPr>
              <a:t>  From the origin along each variable's loadings (a row of V): x₁ → (0.707, 0.707), x₂ → (0.707, −0.707).</a:t>
            </a:r>
          </a:p>
          <a:p>
            <a:pPr algn="l">
              <a:spcBef>
                <a:spcPts val="600"/>
              </a:spcBef>
            </a:pPr>
            <a:r>
              <a:rPr lang="en-US" sz="1450" b="1">
                <a:solidFill>
                  <a:srgbClr val="D1578A"/>
                </a:solidFill>
              </a:rPr>
              <a:t>4 · Interpret.</a:t>
            </a:r>
            <a:r>
              <a:rPr lang="en-US" sz="1450">
                <a:solidFill>
                  <a:srgbClr val="333333"/>
                </a:solidFill>
              </a:rPr>
              <a:t>  Arrow direction = how a variable aligns with the PCs; points spread mostly along PC1 (90% of variance).</a:t>
            </a:r>
          </a:p>
        </p:txBody>
      </p:sp>
      <p:sp>
        <p:nvSpPr>
          <p:cNvPr id="200" name="PlotFrame"/>
          <p:cNvSpPr/>
          <p:nvPr/>
        </p:nvSpPr>
        <p:spPr>
          <a:xfrm>
            <a:off x="5816600" y="1905000"/>
            <a:ext cx="5740400" cy="4318000"/>
          </a:xfrm>
          <a:prstGeom prst="roundRect">
            <a:avLst>
              <a:gd name="adj" fmla="val 3000"/>
            </a:avLst>
          </a:prstGeom>
          <a:solidFill>
            <a:srgbClr val="FBFAFD"/>
          </a:solidFill>
          <a:ln w="9525">
            <a:solidFill>
              <a:srgbClr val="D9D2E6"/>
            </a:solidFill>
          </a:ln>
        </p:spPr>
        <p:txBody>
          <a:bodyPr/>
          <a:lstStyle/>
          <a:p>
            <a:endParaRPr/>
          </a:p>
        </p:txBody>
      </p:sp>
      <p:cxnSp>
        <p:nvCxnSpPr>
          <p:cNvPr id="201" name="conn201"/>
          <p:cNvCxnSpPr/>
          <p:nvPr/>
        </p:nvCxnSpPr>
        <p:spPr>
          <a:xfrm>
            <a:off x="5994400" y="4064000"/>
            <a:ext cx="5334000" cy="0"/>
          </a:xfrm>
          <a:prstGeom prst="straightConnector1">
            <a:avLst/>
          </a:prstGeom>
          <a:ln w="12700">
            <a:solidFill>
              <a:srgbClr val="AAAAAA"/>
            </a:solidFill>
          </a:ln>
        </p:spPr>
      </p:cxnSp>
      <p:cxnSp>
        <p:nvCxnSpPr>
          <p:cNvPr id="202" name="conn202"/>
          <p:cNvCxnSpPr/>
          <p:nvPr/>
        </p:nvCxnSpPr>
        <p:spPr>
          <a:xfrm>
            <a:off x="8636000" y="2095500"/>
            <a:ext cx="0" cy="3937000"/>
          </a:xfrm>
          <a:prstGeom prst="straightConnector1">
            <a:avLst/>
          </a:prstGeom>
          <a:ln w="12700">
            <a:solidFill>
              <a:srgbClr val="AAAAAA"/>
            </a:solidFill>
          </a:ln>
        </p:spPr>
      </p:cxnSp>
      <p:cxnSp>
        <p:nvCxnSpPr>
          <p:cNvPr id="221" name="conn221"/>
          <p:cNvCxnSpPr/>
          <p:nvPr/>
        </p:nvCxnSpPr>
        <p:spPr>
          <a:xfrm flipV="1">
            <a:off x="8636000" y="2743200"/>
            <a:ext cx="1320800" cy="1320800"/>
          </a:xfrm>
          <a:prstGeom prst="straightConnector1">
            <a:avLst/>
          </a:prstGeom>
          <a:ln w="28575">
            <a:solidFill>
              <a:srgbClr val="00A7B5"/>
            </a:solidFill>
            <a:tailEnd type="triangle" w="lg" len="lg"/>
          </a:ln>
        </p:spPr>
      </p:cxnSp>
      <p:cxnSp>
        <p:nvCxnSpPr>
          <p:cNvPr id="222" name="conn222"/>
          <p:cNvCxnSpPr/>
          <p:nvPr/>
        </p:nvCxnSpPr>
        <p:spPr>
          <a:xfrm>
            <a:off x="8636000" y="4064000"/>
            <a:ext cx="1320800" cy="1320800"/>
          </a:xfrm>
          <a:prstGeom prst="straightConnector1">
            <a:avLst/>
          </a:prstGeom>
          <a:ln w="28575">
            <a:solidFill>
              <a:srgbClr val="7AB648"/>
            </a:solidFill>
            <a:tailEnd type="triangle" w="lg" len="lg"/>
          </a:ln>
        </p:spPr>
      </p:cxnSp>
      <p:sp>
        <p:nvSpPr>
          <p:cNvPr id="211" name="dot211"/>
          <p:cNvSpPr/>
          <p:nvPr/>
        </p:nvSpPr>
        <p:spPr>
          <a:xfrm>
            <a:off x="6350991" y="4724070"/>
            <a:ext cx="152400" cy="152400"/>
          </a:xfrm>
          <a:prstGeom prst="ellipse">
            <a:avLst/>
          </a:prstGeom>
          <a:solidFill>
            <a:srgbClr val="4B2E83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2" name="dot212"/>
          <p:cNvSpPr/>
          <p:nvPr/>
        </p:nvSpPr>
        <p:spPr>
          <a:xfrm>
            <a:off x="6350991" y="3251530"/>
            <a:ext cx="152400" cy="152400"/>
          </a:xfrm>
          <a:prstGeom prst="ellipse">
            <a:avLst/>
          </a:prstGeom>
          <a:solidFill>
            <a:srgbClr val="4B2E83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3" name="dot213"/>
          <p:cNvSpPr/>
          <p:nvPr/>
        </p:nvSpPr>
        <p:spPr>
          <a:xfrm>
            <a:off x="8559800" y="3987800"/>
            <a:ext cx="152400" cy="152400"/>
          </a:xfrm>
          <a:prstGeom prst="ellipse">
            <a:avLst/>
          </a:prstGeom>
          <a:solidFill>
            <a:srgbClr val="4B2E83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4" name="dot214"/>
          <p:cNvSpPr/>
          <p:nvPr/>
        </p:nvSpPr>
        <p:spPr>
          <a:xfrm>
            <a:off x="10768609" y="4724070"/>
            <a:ext cx="152400" cy="152400"/>
          </a:xfrm>
          <a:prstGeom prst="ellipse">
            <a:avLst/>
          </a:prstGeom>
          <a:solidFill>
            <a:srgbClr val="4B2E83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5" name="dot215"/>
          <p:cNvSpPr/>
          <p:nvPr/>
        </p:nvSpPr>
        <p:spPr>
          <a:xfrm>
            <a:off x="10768609" y="3251530"/>
            <a:ext cx="152400" cy="152400"/>
          </a:xfrm>
          <a:prstGeom prst="ellipse">
            <a:avLst/>
          </a:prstGeom>
          <a:solidFill>
            <a:srgbClr val="4B2E83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1" name="t241"/>
          <p:cNvSpPr txBox="1"/>
          <p:nvPr/>
        </p:nvSpPr>
        <p:spPr>
          <a:xfrm>
            <a:off x="6235700" y="4800600"/>
            <a:ext cx="254000" cy="3048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400" b="1" i="0">
                <a:solidFill>
                  <a:srgbClr val="4B2E83"/>
                </a:solidFill>
              </a:rPr>
              <a:t>1</a:t>
            </a:r>
          </a:p>
        </p:txBody>
      </p:sp>
      <p:sp>
        <p:nvSpPr>
          <p:cNvPr id="242" name="t242"/>
          <p:cNvSpPr txBox="1"/>
          <p:nvPr/>
        </p:nvSpPr>
        <p:spPr>
          <a:xfrm>
            <a:off x="6235700" y="3175000"/>
            <a:ext cx="254000" cy="3048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400" b="1" i="0">
                <a:solidFill>
                  <a:srgbClr val="4B2E83"/>
                </a:solidFill>
              </a:rPr>
              <a:t>2</a:t>
            </a:r>
          </a:p>
        </p:txBody>
      </p:sp>
      <p:sp>
        <p:nvSpPr>
          <p:cNvPr id="243" name="t243"/>
          <p:cNvSpPr txBox="1"/>
          <p:nvPr/>
        </p:nvSpPr>
        <p:spPr>
          <a:xfrm>
            <a:off x="8407400" y="3759200"/>
            <a:ext cx="254000" cy="3048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400" b="1" i="0">
                <a:solidFill>
                  <a:srgbClr val="4B2E83"/>
                </a:solidFill>
              </a:rPr>
              <a:t>3</a:t>
            </a:r>
          </a:p>
        </p:txBody>
      </p:sp>
      <p:sp>
        <p:nvSpPr>
          <p:cNvPr id="244" name="t244"/>
          <p:cNvSpPr txBox="1"/>
          <p:nvPr/>
        </p:nvSpPr>
        <p:spPr>
          <a:xfrm>
            <a:off x="10947400" y="4800600"/>
            <a:ext cx="254000" cy="3048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400" b="1" i="0">
                <a:solidFill>
                  <a:srgbClr val="4B2E83"/>
                </a:solidFill>
              </a:rPr>
              <a:t>4</a:t>
            </a:r>
          </a:p>
        </p:txBody>
      </p:sp>
      <p:sp>
        <p:nvSpPr>
          <p:cNvPr id="245" name="t245"/>
          <p:cNvSpPr txBox="1"/>
          <p:nvPr/>
        </p:nvSpPr>
        <p:spPr>
          <a:xfrm>
            <a:off x="10947400" y="3175000"/>
            <a:ext cx="254000" cy="3048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400" b="1" i="0">
                <a:solidFill>
                  <a:srgbClr val="4B2E83"/>
                </a:solidFill>
              </a:rPr>
              <a:t>5</a:t>
            </a:r>
          </a:p>
        </p:txBody>
      </p:sp>
      <p:sp>
        <p:nvSpPr>
          <p:cNvPr id="231" name="t231"/>
          <p:cNvSpPr txBox="1"/>
          <p:nvPr/>
        </p:nvSpPr>
        <p:spPr>
          <a:xfrm>
            <a:off x="10058400" y="2565400"/>
            <a:ext cx="508000" cy="3048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600" b="1" i="1">
                <a:solidFill>
                  <a:srgbClr val="00A7B5"/>
                </a:solidFill>
              </a:rPr>
              <a:t>x₁</a:t>
            </a:r>
          </a:p>
        </p:txBody>
      </p:sp>
      <p:sp>
        <p:nvSpPr>
          <p:cNvPr id="232" name="t232"/>
          <p:cNvSpPr txBox="1"/>
          <p:nvPr/>
        </p:nvSpPr>
        <p:spPr>
          <a:xfrm>
            <a:off x="10058400" y="5359400"/>
            <a:ext cx="508000" cy="3048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600" b="1" i="1">
                <a:solidFill>
                  <a:srgbClr val="7AB648"/>
                </a:solidFill>
              </a:rPr>
              <a:t>x₂</a:t>
            </a:r>
          </a:p>
        </p:txBody>
      </p:sp>
      <p:sp>
        <p:nvSpPr>
          <p:cNvPr id="233" name="t233"/>
          <p:cNvSpPr txBox="1"/>
          <p:nvPr/>
        </p:nvSpPr>
        <p:spPr>
          <a:xfrm>
            <a:off x="10414000" y="4191000"/>
            <a:ext cx="1143000" cy="3048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400" b="1" i="0">
                <a:solidFill>
                  <a:srgbClr val="85754D"/>
                </a:solidFill>
              </a:rPr>
              <a:t>PC1 (90%)</a:t>
            </a:r>
          </a:p>
        </p:txBody>
      </p:sp>
      <p:sp>
        <p:nvSpPr>
          <p:cNvPr id="234" name="t234"/>
          <p:cNvSpPr txBox="1"/>
          <p:nvPr/>
        </p:nvSpPr>
        <p:spPr>
          <a:xfrm>
            <a:off x="8737600" y="2057400"/>
            <a:ext cx="1143000" cy="3048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400" b="1" i="0">
                <a:solidFill>
                  <a:srgbClr val="85754D"/>
                </a:solidFill>
              </a:rPr>
              <a:t>PC2 (10%)</a:t>
            </a:r>
          </a:p>
        </p:txBody>
      </p:sp>
    </p:spTree>
    <p:extLst>
      <p:ext uri="{BB962C8B-B14F-4D97-AF65-F5344CB8AC3E}">
        <p14:creationId xmlns:p14="http://schemas.microsoft.com/office/powerpoint/2010/main" val="32839453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B7A75F2-0421-3C4F-95AE-20811F15AF56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BC8F89-F20C-1E46-82A2-F9E75B417553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PCA via Singular Value Decomposition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405757-259C-554A-A032-A654DECD32E9}"/>
              </a:ext>
            </a:extLst>
          </p:cNvPr>
          <p:cNvSpPr txBox="1"/>
          <p:nvPr/>
        </p:nvSpPr>
        <p:spPr>
          <a:xfrm>
            <a:off x="762000" y="1473200"/>
            <a:ext cx="1066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i="1">
                <a:solidFill>
                  <a:srgbClr val="85754D"/>
                </a:solidFill>
              </a:rPr>
              <a:t>In practice PCA is computed from the SVD of the centered data — more numerically stable than forming S = X꜀ᵀX꜀ explicitly.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0685B92-5EC7-2742-A5A7-2B1E48D8F480}"/>
              </a:ext>
            </a:extLst>
          </p:cNvPr>
          <p:cNvSpPr/>
          <p:nvPr/>
        </p:nvSpPr>
        <p:spPr>
          <a:xfrm>
            <a:off x="762000" y="2133600"/>
            <a:ext cx="10668000" cy="1016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D310885-5C6A-5644-B56F-7EB45E514C9C}"/>
                  </a:ext>
                </a:extLst>
              </p:cNvPr>
              <p:cNvSpPr txBox="1"/>
              <p:nvPr/>
            </p:nvSpPr>
            <p:spPr>
              <a:xfrm>
                <a:off x="762000" y="2311400"/>
                <a:ext cx="10668000" cy="635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 algn="l">
                  <a:defRPr sz="3400" b="1">
                    <a:solidFill>
                      <a:srgbClr val="FFFFFF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𝛴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D310885-5C6A-5644-B56F-7EB45E514C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2311400"/>
                <a:ext cx="10668000" cy="635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FABB267-A058-894B-892D-EBBEF6AB6AEC}"/>
              </a:ext>
            </a:extLst>
          </p:cNvPr>
          <p:cNvSpPr/>
          <p:nvPr/>
        </p:nvSpPr>
        <p:spPr>
          <a:xfrm>
            <a:off x="762000" y="3352800"/>
            <a:ext cx="3429000" cy="9906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F53165-7419-624F-AD56-6F3B1C385E06}"/>
              </a:ext>
            </a:extLst>
          </p:cNvPr>
          <p:cNvSpPr txBox="1"/>
          <p:nvPr/>
        </p:nvSpPr>
        <p:spPr>
          <a:xfrm>
            <a:off x="939800" y="3479800"/>
            <a:ext cx="3073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  <a:latin typeface="Cambria Math"/>
                <a:ea typeface="Cambria Math"/>
              </a:rPr>
              <a:t>U (n×n)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8FE2E7-3610-0344-AB6A-9FC994C7DA51}"/>
              </a:ext>
            </a:extLst>
          </p:cNvPr>
          <p:cNvSpPr txBox="1"/>
          <p:nvPr/>
        </p:nvSpPr>
        <p:spPr>
          <a:xfrm>
            <a:off x="939800" y="3810000"/>
            <a:ext cx="30734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Left singular vectors — orthonormal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DCB9798-69BC-5A40-A0AD-7015BCCC6F04}"/>
              </a:ext>
            </a:extLst>
          </p:cNvPr>
          <p:cNvSpPr/>
          <p:nvPr/>
        </p:nvSpPr>
        <p:spPr>
          <a:xfrm>
            <a:off x="4381500" y="3352800"/>
            <a:ext cx="3429000" cy="9906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C7B05B-6E74-1748-9B0B-F72E0665C266}"/>
              </a:ext>
            </a:extLst>
          </p:cNvPr>
          <p:cNvSpPr txBox="1"/>
          <p:nvPr/>
        </p:nvSpPr>
        <p:spPr>
          <a:xfrm>
            <a:off x="4559300" y="3479800"/>
            <a:ext cx="3073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l-GR" sz="1600" b="1">
                <a:solidFill>
                  <a:srgbClr val="00A7B5"/>
                </a:solidFill>
                <a:latin typeface="Cambria Math"/>
                <a:ea typeface="Cambria Math"/>
              </a:rPr>
              <a:t>Σ (</a:t>
            </a:r>
            <a:r>
              <a:rPr lang="en-US" sz="1600" b="1">
                <a:solidFill>
                  <a:srgbClr val="00A7B5"/>
                </a:solidFill>
                <a:latin typeface="Cambria Math"/>
                <a:ea typeface="Cambria Math"/>
              </a:rPr>
              <a:t>n×p)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806F00-B326-054B-AF5E-8823286A978D}"/>
              </a:ext>
            </a:extLst>
          </p:cNvPr>
          <p:cNvSpPr txBox="1"/>
          <p:nvPr/>
        </p:nvSpPr>
        <p:spPr>
          <a:xfrm>
            <a:off x="4559300" y="3810000"/>
            <a:ext cx="30734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Diagonal singular values </a:t>
            </a:r>
            <a:r>
              <a:rPr lang="el-GR" sz="1400">
                <a:solidFill>
                  <a:srgbClr val="333333"/>
                </a:solidFill>
              </a:rPr>
              <a:t>σ₁ ≥ σ₂ ≥ …</a:t>
            </a:r>
            <a:endParaRPr lang="en-US" sz="1400">
              <a:solidFill>
                <a:srgbClr val="333333"/>
              </a:solidFill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4C5ECCB-72BE-4E4E-96F7-63C172A02047}"/>
              </a:ext>
            </a:extLst>
          </p:cNvPr>
          <p:cNvSpPr/>
          <p:nvPr/>
        </p:nvSpPr>
        <p:spPr>
          <a:xfrm>
            <a:off x="8001000" y="3352800"/>
            <a:ext cx="3429000" cy="9906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71FCCD-2FA8-5B4E-AEEB-ACB01AC441EC}"/>
              </a:ext>
            </a:extLst>
          </p:cNvPr>
          <p:cNvSpPr txBox="1"/>
          <p:nvPr/>
        </p:nvSpPr>
        <p:spPr>
          <a:xfrm>
            <a:off x="8178800" y="3479800"/>
            <a:ext cx="3073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7AB648"/>
                </a:solidFill>
                <a:latin typeface="Cambria Math"/>
                <a:ea typeface="Cambria Math"/>
              </a:rPr>
              <a:t>V (p×p)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F01080-9030-F04F-A0B5-C9E0EB6885C1}"/>
              </a:ext>
            </a:extLst>
          </p:cNvPr>
          <p:cNvSpPr txBox="1"/>
          <p:nvPr/>
        </p:nvSpPr>
        <p:spPr>
          <a:xfrm>
            <a:off x="8178800" y="3810000"/>
            <a:ext cx="30734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Right singular vectors = PCA loadings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CA91571-F173-6145-AFD4-4E94C99205FC}"/>
              </a:ext>
            </a:extLst>
          </p:cNvPr>
          <p:cNvSpPr/>
          <p:nvPr/>
        </p:nvSpPr>
        <p:spPr>
          <a:xfrm>
            <a:off x="762000" y="4572000"/>
            <a:ext cx="10668000" cy="1524000"/>
          </a:xfrm>
          <a:prstGeom prst="roundRect">
            <a:avLst/>
          </a:prstGeom>
          <a:solidFill>
            <a:srgbClr val="FBFAF7"/>
          </a:solidFill>
          <a:ln w="15875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DA90F84-7506-3B4D-835A-DEE1944499C7}"/>
                  </a:ext>
                </a:extLst>
              </p:cNvPr>
              <p:cNvSpPr txBox="1"/>
              <p:nvPr/>
            </p:nvSpPr>
            <p:spPr>
              <a:xfrm>
                <a:off x="990600" y="4724400"/>
                <a:ext cx="10210800" cy="1270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>
                  <a:defRPr sz="1400">
                    <a:solidFill>
                      <a:srgbClr val="333333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Eigen</m:t>
                      </m:r>
                      <m:r>
                        <a:rPr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route</m:t>
                      </m:r>
                      <m:r>
                        <a:rPr>
                          <a:latin typeface="Cambria Math" panose="02040503050406030204" pitchFamily="18" charset="0"/>
                        </a:rPr>
                        <m:t>: 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sSubSup>
                        <m:sSub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𝑉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𝛴</m:t>
                              </m:r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>
                              <a:latin typeface="Cambria Math" panose="02040503050406030204" pitchFamily="18" charset="0"/>
                            </a:rPr>
                            <m:t>𝛴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 ⇒ 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/>
              </a:p>
              <a:p>
                <a:pPr algn="l">
                  <a:defRPr sz="1400">
                    <a:solidFill>
                      <a:srgbClr val="333333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Scores</m:t>
                      </m:r>
                      <m:r>
                        <a:rPr>
                          <a:latin typeface="Cambria Math" panose="02040503050406030204" pitchFamily="18" charset="0"/>
                        </a:rPr>
                        <m:t>: 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𝛴</m:t>
                      </m:r>
                    </m:oMath>
                  </m:oMathPara>
                </a14:m>
                <a:endParaRPr/>
              </a:p>
              <a:p>
                <a:pPr algn="l">
                  <a:defRPr sz="1400">
                    <a:solidFill>
                      <a:srgbClr val="333333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Rank</m:t>
                      </m:r>
                      <m:r>
                        <a:rPr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k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(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Eckart</m:t>
                      </m:r>
                      <m:r>
                        <a:rPr>
                          <a:latin typeface="Cambria Math" panose="02040503050406030204" pitchFamily="18" charset="0"/>
                        </a:rPr>
                        <m:t>–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Young</m:t>
                      </m:r>
                      <m:r>
                        <a:rPr>
                          <a:latin typeface="Cambria Math" panose="02040503050406030204" pitchFamily="18" charset="0"/>
                        </a:rPr>
                        <m:t>): 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𝛴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Sup>
                        <m:sSub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>
                          <a:latin typeface="Cambria Math" panose="02040503050406030204" pitchFamily="18" charset="0"/>
                        </a:rPr>
                        <m:t> 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minimizes</m:t>
                      </m:r>
                      <m:r>
                        <a:rPr>
                          <a:latin typeface="Cambria Math" panose="02040503050406030204" pitchFamily="18" charset="0"/>
                        </a:rPr>
                        <m:t> 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̂</m:t>
                              </m:r>
                            </m:e>
                          </m:d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</m:oMath>
                  </m:oMathPara>
                </a14:m>
                <a:endParaRPr/>
              </a:p>
              <a:p>
                <a:pPr algn="l"/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Cost: full SVD is O(n p · min(n,p)); truncated / randomized SVD gives the top k components far faster.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DA90F84-7506-3B4D-835A-DEE1944499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4724400"/>
                <a:ext cx="10210800" cy="1270000"/>
              </a:xfrm>
              <a:prstGeom prst="rect">
                <a:avLst/>
              </a:prstGeom>
              <a:blipFill>
                <a:blip r:embed="rId3"/>
                <a:stretch>
                  <a:fillRect l="-248" b="-3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60665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D16C923-8167-F44E-9EA7-BF97149EFAFD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D87B8F-BE1F-654A-91D0-DCE60BEBC8B7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PCA — Computation Algorithm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6D3C334-96A2-BD45-B1EA-A667E476B2F4}"/>
              </a:ext>
            </a:extLst>
          </p:cNvPr>
          <p:cNvSpPr/>
          <p:nvPr/>
        </p:nvSpPr>
        <p:spPr>
          <a:xfrm>
            <a:off x="762000" y="1625600"/>
            <a:ext cx="508000" cy="5080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B5C61A-FBD2-7141-8DE5-6B87C11A1E72}"/>
              </a:ext>
            </a:extLst>
          </p:cNvPr>
          <p:cNvSpPr txBox="1"/>
          <p:nvPr/>
        </p:nvSpPr>
        <p:spPr>
          <a:xfrm>
            <a:off x="1473200" y="1600200"/>
            <a:ext cx="292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00A7B5"/>
                </a:solidFill>
              </a:rPr>
              <a:t>Center (and scale)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DAD97EB-BF8F-B448-A218-4CD431F6F2E0}"/>
                  </a:ext>
                </a:extLst>
              </p:cNvPr>
              <p:cNvSpPr txBox="1"/>
              <p:nvPr/>
            </p:nvSpPr>
            <p:spPr>
              <a:xfrm>
                <a:off x="4445000" y="1574800"/>
                <a:ext cx="6985000" cy="626197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Subtract column means: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𝑋</m:t>
                    </m:r>
                    <m:r>
                      <a:rPr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p>
                      <m:sSup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bar>
                          <m:barPr>
                            <m:pos m:val="top"/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ba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.  If columns have different units, divide each by its std → correlation-based PCA.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DAD97EB-BF8F-B448-A218-4CD431F6F2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5000" y="1574800"/>
                <a:ext cx="6985000" cy="626197"/>
              </a:xfrm>
              <a:prstGeom prst="rect">
                <a:avLst/>
              </a:prstGeom>
              <a:blipFill>
                <a:blip r:embed="rId2"/>
                <a:stretch>
                  <a:fillRect l="-181" b="-9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Oval 8">
            <a:extLst>
              <a:ext uri="{FF2B5EF4-FFF2-40B4-BE49-F238E27FC236}">
                <a16:creationId xmlns:a16="http://schemas.microsoft.com/office/drawing/2014/main" id="{3AC5A5C2-EF57-C94F-BC6A-A9EA9B8D23F5}"/>
              </a:ext>
            </a:extLst>
          </p:cNvPr>
          <p:cNvSpPr/>
          <p:nvPr/>
        </p:nvSpPr>
        <p:spPr>
          <a:xfrm>
            <a:off x="762000" y="2425700"/>
            <a:ext cx="508000" cy="5080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4D56CA-5947-DE45-9168-C68266AE9ACF}"/>
              </a:ext>
            </a:extLst>
          </p:cNvPr>
          <p:cNvSpPr txBox="1"/>
          <p:nvPr/>
        </p:nvSpPr>
        <p:spPr>
          <a:xfrm>
            <a:off x="1473200" y="2400300"/>
            <a:ext cx="292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00A7B5"/>
                </a:solidFill>
              </a:rPr>
              <a:t>Form covariance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F4A42ED-3442-FF4B-8418-C46A78B4AD99}"/>
                  </a:ext>
                </a:extLst>
              </p:cNvPr>
              <p:cNvSpPr txBox="1"/>
              <p:nvPr/>
            </p:nvSpPr>
            <p:spPr>
              <a:xfrm>
                <a:off x="4445000" y="2374900"/>
                <a:ext cx="6985000" cy="484941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𝑆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sSup>
                      <m:sSup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   ( p×p symmetric, positive semi-definite ).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F4A42ED-3442-FF4B-8418-C46A78B4A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5000" y="2374900"/>
                <a:ext cx="6985000" cy="4849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val 11">
            <a:extLst>
              <a:ext uri="{FF2B5EF4-FFF2-40B4-BE49-F238E27FC236}">
                <a16:creationId xmlns:a16="http://schemas.microsoft.com/office/drawing/2014/main" id="{CEC60CBE-8C07-4046-AD7B-D92278D7AA22}"/>
              </a:ext>
            </a:extLst>
          </p:cNvPr>
          <p:cNvSpPr/>
          <p:nvPr/>
        </p:nvSpPr>
        <p:spPr>
          <a:xfrm>
            <a:off x="762000" y="3225800"/>
            <a:ext cx="508000" cy="5080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9451F5-7DB1-D94E-8117-C89CBE3822DE}"/>
              </a:ext>
            </a:extLst>
          </p:cNvPr>
          <p:cNvSpPr txBox="1"/>
          <p:nvPr/>
        </p:nvSpPr>
        <p:spPr>
          <a:xfrm>
            <a:off x="1473200" y="3200400"/>
            <a:ext cx="292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00A7B5"/>
                </a:solidFill>
              </a:rPr>
              <a:t>Eigen-decompose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FB764D2-4288-5C41-9F55-AE244C737C42}"/>
                  </a:ext>
                </a:extLst>
              </p:cNvPr>
              <p:cNvSpPr txBox="1"/>
              <p:nvPr/>
            </p:nvSpPr>
            <p:spPr>
              <a:xfrm>
                <a:off x="4445000" y="3175000"/>
                <a:ext cx="6985000" cy="391646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Solve 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𝑆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.  Sort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≥ … ≥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≥ 0</m:t>
                    </m:r>
                  </m:oMath>
                </a14:m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;  eigenvectors form the columns of V.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FB764D2-4288-5C41-9F55-AE244C737C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5000" y="3175000"/>
                <a:ext cx="6985000" cy="391646"/>
              </a:xfrm>
              <a:prstGeom prst="rect">
                <a:avLst/>
              </a:prstGeom>
              <a:blipFill>
                <a:blip r:embed="rId4"/>
                <a:stretch>
                  <a:fillRect l="-181"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>
            <a:extLst>
              <a:ext uri="{FF2B5EF4-FFF2-40B4-BE49-F238E27FC236}">
                <a16:creationId xmlns:a16="http://schemas.microsoft.com/office/drawing/2014/main" id="{2B83103B-A827-F144-B902-A9C89DA28053}"/>
              </a:ext>
            </a:extLst>
          </p:cNvPr>
          <p:cNvSpPr/>
          <p:nvPr/>
        </p:nvSpPr>
        <p:spPr>
          <a:xfrm>
            <a:off x="762000" y="4025900"/>
            <a:ext cx="508000" cy="5080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D8D611-C660-434C-8809-106F5238D95E}"/>
              </a:ext>
            </a:extLst>
          </p:cNvPr>
          <p:cNvSpPr txBox="1"/>
          <p:nvPr/>
        </p:nvSpPr>
        <p:spPr>
          <a:xfrm>
            <a:off x="1473200" y="4000500"/>
            <a:ext cx="292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00A7B5"/>
                </a:solidFill>
              </a:rPr>
              <a:t>Choose k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91FAA7F-9D06-254C-86B5-30EB625266AB}"/>
              </a:ext>
            </a:extLst>
          </p:cNvPr>
          <p:cNvSpPr txBox="1"/>
          <p:nvPr/>
        </p:nvSpPr>
        <p:spPr>
          <a:xfrm>
            <a:off x="4445000" y="3975100"/>
            <a:ext cx="6985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dirty="0">
                <a:solidFill>
                  <a:srgbClr val="333333"/>
                </a:solidFill>
                <a:latin typeface="Cambria Math"/>
                <a:ea typeface="Cambria Math"/>
              </a:rPr>
              <a:t>Apply Kaiser / scree / cumulative-variance / parallel-analysis rules.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D299459-19C1-6044-8052-B3C031393AFE}"/>
              </a:ext>
            </a:extLst>
          </p:cNvPr>
          <p:cNvSpPr/>
          <p:nvPr/>
        </p:nvSpPr>
        <p:spPr>
          <a:xfrm>
            <a:off x="762000" y="4826000"/>
            <a:ext cx="508000" cy="5080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CE89DC-3D8D-3546-9C4F-D4D221C8F94B}"/>
              </a:ext>
            </a:extLst>
          </p:cNvPr>
          <p:cNvSpPr txBox="1"/>
          <p:nvPr/>
        </p:nvSpPr>
        <p:spPr>
          <a:xfrm>
            <a:off x="1473200" y="4800600"/>
            <a:ext cx="292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00A7B5"/>
                </a:solidFill>
              </a:rPr>
              <a:t>Project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C76B19D-ECF9-0A43-8D6C-CD70811E456B}"/>
                  </a:ext>
                </a:extLst>
              </p:cNvPr>
              <p:cNvSpPr txBox="1"/>
              <p:nvPr/>
            </p:nvSpPr>
            <p:spPr>
              <a:xfrm>
                <a:off x="4445000" y="4775200"/>
                <a:ext cx="6985000" cy="362984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Scores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.  Each row is an observation's coordinates in k-D.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C76B19D-ECF9-0A43-8D6C-CD70811E45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5000" y="4775200"/>
                <a:ext cx="6985000" cy="362984"/>
              </a:xfrm>
              <a:prstGeom prst="rect">
                <a:avLst/>
              </a:prstGeom>
              <a:blipFill>
                <a:blip r:embed="rId5"/>
                <a:stretch>
                  <a:fillRect l="-181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Oval 20">
            <a:extLst>
              <a:ext uri="{FF2B5EF4-FFF2-40B4-BE49-F238E27FC236}">
                <a16:creationId xmlns:a16="http://schemas.microsoft.com/office/drawing/2014/main" id="{FE7D072E-F49C-4346-A554-7B572F11C9B3}"/>
              </a:ext>
            </a:extLst>
          </p:cNvPr>
          <p:cNvSpPr/>
          <p:nvPr/>
        </p:nvSpPr>
        <p:spPr>
          <a:xfrm>
            <a:off x="762000" y="5626100"/>
            <a:ext cx="508000" cy="5080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725EDA5-914A-B345-B98A-D8547B3BCA05}"/>
              </a:ext>
            </a:extLst>
          </p:cNvPr>
          <p:cNvSpPr txBox="1"/>
          <p:nvPr/>
        </p:nvSpPr>
        <p:spPr>
          <a:xfrm>
            <a:off x="1473200" y="5600700"/>
            <a:ext cx="292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00A7B5"/>
                </a:solidFill>
              </a:rPr>
              <a:t>Interpret / reconstruct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E336534-481C-174C-A193-92DA67D27899}"/>
                  </a:ext>
                </a:extLst>
              </p:cNvPr>
              <p:cNvSpPr txBox="1"/>
              <p:nvPr/>
            </p:nvSpPr>
            <p:spPr>
              <a:xfrm>
                <a:off x="4445000" y="5575300"/>
                <a:ext cx="6985000" cy="410753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Read loadings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;  reconstruct 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p>
                      <m:sSup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p>
                      <m:sSup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bar>
                          <m:barPr>
                            <m:pos m:val="top"/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ba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  if needed.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E336534-481C-174C-A193-92DA67D278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5000" y="5575300"/>
                <a:ext cx="6985000" cy="410753"/>
              </a:xfrm>
              <a:prstGeom prst="rect">
                <a:avLst/>
              </a:prstGeom>
              <a:blipFill>
                <a:blip r:embed="rId6"/>
                <a:stretch>
                  <a:fillRect l="-181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116629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311A7D0-1D31-9145-974D-25EEE995D608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027234-BDCD-DF4A-A381-E8F06637408E}"/>
              </a:ext>
            </a:extLst>
          </p:cNvPr>
          <p:cNvSpPr txBox="1"/>
          <p:nvPr/>
        </p:nvSpPr>
        <p:spPr>
          <a:xfrm>
            <a:off x="762000" y="711200"/>
            <a:ext cx="8382000" cy="49244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Worked Example 1 — Step 1: Data &amp; Centering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045DCA8-F781-3A42-A5E3-C06E2F63A557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Example 1 · 1 /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S1A"/>
              <p:cNvSpPr/>
              <p:nvPr/>
            </p:nvSpPr>
            <p:spPr>
              <a:xfrm>
                <a:off x="762000" y="1701800"/>
                <a:ext cx="3175000" cy="46482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80000" tIns="55000" rIns="80000" bIns="45000" anchor="t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4B2E83"/>
                    </a:solidFill>
                  </a:rPr>
                  <a:t>1 · Data matrix X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 i="1">
                          <a:latin typeface="Cambria Math"/>
                        </a:rPr>
                        <m:t>𝑋</m:t>
                      </m:r>
                      <m:r>
                        <a:rPr sz="16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9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11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  <a:p>
                <a:pPr algn="ctr"/>
                <a:r>
                  <a:rPr lang="en-US" sz="1400" i="1">
                    <a:solidFill>
                      <a:srgbClr val="85754D"/>
                    </a:solidFill>
                  </a:rPr>
                  <a:t>n = 5 students,  p = 2 scores</a:t>
                </a:r>
              </a:p>
            </p:txBody>
          </p:sp>
        </mc:Choice>
        <mc:Fallback>
          <p:sp>
            <p:nvSpPr>
              <p:cNvPr id="160" name="S1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3175000" cy="46482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1" name="S1B"/>
              <p:cNvSpPr/>
              <p:nvPr/>
            </p:nvSpPr>
            <p:spPr>
              <a:xfrm>
                <a:off x="4191000" y="1701800"/>
                <a:ext cx="3810000" cy="46482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80000" tIns="55000" rIns="80000" bIns="45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00A7B5"/>
                    </a:solidFill>
                  </a:rPr>
                  <a:t>2 · Column means → x̄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̄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sz="1700" i="1">
                              <a:latin typeface="Cambria Math"/>
                            </a:rPr>
                            <m:t>𝑥</m:t>
                          </m:r>
                        </m:e>
                      </m:acc>
                      <m:r>
                        <a:rPr sz="16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  <a:p>
                <a:pPr algn="ctr"/>
                <a:r>
                  <a:rPr lang="en-US" sz="1400" i="1">
                    <a:solidFill>
                      <a:srgbClr val="85754D"/>
                    </a:solidFill>
                  </a:rPr>
                  <a:t>x̄₁ = (4+8+6+10+2)/5 = 6</a:t>
                </a:r>
              </a:p>
              <a:p>
                <a:pPr algn="ctr"/>
                <a:r>
                  <a:rPr lang="en-US" sz="1400" i="1">
                    <a:solidFill>
                      <a:srgbClr val="85754D"/>
                    </a:solidFill>
                  </a:rPr>
                  <a:t>x̄₂ = (5+9+5+11+0)/5 = 6</a:t>
                </a:r>
              </a:p>
            </p:txBody>
          </p:sp>
        </mc:Choice>
        <mc:Fallback>
          <p:sp>
            <p:nvSpPr>
              <p:cNvPr id="161" name="S1B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000" y="1701800"/>
                <a:ext cx="3810000" cy="46482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2" name="S1C"/>
              <p:cNvSpPr/>
              <p:nvPr/>
            </p:nvSpPr>
            <p:spPr>
              <a:xfrm>
                <a:off x="8255000" y="1701800"/>
                <a:ext cx="3175000" cy="4648200"/>
              </a:xfrm>
              <a:prstGeom prst="roundRect">
                <a:avLst>
                  <a:gd name="adj" fmla="val 4000"/>
                </a:avLst>
              </a:prstGeom>
              <a:solidFill>
                <a:srgbClr val="F7F3EC"/>
              </a:solidFill>
              <a:ln>
                <a:noFill/>
              </a:ln>
            </p:spPr>
            <p:txBody>
              <a:bodyPr wrap="square" lIns="80000" tIns="55000" rIns="80000" bIns="45000" anchor="t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85754D"/>
                    </a:solidFill>
                  </a:rPr>
                  <a:t>3 · Center:  Xc = X − 1ₙx̄ᵀ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−4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−6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  <a:p>
                <a:pPr algn="ctr"/>
                <a:r>
                  <a:rPr lang="en-US" sz="1400" i="1">
                    <a:solidFill>
                      <a:srgbClr val="85754D"/>
                    </a:solidFill>
                  </a:rPr>
                  <a:t>subtract x̄ = (6, 6) from every row</a:t>
                </a:r>
              </a:p>
            </p:txBody>
          </p:sp>
        </mc:Choice>
        <mc:Fallback>
          <p:sp>
            <p:nvSpPr>
              <p:cNvPr id="162" name="S1C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5000" y="1701800"/>
                <a:ext cx="3175000" cy="4648200"/>
              </a:xfrm>
              <a:prstGeom prst="roundRect">
                <a:avLst>
                  <a:gd name="adj" fmla="val 4000"/>
                </a:avLst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084279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C6496FA-2210-204C-863C-A29FA00D0360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EECBD7-A9D3-6E40-AC08-40121A79D8FF}"/>
              </a:ext>
            </a:extLst>
          </p:cNvPr>
          <p:cNvSpPr txBox="1"/>
          <p:nvPr/>
        </p:nvSpPr>
        <p:spPr>
          <a:xfrm>
            <a:off x="762000" y="711200"/>
            <a:ext cx="8382000" cy="49244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Worked Example 1 — Step 2: Covariance Matrix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A233FF0-09CC-9B48-99B5-BA9F84FE816D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Example 1 · 2 /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S2A"/>
              <p:cNvSpPr/>
              <p:nvPr/>
            </p:nvSpPr>
            <p:spPr>
              <a:xfrm>
                <a:off x="762000" y="1701800"/>
                <a:ext cx="10668000" cy="15748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00000" tIns="50000" rIns="100000" bIns="40000" anchor="t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4B2E83"/>
                    </a:solidFill>
                  </a:rPr>
                  <a:t>1 · Cross-product matrix  XcᵀXc  (2×5 · 5×2 → 2×2)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sz="1600" i="1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sz="1600" i="1">
                              <a:latin typeface="Cambria Math"/>
                            </a:rPr>
                            <m:t>𝑐</m:t>
                          </m:r>
                        </m:sub>
                        <m:sup>
                          <m:r>
                            <a:rPr sz="1600">
                              <a:latin typeface="Cambria Math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1600" i="1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sz="1600" i="1">
                              <a:latin typeface="Cambria Math"/>
                            </a:rPr>
                            <m:t>𝑐</m:t>
                          </m:r>
                        </m:sub>
                      </m:sSub>
                      <m:r>
                        <a:rPr sz="16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40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50</m:t>
                                </m:r>
                              </m:e>
                            </m:m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50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72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  <a:p>
                <a:pPr algn="ctr"/>
                <a:r>
                  <a:rPr lang="en-US" sz="1400" i="1">
                    <a:solidFill>
                      <a:srgbClr val="85754D"/>
                    </a:solidFill>
                  </a:rPr>
                  <a:t>Σxᵢ² = 4+4+0+16+16 = 40,   Σyᵢ² = 1+9+1+25+36 = 72,   Σxᵢyᵢ = 2+6+0+20+24 = 50</a:t>
                </a:r>
              </a:p>
            </p:txBody>
          </p:sp>
        </mc:Choice>
        <mc:Fallback>
          <p:sp>
            <p:nvSpPr>
              <p:cNvPr id="160" name="S2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10668000" cy="15748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1" name="S2B"/>
              <p:cNvSpPr/>
              <p:nvPr/>
            </p:nvSpPr>
            <p:spPr>
              <a:xfrm>
                <a:off x="762000" y="3378200"/>
                <a:ext cx="10668000" cy="15748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00A7B5"/>
                    </a:solidFill>
                  </a:rPr>
                  <a:t>2 · Scale by 1/(n−1) = 1/4  →  covariance matrix 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700" i="1">
                          <a:latin typeface="Cambria Math"/>
                        </a:rPr>
                        <m:t>𝑆</m:t>
                      </m:r>
                      <m:r>
                        <a:rPr sz="1600">
                          <a:latin typeface="Cambria Math"/>
                        </a:rPr>
                        <m:t> = 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140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sz="1400">
                              <a:latin typeface="Cambria Math"/>
                            </a:rPr>
                            <m:t>4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40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50</m:t>
                                </m:r>
                              </m:e>
                            </m:m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50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72</m:t>
                                </m:r>
                              </m:e>
                            </m:mr>
                          </m:m>
                        </m:e>
                      </m:d>
                      <m:r>
                        <a:rPr sz="16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10.0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12.5</m:t>
                                </m:r>
                              </m:e>
                            </m:m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12.5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18.0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1" name="S2B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378200"/>
                <a:ext cx="10668000" cy="15748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2" name="S2C"/>
              <p:cNvSpPr/>
              <p:nvPr/>
            </p:nvSpPr>
            <p:spPr>
              <a:xfrm>
                <a:off x="762000" y="5054600"/>
                <a:ext cx="10668000" cy="1371600"/>
              </a:xfrm>
              <a:prstGeom prst="roundRect">
                <a:avLst>
                  <a:gd name="adj" fmla="val 4000"/>
                </a:avLst>
              </a:prstGeom>
              <a:solidFill>
                <a:srgbClr val="F7F3EC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85754D"/>
                    </a:solidFill>
                  </a:rPr>
                  <a:t>3 · Useful summaries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>
                          <a:latin typeface="Cambria Math"/>
                        </a:rPr>
                        <m:t>𝑡𝑟</m:t>
                      </m:r>
                      <m:r>
                        <a:rPr sz="1600">
                          <a:latin typeface="Cambria Math"/>
                        </a:rPr>
                        <m:t>(</m:t>
                      </m:r>
                      <m:r>
                        <a:rPr sz="1600">
                          <a:latin typeface="Cambria Math"/>
                        </a:rPr>
                        <m:t>𝑆</m:t>
                      </m:r>
                      <m:r>
                        <a:rPr sz="1600">
                          <a:latin typeface="Cambria Math"/>
                        </a:rPr>
                        <m:t>) = 10 + 18 = 28          </m:t>
                      </m:r>
                      <m:r>
                        <a:rPr sz="1600">
                          <a:latin typeface="Cambria Math"/>
                        </a:rPr>
                        <m:t>𝑑𝑒𝑡</m:t>
                      </m:r>
                      <m:r>
                        <a:rPr sz="1600">
                          <a:latin typeface="Cambria Math"/>
                        </a:rPr>
                        <m:t>(</m:t>
                      </m:r>
                      <m:r>
                        <a:rPr sz="1600">
                          <a:latin typeface="Cambria Math"/>
                        </a:rPr>
                        <m:t>𝑆</m:t>
                      </m:r>
                      <m:r>
                        <a:rPr sz="1600">
                          <a:latin typeface="Cambria Math"/>
                        </a:rPr>
                        <m:t>) = (10)(18) − 12.5² = 23.75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2" name="S2C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5054600"/>
                <a:ext cx="10668000" cy="1371600"/>
              </a:xfrm>
              <a:prstGeom prst="roundRect">
                <a:avLst>
                  <a:gd name="adj" fmla="val 4000"/>
                </a:avLst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731908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C6496FA-2210-204C-863C-A29FA00D0360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EECBD7-A9D3-6E40-AC08-40121A79D8FF}"/>
              </a:ext>
            </a:extLst>
          </p:cNvPr>
          <p:cNvSpPr txBox="1"/>
          <p:nvPr/>
        </p:nvSpPr>
        <p:spPr>
          <a:xfrm>
            <a:off x="762000" y="711200"/>
            <a:ext cx="8382000" cy="49244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Worked Example 1 — Step 3: Eigenvalues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A233FF0-09CC-9B48-99B5-BA9F84FE816D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Example 1 · 3 /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S3A"/>
              <p:cNvSpPr/>
              <p:nvPr/>
            </p:nvSpPr>
            <p:spPr>
              <a:xfrm>
                <a:off x="762000" y="1701800"/>
                <a:ext cx="10668000" cy="15240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4B2E83"/>
                    </a:solidFill>
                  </a:rPr>
                  <a:t>1 · Characteristic equation  det(S − λI) = 0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>
                          <a:latin typeface="Cambria Math"/>
                        </a:rPr>
                        <m:t>𝑑𝑒𝑡</m:t>
                      </m:r>
                      <m:d>
                        <m:dPr>
                          <m:begChr m:val="|"/>
                          <m:endChr m:val="|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10 − </m:t>
                                </m:r>
                                <m:r>
                                  <a:rPr sz="1500">
                                    <a:latin typeface="Cambria Math"/>
                                  </a:rPr>
                                  <m:t>𝜆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12.5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12.5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18 − </m:t>
                                </m:r>
                                <m:r>
                                  <a:rPr sz="1500">
                                    <a:latin typeface="Cambria Math"/>
                                  </a:rPr>
                                  <m:t>𝜆</m:t>
                                </m:r>
                              </m:e>
                            </m:mr>
                          </m:m>
                        </m:e>
                      </m:d>
                      <m:r>
                        <a:rPr sz="1600">
                          <a:latin typeface="Cambria Math"/>
                        </a:rPr>
                        <m:t> = 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sz="1500">
                              <a:latin typeface="Cambria Math"/>
                            </a:rPr>
                            <m:t>10 − </m:t>
                          </m:r>
                          <m:r>
                            <a:rPr sz="1500">
                              <a:latin typeface="Cambria Math"/>
                            </a:rPr>
                            <m:t>𝜆</m:t>
                          </m:r>
                        </m:e>
                      </m:d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sz="1500">
                              <a:latin typeface="Cambria Math"/>
                            </a:rPr>
                            <m:t>18 − </m:t>
                          </m:r>
                          <m:r>
                            <a:rPr sz="1500">
                              <a:latin typeface="Cambria Math"/>
                            </a:rPr>
                            <m:t>𝜆</m:t>
                          </m:r>
                        </m:e>
                      </m:d>
                      <m:r>
                        <a:rPr sz="1600">
                          <a:latin typeface="Cambria Math"/>
                        </a:rPr>
                        <m:t> − 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1500">
                              <a:latin typeface="Cambria Math"/>
                            </a:rPr>
                            <m:t>12.5</m:t>
                          </m:r>
                        </m:e>
                        <m:sup>
                          <m:r>
                            <a:rPr sz="100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sz="1600">
                          <a:latin typeface="Cambria Math"/>
                        </a:rPr>
                        <m:t> = 0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0" name="S3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10668000" cy="15240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1" name="S3B"/>
              <p:cNvSpPr/>
              <p:nvPr/>
            </p:nvSpPr>
            <p:spPr>
              <a:xfrm>
                <a:off x="762000" y="3327400"/>
                <a:ext cx="10668000" cy="14732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00A7B5"/>
                    </a:solidFill>
                  </a:rPr>
                  <a:t>2 · Expand to a quadratic in λ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1600" i="1">
                              <a:latin typeface="Cambria Math"/>
                            </a:rPr>
                            <m:t>𝜆</m:t>
                          </m:r>
                        </m:e>
                        <m:sup>
                          <m:r>
                            <a:rPr sz="100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sz="1600">
                          <a:latin typeface="Cambria Math"/>
                        </a:rPr>
                        <m:t> − 28</m:t>
                      </m:r>
                      <m:r>
                        <a:rPr sz="1600">
                          <a:latin typeface="Cambria Math"/>
                        </a:rPr>
                        <m:t>𝜆</m:t>
                      </m:r>
                      <m:r>
                        <a:rPr sz="1600">
                          <a:latin typeface="Cambria Math"/>
                        </a:rPr>
                        <m:t> + (180 − 156.25) = 0     ⇒     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1600" i="1">
                              <a:latin typeface="Cambria Math"/>
                            </a:rPr>
                            <m:t>𝜆</m:t>
                          </m:r>
                        </m:e>
                        <m:sup>
                          <m:r>
                            <a:rPr sz="100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sz="1600">
                          <a:latin typeface="Cambria Math"/>
                        </a:rPr>
                        <m:t> − 28</m:t>
                      </m:r>
                      <m:r>
                        <a:rPr sz="1600">
                          <a:latin typeface="Cambria Math"/>
                        </a:rPr>
                        <m:t>𝜆</m:t>
                      </m:r>
                      <m:r>
                        <a:rPr sz="1600">
                          <a:latin typeface="Cambria Math"/>
                        </a:rPr>
                        <m:t> + 23.75 = 0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1" name="S3B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327400"/>
                <a:ext cx="10668000" cy="14732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2" name="S3C"/>
              <p:cNvSpPr/>
              <p:nvPr/>
            </p:nvSpPr>
            <p:spPr>
              <a:xfrm>
                <a:off x="762000" y="4902200"/>
                <a:ext cx="10668000" cy="1524000"/>
              </a:xfrm>
              <a:prstGeom prst="roundRect">
                <a:avLst>
                  <a:gd name="adj" fmla="val 4000"/>
                </a:avLst>
              </a:prstGeom>
              <a:solidFill>
                <a:srgbClr val="F7F3EC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85754D"/>
                    </a:solidFill>
                  </a:rPr>
                  <a:t>3 · Solve with the quadratic formula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 i="1">
                          <a:latin typeface="Cambria Math"/>
                        </a:rPr>
                        <m:t>𝜆</m:t>
                      </m:r>
                      <m:r>
                        <a:rPr sz="1600">
                          <a:latin typeface="Cambria Math"/>
                        </a:rPr>
                        <m:t> = 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1350">
                              <a:latin typeface="Cambria Math"/>
                            </a:rPr>
                            <m:t>28 ± √(784 − 95)</m:t>
                          </m:r>
                        </m:num>
                        <m:den>
                          <m:r>
                            <a:rPr sz="1350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sz="1600">
                          <a:latin typeface="Cambria Math"/>
                        </a:rPr>
                        <m:t> = 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1350">
                              <a:latin typeface="Cambria Math"/>
                            </a:rPr>
                            <m:t>28 ± √689</m:t>
                          </m:r>
                        </m:num>
                        <m:den>
                          <m:r>
                            <a:rPr sz="1350"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/>
              </a:p>
              <a:p>
                <a:pPr algn="ctr"/>
                <a:r>
                  <a:rPr lang="en-US" sz="1800" b="1">
                    <a:solidFill>
                      <a:srgbClr val="7AB648"/>
                    </a:solidFill>
                  </a:rPr>
                  <a:t>⇒    λ₁ ≈ 27.12        λ₂ ≈ 0.88</a:t>
                </a:r>
              </a:p>
            </p:txBody>
          </p:sp>
        </mc:Choice>
        <mc:Fallback>
          <p:sp>
            <p:nvSpPr>
              <p:cNvPr id="162" name="S3C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4902200"/>
                <a:ext cx="10668000" cy="1524000"/>
              </a:xfrm>
              <a:prstGeom prst="roundRect">
                <a:avLst>
                  <a:gd name="adj" fmla="val 4000"/>
                </a:avLst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237451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C6496FA-2210-204C-863C-A29FA00D0360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EECBD7-A9D3-6E40-AC08-40121A79D8FF}"/>
              </a:ext>
            </a:extLst>
          </p:cNvPr>
          <p:cNvSpPr txBox="1"/>
          <p:nvPr/>
        </p:nvSpPr>
        <p:spPr>
          <a:xfrm>
            <a:off x="762000" y="711200"/>
            <a:ext cx="8382000" cy="49244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Worked Example 1 — Step 4: Eigenvectors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A233FF0-09CC-9B48-99B5-BA9F84FE816D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Example 1 · 4 /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S4A"/>
              <p:cNvSpPr/>
              <p:nvPr/>
            </p:nvSpPr>
            <p:spPr>
              <a:xfrm>
                <a:off x="762000" y="1701800"/>
                <a:ext cx="10668000" cy="13716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4B2E83"/>
                    </a:solidFill>
                  </a:rPr>
                  <a:t>1 · Solve (S − λ₁I)v = 0   with λ₁ = 27.12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>
                          <a:latin typeface="Cambria Math"/>
                        </a:rPr>
                        <m:t>(10 − 27.12)</m:t>
                      </m:r>
                      <m:r>
                        <a:rPr sz="1600">
                          <a:latin typeface="Cambria Math"/>
                        </a:rPr>
                        <m:t>𝑣</m:t>
                      </m:r>
                      <m:r>
                        <a:rPr sz="1600">
                          <a:latin typeface="Cambria Math"/>
                        </a:rPr>
                        <m:t>₁ + 12.5 </m:t>
                      </m:r>
                      <m:r>
                        <a:rPr sz="1600">
                          <a:latin typeface="Cambria Math"/>
                        </a:rPr>
                        <m:t>𝑣</m:t>
                      </m:r>
                      <m:r>
                        <a:rPr sz="1600">
                          <a:latin typeface="Cambria Math"/>
                        </a:rPr>
                        <m:t>₂ = 0    ⇒    −17.12 </m:t>
                      </m:r>
                      <m:r>
                        <a:rPr sz="1600">
                          <a:latin typeface="Cambria Math"/>
                        </a:rPr>
                        <m:t>𝑣</m:t>
                      </m:r>
                      <m:r>
                        <a:rPr sz="1600">
                          <a:latin typeface="Cambria Math"/>
                        </a:rPr>
                        <m:t>₁ + 12.5 </m:t>
                      </m:r>
                      <m:r>
                        <a:rPr sz="1600">
                          <a:latin typeface="Cambria Math"/>
                        </a:rPr>
                        <m:t>𝑣</m:t>
                      </m:r>
                      <m:r>
                        <a:rPr sz="1600">
                          <a:latin typeface="Cambria Math"/>
                        </a:rPr>
                        <m:t>₂ = 0    ⇒    </m:t>
                      </m:r>
                      <m:r>
                        <a:rPr sz="1600">
                          <a:latin typeface="Cambria Math"/>
                        </a:rPr>
                        <m:t>𝑣</m:t>
                      </m:r>
                      <m:r>
                        <a:rPr sz="1600">
                          <a:latin typeface="Cambria Math"/>
                        </a:rPr>
                        <m:t>₂ = 1.370 </m:t>
                      </m:r>
                      <m:r>
                        <a:rPr sz="1600">
                          <a:latin typeface="Cambria Math"/>
                        </a:rPr>
                        <m:t>𝑣</m:t>
                      </m:r>
                      <m:r>
                        <a:rPr sz="1600">
                          <a:latin typeface="Cambria Math"/>
                        </a:rPr>
                        <m:t>₁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0" name="S4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10668000" cy="13716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1" name="S4B"/>
              <p:cNvSpPr/>
              <p:nvPr/>
            </p:nvSpPr>
            <p:spPr>
              <a:xfrm>
                <a:off x="762000" y="3200400"/>
                <a:ext cx="10668000" cy="18796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00A7B5"/>
                    </a:solidFill>
                  </a:rPr>
                  <a:t>2 · Choose a free value, then normalize to unit length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 i="1">
                          <a:latin typeface="Cambria Math"/>
                        </a:rPr>
                        <m:t>𝑣</m:t>
                      </m:r>
                      <m:r>
                        <a:rPr sz="1600">
                          <a:latin typeface="Cambria Math"/>
                        </a:rPr>
                        <m:t> = (1, 1.370)        ‖</m:t>
                      </m:r>
                      <m:r>
                        <a:rPr sz="1600">
                          <a:latin typeface="Cambria Math"/>
                        </a:rPr>
                        <m:t>𝑣</m:t>
                      </m:r>
                      <m:r>
                        <a:rPr sz="1600">
                          <a:latin typeface="Cambria Math"/>
                        </a:rPr>
                        <m:t>‖ = √(1² + 1.370²) = √2.876 = 1.696</m:t>
                      </m:r>
                    </m:oMath>
                  </m:oMathPara>
                </a14:m>
                <a:endParaRPr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700" i="1">
                          <a:latin typeface="Cambria Math"/>
                        </a:rPr>
                        <m:t>𝑣</m:t>
                      </m:r>
                      <m:r>
                        <a:rPr sz="1700" i="1">
                          <a:latin typeface="Cambria Math"/>
                        </a:rPr>
                        <m:t>₁</m:t>
                      </m:r>
                      <m:r>
                        <a:rPr sz="1600">
                          <a:latin typeface="Cambria Math"/>
                        </a:rPr>
                        <m:t> = (1/1.696)(1, 1.370) = (0.590, 0.808)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1" name="S4B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200400"/>
                <a:ext cx="10668000" cy="18796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2" name="S4C"/>
              <p:cNvSpPr/>
              <p:nvPr/>
            </p:nvSpPr>
            <p:spPr>
              <a:xfrm>
                <a:off x="762000" y="5207000"/>
                <a:ext cx="10668000" cy="1219200"/>
              </a:xfrm>
              <a:prstGeom prst="roundRect">
                <a:avLst>
                  <a:gd name="adj" fmla="val 4000"/>
                </a:avLst>
              </a:prstGeom>
              <a:solidFill>
                <a:srgbClr val="F7F3EC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85754D"/>
                    </a:solidFill>
                  </a:rPr>
                  <a:t>3 · Second eigenvector (perpendicular to v₁)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700" i="1">
                          <a:latin typeface="Cambria Math"/>
                        </a:rPr>
                        <m:t>𝑣</m:t>
                      </m:r>
                      <m:r>
                        <a:rPr sz="1700" i="1">
                          <a:latin typeface="Cambria Math"/>
                        </a:rPr>
                        <m:t>₂</m:t>
                      </m:r>
                      <m:r>
                        <a:rPr sz="1600">
                          <a:latin typeface="Cambria Math"/>
                        </a:rPr>
                        <m:t> = (−0.808, 0.590)</m:t>
                      </m:r>
                    </m:oMath>
                  </m:oMathPara>
                </a14:m>
                <a:endParaRPr/>
              </a:p>
              <a:p>
                <a:pPr algn="ctr"/>
                <a:r>
                  <a:rPr lang="en-US" sz="1400" i="1">
                    <a:solidFill>
                      <a:srgbClr val="85754D"/>
                    </a:solidFill>
                  </a:rPr>
                  <a:t>v₂ ⊥ v₁ (v₁ · v₂ = 0) and is also unit length</a:t>
                </a:r>
              </a:p>
            </p:txBody>
          </p:sp>
        </mc:Choice>
        <mc:Fallback>
          <p:sp>
            <p:nvSpPr>
              <p:cNvPr id="162" name="S4C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5207000"/>
                <a:ext cx="10668000" cy="1219200"/>
              </a:xfrm>
              <a:prstGeom prst="roundRect">
                <a:avLst>
                  <a:gd name="adj" fmla="val 4000"/>
                </a:avLst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280281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C6496FA-2210-204C-863C-A29FA00D0360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EECBD7-A9D3-6E40-AC08-40121A79D8FF}"/>
              </a:ext>
            </a:extLst>
          </p:cNvPr>
          <p:cNvSpPr txBox="1"/>
          <p:nvPr/>
        </p:nvSpPr>
        <p:spPr>
          <a:xfrm>
            <a:off x="762000" y="711200"/>
            <a:ext cx="8382000" cy="49244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Worked Example 1 — Step 5: Variance Explained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A233FF0-09CC-9B48-99B5-BA9F84FE816D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Example 1 · 5 /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S5A"/>
              <p:cNvSpPr/>
              <p:nvPr/>
            </p:nvSpPr>
            <p:spPr>
              <a:xfrm>
                <a:off x="762000" y="1701800"/>
                <a:ext cx="5588000" cy="47244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10000" tIns="60000" rIns="100000" bIns="50000" anchor="t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4B2E83"/>
                    </a:solidFill>
                  </a:rPr>
                  <a:t>1 · Total variance = trace of 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>
                          <a:latin typeface="Cambria Math"/>
                        </a:rPr>
                        <m:t>𝑡𝑟</m:t>
                      </m:r>
                      <m:r>
                        <a:rPr sz="1600">
                          <a:latin typeface="Cambria Math"/>
                        </a:rPr>
                        <m:t>(</m:t>
                      </m:r>
                      <m:r>
                        <a:rPr sz="1600">
                          <a:latin typeface="Cambria Math"/>
                        </a:rPr>
                        <m:t>𝑆</m:t>
                      </m:r>
                      <m:r>
                        <a:rPr sz="1600">
                          <a:latin typeface="Cambria Math"/>
                        </a:rPr>
                        <m:t>) = </m:t>
                      </m:r>
                      <m:r>
                        <a:rPr sz="1600">
                          <a:latin typeface="Cambria Math"/>
                        </a:rPr>
                        <m:t>𝜆</m:t>
                      </m:r>
                      <m:r>
                        <a:rPr sz="1600">
                          <a:latin typeface="Cambria Math"/>
                        </a:rPr>
                        <m:t>₁ + </m:t>
                      </m:r>
                      <m:r>
                        <a:rPr sz="1600">
                          <a:latin typeface="Cambria Math"/>
                        </a:rPr>
                        <m:t>𝜆</m:t>
                      </m:r>
                      <m:r>
                        <a:rPr sz="1600">
                          <a:latin typeface="Cambria Math"/>
                        </a:rPr>
                        <m:t>₂ = 27.12 + 0.88 = 28</m:t>
                      </m:r>
                    </m:oMath>
                  </m:oMathPara>
                </a14:m>
                <a:endParaRPr/>
              </a:p>
              <a:p>
                <a:pPr algn="l">
                  <a:spcBef>
                    <a:spcPts val="800"/>
                  </a:spcBef>
                </a:pPr>
                <a:r>
                  <a:rPr lang="en-US" sz="1400" b="1">
                    <a:solidFill>
                      <a:srgbClr val="00A7B5"/>
                    </a:solidFill>
                  </a:rPr>
                  <a:t>2 · Share of total variance</a:t>
                </a:r>
              </a:p>
              <a:p>
                <a:pPr algn="l">
                  <a:spcBef>
                    <a:spcPts val="300"/>
                  </a:spcBef>
                </a:pPr>
                <a:r>
                  <a:rPr lang="en-US" sz="1800" b="1">
                    <a:solidFill>
                      <a:srgbClr val="7AB648"/>
                    </a:solidFill>
                  </a:rPr>
                  <a:t>PC1 :  27.12 / 28  =  96.9%</a:t>
                </a:r>
              </a:p>
              <a:p>
                <a:pPr algn="l">
                  <a:spcBef>
                    <a:spcPts val="200"/>
                  </a:spcBef>
                </a:pPr>
                <a:r>
                  <a:rPr lang="en-US" sz="1800" b="1">
                    <a:solidFill>
                      <a:srgbClr val="D1578A"/>
                    </a:solidFill>
                  </a:rPr>
                  <a:t>PC2 :   0.88 / 28  =   3.1%</a:t>
                </a:r>
              </a:p>
              <a:p>
                <a:pPr algn="l">
                  <a:spcBef>
                    <a:spcPts val="800"/>
                  </a:spcBef>
                </a:pPr>
                <a:r>
                  <a:rPr lang="en-US" sz="1400" b="1">
                    <a:solidFill>
                      <a:srgbClr val="85754D"/>
                    </a:solidFill>
                  </a:rPr>
                  <a:t>3 · Takeaway</a:t>
                </a:r>
              </a:p>
              <a:p>
                <a:pPr algn="l"/>
                <a:r>
                  <a:rPr lang="en-US" sz="1400" i="1">
                    <a:solidFill>
                      <a:srgbClr val="85754D"/>
                    </a:solidFill>
                  </a:rPr>
                  <a:t>PC1 alone captures ≈ 97% of the variance — the data is essentially one-dimensional.</a:t>
                </a:r>
              </a:p>
            </p:txBody>
          </p:sp>
        </mc:Choice>
        <mc:Fallback>
          <p:sp>
            <p:nvSpPr>
              <p:cNvPr id="160" name="S5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5588000" cy="47244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80" name="VarChart"/>
          <p:cNvGraphicFramePr/>
          <p:nvPr/>
        </p:nvGraphicFramePr>
        <p:xfrm>
          <a:off x="6604000" y="1905000"/>
          <a:ext cx="4826000" cy="431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54387502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C6496FA-2210-204C-863C-A29FA00D0360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EECBD7-A9D3-6E40-AC08-40121A79D8FF}"/>
              </a:ext>
            </a:extLst>
          </p:cNvPr>
          <p:cNvSpPr txBox="1"/>
          <p:nvPr/>
        </p:nvSpPr>
        <p:spPr>
          <a:xfrm>
            <a:off x="762000" y="711200"/>
            <a:ext cx="8382000" cy="49244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Worked Example 1 — Step 6: Scores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A233FF0-09CC-9B48-99B5-BA9F84FE816D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Example 1 · 6 /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S6A"/>
              <p:cNvSpPr/>
              <p:nvPr/>
            </p:nvSpPr>
            <p:spPr>
              <a:xfrm>
                <a:off x="762000" y="1701800"/>
                <a:ext cx="10668000" cy="29464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00000" tIns="55000" rIns="100000" bIns="45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4B2E83"/>
                    </a:solidFill>
                  </a:rPr>
                  <a:t>1 · Project the centred data onto PC1:   T₁ = Xc · v₁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500" i="1">
                          <a:latin typeface="Cambria Math"/>
                        </a:rPr>
                        <m:t>𝑇</m:t>
                      </m:r>
                      <m:r>
                        <a:rPr sz="1500" i="1">
                          <a:latin typeface="Cambria Math"/>
                        </a:rPr>
                        <m:t>₁</m:t>
                      </m:r>
                      <m:r>
                        <a:rPr sz="1500">
                          <a:latin typeface="Cambria Math"/>
                        </a:rPr>
                        <m:t> = 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1500" i="1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sz="1500" i="1">
                              <a:latin typeface="Cambria Math"/>
                            </a:rPr>
                            <m:t>𝑐</m:t>
                          </m:r>
                        </m:sub>
                      </m:sSub>
                      <m:r>
                        <a:rPr sz="1500" i="1">
                          <a:latin typeface="Cambria Math"/>
                        </a:rPr>
                        <m:t>𝑣</m:t>
                      </m:r>
                      <m:r>
                        <a:rPr sz="1500" i="1">
                          <a:latin typeface="Cambria Math"/>
                        </a:rPr>
                        <m:t>₁</m:t>
                      </m:r>
                      <m:r>
                        <a:rPr sz="15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−4</m:t>
                                </m:r>
                              </m:e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−6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0.590</m:t>
                                </m:r>
                              </m:e>
                            </m:mr>
                            <m:mr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0.808</m:t>
                                </m:r>
                              </m:e>
                            </m:mr>
                          </m:m>
                        </m:e>
                      </m:d>
                      <m:r>
                        <a:rPr sz="15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−1.99</m:t>
                                </m:r>
                              </m:e>
                            </m:mr>
                            <m:mr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3.60</m:t>
                                </m:r>
                              </m:e>
                            </m:mr>
                            <m:mr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−0.81</m:t>
                                </m:r>
                              </m:e>
                            </m:mr>
                            <m:mr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6.40</m:t>
                                </m:r>
                              </m:e>
                            </m:mr>
                            <m:mr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−7.21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0" name="S6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10668000" cy="29464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" name="S6B"/>
          <p:cNvSpPr/>
          <p:nvPr/>
        </p:nvSpPr>
        <p:spPr>
          <a:xfrm>
            <a:off x="762000" y="4775200"/>
            <a:ext cx="10668000" cy="16510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00000" tIns="55000" rIns="100000" bIns="45000" anchor="ctr">
            <a:normAutofit/>
          </a:bodyPr>
          <a:lstStyle/>
          <a:p>
            <a:pPr algn="l"/>
            <a:r>
              <a:rPr lang="en-US" sz="1400" b="1">
                <a:solidFill>
                  <a:srgbClr val="00A7B5"/>
                </a:solidFill>
              </a:rPr>
              <a:t>2 · Read the result</a:t>
            </a:r>
          </a:p>
          <a:p>
            <a:pPr algn="l">
              <a:spcBef>
                <a:spcPts val="300"/>
              </a:spcBef>
            </a:pPr>
            <a:r>
              <a:rPr lang="en-US" sz="1450" i="1">
                <a:solidFill>
                  <a:srgbClr val="85754D"/>
                </a:solidFill>
              </a:rPr>
              <a:t>Row 1:  (−2)(0.590) + (−1)(0.808) = −1.99      Row 4:  4(0.590) + 5(0.808) = 6.40</a:t>
            </a:r>
          </a:p>
          <a:p>
            <a:pPr algn="l">
              <a:spcBef>
                <a:spcPts val="300"/>
              </a:spcBef>
            </a:pPr>
            <a:r>
              <a:rPr lang="en-US" sz="1450" i="1">
                <a:solidFill>
                  <a:srgbClr val="85754D"/>
                </a:solidFill>
              </a:rPr>
              <a:t>PC1 ranks the 5 students on one “overall-ability” axis — Student 4 is highest (6.40), Student 5 lowest (−7.21).</a:t>
            </a:r>
          </a:p>
        </p:txBody>
      </p:sp>
    </p:spTree>
    <p:extLst>
      <p:ext uri="{BB962C8B-B14F-4D97-AF65-F5344CB8AC3E}">
        <p14:creationId xmlns:p14="http://schemas.microsoft.com/office/powerpoint/2010/main" val="248628556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D4D19D9-EB00-204C-AE85-7CFA41DD115E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9ABF74-78E2-E54B-B60C-BCB5A8D9D155}"/>
              </a:ext>
            </a:extLst>
          </p:cNvPr>
          <p:cNvSpPr txBox="1"/>
          <p:nvPr/>
        </p:nvSpPr>
        <p:spPr>
          <a:xfrm>
            <a:off x="762000" y="711200"/>
            <a:ext cx="8382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Worked Example 2 — Step 1: Standardize → R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5CA3959-AF2C-2D41-8F56-7D5C00CE12E4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Example 2 · 1 / 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W2S1A"/>
              <p:cNvSpPr/>
              <p:nvPr/>
            </p:nvSpPr>
            <p:spPr>
              <a:xfrm>
                <a:off x="762000" y="1701800"/>
                <a:ext cx="10668000" cy="13208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4B2E83"/>
                    </a:solidFill>
                  </a:rPr>
                  <a:t>1 · Standardize each variable to a z-score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700" i="1">
                          <a:latin typeface="Cambria Math"/>
                        </a:rPr>
                        <m:t>𝑧</m:t>
                      </m:r>
                      <m:r>
                        <a:rPr sz="1600">
                          <a:latin typeface="Cambria Math"/>
                        </a:rPr>
                        <m:t>ⱼ = 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1400">
                              <a:latin typeface="Cambria Math"/>
                            </a:rPr>
                            <m:t>𝑥</m:t>
                          </m:r>
                          <m:r>
                            <a:rPr sz="1400">
                              <a:latin typeface="Cambria Math"/>
                            </a:rPr>
                            <m:t>ⱼ − </m:t>
                          </m:r>
                          <m:r>
                            <a:rPr sz="1400">
                              <a:latin typeface="Cambria Math"/>
                            </a:rPr>
                            <m:t>𝑥</m:t>
                          </m:r>
                          <m:r>
                            <a:rPr sz="1400">
                              <a:latin typeface="Cambria Math"/>
                            </a:rPr>
                            <m:t>̄ⱼ</m:t>
                          </m:r>
                        </m:num>
                        <m:den>
                          <m:r>
                            <a:rPr sz="1400" i="1">
                              <a:latin typeface="Cambria Math"/>
                            </a:rPr>
                            <m:t>𝑠</m:t>
                          </m:r>
                          <m:r>
                            <a:rPr sz="1400" i="1">
                              <a:latin typeface="Cambria Math"/>
                            </a:rPr>
                            <m:t>ⱼ</m:t>
                          </m:r>
                        </m:den>
                      </m:f>
                      <m:r>
                        <a:rPr sz="1500">
                          <a:latin typeface="Cambria Math"/>
                        </a:rPr>
                        <m:t>      (</m:t>
                      </m:r>
                      <m:r>
                        <a:rPr sz="1500">
                          <a:latin typeface="Cambria Math"/>
                        </a:rPr>
                        <m:t>𝑚𝑒𝑎𝑛</m:t>
                      </m:r>
                      <m:r>
                        <a:rPr sz="1500">
                          <a:latin typeface="Cambria Math"/>
                        </a:rPr>
                        <m:t> 0, </m:t>
                      </m:r>
                      <m:r>
                        <a:rPr sz="1500">
                          <a:latin typeface="Cambria Math"/>
                        </a:rPr>
                        <m:t>𝑣𝑎𝑟𝑖𝑎𝑛𝑐𝑒</m:t>
                      </m:r>
                      <m:r>
                        <a:rPr sz="1500">
                          <a:latin typeface="Cambria Math"/>
                        </a:rPr>
                        <m:t> 1)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0" name="W2S1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10668000" cy="13208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1" name="W2S1B"/>
              <p:cNvSpPr/>
              <p:nvPr/>
            </p:nvSpPr>
            <p:spPr>
              <a:xfrm>
                <a:off x="762000" y="3149600"/>
                <a:ext cx="10668000" cy="23368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00A7B5"/>
                    </a:solidFill>
                  </a:rPr>
                  <a:t>2 · Correlation matrix  R = (1/(n−1)) ZᵀZ   (3 variables)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700" i="1">
                          <a:latin typeface="Cambria Math"/>
                        </a:rPr>
                        <m:t>𝑅</m:t>
                      </m:r>
                      <m:r>
                        <a:rPr sz="16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1.0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0.8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0.4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0.8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1.0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0.5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0.4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0.5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1.0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1" name="W2S1B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149600"/>
                <a:ext cx="10668000" cy="23368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2" name="W2S1C"/>
              <p:cNvSpPr/>
              <p:nvPr/>
            </p:nvSpPr>
            <p:spPr>
              <a:xfrm>
                <a:off x="762000" y="5613400"/>
                <a:ext cx="10668000" cy="838200"/>
              </a:xfrm>
              <a:prstGeom prst="roundRect">
                <a:avLst>
                  <a:gd name="adj" fmla="val 4000"/>
                </a:avLst>
              </a:prstGeom>
              <a:solidFill>
                <a:srgbClr val="F7F3EC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85754D"/>
                    </a:solidFill>
                  </a:rPr>
                  <a:t>3 · Note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>
                          <a:latin typeface="Cambria Math"/>
                        </a:rPr>
                        <m:t>𝑡𝑟</m:t>
                      </m:r>
                      <m:r>
                        <a:rPr sz="1600">
                          <a:latin typeface="Cambria Math"/>
                        </a:rPr>
                        <m:t>(</m:t>
                      </m:r>
                      <m:r>
                        <a:rPr sz="1600">
                          <a:latin typeface="Cambria Math"/>
                        </a:rPr>
                        <m:t>𝑅</m:t>
                      </m:r>
                      <m:r>
                        <a:rPr sz="1600">
                          <a:latin typeface="Cambria Math"/>
                        </a:rPr>
                        <m:t>) = 1 + 1 + 1 = 3</m:t>
                      </m:r>
                    </m:oMath>
                  </m:oMathPara>
                </a14:m>
                <a:endParaRPr/>
              </a:p>
              <a:p>
                <a:pPr algn="ctr"/>
                <a:r>
                  <a:rPr lang="en-US" sz="1400" i="1">
                    <a:solidFill>
                      <a:srgbClr val="85754D"/>
                    </a:solidFill>
                  </a:rPr>
                  <a:t>every standardized variable has variance 1, so R has 1s on the diagonal</a:t>
                </a:r>
              </a:p>
            </p:txBody>
          </p:sp>
        </mc:Choice>
        <mc:Fallback>
          <p:sp>
            <p:nvSpPr>
              <p:cNvPr id="162" name="W2S1C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5613400"/>
                <a:ext cx="10668000" cy="838200"/>
              </a:xfrm>
              <a:prstGeom prst="roundRect">
                <a:avLst>
                  <a:gd name="adj" fmla="val 4000"/>
                </a:avLst>
              </a:prstGeom>
              <a:blipFill>
                <a:blip r:embed="rId4"/>
                <a:stretch>
                  <a:fillRect b="-454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929724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D4D19D9-EB00-204C-AE85-7CFA41DD115E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9ABF74-78E2-E54B-B60C-BCB5A8D9D155}"/>
              </a:ext>
            </a:extLst>
          </p:cNvPr>
          <p:cNvSpPr txBox="1"/>
          <p:nvPr/>
        </p:nvSpPr>
        <p:spPr>
          <a:xfrm>
            <a:off x="762000" y="711200"/>
            <a:ext cx="8382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Worked Example 2 — Step 2: Eigenvalues of R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5CA3959-AF2C-2D41-8F56-7D5C00CE12E4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Example 2 · 2 / 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W2S2A"/>
              <p:cNvSpPr/>
              <p:nvPr/>
            </p:nvSpPr>
            <p:spPr>
              <a:xfrm>
                <a:off x="762000" y="1701800"/>
                <a:ext cx="10668000" cy="21590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4B2E83"/>
                    </a:solidFill>
                  </a:rPr>
                  <a:t>1 · Characteristic equation  det(R − λI) = 0   (3×3 → cubic)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>
                          <a:latin typeface="Cambria Math"/>
                        </a:rPr>
                        <m:t>𝑑𝑒𝑡</m:t>
                      </m:r>
                      <m:d>
                        <m:dPr>
                          <m:begChr m:val="|"/>
                          <m:endChr m:val="|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450">
                                    <a:latin typeface="Cambria Math"/>
                                  </a:rPr>
                                  <m:t>1 − </m:t>
                                </m:r>
                                <m:r>
                                  <a:rPr sz="1450">
                                    <a:latin typeface="Cambria Math"/>
                                  </a:rPr>
                                  <m:t>𝜆</m:t>
                                </m:r>
                              </m:e>
                              <m:e>
                                <m:r>
                                  <a:rPr sz="1450">
                                    <a:latin typeface="Cambria Math"/>
                                  </a:rPr>
                                  <m:t>0.8</m:t>
                                </m:r>
                              </m:e>
                              <m:e>
                                <m:r>
                                  <a:rPr sz="1450">
                                    <a:latin typeface="Cambria Math"/>
                                  </a:rPr>
                                  <m:t>0.4</m:t>
                                </m:r>
                              </m:e>
                            </m:mr>
                            <m:mr>
                              <m:e>
                                <m:r>
                                  <a:rPr sz="1450">
                                    <a:latin typeface="Cambria Math"/>
                                  </a:rPr>
                                  <m:t>0.8</m:t>
                                </m:r>
                              </m:e>
                              <m:e>
                                <m:r>
                                  <a:rPr sz="1450">
                                    <a:latin typeface="Cambria Math"/>
                                  </a:rPr>
                                  <m:t>1 − </m:t>
                                </m:r>
                                <m:r>
                                  <a:rPr sz="1450">
                                    <a:latin typeface="Cambria Math"/>
                                  </a:rPr>
                                  <m:t>𝜆</m:t>
                                </m:r>
                              </m:e>
                              <m:e>
                                <m:r>
                                  <a:rPr sz="1450">
                                    <a:latin typeface="Cambria Math"/>
                                  </a:rPr>
                                  <m:t>0.5</m:t>
                                </m:r>
                              </m:e>
                            </m:mr>
                            <m:mr>
                              <m:e>
                                <m:r>
                                  <a:rPr sz="1450">
                                    <a:latin typeface="Cambria Math"/>
                                  </a:rPr>
                                  <m:t>0.4</m:t>
                                </m:r>
                              </m:e>
                              <m:e>
                                <m:r>
                                  <a:rPr sz="1450">
                                    <a:latin typeface="Cambria Math"/>
                                  </a:rPr>
                                  <m:t>0.5</m:t>
                                </m:r>
                              </m:e>
                              <m:e>
                                <m:r>
                                  <a:rPr sz="1450">
                                    <a:latin typeface="Cambria Math"/>
                                  </a:rPr>
                                  <m:t>1 − </m:t>
                                </m:r>
                                <m:r>
                                  <a:rPr sz="1450">
                                    <a:latin typeface="Cambria Math"/>
                                  </a:rPr>
                                  <m:t>𝜆</m:t>
                                </m:r>
                              </m:e>
                            </m:mr>
                          </m:m>
                        </m:e>
                      </m:d>
                      <m:r>
                        <a:rPr sz="1600">
                          <a:latin typeface="Cambria Math"/>
                        </a:rPr>
                        <m:t> = 0</m:t>
                      </m:r>
                    </m:oMath>
                  </m:oMathPara>
                </a14:m>
                <a:endParaRPr/>
              </a:p>
              <a:p>
                <a:pPr algn="ctr"/>
                <a:r>
                  <a:rPr lang="en-US" sz="1400" i="1">
                    <a:solidFill>
                      <a:srgbClr val="85754D"/>
                    </a:solidFill>
                  </a:rPr>
                  <a:t>expands to:  λ³ − 3λ² + 1.95λ − 0.27 = 0   (solve numerically)</a:t>
                </a:r>
              </a:p>
            </p:txBody>
          </p:sp>
        </mc:Choice>
        <mc:Fallback>
          <p:sp>
            <p:nvSpPr>
              <p:cNvPr id="160" name="W2S2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10668000" cy="21590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" name="W2S2B"/>
          <p:cNvSpPr/>
          <p:nvPr/>
        </p:nvSpPr>
        <p:spPr>
          <a:xfrm>
            <a:off x="762000" y="4038600"/>
            <a:ext cx="10668000" cy="12192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00000" tIns="50000" rIns="100000" bIns="40000" anchor="ctr">
            <a:normAutofit/>
          </a:bodyPr>
          <a:lstStyle/>
          <a:p>
            <a:pPr algn="l"/>
            <a:r>
              <a:rPr lang="en-US" sz="1400" b="1">
                <a:solidFill>
                  <a:srgbClr val="00A7B5"/>
                </a:solidFill>
              </a:rPr>
              <a:t>2 · Three eigenvalues, sorted largest first</a:t>
            </a:r>
          </a:p>
          <a:p>
            <a:pPr algn="ctr"/>
            <a:r>
              <a:rPr lang="en-US" sz="1900" b="1">
                <a:solidFill>
                  <a:srgbClr val="7AB648"/>
                </a:solidFill>
              </a:rPr>
              <a:t>λ₁ = 2.18        λ₂ = 0.62        λ₃ = 0.20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2" name="W2S2C"/>
              <p:cNvSpPr/>
              <p:nvPr/>
            </p:nvSpPr>
            <p:spPr>
              <a:xfrm>
                <a:off x="762000" y="5410200"/>
                <a:ext cx="10668000" cy="1041400"/>
              </a:xfrm>
              <a:prstGeom prst="roundRect">
                <a:avLst>
                  <a:gd name="adj" fmla="val 4000"/>
                </a:avLst>
              </a:prstGeom>
              <a:solidFill>
                <a:srgbClr val="F7F3EC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85754D"/>
                    </a:solidFill>
                  </a:rPr>
                  <a:t>3 · Sanity check — eigenvalues sum to the trace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>
                          <a:latin typeface="Cambria Math"/>
                        </a:rPr>
                        <m:t>𝜆</m:t>
                      </m:r>
                      <m:r>
                        <a:rPr sz="1600">
                          <a:latin typeface="Cambria Math"/>
                        </a:rPr>
                        <m:t>₁ + </m:t>
                      </m:r>
                      <m:r>
                        <a:rPr sz="1600">
                          <a:latin typeface="Cambria Math"/>
                        </a:rPr>
                        <m:t>𝜆</m:t>
                      </m:r>
                      <m:r>
                        <a:rPr sz="1600">
                          <a:latin typeface="Cambria Math"/>
                        </a:rPr>
                        <m:t>₂ + </m:t>
                      </m:r>
                      <m:r>
                        <a:rPr sz="1600">
                          <a:latin typeface="Cambria Math"/>
                        </a:rPr>
                        <m:t>𝜆</m:t>
                      </m:r>
                      <m:r>
                        <a:rPr sz="1600">
                          <a:latin typeface="Cambria Math"/>
                        </a:rPr>
                        <m:t>₃ = 2.18 + 0.62 + 0.20 = 3.00 = </m:t>
                      </m:r>
                      <m:r>
                        <a:rPr sz="1600">
                          <a:latin typeface="Cambria Math"/>
                        </a:rPr>
                        <m:t>𝑡𝑟</m:t>
                      </m:r>
                      <m:r>
                        <a:rPr sz="1600">
                          <a:latin typeface="Cambria Math"/>
                        </a:rPr>
                        <m:t>(</m:t>
                      </m:r>
                      <m:r>
                        <a:rPr sz="1600">
                          <a:latin typeface="Cambria Math"/>
                        </a:rPr>
                        <m:t>𝑅</m:t>
                      </m:r>
                      <m:r>
                        <a:rPr sz="1600">
                          <a:latin typeface="Cambria Math"/>
                        </a:rPr>
                        <m:t>)   ✓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2" name="W2S2C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5410200"/>
                <a:ext cx="10668000" cy="10414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752924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D4D19D9-EB00-204C-AE85-7CFA41DD115E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9ABF74-78E2-E54B-B60C-BCB5A8D9D155}"/>
              </a:ext>
            </a:extLst>
          </p:cNvPr>
          <p:cNvSpPr txBox="1"/>
          <p:nvPr/>
        </p:nvSpPr>
        <p:spPr>
          <a:xfrm>
            <a:off x="762000" y="711200"/>
            <a:ext cx="8382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Worked Example 2 — Step 3: Variance &amp; Retention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5CA3959-AF2C-2D41-8F56-7D5C00CE12E4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Example 2 · 3 / 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W2S3A"/>
              <p:cNvSpPr/>
              <p:nvPr/>
            </p:nvSpPr>
            <p:spPr>
              <a:xfrm>
                <a:off x="762000" y="1701800"/>
                <a:ext cx="10668000" cy="14732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4B2E83"/>
                    </a:solidFill>
                  </a:rPr>
                  <a:t>1 · Proportion of variance  =  λⱼ / tr(R),  tr(R) = 3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500">
                          <a:latin typeface="Cambria Math"/>
                        </a:rPr>
                        <m:t>𝑃𝐶</m:t>
                      </m:r>
                      <m:r>
                        <a:rPr sz="1500">
                          <a:latin typeface="Cambria Math"/>
                        </a:rPr>
                        <m:t>1: 2.18/3 = 72.7%       </m:t>
                      </m:r>
                      <m:r>
                        <a:rPr sz="1500">
                          <a:latin typeface="Cambria Math"/>
                        </a:rPr>
                        <m:t>𝑃𝐶</m:t>
                      </m:r>
                      <m:r>
                        <a:rPr sz="1500">
                          <a:latin typeface="Cambria Math"/>
                        </a:rPr>
                        <m:t>2: 0.62/3 = 20.7%       </m:t>
                      </m:r>
                      <m:r>
                        <a:rPr sz="1500">
                          <a:latin typeface="Cambria Math"/>
                        </a:rPr>
                        <m:t>𝑃𝐶</m:t>
                      </m:r>
                      <m:r>
                        <a:rPr sz="1500">
                          <a:latin typeface="Cambria Math"/>
                        </a:rPr>
                        <m:t>3: 0.20/3 = 6.7%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0" name="W2S3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10668000" cy="14732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1" name="W2S3B"/>
              <p:cNvSpPr/>
              <p:nvPr/>
            </p:nvSpPr>
            <p:spPr>
              <a:xfrm>
                <a:off x="762000" y="3352800"/>
                <a:ext cx="10668000" cy="13208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00A7B5"/>
                    </a:solidFill>
                  </a:rPr>
                  <a:t>2 · Cumulative variance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700">
                          <a:latin typeface="Cambria Math"/>
                        </a:rPr>
                        <m:t>72.7%    →    93.3%    →    100%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1" name="W2S3B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352800"/>
                <a:ext cx="10668000" cy="13208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2" name="W2S3C"/>
          <p:cNvSpPr/>
          <p:nvPr/>
        </p:nvSpPr>
        <p:spPr>
          <a:xfrm>
            <a:off x="762000" y="4851400"/>
            <a:ext cx="10668000" cy="16002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00000" tIns="50000" rIns="100000" bIns="40000" anchor="ctr">
            <a:normAutofit/>
          </a:bodyPr>
          <a:lstStyle/>
          <a:p>
            <a:pPr algn="l"/>
            <a:r>
              <a:rPr lang="en-US" sz="1400" b="1">
                <a:solidFill>
                  <a:srgbClr val="85754D"/>
                </a:solidFill>
              </a:rPr>
              <a:t>3 · How many components to keep? — Kaiser rule (λ &gt; 1)</a:t>
            </a:r>
          </a:p>
          <a:p>
            <a:pPr algn="ctr"/>
            <a:r>
              <a:rPr lang="en-US" sz="1700" b="1">
                <a:solidFill>
                  <a:srgbClr val="D1578A"/>
                </a:solidFill>
              </a:rPr>
              <a:t>only  λ₁ = 2.18 &gt; 1   ⇒   retain PC1</a:t>
            </a:r>
          </a:p>
          <a:p>
            <a:pPr algn="ctr"/>
            <a:r>
              <a:rPr lang="en-US" sz="1400" i="1">
                <a:solidFill>
                  <a:srgbClr val="85754D"/>
                </a:solidFill>
              </a:rPr>
              <a:t>on a correlation matrix the average eigenvalue is 1, so keep components above the average</a:t>
            </a:r>
          </a:p>
        </p:txBody>
      </p:sp>
    </p:spTree>
    <p:extLst>
      <p:ext uri="{BB962C8B-B14F-4D97-AF65-F5344CB8AC3E}">
        <p14:creationId xmlns:p14="http://schemas.microsoft.com/office/powerpoint/2010/main" val="233862139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D4D19D9-EB00-204C-AE85-7CFA41DD115E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9ABF74-78E2-E54B-B60C-BCB5A8D9D155}"/>
              </a:ext>
            </a:extLst>
          </p:cNvPr>
          <p:cNvSpPr txBox="1"/>
          <p:nvPr/>
        </p:nvSpPr>
        <p:spPr>
          <a:xfrm>
            <a:off x="762000" y="711200"/>
            <a:ext cx="8382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Worked Example 2 — Step 4: First Eigenvector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5CA3959-AF2C-2D41-8F56-7D5C00CE12E4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Example 2 · 4 / 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W2S4A"/>
              <p:cNvSpPr/>
              <p:nvPr/>
            </p:nvSpPr>
            <p:spPr>
              <a:xfrm>
                <a:off x="762000" y="1676400"/>
                <a:ext cx="10668000" cy="21082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4B2E83"/>
                    </a:solidFill>
                  </a:rPr>
                  <a:t>1 · Solve (R − λ₁I)v₁ = 0 for λ₁ = 2.18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500" i="1">
                          <a:latin typeface="Cambria Math"/>
                        </a:rPr>
                        <m:t>𝑅</m:t>
                      </m:r>
                      <m:r>
                        <a:rPr sz="1500">
                          <a:latin typeface="Cambria Math"/>
                        </a:rPr>
                        <m:t> − 2.18 </m:t>
                      </m:r>
                      <m:r>
                        <a:rPr sz="1500" i="1">
                          <a:latin typeface="Cambria Math"/>
                        </a:rPr>
                        <m:t>𝐼</m:t>
                      </m:r>
                      <m:r>
                        <a:rPr sz="15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−1.18</m:t>
                                </m:r>
                              </m:e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0.8</m:t>
                                </m:r>
                              </m:e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0.4</m:t>
                                </m:r>
                              </m:e>
                            </m:mr>
                            <m:mr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0.8</m:t>
                                </m:r>
                              </m:e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−1.18</m:t>
                                </m:r>
                              </m:e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0.5</m:t>
                                </m:r>
                              </m:e>
                            </m:mr>
                            <m:mr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0.4</m:t>
                                </m:r>
                              </m:e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0.5</m:t>
                                </m:r>
                              </m:e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−1.18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  <a:p>
                <a:pPr algn="ctr"/>
                <a:r>
                  <a:rPr lang="en-US" sz="1400" i="1">
                    <a:solidFill>
                      <a:srgbClr val="85754D"/>
                    </a:solidFill>
                  </a:rPr>
                  <a:t>find the null-space direction of this matrix, then scale to unit length</a:t>
                </a:r>
              </a:p>
            </p:txBody>
          </p:sp>
        </mc:Choice>
        <mc:Fallback>
          <p:sp>
            <p:nvSpPr>
              <p:cNvPr id="160" name="W2S4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676400"/>
                <a:ext cx="10668000" cy="21082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1" name="W2S4B"/>
              <p:cNvSpPr/>
              <p:nvPr/>
            </p:nvSpPr>
            <p:spPr>
              <a:xfrm>
                <a:off x="762000" y="3911600"/>
                <a:ext cx="10668000" cy="15494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00A7B5"/>
                    </a:solidFill>
                  </a:rPr>
                  <a:t>2 · Normalized first eigenvector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 i="1">
                          <a:latin typeface="Cambria Math"/>
                        </a:rPr>
                        <m:t>𝑣</m:t>
                      </m:r>
                      <m:r>
                        <a:rPr sz="1600" i="1">
                          <a:latin typeface="Cambria Math"/>
                        </a:rPr>
                        <m:t>₁</m:t>
                      </m:r>
                      <m:r>
                        <a:rPr sz="15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0.60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0.63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0.49</m:t>
                                </m:r>
                              </m:e>
                            </m:mr>
                          </m:m>
                        </m:e>
                      </m:d>
                      <m:r>
                        <a:rPr sz="1500">
                          <a:latin typeface="Cambria Math"/>
                        </a:rPr>
                        <m:t>      ( ‖</m:t>
                      </m:r>
                      <m:r>
                        <a:rPr sz="1500">
                          <a:latin typeface="Cambria Math"/>
                        </a:rPr>
                        <m:t>𝑣</m:t>
                      </m:r>
                      <m:r>
                        <a:rPr sz="1500">
                          <a:latin typeface="Cambria Math"/>
                        </a:rPr>
                        <m:t>₁‖ = 1 )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1" name="W2S4B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911600"/>
                <a:ext cx="10668000" cy="15494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2" name="W2S4C"/>
          <p:cNvSpPr/>
          <p:nvPr/>
        </p:nvSpPr>
        <p:spPr>
          <a:xfrm>
            <a:off x="762000" y="5588000"/>
            <a:ext cx="10668000" cy="9144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00000" tIns="50000" rIns="100000" bIns="40000" anchor="ctr">
            <a:normAutofit/>
          </a:bodyPr>
          <a:lstStyle/>
          <a:p>
            <a:pPr algn="l"/>
            <a:r>
              <a:rPr lang="en-US" sz="1400" b="1">
                <a:solidFill>
                  <a:srgbClr val="85754D"/>
                </a:solidFill>
              </a:rPr>
              <a:t>3 · Interpretation</a:t>
            </a:r>
          </a:p>
          <a:p>
            <a:pPr algn="ctr"/>
            <a:r>
              <a:rPr lang="en-US" sz="1500" b="1">
                <a:solidFill>
                  <a:srgbClr val="D1578A"/>
                </a:solidFill>
              </a:rPr>
              <a:t>all three entries are positive and similar in size  ⇒  PC1 is a 'general / overall level' factor</a:t>
            </a:r>
          </a:p>
          <a:p>
            <a:pPr algn="ctr"/>
            <a:r>
              <a:rPr lang="en-US" sz="1400" i="1">
                <a:solidFill>
                  <a:srgbClr val="85754D"/>
                </a:solidFill>
              </a:rPr>
              <a:t>PC1 is essentially a weighted average of the three standardized variables</a:t>
            </a:r>
          </a:p>
        </p:txBody>
      </p:sp>
    </p:spTree>
    <p:extLst>
      <p:ext uri="{BB962C8B-B14F-4D97-AF65-F5344CB8AC3E}">
        <p14:creationId xmlns:p14="http://schemas.microsoft.com/office/powerpoint/2010/main" val="411814146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D4D19D9-EB00-204C-AE85-7CFA41DD115E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9ABF74-78E2-E54B-B60C-BCB5A8D9D155}"/>
              </a:ext>
            </a:extLst>
          </p:cNvPr>
          <p:cNvSpPr txBox="1"/>
          <p:nvPr/>
        </p:nvSpPr>
        <p:spPr>
          <a:xfrm>
            <a:off x="762000" y="711200"/>
            <a:ext cx="8382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Worked Example 2 — Step 5: Correlation Loadings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5CA3959-AF2C-2D41-8F56-7D5C00CE12E4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Example 2 · 5 / 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W2S5A"/>
              <p:cNvSpPr/>
              <p:nvPr/>
            </p:nvSpPr>
            <p:spPr>
              <a:xfrm>
                <a:off x="762000" y="1701800"/>
                <a:ext cx="10668000" cy="13208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4B2E83"/>
                    </a:solidFill>
                  </a:rPr>
                  <a:t>1 · A loading is the correlation of a variable with the PC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>
                          <a:latin typeface="Cambria Math"/>
                        </a:rPr>
                        <m:t>𝑐𝑜𝑟𝑟</m:t>
                      </m:r>
                      <m:r>
                        <a:rPr sz="1600">
                          <a:latin typeface="Cambria Math"/>
                        </a:rPr>
                        <m:t>(</m:t>
                      </m:r>
                      <m:r>
                        <a:rPr sz="1600">
                          <a:latin typeface="Cambria Math"/>
                        </a:rPr>
                        <m:t>𝑧</m:t>
                      </m:r>
                      <m:r>
                        <a:rPr sz="1600">
                          <a:latin typeface="Cambria Math"/>
                        </a:rPr>
                        <m:t>ⱼ, </m:t>
                      </m:r>
                      <m:r>
                        <a:rPr sz="1600">
                          <a:latin typeface="Cambria Math"/>
                        </a:rPr>
                        <m:t>𝑃𝐶</m:t>
                      </m:r>
                      <m:r>
                        <a:rPr sz="1600">
                          <a:latin typeface="Cambria Math"/>
                        </a:rPr>
                        <m:t>1) = </m:t>
                      </m:r>
                      <m:r>
                        <a:rPr sz="1600" i="1">
                          <a:latin typeface="Cambria Math"/>
                        </a:rPr>
                        <m:t>𝑣</m:t>
                      </m:r>
                      <m:r>
                        <a:rPr sz="1600" i="1">
                          <a:latin typeface="Cambria Math"/>
                        </a:rPr>
                        <m:t>ⱼ</m:t>
                      </m:r>
                      <m:r>
                        <a:rPr sz="1600">
                          <a:latin typeface="Cambria Math"/>
                        </a:rPr>
                        <m:t> · √</m:t>
                      </m:r>
                      <m:r>
                        <a:rPr sz="1600">
                          <a:latin typeface="Cambria Math"/>
                        </a:rPr>
                        <m:t>𝜆</m:t>
                      </m:r>
                      <m:r>
                        <a:rPr sz="1600">
                          <a:latin typeface="Cambria Math"/>
                        </a:rPr>
                        <m:t>₁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0" name="W2S5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10668000" cy="13208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" name="W2S5B"/>
          <p:cNvSpPr/>
          <p:nvPr/>
        </p:nvSpPr>
        <p:spPr>
          <a:xfrm>
            <a:off x="762000" y="3175000"/>
            <a:ext cx="10668000" cy="21590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00000" tIns="50000" rIns="100000" bIns="40000" anchor="ctr">
            <a:normAutofit/>
          </a:bodyPr>
          <a:lstStyle/>
          <a:p>
            <a:pPr algn="l"/>
            <a:r>
              <a:rPr lang="en-US" sz="1400" b="1">
                <a:solidFill>
                  <a:srgbClr val="00A7B5"/>
                </a:solidFill>
              </a:rPr>
              <a:t>2 · Compute  (√λ₁ = √2.18 = 1.476)</a:t>
            </a:r>
          </a:p>
          <a:p>
            <a:pPr algn="ctr"/>
            <a:r>
              <a:rPr lang="en-US" sz="1600" b="1">
                <a:solidFill>
                  <a:srgbClr val="7AB648"/>
                </a:solidFill>
              </a:rPr>
              <a:t>corr(z₁, PC1) = 0.60 · 1.476 = 0.89</a:t>
            </a:r>
          </a:p>
          <a:p>
            <a:pPr algn="ctr"/>
            <a:r>
              <a:rPr lang="en-US" sz="1600" b="1">
                <a:solidFill>
                  <a:srgbClr val="7AB648"/>
                </a:solidFill>
              </a:rPr>
              <a:t>corr(z₂, PC1) = 0.63 · 1.476 = 0.93</a:t>
            </a:r>
          </a:p>
          <a:p>
            <a:pPr algn="ctr"/>
            <a:r>
              <a:rPr lang="en-US" sz="1600" b="1">
                <a:solidFill>
                  <a:srgbClr val="7AB648"/>
                </a:solidFill>
              </a:rPr>
              <a:t>corr(z₃, PC1) = 0.49 · 1.476 = 0.72</a:t>
            </a:r>
          </a:p>
        </p:txBody>
      </p:sp>
      <p:sp>
        <p:nvSpPr>
          <p:cNvPr id="162" name="W2S5C"/>
          <p:cNvSpPr/>
          <p:nvPr/>
        </p:nvSpPr>
        <p:spPr>
          <a:xfrm>
            <a:off x="762000" y="5486400"/>
            <a:ext cx="10668000" cy="9652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00000" tIns="50000" rIns="100000" bIns="40000" anchor="ctr">
            <a:normAutofit/>
          </a:bodyPr>
          <a:lstStyle/>
          <a:p>
            <a:pPr algn="l"/>
            <a:r>
              <a:rPr lang="en-US" sz="1400" b="1">
                <a:solidFill>
                  <a:srgbClr val="85754D"/>
                </a:solidFill>
              </a:rPr>
              <a:t>3 · Key takeaway</a:t>
            </a:r>
          </a:p>
          <a:p>
            <a:pPr algn="ctr"/>
            <a:r>
              <a:rPr lang="en-US" sz="1550" b="1">
                <a:solidFill>
                  <a:srgbClr val="D1578A"/>
                </a:solidFill>
              </a:rPr>
              <a:t>PCA on R  ≠  PCA on S   unless all variables share the same scale</a:t>
            </a:r>
          </a:p>
          <a:p>
            <a:pPr algn="ctr"/>
            <a:r>
              <a:rPr lang="en-US" sz="1400" i="1">
                <a:solidFill>
                  <a:srgbClr val="85754D"/>
                </a:solidFill>
              </a:rPr>
              <a:t>standardize first whenever the variables are measured in different units</a:t>
            </a:r>
          </a:p>
        </p:txBody>
      </p:sp>
    </p:spTree>
    <p:extLst>
      <p:ext uri="{BB962C8B-B14F-4D97-AF65-F5344CB8AC3E}">
        <p14:creationId xmlns:p14="http://schemas.microsoft.com/office/powerpoint/2010/main" val="413676249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CBB7A37-E303-B840-BA1B-F1E17A3EB4C2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2EEED9-0F8A-A046-97D5-4FBCDCDD3668}"/>
              </a:ext>
            </a:extLst>
          </p:cNvPr>
          <p:cNvSpPr txBox="1"/>
          <p:nvPr/>
        </p:nvSpPr>
        <p:spPr>
          <a:xfrm>
            <a:off x="762000" y="711200"/>
            <a:ext cx="8382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Worked Example 3 — Step 1: The SVD Factorization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E9790EB-451A-4F42-9655-288CCE343898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Example 3 · 1 / 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W3S1A"/>
              <p:cNvSpPr/>
              <p:nvPr/>
            </p:nvSpPr>
            <p:spPr>
              <a:xfrm>
                <a:off x="762000" y="1701800"/>
                <a:ext cx="10668000" cy="12446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00000" tIns="55000" rIns="100000" bIns="45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4B2E83"/>
                    </a:solidFill>
                  </a:rPr>
                  <a:t>1 · Factorize the centred data directly — no covariance needed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1900" i="1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sz="1900" i="1">
                              <a:latin typeface="Cambria Math"/>
                            </a:rPr>
                            <m:t>𝑐</m:t>
                          </m:r>
                        </m:sub>
                      </m:sSub>
                      <m:r>
                        <a:rPr sz="1800">
                          <a:latin typeface="Cambria Math"/>
                        </a:rPr>
                        <m:t> = </m:t>
                      </m:r>
                      <m:r>
                        <a:rPr sz="1900" i="1">
                          <a:latin typeface="Cambria Math"/>
                        </a:rPr>
                        <m:t>𝑈</m:t>
                      </m:r>
                      <m:r>
                        <a:rPr sz="1900" i="1">
                          <a:latin typeface="Cambria Math"/>
                        </a:rPr>
                        <m:t>𝛴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1900" i="1">
                              <a:latin typeface="Cambria Math"/>
                            </a:rPr>
                            <m:t>𝑉</m:t>
                          </m:r>
                        </m:e>
                        <m:sup>
                          <m:r>
                            <a:rPr sz="1150">
                              <a:latin typeface="Cambria Math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0" name="W3S1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10668000" cy="12446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" name="W3S1B"/>
          <p:cNvSpPr/>
          <p:nvPr/>
        </p:nvSpPr>
        <p:spPr>
          <a:xfrm>
            <a:off x="762000" y="3098800"/>
            <a:ext cx="5969000" cy="33274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00000" tIns="55000" rIns="100000" bIns="45000" anchor="ctr">
            <a:normAutofit/>
          </a:bodyPr>
          <a:lstStyle/>
          <a:p>
            <a:pPr algn="l"/>
            <a:r>
              <a:rPr lang="en-US" sz="1400" b="1">
                <a:solidFill>
                  <a:srgbClr val="00A7B5"/>
                </a:solidFill>
              </a:rPr>
              <a:t>2 · The three factors</a:t>
            </a:r>
          </a:p>
          <a:p>
            <a:pPr algn="l">
              <a:spcBef>
                <a:spcPts val="600"/>
              </a:spcBef>
            </a:pPr>
            <a:r>
              <a:rPr lang="en-US" sz="1550" b="1">
                <a:solidFill>
                  <a:srgbClr val="4B2E83"/>
                </a:solidFill>
              </a:rPr>
              <a:t>U (5×2):</a:t>
            </a:r>
            <a:r>
              <a:rPr lang="en-US" sz="1500">
                <a:solidFill>
                  <a:srgbClr val="333333"/>
                </a:solidFill>
              </a:rPr>
              <a:t>  left singular vectors (orthonormal columns)</a:t>
            </a:r>
          </a:p>
          <a:p>
            <a:pPr algn="l">
              <a:spcBef>
                <a:spcPts val="600"/>
              </a:spcBef>
            </a:pPr>
            <a:r>
              <a:rPr lang="en-US" sz="1550" b="1">
                <a:solidFill>
                  <a:srgbClr val="00A7B5"/>
                </a:solidFill>
              </a:rPr>
              <a:t>Σ (2×2):</a:t>
            </a:r>
            <a:r>
              <a:rPr lang="en-US" sz="1500">
                <a:solidFill>
                  <a:srgbClr val="333333"/>
                </a:solidFill>
              </a:rPr>
              <a:t>  diagonal of singular values  σ₁ ≥ σ₂ ≥ 0</a:t>
            </a:r>
          </a:p>
          <a:p>
            <a:pPr algn="l">
              <a:spcBef>
                <a:spcPts val="600"/>
              </a:spcBef>
            </a:pPr>
            <a:r>
              <a:rPr lang="en-US" sz="1550" b="1">
                <a:solidFill>
                  <a:srgbClr val="D1578A"/>
                </a:solidFill>
              </a:rPr>
              <a:t>Vᵀ (2×2):</a:t>
            </a:r>
            <a:r>
              <a:rPr lang="en-US" sz="1500">
                <a:solidFill>
                  <a:srgbClr val="333333"/>
                </a:solidFill>
              </a:rPr>
              <a:t>  right singular vectors = PCA loadings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2" name="W3S1C"/>
              <p:cNvSpPr/>
              <p:nvPr/>
            </p:nvSpPr>
            <p:spPr>
              <a:xfrm>
                <a:off x="6985000" y="3098800"/>
                <a:ext cx="4445000" cy="3327400"/>
              </a:xfrm>
              <a:prstGeom prst="roundRect">
                <a:avLst>
                  <a:gd name="adj" fmla="val 4000"/>
                </a:avLst>
              </a:prstGeom>
              <a:solidFill>
                <a:srgbClr val="F7F3EC"/>
              </a:solidFill>
              <a:ln>
                <a:noFill/>
              </a:ln>
            </p:spPr>
            <p:txBody>
              <a:bodyPr wrap="square" lIns="100000" tIns="55000" rIns="100000" bIns="45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85754D"/>
                    </a:solidFill>
                  </a:rPr>
                  <a:t>3 · Same Xc as Example 1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1500" i="1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sz="1500" i="1">
                              <a:latin typeface="Cambria Math"/>
                            </a:rPr>
                            <m:t>𝑐</m:t>
                          </m:r>
                        </m:sub>
                      </m:sSub>
                      <m:r>
                        <a:rPr sz="14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−4</m:t>
                                </m:r>
                              </m:e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−6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2" name="W3S1C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0" y="3098800"/>
                <a:ext cx="4445000" cy="33274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853868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CBB7A37-E303-B840-BA1B-F1E17A3EB4C2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2EEED9-0F8A-A046-97D5-4FBCDCDD3668}"/>
              </a:ext>
            </a:extLst>
          </p:cNvPr>
          <p:cNvSpPr txBox="1"/>
          <p:nvPr/>
        </p:nvSpPr>
        <p:spPr>
          <a:xfrm>
            <a:off x="762000" y="711200"/>
            <a:ext cx="8382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Worked Example 3 — Step 2: Singular Values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E9790EB-451A-4F42-9655-288CCE343898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Example 3 · 2 / 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W3S2A"/>
              <p:cNvSpPr/>
              <p:nvPr/>
            </p:nvSpPr>
            <p:spPr>
              <a:xfrm>
                <a:off x="762000" y="1701800"/>
                <a:ext cx="10668000" cy="13970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4B2E83"/>
                    </a:solidFill>
                  </a:rPr>
                  <a:t>1 · Singular values are linked to XcᵀXc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sz="1600" i="1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sz="1600" i="1">
                              <a:latin typeface="Cambria Math"/>
                            </a:rPr>
                            <m:t>𝑐</m:t>
                          </m:r>
                        </m:sub>
                        <m:sup>
                          <m:r>
                            <a:rPr sz="1600">
                              <a:latin typeface="Cambria Math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1600" i="1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sz="1600" i="1">
                              <a:latin typeface="Cambria Math"/>
                            </a:rPr>
                            <m:t>𝑐</m:t>
                          </m:r>
                        </m:sub>
                      </m:sSub>
                      <m:r>
                        <a:rPr sz="1600">
                          <a:latin typeface="Cambria Math"/>
                        </a:rPr>
                        <m:t> = </m:t>
                      </m:r>
                      <m:r>
                        <a:rPr sz="1600" i="1">
                          <a:latin typeface="Cambria Math"/>
                        </a:rPr>
                        <m:t>𝑉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1600" i="1">
                              <a:latin typeface="Cambria Math"/>
                            </a:rPr>
                            <m:t>𝛴</m:t>
                          </m:r>
                        </m:e>
                        <m:sup>
                          <m:r>
                            <a:rPr sz="1000">
                              <a:latin typeface="Cambria Math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1600" i="1">
                              <a:latin typeface="Cambria Math"/>
                            </a:rPr>
                            <m:t>𝑉</m:t>
                          </m:r>
                        </m:e>
                        <m:sup>
                          <m:r>
                            <a:rPr sz="1000"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sz="1600">
                          <a:latin typeface="Cambria Math"/>
                        </a:rPr>
                        <m:t>     ⇒     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1600" i="1">
                              <a:latin typeface="Cambria Math"/>
                            </a:rPr>
                            <m:t>𝜎</m:t>
                          </m:r>
                        </m:e>
                        <m:sup>
                          <m:r>
                            <a:rPr sz="100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sz="1600">
                          <a:latin typeface="Cambria Math"/>
                        </a:rPr>
                        <m:t>ⱼ = (</m:t>
                      </m:r>
                      <m:r>
                        <a:rPr sz="1600">
                          <a:latin typeface="Cambria Math"/>
                        </a:rPr>
                        <m:t>𝑛</m:t>
                      </m:r>
                      <m:r>
                        <a:rPr sz="1600">
                          <a:latin typeface="Cambria Math"/>
                        </a:rPr>
                        <m:t> − 1) </m:t>
                      </m:r>
                      <m:r>
                        <a:rPr sz="1600">
                          <a:latin typeface="Cambria Math"/>
                        </a:rPr>
                        <m:t>𝜆</m:t>
                      </m:r>
                      <m:r>
                        <a:rPr sz="1600">
                          <a:latin typeface="Cambria Math"/>
                        </a:rPr>
                        <m:t>ⱼ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0" name="W3S2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10668000" cy="13970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" name="W3S2B"/>
          <p:cNvSpPr/>
          <p:nvPr/>
        </p:nvSpPr>
        <p:spPr>
          <a:xfrm>
            <a:off x="762000" y="3251200"/>
            <a:ext cx="10668000" cy="19050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00000" tIns="50000" rIns="100000" bIns="40000" anchor="ctr">
            <a:normAutofit/>
          </a:bodyPr>
          <a:lstStyle/>
          <a:p>
            <a:pPr algn="l"/>
            <a:r>
              <a:rPr lang="en-US" sz="1400" b="1">
                <a:solidFill>
                  <a:srgbClr val="00A7B5"/>
                </a:solidFill>
              </a:rPr>
              <a:t>2 · Compute  (n − 1 = 4,  λ from Example 1)</a:t>
            </a:r>
          </a:p>
          <a:p>
            <a:pPr algn="ctr"/>
            <a:r>
              <a:rPr lang="en-US" sz="1700" b="1">
                <a:solidFill>
                  <a:srgbClr val="7AB648"/>
                </a:solidFill>
              </a:rPr>
              <a:t>σ₁ = √(4 · 27.12) = √108.6 = 10.42</a:t>
            </a:r>
          </a:p>
          <a:p>
            <a:pPr algn="ctr"/>
            <a:r>
              <a:rPr lang="en-US" sz="1700" b="1">
                <a:solidFill>
                  <a:srgbClr val="7AB648"/>
                </a:solidFill>
              </a:rPr>
              <a:t>σ₂ = √(4 ·  0.88)  =  √3.52  =  1.88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2" name="W3S2C"/>
              <p:cNvSpPr/>
              <p:nvPr/>
            </p:nvSpPr>
            <p:spPr>
              <a:xfrm>
                <a:off x="762000" y="5334000"/>
                <a:ext cx="10668000" cy="1092200"/>
              </a:xfrm>
              <a:prstGeom prst="roundRect">
                <a:avLst>
                  <a:gd name="adj" fmla="val 4000"/>
                </a:avLst>
              </a:prstGeom>
              <a:solidFill>
                <a:srgbClr val="F7F3EC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85754D"/>
                    </a:solidFill>
                  </a:rPr>
                  <a:t>3 · The Σ matrix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700" i="1">
                          <a:latin typeface="Cambria Math"/>
                        </a:rPr>
                        <m:t>𝛴</m:t>
                      </m:r>
                      <m:r>
                        <a:rPr sz="16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10.42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1.88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2" name="W3S2C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5334000"/>
                <a:ext cx="10668000" cy="10922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521401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CBB7A37-E303-B840-BA1B-F1E17A3EB4C2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2EEED9-0F8A-A046-97D5-4FBCDCDD3668}"/>
              </a:ext>
            </a:extLst>
          </p:cNvPr>
          <p:cNvSpPr txBox="1"/>
          <p:nvPr/>
        </p:nvSpPr>
        <p:spPr>
          <a:xfrm>
            <a:off x="762000" y="711200"/>
            <a:ext cx="8382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Worked Example 3 — Step 3: Connect to Eigenvalues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E9790EB-451A-4F42-9655-288CCE343898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Example 3 · 3 / 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W3S3A"/>
              <p:cNvSpPr/>
              <p:nvPr/>
            </p:nvSpPr>
            <p:spPr>
              <a:xfrm>
                <a:off x="762000" y="1701800"/>
                <a:ext cx="10668000" cy="13716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4B2E83"/>
                    </a:solidFill>
                  </a:rPr>
                  <a:t>1 · Eigenvalue ↔ singular value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800" i="1">
                          <a:latin typeface="Cambria Math"/>
                        </a:rPr>
                        <m:t>𝜆</m:t>
                      </m:r>
                      <m:r>
                        <a:rPr sz="1700">
                          <a:latin typeface="Cambria Math"/>
                        </a:rPr>
                        <m:t>ⱼ = 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sz="1500" i="1">
                                  <a:latin typeface="Cambria Math"/>
                                </a:rPr>
                                <m:t>𝜎</m:t>
                              </m:r>
                            </m:e>
                            <m:sup>
                              <m:r>
                                <a:rPr sz="100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sz="1300">
                              <a:latin typeface="Cambria Math"/>
                            </a:rPr>
                            <m:t>ⱼ</m:t>
                          </m:r>
                        </m:num>
                        <m:den>
                          <m:r>
                            <a:rPr sz="1500">
                              <a:latin typeface="Cambria Math"/>
                            </a:rPr>
                            <m:t>𝑛</m:t>
                          </m:r>
                          <m:r>
                            <a:rPr sz="1500">
                              <a:latin typeface="Cambria Math"/>
                            </a:rPr>
                            <m:t> − 1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0" name="W3S3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10668000" cy="13716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" name="W3S3B"/>
          <p:cNvSpPr/>
          <p:nvPr/>
        </p:nvSpPr>
        <p:spPr>
          <a:xfrm>
            <a:off x="762000" y="3200400"/>
            <a:ext cx="10668000" cy="19050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00000" tIns="50000" rIns="100000" bIns="40000" anchor="ctr">
            <a:normAutofit/>
          </a:bodyPr>
          <a:lstStyle/>
          <a:p>
            <a:pPr algn="l"/>
            <a:r>
              <a:rPr lang="en-US" sz="1400" b="1">
                <a:solidFill>
                  <a:srgbClr val="00A7B5"/>
                </a:solidFill>
              </a:rPr>
              <a:t>2 · Check against Example 1</a:t>
            </a:r>
          </a:p>
          <a:p>
            <a:pPr algn="ctr"/>
            <a:r>
              <a:rPr lang="en-US" sz="1700" b="1">
                <a:solidFill>
                  <a:srgbClr val="7AB648"/>
                </a:solidFill>
              </a:rPr>
              <a:t>λ₁ = 10.42² / 4 = 108.6 / 4 = 27.12   ✓</a:t>
            </a:r>
          </a:p>
          <a:p>
            <a:pPr algn="ctr"/>
            <a:r>
              <a:rPr lang="en-US" sz="1700" b="1">
                <a:solidFill>
                  <a:srgbClr val="7AB648"/>
                </a:solidFill>
              </a:rPr>
              <a:t>λ₂ =  1.88²  / 4  =  3.52  / 4  =  0.88   ✓</a:t>
            </a:r>
          </a:p>
        </p:txBody>
      </p:sp>
      <p:sp>
        <p:nvSpPr>
          <p:cNvPr id="162" name="W3S3C"/>
          <p:cNvSpPr/>
          <p:nvPr/>
        </p:nvSpPr>
        <p:spPr>
          <a:xfrm>
            <a:off x="762000" y="5308600"/>
            <a:ext cx="10668000" cy="11176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00000" tIns="50000" rIns="100000" bIns="40000" anchor="ctr">
            <a:normAutofit/>
          </a:bodyPr>
          <a:lstStyle/>
          <a:p>
            <a:pPr algn="l"/>
            <a:r>
              <a:rPr lang="en-US" sz="1400" b="1">
                <a:solidFill>
                  <a:srgbClr val="85754D"/>
                </a:solidFill>
              </a:rPr>
              <a:t>3 · Same answer, two routes</a:t>
            </a:r>
          </a:p>
          <a:p>
            <a:pPr algn="ctr"/>
            <a:r>
              <a:rPr lang="en-US" sz="1550" b="1">
                <a:solidFill>
                  <a:srgbClr val="4B2E83"/>
                </a:solidFill>
              </a:rPr>
              <a:t>Eigen-decomposition of S  and  SVD of Xc  give identical principal components</a:t>
            </a:r>
          </a:p>
          <a:p>
            <a:pPr algn="ctr"/>
            <a:r>
              <a:rPr lang="en-US" sz="1400" i="1">
                <a:solidFill>
                  <a:srgbClr val="85754D"/>
                </a:solidFill>
              </a:rPr>
              <a:t>SVD reaches the same PCA without ever forming the covariance matrix</a:t>
            </a:r>
          </a:p>
        </p:txBody>
      </p:sp>
    </p:spTree>
    <p:extLst>
      <p:ext uri="{BB962C8B-B14F-4D97-AF65-F5344CB8AC3E}">
        <p14:creationId xmlns:p14="http://schemas.microsoft.com/office/powerpoint/2010/main" val="117427220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CBB7A37-E303-B840-BA1B-F1E17A3EB4C2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2EEED9-0F8A-A046-97D5-4FBCDCDD3668}"/>
              </a:ext>
            </a:extLst>
          </p:cNvPr>
          <p:cNvSpPr txBox="1"/>
          <p:nvPr/>
        </p:nvSpPr>
        <p:spPr>
          <a:xfrm>
            <a:off x="762000" y="711200"/>
            <a:ext cx="8382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Worked Example 3 — Step 4: Loadings &amp; Scores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E9790EB-451A-4F42-9655-288CCE343898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Example 3 · 4 / 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W3S4A"/>
              <p:cNvSpPr/>
              <p:nvPr/>
            </p:nvSpPr>
            <p:spPr>
              <a:xfrm>
                <a:off x="762000" y="1701800"/>
                <a:ext cx="10668000" cy="19050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4B2E83"/>
                    </a:solidFill>
                  </a:rPr>
                  <a:t>1 · Loadings = columns of V (right singular vectors)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 i="1">
                          <a:latin typeface="Cambria Math"/>
                        </a:rPr>
                        <m:t>𝑉</m:t>
                      </m:r>
                      <m:r>
                        <a:rPr sz="16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0.590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−0.808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0.808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0.590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  <a:p>
                <a:pPr algn="ctr"/>
                <a:r>
                  <a:rPr lang="en-US" sz="1400" i="1">
                    <a:solidFill>
                      <a:srgbClr val="85754D"/>
                    </a:solidFill>
                  </a:rPr>
                  <a:t>identical to Example 1's eigenvectors v₁, v₂</a:t>
                </a:r>
              </a:p>
            </p:txBody>
          </p:sp>
        </mc:Choice>
        <mc:Fallback>
          <p:sp>
            <p:nvSpPr>
              <p:cNvPr id="160" name="W3S4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10668000" cy="19050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1" name="W3S4B"/>
              <p:cNvSpPr/>
              <p:nvPr/>
            </p:nvSpPr>
            <p:spPr>
              <a:xfrm>
                <a:off x="762000" y="3708400"/>
                <a:ext cx="10668000" cy="16256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00A7B5"/>
                    </a:solidFill>
                  </a:rPr>
                  <a:t>2 · Scores come for free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 i="1">
                          <a:latin typeface="Cambria Math"/>
                        </a:rPr>
                        <m:t>𝑇</m:t>
                      </m:r>
                      <m:r>
                        <a:rPr sz="1600">
                          <a:latin typeface="Cambria Math"/>
                        </a:rPr>
                        <m:t> = 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1600" i="1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sz="1600" i="1">
                              <a:latin typeface="Cambria Math"/>
                            </a:rPr>
                            <m:t>𝑐</m:t>
                          </m:r>
                        </m:sub>
                      </m:sSub>
                      <m:r>
                        <a:rPr sz="1600" i="1">
                          <a:latin typeface="Cambria Math"/>
                        </a:rPr>
                        <m:t>𝑉</m:t>
                      </m:r>
                      <m:r>
                        <a:rPr sz="1600">
                          <a:latin typeface="Cambria Math"/>
                        </a:rPr>
                        <m:t> = (</m:t>
                      </m:r>
                      <m:r>
                        <a:rPr sz="1600">
                          <a:latin typeface="Cambria Math"/>
                        </a:rPr>
                        <m:t>𝑈</m:t>
                      </m:r>
                      <m:r>
                        <a:rPr sz="1600">
                          <a:latin typeface="Cambria Math"/>
                        </a:rPr>
                        <m:t> </m:t>
                      </m:r>
                      <m:r>
                        <a:rPr sz="1600">
                          <a:latin typeface="Cambria Math"/>
                        </a:rPr>
                        <m:t>𝛴</m:t>
                      </m:r>
                      <m:r>
                        <a:rPr sz="1600">
                          <a:latin typeface="Cambria Math"/>
                        </a:rPr>
                        <m:t> 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1600" i="1">
                              <a:latin typeface="Cambria Math"/>
                            </a:rPr>
                            <m:t>𝑉</m:t>
                          </m:r>
                        </m:e>
                        <m:sup>
                          <m:r>
                            <a:rPr sz="1000"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sz="1600">
                          <a:latin typeface="Cambria Math"/>
                        </a:rPr>
                        <m:t>) </m:t>
                      </m:r>
                      <m:r>
                        <a:rPr sz="1600">
                          <a:latin typeface="Cambria Math"/>
                        </a:rPr>
                        <m:t>𝑉</m:t>
                      </m:r>
                      <m:r>
                        <a:rPr sz="1600">
                          <a:latin typeface="Cambria Math"/>
                        </a:rPr>
                        <m:t> = </m:t>
                      </m:r>
                      <m:r>
                        <a:rPr sz="1600">
                          <a:latin typeface="Cambria Math"/>
                        </a:rPr>
                        <m:t>𝑈</m:t>
                      </m:r>
                      <m:r>
                        <a:rPr sz="1600">
                          <a:latin typeface="Cambria Math"/>
                        </a:rPr>
                        <m:t> </m:t>
                      </m:r>
                      <m:r>
                        <a:rPr sz="1600">
                          <a:latin typeface="Cambria Math"/>
                        </a:rPr>
                        <m:t>𝛴</m:t>
                      </m:r>
                    </m:oMath>
                  </m:oMathPara>
                </a14:m>
                <a:endParaRPr/>
              </a:p>
              <a:p>
                <a:pPr algn="ctr"/>
                <a:r>
                  <a:rPr lang="en-US" sz="1400" i="1">
                    <a:solidFill>
                      <a:srgbClr val="85754D"/>
                    </a:solidFill>
                  </a:rPr>
                  <a:t>because VᵀV = I — no separate projection needed</a:t>
                </a:r>
              </a:p>
            </p:txBody>
          </p:sp>
        </mc:Choice>
        <mc:Fallback>
          <p:sp>
            <p:nvSpPr>
              <p:cNvPr id="161" name="W3S4B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708400"/>
                <a:ext cx="10668000" cy="16256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2" name="W3S4C"/>
          <p:cNvSpPr/>
          <p:nvPr/>
        </p:nvSpPr>
        <p:spPr>
          <a:xfrm>
            <a:off x="762000" y="5486400"/>
            <a:ext cx="10668000" cy="9652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00000" tIns="50000" rIns="100000" bIns="40000" anchor="ctr">
            <a:normAutofit/>
          </a:bodyPr>
          <a:lstStyle/>
          <a:p>
            <a:pPr algn="l"/>
            <a:r>
              <a:rPr lang="en-US" sz="1400" b="1">
                <a:solidFill>
                  <a:srgbClr val="85754D"/>
                </a:solidFill>
              </a:rPr>
              <a:t>3 · Read the scores</a:t>
            </a:r>
          </a:p>
          <a:p>
            <a:pPr algn="ctr"/>
            <a:r>
              <a:rPr lang="en-US" sz="1550" b="1">
                <a:solidFill>
                  <a:srgbClr val="4B2E83"/>
                </a:solidFill>
              </a:rPr>
              <a:t>column j of the score matrix  =  σⱼ × (column j of U)</a:t>
            </a:r>
          </a:p>
        </p:txBody>
      </p:sp>
    </p:spTree>
    <p:extLst>
      <p:ext uri="{BB962C8B-B14F-4D97-AF65-F5344CB8AC3E}">
        <p14:creationId xmlns:p14="http://schemas.microsoft.com/office/powerpoint/2010/main" val="192725350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CBB7A37-E303-B840-BA1B-F1E17A3EB4C2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2EEED9-0F8A-A046-97D5-4FBCDCDD3668}"/>
              </a:ext>
            </a:extLst>
          </p:cNvPr>
          <p:cNvSpPr txBox="1"/>
          <p:nvPr/>
        </p:nvSpPr>
        <p:spPr>
          <a:xfrm>
            <a:off x="762000" y="711200"/>
            <a:ext cx="8382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Worked Example 3 — Step 5: Why Use SVD?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E9790EB-451A-4F42-9655-288CCE343898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Example 3 · 5 / 5</a:t>
            </a:r>
          </a:p>
        </p:txBody>
      </p:sp>
      <p:sp>
        <p:nvSpPr>
          <p:cNvPr id="160" name="W3S5A"/>
          <p:cNvSpPr/>
          <p:nvPr/>
        </p:nvSpPr>
        <p:spPr>
          <a:xfrm>
            <a:off x="762000" y="1701800"/>
            <a:ext cx="10668000" cy="1498600"/>
          </a:xfrm>
          <a:prstGeom prst="roundRect">
            <a:avLst>
              <a:gd name="adj" fmla="val 4000"/>
            </a:avLst>
          </a:prstGeom>
          <a:solidFill>
            <a:srgbClr val="F3EFF8"/>
          </a:solidFill>
          <a:ln>
            <a:noFill/>
          </a:ln>
        </p:spPr>
        <p:txBody>
          <a:bodyPr wrap="square" lIns="110000" tIns="55000" rIns="110000" bIns="45000" anchor="ctr">
            <a:normAutofit/>
          </a:bodyPr>
          <a:lstStyle/>
          <a:p>
            <a:pPr algn="l"/>
            <a:r>
              <a:rPr lang="en-US" sz="1500" b="1">
                <a:solidFill>
                  <a:srgbClr val="4B2E83"/>
                </a:solidFill>
              </a:rPr>
              <a:t>1 · Numerical stability</a:t>
            </a:r>
          </a:p>
          <a:p>
            <a:pPr algn="l">
              <a:spcBef>
                <a:spcPts val="300"/>
              </a:spcBef>
            </a:pPr>
            <a:r>
              <a:rPr lang="en-US" sz="1500">
                <a:solidFill>
                  <a:srgbClr val="333333"/>
                </a:solidFill>
              </a:rPr>
              <a:t>Forming XcᵀXc squares the condition number and can lose precision. SVD factorizes Xc directly, staying accurate even when columns are nearly collinear.</a:t>
            </a:r>
          </a:p>
        </p:txBody>
      </p:sp>
      <p:sp>
        <p:nvSpPr>
          <p:cNvPr id="161" name="W3S5B"/>
          <p:cNvSpPr/>
          <p:nvPr/>
        </p:nvSpPr>
        <p:spPr>
          <a:xfrm>
            <a:off x="762000" y="3302000"/>
            <a:ext cx="10668000" cy="14986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10000" tIns="55000" rIns="110000" bIns="45000" anchor="ctr">
            <a:normAutofit/>
          </a:bodyPr>
          <a:lstStyle/>
          <a:p>
            <a:pPr algn="l"/>
            <a:r>
              <a:rPr lang="en-US" sz="1500" b="1">
                <a:solidFill>
                  <a:srgbClr val="00A7B5"/>
                </a:solidFill>
              </a:rPr>
              <a:t>2 · Truncated SVD → top-k components</a:t>
            </a:r>
          </a:p>
          <a:p>
            <a:pPr algn="l">
              <a:spcBef>
                <a:spcPts val="300"/>
              </a:spcBef>
            </a:pPr>
            <a:r>
              <a:rPr lang="en-US" sz="1500">
                <a:solidFill>
                  <a:srgbClr val="333333"/>
                </a:solidFill>
              </a:rPr>
              <a:t>Keep only the first k columns — (Uₖ, Σₖ, Vₖ) — to obtain the top k PCs. Efficient when p is very large: text, images, genomics.</a:t>
            </a:r>
          </a:p>
        </p:txBody>
      </p:sp>
      <p:sp>
        <p:nvSpPr>
          <p:cNvPr id="162" name="W3S5C"/>
          <p:cNvSpPr/>
          <p:nvPr/>
        </p:nvSpPr>
        <p:spPr>
          <a:xfrm>
            <a:off x="762000" y="4902200"/>
            <a:ext cx="10668000" cy="15494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10000" tIns="55000" rIns="110000" bIns="45000" anchor="ctr">
            <a:normAutofit/>
          </a:bodyPr>
          <a:lstStyle/>
          <a:p>
            <a:pPr algn="l"/>
            <a:r>
              <a:rPr lang="en-US" sz="1500" b="1">
                <a:solidFill>
                  <a:srgbClr val="85754D"/>
                </a:solidFill>
              </a:rPr>
              <a:t>3 · Best low-rank approximation — Eckart–Young</a:t>
            </a:r>
          </a:p>
          <a:p>
            <a:pPr algn="l">
              <a:spcBef>
                <a:spcPts val="300"/>
              </a:spcBef>
            </a:pPr>
            <a:r>
              <a:rPr lang="en-US" sz="1500">
                <a:solidFill>
                  <a:srgbClr val="333333"/>
                </a:solidFill>
              </a:rPr>
              <a:t>Xc ≈ Uₖ Σₖ Vₖᵀ is the optimal rank-k approximation of Xc, minimizing both the Frobenius and spectral-norm error — the foundation of PCA-based compression.</a:t>
            </a:r>
          </a:p>
        </p:txBody>
      </p:sp>
    </p:spTree>
    <p:extLst>
      <p:ext uri="{BB962C8B-B14F-4D97-AF65-F5344CB8AC3E}">
        <p14:creationId xmlns:p14="http://schemas.microsoft.com/office/powerpoint/2010/main" val="360723988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B404379-5939-F44E-8772-BF3D5273CF39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32903-A3EB-CE4D-92A4-13BDA5E7C4F4}"/>
              </a:ext>
            </a:extLst>
          </p:cNvPr>
          <p:cNvSpPr txBox="1"/>
          <p:nvPr/>
        </p:nvSpPr>
        <p:spPr>
          <a:xfrm>
            <a:off x="762000" y="711200"/>
            <a:ext cx="8382000" cy="49244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Exercise 1 — The Problem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2B8037F-A8B6-F741-B382-047925EAE5DF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Exercise 1 · 1 / 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X1S1A"/>
              <p:cNvSpPr/>
              <p:nvPr/>
            </p:nvSpPr>
            <p:spPr>
              <a:xfrm>
                <a:off x="762000" y="1905000"/>
                <a:ext cx="4826000" cy="38100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10000" tIns="55000" rIns="110000" bIns="45000" anchor="ctr">
                <a:normAutofit/>
              </a:bodyPr>
              <a:lstStyle/>
              <a:p>
                <a:pPr algn="l"/>
                <a:r>
                  <a:rPr lang="en-US" sz="1500" b="1">
                    <a:solidFill>
                      <a:srgbClr val="4B2E83"/>
                    </a:solidFill>
                  </a:rPr>
                  <a:t>Given — covariance matrix 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800" i="1">
                          <a:latin typeface="Cambria Math"/>
                        </a:rPr>
                        <m:t>𝑆</m:t>
                      </m:r>
                      <m:r>
                        <a:rPr sz="17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00">
                                    <a:latin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sz="170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sz="170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sz="170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0" name="X1S1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905000"/>
                <a:ext cx="4826000" cy="38100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" name="X1S1B"/>
          <p:cNvSpPr/>
          <p:nvPr/>
        </p:nvSpPr>
        <p:spPr>
          <a:xfrm>
            <a:off x="5969000" y="1905000"/>
            <a:ext cx="5461000" cy="38100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10000" tIns="55000" rIns="110000" bIns="45000" anchor="ctr">
            <a:normAutofit/>
          </a:bodyPr>
          <a:lstStyle/>
          <a:p>
            <a:pPr algn="l"/>
            <a:r>
              <a:rPr lang="en-US" sz="1500" b="1">
                <a:solidFill>
                  <a:srgbClr val="00A7B5"/>
                </a:solidFill>
              </a:rPr>
              <a:t>Find</a:t>
            </a:r>
          </a:p>
          <a:p>
            <a:pPr marL="285750" indent="-285750" algn="l">
              <a:spcBef>
                <a:spcPts val="700"/>
              </a:spcBef>
            </a:pPr>
            <a:r>
              <a:rPr lang="en-US" sz="1600" b="1">
                <a:solidFill>
                  <a:srgbClr val="00A7B5"/>
                </a:solidFill>
              </a:rPr>
              <a:t>(a)  </a:t>
            </a:r>
            <a:r>
              <a:rPr lang="en-US" sz="1600">
                <a:solidFill>
                  <a:srgbClr val="333333"/>
                </a:solidFill>
              </a:rPr>
              <a:t>the eigenvalues of S</a:t>
            </a:r>
          </a:p>
          <a:p>
            <a:pPr marL="285750" indent="-285750" algn="l">
              <a:spcBef>
                <a:spcPts val="700"/>
              </a:spcBef>
            </a:pPr>
            <a:r>
              <a:rPr lang="en-US" sz="1600" b="1">
                <a:solidFill>
                  <a:srgbClr val="00A7B5"/>
                </a:solidFill>
              </a:rPr>
              <a:t>(b)  </a:t>
            </a:r>
            <a:r>
              <a:rPr lang="en-US" sz="1600">
                <a:solidFill>
                  <a:srgbClr val="333333"/>
                </a:solidFill>
              </a:rPr>
              <a:t>the unit eigenvector for the larger eigenvalue</a:t>
            </a:r>
          </a:p>
          <a:p>
            <a:pPr marL="285750" indent="-285750" algn="l">
              <a:spcBef>
                <a:spcPts val="700"/>
              </a:spcBef>
            </a:pPr>
            <a:r>
              <a:rPr lang="en-US" sz="1600" b="1">
                <a:solidFill>
                  <a:srgbClr val="00A7B5"/>
                </a:solidFill>
              </a:rPr>
              <a:t>(c)  </a:t>
            </a:r>
            <a:r>
              <a:rPr lang="en-US" sz="1600">
                <a:solidFill>
                  <a:srgbClr val="333333"/>
                </a:solidFill>
              </a:rPr>
              <a:t>the fraction of total variance explained by PC1</a:t>
            </a:r>
          </a:p>
        </p:txBody>
      </p:sp>
    </p:spTree>
    <p:extLst>
      <p:ext uri="{BB962C8B-B14F-4D97-AF65-F5344CB8AC3E}">
        <p14:creationId xmlns:p14="http://schemas.microsoft.com/office/powerpoint/2010/main" val="137969300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B404379-5939-F44E-8772-BF3D5273CF39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32903-A3EB-CE4D-92A4-13BDA5E7C4F4}"/>
              </a:ext>
            </a:extLst>
          </p:cNvPr>
          <p:cNvSpPr txBox="1"/>
          <p:nvPr/>
        </p:nvSpPr>
        <p:spPr>
          <a:xfrm>
            <a:off x="762000" y="711200"/>
            <a:ext cx="8382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Exercise 1 — Solution (a): Eigenvalues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2B8037F-A8B6-F741-B382-047925EAE5DF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Exercise 1 · 2 / 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X1S2A"/>
              <p:cNvSpPr/>
              <p:nvPr/>
            </p:nvSpPr>
            <p:spPr>
              <a:xfrm>
                <a:off x="762000" y="1701800"/>
                <a:ext cx="10668000" cy="14986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4B2E83"/>
                    </a:solidFill>
                  </a:rPr>
                  <a:t>1 · Characteristic equation  det(S − λI) = 0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>
                          <a:latin typeface="Cambria Math"/>
                        </a:rPr>
                        <m:t>𝑑𝑒𝑡</m:t>
                      </m:r>
                      <m:d>
                        <m:dPr>
                          <m:begChr m:val="|"/>
                          <m:endChr m:val="|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5 − </m:t>
                                </m:r>
                                <m:r>
                                  <a:rPr sz="1500">
                                    <a:latin typeface="Cambria Math"/>
                                  </a:rPr>
                                  <m:t>𝜆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2 − </m:t>
                                </m:r>
                                <m:r>
                                  <a:rPr sz="1500">
                                    <a:latin typeface="Cambria Math"/>
                                  </a:rPr>
                                  <m:t>𝜆</m:t>
                                </m:r>
                              </m:e>
                            </m:mr>
                          </m:m>
                        </m:e>
                      </m:d>
                      <m:r>
                        <a:rPr sz="1600">
                          <a:latin typeface="Cambria Math"/>
                        </a:rPr>
                        <m:t> = 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sz="1500">
                              <a:latin typeface="Cambria Math"/>
                            </a:rPr>
                            <m:t>5 − </m:t>
                          </m:r>
                          <m:r>
                            <a:rPr sz="1500">
                              <a:latin typeface="Cambria Math"/>
                            </a:rPr>
                            <m:t>𝜆</m:t>
                          </m:r>
                        </m:e>
                      </m:d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sz="1500">
                              <a:latin typeface="Cambria Math"/>
                            </a:rPr>
                            <m:t>2 − </m:t>
                          </m:r>
                          <m:r>
                            <a:rPr sz="1500">
                              <a:latin typeface="Cambria Math"/>
                            </a:rPr>
                            <m:t>𝜆</m:t>
                          </m:r>
                        </m:e>
                      </m:d>
                      <m:r>
                        <a:rPr sz="1600">
                          <a:latin typeface="Cambria Math"/>
                        </a:rPr>
                        <m:t> − 4 = 0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0" name="X1S2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10668000" cy="14986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1" name="X1S2B"/>
              <p:cNvSpPr/>
              <p:nvPr/>
            </p:nvSpPr>
            <p:spPr>
              <a:xfrm>
                <a:off x="762000" y="3327400"/>
                <a:ext cx="10668000" cy="14732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00A7B5"/>
                    </a:solidFill>
                  </a:rPr>
                  <a:t>2 · Expand and factor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1600" i="1">
                              <a:latin typeface="Cambria Math"/>
                            </a:rPr>
                            <m:t>𝜆</m:t>
                          </m:r>
                        </m:e>
                        <m:sup>
                          <m:r>
                            <a:rPr sz="100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sz="1600">
                          <a:latin typeface="Cambria Math"/>
                        </a:rPr>
                        <m:t> − 7</m:t>
                      </m:r>
                      <m:r>
                        <a:rPr sz="1600">
                          <a:latin typeface="Cambria Math"/>
                        </a:rPr>
                        <m:t>𝜆</m:t>
                      </m:r>
                      <m:r>
                        <a:rPr sz="1600">
                          <a:latin typeface="Cambria Math"/>
                        </a:rPr>
                        <m:t> + 6 = 0     ⇒     (</m:t>
                      </m:r>
                      <m:r>
                        <a:rPr sz="1600">
                          <a:latin typeface="Cambria Math"/>
                        </a:rPr>
                        <m:t>𝜆</m:t>
                      </m:r>
                      <m:r>
                        <a:rPr sz="1600">
                          <a:latin typeface="Cambria Math"/>
                        </a:rPr>
                        <m:t> − 6)(</m:t>
                      </m:r>
                      <m:r>
                        <a:rPr sz="1600">
                          <a:latin typeface="Cambria Math"/>
                        </a:rPr>
                        <m:t>𝜆</m:t>
                      </m:r>
                      <m:r>
                        <a:rPr sz="1600">
                          <a:latin typeface="Cambria Math"/>
                        </a:rPr>
                        <m:t> − 1) = 0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1" name="X1S2B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327400"/>
                <a:ext cx="10668000" cy="14732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2" name="X1S2C"/>
          <p:cNvSpPr/>
          <p:nvPr/>
        </p:nvSpPr>
        <p:spPr>
          <a:xfrm>
            <a:off x="762000" y="4953000"/>
            <a:ext cx="10668000" cy="14732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00000" tIns="50000" rIns="100000" bIns="40000" anchor="ctr">
            <a:normAutofit/>
          </a:bodyPr>
          <a:lstStyle/>
          <a:p>
            <a:pPr algn="l"/>
            <a:r>
              <a:rPr lang="en-US" sz="1400" b="1">
                <a:solidFill>
                  <a:srgbClr val="85754D"/>
                </a:solidFill>
              </a:rPr>
              <a:t>3 · Eigenvalues</a:t>
            </a:r>
          </a:p>
          <a:p>
            <a:pPr algn="ctr"/>
            <a:r>
              <a:rPr lang="en-US" sz="1900" b="1">
                <a:solidFill>
                  <a:srgbClr val="7AB648"/>
                </a:solidFill>
              </a:rPr>
              <a:t>λ₁ = 6        λ₂ = 1</a:t>
            </a:r>
          </a:p>
        </p:txBody>
      </p:sp>
    </p:spTree>
    <p:extLst>
      <p:ext uri="{BB962C8B-B14F-4D97-AF65-F5344CB8AC3E}">
        <p14:creationId xmlns:p14="http://schemas.microsoft.com/office/powerpoint/2010/main" val="233526649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B404379-5939-F44E-8772-BF3D5273CF39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32903-A3EB-CE4D-92A4-13BDA5E7C4F4}"/>
              </a:ext>
            </a:extLst>
          </p:cNvPr>
          <p:cNvSpPr txBox="1"/>
          <p:nvPr/>
        </p:nvSpPr>
        <p:spPr>
          <a:xfrm>
            <a:off x="762000" y="711200"/>
            <a:ext cx="8382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Exercise 1 — Solution (b): Unit Eigenvector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2B8037F-A8B6-F741-B382-047925EAE5DF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Exercise 1 · 3 / 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X1S3A"/>
              <p:cNvSpPr/>
              <p:nvPr/>
            </p:nvSpPr>
            <p:spPr>
              <a:xfrm>
                <a:off x="762000" y="1701800"/>
                <a:ext cx="10668000" cy="13462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4B2E83"/>
                    </a:solidFill>
                  </a:rPr>
                  <a:t>1 · Solve (S − λ₁I)v = 0  for λ₁ = 6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>
                          <a:latin typeface="Cambria Math"/>
                        </a:rPr>
                        <m:t>(5 − 6)</m:t>
                      </m:r>
                      <m:r>
                        <a:rPr sz="1600">
                          <a:latin typeface="Cambria Math"/>
                        </a:rPr>
                        <m:t>𝑣</m:t>
                      </m:r>
                      <m:r>
                        <a:rPr sz="1600">
                          <a:latin typeface="Cambria Math"/>
                        </a:rPr>
                        <m:t>₁ + 2</m:t>
                      </m:r>
                      <m:r>
                        <a:rPr sz="1600">
                          <a:latin typeface="Cambria Math"/>
                        </a:rPr>
                        <m:t>𝑣</m:t>
                      </m:r>
                      <m:r>
                        <a:rPr sz="1600">
                          <a:latin typeface="Cambria Math"/>
                        </a:rPr>
                        <m:t>₂ = 0     ⇒     −</m:t>
                      </m:r>
                      <m:r>
                        <a:rPr sz="1600">
                          <a:latin typeface="Cambria Math"/>
                        </a:rPr>
                        <m:t>𝑣</m:t>
                      </m:r>
                      <m:r>
                        <a:rPr sz="1600">
                          <a:latin typeface="Cambria Math"/>
                        </a:rPr>
                        <m:t>₁ + 2</m:t>
                      </m:r>
                      <m:r>
                        <a:rPr sz="1600">
                          <a:latin typeface="Cambria Math"/>
                        </a:rPr>
                        <m:t>𝑣</m:t>
                      </m:r>
                      <m:r>
                        <a:rPr sz="1600">
                          <a:latin typeface="Cambria Math"/>
                        </a:rPr>
                        <m:t>₂ = 0     ⇒     </m:t>
                      </m:r>
                      <m:r>
                        <a:rPr sz="1600">
                          <a:latin typeface="Cambria Math"/>
                        </a:rPr>
                        <m:t>𝑣</m:t>
                      </m:r>
                      <m:r>
                        <a:rPr sz="1600">
                          <a:latin typeface="Cambria Math"/>
                        </a:rPr>
                        <m:t>₁ = 2</m:t>
                      </m:r>
                      <m:r>
                        <a:rPr sz="1600">
                          <a:latin typeface="Cambria Math"/>
                        </a:rPr>
                        <m:t>𝑣</m:t>
                      </m:r>
                      <m:r>
                        <a:rPr sz="1600">
                          <a:latin typeface="Cambria Math"/>
                        </a:rPr>
                        <m:t>₂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0" name="X1S3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10668000" cy="13462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1" name="X1S3B"/>
              <p:cNvSpPr/>
              <p:nvPr/>
            </p:nvSpPr>
            <p:spPr>
              <a:xfrm>
                <a:off x="762000" y="3175000"/>
                <a:ext cx="10668000" cy="21336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00A7B5"/>
                    </a:solidFill>
                  </a:rPr>
                  <a:t>2 · Pick a vector, then normalize to unit length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>
                          <a:latin typeface="Cambria Math"/>
                        </a:rPr>
                        <m:t>𝑣</m:t>
                      </m:r>
                      <m:r>
                        <a:rPr sz="1600">
                          <a:latin typeface="Cambria Math"/>
                        </a:rPr>
                        <m:t> = (2, 1),      ‖</m:t>
                      </m:r>
                      <m:r>
                        <a:rPr sz="1600">
                          <a:latin typeface="Cambria Math"/>
                        </a:rPr>
                        <m:t>𝑣</m:t>
                      </m:r>
                      <m:r>
                        <a:rPr sz="1600">
                          <a:latin typeface="Cambria Math"/>
                        </a:rPr>
                        <m:t>‖ = √(2² + 1²) = √5</m:t>
                      </m:r>
                    </m:oMath>
                  </m:oMathPara>
                </a14:m>
                <a:endParaRPr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 i="1">
                          <a:latin typeface="Cambria Math"/>
                        </a:rPr>
                        <m:t>𝑣</m:t>
                      </m:r>
                      <m:r>
                        <a:rPr sz="1600" i="1">
                          <a:latin typeface="Cambria Math"/>
                        </a:rPr>
                        <m:t>₁</m:t>
                      </m:r>
                      <m:r>
                        <a:rPr sz="1600">
                          <a:latin typeface="Cambria Math"/>
                        </a:rPr>
                        <m:t> = (1/√5)(2, 1) = (0.894, 0.447)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1" name="X1S3B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175000"/>
                <a:ext cx="10668000" cy="21336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2" name="X1S3C"/>
              <p:cNvSpPr/>
              <p:nvPr/>
            </p:nvSpPr>
            <p:spPr>
              <a:xfrm>
                <a:off x="762000" y="5461000"/>
                <a:ext cx="10668000" cy="990600"/>
              </a:xfrm>
              <a:prstGeom prst="roundRect">
                <a:avLst>
                  <a:gd name="adj" fmla="val 4000"/>
                </a:avLst>
              </a:prstGeom>
              <a:solidFill>
                <a:srgbClr val="F7F3EC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85754D"/>
                    </a:solidFill>
                  </a:rPr>
                  <a:t>3 · Second eigenvector (orthogonal)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 i="1">
                          <a:latin typeface="Cambria Math"/>
                        </a:rPr>
                        <m:t>𝑣</m:t>
                      </m:r>
                      <m:r>
                        <a:rPr sz="1600" i="1">
                          <a:latin typeface="Cambria Math"/>
                        </a:rPr>
                        <m:t>₂</m:t>
                      </m:r>
                      <m:r>
                        <a:rPr sz="1600">
                          <a:latin typeface="Cambria Math"/>
                        </a:rPr>
                        <m:t> = (−0.447, 0.894)</m:t>
                      </m:r>
                    </m:oMath>
                  </m:oMathPara>
                </a14:m>
                <a:endParaRPr/>
              </a:p>
              <a:p>
                <a:pPr algn="ctr"/>
                <a:r>
                  <a:rPr lang="en-US" sz="1400" i="1">
                    <a:solidFill>
                      <a:srgbClr val="85754D"/>
                    </a:solidFill>
                  </a:rPr>
                  <a:t>perpendicular to v₁ and also unit length</a:t>
                </a:r>
              </a:p>
            </p:txBody>
          </p:sp>
        </mc:Choice>
        <mc:Fallback>
          <p:sp>
            <p:nvSpPr>
              <p:cNvPr id="162" name="X1S3C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5461000"/>
                <a:ext cx="10668000" cy="990600"/>
              </a:xfrm>
              <a:prstGeom prst="roundRect">
                <a:avLst>
                  <a:gd name="adj" fmla="val 4000"/>
                </a:avLst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877817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B404379-5939-F44E-8772-BF3D5273CF39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32903-A3EB-CE4D-92A4-13BDA5E7C4F4}"/>
              </a:ext>
            </a:extLst>
          </p:cNvPr>
          <p:cNvSpPr txBox="1"/>
          <p:nvPr/>
        </p:nvSpPr>
        <p:spPr>
          <a:xfrm>
            <a:off x="762000" y="711200"/>
            <a:ext cx="8382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Exercise 1 — Solution (c): Variance Explained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2B8037F-A8B6-F741-B382-047925EAE5DF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Exercise 1 · 4 / 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X1S4A"/>
              <p:cNvSpPr/>
              <p:nvPr/>
            </p:nvSpPr>
            <p:spPr>
              <a:xfrm>
                <a:off x="762000" y="1701800"/>
                <a:ext cx="10668000" cy="14732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4B2E83"/>
                    </a:solidFill>
                  </a:rPr>
                  <a:t>1 · Total variance = trace of 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700">
                          <a:latin typeface="Cambria Math"/>
                        </a:rPr>
                        <m:t>𝑡𝑟</m:t>
                      </m:r>
                      <m:r>
                        <a:rPr sz="1700">
                          <a:latin typeface="Cambria Math"/>
                        </a:rPr>
                        <m:t>(</m:t>
                      </m:r>
                      <m:r>
                        <a:rPr sz="1700">
                          <a:latin typeface="Cambria Math"/>
                        </a:rPr>
                        <m:t>𝑆</m:t>
                      </m:r>
                      <m:r>
                        <a:rPr sz="1700">
                          <a:latin typeface="Cambria Math"/>
                        </a:rPr>
                        <m:t>) = 5 + 2 = 7 = </m:t>
                      </m:r>
                      <m:r>
                        <a:rPr sz="1700">
                          <a:latin typeface="Cambria Math"/>
                        </a:rPr>
                        <m:t>𝜆</m:t>
                      </m:r>
                      <m:r>
                        <a:rPr sz="1700">
                          <a:latin typeface="Cambria Math"/>
                        </a:rPr>
                        <m:t>₁ + </m:t>
                      </m:r>
                      <m:r>
                        <a:rPr sz="1700">
                          <a:latin typeface="Cambria Math"/>
                        </a:rPr>
                        <m:t>𝜆</m:t>
                      </m:r>
                      <m:r>
                        <a:rPr sz="1700">
                          <a:latin typeface="Cambria Math"/>
                        </a:rPr>
                        <m:t>₂      ✓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0" name="X1S4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10668000" cy="14732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1" name="X1S4B"/>
              <p:cNvSpPr/>
              <p:nvPr/>
            </p:nvSpPr>
            <p:spPr>
              <a:xfrm>
                <a:off x="762000" y="3302000"/>
                <a:ext cx="10668000" cy="15748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00A7B5"/>
                    </a:solidFill>
                  </a:rPr>
                  <a:t>2 · Fraction of variance carried by PC1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>
                          <a:latin typeface="Cambria Math"/>
                        </a:rPr>
                        <m:t>𝑃𝐶</m:t>
                      </m:r>
                      <m:r>
                        <a:rPr sz="1600">
                          <a:latin typeface="Cambria Math"/>
                        </a:rPr>
                        <m:t>1 </m:t>
                      </m:r>
                      <m:r>
                        <a:rPr sz="1600">
                          <a:latin typeface="Cambria Math"/>
                        </a:rPr>
                        <m:t>𝑠h𝑎𝑟𝑒</m:t>
                      </m:r>
                      <m:r>
                        <a:rPr sz="1600">
                          <a:latin typeface="Cambria Math"/>
                        </a:rPr>
                        <m:t> = 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1500">
                              <a:latin typeface="Cambria Math"/>
                            </a:rPr>
                            <m:t>𝜆</m:t>
                          </m:r>
                          <m:r>
                            <a:rPr sz="1500">
                              <a:latin typeface="Cambria Math"/>
                            </a:rPr>
                            <m:t>₁</m:t>
                          </m:r>
                        </m:num>
                        <m:den>
                          <m:r>
                            <a:rPr sz="1500">
                              <a:latin typeface="Cambria Math"/>
                            </a:rPr>
                            <m:t>𝜆</m:t>
                          </m:r>
                          <m:r>
                            <a:rPr sz="1500">
                              <a:latin typeface="Cambria Math"/>
                            </a:rPr>
                            <m:t>₁ + </m:t>
                          </m:r>
                          <m:r>
                            <a:rPr sz="1500">
                              <a:latin typeface="Cambria Math"/>
                            </a:rPr>
                            <m:t>𝜆</m:t>
                          </m:r>
                          <m:r>
                            <a:rPr sz="1500">
                              <a:latin typeface="Cambria Math"/>
                            </a:rPr>
                            <m:t>₂</m:t>
                          </m:r>
                        </m:den>
                      </m:f>
                      <m:r>
                        <a:rPr sz="1600">
                          <a:latin typeface="Cambria Math"/>
                        </a:rPr>
                        <m:t> = 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1500">
                              <a:latin typeface="Cambria Math"/>
                            </a:rPr>
                            <m:t>6</m:t>
                          </m:r>
                        </m:num>
                        <m:den>
                          <m:r>
                            <a:rPr sz="1500">
                              <a:latin typeface="Cambria Math"/>
                            </a:rPr>
                            <m:t>7</m:t>
                          </m:r>
                        </m:den>
                      </m:f>
                      <m:r>
                        <a:rPr sz="1600">
                          <a:latin typeface="Cambria Math"/>
                        </a:rPr>
                        <m:t> = 0.857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1" name="X1S4B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302000"/>
                <a:ext cx="10668000" cy="15748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2" name="X1S4C"/>
          <p:cNvSpPr/>
          <p:nvPr/>
        </p:nvSpPr>
        <p:spPr>
          <a:xfrm>
            <a:off x="762000" y="5029200"/>
            <a:ext cx="10668000" cy="13970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00000" tIns="50000" rIns="100000" bIns="40000" anchor="ctr">
            <a:normAutofit/>
          </a:bodyPr>
          <a:lstStyle/>
          <a:p>
            <a:pPr algn="l"/>
            <a:r>
              <a:rPr lang="en-US" sz="1400" b="1">
                <a:solidFill>
                  <a:srgbClr val="85754D"/>
                </a:solidFill>
              </a:rPr>
              <a:t>3 · Answer</a:t>
            </a:r>
          </a:p>
          <a:p>
            <a:pPr algn="ctr"/>
            <a:r>
              <a:rPr lang="en-US" sz="1800" b="1">
                <a:solidFill>
                  <a:srgbClr val="7AB648"/>
                </a:solidFill>
              </a:rPr>
              <a:t>PC1 explains ≈ 85.7% of the total variance</a:t>
            </a:r>
          </a:p>
        </p:txBody>
      </p:sp>
    </p:spTree>
    <p:extLst>
      <p:ext uri="{BB962C8B-B14F-4D97-AF65-F5344CB8AC3E}">
        <p14:creationId xmlns:p14="http://schemas.microsoft.com/office/powerpoint/2010/main" val="371382311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8510E32-9B8F-2D45-9317-5C873B2A8DD8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B979E8-A5F5-4143-B6BB-ECA90E16850E}"/>
              </a:ext>
            </a:extLst>
          </p:cNvPr>
          <p:cNvSpPr txBox="1"/>
          <p:nvPr/>
        </p:nvSpPr>
        <p:spPr>
          <a:xfrm>
            <a:off x="762000" y="711200"/>
            <a:ext cx="8382000" cy="49244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Exercise 2 — The Problem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6A529E9-03DC-DB4B-9860-74D0F3E6B787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Exercise 2 · 1 / 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X2S1A"/>
              <p:cNvSpPr/>
              <p:nvPr/>
            </p:nvSpPr>
            <p:spPr>
              <a:xfrm>
                <a:off x="762000" y="1905000"/>
                <a:ext cx="10668000" cy="17018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10000" tIns="55000" rIns="110000" bIns="45000" anchor="ctr">
                <a:normAutofit/>
              </a:bodyPr>
              <a:lstStyle/>
              <a:p>
                <a:pPr algn="l"/>
                <a:r>
                  <a:rPr lang="en-US" sz="1500" b="1">
                    <a:solidFill>
                      <a:srgbClr val="4B2E83"/>
                    </a:solidFill>
                  </a:rPr>
                  <a:t>Given — eigenvalues from 6 standardized variables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800" i="1">
                          <a:latin typeface="Cambria Math"/>
                        </a:rPr>
                        <m:t>𝜆</m:t>
                      </m:r>
                      <m:r>
                        <a:rPr sz="1700">
                          <a:latin typeface="Cambria Math"/>
                        </a:rPr>
                        <m:t> = (3.1,  1.4,  0.7,  0.4,  0.25,  0.15)</m:t>
                      </m:r>
                    </m:oMath>
                  </m:oMathPara>
                </a14:m>
                <a:endParaRPr/>
              </a:p>
              <a:p>
                <a:pPr algn="ctr"/>
                <a:r>
                  <a:rPr lang="en-US" sz="1400" i="1">
                    <a:solidFill>
                      <a:srgbClr val="85754D"/>
                    </a:solidFill>
                  </a:rPr>
                  <a:t>standardized data → total variance Σλ = 6</a:t>
                </a:r>
              </a:p>
            </p:txBody>
          </p:sp>
        </mc:Choice>
        <mc:Fallback>
          <p:sp>
            <p:nvSpPr>
              <p:cNvPr id="160" name="X2S1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905000"/>
                <a:ext cx="10668000" cy="17018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" name="X2S1B"/>
          <p:cNvSpPr/>
          <p:nvPr/>
        </p:nvSpPr>
        <p:spPr>
          <a:xfrm>
            <a:off x="762000" y="3784600"/>
            <a:ext cx="10668000" cy="26670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10000" tIns="55000" rIns="110000" bIns="45000" anchor="ctr">
            <a:normAutofit/>
          </a:bodyPr>
          <a:lstStyle/>
          <a:p>
            <a:pPr algn="l"/>
            <a:r>
              <a:rPr lang="en-US" sz="1500" b="1">
                <a:solidFill>
                  <a:srgbClr val="00A7B5"/>
                </a:solidFill>
              </a:rPr>
              <a:t>Find</a:t>
            </a:r>
          </a:p>
          <a:p>
            <a:pPr marL="300000" indent="-300000" algn="l">
              <a:spcBef>
                <a:spcPts val="650"/>
              </a:spcBef>
            </a:pPr>
            <a:r>
              <a:rPr lang="en-US" sz="1600" b="1">
                <a:solidFill>
                  <a:srgbClr val="00A7B5"/>
                </a:solidFill>
              </a:rPr>
              <a:t>(a)  </a:t>
            </a:r>
            <a:r>
              <a:rPr lang="en-US" sz="1600">
                <a:solidFill>
                  <a:srgbClr val="333333"/>
                </a:solidFill>
              </a:rPr>
              <a:t>how many components the Kaiser rule (λ &gt; 1) keeps</a:t>
            </a:r>
          </a:p>
          <a:p>
            <a:pPr marL="300000" indent="-300000" algn="l">
              <a:spcBef>
                <a:spcPts val="650"/>
              </a:spcBef>
            </a:pPr>
            <a:r>
              <a:rPr lang="en-US" sz="1600" b="1">
                <a:solidFill>
                  <a:srgbClr val="00A7B5"/>
                </a:solidFill>
              </a:rPr>
              <a:t>(b)  </a:t>
            </a:r>
            <a:r>
              <a:rPr lang="en-US" sz="1600">
                <a:solidFill>
                  <a:srgbClr val="333333"/>
                </a:solidFill>
              </a:rPr>
              <a:t>how many components are needed to reach ≥ 80% cumulative variance</a:t>
            </a:r>
          </a:p>
          <a:p>
            <a:pPr marL="300000" indent="-300000" algn="l">
              <a:spcBef>
                <a:spcPts val="650"/>
              </a:spcBef>
            </a:pPr>
            <a:r>
              <a:rPr lang="en-US" sz="1600" b="1">
                <a:solidFill>
                  <a:srgbClr val="00A7B5"/>
                </a:solidFill>
              </a:rPr>
              <a:t>(c)  </a:t>
            </a:r>
            <a:r>
              <a:rPr lang="en-US" sz="1600">
                <a:solidFill>
                  <a:srgbClr val="333333"/>
                </a:solidFill>
              </a:rPr>
              <a:t>where the elbow of the scree plot lies</a:t>
            </a:r>
          </a:p>
        </p:txBody>
      </p:sp>
    </p:spTree>
    <p:extLst>
      <p:ext uri="{BB962C8B-B14F-4D97-AF65-F5344CB8AC3E}">
        <p14:creationId xmlns:p14="http://schemas.microsoft.com/office/powerpoint/2010/main" val="2586585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8510E32-9B8F-2D45-9317-5C873B2A8DD8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B979E8-A5F5-4143-B6BB-ECA90E16850E}"/>
              </a:ext>
            </a:extLst>
          </p:cNvPr>
          <p:cNvSpPr txBox="1"/>
          <p:nvPr/>
        </p:nvSpPr>
        <p:spPr>
          <a:xfrm>
            <a:off x="762000" y="711200"/>
            <a:ext cx="8382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Exercise 2 — Solution (a): Kaiser Rule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6A529E9-03DC-DB4B-9860-74D0F3E6B787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Exercise 2 · 2 / 4</a:t>
            </a:r>
          </a:p>
        </p:txBody>
      </p:sp>
      <p:sp>
        <p:nvSpPr>
          <p:cNvPr id="160" name="X2S2A"/>
          <p:cNvSpPr/>
          <p:nvPr/>
        </p:nvSpPr>
        <p:spPr>
          <a:xfrm>
            <a:off x="762000" y="1701800"/>
            <a:ext cx="10668000" cy="1524000"/>
          </a:xfrm>
          <a:prstGeom prst="roundRect">
            <a:avLst>
              <a:gd name="adj" fmla="val 4000"/>
            </a:avLst>
          </a:prstGeom>
          <a:solidFill>
            <a:srgbClr val="F3EFF8"/>
          </a:solidFill>
          <a:ln>
            <a:noFill/>
          </a:ln>
        </p:spPr>
        <p:txBody>
          <a:bodyPr wrap="square" lIns="110000" tIns="50000" rIns="110000" bIns="40000" anchor="ctr">
            <a:normAutofit/>
          </a:bodyPr>
          <a:lstStyle/>
          <a:p>
            <a:pPr algn="l"/>
            <a:r>
              <a:rPr lang="en-US" sz="1400" b="1">
                <a:solidFill>
                  <a:srgbClr val="4B2E83"/>
                </a:solidFill>
              </a:rPr>
              <a:t>1 · The Kaiser rule</a:t>
            </a:r>
          </a:p>
          <a:p>
            <a:pPr algn="ctr"/>
            <a:r>
              <a:rPr lang="en-US" sz="1550" b="0">
                <a:solidFill>
                  <a:srgbClr val="333333"/>
                </a:solidFill>
              </a:rPr>
              <a:t>Keep every component with λⱼ &gt; 1.  For standardized data the average eigenvalue is exactly 1, so this retains the above-average components.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1" name="X2S2B"/>
              <p:cNvSpPr/>
              <p:nvPr/>
            </p:nvSpPr>
            <p:spPr>
              <a:xfrm>
                <a:off x="762000" y="3327400"/>
                <a:ext cx="10668000" cy="15240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10000" tIns="50000" rIns="11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00A7B5"/>
                    </a:solidFill>
                  </a:rPr>
                  <a:t>2 · Compare each eigenvalue with 1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>
                          <a:latin typeface="Cambria Math"/>
                        </a:rPr>
                        <m:t>3.1 &gt; 1 ✓    1.4 &gt; 1 ✓    0.7 </m:t>
                      </m:r>
                    </m:oMath>
                  </m:oMathPara>
                </a14:m>
                <a:endParaRPr lang="en-US" sz="1400" b="1">
                  <a:solidFill>
                    <a:srgbClr val="00A7B5"/>
                  </a:solidFill>
                </a:endParaRPr>
              </a:p>
            </p:txBody>
          </p:sp>
        </mc:Choice>
        <mc:Fallback>
          <p:sp>
            <p:nvSpPr>
              <p:cNvPr id="161" name="X2S2B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327400"/>
                <a:ext cx="10668000" cy="15240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2" name="X2S2C"/>
          <p:cNvSpPr/>
          <p:nvPr/>
        </p:nvSpPr>
        <p:spPr>
          <a:xfrm>
            <a:off x="762000" y="5054600"/>
            <a:ext cx="10668000" cy="13716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10000" tIns="50000" rIns="110000" bIns="40000" anchor="ctr">
            <a:normAutofit/>
          </a:bodyPr>
          <a:lstStyle/>
          <a:p>
            <a:pPr algn="l"/>
            <a:r>
              <a:rPr lang="en-US" sz="1400" b="1">
                <a:solidFill>
                  <a:srgbClr val="85754D"/>
                </a:solidFill>
              </a:rPr>
              <a:t>3 · Answer</a:t>
            </a:r>
          </a:p>
          <a:p>
            <a:pPr algn="ctr"/>
            <a:r>
              <a:rPr lang="en-US" sz="1800" b="1">
                <a:solidFill>
                  <a:srgbClr val="7AB648"/>
                </a:solidFill>
              </a:rPr>
              <a:t>Kaiser keeps 2 components — PC1 and PC2</a:t>
            </a:r>
          </a:p>
        </p:txBody>
      </p:sp>
    </p:spTree>
    <p:extLst>
      <p:ext uri="{BB962C8B-B14F-4D97-AF65-F5344CB8AC3E}">
        <p14:creationId xmlns:p14="http://schemas.microsoft.com/office/powerpoint/2010/main" val="164877622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8510E32-9B8F-2D45-9317-5C873B2A8DD8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B979E8-A5F5-4143-B6BB-ECA90E16850E}"/>
              </a:ext>
            </a:extLst>
          </p:cNvPr>
          <p:cNvSpPr txBox="1"/>
          <p:nvPr/>
        </p:nvSpPr>
        <p:spPr>
          <a:xfrm>
            <a:off x="762000" y="711200"/>
            <a:ext cx="8382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Exercise 2 — Solution (b): Cumulative Variance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6A529E9-03DC-DB4B-9860-74D0F3E6B787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Exercise 2 · 3 / 4</a:t>
            </a:r>
          </a:p>
        </p:txBody>
      </p:sp>
      <p:sp>
        <p:nvSpPr>
          <p:cNvPr id="160" name="X2S3A"/>
          <p:cNvSpPr/>
          <p:nvPr/>
        </p:nvSpPr>
        <p:spPr>
          <a:xfrm>
            <a:off x="762000" y="1879600"/>
            <a:ext cx="5461000" cy="4572000"/>
          </a:xfrm>
          <a:prstGeom prst="roundRect">
            <a:avLst>
              <a:gd name="adj" fmla="val 4000"/>
            </a:avLst>
          </a:prstGeom>
          <a:solidFill>
            <a:srgbClr val="F3EFF8"/>
          </a:solidFill>
          <a:ln>
            <a:noFill/>
          </a:ln>
        </p:spPr>
        <p:txBody>
          <a:bodyPr wrap="square" lIns="120000" tIns="60000" rIns="100000" bIns="50000" anchor="t">
            <a:norm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1 · Variance share  (λⱼ / 6)</a:t>
            </a:r>
          </a:p>
          <a:p>
            <a:pPr algn="l">
              <a:spcBef>
                <a:spcPts val="200"/>
              </a:spcBef>
            </a:pPr>
            <a:r>
              <a:rPr lang="en-US" sz="1500" b="0">
                <a:solidFill>
                  <a:srgbClr val="333333"/>
                </a:solidFill>
              </a:rPr>
              <a:t>PC1:  3.1 / 6 = 51.7%</a:t>
            </a:r>
          </a:p>
          <a:p>
            <a:pPr algn="l"/>
            <a:r>
              <a:rPr lang="en-US" sz="1500" b="0">
                <a:solidFill>
                  <a:srgbClr val="333333"/>
                </a:solidFill>
              </a:rPr>
              <a:t>PC2:  1.4 / 6 = 23.3%</a:t>
            </a:r>
          </a:p>
          <a:p>
            <a:pPr algn="l"/>
            <a:r>
              <a:rPr lang="en-US" sz="1500" b="0">
                <a:solidFill>
                  <a:srgbClr val="333333"/>
                </a:solidFill>
              </a:rPr>
              <a:t>PC3:  0.7 / 6 = 11.7%</a:t>
            </a:r>
          </a:p>
          <a:p>
            <a:pPr algn="l">
              <a:spcBef>
                <a:spcPts val="750"/>
              </a:spcBef>
            </a:pPr>
            <a:r>
              <a:rPr lang="en-US" sz="1450" b="1">
                <a:solidFill>
                  <a:srgbClr val="00A7B5"/>
                </a:solidFill>
              </a:rPr>
              <a:t>2 · Cumulative</a:t>
            </a:r>
          </a:p>
          <a:p>
            <a:pPr algn="l">
              <a:spcBef>
                <a:spcPts val="200"/>
              </a:spcBef>
            </a:pPr>
            <a:r>
              <a:rPr lang="en-US" sz="1500" b="0">
                <a:solidFill>
                  <a:srgbClr val="333333"/>
                </a:solidFill>
              </a:rPr>
              <a:t>PC1 = 51.7%</a:t>
            </a:r>
          </a:p>
          <a:p>
            <a:pPr algn="l"/>
            <a:r>
              <a:rPr lang="en-US" sz="1500" b="0">
                <a:solidFill>
                  <a:srgbClr val="333333"/>
                </a:solidFill>
              </a:rPr>
              <a:t>PC1+PC2 = 75.0%</a:t>
            </a:r>
          </a:p>
          <a:p>
            <a:pPr algn="l"/>
            <a:r>
              <a:rPr lang="en-US" sz="1500" b="1">
                <a:solidFill>
                  <a:srgbClr val="7AB648"/>
                </a:solidFill>
              </a:rPr>
              <a:t>PC1+PC2+PC3 = 86.7%  ← first ≥ 80%</a:t>
            </a:r>
          </a:p>
          <a:p>
            <a:pPr algn="l">
              <a:spcBef>
                <a:spcPts val="750"/>
              </a:spcBef>
            </a:pPr>
            <a:r>
              <a:rPr lang="en-US" sz="1450" b="1">
                <a:solidFill>
                  <a:srgbClr val="85754D"/>
                </a:solidFill>
              </a:rPr>
              <a:t>3 · Answer</a:t>
            </a:r>
          </a:p>
          <a:p>
            <a:pPr algn="l">
              <a:spcBef>
                <a:spcPts val="200"/>
              </a:spcBef>
            </a:pPr>
            <a:r>
              <a:rPr lang="en-US" sz="1600" b="1">
                <a:solidFill>
                  <a:srgbClr val="7AB648"/>
                </a:solidFill>
              </a:rPr>
              <a:t>3 components are needed to exceed 80%</a:t>
            </a:r>
          </a:p>
        </p:txBody>
      </p:sp>
      <p:graphicFrame>
        <p:nvGraphicFramePr>
          <p:cNvPr id="301" name="CumChart"/>
          <p:cNvGraphicFramePr/>
          <p:nvPr/>
        </p:nvGraphicFramePr>
        <p:xfrm>
          <a:off x="6604000" y="1905000"/>
          <a:ext cx="4826000" cy="431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3497110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8510E32-9B8F-2D45-9317-5C873B2A8DD8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B979E8-A5F5-4143-B6BB-ECA90E16850E}"/>
              </a:ext>
            </a:extLst>
          </p:cNvPr>
          <p:cNvSpPr txBox="1"/>
          <p:nvPr/>
        </p:nvSpPr>
        <p:spPr>
          <a:xfrm>
            <a:off x="762000" y="711200"/>
            <a:ext cx="8382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Exercise 2 — Solution (c): Scree Elbow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6A529E9-03DC-DB4B-9860-74D0F3E6B787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Exercise 2 · 4 / 4</a:t>
            </a:r>
          </a:p>
        </p:txBody>
      </p:sp>
      <p:sp>
        <p:nvSpPr>
          <p:cNvPr id="160" name="X2S4A"/>
          <p:cNvSpPr/>
          <p:nvPr/>
        </p:nvSpPr>
        <p:spPr>
          <a:xfrm>
            <a:off x="762000" y="1879600"/>
            <a:ext cx="5588000" cy="4572000"/>
          </a:xfrm>
          <a:prstGeom prst="roundRect">
            <a:avLst>
              <a:gd name="adj" fmla="val 4000"/>
            </a:avLst>
          </a:prstGeom>
          <a:solidFill>
            <a:srgbClr val="F3EFF8"/>
          </a:solidFill>
          <a:ln>
            <a:noFill/>
          </a:ln>
        </p:spPr>
        <p:txBody>
          <a:bodyPr wrap="square" lIns="110000" tIns="60000" rIns="100000" bIns="50000" anchor="t">
            <a:norm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1 · Drops between successive eigenvalues</a:t>
            </a:r>
          </a:p>
          <a:p>
            <a:pPr algn="l">
              <a:spcBef>
                <a:spcPts val="200"/>
              </a:spcBef>
            </a:pPr>
            <a:r>
              <a:rPr lang="en-US" sz="1500" b="0">
                <a:solidFill>
                  <a:srgbClr val="333333"/>
                </a:solidFill>
              </a:rPr>
              <a:t>3.1 → 1.4   (big drop, −1.7)</a:t>
            </a:r>
          </a:p>
          <a:p>
            <a:pPr algn="l"/>
            <a:r>
              <a:rPr lang="en-US" sz="1500" b="0">
                <a:solidFill>
                  <a:srgbClr val="333333"/>
                </a:solidFill>
              </a:rPr>
              <a:t>1.4 → 0.7   (−0.7)</a:t>
            </a:r>
          </a:p>
          <a:p>
            <a:pPr algn="l"/>
            <a:r>
              <a:rPr lang="en-US" sz="1500" b="0">
                <a:solidFill>
                  <a:srgbClr val="333333"/>
                </a:solidFill>
              </a:rPr>
              <a:t>0.7 → 0.4 → 0.25 → 0.15   (small, flat tail)</a:t>
            </a:r>
          </a:p>
          <a:p>
            <a:pPr algn="l">
              <a:spcBef>
                <a:spcPts val="650"/>
              </a:spcBef>
            </a:pPr>
            <a:r>
              <a:rPr lang="en-US" sz="1450" b="1">
                <a:solidFill>
                  <a:srgbClr val="00A7B5"/>
                </a:solidFill>
              </a:rPr>
              <a:t>2 · Where is the elbow?</a:t>
            </a:r>
          </a:p>
          <a:p>
            <a:pPr algn="l">
              <a:spcBef>
                <a:spcPts val="150"/>
              </a:spcBef>
            </a:pPr>
            <a:r>
              <a:rPr lang="en-US" sz="1500" b="1">
                <a:solidFill>
                  <a:srgbClr val="7AB648"/>
                </a:solidFill>
              </a:rPr>
              <a:t>the curve flattens after PC2  →  elbow at 2 components</a:t>
            </a:r>
          </a:p>
          <a:p>
            <a:pPr algn="l">
              <a:spcBef>
                <a:spcPts val="650"/>
              </a:spcBef>
            </a:pPr>
            <a:r>
              <a:rPr lang="en-US" sz="1450" b="1">
                <a:solidFill>
                  <a:srgbClr val="85754D"/>
                </a:solidFill>
              </a:rPr>
              <a:t>3 · Takeaway</a:t>
            </a:r>
          </a:p>
          <a:p>
            <a:pPr algn="l">
              <a:spcBef>
                <a:spcPts val="150"/>
              </a:spcBef>
            </a:pPr>
            <a:r>
              <a:rPr lang="en-US" sz="1450" b="0">
                <a:solidFill>
                  <a:srgbClr val="333333"/>
                </a:solidFill>
              </a:rPr>
              <a:t>Kaiser and the scree elbow agree on 2; the 80% rule wants 3. Rules can disagree — state your choice and the variance retained.</a:t>
            </a:r>
          </a:p>
        </p:txBody>
      </p:sp>
      <p:graphicFrame>
        <p:nvGraphicFramePr>
          <p:cNvPr id="301" name="ScreeChart"/>
          <p:cNvGraphicFramePr/>
          <p:nvPr/>
        </p:nvGraphicFramePr>
        <p:xfrm>
          <a:off x="6604000" y="1905000"/>
          <a:ext cx="4826000" cy="431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1416438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6DA188D-AF5E-154B-A83D-8B348F4606C2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C58661-B2B4-4D4B-856E-BCCDC38206CD}"/>
              </a:ext>
            </a:extLst>
          </p:cNvPr>
          <p:cNvSpPr txBox="1"/>
          <p:nvPr/>
        </p:nvSpPr>
        <p:spPr>
          <a:xfrm>
            <a:off x="762000" y="711200"/>
            <a:ext cx="8382000" cy="49244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Exercise 3 — The Problem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191FFCE-EEF4-0949-B8A0-0C79FCD31435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Exercise 3 · 1 / 4</a:t>
            </a:r>
          </a:p>
        </p:txBody>
      </p:sp>
      <p:sp>
        <p:nvSpPr>
          <p:cNvPr id="160" name="X3S1A"/>
          <p:cNvSpPr/>
          <p:nvPr/>
        </p:nvSpPr>
        <p:spPr>
          <a:xfrm>
            <a:off x="762000" y="1905000"/>
            <a:ext cx="10668000" cy="4521200"/>
          </a:xfrm>
          <a:prstGeom prst="roundRect">
            <a:avLst>
              <a:gd name="adj" fmla="val 4000"/>
            </a:avLst>
          </a:prstGeom>
          <a:solidFill>
            <a:srgbClr val="F3EFF8"/>
          </a:solidFill>
          <a:ln>
            <a:noFill/>
          </a:ln>
        </p:spPr>
        <p:txBody>
          <a:bodyPr wrap="square" lIns="120000" tIns="70000" rIns="120000" bIns="50000" anchor="ctr">
            <a:normAutofit/>
          </a:bodyPr>
          <a:lstStyle/>
          <a:p>
            <a:pPr algn="l"/>
            <a:r>
              <a:rPr lang="en-US" sz="1550" b="1">
                <a:solidFill>
                  <a:srgbClr val="4B2E83"/>
                </a:solidFill>
              </a:rPr>
              <a:t>Answer these conceptual questions about PCA</a:t>
            </a:r>
          </a:p>
          <a:p>
            <a:pPr marL="330000" indent="-330000" algn="l">
              <a:spcBef>
                <a:spcPts val="900"/>
              </a:spcBef>
            </a:pPr>
            <a:r>
              <a:rPr lang="en-US" sz="1700" b="1">
                <a:solidFill>
                  <a:srgbClr val="00A7B5"/>
                </a:solidFill>
              </a:rPr>
              <a:t>(a)  </a:t>
            </a:r>
            <a:r>
              <a:rPr lang="en-US" sz="1700">
                <a:solidFill>
                  <a:srgbClr val="333333"/>
                </a:solidFill>
              </a:rPr>
              <a:t>Why must the data be centred before running PCA?</a:t>
            </a:r>
          </a:p>
          <a:p>
            <a:pPr marL="330000" indent="-330000" algn="l">
              <a:spcBef>
                <a:spcPts val="900"/>
              </a:spcBef>
            </a:pPr>
            <a:r>
              <a:rPr lang="en-US" sz="1700" b="1">
                <a:solidFill>
                  <a:srgbClr val="00A7B5"/>
                </a:solidFill>
              </a:rPr>
              <a:t>(b)  </a:t>
            </a:r>
            <a:r>
              <a:rPr lang="en-US" sz="1700">
                <a:solidFill>
                  <a:srgbClr val="333333"/>
                </a:solidFill>
              </a:rPr>
              <a:t>When should you use the correlation matrix R instead of the covariance matrix S?</a:t>
            </a:r>
          </a:p>
          <a:p>
            <a:pPr marL="330000" indent="-330000" algn="l">
              <a:spcBef>
                <a:spcPts val="900"/>
              </a:spcBef>
            </a:pPr>
            <a:r>
              <a:rPr lang="en-US" sz="1700" b="1">
                <a:solidFill>
                  <a:srgbClr val="00A7B5"/>
                </a:solidFill>
              </a:rPr>
              <a:t>(c)  </a:t>
            </a:r>
            <a:r>
              <a:rPr lang="en-US" sz="1700">
                <a:solidFill>
                  <a:srgbClr val="333333"/>
                </a:solidFill>
              </a:rPr>
              <a:t>A colleague keeps the PCs with the largest loading magnitudes — not the largest eigenvalues. What is wrong with that?</a:t>
            </a:r>
          </a:p>
        </p:txBody>
      </p:sp>
    </p:spTree>
    <p:extLst>
      <p:ext uri="{BB962C8B-B14F-4D97-AF65-F5344CB8AC3E}">
        <p14:creationId xmlns:p14="http://schemas.microsoft.com/office/powerpoint/2010/main" val="146686681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6DA188D-AF5E-154B-A83D-8B348F4606C2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C58661-B2B4-4D4B-856E-BCCDC38206CD}"/>
              </a:ext>
            </a:extLst>
          </p:cNvPr>
          <p:cNvSpPr txBox="1"/>
          <p:nvPr/>
        </p:nvSpPr>
        <p:spPr>
          <a:xfrm>
            <a:off x="762000" y="711200"/>
            <a:ext cx="8382000" cy="44627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300" b="1">
                <a:solidFill>
                  <a:srgbClr val="4B2E83"/>
                </a:solidFill>
              </a:rPr>
              <a:t>Exercise 3 — Solution (a): Why Centre the Data?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191FFCE-EEF4-0949-B8A0-0C79FCD31435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Exercise 3 · 2 / 4</a:t>
            </a:r>
          </a:p>
        </p:txBody>
      </p:sp>
      <p:sp>
        <p:nvSpPr>
          <p:cNvPr id="160" name="X3S2A"/>
          <p:cNvSpPr/>
          <p:nvPr/>
        </p:nvSpPr>
        <p:spPr>
          <a:xfrm>
            <a:off x="762000" y="1701800"/>
            <a:ext cx="10668000" cy="1473200"/>
          </a:xfrm>
          <a:prstGeom prst="roundRect">
            <a:avLst>
              <a:gd name="adj" fmla="val 4000"/>
            </a:avLst>
          </a:prstGeom>
          <a:solidFill>
            <a:srgbClr val="F3EFF8"/>
          </a:solidFill>
          <a:ln>
            <a:noFill/>
          </a:ln>
        </p:spPr>
        <p:txBody>
          <a:bodyPr wrap="square" lIns="120000" tIns="55000" rIns="120000" bIns="45000" anchor="ctr">
            <a:norm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The principle</a:t>
            </a:r>
          </a:p>
          <a:p>
            <a:pPr algn="l">
              <a:spcBef>
                <a:spcPts val="300"/>
              </a:spcBef>
            </a:pPr>
            <a:r>
              <a:rPr lang="en-US" sz="1500" b="0">
                <a:solidFill>
                  <a:srgbClr val="333333"/>
                </a:solidFill>
              </a:rPr>
              <a:t>PCA looks for the directions of maximum variance about the mean — spread is always measured relative to the data's centroid.</a:t>
            </a:r>
          </a:p>
        </p:txBody>
      </p:sp>
      <p:sp>
        <p:nvSpPr>
          <p:cNvPr id="161" name="X3S2B"/>
          <p:cNvSpPr/>
          <p:nvPr/>
        </p:nvSpPr>
        <p:spPr>
          <a:xfrm>
            <a:off x="762000" y="3327400"/>
            <a:ext cx="10668000" cy="19812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20000" tIns="55000" rIns="120000" bIns="45000" anchor="ctr">
            <a:norm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Without centring</a:t>
            </a:r>
          </a:p>
          <a:p>
            <a:pPr algn="l">
              <a:spcBef>
                <a:spcPts val="300"/>
              </a:spcBef>
            </a:pPr>
            <a:r>
              <a:rPr lang="en-US" sz="1500" b="0">
                <a:solidFill>
                  <a:srgbClr val="333333"/>
                </a:solidFill>
              </a:rPr>
              <a:t>The first component is pulled toward the mean vector (the origin → centroid direction). It then measures squared distance from the origin, not spread — so the decomposition no longer describes variance at all.</a:t>
            </a:r>
          </a:p>
        </p:txBody>
      </p:sp>
      <p:sp>
        <p:nvSpPr>
          <p:cNvPr id="162" name="X3S2C"/>
          <p:cNvSpPr/>
          <p:nvPr/>
        </p:nvSpPr>
        <p:spPr>
          <a:xfrm>
            <a:off x="762000" y="5461000"/>
            <a:ext cx="10668000" cy="9652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20000" tIns="55000" rIns="120000" bIns="45000" anchor="ctr">
            <a:normAutofit/>
          </a:bodyPr>
          <a:lstStyle/>
          <a:p>
            <a:pPr algn="l"/>
            <a:r>
              <a:rPr lang="en-US" sz="1450" b="1">
                <a:solidFill>
                  <a:srgbClr val="85754D"/>
                </a:solidFill>
              </a:rPr>
              <a:t>Takeaway</a:t>
            </a:r>
          </a:p>
          <a:p>
            <a:pPr algn="l">
              <a:spcBef>
                <a:spcPts val="300"/>
              </a:spcBef>
            </a:pPr>
            <a:r>
              <a:rPr lang="en-US" sz="1500" b="1">
                <a:solidFill>
                  <a:srgbClr val="7AB648"/>
                </a:solidFill>
              </a:rPr>
              <a:t>Always subtract each column's mean first:  Xc = X − 1ₙ x̄ᵀ.</a:t>
            </a:r>
          </a:p>
        </p:txBody>
      </p:sp>
    </p:spTree>
    <p:extLst>
      <p:ext uri="{BB962C8B-B14F-4D97-AF65-F5344CB8AC3E}">
        <p14:creationId xmlns:p14="http://schemas.microsoft.com/office/powerpoint/2010/main" val="350058916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6DA188D-AF5E-154B-A83D-8B348F4606C2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C58661-B2B4-4D4B-856E-BCCDC38206CD}"/>
              </a:ext>
            </a:extLst>
          </p:cNvPr>
          <p:cNvSpPr txBox="1"/>
          <p:nvPr/>
        </p:nvSpPr>
        <p:spPr>
          <a:xfrm>
            <a:off x="762000" y="711200"/>
            <a:ext cx="8382000" cy="43088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200" b="1">
                <a:solidFill>
                  <a:srgbClr val="4B2E83"/>
                </a:solidFill>
              </a:rPr>
              <a:t>Exercise 3 — Solution (b): Correlation R vs Covariance 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191FFCE-EEF4-0949-B8A0-0C79FCD31435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Exercise 3 · 3 / 4</a:t>
            </a:r>
          </a:p>
        </p:txBody>
      </p:sp>
      <p:sp>
        <p:nvSpPr>
          <p:cNvPr id="160" name="X3S3A"/>
          <p:cNvSpPr/>
          <p:nvPr/>
        </p:nvSpPr>
        <p:spPr>
          <a:xfrm>
            <a:off x="762000" y="1701800"/>
            <a:ext cx="10668000" cy="1905000"/>
          </a:xfrm>
          <a:prstGeom prst="roundRect">
            <a:avLst>
              <a:gd name="adj" fmla="val 4000"/>
            </a:avLst>
          </a:prstGeom>
          <a:solidFill>
            <a:srgbClr val="F3EFF8"/>
          </a:solidFill>
          <a:ln>
            <a:noFill/>
          </a:ln>
        </p:spPr>
        <p:txBody>
          <a:bodyPr wrap="square" lIns="120000" tIns="55000" rIns="120000" bIns="45000" anchor="ctr">
            <a:norm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Use the correlation matrix R</a:t>
            </a:r>
          </a:p>
          <a:p>
            <a:pPr algn="l">
              <a:spcBef>
                <a:spcPts val="300"/>
              </a:spcBef>
            </a:pPr>
            <a:r>
              <a:rPr lang="en-US" sz="1500" b="0">
                <a:solidFill>
                  <a:srgbClr val="333333"/>
                </a:solidFill>
              </a:rPr>
              <a:t>When variables are on different units or scales. Standardizing makes every variable have variance 1, so a high-variance unit (e.g. income in dollars) can't dominate PC1 just because of its scale.</a:t>
            </a:r>
          </a:p>
        </p:txBody>
      </p:sp>
      <p:sp>
        <p:nvSpPr>
          <p:cNvPr id="161" name="X3S3B"/>
          <p:cNvSpPr/>
          <p:nvPr/>
        </p:nvSpPr>
        <p:spPr>
          <a:xfrm>
            <a:off x="762000" y="3759200"/>
            <a:ext cx="10668000" cy="16256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20000" tIns="55000" rIns="120000" bIns="45000" anchor="ctr">
            <a:norm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Use the covariance matrix S</a:t>
            </a:r>
          </a:p>
          <a:p>
            <a:pPr algn="l">
              <a:spcBef>
                <a:spcPts val="300"/>
              </a:spcBef>
            </a:pPr>
            <a:r>
              <a:rPr lang="en-US" sz="1500" b="0">
                <a:solidFill>
                  <a:srgbClr val="333333"/>
                </a:solidFill>
              </a:rPr>
              <a:t>When all variables share comparable units and their differing variances are meaningful and worth preserving.</a:t>
            </a:r>
          </a:p>
        </p:txBody>
      </p:sp>
      <p:sp>
        <p:nvSpPr>
          <p:cNvPr id="162" name="X3S3C"/>
          <p:cNvSpPr/>
          <p:nvPr/>
        </p:nvSpPr>
        <p:spPr>
          <a:xfrm>
            <a:off x="762000" y="5537200"/>
            <a:ext cx="10668000" cy="9144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20000" tIns="55000" rIns="120000" bIns="45000" anchor="ctr">
            <a:normAutofit/>
          </a:bodyPr>
          <a:lstStyle/>
          <a:p>
            <a:pPr algn="l"/>
            <a:r>
              <a:rPr lang="en-US" sz="1450" b="1">
                <a:solidFill>
                  <a:srgbClr val="85754D"/>
                </a:solidFill>
              </a:rPr>
              <a:t>Rule of thumb</a:t>
            </a:r>
          </a:p>
          <a:p>
            <a:pPr algn="l">
              <a:spcBef>
                <a:spcPts val="300"/>
              </a:spcBef>
            </a:pPr>
            <a:r>
              <a:rPr lang="en-US" sz="1500" b="1">
                <a:solidFill>
                  <a:srgbClr val="7AB648"/>
                </a:solidFill>
              </a:rPr>
              <a:t>Different units → R.    Same units → S.</a:t>
            </a:r>
          </a:p>
        </p:txBody>
      </p:sp>
    </p:spTree>
    <p:extLst>
      <p:ext uri="{BB962C8B-B14F-4D97-AF65-F5344CB8AC3E}">
        <p14:creationId xmlns:p14="http://schemas.microsoft.com/office/powerpoint/2010/main" val="3871286728"/>
      </p:ext>
    </p:extLst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>
                <a:solidFill>
                  <a:srgbClr val="4B2E83"/>
                </a:solidFill>
                <a:latin typeface="Encode Sans"/>
              </a:rPr>
              <a:t>Principal Component</a:t>
            </a:r>
          </a:p>
          <a:p>
            <a:r>
              <a:rPr sz="3600" b="1">
                <a:solidFill>
                  <a:srgbClr val="4B2E83"/>
                </a:solidFill>
                <a:latin typeface="Encode Sans"/>
              </a:rPr>
              <a:t>Analysis (PCA)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85754D"/>
                </a:solidFill>
                <a:latin typeface="Encode Sans"/>
              </a:rPr>
              <a:t>BDATA 412: Advanced Data Visualization</a:t>
            </a:r>
          </a:p>
          <a:p>
            <a:r>
              <a:rPr sz="1800">
                <a:solidFill>
                  <a:srgbClr val="666666"/>
                </a:solidFill>
                <a:latin typeface="Encode Sans"/>
              </a:rPr>
              <a:t>University of Washington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A394970-FCFA-F222-F4ED-8442DB25E364}"/>
              </a:ext>
            </a:extLst>
          </p:cNvPr>
          <p:cNvSpPr/>
          <p:nvPr/>
        </p:nvSpPr>
        <p:spPr>
          <a:xfrm>
            <a:off x="10668000" y="239844"/>
            <a:ext cx="1379096" cy="1349114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rPr lang="en-US" dirty="0"/>
              <a:t>5</a:t>
            </a:r>
            <a:endParaRPr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[1775876968803]">
  <a:themeElements>
    <a:clrScheme name="University of Washington">
      <a:dk1>
        <a:srgbClr val="333333"/>
      </a:dk1>
      <a:lt1>
        <a:srgbClr val="FFFFFF"/>
      </a:lt1>
      <a:dk2>
        <a:srgbClr val="4B2E83"/>
      </a:dk2>
      <a:lt2>
        <a:srgbClr val="F5F0EB"/>
      </a:lt2>
      <a:accent1>
        <a:srgbClr val="4B2E83"/>
      </a:accent1>
      <a:accent2>
        <a:srgbClr val="B7A57A"/>
      </a:accent2>
      <a:accent3>
        <a:srgbClr val="85754D"/>
      </a:accent3>
      <a:accent4>
        <a:srgbClr val="00A7B5"/>
      </a:accent4>
      <a:accent5>
        <a:srgbClr val="7AB648"/>
      </a:accent5>
      <a:accent6>
        <a:srgbClr val="D1578A"/>
      </a:accent6>
      <a:hlink>
        <a:srgbClr val="0563C1"/>
      </a:hlink>
      <a:folHlink>
        <a:srgbClr val="954F72"/>
      </a:folHlink>
    </a:clrScheme>
    <a:fontScheme name="Bellevue College">
      <a:majorFont>
        <a:latin typeface="Arial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c79faba-e8d3-4fb7-9062-0409eb8478fa}">
  <we:reference id="WA200010001" version="1.0.0.0" store="en-US" storeType="OMEX"/>
  <we:alternateReferences/>
  <we:properties>
    <we:property name="Microsoft.Office.CampaignId" value="&quot;none&quot;"/>
    <we:property name="claude.fileId" value="&quot;9777158b-f629-46ff-aa04-06fe8115a595&quot;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3" ma:contentTypeDescription="Create a new document." ma:contentTypeScope="" ma:versionID="d936d863d335d354da51eb78ca1ae338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5fbac08d56b1b04aa33acbc31e882ce9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17AB1FA-2F28-4684-9230-02ACEB6C0B0A}">
  <ds:schemaRefs>
    <ds:schemaRef ds:uri="b1e4d6ee-9f6f-43f8-a618-24f3d84da28f"/>
    <ds:schemaRef ds:uri="http://purl.org/dc/terms/"/>
    <ds:schemaRef ds:uri="http://schemas.openxmlformats.org/package/2006/metadata/core-properties"/>
    <ds:schemaRef ds:uri="f577acbf-5b0b-4b4f-9948-268e97f8d3a4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79EAE08-AAD0-49B9-BF66-164C225CC5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10189</TotalTime>
  <Words>28135</Words>
  <Application>Microsoft Macintosh PowerPoint</Application>
  <PresentationFormat>Widescreen</PresentationFormat>
  <Paragraphs>2699</Paragraphs>
  <Slides>241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241</vt:i4>
      </vt:variant>
    </vt:vector>
  </HeadingPairs>
  <TitlesOfParts>
    <vt:vector size="247" baseType="lpstr">
      <vt:lpstr>Aptos</vt:lpstr>
      <vt:lpstr>Arial</vt:lpstr>
      <vt:lpstr>Calibri</vt:lpstr>
      <vt:lpstr>Cambria Math</vt:lpstr>
      <vt:lpstr>Consolas</vt:lpstr>
      <vt:lpstr>Office Theme [1775876968803]</vt:lpstr>
      <vt:lpstr>Latent Variables &amp; Embeddings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Pedro Albuquerque</cp:lastModifiedBy>
  <cp:revision>151</cp:revision>
  <dcterms:created xsi:type="dcterms:W3CDTF">2018-06-07T21:39:02Z</dcterms:created>
  <dcterms:modified xsi:type="dcterms:W3CDTF">2026-06-21T16:57:13Z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