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5"/>
  </p:notesMasterIdLst>
  <p:sldIdLst>
    <p:sldId id="1040" r:id="rId5"/>
    <p:sldId id="1041" r:id="rId6"/>
    <p:sldId id="1042" r:id="rId7"/>
    <p:sldId id="1043" r:id="rId8"/>
    <p:sldId id="1044" r:id="rId9"/>
    <p:sldId id="1045" r:id="rId10"/>
    <p:sldId id="1046" r:id="rId11"/>
    <p:sldId id="1047" r:id="rId12"/>
    <p:sldId id="1375" r:id="rId13"/>
    <p:sldId id="1049" r:id="rId14"/>
    <p:sldId id="1356" r:id="rId15"/>
    <p:sldId id="1357" r:id="rId16"/>
    <p:sldId id="1358" r:id="rId17"/>
    <p:sldId id="1331" r:id="rId18"/>
    <p:sldId id="1341" r:id="rId19"/>
    <p:sldId id="1333" r:id="rId20"/>
    <p:sldId id="1334" r:id="rId21"/>
    <p:sldId id="1349" r:id="rId22"/>
    <p:sldId id="1335" r:id="rId23"/>
    <p:sldId id="1348" r:id="rId24"/>
    <p:sldId id="1320" r:id="rId25"/>
    <p:sldId id="1321" r:id="rId26"/>
    <p:sldId id="1322" r:id="rId27"/>
    <p:sldId id="1323" r:id="rId28"/>
    <p:sldId id="1324" r:id="rId29"/>
    <p:sldId id="1345" r:id="rId30"/>
    <p:sldId id="1325" r:id="rId31"/>
    <p:sldId id="1347" r:id="rId32"/>
    <p:sldId id="1326" r:id="rId33"/>
    <p:sldId id="1346" r:id="rId34"/>
    <p:sldId id="1327" r:id="rId35"/>
    <p:sldId id="1328" r:id="rId36"/>
    <p:sldId id="1329" r:id="rId37"/>
    <p:sldId id="1330" r:id="rId38"/>
    <p:sldId id="1350" r:id="rId39"/>
    <p:sldId id="1355" r:id="rId40"/>
    <p:sldId id="1351" r:id="rId41"/>
    <p:sldId id="1354" r:id="rId42"/>
    <p:sldId id="1352" r:id="rId43"/>
    <p:sldId id="1353" r:id="rId44"/>
    <p:sldId id="1072" r:id="rId45"/>
    <p:sldId id="1376" r:id="rId46"/>
    <p:sldId id="1074" r:id="rId47"/>
    <p:sldId id="1075" r:id="rId48"/>
    <p:sldId id="1377" r:id="rId49"/>
    <p:sldId id="1379" r:id="rId50"/>
    <p:sldId id="1078" r:id="rId51"/>
    <p:sldId id="1079" r:id="rId52"/>
    <p:sldId id="1080" r:id="rId53"/>
    <p:sldId id="1380" r:id="rId54"/>
    <p:sldId id="1081" r:id="rId55"/>
    <p:sldId id="1082" r:id="rId56"/>
    <p:sldId id="1083" r:id="rId57"/>
    <p:sldId id="1084" r:id="rId58"/>
    <p:sldId id="1085" r:id="rId59"/>
    <p:sldId id="1086" r:id="rId60"/>
    <p:sldId id="1384" r:id="rId61"/>
    <p:sldId id="1088" r:id="rId62"/>
    <p:sldId id="1385" r:id="rId63"/>
    <p:sldId id="1386" r:id="rId64"/>
    <p:sldId id="1387" r:id="rId65"/>
    <p:sldId id="1388" r:id="rId66"/>
    <p:sldId id="1389" r:id="rId67"/>
    <p:sldId id="1390" r:id="rId68"/>
    <p:sldId id="1391" r:id="rId69"/>
    <p:sldId id="1392" r:id="rId70"/>
    <p:sldId id="1393" r:id="rId71"/>
    <p:sldId id="1394" r:id="rId72"/>
    <p:sldId id="1395" r:id="rId73"/>
    <p:sldId id="1396" r:id="rId74"/>
    <p:sldId id="1403" r:id="rId75"/>
    <p:sldId id="1404" r:id="rId76"/>
    <p:sldId id="1405" r:id="rId77"/>
    <p:sldId id="1400" r:id="rId78"/>
    <p:sldId id="1401" r:id="rId79"/>
    <p:sldId id="1406" r:id="rId80"/>
    <p:sldId id="1407" r:id="rId81"/>
    <p:sldId id="1408" r:id="rId82"/>
    <p:sldId id="1452" r:id="rId83"/>
    <p:sldId id="1410" r:id="rId84"/>
    <p:sldId id="1411" r:id="rId85"/>
    <p:sldId id="1412" r:id="rId86"/>
    <p:sldId id="1413" r:id="rId87"/>
    <p:sldId id="1417" r:id="rId88"/>
    <p:sldId id="1453" r:id="rId89"/>
    <p:sldId id="1416" r:id="rId90"/>
    <p:sldId id="1418" r:id="rId91"/>
    <p:sldId id="1419" r:id="rId92"/>
    <p:sldId id="1457" r:id="rId93"/>
    <p:sldId id="1421" r:id="rId94"/>
    <p:sldId id="1458" r:id="rId95"/>
    <p:sldId id="1423" r:id="rId96"/>
    <p:sldId id="1424" r:id="rId97"/>
    <p:sldId id="1460" r:id="rId98"/>
    <p:sldId id="1469" r:id="rId99"/>
    <p:sldId id="1464" r:id="rId100"/>
    <p:sldId id="1466" r:id="rId101"/>
    <p:sldId id="1468" r:id="rId102"/>
    <p:sldId id="1425" r:id="rId103"/>
    <p:sldId id="1426" r:id="rId104"/>
    <p:sldId id="1427" r:id="rId105"/>
    <p:sldId id="1428" r:id="rId106"/>
    <p:sldId id="1429" r:id="rId107"/>
    <p:sldId id="1430" r:id="rId108"/>
    <p:sldId id="1431" r:id="rId109"/>
    <p:sldId id="1432" r:id="rId110"/>
    <p:sldId id="1433" r:id="rId111"/>
    <p:sldId id="1434" r:id="rId112"/>
    <p:sldId id="1435" r:id="rId113"/>
    <p:sldId id="1436" r:id="rId114"/>
    <p:sldId id="1437" r:id="rId115"/>
    <p:sldId id="1438" r:id="rId116"/>
    <p:sldId id="1439" r:id="rId117"/>
    <p:sldId id="1440" r:id="rId118"/>
    <p:sldId id="1441" r:id="rId119"/>
    <p:sldId id="1442" r:id="rId120"/>
    <p:sldId id="1443" r:id="rId121"/>
    <p:sldId id="1444" r:id="rId122"/>
    <p:sldId id="1445" r:id="rId123"/>
    <p:sldId id="1446" r:id="rId124"/>
    <p:sldId id="1447" r:id="rId125"/>
    <p:sldId id="1164" r:id="rId126"/>
    <p:sldId id="1165" r:id="rId127"/>
    <p:sldId id="1472" r:id="rId128"/>
    <p:sldId id="1473" r:id="rId129"/>
    <p:sldId id="1474" r:id="rId130"/>
    <p:sldId id="1475" r:id="rId131"/>
    <p:sldId id="1476" r:id="rId132"/>
    <p:sldId id="1477" r:id="rId133"/>
    <p:sldId id="1478" r:id="rId134"/>
    <p:sldId id="1479" r:id="rId135"/>
    <p:sldId id="1480" r:id="rId136"/>
    <p:sldId id="1481" r:id="rId137"/>
    <p:sldId id="1482" r:id="rId138"/>
    <p:sldId id="1483" r:id="rId139"/>
    <p:sldId id="1484" r:id="rId140"/>
    <p:sldId id="1485" r:id="rId141"/>
    <p:sldId id="1486" r:id="rId142"/>
    <p:sldId id="1181" r:id="rId143"/>
    <p:sldId id="1182" r:id="rId144"/>
    <p:sldId id="1183" r:id="rId145"/>
    <p:sldId id="1184" r:id="rId146"/>
    <p:sldId id="1185" r:id="rId147"/>
    <p:sldId id="1186" r:id="rId148"/>
    <p:sldId id="1187" r:id="rId149"/>
    <p:sldId id="1188" r:id="rId150"/>
    <p:sldId id="1487" r:id="rId151"/>
    <p:sldId id="1488" r:id="rId152"/>
    <p:sldId id="1489" r:id="rId153"/>
    <p:sldId id="1490" r:id="rId154"/>
    <p:sldId id="1491" r:id="rId155"/>
    <p:sldId id="1492" r:id="rId156"/>
    <p:sldId id="1493" r:id="rId157"/>
    <p:sldId id="1494" r:id="rId158"/>
    <p:sldId id="1197" r:id="rId159"/>
    <p:sldId id="1495" r:id="rId160"/>
    <p:sldId id="1496" r:id="rId161"/>
    <p:sldId id="1497" r:id="rId162"/>
    <p:sldId id="1498" r:id="rId163"/>
    <p:sldId id="1499" r:id="rId164"/>
    <p:sldId id="1500" r:id="rId165"/>
    <p:sldId id="1501" r:id="rId166"/>
    <p:sldId id="1205" r:id="rId167"/>
    <p:sldId id="1502" r:id="rId168"/>
    <p:sldId id="1503" r:id="rId169"/>
    <p:sldId id="1504" r:id="rId170"/>
    <p:sldId id="1505" r:id="rId171"/>
    <p:sldId id="1506" r:id="rId172"/>
    <p:sldId id="1211" r:id="rId173"/>
    <p:sldId id="1212" r:id="rId174"/>
    <p:sldId id="1507" r:id="rId175"/>
    <p:sldId id="1508" r:id="rId176"/>
    <p:sldId id="1509" r:id="rId177"/>
    <p:sldId id="1510" r:id="rId178"/>
    <p:sldId id="1511" r:id="rId179"/>
    <p:sldId id="1218" r:id="rId180"/>
    <p:sldId id="1219" r:id="rId181"/>
    <p:sldId id="1512" r:id="rId182"/>
    <p:sldId id="1513" r:id="rId183"/>
    <p:sldId id="1514" r:id="rId184"/>
    <p:sldId id="1515" r:id="rId185"/>
    <p:sldId id="1516" r:id="rId186"/>
    <p:sldId id="1517" r:id="rId187"/>
    <p:sldId id="1226" r:id="rId188"/>
    <p:sldId id="1518" r:id="rId189"/>
    <p:sldId id="1519" r:id="rId190"/>
    <p:sldId id="1520" r:id="rId191"/>
    <p:sldId id="1521" r:id="rId192"/>
    <p:sldId id="1231" r:id="rId193"/>
    <p:sldId id="1525" r:id="rId194"/>
    <p:sldId id="1527" r:id="rId195"/>
    <p:sldId id="1232" r:id="rId196"/>
    <p:sldId id="1233" r:id="rId197"/>
    <p:sldId id="1522" r:id="rId198"/>
    <p:sldId id="1235" r:id="rId199"/>
    <p:sldId id="1523" r:id="rId200"/>
    <p:sldId id="1237" r:id="rId201"/>
    <p:sldId id="1238" r:id="rId202"/>
    <p:sldId id="1239" r:id="rId203"/>
    <p:sldId id="1240" r:id="rId204"/>
    <p:sldId id="1241" r:id="rId205"/>
    <p:sldId id="1242" r:id="rId206"/>
    <p:sldId id="1243" r:id="rId207"/>
    <p:sldId id="1244" r:id="rId208"/>
    <p:sldId id="1245" r:id="rId209"/>
    <p:sldId id="1528" r:id="rId210"/>
    <p:sldId id="1529" r:id="rId211"/>
    <p:sldId id="1530" r:id="rId212"/>
    <p:sldId id="1531" r:id="rId213"/>
    <p:sldId id="1532" r:id="rId214"/>
    <p:sldId id="1251" r:id="rId215"/>
    <p:sldId id="1533" r:id="rId216"/>
    <p:sldId id="1534" r:id="rId217"/>
    <p:sldId id="1535" r:id="rId218"/>
    <p:sldId id="1536" r:id="rId219"/>
    <p:sldId id="1537" r:id="rId220"/>
    <p:sldId id="1257" r:id="rId221"/>
    <p:sldId id="1538" r:id="rId222"/>
    <p:sldId id="1539" r:id="rId223"/>
    <p:sldId id="1540" r:id="rId224"/>
    <p:sldId id="1261" r:id="rId225"/>
    <p:sldId id="1262" r:id="rId226"/>
    <p:sldId id="1541" r:id="rId227"/>
    <p:sldId id="1542" r:id="rId228"/>
    <p:sldId id="1543" r:id="rId229"/>
    <p:sldId id="1544" r:id="rId230"/>
    <p:sldId id="1267" r:id="rId231"/>
    <p:sldId id="1545" r:id="rId232"/>
    <p:sldId id="1546" r:id="rId233"/>
    <p:sldId id="1547" r:id="rId234"/>
    <p:sldId id="1548" r:id="rId235"/>
    <p:sldId id="1272" r:id="rId236"/>
    <p:sldId id="1273" r:id="rId237"/>
    <p:sldId id="1549" r:id="rId238"/>
    <p:sldId id="1275" r:id="rId239"/>
    <p:sldId id="1550" r:id="rId240"/>
    <p:sldId id="1277" r:id="rId241"/>
    <p:sldId id="1278" r:id="rId242"/>
    <p:sldId id="1279" r:id="rId243"/>
    <p:sldId id="1280" r:id="rId2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8"/>
    <p:restoredTop sz="93776"/>
  </p:normalViewPr>
  <p:slideViewPr>
    <p:cSldViewPr snapToGrid="0" snapToObjects="1">
      <p:cViewPr varScale="1">
        <p:scale>
          <a:sx n="88" d="100"/>
          <a:sy n="88" d="100"/>
        </p:scale>
        <p:origin x="184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26" Type="http://schemas.openxmlformats.org/officeDocument/2006/relationships/slide" Target="slides/slide222.xml"/><Relationship Id="rId247" Type="http://schemas.openxmlformats.org/officeDocument/2006/relationships/viewProps" Target="viewProps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16" Type="http://schemas.openxmlformats.org/officeDocument/2006/relationships/slide" Target="slides/slide212.xml"/><Relationship Id="rId237" Type="http://schemas.openxmlformats.org/officeDocument/2006/relationships/slide" Target="slides/slide233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27" Type="http://schemas.openxmlformats.org/officeDocument/2006/relationships/slide" Target="slides/slide223.xml"/><Relationship Id="rId248" Type="http://schemas.openxmlformats.org/officeDocument/2006/relationships/theme" Target="theme/theme1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217" Type="http://schemas.openxmlformats.org/officeDocument/2006/relationships/slide" Target="slides/slide213.xml"/><Relationship Id="rId6" Type="http://schemas.openxmlformats.org/officeDocument/2006/relationships/slide" Target="slides/slide2.xml"/><Relationship Id="rId238" Type="http://schemas.openxmlformats.org/officeDocument/2006/relationships/slide" Target="slides/slide234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28" Type="http://schemas.openxmlformats.org/officeDocument/2006/relationships/slide" Target="slides/slide224.xml"/><Relationship Id="rId249" Type="http://schemas.openxmlformats.org/officeDocument/2006/relationships/tableStyles" Target="tableStyles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slide" Target="slides/slide214.xml"/><Relationship Id="rId239" Type="http://schemas.openxmlformats.org/officeDocument/2006/relationships/slide" Target="slides/slide235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29" Type="http://schemas.openxmlformats.org/officeDocument/2006/relationships/slide" Target="slides/slide225.xml"/><Relationship Id="rId240" Type="http://schemas.openxmlformats.org/officeDocument/2006/relationships/slide" Target="slides/slide236.xml"/><Relationship Id="rId14" Type="http://schemas.openxmlformats.org/officeDocument/2006/relationships/slide" Target="slides/slide10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8" Type="http://schemas.openxmlformats.org/officeDocument/2006/relationships/slide" Target="slides/slide4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219" Type="http://schemas.openxmlformats.org/officeDocument/2006/relationships/slide" Target="slides/slide215.xml"/><Relationship Id="rId230" Type="http://schemas.openxmlformats.org/officeDocument/2006/relationships/slide" Target="slides/slide226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220" Type="http://schemas.openxmlformats.org/officeDocument/2006/relationships/slide" Target="slides/slide216.xml"/><Relationship Id="rId241" Type="http://schemas.openxmlformats.org/officeDocument/2006/relationships/slide" Target="slides/slide23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78" Type="http://schemas.openxmlformats.org/officeDocument/2006/relationships/slide" Target="slides/slide74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64" Type="http://schemas.openxmlformats.org/officeDocument/2006/relationships/slide" Target="slides/slide160.xml"/><Relationship Id="rId185" Type="http://schemas.openxmlformats.org/officeDocument/2006/relationships/slide" Target="slides/slide18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10" Type="http://schemas.openxmlformats.org/officeDocument/2006/relationships/slide" Target="slides/slide20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242" Type="http://schemas.openxmlformats.org/officeDocument/2006/relationships/slide" Target="slides/slide238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245" Type="http://schemas.openxmlformats.org/officeDocument/2006/relationships/notesMaster" Target="notesMasters/notesMaster1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Relationship Id="rId246" Type="http://schemas.openxmlformats.org/officeDocument/2006/relationships/presProps" Target="presProps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148" Type="http://schemas.openxmlformats.org/officeDocument/2006/relationships/slide" Target="slides/slide144.xml"/><Relationship Id="rId169" Type="http://schemas.openxmlformats.org/officeDocument/2006/relationships/slide" Target="slides/slide16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Scree Plot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Eigenvalue</c:v>
          </c:tx>
          <c:spPr>
            <a:ln w="28575">
              <a:solidFill>
                <a:srgbClr val="00A7B5"/>
              </a:solidFill>
            </a:ln>
          </c:spPr>
          <c:marker>
            <c:symbol val="circle"/>
            <c:size val="7"/>
            <c:spPr>
              <a:solidFill>
                <a:srgbClr val="4B2E83"/>
              </a:solidFill>
            </c:spPr>
          </c:marker>
          <c:cat>
            <c:strLit>
              <c:ptCount val="7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  <c:pt idx="6">
                <c:v>PC7</c:v>
              </c:pt>
            </c:strLit>
          </c:cat>
          <c:val>
            <c:numLit>
              <c:formatCode>General</c:formatCode>
              <c:ptCount val="7"/>
              <c:pt idx="0">
                <c:v>3.4</c:v>
              </c:pt>
              <c:pt idx="1">
                <c:v>1.8</c:v>
              </c:pt>
              <c:pt idx="2">
                <c:v>1.1000000000000001</c:v>
              </c:pt>
              <c:pt idx="3">
                <c:v>0.5</c:v>
              </c:pt>
              <c:pt idx="4">
                <c:v>0.35</c:v>
              </c:pt>
              <c:pt idx="5">
                <c:v>0.2</c:v>
              </c:pt>
              <c:pt idx="6">
                <c:v>0.1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B27-BF45-AD60-3DB208CBB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Eigenvalue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Original data in (x₁, x₂) space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Observations</c:v>
          </c:tx>
          <c:spPr>
            <a:ln w="1905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>
                <a:noFill/>
              </a:ln>
            </c:spPr>
          </c:marker>
          <c:xVal>
            <c:numLit>
              <c:formatCode>General</c:formatCode>
              <c:ptCount val="5"/>
              <c:pt idx="0">
                <c:v>3</c:v>
              </c:pt>
              <c:pt idx="1">
                <c:v>4</c:v>
              </c:pt>
              <c:pt idx="2">
                <c:v>5</c:v>
              </c:pt>
              <c:pt idx="3">
                <c:v>6</c:v>
              </c:pt>
              <c:pt idx="4">
                <c:v>7</c:v>
              </c:pt>
            </c:numLit>
          </c:xVal>
          <c:yVal>
            <c:numLit>
              <c:formatCode>General</c:formatCode>
              <c:ptCount val="5"/>
              <c:pt idx="0">
                <c:v>4</c:v>
              </c:pt>
              <c:pt idx="1">
                <c:v>3</c:v>
              </c:pt>
              <c:pt idx="2">
                <c:v>5</c:v>
              </c:pt>
              <c:pt idx="3">
                <c:v>7</c:v>
              </c:pt>
              <c:pt idx="4">
                <c:v>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D67E-E246-BF94-D1E0100B04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scatterChart>
      <c:valAx>
        <c:axId val="111"/>
        <c:scaling>
          <c:orientation val="minMax"/>
          <c:max val="8"/>
          <c:min val="2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x₁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crossBetween val="midCat"/>
      </c:valAx>
      <c:valAx>
        <c:axId val="222"/>
        <c:scaling>
          <c:orientation val="minMax"/>
          <c:max val="8"/>
          <c:min val="2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x₂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midCat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4B2E83"/>
                </a:solidFill>
              </a:defRPr>
            </a:pPr>
            <a:r>
              <a:rPr lang="en-US" sz="1600" b="1">
                <a:solidFill>
                  <a:srgbClr val="4B2E83"/>
                </a:solidFill>
              </a:rPr>
              <a:t>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Variance %</c:v>
          </c:tx>
          <c:invertIfNegative val="1"/>
          <c:dPt>
            <c:idx val="0"/>
            <c:invertIfNegative val="1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1-3F1E-2442-BB10-5E9CBAD7CB3B}"/>
              </c:ext>
            </c:extLst>
          </c:dPt>
          <c:dPt>
            <c:idx val="1"/>
            <c:invertIfNegative val="1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3-3F1E-2442-BB10-5E9CBAD7CB3B}"/>
              </c:ext>
            </c:extLst>
          </c:dPt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PC1</c:v>
              </c:pt>
              <c:pt idx="1">
                <c:v>PC2</c:v>
              </c:pt>
            </c:strLit>
          </c:cat>
          <c:val>
            <c:numLit>
              <c:formatCode>General</c:formatCode>
              <c:ptCount val="2"/>
              <c:pt idx="0">
                <c:v>90</c:v>
              </c:pt>
              <c:pt idx="1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4-3F1E-2442-BB10-5E9CBAD7CB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500" b="1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Cumulative Variance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Cumulative %</c:v>
          </c:tx>
          <c:invertIfNegative val="1"/>
          <c:dPt>
            <c:idx val="0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1-D9B9-C84D-9688-32570F9A4733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D9B9-C84D-9688-32570F9A4733}"/>
              </c:ext>
            </c:extLst>
          </c:dPt>
          <c:dPt>
            <c:idx val="2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5-D9B9-C84D-9688-32570F9A4733}"/>
              </c:ext>
            </c:extLst>
          </c:dPt>
          <c:dPt>
            <c:idx val="3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7-D9B9-C84D-9688-32570F9A4733}"/>
              </c:ext>
            </c:extLst>
          </c:dPt>
          <c:dPt>
            <c:idx val="4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9-D9B9-C84D-9688-32570F9A4733}"/>
              </c:ext>
            </c:extLst>
          </c:dPt>
          <c:dPt>
            <c:idx val="5"/>
            <c:invertIfNegative val="0"/>
            <c:bubble3D val="0"/>
            <c:spPr>
              <a:solidFill>
                <a:srgbClr val="7AB648"/>
              </a:solidFill>
            </c:spPr>
            <c:extLst>
              <c:ext xmlns:c16="http://schemas.microsoft.com/office/drawing/2014/chart" uri="{C3380CC4-5D6E-409C-BE32-E72D297353CC}">
                <c16:uniqueId val="{0000000B-D9B9-C84D-9688-32570F9A473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51.7</c:v>
              </c:pt>
              <c:pt idx="1">
                <c:v>75</c:v>
              </c:pt>
              <c:pt idx="2">
                <c:v>86.7</c:v>
              </c:pt>
              <c:pt idx="3">
                <c:v>93.3</c:v>
              </c:pt>
              <c:pt idx="4">
                <c:v>97.5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C-D9B9-C84D-9688-32570F9A47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0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600" b="1"/>
              <a:t>Scree Plot (eigenvalues)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Eigenvalue</c:v>
          </c:tx>
          <c:spPr>
            <a:ln w="28575">
              <a:solidFill>
                <a:srgbClr val="4B2E83"/>
              </a:solidFill>
            </a:ln>
          </c:spPr>
          <c:marker>
            <c:symbol val="circle"/>
            <c:size val="7"/>
            <c:spPr>
              <a:solidFill>
                <a:srgbClr val="4B2E83"/>
              </a:solidFill>
              <a:ln>
                <a:solidFill>
                  <a:srgbClr val="4B2E83"/>
                </a:solidFill>
              </a:ln>
            </c:spPr>
          </c:marker>
          <c:dLbls>
            <c:numFmt formatCode="0.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/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3.1</c:v>
              </c:pt>
              <c:pt idx="1">
                <c:v>1.4</c:v>
              </c:pt>
              <c:pt idx="2">
                <c:v>0.7</c:v>
              </c:pt>
              <c:pt idx="3">
                <c:v>0.4</c:v>
              </c:pt>
              <c:pt idx="4">
                <c:v>0.25</c:v>
              </c:pt>
              <c:pt idx="5">
                <c:v>0.15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A6D-524B-83A3-4E5B75FA61F5}"/>
            </c:ext>
          </c:extLst>
        </c:ser>
        <c:ser>
          <c:idx val="1"/>
          <c:order val="1"/>
          <c:tx>
            <c:v>λ = 1 (Kaiser)</c:v>
          </c:tx>
          <c:spPr>
            <a:ln w="19050">
              <a:solidFill>
                <a:srgbClr val="B7A57A"/>
              </a:solidFill>
              <a:prstDash val="dash"/>
            </a:ln>
          </c:spPr>
          <c:marker>
            <c:symbol val="none"/>
          </c:marker>
          <c:cat>
            <c:strLit>
              <c:ptCount val="6"/>
              <c:pt idx="0">
                <c:v>PC1</c:v>
              </c:pt>
              <c:pt idx="1">
                <c:v>PC2</c:v>
              </c:pt>
              <c:pt idx="2">
                <c:v>PC3</c:v>
              </c:pt>
              <c:pt idx="3">
                <c:v>PC4</c:v>
              </c:pt>
              <c:pt idx="4">
                <c:v>PC5</c:v>
              </c:pt>
              <c:pt idx="5">
                <c:v>PC6</c:v>
              </c:pt>
            </c:strLit>
          </c:cat>
          <c:val>
            <c:numLit>
              <c:formatCode>General</c:formatCode>
              <c:ptCount val="6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A6D-524B-83A3-4E5B75FA61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3"/>
        <c:axId val="444"/>
      </c:lineChart>
      <c:catAx>
        <c:axId val="3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44"/>
        <c:crosses val="autoZero"/>
        <c:auto val="1"/>
        <c:lblAlgn val="ctr"/>
        <c:lblOffset val="100"/>
        <c:noMultiLvlLbl val="1"/>
      </c:catAx>
      <c:valAx>
        <c:axId val="444"/>
        <c:scaling>
          <c:orientation val="minMax"/>
          <c:max val="3.5"/>
          <c:min val="0"/>
        </c:scaling>
        <c:delete val="0"/>
        <c:axPos val="l"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333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zero"/>
    <c:showDLblsOverMax val="1"/>
  </c:char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4B2E83"/>
                </a:solidFill>
              </a:defRPr>
            </a:pPr>
            <a:r>
              <a:rPr lang="en-US" sz="1400" b="1">
                <a:solidFill>
                  <a:srgbClr val="4B2E83"/>
                </a:solidFill>
              </a:rPr>
              <a:t>χ² distribution (df = 1) — 0.95 percentile = 3.84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"/>
          <c:y val="0.28999999999999998"/>
          <c:w val="0.86"/>
          <c:h val="0.5"/>
        </c:manualLayout>
      </c:layout>
      <c:areaChart>
        <c:grouping val="standard"/>
        <c:varyColors val="0"/>
        <c:ser>
          <c:idx val="0"/>
          <c:order val="0"/>
          <c:tx>
            <c:v>Do not reject H₀</c:v>
          </c:tx>
          <c:spPr>
            <a:solidFill>
              <a:srgbClr val="00A7B5">
                <a:alpha val="30000"/>
              </a:srgbClr>
            </a:solidFill>
            <a:ln w="22225">
              <a:solidFill>
                <a:srgbClr val="00A7B5"/>
              </a:solidFill>
            </a:ln>
          </c:spPr>
          <c:cat>
            <c:strLit>
              <c:ptCount val="17"/>
              <c:pt idx="1">
                <c:v>1</c:v>
              </c:pt>
              <c:pt idx="3">
                <c:v>2</c:v>
              </c:pt>
              <c:pt idx="5">
                <c:v>3</c:v>
              </c:pt>
              <c:pt idx="7">
                <c:v>3.84</c:v>
              </c:pt>
              <c:pt idx="10">
                <c:v>5</c:v>
              </c:pt>
              <c:pt idx="12">
                <c:v>6</c:v>
              </c:pt>
              <c:pt idx="14">
                <c:v>7</c:v>
              </c:pt>
              <c:pt idx="16">
                <c:v>8</c:v>
              </c:pt>
            </c:strLit>
          </c:cat>
          <c:val>
            <c:numLit>
              <c:formatCode>General</c:formatCode>
              <c:ptCount val="17"/>
              <c:pt idx="0">
                <c:v>0.439</c:v>
              </c:pt>
              <c:pt idx="1">
                <c:v>0.24199999999999999</c:v>
              </c:pt>
              <c:pt idx="2">
                <c:v>0.154</c:v>
              </c:pt>
              <c:pt idx="3">
                <c:v>0.104</c:v>
              </c:pt>
              <c:pt idx="4">
                <c:v>7.2300000000000003E-2</c:v>
              </c:pt>
              <c:pt idx="5">
                <c:v>5.1400000000000001E-2</c:v>
              </c:pt>
              <c:pt idx="6">
                <c:v>3.7100000000000001E-2</c:v>
              </c:pt>
              <c:pt idx="7">
                <c:v>2.98E-2</c:v>
              </c:pt>
            </c:numLit>
          </c:val>
          <c:extLst>
            <c:ext xmlns:c16="http://schemas.microsoft.com/office/drawing/2014/chart" uri="{C3380CC4-5D6E-409C-BE32-E72D297353CC}">
              <c16:uniqueId val="{00000000-A932-C644-8FEE-542D3E926CB2}"/>
            </c:ext>
          </c:extLst>
        </c:ser>
        <c:ser>
          <c:idx val="1"/>
          <c:order val="1"/>
          <c:tx>
            <c:v>Rejection region (α = 0.05)</c:v>
          </c:tx>
          <c:spPr>
            <a:solidFill>
              <a:srgbClr val="B7295A"/>
            </a:solidFill>
            <a:ln w="28575">
              <a:solidFill>
                <a:srgbClr val="B7295A"/>
              </a:solidFill>
            </a:ln>
          </c:spPr>
          <c:cat>
            <c:strLit>
              <c:ptCount val="17"/>
              <c:pt idx="1">
                <c:v>1</c:v>
              </c:pt>
              <c:pt idx="3">
                <c:v>2</c:v>
              </c:pt>
              <c:pt idx="5">
                <c:v>3</c:v>
              </c:pt>
              <c:pt idx="7">
                <c:v>3.84</c:v>
              </c:pt>
              <c:pt idx="10">
                <c:v>5</c:v>
              </c:pt>
              <c:pt idx="12">
                <c:v>6</c:v>
              </c:pt>
              <c:pt idx="14">
                <c:v>7</c:v>
              </c:pt>
              <c:pt idx="16">
                <c:v>8</c:v>
              </c:pt>
            </c:strLit>
          </c:cat>
          <c:val>
            <c:numLit>
              <c:formatCode>General</c:formatCode>
              <c:ptCount val="17"/>
              <c:pt idx="7">
                <c:v>2.98E-2</c:v>
              </c:pt>
              <c:pt idx="8">
                <c:v>2.7E-2</c:v>
              </c:pt>
              <c:pt idx="9">
                <c:v>1.9800000000000002E-2</c:v>
              </c:pt>
              <c:pt idx="10">
                <c:v>1.46E-2</c:v>
              </c:pt>
              <c:pt idx="11">
                <c:v>1.09E-2</c:v>
              </c:pt>
              <c:pt idx="12">
                <c:v>8.0999999999999996E-3</c:v>
              </c:pt>
              <c:pt idx="13">
                <c:v>6.1000000000000004E-3</c:v>
              </c:pt>
              <c:pt idx="14">
                <c:v>4.5999999999999999E-3</c:v>
              </c:pt>
              <c:pt idx="15">
                <c:v>3.3999999999999998E-3</c:v>
              </c:pt>
              <c:pt idx="16">
                <c:v>2.5999999999999999E-3</c:v>
              </c:pt>
            </c:numLit>
          </c:val>
          <c:extLst>
            <c:ext xmlns:c16="http://schemas.microsoft.com/office/drawing/2014/chart" uri="{C3380CC4-5D6E-409C-BE32-E72D297353CC}">
              <c16:uniqueId val="{00000001-A932-C644-8FEE-542D3E926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11"/>
        <c:axId val="812"/>
      </c:areaChart>
      <c:catAx>
        <c:axId val="8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333333"/>
                    </a:solidFill>
                  </a:defRPr>
                </a:pPr>
                <a:r>
                  <a:rPr lang="en-US" sz="1400">
                    <a:solidFill>
                      <a:srgbClr val="333333"/>
                    </a:solidFill>
                  </a:rPr>
                  <a:t>χ² value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>
            <a:solidFill>
              <a:srgbClr val="808080"/>
            </a:solidFill>
          </a:ln>
        </c:spPr>
        <c:txPr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endParaRPr lang="en-US"/>
          </a:p>
        </c:txPr>
        <c:crossAx val="812"/>
        <c:crosses val="autoZero"/>
        <c:auto val="1"/>
        <c:lblAlgn val="ctr"/>
        <c:lblOffset val="100"/>
        <c:noMultiLvlLbl val="1"/>
      </c:catAx>
      <c:valAx>
        <c:axId val="812"/>
        <c:scaling>
          <c:orientation val="minMax"/>
          <c:max val="0.45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 w="12700">
            <a:solidFill>
              <a:srgbClr val="808080"/>
            </a:solidFill>
          </a:ln>
        </c:spPr>
        <c:txPr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endParaRPr lang="en-US"/>
          </a:p>
        </c:txPr>
        <c:crossAx val="811"/>
        <c:crosses val="autoZero"/>
        <c:crossBetween val="midCat"/>
        <c:majorUnit val="0.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Inertia by dimension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% of inertia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</c:spPr>
            <c:extLst>
              <c:ext xmlns:c16="http://schemas.microsoft.com/office/drawing/2014/chart" uri="{C3380CC4-5D6E-409C-BE32-E72D297353CC}">
                <c16:uniqueId val="{00000001-4288-F841-B858-8FC4A5C9D25A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4288-F841-B858-8FC4A5C9D25A}"/>
              </c:ext>
            </c:extLst>
          </c:dPt>
          <c:dPt>
            <c:idx val="2"/>
            <c:invertIfNegative val="0"/>
            <c:bubble3D val="0"/>
            <c:spPr>
              <a:solidFill>
                <a:srgbClr val="B7A57A"/>
              </a:solidFill>
            </c:spPr>
            <c:extLst>
              <c:ext xmlns:c16="http://schemas.microsoft.com/office/drawing/2014/chart" uri="{C3380CC4-5D6E-409C-BE32-E72D297353CC}">
                <c16:uniqueId val="{00000005-4288-F841-B858-8FC4A5C9D25A}"/>
              </c:ext>
            </c:extLst>
          </c:dPt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Dim 1</c:v>
              </c:pt>
              <c:pt idx="1">
                <c:v>Dim 2</c:v>
              </c:pt>
              <c:pt idx="2">
                <c:v>Dim 3</c:v>
              </c:pt>
            </c:strLit>
          </c:cat>
          <c:val>
            <c:numLit>
              <c:formatCode>General</c:formatCode>
              <c:ptCount val="3"/>
              <c:pt idx="0">
                <c:v>61</c:v>
              </c:pt>
              <c:pt idx="1">
                <c:v>28</c:v>
              </c:pt>
              <c:pt idx="2">
                <c:v>11</c:v>
              </c:pt>
            </c:numLit>
          </c:val>
          <c:extLst>
            <c:ext xmlns:c16="http://schemas.microsoft.com/office/drawing/2014/chart" uri="{C3380CC4-5D6E-409C-BE32-E72D297353CC}">
              <c16:uniqueId val="{00000006-4288-F841-B858-8FC4A5C9D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7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P+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-0.88800000000000001</c:v>
              </c:pt>
            </c:numLit>
          </c:xVal>
          <c:yVal>
            <c:numLit>
              <c:formatCode>General</c:formatCode>
              <c:ptCount val="1"/>
              <c:pt idx="0">
                <c:v>0.46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27C0-B946-8B29-FE874399CD4C}"/>
            </c:ext>
          </c:extLst>
        </c:ser>
        <c:ser>
          <c:idx val="1"/>
          <c:order val="1"/>
          <c:tx>
            <c:v>P−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0.88800000000000001</c:v>
              </c:pt>
            </c:numLit>
          </c:xVal>
          <c:yVal>
            <c:numLit>
              <c:formatCode>General</c:formatCode>
              <c:ptCount val="1"/>
              <c:pt idx="0">
                <c:v>-0.46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27C0-B946-8B29-FE874399CD4C}"/>
            </c:ext>
          </c:extLst>
        </c:ser>
        <c:ser>
          <c:idx val="2"/>
          <c:order val="2"/>
          <c:tx>
            <c:v>G+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-0.51300000000000001</c:v>
              </c:pt>
            </c:numLit>
          </c:xVal>
          <c:yVal>
            <c:numLit>
              <c:formatCode>General</c:formatCode>
              <c:ptCount val="1"/>
              <c:pt idx="0">
                <c:v>-0.26500000000000001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27C0-B946-8B29-FE874399CD4C}"/>
            </c:ext>
          </c:extLst>
        </c:ser>
        <c:ser>
          <c:idx val="3"/>
          <c:order val="3"/>
          <c:tx>
            <c:v>G−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1.538</c:v>
              </c:pt>
            </c:numLit>
          </c:xVal>
          <c:yVal>
            <c:numLit>
              <c:formatCode>General</c:formatCode>
              <c:ptCount val="1"/>
              <c:pt idx="0">
                <c:v>0.79600000000000004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27C0-B946-8B29-FE874399C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scatterChart>
      <c:valAx>
        <c:axId val="111"/>
        <c:scaling>
          <c:orientation val="minMax"/>
          <c:max val="2.1"/>
          <c:min val="-1.6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1  (79%)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222"/>
        <c:crossesAt val="0"/>
        <c:crossBetween val="midCat"/>
        <c:majorUnit val="1"/>
      </c:valAx>
      <c:valAx>
        <c:axId val="222"/>
        <c:scaling>
          <c:orientation val="minMax"/>
          <c:max val="1.3"/>
          <c:min val="-1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2  (21%)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111"/>
        <c:crossesAt val="0"/>
        <c:crossBetween val="midCat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Car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-1.167</c:v>
              </c:pt>
            </c:numLit>
          </c:xVal>
          <c:yVal>
            <c:numLit>
              <c:formatCode>General</c:formatCode>
              <c:ptCount val="1"/>
              <c:pt idx="0">
                <c:v>0.70699999999999996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7912-F34D-8F98-01D92D31CF1B}"/>
            </c:ext>
          </c:extLst>
        </c:ser>
        <c:ser>
          <c:idx val="1"/>
          <c:order val="1"/>
          <c:tx>
            <c:v>Bike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1.167</c:v>
              </c:pt>
            </c:numLit>
          </c:xVal>
          <c:yVal>
            <c:numLit>
              <c:formatCode>General</c:formatCode>
              <c:ptCount val="1"/>
              <c:pt idx="0">
                <c:v>0.70699999999999996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912-F34D-8F98-01D92D31CF1B}"/>
            </c:ext>
          </c:extLst>
        </c:ser>
        <c:ser>
          <c:idx val="2"/>
          <c:order val="2"/>
          <c:tx>
            <c:v>Train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</c:v>
              </c:pt>
            </c:numLit>
          </c:xVal>
          <c:yVal>
            <c:numLit>
              <c:formatCode>General</c:formatCode>
              <c:ptCount val="1"/>
              <c:pt idx="0">
                <c:v>-1.4139999999999999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7912-F34D-8F98-01D92D31CF1B}"/>
            </c:ext>
          </c:extLst>
        </c:ser>
        <c:ser>
          <c:idx val="3"/>
          <c:order val="3"/>
          <c:tx>
            <c:v>Short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0.95299999999999996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7912-F34D-8F98-01D92D31CF1B}"/>
            </c:ext>
          </c:extLst>
        </c:ser>
        <c:ser>
          <c:idx val="4"/>
          <c:order val="4"/>
          <c:tx>
            <c:v>Long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-0.95299999999999996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4-7912-F34D-8F98-01D92D31CF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"/>
        <c:axId val="322"/>
      </c:scatterChart>
      <c:valAx>
        <c:axId val="311"/>
        <c:scaling>
          <c:orientation val="minMax"/>
          <c:max val="1.7"/>
          <c:min val="-1.7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1  (61%)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322"/>
        <c:crossesAt val="0"/>
        <c:crossBetween val="midCat"/>
        <c:majorUnit val="0.5"/>
      </c:valAx>
      <c:valAx>
        <c:axId val="322"/>
        <c:scaling>
          <c:orientation val="minMax"/>
          <c:max val="1.1000000000000001"/>
          <c:min val="-1.7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2  (33%)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311"/>
        <c:crossesAt val="0"/>
        <c:crossBetween val="midCat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>
                <a:solidFill>
                  <a:srgbClr val="4B2E83"/>
                </a:solidFill>
              </a:defRPr>
            </a:pPr>
            <a:r>
              <a:rPr lang="en-US" sz="1600">
                <a:solidFill>
                  <a:srgbClr val="4B2E83"/>
                </a:solidFill>
              </a:rPr>
              <a:t>Stress vs. number of dimensions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Stress</c:v>
          </c:tx>
          <c:spPr>
            <a:ln w="28575">
              <a:solidFill>
                <a:srgbClr val="D1578A"/>
              </a:solidFill>
            </a:ln>
          </c:spPr>
          <c:marker>
            <c:symbol val="circle"/>
            <c:size val="6"/>
            <c:spPr>
              <a:solidFill>
                <a:srgbClr val="4B2E83"/>
              </a:solidFill>
              <a:ln>
                <a:solidFill>
                  <a:srgbClr val="4B2E83"/>
                </a:solidFill>
              </a:ln>
            </c:spPr>
          </c:marke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strLit>
          </c:cat>
          <c:val>
            <c:numLit>
              <c:formatCode>General</c:formatCode>
              <c:ptCount val="5"/>
              <c:pt idx="0">
                <c:v>0.28000000000000003</c:v>
              </c:pt>
              <c:pt idx="1">
                <c:v>0.09</c:v>
              </c:pt>
              <c:pt idx="2">
                <c:v>0.05</c:v>
              </c:pt>
              <c:pt idx="3">
                <c:v>3.5000000000000003E-2</c:v>
              </c:pt>
              <c:pt idx="4">
                <c:v>2.8000000000000001E-2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8B6-5D44-B2BB-D44C85898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dimensions 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stress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2.121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6F99-8041-B04E-86852E30A5DE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-1.0609999999999999</c:v>
              </c:pt>
            </c:numLit>
          </c:xVal>
          <c:yVal>
            <c:numLit>
              <c:formatCode>General</c:formatCode>
              <c:ptCount val="1"/>
              <c:pt idx="0">
                <c:v>1.837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6F99-8041-B04E-86852E30A5DE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D1578A"/>
              </a:solidFill>
              <a:ln w="9525">
                <a:solidFill>
                  <a:srgbClr val="D1578A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D1578A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-1.0609999999999999</c:v>
              </c:pt>
            </c:numLit>
          </c:xVal>
          <c:yVal>
            <c:numLit>
              <c:formatCode>General</c:formatCode>
              <c:ptCount val="1"/>
              <c:pt idx="0">
                <c:v>-1.837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6F99-8041-B04E-86852E30A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1"/>
        <c:axId val="522"/>
      </c:scatterChart>
      <c:valAx>
        <c:axId val="511"/>
        <c:scaling>
          <c:orientation val="minMax"/>
          <c:max val="2.7"/>
          <c:min val="-2.2000000000000002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Axis 1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522"/>
        <c:crossesAt val="0"/>
        <c:crossBetween val="midCat"/>
        <c:majorUnit val="1"/>
      </c:valAx>
      <c:valAx>
        <c:axId val="522"/>
        <c:scaling>
          <c:orientation val="minMax"/>
          <c:max val="2.2999999999999998"/>
          <c:min val="-2.2999999999999998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Axis 2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511"/>
        <c:crossesAt val="0"/>
        <c:crossBetween val="midCat"/>
        <c:majorUnit val="1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Eigenvalue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891-B044-8148-735A20B5AB31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891-B044-8148-735A20B5AB31}"/>
              </c:ext>
            </c:extLst>
          </c:dPt>
          <c:dPt>
            <c:idx val="2"/>
            <c:invertIfNegative val="0"/>
            <c:bubble3D val="0"/>
            <c:spPr>
              <a:solidFill>
                <a:srgbClr val="7AB6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891-B044-8148-735A20B5AB31}"/>
              </c:ext>
            </c:extLst>
          </c:dPt>
          <c:dPt>
            <c:idx val="3"/>
            <c:invertIfNegative val="0"/>
            <c:bubble3D val="0"/>
            <c:spPr>
              <a:solidFill>
                <a:srgbClr val="D157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891-B044-8148-735A20B5AB31}"/>
              </c:ext>
            </c:extLst>
          </c:dPt>
          <c:dPt>
            <c:idx val="4"/>
            <c:invertIfNegative val="0"/>
            <c:bubble3D val="0"/>
            <c:spPr>
              <a:solidFill>
                <a:srgbClr val="D157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891-B044-8148-735A20B5AB3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λ₁</c:v>
              </c:pt>
              <c:pt idx="1">
                <c:v>λ₂</c:v>
              </c:pt>
              <c:pt idx="2">
                <c:v>λ₃</c:v>
              </c:pt>
              <c:pt idx="3">
                <c:v>λ₄</c:v>
              </c:pt>
              <c:pt idx="4">
                <c:v>λ₅</c:v>
              </c:pt>
            </c:strLit>
          </c:cat>
          <c:val>
            <c:numLit>
              <c:formatCode>General</c:formatCode>
              <c:ptCount val="5"/>
              <c:pt idx="0">
                <c:v>8.1999999999999993</c:v>
              </c:pt>
              <c:pt idx="1">
                <c:v>3.1</c:v>
              </c:pt>
              <c:pt idx="2">
                <c:v>0.4</c:v>
              </c:pt>
              <c:pt idx="3">
                <c:v>-0.05</c:v>
              </c:pt>
              <c:pt idx="4">
                <c:v>-0.65</c:v>
              </c:pt>
            </c:numLit>
          </c:val>
          <c:extLst>
            <c:ext xmlns:c16="http://schemas.microsoft.com/office/drawing/2014/chart" uri="{C3380CC4-5D6E-409C-BE32-E72D297353CC}">
              <c16:uniqueId val="{0000000A-9891-B044-8148-735A20B5A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11"/>
        <c:axId val="722"/>
      </c:barChart>
      <c:catAx>
        <c:axId val="7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1400" b="1">
                <a:solidFill>
                  <a:srgbClr val="333333"/>
                </a:solidFill>
              </a:defRPr>
            </a:pPr>
            <a:endParaRPr lang="en-US"/>
          </a:p>
        </c:txPr>
        <c:crossAx val="722"/>
        <c:crosses val="autoZero"/>
        <c:auto val="1"/>
        <c:lblAlgn val="ctr"/>
        <c:lblOffset val="100"/>
        <c:noMultiLvlLbl val="0"/>
      </c:catAx>
      <c:valAx>
        <c:axId val="722"/>
        <c:scaling>
          <c:orientation val="minMax"/>
          <c:max val="9"/>
          <c:min val="-2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Eigenvalue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</c:spPr>
            <c:extLst>
              <c:ext xmlns:c16="http://schemas.microsoft.com/office/drawing/2014/chart" uri="{C3380CC4-5D6E-409C-BE32-E72D297353CC}">
                <c16:uniqueId val="{00000001-82C9-D24B-AE1B-97EF009A8CF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82C9-D24B-AE1B-97EF009A8CFE}"/>
              </c:ext>
            </c:extLst>
          </c:dPt>
          <c:dPt>
            <c:idx val="2"/>
            <c:invertIfNegative val="0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5-82C9-D24B-AE1B-97EF009A8CFE}"/>
              </c:ext>
            </c:extLst>
          </c:dPt>
          <c:dPt>
            <c:idx val="3"/>
            <c:invertIfNegative val="0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7-82C9-D24B-AE1B-97EF009A8CF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λ₁</c:v>
              </c:pt>
              <c:pt idx="1">
                <c:v>λ₂</c:v>
              </c:pt>
              <c:pt idx="2">
                <c:v>λ₃</c:v>
              </c:pt>
              <c:pt idx="3">
                <c:v>λ₄</c:v>
              </c:pt>
            </c:strLit>
          </c:cat>
          <c:val>
            <c:numLit>
              <c:formatCode>General</c:formatCode>
              <c:ptCount val="4"/>
              <c:pt idx="0">
                <c:v>6</c:v>
              </c:pt>
              <c:pt idx="1">
                <c:v>2.5</c:v>
              </c:pt>
              <c:pt idx="2">
                <c:v>-1.8</c:v>
              </c:pt>
              <c:pt idx="3">
                <c:v>-2</c:v>
              </c:pt>
            </c:numLit>
          </c:val>
          <c:extLst>
            <c:ext xmlns:c16="http://schemas.microsoft.com/office/drawing/2014/chart" uri="{C3380CC4-5D6E-409C-BE32-E72D297353CC}">
              <c16:uniqueId val="{00000008-82C9-D24B-AE1B-97EF009A8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11"/>
        <c:axId val="722"/>
      </c:barChart>
      <c:catAx>
        <c:axId val="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txPr>
          <a:bodyPr/>
          <a:lstStyle/>
          <a:p>
            <a:pPr>
              <a:defRPr sz="1300">
                <a:solidFill>
                  <a:srgbClr val="666666"/>
                </a:solidFill>
              </a:defRPr>
            </a:pPr>
            <a:endParaRPr lang="en-US"/>
          </a:p>
        </c:txPr>
        <c:crossAx val="722"/>
        <c:crosses val="autoZero"/>
        <c:auto val="1"/>
        <c:lblAlgn val="ctr"/>
        <c:lblOffset val="100"/>
        <c:noMultiLvlLbl val="1"/>
      </c:catAx>
      <c:valAx>
        <c:axId val="722"/>
        <c:scaling>
          <c:orientation val="minMax"/>
          <c:max val="6.5"/>
          <c:min val="-2.5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data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xVal>
            <c:numLit>
              <c:formatCode>General</c:formatCode>
              <c:ptCount val="4"/>
              <c:pt idx="0">
                <c:v>2</c:v>
              </c:pt>
              <c:pt idx="1">
                <c:v>-2</c:v>
              </c:pt>
              <c:pt idx="2">
                <c:v>1</c:v>
              </c:pt>
              <c:pt idx="3">
                <c:v>-1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-2</c:v>
              </c:pt>
              <c:pt idx="2">
                <c:v>1</c:v>
              </c:pt>
              <c:pt idx="3">
                <c:v>-1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7A89-A74C-8007-074875166B1E}"/>
            </c:ext>
          </c:extLst>
        </c:ser>
        <c:ser>
          <c:idx val="1"/>
          <c:order val="1"/>
          <c:tx>
            <c:v>y = x</c:v>
          </c:tx>
          <c:spPr>
            <a:ln w="19050">
              <a:solidFill>
                <a:srgbClr val="B7A57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-2.4</c:v>
              </c:pt>
              <c:pt idx="1">
                <c:v>2.4</c:v>
              </c:pt>
            </c:numLit>
          </c:xVal>
          <c:yVal>
            <c:numLit>
              <c:formatCode>General</c:formatCode>
              <c:ptCount val="2"/>
              <c:pt idx="0">
                <c:v>-2.4</c:v>
              </c:pt>
              <c:pt idx="1">
                <c:v>2.4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A89-A74C-8007-074875166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"/>
        <c:axId val="722"/>
      </c:scatterChart>
      <c:valAx>
        <c:axId val="711"/>
        <c:scaling>
          <c:orientation val="minMax"/>
          <c:max val="2.6"/>
          <c:min val="-2.6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x₁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22"/>
        <c:crossesAt val="0"/>
        <c:crossBetween val="midCat"/>
        <c:majorUnit val="1"/>
      </c:valAx>
      <c:valAx>
        <c:axId val="722"/>
        <c:scaling>
          <c:orientation val="minMax"/>
          <c:max val="2.6"/>
          <c:min val="-2.6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x₂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At val="0"/>
        <c:crossBetween val="midCat"/>
        <c:majorUnit val="1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74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56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3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9" r:id="rId2"/>
    <p:sldLayoutId id="2147483740" r:id="rId3"/>
    <p:sldLayoutId id="2147483741" r:id="rId4"/>
    <p:sldLayoutId id="214748374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51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57.png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51.png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7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8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png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0222-4F0D-1416-3BA9-12EB57F2F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4B2E83"/>
                </a:solidFill>
              </a:rPr>
              <a:t>Latent Variables &amp; 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B5F0F-13A1-ED58-2938-2C95882A4A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0" dirty="0">
                <a:solidFill>
                  <a:srgbClr val="85754D"/>
                </a:solidFill>
              </a:rPr>
              <a:t>Turning Anything into Meaningful Vectors</a:t>
            </a:r>
          </a:p>
          <a:p>
            <a:r>
              <a:rPr lang="en-US" sz="1400" b="0" dirty="0">
                <a:solidFill>
                  <a:srgbClr val="00A7B5"/>
                </a:solidFill>
              </a:rPr>
              <a:t>PCA  •  Correspondence Analysis  •  Multidimensional Scaling  •  Autoencoders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608C2C-AE81-F14E-B3CA-0B9321FFD3A6}"/>
              </a:ext>
            </a:extLst>
          </p:cNvPr>
          <p:cNvSpPr/>
          <p:nvPr/>
        </p:nvSpPr>
        <p:spPr>
          <a:xfrm>
            <a:off x="10668000" y="241300"/>
            <a:ext cx="1384300" cy="134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r>
              <a:rPr lang="en-US" sz="6600" b="1" dirty="0"/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398483-F517-354D-A915-CF86CF35ECA4}"/>
              </a:ext>
            </a:extLst>
          </p:cNvPr>
          <p:cNvSpPr/>
          <p:nvPr/>
        </p:nvSpPr>
        <p:spPr>
          <a:xfrm>
            <a:off x="5334000" y="2667000"/>
            <a:ext cx="1524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1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24C6A4-3588-404F-B036-83F107B008A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B79E48-40D4-0247-ADDE-B678E9E350C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Course 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D78A7-EE2D-B347-ACDB-F37917FC1629}"/>
              </a:ext>
            </a:extLst>
          </p:cNvPr>
          <p:cNvSpPr txBox="1"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Four classical-to-modern techniques, one unifying goal: represent complex data as low-dimensional vectors that preserve the structure that matters.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21E54A-B33C-D04E-9579-F1F921F05B58}"/>
              </a:ext>
            </a:extLst>
          </p:cNvPr>
          <p:cNvSpPr/>
          <p:nvPr/>
        </p:nvSpPr>
        <p:spPr>
          <a:xfrm>
            <a:off x="762000" y="24130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C98F7B-0017-E545-9D27-E559D40CDD02}"/>
              </a:ext>
            </a:extLst>
          </p:cNvPr>
          <p:cNvSpPr/>
          <p:nvPr/>
        </p:nvSpPr>
        <p:spPr>
          <a:xfrm>
            <a:off x="990600" y="2641600"/>
            <a:ext cx="609600" cy="609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C867E-A7A4-3440-950B-8361C9897408}"/>
              </a:ext>
            </a:extLst>
          </p:cNvPr>
          <p:cNvSpPr txBox="1"/>
          <p:nvPr/>
        </p:nvSpPr>
        <p:spPr>
          <a:xfrm>
            <a:off x="1778000" y="26670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</a:rPr>
              <a:t>Principal Component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1B958-9420-8045-A4D4-704DDBAE15F9}"/>
              </a:ext>
            </a:extLst>
          </p:cNvPr>
          <p:cNvSpPr txBox="1"/>
          <p:nvPr/>
        </p:nvSpPr>
        <p:spPr>
          <a:xfrm>
            <a:off x="1778000" y="3098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projection maximizing variance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B80E6D0-82DA-6F44-993B-8775384914AD}"/>
              </a:ext>
            </a:extLst>
          </p:cNvPr>
          <p:cNvSpPr/>
          <p:nvPr/>
        </p:nvSpPr>
        <p:spPr>
          <a:xfrm>
            <a:off x="6286500" y="24130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23C5ED-6028-DF41-88CE-E0295A663D65}"/>
              </a:ext>
            </a:extLst>
          </p:cNvPr>
          <p:cNvSpPr/>
          <p:nvPr/>
        </p:nvSpPr>
        <p:spPr>
          <a:xfrm>
            <a:off x="6515100" y="2641600"/>
            <a:ext cx="609600" cy="609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75D36-6796-D142-ADCA-891307543013}"/>
              </a:ext>
            </a:extLst>
          </p:cNvPr>
          <p:cNvSpPr txBox="1"/>
          <p:nvPr/>
        </p:nvSpPr>
        <p:spPr>
          <a:xfrm>
            <a:off x="7302500" y="26670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FEAF8-DE7D-7143-A22B-67E85D7000C9}"/>
              </a:ext>
            </a:extLst>
          </p:cNvPr>
          <p:cNvSpPr txBox="1"/>
          <p:nvPr/>
        </p:nvSpPr>
        <p:spPr>
          <a:xfrm>
            <a:off x="7302500" y="30988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 for categorical / contingency data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592F8B-3710-E248-A07F-878AA26E81CA}"/>
              </a:ext>
            </a:extLst>
          </p:cNvPr>
          <p:cNvSpPr/>
          <p:nvPr/>
        </p:nvSpPr>
        <p:spPr>
          <a:xfrm>
            <a:off x="762000" y="42418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9C585E9-0975-8743-A935-262821D15D61}"/>
              </a:ext>
            </a:extLst>
          </p:cNvPr>
          <p:cNvSpPr/>
          <p:nvPr/>
        </p:nvSpPr>
        <p:spPr>
          <a:xfrm>
            <a:off x="990600" y="4470400"/>
            <a:ext cx="609600" cy="609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9072A-5A48-4248-858B-826C42AFCD92}"/>
              </a:ext>
            </a:extLst>
          </p:cNvPr>
          <p:cNvSpPr txBox="1"/>
          <p:nvPr/>
        </p:nvSpPr>
        <p:spPr>
          <a:xfrm>
            <a:off x="1778000" y="44958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7AB648"/>
                </a:solidFill>
              </a:rPr>
              <a:t>Multidimensional Scaling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65EFC8-76B6-324E-8DB8-2E690702AE3E}"/>
              </a:ext>
            </a:extLst>
          </p:cNvPr>
          <p:cNvSpPr txBox="1"/>
          <p:nvPr/>
        </p:nvSpPr>
        <p:spPr>
          <a:xfrm>
            <a:off x="1778000" y="4927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Embedding from distances alone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2B46010-94EA-4B47-A7EE-BE9C07516A1E}"/>
              </a:ext>
            </a:extLst>
          </p:cNvPr>
          <p:cNvSpPr/>
          <p:nvPr/>
        </p:nvSpPr>
        <p:spPr>
          <a:xfrm>
            <a:off x="6286500" y="4241800"/>
            <a:ext cx="5143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0DDEFE-6B0D-624C-BB4C-616B22AFE255}"/>
              </a:ext>
            </a:extLst>
          </p:cNvPr>
          <p:cNvSpPr/>
          <p:nvPr/>
        </p:nvSpPr>
        <p:spPr>
          <a:xfrm>
            <a:off x="6515100" y="4470400"/>
            <a:ext cx="609600" cy="609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35C720-FACB-2C49-889F-36A67D84FE5C}"/>
              </a:ext>
            </a:extLst>
          </p:cNvPr>
          <p:cNvSpPr txBox="1"/>
          <p:nvPr/>
        </p:nvSpPr>
        <p:spPr>
          <a:xfrm>
            <a:off x="7302500" y="4495800"/>
            <a:ext cx="393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E4A01-323F-E84C-92C7-47BDE33C9FB7}"/>
              </a:ext>
            </a:extLst>
          </p:cNvPr>
          <p:cNvSpPr txBox="1"/>
          <p:nvPr/>
        </p:nvSpPr>
        <p:spPr>
          <a:xfrm>
            <a:off x="7302500" y="4927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Nonlinear neural compression &amp; embeddings</a:t>
            </a:r>
          </a:p>
        </p:txBody>
      </p:sp>
    </p:spTree>
    <p:extLst>
      <p:ext uri="{BB962C8B-B14F-4D97-AF65-F5344CB8AC3E}">
        <p14:creationId xmlns:p14="http://schemas.microsoft.com/office/powerpoint/2010/main" val="43077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42764E-DA90-D546-A99D-842B5985A11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4C42D-4937-2144-971A-36B9B763F84C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Principal Component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429E2-5537-3949-9B79-B3E77E9E9009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Linear projection that maximizes variance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4F9EE6-3F77-2F41-98CA-1253B671BA28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FE548-000C-C64A-A99A-8058595A10D0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F534C-E72F-274A-842C-DA616192EA22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</a:rPr>
              <a:t>Find new axes — the principal components — that point in the directions of greatest variance in the data. </a:t>
            </a:r>
            <a:r>
              <a:rPr lang="en-US" sz="2000" dirty="0">
                <a:solidFill>
                  <a:srgbClr val="333333"/>
                </a:solidFill>
              </a:rPr>
              <a:t>The first captures the most spread; each next captures the most that remains while staying perpendicular to the others. Keeping the top few axes preserves the dominant structure and discards noise.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9A84FE-752D-7F4D-85D3-9538685C35F8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F9AB4-2BA9-F248-95E3-E23AE140E1F2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68613E-7DFB-884A-81DA-65598D5AA2CD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dirty="0">
                <a:solidFill>
                  <a:srgbClr val="333333"/>
                </a:solidFill>
              </a:rPr>
              <a:t>•  Center and standardize the features
•  Compute the covariance matrix, then its eigenvectors (or use SVD)
•  Rank components by explained variance (scree plot)
•  Keep the top-k and project the data onto them
•  Use for: visualization, denoising,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70728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ECA917-B270-9044-B250-B443A75286A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C8D5E-5AFE-1C42-8896-560F377F558C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DF2FB-8F0E-A64B-A159-90C6DEF10A10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PCA's cousin for categorical / contingency 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6A6C7D2-163F-C64A-A26F-4E6D32BDD672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7D696A-9A2D-494D-AA93-46ABFED31725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AEEFAE-7F92-034A-83A6-921E73630380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</a:rPr>
              <a:t>Take a contingency table — counts of how categories co-occur — and measure how far it strays from independence (chi-square distances). </a:t>
            </a:r>
            <a:r>
              <a:rPr lang="en-US" sz="2000" dirty="0">
                <a:solidFill>
                  <a:srgbClr val="333333"/>
                </a:solidFill>
              </a:rPr>
              <a:t>CA places both the rows and the columns in one shared low-dimensional space, so categories that tend to occur together land near each other and associations become visible at a glance.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44039F-AD44-FD44-AA84-12D79052CFCC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1A1C0-2DD6-E24A-ADFF-8DE68FF128BB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C7E3F-4DBF-1641-8DFD-C219A2DA5454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dirty="0">
                <a:solidFill>
                  <a:srgbClr val="333333"/>
                </a:solidFill>
              </a:rPr>
              <a:t>•  Start from a contingency table of category counts
•  Convert counts to row and column profiles (relative frequencies)
•  Decompose the standardized residuals via SVD
•  Plot rows and columns together on the first 2 axes (biplot)
•  Read nearby points as associated; check inertia per axis</a:t>
            </a:r>
          </a:p>
        </p:txBody>
      </p:sp>
    </p:spTree>
    <p:extLst>
      <p:ext uri="{BB962C8B-B14F-4D97-AF65-F5344CB8AC3E}">
        <p14:creationId xmlns:p14="http://schemas.microsoft.com/office/powerpoint/2010/main" val="2387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E926C9-1C49-9B44-8AE0-D60566FA653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7E1C7-DF3F-114A-BEA6-1BBA993E7CF5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7AB648"/>
                </a:solidFill>
              </a:rPr>
              <a:t>Multidimensional Scaling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28BA-83F6-AC49-9554-C422BEA8D017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Build an embedding from distances alone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036F1A-87BB-914B-8B7A-20A282629BCD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0EFA4-B3D8-7E41-9281-48088C5B93A2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22C886-7DD6-0240-A5F6-BEBF3F9E4E09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</a:rPr>
              <a:t>Suppose you only know the pairwise distances between objects, not their coordinates. </a:t>
            </a:r>
            <a:r>
              <a:rPr lang="en-US" sz="2000" dirty="0">
                <a:solidFill>
                  <a:srgbClr val="333333"/>
                </a:solidFill>
              </a:rPr>
              <a:t>MDS searches for positions in a low-dimensional space so that the distances between the placed points match the given dissimilarities as closely as possible — in effect turning a distance matrix back into a map you can plot.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D153F1-1832-384B-A58B-E42DFCEBE7B1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693E8-BB5D-0F44-AA6B-36CC5AA0DD70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6D4A0-35F6-F54D-B513-7E1A4639821B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dirty="0">
                <a:solidFill>
                  <a:srgbClr val="333333"/>
                </a:solidFill>
              </a:rPr>
              <a:t>•  Assemble a pairwise distance / dissimilarity matrix
•  Choose classical (metric) or non-metric MDS
•  Metric: </a:t>
            </a:r>
            <a:r>
              <a:rPr lang="en-US" sz="2000" dirty="0" err="1">
                <a:solidFill>
                  <a:srgbClr val="333333"/>
                </a:solidFill>
              </a:rPr>
              <a:t>eigendecompose</a:t>
            </a:r>
            <a:r>
              <a:rPr lang="en-US" sz="2000" dirty="0">
                <a:solidFill>
                  <a:srgbClr val="333333"/>
                </a:solidFill>
              </a:rPr>
              <a:t> the double-centered matrix
•  Non-metric: preserve rank order, minimize stress
•  Embed in 2–3D; judge fit with stress / Shepard plot</a:t>
            </a:r>
          </a:p>
        </p:txBody>
      </p:sp>
    </p:spTree>
    <p:extLst>
      <p:ext uri="{BB962C8B-B14F-4D97-AF65-F5344CB8AC3E}">
        <p14:creationId xmlns:p14="http://schemas.microsoft.com/office/powerpoint/2010/main" val="216733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31DAB3-5DA8-7440-BB6C-DB5168EE0D8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ABFC0-C1C7-C34F-83CE-8A58E7339760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45F12-B62D-D840-B979-6C61A01AF485}"/>
              </a:ext>
            </a:extLst>
          </p:cNvPr>
          <p:cNvSpPr txBox="1"/>
          <p:nvPr/>
        </p:nvSpPr>
        <p:spPr>
          <a:xfrm>
            <a:off x="762000" y="13716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Nonlinear neural compression &amp; embeddings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C43FCA-AC76-9D4F-AE20-3E903717CD39}"/>
              </a:ext>
            </a:extLst>
          </p:cNvPr>
          <p:cNvSpPr/>
          <p:nvPr/>
        </p:nvSpPr>
        <p:spPr>
          <a:xfrm>
            <a:off x="7620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AFF41-7098-C546-AED0-118A816914FD}"/>
              </a:ext>
            </a:extLst>
          </p:cNvPr>
          <p:cNvSpPr txBox="1"/>
          <p:nvPr/>
        </p:nvSpPr>
        <p:spPr>
          <a:xfrm>
            <a:off x="10414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INTUITION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C2C2B-BF67-E540-A6BA-A21103848DBF}"/>
              </a:ext>
            </a:extLst>
          </p:cNvPr>
          <p:cNvSpPr txBox="1"/>
          <p:nvPr/>
        </p:nvSpPr>
        <p:spPr>
          <a:xfrm>
            <a:off x="10414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just"/>
            <a:r>
              <a:rPr lang="en-US" sz="2000" b="1" dirty="0">
                <a:solidFill>
                  <a:schemeClr val="tx2"/>
                </a:solidFill>
              </a:rPr>
              <a:t>A neural network trained to reproduce its own input through a narrow bottleneck. </a:t>
            </a:r>
            <a:r>
              <a:rPr lang="en-US" sz="2000" dirty="0">
                <a:solidFill>
                  <a:srgbClr val="333333"/>
                </a:solidFill>
              </a:rPr>
              <a:t>The encoder squeezes the input into a small latent code; the decoder rebuilds the input from it. To reconstruct well through so few numbers, the network is forced to learn a compact, nonlinear representation of the structure that matters.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BDED33-C359-8F41-A8E5-6E965CA7A2F0}"/>
              </a:ext>
            </a:extLst>
          </p:cNvPr>
          <p:cNvSpPr/>
          <p:nvPr/>
        </p:nvSpPr>
        <p:spPr>
          <a:xfrm>
            <a:off x="6286500" y="2159000"/>
            <a:ext cx="51435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E5DFD-210C-0E4F-A643-F23164071A36}"/>
              </a:ext>
            </a:extLst>
          </p:cNvPr>
          <p:cNvSpPr txBox="1"/>
          <p:nvPr/>
        </p:nvSpPr>
        <p:spPr>
          <a:xfrm>
            <a:off x="6565900" y="2387600"/>
            <a:ext cx="45847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HOW TO 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7F7551-A4EF-2942-B056-7CCAE799BBCF}"/>
              </a:ext>
            </a:extLst>
          </p:cNvPr>
          <p:cNvSpPr txBox="1"/>
          <p:nvPr/>
        </p:nvSpPr>
        <p:spPr>
          <a:xfrm>
            <a:off x="6565900" y="2895600"/>
            <a:ext cx="4584700" cy="325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dirty="0">
                <a:solidFill>
                  <a:srgbClr val="333333"/>
                </a:solidFill>
              </a:rPr>
              <a:t>•  Define encoder → bottleneck → decoder layers
•  Train to minimize reconstruction loss (e.g. MSE) on unlabeled data
•  Use the bottleneck activations as learned embeddings
•  Variants: denoising, sparse, variational (VAE)
•  Use for nonlinear reduction, anomaly detection, generation</a:t>
            </a:r>
          </a:p>
        </p:txBody>
      </p:sp>
    </p:spTree>
    <p:extLst>
      <p:ext uri="{BB962C8B-B14F-4D97-AF65-F5344CB8AC3E}">
        <p14:creationId xmlns:p14="http://schemas.microsoft.com/office/powerpoint/2010/main" val="140742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5BACBC-E61A-674D-914F-0F92CF6A0BC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7F1E9-C061-7248-9164-0653B413600E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Turning Anything into Meaningful Vectors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B1067-7E10-EB4C-A3D1-0D3B8AF1480F}"/>
              </a:ext>
            </a:extLst>
          </p:cNvPr>
          <p:cNvSpPr txBox="1"/>
          <p:nvPr/>
        </p:nvSpPr>
        <p:spPr>
          <a:xfrm>
            <a:off x="762000" y="1343211"/>
            <a:ext cx="10668000" cy="15696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dirty="0">
                <a:solidFill>
                  <a:srgbClr val="333333"/>
                </a:solidFill>
              </a:rPr>
              <a:t>Text, images, users, products, documents, genes — almost any object can be encoded as a point in a vector space. Once data lives in </a:t>
            </a:r>
            <a:r>
              <a:rPr lang="en-US" sz="2400" dirty="0" err="1">
                <a:solidFill>
                  <a:srgbClr val="333333"/>
                </a:solidFill>
              </a:rPr>
              <a:t>ℝ</a:t>
            </a:r>
            <a:r>
              <a:rPr lang="en-US" sz="2400" dirty="0">
                <a:solidFill>
                  <a:srgbClr val="333333"/>
                </a:solidFill>
              </a:rPr>
              <a:t>ᵈ, geometry does the work: similarity becomes distance, structure becomes shape, and learning becomes optimization.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13C16C9-2861-D249-8CE5-6D2F459C5E67}"/>
              </a:ext>
            </a:extLst>
          </p:cNvPr>
          <p:cNvSpPr/>
          <p:nvPr/>
        </p:nvSpPr>
        <p:spPr>
          <a:xfrm>
            <a:off x="762000" y="368141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4E312-BFF9-424F-9427-C9257AE09F72}"/>
              </a:ext>
            </a:extLst>
          </p:cNvPr>
          <p:cNvSpPr txBox="1"/>
          <p:nvPr/>
        </p:nvSpPr>
        <p:spPr>
          <a:xfrm>
            <a:off x="914400" y="385921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B7A57A"/>
                </a:solidFill>
              </a:rPr>
              <a:t>Raw object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2F0A2-FD04-0947-9622-3D94C6DF381E}"/>
              </a:ext>
            </a:extLst>
          </p:cNvPr>
          <p:cNvSpPr txBox="1"/>
          <p:nvPr/>
        </p:nvSpPr>
        <p:spPr>
          <a:xfrm>
            <a:off x="914400" y="439261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Text, image, table row, graph node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27C021AE-4C8C-354E-AF9E-3C2770DE47FA}"/>
              </a:ext>
            </a:extLst>
          </p:cNvPr>
          <p:cNvSpPr/>
          <p:nvPr/>
        </p:nvSpPr>
        <p:spPr>
          <a:xfrm>
            <a:off x="3162300" y="426561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82B449-AD2E-4547-9795-A0490EDBD8E9}"/>
              </a:ext>
            </a:extLst>
          </p:cNvPr>
          <p:cNvSpPr/>
          <p:nvPr/>
        </p:nvSpPr>
        <p:spPr>
          <a:xfrm>
            <a:off x="3492500" y="368141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08A6D-01BD-514B-A663-9986DA974428}"/>
              </a:ext>
            </a:extLst>
          </p:cNvPr>
          <p:cNvSpPr txBox="1"/>
          <p:nvPr/>
        </p:nvSpPr>
        <p:spPr>
          <a:xfrm>
            <a:off x="3644900" y="385921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Encoding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FAE2E-8896-664D-8CA5-5239DBCD5857}"/>
              </a:ext>
            </a:extLst>
          </p:cNvPr>
          <p:cNvSpPr txBox="1"/>
          <p:nvPr/>
        </p:nvSpPr>
        <p:spPr>
          <a:xfrm>
            <a:off x="3644900" y="439261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Counts, pixels, features, similarities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A9589025-0BE7-C64F-B7B5-B123197E7797}"/>
              </a:ext>
            </a:extLst>
          </p:cNvPr>
          <p:cNvSpPr/>
          <p:nvPr/>
        </p:nvSpPr>
        <p:spPr>
          <a:xfrm>
            <a:off x="5892800" y="426561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16F0B96-F601-B049-A774-D11FF404A35A}"/>
              </a:ext>
            </a:extLst>
          </p:cNvPr>
          <p:cNvSpPr/>
          <p:nvPr/>
        </p:nvSpPr>
        <p:spPr>
          <a:xfrm>
            <a:off x="6223000" y="368141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7089F6-2886-BF49-905B-68E08265B830}"/>
              </a:ext>
            </a:extLst>
          </p:cNvPr>
          <p:cNvSpPr txBox="1"/>
          <p:nvPr/>
        </p:nvSpPr>
        <p:spPr>
          <a:xfrm>
            <a:off x="6375400" y="385921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Vector x ∈ ℝᵈ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1BCCF-9EBC-224F-944C-FF5946780789}"/>
              </a:ext>
            </a:extLst>
          </p:cNvPr>
          <p:cNvSpPr txBox="1"/>
          <p:nvPr/>
        </p:nvSpPr>
        <p:spPr>
          <a:xfrm>
            <a:off x="6375400" y="439261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Coordinates in a space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9CA9E0FD-A070-EB43-BA1A-525A49742EFA}"/>
              </a:ext>
            </a:extLst>
          </p:cNvPr>
          <p:cNvSpPr/>
          <p:nvPr/>
        </p:nvSpPr>
        <p:spPr>
          <a:xfrm>
            <a:off x="8623300" y="4265610"/>
            <a:ext cx="406400" cy="355600"/>
          </a:xfrm>
          <a:prstGeom prst="rightArrow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049FAE-68E8-9447-9D63-DB98855076E9}"/>
              </a:ext>
            </a:extLst>
          </p:cNvPr>
          <p:cNvSpPr/>
          <p:nvPr/>
        </p:nvSpPr>
        <p:spPr>
          <a:xfrm>
            <a:off x="8953500" y="3681410"/>
            <a:ext cx="24765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FE3AB4-28BF-264B-BB17-19F2807C41CC}"/>
              </a:ext>
            </a:extLst>
          </p:cNvPr>
          <p:cNvSpPr txBox="1"/>
          <p:nvPr/>
        </p:nvSpPr>
        <p:spPr>
          <a:xfrm>
            <a:off x="9105900" y="3859210"/>
            <a:ext cx="21717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Embedding z ∈ ℝᵏ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DA344A-C33D-2E44-A7DC-44E6DB16D7B1}"/>
              </a:ext>
            </a:extLst>
          </p:cNvPr>
          <p:cNvSpPr txBox="1"/>
          <p:nvPr/>
        </p:nvSpPr>
        <p:spPr>
          <a:xfrm>
            <a:off x="9105900" y="4392610"/>
            <a:ext cx="21717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Compressed, meaningful (k ≪ d)</a:t>
            </a:r>
          </a:p>
        </p:txBody>
      </p:sp>
    </p:spTree>
    <p:extLst>
      <p:ext uri="{BB962C8B-B14F-4D97-AF65-F5344CB8AC3E}">
        <p14:creationId xmlns:p14="http://schemas.microsoft.com/office/powerpoint/2010/main" val="348744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762721-32D7-9D40-902E-046733CDDF3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ECAB5-7E2C-0D42-86E6-E4C299571388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Why This Toolkit Enables Advanced Visualization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90183A-4A0F-9945-AC00-994C2FEFB71D}"/>
              </a:ext>
            </a:extLst>
          </p:cNvPr>
          <p:cNvSpPr txBox="1"/>
          <p:nvPr/>
        </p:nvSpPr>
        <p:spPr>
          <a:xfrm>
            <a:off x="762000" y="13462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Once objects become vectors, dimensionality reduction and clustering reveal structure that is invisible in raw high-dimensional data.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2FC4E3-E91D-7640-A72D-0DE4176D4AA3}"/>
              </a:ext>
            </a:extLst>
          </p:cNvPr>
          <p:cNvSpPr/>
          <p:nvPr/>
        </p:nvSpPr>
        <p:spPr>
          <a:xfrm>
            <a:off x="762000" y="2133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AC1B7B-B22C-2348-B84F-B92A2E949A8C}"/>
              </a:ext>
            </a:extLst>
          </p:cNvPr>
          <p:cNvSpPr/>
          <p:nvPr/>
        </p:nvSpPr>
        <p:spPr>
          <a:xfrm>
            <a:off x="990600" y="2362200"/>
            <a:ext cx="609600" cy="609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6A0A7-71AF-9848-BD70-DA690046CE3B}"/>
              </a:ext>
            </a:extLst>
          </p:cNvPr>
          <p:cNvSpPr txBox="1"/>
          <p:nvPr/>
        </p:nvSpPr>
        <p:spPr>
          <a:xfrm>
            <a:off x="1803400" y="2387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4B2E83"/>
                </a:solidFill>
              </a:rPr>
              <a:t>Data Reduction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28D9D-4920-2E4E-931D-7EBF01CF7726}"/>
              </a:ext>
            </a:extLst>
          </p:cNvPr>
          <p:cNvSpPr txBox="1"/>
          <p:nvPr/>
        </p:nvSpPr>
        <p:spPr>
          <a:xfrm>
            <a:off x="1803400" y="2844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PCA, CA and MDS collapse dozens or thousands of dimensions into 2–3, so an entire dataset fits on one screen while keeping its dominant structure.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89922A-2F5D-7F4F-AD67-CCB8B4D04543}"/>
              </a:ext>
            </a:extLst>
          </p:cNvPr>
          <p:cNvSpPr/>
          <p:nvPr/>
        </p:nvSpPr>
        <p:spPr>
          <a:xfrm>
            <a:off x="6286500" y="2133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90AE96-2A0E-FB46-9D12-834723B83F6B}"/>
              </a:ext>
            </a:extLst>
          </p:cNvPr>
          <p:cNvSpPr/>
          <p:nvPr/>
        </p:nvSpPr>
        <p:spPr>
          <a:xfrm>
            <a:off x="6515100" y="2362200"/>
            <a:ext cx="609600" cy="609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5B78C-B2E7-BB42-AA62-D676AE8A5215}"/>
              </a:ext>
            </a:extLst>
          </p:cNvPr>
          <p:cNvSpPr txBox="1"/>
          <p:nvPr/>
        </p:nvSpPr>
        <p:spPr>
          <a:xfrm>
            <a:off x="7327900" y="2387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D1578A"/>
                </a:solidFill>
              </a:rPr>
              <a:t>Nonlinearity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1340E7-500E-AA4A-9834-96BABFA9243D}"/>
              </a:ext>
            </a:extLst>
          </p:cNvPr>
          <p:cNvSpPr txBox="1"/>
          <p:nvPr/>
        </p:nvSpPr>
        <p:spPr>
          <a:xfrm>
            <a:off x="7327900" y="2844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Autoencoders and distance-based methods unfold curved manifolds that flat linear projections distort — exposing structure PCA alone would miss.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F458D8-664F-494F-A246-3A62DD456DFE}"/>
              </a:ext>
            </a:extLst>
          </p:cNvPr>
          <p:cNvSpPr/>
          <p:nvPr/>
        </p:nvSpPr>
        <p:spPr>
          <a:xfrm>
            <a:off x="762000" y="4038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3DB850-F78D-4140-BA17-87BB04E76056}"/>
              </a:ext>
            </a:extLst>
          </p:cNvPr>
          <p:cNvSpPr/>
          <p:nvPr/>
        </p:nvSpPr>
        <p:spPr>
          <a:xfrm>
            <a:off x="990600" y="4267200"/>
            <a:ext cx="609600" cy="609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BEE31-8CA4-364E-B803-79D4C72C6D13}"/>
              </a:ext>
            </a:extLst>
          </p:cNvPr>
          <p:cNvSpPr txBox="1"/>
          <p:nvPr/>
        </p:nvSpPr>
        <p:spPr>
          <a:xfrm>
            <a:off x="1803400" y="4292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7AB648"/>
                </a:solidFill>
              </a:rPr>
              <a:t>Clustering = Segments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95E62-7F2D-9A41-AE36-BAFB5C6E53B8}"/>
              </a:ext>
            </a:extLst>
          </p:cNvPr>
          <p:cNvSpPr txBox="1"/>
          <p:nvPr/>
        </p:nvSpPr>
        <p:spPr>
          <a:xfrm>
            <a:off x="1803400" y="4749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Cluster in the reduced space, then color the embedding by cluster: geometry becomes named groups you can interpret, compare and label.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3D8E8DF-74C2-7043-80A0-752D041F9D9C}"/>
              </a:ext>
            </a:extLst>
          </p:cNvPr>
          <p:cNvSpPr/>
          <p:nvPr/>
        </p:nvSpPr>
        <p:spPr>
          <a:xfrm>
            <a:off x="6286500" y="4038600"/>
            <a:ext cx="5143500" cy="18034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23F9BD-1604-3149-9D7C-4FD0886D145E}"/>
              </a:ext>
            </a:extLst>
          </p:cNvPr>
          <p:cNvSpPr/>
          <p:nvPr/>
        </p:nvSpPr>
        <p:spPr>
          <a:xfrm>
            <a:off x="6515100" y="4267200"/>
            <a:ext cx="609600" cy="6096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83222B-A57B-114C-8444-93048F4C354E}"/>
              </a:ext>
            </a:extLst>
          </p:cNvPr>
          <p:cNvSpPr txBox="1"/>
          <p:nvPr/>
        </p:nvSpPr>
        <p:spPr>
          <a:xfrm>
            <a:off x="7327900" y="4292600"/>
            <a:ext cx="3873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0A7B5"/>
                </a:solidFill>
              </a:rPr>
              <a:t>Patterns &amp; Outliers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B30C1-5CFB-E248-AF3F-BEF0EC01C750}"/>
              </a:ext>
            </a:extLst>
          </p:cNvPr>
          <p:cNvSpPr txBox="1"/>
          <p:nvPr/>
        </p:nvSpPr>
        <p:spPr>
          <a:xfrm>
            <a:off x="7327900" y="4749800"/>
            <a:ext cx="3873500" cy="990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 the embedding, similarity becomes proximity — neighborhoods, gradients and anomalies become visible to the eye, guiding analysis and QA.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FBDEBA-044C-854D-96F6-11E3EF53E5C8}"/>
              </a:ext>
            </a:extLst>
          </p:cNvPr>
          <p:cNvSpPr txBox="1"/>
          <p:nvPr/>
        </p:nvSpPr>
        <p:spPr>
          <a:xfrm>
            <a:off x="762000" y="6070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Reduce → embed → cluster → visualize: the pipeline behind modern exploratory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98499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3239B7-CED6-5E44-85EF-BA007DFA8BF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E9EC8-1DCD-B345-9FAB-B37FEFAEA70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The Common Thread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2471B-B07C-BA43-B8F3-646A0F0EA1EA}"/>
              </a:ext>
            </a:extLst>
          </p:cNvPr>
          <p:cNvSpPr txBox="1"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All four methods solve one problem: find a low-dimensional representation Z ∈ ℝⁿˣᵏ of data X ∈ ℝⁿˣᵖ that preserves a chosen notion of structure.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FC93E1-0340-0F40-844D-500685443B14}"/>
              </a:ext>
            </a:extLst>
          </p:cNvPr>
          <p:cNvSpPr/>
          <p:nvPr/>
        </p:nvSpPr>
        <p:spPr>
          <a:xfrm>
            <a:off x="762000" y="2349500"/>
            <a:ext cx="2286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4E4AAE-ABDE-D147-86DD-C4FDE447AC8F}"/>
              </a:ext>
            </a:extLst>
          </p:cNvPr>
          <p:cNvSpPr/>
          <p:nvPr/>
        </p:nvSpPr>
        <p:spPr>
          <a:xfrm>
            <a:off x="3048000" y="2349500"/>
            <a:ext cx="2667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Preserves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2E281-B6D7-8F47-A415-E0EB0A398C59}"/>
              </a:ext>
            </a:extLst>
          </p:cNvPr>
          <p:cNvSpPr/>
          <p:nvPr/>
        </p:nvSpPr>
        <p:spPr>
          <a:xfrm>
            <a:off x="5715000" y="2349500"/>
            <a:ext cx="1397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DDAD5-0F32-C94B-98AF-36DEFC7D799A}"/>
              </a:ext>
            </a:extLst>
          </p:cNvPr>
          <p:cNvSpPr/>
          <p:nvPr/>
        </p:nvSpPr>
        <p:spPr>
          <a:xfrm>
            <a:off x="7112000" y="2349500"/>
            <a:ext cx="4064000" cy="7366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Core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3C9753-6D67-8D4B-82B3-5C7197BBFA1E}"/>
              </a:ext>
            </a:extLst>
          </p:cNvPr>
          <p:cNvSpPr/>
          <p:nvPr/>
        </p:nvSpPr>
        <p:spPr>
          <a:xfrm>
            <a:off x="762000" y="3086100"/>
            <a:ext cx="2286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F43784-90ED-874A-AE44-644558579853}"/>
              </a:ext>
            </a:extLst>
          </p:cNvPr>
          <p:cNvSpPr/>
          <p:nvPr/>
        </p:nvSpPr>
        <p:spPr>
          <a:xfrm>
            <a:off x="3048000" y="3086100"/>
            <a:ext cx="266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Variance / covariance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448EA0-34DC-1F40-85DC-E157969B8FB6}"/>
              </a:ext>
            </a:extLst>
          </p:cNvPr>
          <p:cNvSpPr/>
          <p:nvPr/>
        </p:nvSpPr>
        <p:spPr>
          <a:xfrm>
            <a:off x="5715000" y="3086100"/>
            <a:ext cx="139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4B6CF1-8873-8B41-9A1B-2752C8AB90E9}"/>
                  </a:ext>
                </a:extLst>
              </p:cNvPr>
              <p:cNvSpPr/>
              <p:nvPr/>
            </p:nvSpPr>
            <p:spPr>
              <a:xfrm>
                <a:off x="7112000" y="3086100"/>
                <a:ext cx="4064000" cy="736600"/>
              </a:xfrm>
              <a:prstGeom prst="rect">
                <a:avLst/>
              </a:prstGeom>
              <a:solidFill>
                <a:srgbClr val="F5F0EB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Eigen-decomposition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64B6CF1-8873-8B41-9A1B-2752C8AB9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3086100"/>
                <a:ext cx="4064000" cy="736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248EBAB1-CE37-8244-9D07-2F0531FC57B8}"/>
              </a:ext>
            </a:extLst>
          </p:cNvPr>
          <p:cNvSpPr/>
          <p:nvPr/>
        </p:nvSpPr>
        <p:spPr>
          <a:xfrm>
            <a:off x="762000" y="3822700"/>
            <a:ext cx="2286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Correspondence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94C524-CD2A-BE4D-8108-C2750C911ADA}"/>
              </a:ext>
            </a:extLst>
          </p:cNvPr>
          <p:cNvSpPr/>
          <p:nvPr/>
        </p:nvSpPr>
        <p:spPr>
          <a:xfrm>
            <a:off x="3048000" y="3822700"/>
            <a:ext cx="266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l-GR" sz="1400">
                <a:solidFill>
                  <a:srgbClr val="333333"/>
                </a:solidFill>
              </a:rPr>
              <a:t>χ² </a:t>
            </a:r>
            <a:r>
              <a:rPr lang="en-US" sz="1400">
                <a:solidFill>
                  <a:srgbClr val="333333"/>
                </a:solidFill>
              </a:rPr>
              <a:t>association in tables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181817-C286-F84F-A085-7EF8EB45FAD1}"/>
              </a:ext>
            </a:extLst>
          </p:cNvPr>
          <p:cNvSpPr/>
          <p:nvPr/>
        </p:nvSpPr>
        <p:spPr>
          <a:xfrm>
            <a:off x="5715000" y="3822700"/>
            <a:ext cx="139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D307FD-D83B-9849-977B-57DD565E967E}"/>
              </a:ext>
            </a:extLst>
          </p:cNvPr>
          <p:cNvSpPr/>
          <p:nvPr/>
        </p:nvSpPr>
        <p:spPr>
          <a:xfrm>
            <a:off x="7112000" y="3822700"/>
            <a:ext cx="4064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dirty="0">
                <a:solidFill>
                  <a:srgbClr val="333333"/>
                </a:solidFill>
              </a:rPr>
              <a:t>SVD of standardized residuals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119A3-4E7E-494E-A808-39DC8C667FB3}"/>
              </a:ext>
            </a:extLst>
          </p:cNvPr>
          <p:cNvSpPr/>
          <p:nvPr/>
        </p:nvSpPr>
        <p:spPr>
          <a:xfrm>
            <a:off x="762000" y="4559300"/>
            <a:ext cx="2286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7AB648"/>
                </a:solidFill>
              </a:rPr>
              <a:t>MDS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612B1-485C-7742-85D3-EE7238111E7D}"/>
              </a:ext>
            </a:extLst>
          </p:cNvPr>
          <p:cNvSpPr/>
          <p:nvPr/>
        </p:nvSpPr>
        <p:spPr>
          <a:xfrm>
            <a:off x="3048000" y="4559300"/>
            <a:ext cx="266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Pairwise distances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D7B0D-B378-D049-B09D-692913322F97}"/>
              </a:ext>
            </a:extLst>
          </p:cNvPr>
          <p:cNvSpPr/>
          <p:nvPr/>
        </p:nvSpPr>
        <p:spPr>
          <a:xfrm>
            <a:off x="5715000" y="4559300"/>
            <a:ext cx="1397000" cy="7366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Linear (classical)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E81E63B-C6E8-C740-B1B5-1BF1405618FE}"/>
                  </a:ext>
                </a:extLst>
              </p:cNvPr>
              <p:cNvSpPr/>
              <p:nvPr/>
            </p:nvSpPr>
            <p:spPr>
              <a:xfrm>
                <a:off x="7112000" y="4559300"/>
                <a:ext cx="4064000" cy="736600"/>
              </a:xfrm>
              <a:prstGeom prst="rect">
                <a:avLst/>
              </a:prstGeom>
              <a:solidFill>
                <a:srgbClr val="F5F0EB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Eigen-decomp of </a:t>
                </a:r>
                <a14:m>
                  <m:oMath xmlns:m="http://schemas.openxmlformats.org/officeDocument/2006/math"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sSup>
                      <m:sSupPr>
                        <m:ctrlP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𝑱</m:t>
                    </m:r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E81E63B-C6E8-C740-B1B5-1BF1405618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4559300"/>
                <a:ext cx="4064000" cy="736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66D0E73-7822-EF45-9D18-631C1037BD8F}"/>
              </a:ext>
            </a:extLst>
          </p:cNvPr>
          <p:cNvSpPr/>
          <p:nvPr/>
        </p:nvSpPr>
        <p:spPr>
          <a:xfrm>
            <a:off x="762000" y="5295900"/>
            <a:ext cx="2286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Autoencoders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BA3C87-D919-A342-89F1-48C7780CDF27}"/>
              </a:ext>
            </a:extLst>
          </p:cNvPr>
          <p:cNvSpPr/>
          <p:nvPr/>
        </p:nvSpPr>
        <p:spPr>
          <a:xfrm>
            <a:off x="3048000" y="5295900"/>
            <a:ext cx="266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Reconstruction error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56B541-F4D3-FC42-9BFD-79442792A801}"/>
              </a:ext>
            </a:extLst>
          </p:cNvPr>
          <p:cNvSpPr/>
          <p:nvPr/>
        </p:nvSpPr>
        <p:spPr>
          <a:xfrm>
            <a:off x="5715000" y="5295900"/>
            <a:ext cx="1397000" cy="736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Nonlinear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037D85-61EC-824C-AA08-13DCC3E7F237}"/>
                  </a:ext>
                </a:extLst>
              </p:cNvPr>
              <p:cNvSpPr/>
              <p:nvPr/>
            </p:nvSpPr>
            <p:spPr>
              <a:xfrm>
                <a:off x="7112000" y="5295900"/>
                <a:ext cx="4064000" cy="73660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wrap="square" rtlCol="0" anchor="ctr" anchorCtr="0"/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Gradient descent on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en-US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𝑒𝑛𝑐𝑜𝑑𝑒</m:t>
                        </m:r>
                      </m:sub>
                    </m:sSub>
                    <m:r>
                      <a:rPr lang="en-US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ar-AE" i="1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ar-AE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𝑑𝑒𝑐𝑜𝑑𝑒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ar-AE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‖</m:t>
                        </m:r>
                      </m:e>
                      <m:sup>
                        <m:r>
                          <a:rPr lang="ar-AE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1400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D037D85-61EC-824C-AA08-13DCC3E7F2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5295900"/>
                <a:ext cx="4064000" cy="736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rgbClr val="D8D2C4"/>
                </a:solidFill>
                <a:prstDash val="solid"/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60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1772A6-9B62-4B4E-9149-A1C7304703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C3066-1022-114C-8AD8-3E58AEDD4EFC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A841D-2ED6-AA4E-A2DF-6D8FD96BA000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95A651-66C4-3B47-8132-53E359C6A753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D93D73-202A-D14B-A935-8924F99DDD13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Principal Component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BEEE0-F213-E24C-A078-3069ED6B44E6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Linear projection that maximizes retained variance</a:t>
            </a:r>
          </a:p>
        </p:txBody>
      </p:sp>
    </p:spTree>
    <p:extLst>
      <p:ext uri="{BB962C8B-B14F-4D97-AF65-F5344CB8AC3E}">
        <p14:creationId xmlns:p14="http://schemas.microsoft.com/office/powerpoint/2010/main" val="308350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63748-25C3-034F-9A90-0AD5FCAD1AB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8ABFF-8B81-D44C-B36C-E2BFDA2A6DC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B8435-9F3D-FD43-BC19-0D33DD8DFED5}"/>
              </a:ext>
            </a:extLst>
          </p:cNvPr>
          <p:cNvSpPr txBox="1"/>
          <p:nvPr/>
        </p:nvSpPr>
        <p:spPr>
          <a:xfrm>
            <a:off x="762000" y="1498600"/>
            <a:ext cx="10668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PCA finds a new orthogonal coordinate system for the data in which the first axis captures the most variance, the second captures the most of what remains, and so 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344C1-2071-A640-AE9F-E96580404E1A}"/>
              </a:ext>
            </a:extLst>
          </p:cNvPr>
          <p:cNvSpPr txBox="1"/>
          <p:nvPr/>
        </p:nvSpPr>
        <p:spPr>
          <a:xfrm>
            <a:off x="762000" y="2349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Three equivalent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E9C47-B8BE-2948-B6E9-C81C62789895}"/>
              </a:ext>
            </a:extLst>
          </p:cNvPr>
          <p:cNvSpPr txBox="1"/>
          <p:nvPr/>
        </p:nvSpPr>
        <p:spPr>
          <a:xfrm>
            <a:off x="762000" y="2730500"/>
            <a:ext cx="5334000" cy="330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• Variance view: directions of maximum spread in the cloud of points.
• Reconstruction view: the k-dim subspace minimizing squared projection error (best-fitting hyperplane).
• Decorrelation view: a rotation that makes the new coordinates mutually uncorrelated.
All three give the same answer: the eigenvectors of the covariance matrix, ordered by eigenvalue.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F629E-9B80-F14F-9A88-28899F10184E}"/>
              </a:ext>
            </a:extLst>
          </p:cNvPr>
          <p:cNvSpPr txBox="1"/>
          <p:nvPr/>
        </p:nvSpPr>
        <p:spPr>
          <a:xfrm>
            <a:off x="6477000" y="2349500"/>
            <a:ext cx="4953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Why we do it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4298E52-7E0B-C243-B563-21A62722677E}"/>
              </a:ext>
            </a:extLst>
          </p:cNvPr>
          <p:cNvSpPr/>
          <p:nvPr/>
        </p:nvSpPr>
        <p:spPr>
          <a:xfrm>
            <a:off x="6477000" y="27305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E0C3C-CE50-C542-803A-BB3F81ACEE22}"/>
              </a:ext>
            </a:extLst>
          </p:cNvPr>
          <p:cNvSpPr txBox="1"/>
          <p:nvPr/>
        </p:nvSpPr>
        <p:spPr>
          <a:xfrm>
            <a:off x="6654800" y="28321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Compression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6E4530-9A6B-1244-AF61-EB9EE13773B2}"/>
                  </a:ext>
                </a:extLst>
              </p:cNvPr>
              <p:cNvSpPr txBox="1"/>
              <p:nvPr/>
            </p:nvSpPr>
            <p:spPr>
              <a:xfrm>
                <a:off x="6654800" y="3111500"/>
                <a:ext cx="45720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  <m:r>
                      <a:rPr>
                        <a:latin typeface="Cambria Math" panose="02040503050406030204" pitchFamily="18" charset="0"/>
                      </a:rPr>
                      <m:t>≪</m:t>
                    </m:r>
                    <m:r>
                      <a:rPr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coordinates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6E4530-9A6B-1244-AF61-EB9EE1377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4800" y="3111500"/>
                <a:ext cx="4572000" cy="362984"/>
              </a:xfrm>
              <a:prstGeom prst="rect">
                <a:avLst/>
              </a:prstGeom>
              <a:blipFill>
                <a:blip r:embed="rId2"/>
                <a:stretch>
                  <a:fillRect l="-27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C4F586-D309-BA4A-A13D-895338AA973A}"/>
              </a:ext>
            </a:extLst>
          </p:cNvPr>
          <p:cNvSpPr/>
          <p:nvPr/>
        </p:nvSpPr>
        <p:spPr>
          <a:xfrm>
            <a:off x="6477000" y="35433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2D6C61-05EF-784A-A4D3-A306A780B7B8}"/>
              </a:ext>
            </a:extLst>
          </p:cNvPr>
          <p:cNvSpPr txBox="1"/>
          <p:nvPr/>
        </p:nvSpPr>
        <p:spPr>
          <a:xfrm>
            <a:off x="6654800" y="36449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De-noising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190D-921F-B54A-A253-5D9B42A9571C}"/>
              </a:ext>
            </a:extLst>
          </p:cNvPr>
          <p:cNvSpPr txBox="1"/>
          <p:nvPr/>
        </p:nvSpPr>
        <p:spPr>
          <a:xfrm>
            <a:off x="6654800" y="3924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Drop low-variance directions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5D86596-616E-B54F-9BB1-E129BBA30665}"/>
              </a:ext>
            </a:extLst>
          </p:cNvPr>
          <p:cNvSpPr/>
          <p:nvPr/>
        </p:nvSpPr>
        <p:spPr>
          <a:xfrm>
            <a:off x="6477000" y="43561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207473-3FE7-4B49-98D3-39F3468588FA}"/>
              </a:ext>
            </a:extLst>
          </p:cNvPr>
          <p:cNvSpPr txBox="1"/>
          <p:nvPr/>
        </p:nvSpPr>
        <p:spPr>
          <a:xfrm>
            <a:off x="6654800" y="44577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50A1B2-AB6A-5840-A9C1-204404354AF2}"/>
              </a:ext>
            </a:extLst>
          </p:cNvPr>
          <p:cNvSpPr txBox="1"/>
          <p:nvPr/>
        </p:nvSpPr>
        <p:spPr>
          <a:xfrm>
            <a:off x="6654800" y="4737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Plot on PC1–PC2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346281-A9D7-BF41-A0DD-72432AA991B7}"/>
              </a:ext>
            </a:extLst>
          </p:cNvPr>
          <p:cNvSpPr/>
          <p:nvPr/>
        </p:nvSpPr>
        <p:spPr>
          <a:xfrm>
            <a:off x="6477000" y="5168900"/>
            <a:ext cx="4953000" cy="698500"/>
          </a:xfrm>
          <a:prstGeom prst="roundRect">
            <a:avLst/>
          </a:prstGeom>
          <a:solidFill>
            <a:srgbClr val="F5F0EB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402DB-756D-6947-AB8A-4C062DE48D1A}"/>
              </a:ext>
            </a:extLst>
          </p:cNvPr>
          <p:cNvSpPr txBox="1"/>
          <p:nvPr/>
        </p:nvSpPr>
        <p:spPr>
          <a:xfrm>
            <a:off x="6654800" y="52705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Decorrelation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F006B-AA29-6A46-8221-B9CD398FB8A9}"/>
              </a:ext>
            </a:extLst>
          </p:cNvPr>
          <p:cNvSpPr txBox="1"/>
          <p:nvPr/>
        </p:nvSpPr>
        <p:spPr>
          <a:xfrm>
            <a:off x="6654800" y="5549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Inputs for downstream models</a:t>
            </a:r>
          </a:p>
        </p:txBody>
      </p:sp>
    </p:spTree>
    <p:extLst>
      <p:ext uri="{BB962C8B-B14F-4D97-AF65-F5344CB8AC3E}">
        <p14:creationId xmlns:p14="http://schemas.microsoft.com/office/powerpoint/2010/main" val="330939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09C94-9370-3840-922C-0EEE98D9D34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964A9-69FE-654B-AA6B-9FE0CF4E7FFF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Eigenvectors &amp; Eigenvalues — The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8A2AA-0612-9947-AD63-79B7C883FF8A}"/>
              </a:ext>
            </a:extLst>
          </p:cNvPr>
          <p:cNvSpPr txBox="1"/>
          <p:nvPr/>
        </p:nvSpPr>
        <p:spPr>
          <a:xfrm>
            <a:off x="762000" y="1320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Applying a matrix usually rotates a vector. A few special vectors keep their direction — they only get scaled. Those are the eigenvectors.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59D55E-A6B7-D448-A9BB-B47BE34F5BB5}"/>
              </a:ext>
            </a:extLst>
          </p:cNvPr>
          <p:cNvSpPr/>
          <p:nvPr/>
        </p:nvSpPr>
        <p:spPr>
          <a:xfrm>
            <a:off x="762000" y="2133600"/>
            <a:ext cx="4826000" cy="10668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9CDC-9532-3B46-8CBC-9772E52027B6}"/>
                  </a:ext>
                </a:extLst>
              </p:cNvPr>
              <p:cNvSpPr txBox="1"/>
              <p:nvPr/>
            </p:nvSpPr>
            <p:spPr>
              <a:xfrm>
                <a:off x="914400" y="2311400"/>
                <a:ext cx="45212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40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4000" b="0" i="0">
                          <a:solidFill>
                            <a:srgbClr val="4B2E8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40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AB9CDC-9532-3B46-8CBC-9772E520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11400"/>
                <a:ext cx="4521200" cy="711200"/>
              </a:xfrm>
              <a:prstGeom prst="rect">
                <a:avLst/>
              </a:prstGeom>
              <a:blipFill>
                <a:blip r:embed="rId2"/>
                <a:stretch>
                  <a:fillRect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8DBF158-F668-6D42-800C-09FC44E46466}"/>
              </a:ext>
            </a:extLst>
          </p:cNvPr>
          <p:cNvSpPr txBox="1"/>
          <p:nvPr/>
        </p:nvSpPr>
        <p:spPr>
          <a:xfrm>
            <a:off x="762000" y="3429000"/>
            <a:ext cx="4826000" cy="2540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•  v  — the eigenvector: its direction is preserved
•  </a:t>
            </a:r>
            <a:r>
              <a:rPr lang="el-GR" sz="1600">
                <a:solidFill>
                  <a:srgbClr val="333333"/>
                </a:solidFill>
              </a:rPr>
              <a:t>λ  — </a:t>
            </a:r>
            <a:r>
              <a:rPr lang="en-US" sz="1600">
                <a:solidFill>
                  <a:srgbClr val="333333"/>
                </a:solidFill>
              </a:rPr>
              <a:t>the eigenvalue: the factor v is stretched by
•  Most vectors change direction; eigenvectors do not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16F7A3-1462-7A46-A126-CBCA68CB8304}"/>
              </a:ext>
            </a:extLst>
          </p:cNvPr>
          <p:cNvSpPr/>
          <p:nvPr/>
        </p:nvSpPr>
        <p:spPr>
          <a:xfrm>
            <a:off x="5969000" y="5067300"/>
            <a:ext cx="4191000" cy="254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611FB-6F97-5943-B38E-30DFB315B103}"/>
              </a:ext>
            </a:extLst>
          </p:cNvPr>
          <p:cNvSpPr/>
          <p:nvPr/>
        </p:nvSpPr>
        <p:spPr>
          <a:xfrm>
            <a:off x="8115300" y="2159000"/>
            <a:ext cx="25400" cy="3175000"/>
          </a:xfrm>
          <a:prstGeom prst="rect">
            <a:avLst/>
          </a:prstGeom>
          <a:solidFill>
            <a:srgbClr val="DDDDD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0D0CBA3-503A-AC49-9547-90F67BB5BF12}"/>
              </a:ext>
            </a:extLst>
          </p:cNvPr>
          <p:cNvSpPr/>
          <p:nvPr/>
        </p:nvSpPr>
        <p:spPr>
          <a:xfrm rot="-2400000">
            <a:off x="7875444" y="4284510"/>
            <a:ext cx="2159000" cy="2032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AF80B4F-5BB6-0A49-965A-EBF523D2B6FC}"/>
              </a:ext>
            </a:extLst>
          </p:cNvPr>
          <p:cNvSpPr/>
          <p:nvPr/>
        </p:nvSpPr>
        <p:spPr>
          <a:xfrm rot="-2400000">
            <a:off x="7994294" y="4623746"/>
            <a:ext cx="1143000" cy="177800"/>
          </a:xfrm>
          <a:prstGeom prst="rightArrow">
            <a:avLst/>
          </a:prstGeom>
          <a:solidFill>
            <a:srgbClr val="7A5B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EF97B3C-46FD-CC45-B341-B2B136B3ADB5}"/>
              </a:ext>
            </a:extLst>
          </p:cNvPr>
          <p:cNvSpPr/>
          <p:nvPr/>
        </p:nvSpPr>
        <p:spPr>
          <a:xfrm rot="-900000">
            <a:off x="8102035" y="4800229"/>
            <a:ext cx="1524000" cy="165100"/>
          </a:xfrm>
          <a:prstGeom prst="rightArrow">
            <a:avLst/>
          </a:prstGeom>
          <a:solidFill>
            <a:srgbClr val="9A9A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F714F47-C8BD-3040-BA69-55D061C0A688}"/>
              </a:ext>
            </a:extLst>
          </p:cNvPr>
          <p:cNvSpPr/>
          <p:nvPr/>
        </p:nvSpPr>
        <p:spPr>
          <a:xfrm rot="-4200000">
            <a:off x="7626619" y="4281404"/>
            <a:ext cx="1524000" cy="165100"/>
          </a:xfrm>
          <a:prstGeom prst="rightArrow">
            <a:avLst/>
          </a:prstGeom>
          <a:solidFill>
            <a:srgbClr val="C8C8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8D0C5D-3BAD-1844-99F2-6007295E8136}"/>
                  </a:ext>
                </a:extLst>
              </p:cNvPr>
              <p:cNvSpPr txBox="1"/>
              <p:nvPr/>
            </p:nvSpPr>
            <p:spPr>
              <a:xfrm>
                <a:off x="9779000" y="31750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1" i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38D0C5D-3BAD-1844-99F2-6007295E8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000" y="3175000"/>
                <a:ext cx="1143000" cy="304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879A6F-60F6-2043-9C6E-ECE398EA8398}"/>
                  </a:ext>
                </a:extLst>
              </p:cNvPr>
              <p:cNvSpPr txBox="1"/>
              <p:nvPr/>
            </p:nvSpPr>
            <p:spPr>
              <a:xfrm>
                <a:off x="8890000" y="40894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1" i="1">
                          <a:solidFill>
                            <a:srgbClr val="7A5BB0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879A6F-60F6-2043-9C6E-ECE398EA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000" y="4089400"/>
                <a:ext cx="1143000" cy="304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25D35B-278B-F74F-99C3-4343970CE4BC}"/>
                  </a:ext>
                </a:extLst>
              </p:cNvPr>
              <p:cNvSpPr txBox="1"/>
              <p:nvPr/>
            </p:nvSpPr>
            <p:spPr>
              <a:xfrm>
                <a:off x="9626600" y="45212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1" i="1">
                          <a:solidFill>
                            <a:srgbClr val="9A9A9A"/>
                          </a:solidFill>
                          <a:latin typeface="Cambria Math"/>
                        </a:rPr>
                        <m:t>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25D35B-278B-F74F-99C3-4343970CE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600" y="4521200"/>
                <a:ext cx="1143000" cy="304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1D7091-0789-A84D-8184-4C8AFBE8EEE8}"/>
                  </a:ext>
                </a:extLst>
              </p:cNvPr>
              <p:cNvSpPr txBox="1"/>
              <p:nvPr/>
            </p:nvSpPr>
            <p:spPr>
              <a:xfrm>
                <a:off x="8432800" y="3454400"/>
                <a:ext cx="1143000" cy="304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1" i="1">
                          <a:solidFill>
                            <a:srgbClr val="A0A0A0"/>
                          </a:solidFill>
                          <a:latin typeface="Cambria Math"/>
                        </a:rPr>
                        <m:t>𝐴𝑤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11D7091-0789-A84D-8184-4C8AFBE8E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800" y="3454400"/>
                <a:ext cx="1143000" cy="30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FF87C52-9B5A-524E-B3E2-99EB1B27E7BF}"/>
              </a:ext>
            </a:extLst>
          </p:cNvPr>
          <p:cNvSpPr txBox="1"/>
          <p:nvPr/>
        </p:nvSpPr>
        <p:spPr>
          <a:xfrm>
            <a:off x="7061200" y="5207000"/>
            <a:ext cx="3098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i="1">
                <a:solidFill>
                  <a:srgbClr val="4B2E83"/>
                </a:solidFill>
              </a:rPr>
              <a:t>same line → eigenvector</a:t>
            </a:r>
          </a:p>
        </p:txBody>
      </p:sp>
    </p:spTree>
    <p:extLst>
      <p:ext uri="{BB962C8B-B14F-4D97-AF65-F5344CB8AC3E}">
        <p14:creationId xmlns:p14="http://schemas.microsoft.com/office/powerpoint/2010/main" val="168206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93DB08-C37B-2B4E-95E7-3A29E2FF719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4C6D1-3CD2-8743-9335-9E744E1CAF31}"/>
              </a:ext>
            </a:extLst>
          </p:cNvPr>
          <p:cNvSpPr txBox="1"/>
          <p:nvPr/>
        </p:nvSpPr>
        <p:spPr>
          <a:xfrm>
            <a:off x="762000" y="6858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What the Eigenvalue Tells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BC209-3EC0-EB4B-B465-A1E09584B349}"/>
              </a:ext>
            </a:extLst>
          </p:cNvPr>
          <p:cNvSpPr txBox="1"/>
          <p:nvPr/>
        </p:nvSpPr>
        <p:spPr>
          <a:xfrm>
            <a:off x="762000" y="13208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is the signed scale factor along an eigenvector — it stretches, shrinks, flips, or leaves the vector unchanged. (Grey = original v, purple = Av.)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C7D790-FE9A-584A-8A98-A789D3371DFD}"/>
              </a:ext>
            </a:extLst>
          </p:cNvPr>
          <p:cNvSpPr/>
          <p:nvPr/>
        </p:nvSpPr>
        <p:spPr>
          <a:xfrm>
            <a:off x="7620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33E03F-E8B3-D540-A78A-EA498E384BF8}"/>
                  </a:ext>
                </a:extLst>
              </p:cNvPr>
              <p:cNvSpPr txBox="1"/>
              <p:nvPr/>
            </p:nvSpPr>
            <p:spPr>
              <a:xfrm>
                <a:off x="9144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1" i="0">
                          <a:solidFill>
                            <a:srgbClr val="4B2E83"/>
                          </a:solidFill>
                          <a:latin typeface="Cambria Math"/>
                        </a:rPr>
                        <m:t> &gt;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33E03F-E8B3-D540-A78A-EA498E384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311400"/>
                <a:ext cx="2247900" cy="381000"/>
              </a:xfrm>
              <a:prstGeom prst="rect">
                <a:avLst/>
              </a:prstGeom>
              <a:blipFill>
                <a:blip r:embed="rId2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54B8F7F-6EB4-194C-9D49-271E61D510E8}"/>
              </a:ext>
            </a:extLst>
          </p:cNvPr>
          <p:cNvSpPr txBox="1"/>
          <p:nvPr/>
        </p:nvSpPr>
        <p:spPr>
          <a:xfrm>
            <a:off x="9144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Stretch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B218B3-C612-0C43-896D-7377D07667D7}"/>
              </a:ext>
            </a:extLst>
          </p:cNvPr>
          <p:cNvSpPr/>
          <p:nvPr/>
        </p:nvSpPr>
        <p:spPr>
          <a:xfrm>
            <a:off x="16065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229CA3C-F99C-6644-9BA0-84204CE589EC}"/>
              </a:ext>
            </a:extLst>
          </p:cNvPr>
          <p:cNvSpPr/>
          <p:nvPr/>
        </p:nvSpPr>
        <p:spPr>
          <a:xfrm rot="-2280000">
            <a:off x="1592735" y="4536746"/>
            <a:ext cx="6096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582BFF3C-0C94-5D47-8418-C432A3824713}"/>
              </a:ext>
            </a:extLst>
          </p:cNvPr>
          <p:cNvSpPr/>
          <p:nvPr/>
        </p:nvSpPr>
        <p:spPr>
          <a:xfrm rot="-2280000">
            <a:off x="1517352" y="4317817"/>
            <a:ext cx="1320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417215-CBC9-234F-B63D-B1B340B597D7}"/>
              </a:ext>
            </a:extLst>
          </p:cNvPr>
          <p:cNvSpPr/>
          <p:nvPr/>
        </p:nvSpPr>
        <p:spPr>
          <a:xfrm>
            <a:off x="34671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F3E4D-4339-3E47-B3AA-493C0DBAF99F}"/>
                  </a:ext>
                </a:extLst>
              </p:cNvPr>
              <p:cNvSpPr txBox="1"/>
              <p:nvPr/>
            </p:nvSpPr>
            <p:spPr>
              <a:xfrm>
                <a:off x="36195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0">
                          <a:solidFill>
                            <a:srgbClr val="4B2E83"/>
                          </a:solidFill>
                          <a:latin typeface="Cambria Math"/>
                        </a:rPr>
                        <m:t>0 &lt; </m:t>
                      </m:r>
                      <m:r>
                        <a:rPr lang="en-US" sz="2000" b="1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1" i="0">
                          <a:solidFill>
                            <a:srgbClr val="4B2E83"/>
                          </a:solidFill>
                          <a:latin typeface="Cambria Math"/>
                        </a:rPr>
                        <m:t> &lt;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F3E4D-4339-3E47-B3AA-493C0DBAF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2311400"/>
                <a:ext cx="2247900" cy="381000"/>
              </a:xfrm>
              <a:prstGeom prst="rect">
                <a:avLst/>
              </a:prstGeom>
              <a:blipFill>
                <a:blip r:embed="rId3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7CD0FC3-20F0-F544-A03D-9610F5071B63}"/>
              </a:ext>
            </a:extLst>
          </p:cNvPr>
          <p:cNvSpPr txBox="1"/>
          <p:nvPr/>
        </p:nvSpPr>
        <p:spPr>
          <a:xfrm>
            <a:off x="36195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Shrink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643C9A-9CE4-EF48-A88D-302D86C3A6AC}"/>
              </a:ext>
            </a:extLst>
          </p:cNvPr>
          <p:cNvSpPr/>
          <p:nvPr/>
        </p:nvSpPr>
        <p:spPr>
          <a:xfrm>
            <a:off x="43116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95AC1FFB-670B-AB44-9E54-FF92917ACE63}"/>
              </a:ext>
            </a:extLst>
          </p:cNvPr>
          <p:cNvSpPr/>
          <p:nvPr/>
        </p:nvSpPr>
        <p:spPr>
          <a:xfrm rot="-2280000">
            <a:off x="4222452" y="4317817"/>
            <a:ext cx="1320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3215EC0B-6A41-504C-B243-05FDC1474AF6}"/>
              </a:ext>
            </a:extLst>
          </p:cNvPr>
          <p:cNvSpPr/>
          <p:nvPr/>
        </p:nvSpPr>
        <p:spPr>
          <a:xfrm rot="-2280000">
            <a:off x="4292451" y="4521108"/>
            <a:ext cx="6604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2BF3304-7B23-C548-AB06-764BD1E76FFA}"/>
              </a:ext>
            </a:extLst>
          </p:cNvPr>
          <p:cNvSpPr/>
          <p:nvPr/>
        </p:nvSpPr>
        <p:spPr>
          <a:xfrm>
            <a:off x="61722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C4077-4F0F-9E42-8E9B-786C8012F660}"/>
                  </a:ext>
                </a:extLst>
              </p:cNvPr>
              <p:cNvSpPr txBox="1"/>
              <p:nvPr/>
            </p:nvSpPr>
            <p:spPr>
              <a:xfrm>
                <a:off x="63246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1" i="0">
                          <a:solidFill>
                            <a:srgbClr val="4B2E83"/>
                          </a:solidFill>
                          <a:latin typeface="Cambria Math"/>
                        </a:rPr>
                        <m:t> &lt;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4C4077-4F0F-9E42-8E9B-786C8012F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311400"/>
                <a:ext cx="2247900" cy="381000"/>
              </a:xfrm>
              <a:prstGeom prst="rect">
                <a:avLst/>
              </a:prstGeom>
              <a:blipFill>
                <a:blip r:embed="rId4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193FAC1-FE41-FB41-B599-84B9A1A480A8}"/>
              </a:ext>
            </a:extLst>
          </p:cNvPr>
          <p:cNvSpPr txBox="1"/>
          <p:nvPr/>
        </p:nvSpPr>
        <p:spPr>
          <a:xfrm>
            <a:off x="63246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Flip &amp; scale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8F611A-E4E8-3544-8855-8D8CE43644C1}"/>
              </a:ext>
            </a:extLst>
          </p:cNvPr>
          <p:cNvSpPr/>
          <p:nvPr/>
        </p:nvSpPr>
        <p:spPr>
          <a:xfrm>
            <a:off x="70167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20EFF390-885D-9144-8ACA-6D0B42606D2D}"/>
              </a:ext>
            </a:extLst>
          </p:cNvPr>
          <p:cNvSpPr/>
          <p:nvPr/>
        </p:nvSpPr>
        <p:spPr>
          <a:xfrm rot="-2280000">
            <a:off x="6954474" y="4396006"/>
            <a:ext cx="1066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4DE0626-74FF-4147-A873-95188BDDC303}"/>
              </a:ext>
            </a:extLst>
          </p:cNvPr>
          <p:cNvSpPr/>
          <p:nvPr/>
        </p:nvSpPr>
        <p:spPr>
          <a:xfrm rot="-13080000">
            <a:off x="6113825" y="5052793"/>
            <a:ext cx="1066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FA61725-7CC9-2249-9615-A03FEE7BE310}"/>
              </a:ext>
            </a:extLst>
          </p:cNvPr>
          <p:cNvSpPr/>
          <p:nvPr/>
        </p:nvSpPr>
        <p:spPr>
          <a:xfrm>
            <a:off x="8877300" y="2133600"/>
            <a:ext cx="2552700" cy="36576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5EB11E-F00E-7643-BAF5-FD201BD79CB0}"/>
                  </a:ext>
                </a:extLst>
              </p:cNvPr>
              <p:cNvSpPr txBox="1"/>
              <p:nvPr/>
            </p:nvSpPr>
            <p:spPr>
              <a:xfrm>
                <a:off x="9029700" y="2311400"/>
                <a:ext cx="22479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1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1" i="0">
                          <a:solidFill>
                            <a:srgbClr val="4B2E83"/>
                          </a:solidFill>
                          <a:latin typeface="Cambria Math"/>
                        </a:rPr>
                        <m:t> =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35EB11E-F00E-7643-BAF5-FD201BD79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0" y="2311400"/>
                <a:ext cx="2247900" cy="381000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D66C8F4-F16E-D349-BB72-F88B0F2604CB}"/>
              </a:ext>
            </a:extLst>
          </p:cNvPr>
          <p:cNvSpPr txBox="1"/>
          <p:nvPr/>
        </p:nvSpPr>
        <p:spPr>
          <a:xfrm>
            <a:off x="9029700" y="2717800"/>
            <a:ext cx="22479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 i="1">
                <a:solidFill>
                  <a:srgbClr val="333333"/>
                </a:solidFill>
              </a:rPr>
              <a:t>Unchanged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F5B0CD-2C66-A14D-BD91-A91B3226E1CB}"/>
              </a:ext>
            </a:extLst>
          </p:cNvPr>
          <p:cNvSpPr/>
          <p:nvPr/>
        </p:nvSpPr>
        <p:spPr>
          <a:xfrm>
            <a:off x="9721850" y="47498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1F45A524-DBD6-2F43-8DAA-DF21933346A6}"/>
              </a:ext>
            </a:extLst>
          </p:cNvPr>
          <p:cNvSpPr/>
          <p:nvPr/>
        </p:nvSpPr>
        <p:spPr>
          <a:xfrm rot="-2280000">
            <a:off x="9659574" y="4396006"/>
            <a:ext cx="1066800" cy="152400"/>
          </a:xfrm>
          <a:prstGeom prst="rightArrow">
            <a:avLst/>
          </a:prstGeom>
          <a:solidFill>
            <a:srgbClr val="B0B0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A83D504F-70C1-B549-9FBD-596C0D98308E}"/>
              </a:ext>
            </a:extLst>
          </p:cNvPr>
          <p:cNvSpPr/>
          <p:nvPr/>
        </p:nvSpPr>
        <p:spPr>
          <a:xfrm rot="-2280000">
            <a:off x="9659574" y="4396006"/>
            <a:ext cx="1066800" cy="152400"/>
          </a:xfrm>
          <a:prstGeom prst="rightArrow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9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097516-E1BE-9948-869D-6302B5BE3AC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366FB-1211-4341-9A50-CAD37CEBB687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81E43E-B028-2543-A4C3-5AF4FC0A9BB0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385BA-7F20-2441-876E-97A9992AACAF}"/>
              </a:ext>
            </a:extLst>
          </p:cNvPr>
          <p:cNvSpPr txBox="1"/>
          <p:nvPr/>
        </p:nvSpPr>
        <p:spPr>
          <a:xfrm>
            <a:off x="762000" y="13208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Goal: find the vectors that A only scales — solve  A v =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v.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7888C7-B712-C140-994C-D2B0AF52DC1E}"/>
              </a:ext>
            </a:extLst>
          </p:cNvPr>
          <p:cNvSpPr/>
          <p:nvPr/>
        </p:nvSpPr>
        <p:spPr>
          <a:xfrm>
            <a:off x="762000" y="1930400"/>
            <a:ext cx="6604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181C9-0081-6644-A9DC-B2CCFCF718F9}"/>
                  </a:ext>
                </a:extLst>
              </p:cNvPr>
              <p:cNvSpPr txBox="1"/>
              <p:nvPr/>
            </p:nvSpPr>
            <p:spPr>
              <a:xfrm>
                <a:off x="1270000" y="3124200"/>
                <a:ext cx="76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E181C9-0081-6644-A9DC-B2CCFCF71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3124200"/>
                <a:ext cx="762000" cy="508000"/>
              </a:xfrm>
              <a:prstGeom prst="rect">
                <a:avLst/>
              </a:prstGeom>
              <a:blipFill>
                <a:blip r:embed="rId2"/>
                <a:stretch>
                  <a:fillRect l="-1639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AFB5CC-5962-5D48-B577-246DAD2E8E78}"/>
                  </a:ext>
                </a:extLst>
              </p:cNvPr>
              <p:cNvSpPr txBox="1"/>
              <p:nvPr/>
            </p:nvSpPr>
            <p:spPr>
              <a:xfrm>
                <a:off x="2108200" y="2921000"/>
                <a:ext cx="1905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AFB5CC-5962-5D48-B577-246DAD2E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200" y="2921000"/>
                <a:ext cx="1905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F2766-854B-8045-B8A3-F2876E0A3911}"/>
                  </a:ext>
                </a:extLst>
              </p:cNvPr>
              <p:cNvSpPr txBox="1"/>
              <p:nvPr/>
            </p:nvSpPr>
            <p:spPr>
              <a:xfrm>
                <a:off x="4191000" y="2921000"/>
                <a:ext cx="317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</m:t>
                      </m:r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latin typeface="Cambria Math"/>
                        </a:rPr>
                        <m:t> </m:t>
                      </m:r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8F2766-854B-8045-B8A3-F2876E0A3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921000"/>
                <a:ext cx="3175000" cy="508000"/>
              </a:xfrm>
              <a:prstGeom prst="rect">
                <a:avLst/>
              </a:prstGeom>
              <a:blipFill>
                <a:blip r:embed="rId4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EA5E81-17A8-4C4B-8DE5-FF58A91AE562}"/>
                  </a:ext>
                </a:extLst>
              </p:cNvPr>
              <p:cNvSpPr txBox="1"/>
              <p:nvPr/>
            </p:nvSpPr>
            <p:spPr>
              <a:xfrm>
                <a:off x="4191000" y="3505200"/>
                <a:ext cx="317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latin typeface="Cambria Math"/>
                        </a:rPr>
                        <m:t>(</m:t>
                      </m:r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) </m:t>
                      </m:r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EA5E81-17A8-4C4B-8DE5-FF58A91AE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3505200"/>
                <a:ext cx="3175000" cy="5080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AFFD2A5-1291-BA4C-A014-F086EA80A659}"/>
              </a:ext>
            </a:extLst>
          </p:cNvPr>
          <p:cNvSpPr txBox="1"/>
          <p:nvPr/>
        </p:nvSpPr>
        <p:spPr>
          <a:xfrm>
            <a:off x="1270000" y="4724400"/>
            <a:ext cx="5969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A nonzero v can exist only when  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—  the characteristic equation.</a:t>
            </a:r>
          </a:p>
        </p:txBody>
      </p:sp>
      <p:sp>
        <p:nvSpPr>
          <p:cNvPr id="200" name="GPanel"/>
          <p:cNvSpPr/>
          <p:nvPr/>
        </p:nvSpPr>
        <p:spPr>
          <a:xfrm>
            <a:off x="7620000" y="1930400"/>
            <a:ext cx="3810000" cy="4191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Line"/>
          <p:cNvSpPr/>
          <p:nvPr/>
        </p:nvSpPr>
        <p:spPr>
          <a:xfrm>
            <a:off x="9169400" y="2235200"/>
            <a:ext cx="0" cy="3073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GLine"/>
          <p:cNvSpPr/>
          <p:nvPr/>
        </p:nvSpPr>
        <p:spPr>
          <a:xfrm>
            <a:off x="7975600" y="41402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GLine"/>
          <p:cNvSpPr/>
          <p:nvPr/>
        </p:nvSpPr>
        <p:spPr>
          <a:xfrm>
            <a:off x="10109200" y="2235200"/>
            <a:ext cx="0" cy="3073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GLine"/>
          <p:cNvSpPr/>
          <p:nvPr/>
        </p:nvSpPr>
        <p:spPr>
          <a:xfrm>
            <a:off x="7975600" y="32004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GLine"/>
          <p:cNvSpPr/>
          <p:nvPr/>
        </p:nvSpPr>
        <p:spPr>
          <a:xfrm>
            <a:off x="11049000" y="2235200"/>
            <a:ext cx="0" cy="3073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GLine"/>
          <p:cNvSpPr/>
          <p:nvPr/>
        </p:nvSpPr>
        <p:spPr>
          <a:xfrm>
            <a:off x="7975600" y="22606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GLine"/>
          <p:cNvSpPr/>
          <p:nvPr/>
        </p:nvSpPr>
        <p:spPr>
          <a:xfrm>
            <a:off x="7975600" y="5080000"/>
            <a:ext cx="3251200" cy="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GLine"/>
          <p:cNvSpPr/>
          <p:nvPr/>
        </p:nvSpPr>
        <p:spPr>
          <a:xfrm flipV="1">
            <a:off x="8229600" y="2235200"/>
            <a:ext cx="0" cy="307340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GLine"/>
          <p:cNvSpPr/>
          <p:nvPr/>
        </p:nvSpPr>
        <p:spPr>
          <a:xfrm flipV="1">
            <a:off x="8229600" y="4566466"/>
            <a:ext cx="2396490" cy="513534"/>
          </a:xfrm>
          <a:prstGeom prst="line">
            <a:avLst/>
          </a:prstGeom>
          <a:ln w="6350" cap="rnd">
            <a:solidFill>
              <a:srgbClr val="00A7B5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0" name="GLine"/>
          <p:cNvSpPr/>
          <p:nvPr/>
        </p:nvSpPr>
        <p:spPr>
          <a:xfrm flipV="1">
            <a:off x="8229600" y="3200400"/>
            <a:ext cx="2913380" cy="1879600"/>
          </a:xfrm>
          <a:prstGeom prst="line">
            <a:avLst/>
          </a:prstGeom>
          <a:ln w="28575" cap="rnd">
            <a:solidFill>
              <a:srgbClr val="D1578A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211" name="GLine"/>
          <p:cNvSpPr/>
          <p:nvPr/>
        </p:nvSpPr>
        <p:spPr>
          <a:xfrm flipV="1">
            <a:off x="8229600" y="4798060"/>
            <a:ext cx="1315720" cy="281940"/>
          </a:xfrm>
          <a:prstGeom prst="line">
            <a:avLst/>
          </a:prstGeom>
          <a:ln w="28575" cap="rnd">
            <a:solidFill>
              <a:srgbClr val="00A7B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212" name="GDot"/>
          <p:cNvSpPr/>
          <p:nvPr/>
        </p:nvSpPr>
        <p:spPr>
          <a:xfrm>
            <a:off x="8185150" y="5035550"/>
            <a:ext cx="88900" cy="889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GLbl"/>
          <p:cNvSpPr txBox="1"/>
          <p:nvPr/>
        </p:nvSpPr>
        <p:spPr>
          <a:xfrm>
            <a:off x="9652000" y="48006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A7B5"/>
                </a:solidFill>
              </a:rPr>
              <a:t>v</a:t>
            </a:r>
          </a:p>
        </p:txBody>
      </p:sp>
      <p:sp>
        <p:nvSpPr>
          <p:cNvPr id="214" name="GLbl"/>
          <p:cNvSpPr txBox="1"/>
          <p:nvPr/>
        </p:nvSpPr>
        <p:spPr>
          <a:xfrm>
            <a:off x="9271000" y="36576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1578A"/>
                </a:solidFill>
              </a:rPr>
              <a:t>Av</a:t>
            </a:r>
          </a:p>
        </p:txBody>
      </p:sp>
      <p:sp>
        <p:nvSpPr>
          <p:cNvPr id="215" name="GLbl"/>
          <p:cNvSpPr txBox="1"/>
          <p:nvPr/>
        </p:nvSpPr>
        <p:spPr>
          <a:xfrm>
            <a:off x="7747000" y="5461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4B2E83"/>
                </a:solidFill>
              </a:rPr>
              <a:t>Most v: Av leaves v's direction</a:t>
            </a:r>
          </a:p>
        </p:txBody>
      </p:sp>
    </p:spTree>
    <p:extLst>
      <p:ext uri="{BB962C8B-B14F-4D97-AF65-F5344CB8AC3E}">
        <p14:creationId xmlns:p14="http://schemas.microsoft.com/office/powerpoint/2010/main" val="400853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/>
      <p:bldP spid="214" grpId="0"/>
      <p:bldP spid="2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12B-2DE2-0F46-B47F-FA529571A82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827BA-418D-EA4D-AD83-DF7ACE7597B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23A3F9-3B0D-0345-B926-A4263A19A442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22C4C-2C7F-5342-BCA5-B51B477529B8}"/>
              </a:ext>
            </a:extLst>
          </p:cNvPr>
          <p:cNvSpPr txBox="1"/>
          <p:nvPr/>
        </p:nvSpPr>
        <p:spPr>
          <a:xfrm>
            <a:off x="762000" y="13208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the diagonal. A nonzero v exists only if this matrix is singular.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E29BF1-4E92-E049-B2E4-478C288BD766}"/>
              </a:ext>
            </a:extLst>
          </p:cNvPr>
          <p:cNvSpPr/>
          <p:nvPr/>
        </p:nvSpPr>
        <p:spPr>
          <a:xfrm>
            <a:off x="762000" y="1930400"/>
            <a:ext cx="6604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B6B7E-3DB0-E640-84F7-CD42BB525F72}"/>
                  </a:ext>
                </a:extLst>
              </p:cNvPr>
              <p:cNvSpPr txBox="1"/>
              <p:nvPr/>
            </p:nvSpPr>
            <p:spPr>
              <a:xfrm>
                <a:off x="1219200" y="2730500"/>
                <a:ext cx="17018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AB6B7E-3DB0-E640-84F7-CD42BB525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30500"/>
                <a:ext cx="17018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7E969B-0ADD-1540-A250-34785E53E04E}"/>
                  </a:ext>
                </a:extLst>
              </p:cNvPr>
              <p:cNvSpPr txBox="1"/>
              <p:nvPr/>
            </p:nvSpPr>
            <p:spPr>
              <a:xfrm>
                <a:off x="2946400" y="2527300"/>
                <a:ext cx="1778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7E969B-0ADD-1540-A250-34785E53E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0" y="2527300"/>
                <a:ext cx="1778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C7CC76-5974-CC4A-AD6F-C10C23F4EDFA}"/>
                  </a:ext>
                </a:extLst>
              </p:cNvPr>
              <p:cNvSpPr txBox="1"/>
              <p:nvPr/>
            </p:nvSpPr>
            <p:spPr>
              <a:xfrm>
                <a:off x="4775200" y="2730500"/>
                <a:ext cx="508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latin typeface="Cambria Math"/>
                        </a:rPr>
                        <m:t>− 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C7CC76-5974-CC4A-AD6F-C10C23F4E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00" y="2730500"/>
                <a:ext cx="508000" cy="508000"/>
              </a:xfrm>
              <a:prstGeom prst="rect">
                <a:avLst/>
              </a:prstGeom>
              <a:blipFill>
                <a:blip r:embed="rId4"/>
                <a:stretch>
                  <a:fillRect l="-16667" r="-14286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CF621-B778-7242-8BF6-DF9A15B623EB}"/>
                  </a:ext>
                </a:extLst>
              </p:cNvPr>
              <p:cNvSpPr txBox="1"/>
              <p:nvPr/>
            </p:nvSpPr>
            <p:spPr>
              <a:xfrm>
                <a:off x="5308600" y="2527300"/>
                <a:ext cx="1778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CF621-B778-7242-8BF6-DF9A15B62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600" y="2527300"/>
                <a:ext cx="1778000" cy="10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75237-AE6F-6649-B8D9-62196B19D645}"/>
                  </a:ext>
                </a:extLst>
              </p:cNvPr>
              <p:cNvSpPr txBox="1"/>
              <p:nvPr/>
            </p:nvSpPr>
            <p:spPr>
              <a:xfrm>
                <a:off x="2946400" y="3810000"/>
                <a:ext cx="381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175237-AE6F-6649-B8D9-62196B19D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00" y="3810000"/>
                <a:ext cx="381000" cy="508000"/>
              </a:xfrm>
              <a:prstGeom prst="rect">
                <a:avLst/>
              </a:prstGeom>
              <a:blipFill>
                <a:blip r:embed="rId6"/>
                <a:stretch>
                  <a:fillRect l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Shade AminusLambdaI"/>
          <p:cNvSpPr/>
          <p:nvPr/>
        </p:nvSpPr>
        <p:spPr>
          <a:xfrm>
            <a:off x="3352800" y="3479800"/>
            <a:ext cx="2311400" cy="1270000"/>
          </a:xfrm>
          <a:prstGeom prst="roundRect">
            <a:avLst>
              <a:gd name="adj" fmla="val 10000"/>
            </a:avLst>
          </a:prstGeom>
          <a:solidFill>
            <a:srgbClr val="4B2E83">
              <a:alpha val="12000"/>
            </a:srgbClr>
          </a:solidFill>
          <a:ln w="12700">
            <a:solidFill>
              <a:srgbClr val="4B2E83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333DB7-F129-604F-BC09-D2474435B7C2}"/>
                  </a:ext>
                </a:extLst>
              </p:cNvPr>
              <p:cNvSpPr txBox="1"/>
              <p:nvPr/>
            </p:nvSpPr>
            <p:spPr>
              <a:xfrm>
                <a:off x="3352800" y="3606800"/>
                <a:ext cx="2159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sz="24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2−</m:t>
                                </m:r>
                                <m:r>
                                  <a:rPr lang="en-US" sz="24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333DB7-F129-604F-BC09-D2474435B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3606800"/>
                <a:ext cx="2159000" cy="10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CE8617D-6CB0-A34D-92FE-DDCACC715A1D}"/>
              </a:ext>
            </a:extLst>
          </p:cNvPr>
          <p:cNvSpPr txBox="1"/>
          <p:nvPr/>
        </p:nvSpPr>
        <p:spPr>
          <a:xfrm>
            <a:off x="1270000" y="5080000"/>
            <a:ext cx="5969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Set  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to find the </a:t>
            </a:r>
            <a:r>
              <a:rPr lang="el-GR" i="1">
                <a:solidFill>
                  <a:srgbClr val="00A7B5"/>
                </a:solidFill>
              </a:rPr>
              <a:t>λ </a:t>
            </a:r>
            <a:r>
              <a:rPr lang="en-US" i="1">
                <a:solidFill>
                  <a:srgbClr val="00A7B5"/>
                </a:solidFill>
              </a:rPr>
              <a:t>that make it singular.</a:t>
            </a:r>
          </a:p>
        </p:txBody>
      </p:sp>
      <p:sp>
        <p:nvSpPr>
          <p:cNvPr id="200" name="GPanel"/>
          <p:cNvSpPr/>
          <p:nvPr/>
        </p:nvSpPr>
        <p:spPr>
          <a:xfrm>
            <a:off x="7620000" y="1930400"/>
            <a:ext cx="3810000" cy="4191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Line"/>
          <p:cNvSpPr/>
          <p:nvPr/>
        </p:nvSpPr>
        <p:spPr>
          <a:xfrm>
            <a:off x="82296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GLine"/>
          <p:cNvSpPr/>
          <p:nvPr/>
        </p:nvSpPr>
        <p:spPr>
          <a:xfrm>
            <a:off x="95504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GLine"/>
          <p:cNvSpPr/>
          <p:nvPr/>
        </p:nvSpPr>
        <p:spPr>
          <a:xfrm>
            <a:off x="7975600" y="40132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GLine"/>
          <p:cNvSpPr/>
          <p:nvPr/>
        </p:nvSpPr>
        <p:spPr>
          <a:xfrm>
            <a:off x="102108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GLine"/>
          <p:cNvSpPr/>
          <p:nvPr/>
        </p:nvSpPr>
        <p:spPr>
          <a:xfrm>
            <a:off x="7975600" y="33528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GLine"/>
          <p:cNvSpPr/>
          <p:nvPr/>
        </p:nvSpPr>
        <p:spPr>
          <a:xfrm>
            <a:off x="108712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GLine"/>
          <p:cNvSpPr/>
          <p:nvPr/>
        </p:nvSpPr>
        <p:spPr>
          <a:xfrm>
            <a:off x="7975600" y="26924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GLine"/>
          <p:cNvSpPr/>
          <p:nvPr/>
        </p:nvSpPr>
        <p:spPr>
          <a:xfrm>
            <a:off x="7975600" y="4673600"/>
            <a:ext cx="3251200" cy="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GLine"/>
          <p:cNvSpPr/>
          <p:nvPr/>
        </p:nvSpPr>
        <p:spPr>
          <a:xfrm flipV="1">
            <a:off x="8890000" y="2260600"/>
            <a:ext cx="0" cy="294640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Shade Image Area"/>
          <p:cNvSpPr/>
          <p:nvPr/>
        </p:nvSpPr>
        <p:spPr>
          <a:xfrm>
            <a:off x="8890000" y="2692400"/>
            <a:ext cx="1981200" cy="1981200"/>
          </a:xfrm>
          <a:custGeom>
            <a:avLst/>
            <a:gdLst/>
            <a:ahLst/>
            <a:cxnLst/>
            <a:rect l="0" t="0" r="r" b="b"/>
            <a:pathLst>
              <a:path w="1981200" h="1981200">
                <a:moveTo>
                  <a:pt x="0" y="1981200"/>
                </a:moveTo>
                <a:lnTo>
                  <a:pt x="1320800" y="1320800"/>
                </a:lnTo>
                <a:lnTo>
                  <a:pt x="1981200" y="0"/>
                </a:lnTo>
                <a:lnTo>
                  <a:pt x="660400" y="660400"/>
                </a:lnTo>
                <a:close/>
              </a:path>
            </a:pathLst>
          </a:custGeom>
          <a:solidFill>
            <a:srgbClr val="4B2E83">
              <a:alpha val="18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GBox"/>
          <p:cNvSpPr/>
          <p:nvPr/>
        </p:nvSpPr>
        <p:spPr>
          <a:xfrm>
            <a:off x="8890000" y="4013200"/>
            <a:ext cx="660400" cy="660400"/>
          </a:xfrm>
          <a:prstGeom prst="rect">
            <a:avLst/>
          </a:prstGeom>
          <a:solidFill>
            <a:srgbClr val="00A7B5">
              <a:alpha val="45000"/>
            </a:srgbClr>
          </a:solidFill>
          <a:ln w="2222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GLine"/>
          <p:cNvSpPr/>
          <p:nvPr/>
        </p:nvSpPr>
        <p:spPr>
          <a:xfrm flipV="1">
            <a:off x="8890000" y="4013200"/>
            <a:ext cx="1320800" cy="6604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GLine"/>
          <p:cNvSpPr/>
          <p:nvPr/>
        </p:nvSpPr>
        <p:spPr>
          <a:xfrm flipV="1">
            <a:off x="10210800" y="2692400"/>
            <a:ext cx="660400" cy="13208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GLine"/>
          <p:cNvSpPr/>
          <p:nvPr/>
        </p:nvSpPr>
        <p:spPr>
          <a:xfrm flipH="1">
            <a:off x="9550400" y="2692400"/>
            <a:ext cx="1320800" cy="6604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GLine"/>
          <p:cNvSpPr/>
          <p:nvPr/>
        </p:nvSpPr>
        <p:spPr>
          <a:xfrm flipH="1">
            <a:off x="8890000" y="3352800"/>
            <a:ext cx="660400" cy="1320800"/>
          </a:xfrm>
          <a:prstGeom prst="line">
            <a:avLst/>
          </a:prstGeom>
          <a:ln w="19050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GLine"/>
          <p:cNvSpPr/>
          <p:nvPr/>
        </p:nvSpPr>
        <p:spPr>
          <a:xfrm>
            <a:off x="8394700" y="4178300"/>
            <a:ext cx="990600" cy="990600"/>
          </a:xfrm>
          <a:prstGeom prst="line">
            <a:avLst/>
          </a:prstGeom>
          <a:ln w="25400" cap="rnd">
            <a:solidFill>
              <a:srgbClr val="D1578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6" name="GLbl"/>
          <p:cNvSpPr txBox="1"/>
          <p:nvPr/>
        </p:nvSpPr>
        <p:spPr>
          <a:xfrm>
            <a:off x="9093200" y="4229100"/>
            <a:ext cx="33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C3D42"/>
                </a:solidFill>
              </a:rPr>
              <a:t>1</a:t>
            </a:r>
          </a:p>
        </p:txBody>
      </p:sp>
      <p:sp>
        <p:nvSpPr>
          <p:cNvPr id="217" name="GLbl"/>
          <p:cNvSpPr txBox="1"/>
          <p:nvPr/>
        </p:nvSpPr>
        <p:spPr>
          <a:xfrm>
            <a:off x="8255000" y="23114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4B2E83"/>
                </a:solidFill>
              </a:rPr>
              <a:t>det A = 3</a:t>
            </a:r>
          </a:p>
        </p:txBody>
      </p:sp>
      <p:sp>
        <p:nvSpPr>
          <p:cNvPr id="218" name="GLbl"/>
          <p:cNvSpPr txBox="1"/>
          <p:nvPr/>
        </p:nvSpPr>
        <p:spPr>
          <a:xfrm>
            <a:off x="8001000" y="5003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D1578A"/>
                </a:solidFill>
              </a:rPr>
              <a:t>det = 0</a:t>
            </a:r>
          </a:p>
        </p:txBody>
      </p:sp>
      <p:sp>
        <p:nvSpPr>
          <p:cNvPr id="219" name="GLbl"/>
          <p:cNvSpPr txBox="1"/>
          <p:nvPr/>
        </p:nvSpPr>
        <p:spPr>
          <a:xfrm>
            <a:off x="7747000" y="5334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4B2E83"/>
                </a:solidFill>
              </a:rPr>
              <a:t>det = area scale — a zero det flattens it to a line</a:t>
            </a:r>
          </a:p>
        </p:txBody>
      </p:sp>
    </p:spTree>
    <p:extLst>
      <p:ext uri="{BB962C8B-B14F-4D97-AF65-F5344CB8AC3E}">
        <p14:creationId xmlns:p14="http://schemas.microsoft.com/office/powerpoint/2010/main" val="36983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50" grpId="0" animBg="1"/>
      <p:bldP spid="14" grpId="0"/>
      <p:bldP spid="15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151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/>
      <p:bldP spid="217" grpId="0"/>
      <p:bldP spid="218" grpId="0"/>
      <p:bldP spid="2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51B291-2EDF-D543-ABBC-65A035CEEB1C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8A16A-8C02-A74B-A00D-C1C826B950C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3: Solve det = 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74DEE1-D26F-8842-939D-462974119C9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5066-8028-8347-974F-3172131A9024}"/>
              </a:ext>
            </a:extLst>
          </p:cNvPr>
          <p:cNvSpPr txBox="1"/>
          <p:nvPr/>
        </p:nvSpPr>
        <p:spPr>
          <a:xfrm>
            <a:off x="762000" y="13208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Expand the 2×2 determinant into a quadratic in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and factor it.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8C08B0A-4304-1040-9540-C0824A95AC74}"/>
              </a:ext>
            </a:extLst>
          </p:cNvPr>
          <p:cNvSpPr/>
          <p:nvPr/>
        </p:nvSpPr>
        <p:spPr>
          <a:xfrm>
            <a:off x="762000" y="1930400"/>
            <a:ext cx="6604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F63481-348D-6140-BA5F-1FB842C91A22}"/>
                  </a:ext>
                </a:extLst>
              </p:cNvPr>
              <p:cNvSpPr txBox="1"/>
              <p:nvPr/>
            </p:nvSpPr>
            <p:spPr>
              <a:xfrm>
                <a:off x="1270000" y="2489200"/>
                <a:ext cx="5969000" cy="203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0" i="1">
                          <a:latin typeface="Cambria Math"/>
                        </a:rPr>
                        <m:t>𝑑𝑒𝑡</m:t>
                      </m:r>
                      <m:r>
                        <a:rPr lang="en-US" sz="2200" b="0" i="0">
                          <a:latin typeface="Cambria Math"/>
                        </a:rPr>
                        <m:t>(</m:t>
                      </m:r>
                      <m:r>
                        <a:rPr lang="en-US" sz="2200" b="1" i="1">
                          <a:latin typeface="Cambria Math"/>
                        </a:rPr>
                        <m:t>𝐴</m:t>
                      </m:r>
                      <m:r>
                        <a:rPr lang="en-US" sz="2200" b="0" i="0">
                          <a:latin typeface="Cambria Math"/>
                        </a:rPr>
                        <m:t>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1" i="1">
                          <a:latin typeface="Cambria Math"/>
                        </a:rPr>
                        <m:t>𝐼</m:t>
                      </m:r>
                      <m:r>
                        <a:rPr lang="en-US" sz="2200" b="0" i="0">
                          <a:latin typeface="Cambria Math"/>
                        </a:rPr>
                        <m:t>)  =  (2 −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)(2 − 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) − (1)(1)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0" i="0">
                          <a:latin typeface="Cambria Math"/>
                        </a:rPr>
                        <m:t>=  </m:t>
                      </m:r>
                      <m:sSup>
                        <m:sSupPr>
                          <m:ctrlPr>
                            <a:rPr lang="en-US" sz="2200" b="0" i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200" b="0" i="0">
                              <a:latin typeface="Cambria Math"/>
                            </a:rPr>
                            <m:t>(2 − </m:t>
                          </m:r>
                          <m:r>
                            <a:rPr lang="en-US" sz="2200" b="0" i="1">
                              <a:latin typeface="Cambria Math"/>
                            </a:rPr>
                            <m:t>𝜆</m:t>
                          </m:r>
                          <m:r>
                            <a:rPr lang="en-US" sz="2200" b="0" i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1400" b="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 b="0" i="0">
                          <a:latin typeface="Cambria Math"/>
                        </a:rPr>
                        <m:t>  − 1  =  </m:t>
                      </m:r>
                      <m:sSup>
                        <m:sSupPr>
                          <m:ctrlPr>
                            <a:rPr lang="en-US" sz="2200" b="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400" b="0" i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200" b="0" i="0">
                          <a:latin typeface="Cambria Math"/>
                        </a:rPr>
                        <m:t>  − 4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+ 3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0" i="0">
                          <a:latin typeface="Cambria Math"/>
                        </a:rPr>
                        <m:t>=  (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− 1)(</m:t>
                      </m:r>
                      <m:r>
                        <a:rPr lang="en-US" sz="2200" b="0" i="1"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latin typeface="Cambria Math"/>
                        </a:rPr>
                        <m:t> − 3)  = 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F63481-348D-6140-BA5F-1FB842C9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489200"/>
                <a:ext cx="5969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799808-C41D-4240-8EF7-C6FDDB7CFBB7}"/>
                  </a:ext>
                </a:extLst>
              </p:cNvPr>
              <p:cNvSpPr txBox="1"/>
              <p:nvPr/>
            </p:nvSpPr>
            <p:spPr>
              <a:xfrm>
                <a:off x="1270000" y="4851400"/>
                <a:ext cx="59690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0">
                          <a:latin typeface="Cambria Math"/>
                        </a:rPr>
                        <m:t>  =  3            </m:t>
                      </m:r>
                      <m:sSub>
                        <m:sSubPr>
                          <m:ctrlPr>
                            <a:rPr lang="en-US" sz="2800" b="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600" b="0" i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b="0" i="0">
                          <a:latin typeface="Cambria Math"/>
                        </a:rPr>
                        <m:t>  =  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5799808-C41D-4240-8EF7-C6FDDB7CF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4851400"/>
                <a:ext cx="5969000" cy="660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Panel"/>
          <p:cNvSpPr/>
          <p:nvPr/>
        </p:nvSpPr>
        <p:spPr>
          <a:xfrm>
            <a:off x="7620000" y="1930400"/>
            <a:ext cx="3810000" cy="4191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Line"/>
          <p:cNvSpPr/>
          <p:nvPr/>
        </p:nvSpPr>
        <p:spPr>
          <a:xfrm>
            <a:off x="8862568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GLine"/>
          <p:cNvSpPr/>
          <p:nvPr/>
        </p:nvSpPr>
        <p:spPr>
          <a:xfrm>
            <a:off x="9601708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GLine"/>
          <p:cNvSpPr/>
          <p:nvPr/>
        </p:nvSpPr>
        <p:spPr>
          <a:xfrm>
            <a:off x="10340848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GLine"/>
          <p:cNvSpPr/>
          <p:nvPr/>
        </p:nvSpPr>
        <p:spPr>
          <a:xfrm>
            <a:off x="11079988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GLine"/>
          <p:cNvSpPr/>
          <p:nvPr/>
        </p:nvSpPr>
        <p:spPr>
          <a:xfrm>
            <a:off x="7975600" y="5014976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GLine"/>
          <p:cNvSpPr/>
          <p:nvPr/>
        </p:nvSpPr>
        <p:spPr>
          <a:xfrm>
            <a:off x="7975600" y="3734816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GLine"/>
          <p:cNvSpPr/>
          <p:nvPr/>
        </p:nvSpPr>
        <p:spPr>
          <a:xfrm>
            <a:off x="7975600" y="3094736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GLine"/>
          <p:cNvSpPr/>
          <p:nvPr/>
        </p:nvSpPr>
        <p:spPr>
          <a:xfrm>
            <a:off x="7975600" y="2454656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GLine"/>
          <p:cNvSpPr/>
          <p:nvPr/>
        </p:nvSpPr>
        <p:spPr>
          <a:xfrm>
            <a:off x="7975600" y="4374896"/>
            <a:ext cx="3251200" cy="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0" name="GLine"/>
          <p:cNvSpPr/>
          <p:nvPr/>
        </p:nvSpPr>
        <p:spPr>
          <a:xfrm flipV="1">
            <a:off x="8123428" y="2260600"/>
            <a:ext cx="0" cy="294640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GLine"/>
          <p:cNvSpPr/>
          <p:nvPr/>
        </p:nvSpPr>
        <p:spPr>
          <a:xfrm>
            <a:off x="8123428" y="2454656"/>
            <a:ext cx="184785" cy="60007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GLine"/>
          <p:cNvSpPr/>
          <p:nvPr/>
        </p:nvSpPr>
        <p:spPr>
          <a:xfrm>
            <a:off x="8308213" y="3054731"/>
            <a:ext cx="184785" cy="52006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GLine"/>
          <p:cNvSpPr/>
          <p:nvPr/>
        </p:nvSpPr>
        <p:spPr>
          <a:xfrm>
            <a:off x="8492998" y="3574796"/>
            <a:ext cx="184785" cy="44005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GLine"/>
          <p:cNvSpPr/>
          <p:nvPr/>
        </p:nvSpPr>
        <p:spPr>
          <a:xfrm>
            <a:off x="8677783" y="4014851"/>
            <a:ext cx="184785" cy="36004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GLine"/>
          <p:cNvSpPr/>
          <p:nvPr/>
        </p:nvSpPr>
        <p:spPr>
          <a:xfrm>
            <a:off x="8862568" y="4374896"/>
            <a:ext cx="184785" cy="28003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GLine"/>
          <p:cNvSpPr/>
          <p:nvPr/>
        </p:nvSpPr>
        <p:spPr>
          <a:xfrm>
            <a:off x="9047353" y="4654931"/>
            <a:ext cx="184785" cy="20002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GLine"/>
          <p:cNvSpPr/>
          <p:nvPr/>
        </p:nvSpPr>
        <p:spPr>
          <a:xfrm>
            <a:off x="9232138" y="4854956"/>
            <a:ext cx="184785" cy="12001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GLine"/>
          <p:cNvSpPr/>
          <p:nvPr/>
        </p:nvSpPr>
        <p:spPr>
          <a:xfrm>
            <a:off x="9416923" y="4974971"/>
            <a:ext cx="184785" cy="4000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GLine"/>
          <p:cNvSpPr/>
          <p:nvPr/>
        </p:nvSpPr>
        <p:spPr>
          <a:xfrm flipV="1">
            <a:off x="9601708" y="4974971"/>
            <a:ext cx="184785" cy="4000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GLine"/>
          <p:cNvSpPr/>
          <p:nvPr/>
        </p:nvSpPr>
        <p:spPr>
          <a:xfrm flipV="1">
            <a:off x="9786493" y="4854956"/>
            <a:ext cx="184785" cy="12001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GLine"/>
          <p:cNvSpPr/>
          <p:nvPr/>
        </p:nvSpPr>
        <p:spPr>
          <a:xfrm flipV="1">
            <a:off x="9971278" y="4654931"/>
            <a:ext cx="184785" cy="20002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2" name="GLine"/>
          <p:cNvSpPr/>
          <p:nvPr/>
        </p:nvSpPr>
        <p:spPr>
          <a:xfrm flipV="1">
            <a:off x="10156063" y="4374896"/>
            <a:ext cx="184785" cy="28003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GLine"/>
          <p:cNvSpPr/>
          <p:nvPr/>
        </p:nvSpPr>
        <p:spPr>
          <a:xfrm flipV="1">
            <a:off x="10340848" y="4014851"/>
            <a:ext cx="184785" cy="36004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4" name="GLine"/>
          <p:cNvSpPr/>
          <p:nvPr/>
        </p:nvSpPr>
        <p:spPr>
          <a:xfrm flipV="1">
            <a:off x="10525633" y="3574796"/>
            <a:ext cx="184785" cy="44005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GLine"/>
          <p:cNvSpPr/>
          <p:nvPr/>
        </p:nvSpPr>
        <p:spPr>
          <a:xfrm flipV="1">
            <a:off x="10710418" y="3054731"/>
            <a:ext cx="184785" cy="52006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6" name="GLine"/>
          <p:cNvSpPr/>
          <p:nvPr/>
        </p:nvSpPr>
        <p:spPr>
          <a:xfrm flipV="1">
            <a:off x="10895203" y="2454656"/>
            <a:ext cx="184785" cy="600075"/>
          </a:xfrm>
          <a:prstGeom prst="line">
            <a:avLst/>
          </a:prstGeom>
          <a:ln w="28575" cap="rnd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GDot"/>
          <p:cNvSpPr/>
          <p:nvPr/>
        </p:nvSpPr>
        <p:spPr>
          <a:xfrm>
            <a:off x="8805418" y="4317746"/>
            <a:ext cx="114300" cy="1143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5F0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8" name="GDot"/>
          <p:cNvSpPr/>
          <p:nvPr/>
        </p:nvSpPr>
        <p:spPr>
          <a:xfrm>
            <a:off x="10283698" y="4317746"/>
            <a:ext cx="114300" cy="1143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5F0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GLbl"/>
          <p:cNvSpPr txBox="1"/>
          <p:nvPr/>
        </p:nvSpPr>
        <p:spPr>
          <a:xfrm>
            <a:off x="8001000" y="44704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1578A"/>
                </a:solidFill>
              </a:rPr>
              <a:t>λ = 1</a:t>
            </a:r>
          </a:p>
        </p:txBody>
      </p:sp>
      <p:sp>
        <p:nvSpPr>
          <p:cNvPr id="230" name="GLbl"/>
          <p:cNvSpPr txBox="1"/>
          <p:nvPr/>
        </p:nvSpPr>
        <p:spPr>
          <a:xfrm>
            <a:off x="10414000" y="44704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1578A"/>
                </a:solidFill>
              </a:rPr>
              <a:t>λ = 3</a:t>
            </a:r>
          </a:p>
        </p:txBody>
      </p:sp>
      <p:sp>
        <p:nvSpPr>
          <p:cNvPr id="231" name="GLbl"/>
          <p:cNvSpPr txBox="1"/>
          <p:nvPr/>
        </p:nvSpPr>
        <p:spPr>
          <a:xfrm>
            <a:off x="8636000" y="23622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4B2E83"/>
                </a:solidFill>
              </a:rPr>
              <a:t>p(λ) = λ² − 4λ + 3</a:t>
            </a:r>
          </a:p>
        </p:txBody>
      </p:sp>
      <p:sp>
        <p:nvSpPr>
          <p:cNvPr id="232" name="GLbl"/>
          <p:cNvSpPr txBox="1"/>
          <p:nvPr/>
        </p:nvSpPr>
        <p:spPr>
          <a:xfrm>
            <a:off x="7747000" y="5334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4B2E83"/>
                </a:solidFill>
              </a:rPr>
              <a:t>Where the curve crosses zero, A − λI is singular</a:t>
            </a:r>
          </a:p>
        </p:txBody>
      </p:sp>
    </p:spTree>
    <p:extLst>
      <p:ext uri="{BB962C8B-B14F-4D97-AF65-F5344CB8AC3E}">
        <p14:creationId xmlns:p14="http://schemas.microsoft.com/office/powerpoint/2010/main" val="97947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28" grpId="0" animBg="1"/>
      <p:bldP spid="229" grpId="0"/>
      <p:bldP spid="230" grpId="0"/>
      <p:bldP spid="231" grpId="0"/>
      <p:bldP spid="2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FFF291-960D-1644-9623-4C9D0DFC632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32980-2F8E-7F4F-BD7F-7E4F19D9B65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4: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C732A4-3AA6-0043-AC60-0663E71D943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1BF3-F14F-F44B-8690-15AE0085BFFB}"/>
              </a:ext>
            </a:extLst>
          </p:cNvPr>
          <p:cNvSpPr txBox="1"/>
          <p:nvPr/>
        </p:nvSpPr>
        <p:spPr>
          <a:xfrm>
            <a:off x="762000" y="13208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Plug </a:t>
            </a:r>
            <a:r>
              <a:rPr lang="el-GR" sz="1600">
                <a:solidFill>
                  <a:srgbClr val="333333"/>
                </a:solidFill>
              </a:rPr>
              <a:t>λ = 3 </a:t>
            </a:r>
            <a:r>
              <a:rPr lang="en-US" sz="1600">
                <a:solidFill>
                  <a:srgbClr val="333333"/>
                </a:solidFill>
              </a:rPr>
              <a:t>into (A − </a:t>
            </a:r>
            <a:r>
              <a:rPr lang="el-GR" sz="1600">
                <a:solidFill>
                  <a:srgbClr val="333333"/>
                </a:solidFill>
              </a:rPr>
              <a:t>λ</a:t>
            </a:r>
            <a:r>
              <a:rPr lang="en-US" sz="1600">
                <a:solidFill>
                  <a:srgbClr val="333333"/>
                </a:solidFill>
              </a:rPr>
              <a:t>I)v = 0 and solve the resulting system.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83C88B-D85E-2A41-908A-E504E2D522DA}"/>
              </a:ext>
            </a:extLst>
          </p:cNvPr>
          <p:cNvSpPr/>
          <p:nvPr/>
        </p:nvSpPr>
        <p:spPr>
          <a:xfrm>
            <a:off x="762000" y="1930400"/>
            <a:ext cx="6604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60711-800F-CD41-8C61-83EE6CEAAD69}"/>
                  </a:ext>
                </a:extLst>
              </p:cNvPr>
              <p:cNvSpPr txBox="1"/>
              <p:nvPr/>
            </p:nvSpPr>
            <p:spPr>
              <a:xfrm>
                <a:off x="1219200" y="2743200"/>
                <a:ext cx="1778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− 3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860711-800F-CD41-8C61-83EE6CEAA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43200"/>
                <a:ext cx="1778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5C7B96-8392-A249-925B-4816C1A1CEB4}"/>
                  </a:ext>
                </a:extLst>
              </p:cNvPr>
              <p:cNvSpPr txBox="1"/>
              <p:nvPr/>
            </p:nvSpPr>
            <p:spPr>
              <a:xfrm>
                <a:off x="3048000" y="2540000"/>
                <a:ext cx="1905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5C7B96-8392-A249-925B-4816C1A1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2540000"/>
                <a:ext cx="1905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9A0CE-51DD-5744-B60B-944A0ECCEB6E}"/>
                  </a:ext>
                </a:extLst>
              </p:cNvPr>
              <p:cNvSpPr txBox="1"/>
              <p:nvPr/>
            </p:nvSpPr>
            <p:spPr>
              <a:xfrm>
                <a:off x="1219200" y="3810000"/>
                <a:ext cx="596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latin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𝐴</m:t>
                      </m:r>
                      <m:r>
                        <a:rPr lang="en-US" sz="2000" b="0" i="0">
                          <a:latin typeface="Cambria Math"/>
                        </a:rPr>
                        <m:t> − 3</m:t>
                      </m:r>
                      <m:r>
                        <a:rPr lang="en-US" sz="2000" b="1" i="1">
                          <a:latin typeface="Cambria Math"/>
                        </a:rPr>
                        <m:t>𝐼</m:t>
                      </m:r>
                      <m:r>
                        <a:rPr lang="en-US" sz="2000" b="0" i="0">
                          <a:latin typeface="Cambria Math"/>
                        </a:rPr>
                        <m:t>) </m:t>
                      </m:r>
                      <m:r>
                        <a:rPr lang="en-US" sz="2000" b="1" i="1">
                          <a:latin typeface="Cambria Math"/>
                        </a:rPr>
                        <m:t>𝑣</m:t>
                      </m:r>
                      <m:r>
                        <a:rPr lang="en-US" sz="2000" b="0" i="0">
                          <a:latin typeface="Cambria Math"/>
                        </a:rPr>
                        <m:t> = 0   ⇒   −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9A0CE-51DD-5744-B60B-944A0ECCE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3810000"/>
                <a:ext cx="5969000" cy="50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E95411-A2A3-9143-9100-B2DE9E9C65F2}"/>
                  </a:ext>
                </a:extLst>
              </p:cNvPr>
              <p:cNvSpPr txBox="1"/>
              <p:nvPr/>
            </p:nvSpPr>
            <p:spPr>
              <a:xfrm>
                <a:off x="1219200" y="4546600"/>
                <a:ext cx="762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0E95411-A2A3-9143-9100-B2DE9E9C6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4546600"/>
                <a:ext cx="762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82E79A-B9AF-714D-8EAE-57340900C851}"/>
                  </a:ext>
                </a:extLst>
              </p:cNvPr>
              <p:cNvSpPr txBox="1"/>
              <p:nvPr/>
            </p:nvSpPr>
            <p:spPr>
              <a:xfrm>
                <a:off x="2108200" y="4368800"/>
                <a:ext cx="1143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82E79A-B9AF-714D-8EAE-57340900C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200" y="4368800"/>
                <a:ext cx="1143000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F0F37F-8684-DA4F-8189-51573888F564}"/>
                  </a:ext>
                </a:extLst>
              </p:cNvPr>
              <p:cNvSpPr txBox="1"/>
              <p:nvPr/>
            </p:nvSpPr>
            <p:spPr>
              <a:xfrm>
                <a:off x="3048000" y="4673600"/>
                <a:ext cx="1524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0" i="0"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latin typeface="Cambria Math"/>
                        </a:rPr>
                        <m:t> = 3)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F0F37F-8684-DA4F-8189-51573888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673600"/>
                <a:ext cx="1524000" cy="381000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Panel"/>
          <p:cNvSpPr/>
          <p:nvPr/>
        </p:nvSpPr>
        <p:spPr>
          <a:xfrm>
            <a:off x="7620000" y="1930400"/>
            <a:ext cx="3810000" cy="4191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Line"/>
          <p:cNvSpPr/>
          <p:nvPr/>
        </p:nvSpPr>
        <p:spPr>
          <a:xfrm>
            <a:off x="94234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GLine"/>
          <p:cNvSpPr/>
          <p:nvPr/>
        </p:nvSpPr>
        <p:spPr>
          <a:xfrm>
            <a:off x="7975600" y="41656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GLine"/>
          <p:cNvSpPr/>
          <p:nvPr/>
        </p:nvSpPr>
        <p:spPr>
          <a:xfrm>
            <a:off x="102108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GLine"/>
          <p:cNvSpPr/>
          <p:nvPr/>
        </p:nvSpPr>
        <p:spPr>
          <a:xfrm>
            <a:off x="7975600" y="33782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GLine"/>
          <p:cNvSpPr/>
          <p:nvPr/>
        </p:nvSpPr>
        <p:spPr>
          <a:xfrm>
            <a:off x="109982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GLine"/>
          <p:cNvSpPr/>
          <p:nvPr/>
        </p:nvSpPr>
        <p:spPr>
          <a:xfrm>
            <a:off x="7975600" y="25908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GLine"/>
          <p:cNvSpPr/>
          <p:nvPr/>
        </p:nvSpPr>
        <p:spPr>
          <a:xfrm>
            <a:off x="7975600" y="4953000"/>
            <a:ext cx="3251200" cy="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GLine"/>
          <p:cNvSpPr/>
          <p:nvPr/>
        </p:nvSpPr>
        <p:spPr>
          <a:xfrm flipV="1">
            <a:off x="8636000" y="2260600"/>
            <a:ext cx="0" cy="294640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GLine"/>
          <p:cNvSpPr/>
          <p:nvPr/>
        </p:nvSpPr>
        <p:spPr>
          <a:xfrm flipV="1">
            <a:off x="8415528" y="2393950"/>
            <a:ext cx="2779522" cy="2779522"/>
          </a:xfrm>
          <a:prstGeom prst="line">
            <a:avLst/>
          </a:prstGeom>
          <a:ln w="19050" cap="rnd">
            <a:solidFill>
              <a:srgbClr val="B7A57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0" name="GLine"/>
          <p:cNvSpPr/>
          <p:nvPr/>
        </p:nvSpPr>
        <p:spPr>
          <a:xfrm flipV="1">
            <a:off x="8636000" y="2590800"/>
            <a:ext cx="2362200" cy="2362200"/>
          </a:xfrm>
          <a:prstGeom prst="line">
            <a:avLst/>
          </a:prstGeom>
          <a:ln w="28575" cap="rnd">
            <a:solidFill>
              <a:srgbClr val="4B2E83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211" name="GLine"/>
          <p:cNvSpPr/>
          <p:nvPr/>
        </p:nvSpPr>
        <p:spPr>
          <a:xfrm flipV="1">
            <a:off x="8636000" y="4165600"/>
            <a:ext cx="787400" cy="787400"/>
          </a:xfrm>
          <a:prstGeom prst="line">
            <a:avLst/>
          </a:prstGeom>
          <a:ln w="28575" cap="rnd">
            <a:solidFill>
              <a:srgbClr val="00A7B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212" name="GDot"/>
          <p:cNvSpPr/>
          <p:nvPr/>
        </p:nvSpPr>
        <p:spPr>
          <a:xfrm>
            <a:off x="8591550" y="4908550"/>
            <a:ext cx="88900" cy="889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3" name="GLbl"/>
          <p:cNvSpPr txBox="1"/>
          <p:nvPr/>
        </p:nvSpPr>
        <p:spPr>
          <a:xfrm>
            <a:off x="9652000" y="4267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A7B5"/>
                </a:solidFill>
              </a:rPr>
              <a:t>v</a:t>
            </a:r>
          </a:p>
        </p:txBody>
      </p:sp>
      <p:sp>
        <p:nvSpPr>
          <p:cNvPr id="214" name="GLbl"/>
          <p:cNvSpPr txBox="1"/>
          <p:nvPr/>
        </p:nvSpPr>
        <p:spPr>
          <a:xfrm>
            <a:off x="8890000" y="24892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4B2E83"/>
                </a:solidFill>
              </a:rPr>
              <a:t>Av = 3v</a:t>
            </a:r>
          </a:p>
        </p:txBody>
      </p:sp>
      <p:sp>
        <p:nvSpPr>
          <p:cNvPr id="215" name="GLbl"/>
          <p:cNvSpPr txBox="1"/>
          <p:nvPr/>
        </p:nvSpPr>
        <p:spPr>
          <a:xfrm>
            <a:off x="7747000" y="5334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4B2E83"/>
                </a:solidFill>
              </a:rPr>
              <a:t>On the line y = x, A only stretches — by 3</a:t>
            </a:r>
          </a:p>
        </p:txBody>
      </p:sp>
    </p:spTree>
    <p:extLst>
      <p:ext uri="{BB962C8B-B14F-4D97-AF65-F5344CB8AC3E}">
        <p14:creationId xmlns:p14="http://schemas.microsoft.com/office/powerpoint/2010/main" val="343732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/>
      <p:bldP spid="214" grpId="0"/>
      <p:bldP spid="2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FFF291-960D-1644-9623-4C9D0DFC632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32980-2F8E-7F4F-BD7F-7E4F19D9B65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3)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C732A4-3AA6-0043-AC60-0663E71D943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DF1BF3-F14F-F44B-8690-15AE0085BFF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− 3I)v = 0 is two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83C88B-D85E-2A41-908A-E504E2D522D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− 3I by v = (x, y),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(−1)x + (1)y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−x +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(1)x + (−1)y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x −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the same equation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3835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2 is just Row 1 multiplied by −1, so it adds nothing. Having only one independent equation for two unknowns is exactly what det(A − 3I) = 0 buys us — and it is why a nonzero v can exist at all.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48006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48006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Choose x = 1  ⇒  v = (1, 1).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66083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64A371-F9B1-824D-99ED-51378021059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F6C35-9CD1-0C40-9E7A-69673D4DA6B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1 (2×2) — Step 5: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97D12B-4339-7F41-A260-46B9BB1F792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9939C-5F4C-694B-B771-6AF68AAD7FE1}"/>
              </a:ext>
            </a:extLst>
          </p:cNvPr>
          <p:cNvSpPr txBox="1"/>
          <p:nvPr/>
        </p:nvSpPr>
        <p:spPr>
          <a:xfrm>
            <a:off x="762000" y="13208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Repeat with </a:t>
            </a:r>
            <a:r>
              <a:rPr lang="el-GR" sz="1600">
                <a:solidFill>
                  <a:srgbClr val="333333"/>
                </a:solidFill>
              </a:rPr>
              <a:t>λ = 1, </a:t>
            </a:r>
            <a:r>
              <a:rPr lang="en-US" sz="1600">
                <a:solidFill>
                  <a:srgbClr val="333333"/>
                </a:solidFill>
              </a:rPr>
              <a:t>then collect both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17AD2D-EE5F-754B-A942-A7823D6284E8}"/>
              </a:ext>
            </a:extLst>
          </p:cNvPr>
          <p:cNvSpPr/>
          <p:nvPr/>
        </p:nvSpPr>
        <p:spPr>
          <a:xfrm>
            <a:off x="762000" y="1930400"/>
            <a:ext cx="6604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10E15-1136-3943-93E3-9F8CC9D87EA6}"/>
                  </a:ext>
                </a:extLst>
              </p:cNvPr>
              <p:cNvSpPr txBox="1"/>
              <p:nvPr/>
            </p:nvSpPr>
            <p:spPr>
              <a:xfrm>
                <a:off x="1219200" y="2616200"/>
                <a:ext cx="1397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A10E15-1136-3943-93E3-9F8CC9D8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616200"/>
                <a:ext cx="1397000" cy="508000"/>
              </a:xfrm>
              <a:prstGeom prst="rect">
                <a:avLst/>
              </a:prstGeom>
              <a:blipFill>
                <a:blip r:embed="rId2"/>
                <a:stretch>
                  <a:fillRect l="-90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6F1D5B-1AF8-434B-83C6-41891C415EA4}"/>
                  </a:ext>
                </a:extLst>
              </p:cNvPr>
              <p:cNvSpPr txBox="1"/>
              <p:nvPr/>
            </p:nvSpPr>
            <p:spPr>
              <a:xfrm>
                <a:off x="2667000" y="2413000"/>
                <a:ext cx="1905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6F1D5B-1AF8-434B-83C6-41891C415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413000"/>
                <a:ext cx="1905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EFA5D-5D2A-F548-93BD-26B7737641FB}"/>
                  </a:ext>
                </a:extLst>
              </p:cNvPr>
              <p:cNvSpPr txBox="1"/>
              <p:nvPr/>
            </p:nvSpPr>
            <p:spPr>
              <a:xfrm>
                <a:off x="1270000" y="3556000"/>
                <a:ext cx="596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latin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𝐴</m:t>
                      </m:r>
                      <m:r>
                        <a:rPr lang="en-US" sz="2000" b="0" i="0">
                          <a:latin typeface="Cambria Math"/>
                        </a:rPr>
                        <m:t> − </m:t>
                      </m:r>
                      <m:r>
                        <a:rPr lang="en-US" sz="2000" b="1" i="1">
                          <a:latin typeface="Cambria Math"/>
                        </a:rPr>
                        <m:t>𝐼</m:t>
                      </m:r>
                      <m:r>
                        <a:rPr lang="en-US" sz="2000" b="0" i="0">
                          <a:latin typeface="Cambria Math"/>
                        </a:rPr>
                        <m:t>) </m:t>
                      </m:r>
                      <m:r>
                        <a:rPr lang="en-US" sz="2000" b="1" i="1">
                          <a:latin typeface="Cambria Math"/>
                        </a:rPr>
                        <m:t>𝑣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latin typeface="Cambria Math"/>
                        </a:rPr>
                        <m:t> = −</m:t>
                      </m:r>
                      <m:r>
                        <a:rPr lang="en-US" sz="20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EFA5D-5D2A-F548-93BD-26B773764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3556000"/>
                <a:ext cx="5969000" cy="508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50E9E-3F0F-2E43-8BAA-C53B8C7E7A53}"/>
                  </a:ext>
                </a:extLst>
              </p:cNvPr>
              <p:cNvSpPr txBox="1"/>
              <p:nvPr/>
            </p:nvSpPr>
            <p:spPr>
              <a:xfrm>
                <a:off x="1270000" y="4267200"/>
                <a:ext cx="762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2450E9E-3F0F-2E43-8BAA-C53B8C7E7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4267200"/>
                <a:ext cx="762000" cy="60960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6668EB-5DB6-134F-9714-A2B65603DFF6}"/>
                  </a:ext>
                </a:extLst>
              </p:cNvPr>
              <p:cNvSpPr txBox="1"/>
              <p:nvPr/>
            </p:nvSpPr>
            <p:spPr>
              <a:xfrm>
                <a:off x="2108200" y="4089400"/>
                <a:ext cx="1143000" cy="1016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1" i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6668EB-5DB6-134F-9714-A2B65603D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200" y="4089400"/>
                <a:ext cx="1143000" cy="10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2616C6-A5C8-364B-BAF4-3C6ECE3B2ADB}"/>
              </a:ext>
            </a:extLst>
          </p:cNvPr>
          <p:cNvSpPr/>
          <p:nvPr/>
        </p:nvSpPr>
        <p:spPr>
          <a:xfrm>
            <a:off x="1219200" y="5283200"/>
            <a:ext cx="5969000" cy="6604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012F0-4EAD-C24B-9765-2D56A74D80F5}"/>
                  </a:ext>
                </a:extLst>
              </p:cNvPr>
              <p:cNvSpPr txBox="1"/>
              <p:nvPr/>
            </p:nvSpPr>
            <p:spPr>
              <a:xfrm>
                <a:off x="1117600" y="5384800"/>
                <a:ext cx="62484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800" b="0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= 3  →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         </m:t>
                      </m:r>
                      <m:r>
                        <a:rPr lang="en-US" sz="1800" b="0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800" b="0" i="0">
                          <a:solidFill>
                            <a:srgbClr val="FFFFFF"/>
                          </a:solidFill>
                          <a:latin typeface="Cambria Math"/>
                        </a:rPr>
                        <m:t> = 1  →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8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BA012F0-4EAD-C24B-9765-2D56A74D8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600" y="5384800"/>
                <a:ext cx="6248400" cy="457200"/>
              </a:xfrm>
              <a:prstGeom prst="rect">
                <a:avLst/>
              </a:prstGeom>
              <a:blipFill>
                <a:blip r:embed="rId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GPanel"/>
          <p:cNvSpPr/>
          <p:nvPr/>
        </p:nvSpPr>
        <p:spPr>
          <a:xfrm>
            <a:off x="7620000" y="1930400"/>
            <a:ext cx="3810000" cy="4191000"/>
          </a:xfrm>
          <a:prstGeom prst="roundRect">
            <a:avLst>
              <a:gd name="adj" fmla="val 6000"/>
            </a:avLst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GLine"/>
          <p:cNvSpPr/>
          <p:nvPr/>
        </p:nvSpPr>
        <p:spPr>
          <a:xfrm>
            <a:off x="7975600" y="51816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GLine"/>
          <p:cNvSpPr/>
          <p:nvPr/>
        </p:nvSpPr>
        <p:spPr>
          <a:xfrm>
            <a:off x="80772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GLine"/>
          <p:cNvSpPr/>
          <p:nvPr/>
        </p:nvSpPr>
        <p:spPr>
          <a:xfrm>
            <a:off x="7975600" y="46228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GLine"/>
          <p:cNvSpPr/>
          <p:nvPr/>
        </p:nvSpPr>
        <p:spPr>
          <a:xfrm>
            <a:off x="91948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GLine"/>
          <p:cNvSpPr/>
          <p:nvPr/>
        </p:nvSpPr>
        <p:spPr>
          <a:xfrm>
            <a:off x="7975600" y="35052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GLine"/>
          <p:cNvSpPr/>
          <p:nvPr/>
        </p:nvSpPr>
        <p:spPr>
          <a:xfrm>
            <a:off x="97536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GLine"/>
          <p:cNvSpPr/>
          <p:nvPr/>
        </p:nvSpPr>
        <p:spPr>
          <a:xfrm>
            <a:off x="7975600" y="29464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GLine"/>
          <p:cNvSpPr/>
          <p:nvPr/>
        </p:nvSpPr>
        <p:spPr>
          <a:xfrm>
            <a:off x="103124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GLine"/>
          <p:cNvSpPr/>
          <p:nvPr/>
        </p:nvSpPr>
        <p:spPr>
          <a:xfrm>
            <a:off x="7975600" y="2387600"/>
            <a:ext cx="3251200" cy="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0" name="GLine"/>
          <p:cNvSpPr/>
          <p:nvPr/>
        </p:nvSpPr>
        <p:spPr>
          <a:xfrm>
            <a:off x="10871200" y="2260600"/>
            <a:ext cx="0" cy="2946400"/>
          </a:xfrm>
          <a:prstGeom prst="line">
            <a:avLst/>
          </a:prstGeom>
          <a:ln w="6350" cap="rnd">
            <a:solidFill>
              <a:srgbClr val="E0D9C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GLine"/>
          <p:cNvSpPr/>
          <p:nvPr/>
        </p:nvSpPr>
        <p:spPr>
          <a:xfrm>
            <a:off x="7975600" y="4064000"/>
            <a:ext cx="3251200" cy="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GLine"/>
          <p:cNvSpPr/>
          <p:nvPr/>
        </p:nvSpPr>
        <p:spPr>
          <a:xfrm flipV="1">
            <a:off x="8636000" y="2260600"/>
            <a:ext cx="0" cy="2946400"/>
          </a:xfrm>
          <a:prstGeom prst="line">
            <a:avLst/>
          </a:prstGeom>
          <a:ln w="12700" cap="rnd">
            <a:solidFill>
              <a:srgbClr val="8A857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GLine"/>
          <p:cNvSpPr/>
          <p:nvPr/>
        </p:nvSpPr>
        <p:spPr>
          <a:xfrm flipV="1">
            <a:off x="8188960" y="2303780"/>
            <a:ext cx="2207260" cy="2207260"/>
          </a:xfrm>
          <a:prstGeom prst="line">
            <a:avLst/>
          </a:prstGeom>
          <a:ln w="19050" cap="rnd">
            <a:solidFill>
              <a:srgbClr val="B7A57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4" name="GLine"/>
          <p:cNvSpPr/>
          <p:nvPr/>
        </p:nvSpPr>
        <p:spPr>
          <a:xfrm>
            <a:off x="7993380" y="3421380"/>
            <a:ext cx="1704340" cy="1704340"/>
          </a:xfrm>
          <a:prstGeom prst="line">
            <a:avLst/>
          </a:prstGeom>
          <a:ln w="19050" cap="rnd">
            <a:solidFill>
              <a:srgbClr val="B7A57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5" name="GLine"/>
          <p:cNvSpPr/>
          <p:nvPr/>
        </p:nvSpPr>
        <p:spPr>
          <a:xfrm flipV="1">
            <a:off x="8636000" y="2387600"/>
            <a:ext cx="1676400" cy="1676400"/>
          </a:xfrm>
          <a:prstGeom prst="line">
            <a:avLst/>
          </a:prstGeom>
          <a:ln w="28575" cap="rnd">
            <a:solidFill>
              <a:srgbClr val="4B2E83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216" name="GLine"/>
          <p:cNvSpPr/>
          <p:nvPr/>
        </p:nvSpPr>
        <p:spPr>
          <a:xfrm>
            <a:off x="8636000" y="4064000"/>
            <a:ext cx="558800" cy="558800"/>
          </a:xfrm>
          <a:prstGeom prst="line">
            <a:avLst/>
          </a:prstGeom>
          <a:ln w="28575" cap="rnd">
            <a:solidFill>
              <a:srgbClr val="00A7B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217" name="GDot"/>
          <p:cNvSpPr/>
          <p:nvPr/>
        </p:nvSpPr>
        <p:spPr>
          <a:xfrm>
            <a:off x="8591550" y="4019550"/>
            <a:ext cx="88900" cy="889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GLbl"/>
          <p:cNvSpPr txBox="1"/>
          <p:nvPr/>
        </p:nvSpPr>
        <p:spPr>
          <a:xfrm>
            <a:off x="8077200" y="2565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4B2E83"/>
                </a:solidFill>
              </a:rPr>
              <a:t>λ = 3  × 3</a:t>
            </a:r>
          </a:p>
        </p:txBody>
      </p:sp>
      <p:sp>
        <p:nvSpPr>
          <p:cNvPr id="219" name="GLbl"/>
          <p:cNvSpPr txBox="1"/>
          <p:nvPr/>
        </p:nvSpPr>
        <p:spPr>
          <a:xfrm>
            <a:off x="9499600" y="4521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D88"/>
                </a:solidFill>
              </a:rPr>
              <a:t>λ = 1  × 1</a:t>
            </a:r>
          </a:p>
        </p:txBody>
      </p:sp>
      <p:sp>
        <p:nvSpPr>
          <p:cNvPr id="220" name="GLbl"/>
          <p:cNvSpPr txBox="1"/>
          <p:nvPr/>
        </p:nvSpPr>
        <p:spPr>
          <a:xfrm>
            <a:off x="7747000" y="5334000"/>
            <a:ext cx="355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4B2E83"/>
                </a:solidFill>
              </a:rPr>
              <a:t>y = x stretches by 3; y = −x is unchanged</a:t>
            </a:r>
          </a:p>
        </p:txBody>
      </p:sp>
    </p:spTree>
    <p:extLst>
      <p:ext uri="{BB962C8B-B14F-4D97-AF65-F5344CB8AC3E}">
        <p14:creationId xmlns:p14="http://schemas.microsoft.com/office/powerpoint/2010/main" val="183879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 animBg="1"/>
      <p:bldP spid="15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/>
      <p:bldP spid="219" grpId="0"/>
      <p:bldP spid="2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64A371-F9B1-824D-99ED-51378021059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F6C35-9CD1-0C40-9E7A-69673D4DA6B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1)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297D12B-4339-7F41-A260-46B9BB1F7927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9939C-5F4C-694B-B771-6AF68AAD7FE1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I)v = 0 is two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17AD2D-EE5F-754B-A942-A7823D6284E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I by v = (x, y),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(1)x + (1)y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x +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−x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(1)x + (1)y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x +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the same equation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3835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2 is identical to Row 1, so it adds nothing. Having only one independent equation for two unknowns is exactly what det(A − I) = 0 buys us — and it is why a nonzero v can exist at all.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48006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48006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Choose x = 1  ⇒  v = (1, −1).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217310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B90D8B-D078-8945-8462-1F389455557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F2F1E-8F4C-9D4C-AC94-C785F6697BD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27220DF-49AA-A647-99F3-3EBE28D1D9F0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4E58D-B83D-C944-A3C7-2493D9629D6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Same recipe in 3-D: solve A v =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v through det(A − </a:t>
            </a:r>
            <a:r>
              <a:rPr lang="el-GR" sz="1600">
                <a:solidFill>
                  <a:srgbClr val="333333"/>
                </a:solidFill>
              </a:rPr>
              <a:t>λ</a:t>
            </a:r>
            <a:r>
              <a:rPr lang="en-US" sz="1600">
                <a:solidFill>
                  <a:srgbClr val="333333"/>
                </a:solidFill>
              </a:rPr>
              <a:t>I) = 0.  (A is a companion matrix.)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D7177B-6D2C-3649-98B7-0C6D8F7EBD6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1555A-BF30-9947-846A-E70676A5FF81}"/>
                  </a:ext>
                </a:extLst>
              </p:cNvPr>
              <p:cNvSpPr txBox="1"/>
              <p:nvPr/>
            </p:nvSpPr>
            <p:spPr>
              <a:xfrm>
                <a:off x="1524000" y="2895600"/>
                <a:ext cx="88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1555A-BF30-9947-846A-E70676A5F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895600"/>
                <a:ext cx="889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BC4C1-48C7-E847-9C7E-3DA68D0856FB}"/>
                  </a:ext>
                </a:extLst>
              </p:cNvPr>
              <p:cNvSpPr txBox="1"/>
              <p:nvPr/>
            </p:nvSpPr>
            <p:spPr>
              <a:xfrm>
                <a:off x="2489200" y="24892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3BC4C1-48C7-E847-9C7E-3DA68D085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0" y="24892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9F702A-8D7C-494B-A719-2C23277E8B5C}"/>
                  </a:ext>
                </a:extLst>
              </p:cNvPr>
              <p:cNvSpPr txBox="1"/>
              <p:nvPr/>
            </p:nvSpPr>
            <p:spPr>
              <a:xfrm>
                <a:off x="5969000" y="2692400"/>
                <a:ext cx="482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</m:t>
                      </m:r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latin typeface="Cambria Math"/>
                        </a:rPr>
                        <m:t> </m:t>
                      </m:r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9F702A-8D7C-494B-A719-2C23277E8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2692400"/>
                <a:ext cx="4826000" cy="508000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84EAC-7DF1-AB4C-802F-4477CBBB6D7A}"/>
                  </a:ext>
                </a:extLst>
              </p:cNvPr>
              <p:cNvSpPr txBox="1"/>
              <p:nvPr/>
            </p:nvSpPr>
            <p:spPr>
              <a:xfrm>
                <a:off x="5969000" y="3302000"/>
                <a:ext cx="5080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latin typeface="Cambria Math"/>
                        </a:rPr>
                        <m:t>(</m:t>
                      </m:r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) </m:t>
                      </m:r>
                      <m:r>
                        <a:rPr lang="en-US" sz="2400" b="1" i="1"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B84EAC-7DF1-AB4C-802F-4477CBBB6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3302000"/>
                <a:ext cx="5080000" cy="508000"/>
              </a:xfrm>
              <a:prstGeom prst="rect">
                <a:avLst/>
              </a:prstGeom>
              <a:blipFill>
                <a:blip r:embed="rId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B219E5C-9F9C-9941-AEAB-5497D741C22C}"/>
              </a:ext>
            </a:extLst>
          </p:cNvPr>
          <p:cNvSpPr txBox="1"/>
          <p:nvPr/>
        </p:nvSpPr>
        <p:spPr>
          <a:xfrm>
            <a:off x="1524000" y="5181600"/>
            <a:ext cx="939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det( A − </a:t>
            </a:r>
            <a:r>
              <a:rPr lang="el-GR" i="1">
                <a:solidFill>
                  <a:srgbClr val="00A7B5"/>
                </a:solidFill>
              </a:rPr>
              <a:t>λ</a:t>
            </a:r>
            <a:r>
              <a:rPr lang="en-US" i="1">
                <a:solidFill>
                  <a:srgbClr val="00A7B5"/>
                </a:solidFill>
              </a:rPr>
              <a:t>I ) = 0  now expands into a cubic — it will have three eigenvalues.</a:t>
            </a:r>
          </a:p>
        </p:txBody>
      </p:sp>
    </p:spTree>
    <p:extLst>
      <p:ext uri="{BB962C8B-B14F-4D97-AF65-F5344CB8AC3E}">
        <p14:creationId xmlns:p14="http://schemas.microsoft.com/office/powerpoint/2010/main" val="252185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F992DF-E0F2-B342-81C7-46509AB39E3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611DA-2568-0D4B-B722-3C2C25FD4A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DB7676-E278-A242-A492-8F66778CDB8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48ABD-060A-0A4F-85D7-8EB3B330A07E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each diagonal entry.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AEE10EF-89A7-7B4A-9D9A-6D9881DC55F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0FD35-F4F5-5C4A-BB7C-794CD918F5E8}"/>
                  </a:ext>
                </a:extLst>
              </p:cNvPr>
              <p:cNvSpPr txBox="1"/>
              <p:nvPr/>
            </p:nvSpPr>
            <p:spPr>
              <a:xfrm>
                <a:off x="2159000" y="3149600"/>
                <a:ext cx="228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0FD35-F4F5-5C4A-BB7C-794CD918F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3149600"/>
                <a:ext cx="2286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795D81-F234-0347-84D9-A7D726E716E0}"/>
                  </a:ext>
                </a:extLst>
              </p:cNvPr>
              <p:cNvSpPr txBox="1"/>
              <p:nvPr/>
            </p:nvSpPr>
            <p:spPr>
              <a:xfrm>
                <a:off x="4826000" y="2692400"/>
                <a:ext cx="406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latin typeface="Cambria Math"/>
                                  </a:rPr>
                                  <m:t>6−</m:t>
                                </m:r>
                                <m:r>
                                  <a:rPr lang="en-US" sz="2200" b="1" i="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1795D81-F234-0347-84D9-A7D726E71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0" y="2692400"/>
                <a:ext cx="406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640D4F-598A-0D4D-BA8F-D770DE0FCDC9}"/>
              </a:ext>
            </a:extLst>
          </p:cNvPr>
          <p:cNvSpPr txBox="1"/>
          <p:nvPr/>
        </p:nvSpPr>
        <p:spPr>
          <a:xfrm>
            <a:off x="2159000" y="5207000"/>
            <a:ext cx="863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Next: expand this determinant by cofactors down the first column.</a:t>
            </a:r>
          </a:p>
        </p:txBody>
      </p:sp>
    </p:spTree>
    <p:extLst>
      <p:ext uri="{BB962C8B-B14F-4D97-AF65-F5344CB8AC3E}">
        <p14:creationId xmlns:p14="http://schemas.microsoft.com/office/powerpoint/2010/main" val="58987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FBF870-AC7E-8A44-B740-527AD6B6905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C5D3F-EEC9-0A4F-9418-7DF5D15C89D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3: Expand the Determinant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CC8F4A-B572-6B4F-9AA3-8500E355087E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8835-148C-A649-AD4C-429C09B7A594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Cofactor expansion down column 1; the middle entry is 0, so it drops out.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F6A9EE-2EFC-1A4E-A9FF-19974C45256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36F6B3-C6FE-4745-91E3-488F26F850D6}"/>
                  </a:ext>
                </a:extLst>
              </p:cNvPr>
              <p:cNvSpPr txBox="1"/>
              <p:nvPr/>
            </p:nvSpPr>
            <p:spPr>
              <a:xfrm>
                <a:off x="1397000" y="2540000"/>
                <a:ext cx="9652000" cy="279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𝑑𝑒𝑡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9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  =  (−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)·[ (−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)(6 − </m:t>
                      </m:r>
                      <m:r>
                        <a:rPr lang="en-US" sz="19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900" b="0" i="0">
                          <a:solidFill>
                            <a:srgbClr val="333333"/>
                          </a:solidFill>
                          <a:latin typeface="Cambria Math"/>
                        </a:rPr>
                        <m:t>) − (1)(−11) ]  +  6·[ (1)(1) − 0 ]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=  (−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)( </m:t>
                      </m:r>
                      <m:sSup>
                        <m:sSupPr>
                          <m:ctrlP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+ 11 )  +  6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=  −</m:t>
                      </m:r>
                      <m:sSup>
                        <m:sSupPr>
                          <m:ctrlP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  <m:sSup>
                        <m:sSupPr>
                          <m:ctrlP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1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3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− 11</m:t>
                      </m:r>
                      <m:r>
                        <a:rPr lang="en-US" sz="21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1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36F6B3-C6FE-4745-91E3-488F26F8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540000"/>
                <a:ext cx="9652000" cy="279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922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B337AB-1F42-FD44-8BB2-F535D774DE0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846BF-3950-EE49-996F-25297A676D79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4: Solve the Cubic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1783E4-2023-4F4C-928D-54D527C3260A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AE670-3446-7440-B4C4-D51BBD64FC5C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Find one integer root, then factor the cubic completely.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68D4C41-8075-334E-8107-EA89119EC7EC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993BB-6120-C345-A2BC-533E9C019D1E}"/>
                  </a:ext>
                </a:extLst>
              </p:cNvPr>
              <p:cNvSpPr txBox="1"/>
              <p:nvPr/>
            </p:nvSpPr>
            <p:spPr>
              <a:xfrm>
                <a:off x="1397000" y="2463800"/>
                <a:ext cx="9652000" cy="2413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24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24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− 11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+ 6 = 0    ⇒    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24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24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+ 11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 = 0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𝑇𝑟𝑦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1:   1 − 6 + 11 − 6 = 0  ✓   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𝑠𝑜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(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− 1)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𝑖𝑠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𝑎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𝑓𝑎𝑐𝑡𝑜𝑟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24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</m:t>
                      </m:r>
                      <m:sSup>
                        <m:sSupPr>
                          <m:ctrlP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lang="en-US" sz="124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+ 11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− 6 = (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− 1)(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− 2)(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− 3) =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C993BB-6120-C345-A2BC-533E9C019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463800"/>
                <a:ext cx="9652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9C0669-13E8-F843-AC1E-357300CCAA8A}"/>
              </a:ext>
            </a:extLst>
          </p:cNvPr>
          <p:cNvSpPr/>
          <p:nvPr/>
        </p:nvSpPr>
        <p:spPr>
          <a:xfrm>
            <a:off x="1397000" y="5105400"/>
            <a:ext cx="9398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94C863-9259-854B-90E3-59A127E33A9E}"/>
                  </a:ext>
                </a:extLst>
              </p:cNvPr>
              <p:cNvSpPr txBox="1"/>
              <p:nvPr/>
            </p:nvSpPr>
            <p:spPr>
              <a:xfrm>
                <a:off x="1651000" y="5232400"/>
                <a:ext cx="8890000" cy="457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488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1     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488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2     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488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94C863-9259-854B-90E3-59A127E33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5232400"/>
                <a:ext cx="8890000" cy="457200"/>
              </a:xfrm>
              <a:prstGeom prst="rect">
                <a:avLst/>
              </a:prstGeom>
              <a:blipFill>
                <a:blip r:embed="rId3"/>
                <a:stretch>
                  <a:fillRect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79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9D7FC4-7927-F644-9F6A-3ACCB6C535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F7335-DF62-BC4A-8795-907B0459BB46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5: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2DFA99-DEC4-7346-A540-E8918FE8E7D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FE8AA-A252-9742-B7EE-D03624F53F9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I)v = 0; the first two rows give a chain of substitutions.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5303B3-0235-4B48-A3AA-F3178C9EA6B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D19E86-8EFE-554B-8B31-F41068E03CC7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D19E86-8EFE-554B-8B31-F41068E03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D5DCEF-E2B3-3B42-8F4A-644B144E1084}"/>
                  </a:ext>
                </a:extLst>
              </p:cNvPr>
              <p:cNvSpPr txBox="1"/>
              <p:nvPr/>
            </p:nvSpPr>
            <p:spPr>
              <a:xfrm>
                <a:off x="3429000" y="2514600"/>
                <a:ext cx="304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D5DCEF-E2B3-3B42-8F4A-644B144E1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14600"/>
                <a:ext cx="3048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8D6F-1937-5A4D-B2CF-F58B518F8C19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064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dirty="0"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E68D6F-1937-5A4D-B2CF-F58B518F8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064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7DCE04-B020-604E-B676-11B61737E81E}"/>
                  </a:ext>
                </a:extLst>
              </p:cNvPr>
              <p:cNvSpPr txBox="1"/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7DCE04-B020-604E-B676-11B61737E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565BB-815C-4A4A-B033-AD02629FC5BD}"/>
                  </a:ext>
                </a:extLst>
              </p:cNvPr>
              <p:cNvSpPr txBox="1"/>
              <p:nvPr/>
            </p:nvSpPr>
            <p:spPr>
              <a:xfrm>
                <a:off x="4368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4565BB-815C-4A4A-B033-AD02629FC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74D87E-5B13-EA49-BF1F-D5A9CE83978F}"/>
                  </a:ext>
                </a:extLst>
              </p:cNvPr>
              <p:cNvSpPr txBox="1"/>
              <p:nvPr/>
            </p:nvSpPr>
            <p:spPr>
              <a:xfrm>
                <a:off x="5715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00A7B5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74D87E-5B13-EA49-BF1F-D5A9CE83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03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9D7FC4-7927-F644-9F6A-3ACCB6C535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F7335-DF62-BC4A-8795-907B0459BB46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1)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2DFA99-DEC4-7346-A540-E8918FE8E7DB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8FE8AA-A252-9742-B7EE-D03624F53F9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I)v = 0 is three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5303B3-0235-4B48-A3AA-F3178C9EA6B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I by v = (x, y, z),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(−1)x + (1)y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−x +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(0)x + (−1)y + (1)z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−y + 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z = y = 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3:  </a:t>
            </a:r>
            <a:r>
              <a:rPr lang="en-US" sz="1600" dirty="0">
                <a:solidFill>
                  <a:srgbClr val="333333"/>
                </a:solidFill>
              </a:rPr>
              <a:t>(6)x + (−11)y + (5)z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6x − 11x + 5x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0 = 0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4089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3 tells us nothing new — it is automatically satisfied. That redundancy is exactly what det(A − I) = 0 buys us, and it is why a nonzero v can exist at all.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50292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50292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Choose x = 1  ⇒  v = (1, 1, 1).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110743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9FAB03-7D10-024B-A02C-26A97886F5F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5946C-4715-F643-B363-A50940CBF79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6: Eigenvector for </a:t>
            </a:r>
            <a:r>
              <a:rPr lang="el-GR" sz="2600" b="1">
                <a:solidFill>
                  <a:srgbClr val="4B2E83"/>
                </a:solidFill>
              </a:rPr>
              <a:t>λ = 2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894403-95F6-994C-BDC1-2B3C2E1A3AB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6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16787-B1A7-9A46-A63A-7E3B6B7F89D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Same substitution chain with </a:t>
            </a:r>
            <a:r>
              <a:rPr lang="el-GR" sz="1600">
                <a:solidFill>
                  <a:srgbClr val="333333"/>
                </a:solidFill>
              </a:rPr>
              <a:t>λ = 2.</a:t>
            </a:r>
            <a:endParaRPr lang="en-US" sz="1600">
              <a:solidFill>
                <a:srgbClr val="333333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BA2660-C247-2640-BD11-4514D3C3C93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2BA97-9975-5B40-82EF-406C36F1C3A0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203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− 2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42BA97-9975-5B40-82EF-406C36F1C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2032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9C1C9-3457-9E43-B79A-1A51D7DD468B}"/>
                  </a:ext>
                </a:extLst>
              </p:cNvPr>
              <p:cNvSpPr txBox="1"/>
              <p:nvPr/>
            </p:nvSpPr>
            <p:spPr>
              <a:xfrm>
                <a:off x="3556000" y="2514600"/>
                <a:ext cx="3048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A9C1C9-3457-9E43-B79A-1A51D7DD4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2514600"/>
                <a:ext cx="3048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0E56B-DB9C-834D-979A-BCA153576C0B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−2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2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−2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4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0E56B-DB9C-834D-979A-BCA153576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65866-68CC-C644-BE4E-FBE0128319EE}"/>
                  </a:ext>
                </a:extLst>
              </p:cNvPr>
              <p:cNvSpPr txBox="1"/>
              <p:nvPr/>
            </p:nvSpPr>
            <p:spPr>
              <a:xfrm>
                <a:off x="3556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65866-68CC-C644-BE4E-FBE012831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1A5A0-ECE7-6245-AE94-66AFE750924E}"/>
                  </a:ext>
                </a:extLst>
              </p:cNvPr>
              <p:cNvSpPr txBox="1"/>
              <p:nvPr/>
            </p:nvSpPr>
            <p:spPr>
              <a:xfrm>
                <a:off x="4495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B1A5A0-ECE7-6245-AE94-66AFE7509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39BE3A-FC06-8A4F-944B-4C7201472EA7}"/>
                  </a:ext>
                </a:extLst>
              </p:cNvPr>
              <p:cNvSpPr txBox="1"/>
              <p:nvPr/>
            </p:nvSpPr>
            <p:spPr>
              <a:xfrm>
                <a:off x="5842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00A7B5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 = 2)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39BE3A-FC06-8A4F-944B-4C7201472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783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9FAB03-7D10-024B-A02C-26A97886F5F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5946C-4715-F643-B363-A50940CBF798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E894403-95F6-994C-BDC1-2B3C2E1A3AB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16787-B1A7-9A46-A63A-7E3B6B7F89DF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− 2I)v = 0 is three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BA2660-C247-2640-BD11-4514D3C3C936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− 2I by v = (x, y, z),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(−2)x + (1)y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−2x +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2x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(0)x + (−2)y + (1)z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−2y + 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z = 2y = 4x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3:  </a:t>
            </a:r>
            <a:r>
              <a:rPr lang="en-US" sz="1600" dirty="0">
                <a:solidFill>
                  <a:srgbClr val="333333"/>
                </a:solidFill>
              </a:rPr>
              <a:t>(6)x + (−11)y + (4)z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6x − 22x + 16x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0 = 0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424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3 tells us nothing new — it is automatically satisfied. That redundancy is exactly what det(A − 2I) = 0 buys us, and it is why a nonzero v can exist at all.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50292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50292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Choose x = 1  ⇒  v = (1, 2, 4).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65514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C58B49-011C-8F4D-B4D8-815719D640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6C577-52DE-DD49-A088-FE5CE35B07A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2 (3×3) — Step 7: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761616-373F-5141-8C67-557BB609696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7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90543-10DD-0745-844B-3D5700F76F25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Last one, then collect all three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7B6D81-51E2-194E-AC1B-0111739E6322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80A10-47A9-1347-A288-9A04DB4166F5}"/>
                  </a:ext>
                </a:extLst>
              </p:cNvPr>
              <p:cNvSpPr txBox="1"/>
              <p:nvPr/>
            </p:nvSpPr>
            <p:spPr>
              <a:xfrm>
                <a:off x="1270000" y="2692400"/>
                <a:ext cx="2032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− 3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80A10-47A9-1347-A288-9A04DB416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0" y="2692400"/>
                <a:ext cx="2032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4245C-CC3D-9B48-8051-1E64F76C4981}"/>
                  </a:ext>
                </a:extLst>
              </p:cNvPr>
              <p:cNvSpPr txBox="1"/>
              <p:nvPr/>
            </p:nvSpPr>
            <p:spPr>
              <a:xfrm>
                <a:off x="3429000" y="2311400"/>
                <a:ext cx="3048000" cy="1460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F4245C-CC3D-9B48-8051-1E64F76C4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311400"/>
                <a:ext cx="3048000" cy="1460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98D72F-F5AB-D047-A9B3-9BD30A54EB12}"/>
                  </a:ext>
                </a:extLst>
              </p:cNvPr>
              <p:cNvSpPr txBox="1"/>
              <p:nvPr/>
            </p:nvSpPr>
            <p:spPr>
              <a:xfrm>
                <a:off x="7112000" y="2540000"/>
                <a:ext cx="41910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−3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9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98D72F-F5AB-D047-A9B3-9BD30A54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540000"/>
                <a:ext cx="4191000" cy="12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AAA5A1-069E-BB49-BEF3-F543F4451ABC}"/>
                  </a:ext>
                </a:extLst>
              </p:cNvPr>
              <p:cNvSpPr txBox="1"/>
              <p:nvPr/>
            </p:nvSpPr>
            <p:spPr>
              <a:xfrm>
                <a:off x="3429000" y="3962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AAA5A1-069E-BB49-BEF3-F543F4451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962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E5615A-9266-0B42-9973-6448709599E4}"/>
                  </a:ext>
                </a:extLst>
              </p:cNvPr>
              <p:cNvSpPr txBox="1"/>
              <p:nvPr/>
            </p:nvSpPr>
            <p:spPr>
              <a:xfrm>
                <a:off x="4368800" y="3810000"/>
                <a:ext cx="1016000" cy="1143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E5615A-9266-0B42-9973-644870959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3810000"/>
                <a:ext cx="1016000" cy="1143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9EAED2-E50B-A64A-AD15-78476DB416FC}"/>
              </a:ext>
            </a:extLst>
          </p:cNvPr>
          <p:cNvSpPr/>
          <p:nvPr/>
        </p:nvSpPr>
        <p:spPr>
          <a:xfrm>
            <a:off x="1143000" y="5308600"/>
            <a:ext cx="9906000" cy="6096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6A81-1651-C743-8B3D-9E19405DC142}"/>
                  </a:ext>
                </a:extLst>
              </p:cNvPr>
              <p:cNvSpPr txBox="1"/>
              <p:nvPr/>
            </p:nvSpPr>
            <p:spPr>
              <a:xfrm>
                <a:off x="1320800" y="5308600"/>
                <a:ext cx="95504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1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2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</m:t>
                      </m:r>
                      <m:r>
                        <a:rPr lang="en-US" sz="15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5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3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5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15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3F16A81-1651-C743-8B3D-9E19405DC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5308600"/>
                <a:ext cx="9550400" cy="609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33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C58B49-011C-8F4D-B4D8-815719D640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6C577-52DE-DD49-A088-FE5CE35B07AF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3)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C761616-373F-5141-8C67-557BB609696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390543-10DD-0745-844B-3D5700F76F25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− 3I)v = 0 is three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7B6D81-51E2-194E-AC1B-0111739E6322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− 3I by v = (x, y, z),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(−3)x + (1)y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−3x + 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3x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(0)x + (−3)y + (1)z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−3y + 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z = 3y = 9x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3:  </a:t>
            </a:r>
            <a:r>
              <a:rPr lang="en-US" sz="1600" dirty="0">
                <a:solidFill>
                  <a:srgbClr val="333333"/>
                </a:solidFill>
              </a:rPr>
              <a:t>(6)x + (−11)y + (3)z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6x − 33x + 27x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0 = 0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424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3 tells us nothing new — it is automatically satisfied. That redundancy is exactly what det(A − 3I) = 0 buys us, and it is why a nonzero v can exist at all.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50292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50292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Choose x = 1  ⇒  v = (1, 3, 9).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414469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DDF769-2FF8-8143-85BC-62BAB5C19F3A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BB96F3-D8C3-2A44-942C-7BA07D9765F4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1: The Setup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87A638-0D96-F248-B85F-4911EE4172D4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1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3437C-C10A-A14F-A4F2-0764E8B26A3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A third example with an upper-triangular matrix — watch how that shortcuts the determinant.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396DDF2-5773-E048-A4B6-AB7ED812BEA7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DCBB3-6EB9-724E-8B4D-6671C99C4A69}"/>
                  </a:ext>
                </a:extLst>
              </p:cNvPr>
              <p:cNvSpPr txBox="1"/>
              <p:nvPr/>
            </p:nvSpPr>
            <p:spPr>
              <a:xfrm>
                <a:off x="1397000" y="2692400"/>
                <a:ext cx="1143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4DCBB3-6EB9-724E-8B4D-6671C99C4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692400"/>
                <a:ext cx="1143000" cy="508000"/>
              </a:xfrm>
              <a:prstGeom prst="rect">
                <a:avLst/>
              </a:prstGeom>
              <a:blipFill>
                <a:blip r:embed="rId2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AE7069-91C6-8E4A-B578-FFC3541E2C4F}"/>
                  </a:ext>
                </a:extLst>
              </p:cNvPr>
              <p:cNvSpPr txBox="1"/>
              <p:nvPr/>
            </p:nvSpPr>
            <p:spPr>
              <a:xfrm>
                <a:off x="2667000" y="2387600"/>
                <a:ext cx="2794000" cy="14605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AE7069-91C6-8E4A-B578-FFC3541E2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387600"/>
                <a:ext cx="2794000" cy="1460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31118-4C80-8244-957F-F09171D2B322}"/>
                  </a:ext>
                </a:extLst>
              </p:cNvPr>
              <p:cNvSpPr txBox="1"/>
              <p:nvPr/>
            </p:nvSpPr>
            <p:spPr>
              <a:xfrm>
                <a:off x="6350000" y="2540000"/>
                <a:ext cx="482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)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0,  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≠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A31118-4C80-8244-957F-F09171D2B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540000"/>
                <a:ext cx="4826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D0ECA63-158B-E64E-9267-2C3F02207D69}"/>
              </a:ext>
            </a:extLst>
          </p:cNvPr>
          <p:cNvSpPr txBox="1"/>
          <p:nvPr/>
        </p:nvSpPr>
        <p:spPr>
          <a:xfrm>
            <a:off x="1397000" y="5232400"/>
            <a:ext cx="9652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All entries below the diagonal are 0 → the eigenvalues will read straight off the diagonal.</a:t>
            </a:r>
          </a:p>
        </p:txBody>
      </p:sp>
    </p:spTree>
    <p:extLst>
      <p:ext uri="{BB962C8B-B14F-4D97-AF65-F5344CB8AC3E}">
        <p14:creationId xmlns:p14="http://schemas.microsoft.com/office/powerpoint/2010/main" val="292023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838C2A-E398-B24B-AB06-FEF83BDBA3F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EA9A4-A570-E04D-9CCD-A462645406EB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2: Form A − </a:t>
            </a:r>
            <a:r>
              <a:rPr lang="el-GR" sz="2600" b="1">
                <a:solidFill>
                  <a:srgbClr val="4B2E83"/>
                </a:solidFill>
              </a:rPr>
              <a:t>λ</a:t>
            </a:r>
            <a:r>
              <a:rPr lang="en-US" sz="2600" b="1">
                <a:solidFill>
                  <a:srgbClr val="4B2E83"/>
                </a:solidFill>
              </a:rPr>
              <a:t>I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6E5BA74-7C1B-0C40-A002-CDB54A259D5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2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D9C49-0BCB-5649-92F2-4508EEB9C37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Subtract </a:t>
            </a:r>
            <a:r>
              <a:rPr lang="el-GR" sz="1600">
                <a:solidFill>
                  <a:srgbClr val="333333"/>
                </a:solidFill>
              </a:rPr>
              <a:t>λ </a:t>
            </a:r>
            <a:r>
              <a:rPr lang="en-US" sz="1600">
                <a:solidFill>
                  <a:srgbClr val="333333"/>
                </a:solidFill>
              </a:rPr>
              <a:t>from each diagonal entry — the zeros below the diagonal stay put.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BD0CA6-B987-5D47-8FDE-279831EDA359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97B07-306B-8B41-B4A7-8F054DA00259}"/>
                  </a:ext>
                </a:extLst>
              </p:cNvPr>
              <p:cNvSpPr txBox="1"/>
              <p:nvPr/>
            </p:nvSpPr>
            <p:spPr>
              <a:xfrm>
                <a:off x="2159000" y="2997200"/>
                <a:ext cx="2286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mc:AlternateContent>
                  <mc:Choice Requires="a14">
                    <a14:m>
                      <m:oMathPara xmlns:m="http://schemas.openxmlformats.org/officeDocument/2006/math">
                        <m:oMath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− </m:t>
                          </m:r>
                          <m:r>
                            <a:rPr lang="en-US" sz="2400" b="0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𝜆</m:t>
                          </m:r>
                          <m:r>
                            <a:rPr lang="en-US" sz="2400" b="1" i="1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0">
                              <a:solidFill>
                                <a:srgbClr val="333333"/>
                              </a:solidFill>
                              <a:latin typeface="Cambria Math"/>
                            </a:rPr>
                            <m:t> =</m:t>
                          </m:r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A - λI =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C97B07-306B-8B41-B4A7-8F054DA00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000" y="2997200"/>
                <a:ext cx="2286000" cy="5080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F9A71-2F6D-134A-908D-8E0A61A94D05}"/>
                  </a:ext>
                </a:extLst>
              </p:cNvPr>
              <p:cNvSpPr txBox="1"/>
              <p:nvPr/>
            </p:nvSpPr>
            <p:spPr>
              <a:xfrm>
                <a:off x="4826000" y="2489200"/>
                <a:ext cx="406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mc:AlternateContent>
                  <mc:Choice Requires="a14">
                    <a14:m>
                      <m:oMathPara xmlns:m="http://schemas.openxmlformats.org/officeDocument/2006/math">
                        <m:oMath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200" b="1" i="1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3−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1−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2−</m:t>
                                    </m:r>
                                    <m:r>
                                      <a:rPr lang="en-US" sz="2200" b="1" i="0">
                                        <a:solidFill>
                                          <a:srgbClr val="333333"/>
                                        </a:solidFill>
                                        <a:latin typeface="Cambria Math"/>
                                      </a:rPr>
                                      <m:t>𝜆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</mc:Choice>
                  <mc:Fallback xmlns="">
                    <a:r>
                      <a:rPr lang="en-US" sz="1800"/>
                      <a:t>[A-λI]</a:t>
                    </a:r>
                  </mc:Fallback>
                </mc:AlternateContent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BF9A71-2F6D-134A-908D-8E0A61A94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00" y="2489200"/>
                <a:ext cx="406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CD753D0-CFA5-9B46-A682-F5356479127E}"/>
              </a:ext>
            </a:extLst>
          </p:cNvPr>
          <p:cNvSpPr txBox="1"/>
          <p:nvPr/>
        </p:nvSpPr>
        <p:spPr>
          <a:xfrm>
            <a:off x="2159000" y="5207000"/>
            <a:ext cx="8128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Still upper-triangular → det = product of the diagonal entries.</a:t>
            </a:r>
          </a:p>
        </p:txBody>
      </p:sp>
    </p:spTree>
    <p:extLst>
      <p:ext uri="{BB962C8B-B14F-4D97-AF65-F5344CB8AC3E}">
        <p14:creationId xmlns:p14="http://schemas.microsoft.com/office/powerpoint/2010/main" val="108976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F1906E-DF24-884B-9706-1A3A9529F27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5AF22-1CDD-004A-90E9-1AA95784E1CB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3: The Determinant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048DC0-76EF-034B-A492-93AF78E6221F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3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F1EAC-E3D4-ED4F-9A65-E021E60735CE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No cofactor expansion needed — the triangular shortcut does the work.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35DCD27-28C1-544C-BBD5-C3BCCA1AB8DB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4DB43-36A8-B047-93D7-D88C4F57B7B1}"/>
              </a:ext>
            </a:extLst>
          </p:cNvPr>
          <p:cNvSpPr txBox="1"/>
          <p:nvPr/>
        </p:nvSpPr>
        <p:spPr>
          <a:xfrm>
            <a:off x="1397000" y="24892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For a triangular matrix, the determinant is just the product of the diagonal entries: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BC5635-51E1-DD43-A022-AD5D3C5FFB99}"/>
                  </a:ext>
                </a:extLst>
              </p:cNvPr>
              <p:cNvSpPr txBox="1"/>
              <p:nvPr/>
            </p:nvSpPr>
            <p:spPr>
              <a:xfrm>
                <a:off x="1397000" y="3175000"/>
                <a:ext cx="9398000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𝑑𝑒𝑡</m:t>
                      </m:r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b="1" i="1">
                          <a:solidFill>
                            <a:srgbClr val="4B2E8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24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1" i="1">
                          <a:solidFill>
                            <a:srgbClr val="4B2E8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) = (3 − </m:t>
                      </m:r>
                      <m:r>
                        <a:rPr lang="en-US" sz="24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)(1 − </m:t>
                      </m:r>
                      <m:r>
                        <a:rPr lang="en-US" sz="24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)(2 − </m:t>
                      </m:r>
                      <m:r>
                        <a:rPr lang="en-US" sz="2400" b="0" i="1">
                          <a:solidFill>
                            <a:srgbClr val="4B2E8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4B2E8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BC5635-51E1-DD43-A022-AD5D3C5FF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3175000"/>
                <a:ext cx="9398000" cy="584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133E5-782B-3343-A96C-C432540765EE}"/>
                  </a:ext>
                </a:extLst>
              </p:cNvPr>
              <p:cNvSpPr txBox="1"/>
              <p:nvPr/>
            </p:nvSpPr>
            <p:spPr>
              <a:xfrm>
                <a:off x="1397000" y="4191000"/>
                <a:ext cx="9398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𝑆𝑒𝑡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𝑖𝑡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𝑡𝑜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𝑧𝑒𝑟𝑜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:     (3 − </m:t>
                      </m:r>
                      <m:r>
                        <a:rPr lang="en-US" sz="22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)(1 − </m:t>
                      </m:r>
                      <m:r>
                        <a:rPr lang="en-US" sz="22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)(2 − </m:t>
                      </m:r>
                      <m:r>
                        <a:rPr lang="en-US" sz="22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) =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C133E5-782B-3343-A96C-C4325407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4191000"/>
                <a:ext cx="9398000" cy="508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F402DB0-7F37-C94A-B3DA-DBB2C8E8C120}"/>
              </a:ext>
            </a:extLst>
          </p:cNvPr>
          <p:cNvSpPr txBox="1"/>
          <p:nvPr/>
        </p:nvSpPr>
        <p:spPr>
          <a:xfrm>
            <a:off x="1397000" y="5232400"/>
            <a:ext cx="9398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i="1">
                <a:solidFill>
                  <a:srgbClr val="00A7B5"/>
                </a:solidFill>
              </a:rPr>
              <a:t>It is already factored — each factor gives one eigenvalue.</a:t>
            </a:r>
          </a:p>
        </p:txBody>
      </p:sp>
    </p:spTree>
    <p:extLst>
      <p:ext uri="{BB962C8B-B14F-4D97-AF65-F5344CB8AC3E}">
        <p14:creationId xmlns:p14="http://schemas.microsoft.com/office/powerpoint/2010/main" val="63011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9B04A2-CCFE-874C-8F93-F159C48E8E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6938B-3573-9F4B-8D45-5585710F375A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(3×3, triangular) — Step 4: The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3F2D18-5BD6-0D43-A3A1-D9384B90D94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4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6E428-C5F6-D147-A7FA-5E59E6B25679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Each factor set to zero gives one eigenvalue.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BF4995-4259-E64F-8AAB-D21ACD98D2EA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0696D-C06A-A145-92D2-355613E57FB6}"/>
                  </a:ext>
                </a:extLst>
              </p:cNvPr>
              <p:cNvSpPr txBox="1"/>
              <p:nvPr/>
            </p:nvSpPr>
            <p:spPr>
              <a:xfrm>
                <a:off x="1905000" y="2463800"/>
                <a:ext cx="8382000" cy="203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3 −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3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1 −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1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4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2 −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400" b="0" i="1">
                          <a:solidFill>
                            <a:srgbClr val="333333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60696D-C06A-A145-92D2-355613E5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463800"/>
                <a:ext cx="8382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2DF0CD-6F95-824F-8C74-9E88805F41FB}"/>
              </a:ext>
            </a:extLst>
          </p:cNvPr>
          <p:cNvSpPr/>
          <p:nvPr/>
        </p:nvSpPr>
        <p:spPr>
          <a:xfrm>
            <a:off x="1905000" y="4978400"/>
            <a:ext cx="8382000" cy="762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947F0-6A82-C446-937D-8F9F2248CDBC}"/>
                  </a:ext>
                </a:extLst>
              </p:cNvPr>
              <p:cNvSpPr txBox="1"/>
              <p:nvPr/>
            </p:nvSpPr>
            <p:spPr>
              <a:xfrm>
                <a:off x="2032000" y="4978400"/>
                <a:ext cx="8128000" cy="762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2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3      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2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1      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en-US" sz="1200" b="1" i="0">
                              <a:solidFill>
                                <a:srgbClr val="FFFFFF"/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2     ( = </m:t>
                      </m:r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𝑡ℎ𝑒</m:t>
                      </m:r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𝑑𝑖𝑎𝑔𝑜𝑛𝑎𝑙</m:t>
                      </m:r>
                      <m:r>
                        <a:rPr lang="en-US" sz="2000" b="1" i="0">
                          <a:solidFill>
                            <a:srgbClr val="FFFFFF"/>
                          </a:solidFill>
                          <a:latin typeface="Cambria Math"/>
                        </a:rPr>
                        <m:t>! 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A9947F0-6A82-C446-937D-8F9F2248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0" y="4978400"/>
                <a:ext cx="81280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50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7FDC8-0602-594A-83ED-1BEB3B4910F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FC527-59C3-8E48-AB18-B623A61F526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5: Eigenvector for </a:t>
            </a:r>
            <a:r>
              <a:rPr lang="el-GR" sz="2600" b="1">
                <a:solidFill>
                  <a:srgbClr val="4B2E83"/>
                </a:solidFill>
              </a:rPr>
              <a:t>λ = 3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4E4E0E-2788-5E43-9FF2-DE6B7309FFC1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5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5B17E-9EAA-204C-9397-394EBB77845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− 3I)v = 0.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F26568-A455-8543-9CF3-7CF90247CD9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6255ED-29B8-5947-82B9-EA74BDA1C314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− 3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6255ED-29B8-5947-82B9-EA74BDA1C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0E0634-7D30-5A44-9FE2-BC77BB11D773}"/>
                  </a:ext>
                </a:extLst>
              </p:cNvPr>
              <p:cNvSpPr txBox="1"/>
              <p:nvPr/>
            </p:nvSpPr>
            <p:spPr>
              <a:xfrm>
                <a:off x="3683000" y="25146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0E0634-7D30-5A44-9FE2-BC77BB11D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25146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BCADB1-8DA7-C646-A120-91E6AFEFDD94}"/>
                  </a:ext>
                </a:extLst>
              </p:cNvPr>
              <p:cNvSpPr txBox="1"/>
              <p:nvPr/>
            </p:nvSpPr>
            <p:spPr>
              <a:xfrm>
                <a:off x="7112000" y="2616200"/>
                <a:ext cx="4064000" cy="165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𝑖𝑠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𝑓𝑟𝑒𝑒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BCADB1-8DA7-C646-A120-91E6AFEFD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16200"/>
                <a:ext cx="4064000" cy="165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5464F3-6081-6445-A54F-709F56916C68}"/>
                  </a:ext>
                </a:extLst>
              </p:cNvPr>
              <p:cNvSpPr txBox="1"/>
              <p:nvPr/>
            </p:nvSpPr>
            <p:spPr>
              <a:xfrm>
                <a:off x="3683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5464F3-6081-6445-A54F-709F56916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8C4FA-2B8B-C44F-A8F4-38E62F2E8DA4}"/>
                  </a:ext>
                </a:extLst>
              </p:cNvPr>
              <p:cNvSpPr txBox="1"/>
              <p:nvPr/>
            </p:nvSpPr>
            <p:spPr>
              <a:xfrm>
                <a:off x="4622800" y="4470400"/>
                <a:ext cx="1016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58C4FA-2B8B-C44F-A8F4-38E62F2E8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800" y="4470400"/>
                <a:ext cx="1016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64C44E-FCBA-E741-9227-3E472136B159}"/>
                  </a:ext>
                </a:extLst>
              </p:cNvPr>
              <p:cNvSpPr txBox="1"/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00A7B5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 = 3)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64C44E-FCBA-E741-9227-3E472136B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75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67FDC8-0602-594A-83ED-1BEB3B4910F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FC527-59C3-8E48-AB18-B623A61F526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3)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4E4E0E-2788-5E43-9FF2-DE6B7309FFC1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5B17E-9EAA-204C-9397-394EBB778456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− 3I)v = 0 is three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F26568-A455-8543-9CF3-7CF90247CD98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− 3I by v = (x, y, z),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(0)x + (2)y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2y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0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(0)x + (−2)y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−2y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0 again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3:  </a:t>
            </a:r>
            <a:r>
              <a:rPr lang="en-US" sz="1600" dirty="0">
                <a:solidFill>
                  <a:srgbClr val="333333"/>
                </a:solidFill>
              </a:rPr>
              <a:t>(0)x + (0)y + (−1)z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z = 0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424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Notice that x never appears — the whole first column is zero, so no row constrains it. That unconstrained direction is the eigenvector.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50292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50292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x is free. Choose x = 1  ⇒  v = (1, 0, 0).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244586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D77435-A52B-484E-BFB5-5688B896AB7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C24F-0584-DC4A-8990-FDD307D49C2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6: Eigenvector for </a:t>
            </a:r>
            <a:r>
              <a:rPr lang="el-GR" sz="2600" b="1">
                <a:solidFill>
                  <a:srgbClr val="4B2E83"/>
                </a:solidFill>
              </a:rPr>
              <a:t>λ = 1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B2BE8F-8F55-B146-850E-9BD0B37960E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6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D9206-EB0C-944A-AE3D-E3F59EC84A4A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I)v = 0.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7633EB-6217-4049-BA8E-E414707555C5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98F6CA-1095-DD48-AAA9-A29C0650D8E6}"/>
                  </a:ext>
                </a:extLst>
              </p:cNvPr>
              <p:cNvSpPr txBox="1"/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</m:t>
                      </m:r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898F6CA-1095-DD48-AAA9-A29C0650D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2921000"/>
                <a:ext cx="1905000" cy="508000"/>
              </a:xfrm>
              <a:prstGeom prst="rect">
                <a:avLst/>
              </a:prstGeom>
              <a:blipFill>
                <a:blip r:embed="rId2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F70EF-C269-124D-9CDA-4BFECFE520F1}"/>
                  </a:ext>
                </a:extLst>
              </p:cNvPr>
              <p:cNvSpPr txBox="1"/>
              <p:nvPr/>
            </p:nvSpPr>
            <p:spPr>
              <a:xfrm>
                <a:off x="3429000" y="2514600"/>
                <a:ext cx="2794000" cy="1524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4F70EF-C269-124D-9CDA-4BFECFE52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514600"/>
                <a:ext cx="2794000" cy="152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8AF9A-C6CB-E142-BF29-F122383F2B64}"/>
                  </a:ext>
                </a:extLst>
              </p:cNvPr>
              <p:cNvSpPr txBox="1"/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 (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𝑟𝑜𝑤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3)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+ 2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20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−</m:t>
                      </m:r>
                      <m:r>
                        <a:rPr lang="en-US" sz="20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28AF9A-C6CB-E142-BF29-F122383F2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768600"/>
                <a:ext cx="4191000" cy="1397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37A07-F90F-104C-8A0E-B18D273608C3}"/>
                  </a:ext>
                </a:extLst>
              </p:cNvPr>
              <p:cNvSpPr txBox="1"/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4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37A07-F90F-104C-8A0E-B18D2736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724400"/>
                <a:ext cx="889000" cy="609600"/>
              </a:xfrm>
              <a:prstGeom prst="rect">
                <a:avLst/>
              </a:prstGeom>
              <a:blipFill>
                <a:blip r:embed="rId5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4FCC1-8221-1C44-9C90-BC76965F451E}"/>
                  </a:ext>
                </a:extLst>
              </p:cNvPr>
              <p:cNvSpPr txBox="1"/>
              <p:nvPr/>
            </p:nvSpPr>
            <p:spPr>
              <a:xfrm>
                <a:off x="4368800" y="4470400"/>
                <a:ext cx="1143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2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34FCC1-8221-1C44-9C90-BC76965F4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00" y="4470400"/>
                <a:ext cx="1143000" cy="1397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45EBE-A89B-FA48-945F-A002A2ABE4C3}"/>
                  </a:ext>
                </a:extLst>
              </p:cNvPr>
              <p:cNvSpPr txBox="1"/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>
                          <a:solidFill>
                            <a:srgbClr val="00A7B5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600" b="0" i="0">
                          <a:solidFill>
                            <a:srgbClr val="00A7B5"/>
                          </a:solidFill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45EBE-A89B-FA48-945F-A002A2ABE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000" y="4902200"/>
                <a:ext cx="2540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52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D77435-A52B-484E-BFB5-5688B896AB7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FC24F-0584-DC4A-8990-FDD307D49C20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1)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B2BE8F-8F55-B146-850E-9BD0B37960ED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D9206-EB0C-944A-AE3D-E3F59EC84A4A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I)v = 0 is three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7633EB-6217-4049-BA8E-E414707555C5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I by v = (x, y, z),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(2)x + (2)y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2x + 2y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−x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(0)x + (0)y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0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no information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3:  </a:t>
            </a:r>
            <a:r>
              <a:rPr lang="en-US" sz="1600" dirty="0">
                <a:solidFill>
                  <a:srgbClr val="333333"/>
                </a:solidFill>
              </a:rPr>
              <a:t>(0)x + (0)y + (1)z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z = 0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424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2 is entirely zero, so it constrains nothing. That empty row is exactly what det(A − I) = 0 buys us — it leaves one free direction, and hence a nonzero v.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50292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50292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Choose x = 1  ⇒  v = (1, −1, 0).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102690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B92920-4BCF-5C44-9EDC-F693AA5BDEB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0BF2-5F46-204B-81D1-9A2210B6EB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3 (3×3) — Step 7: Eigenvector for </a:t>
            </a:r>
            <a:r>
              <a:rPr lang="el-GR" sz="2600" b="1">
                <a:solidFill>
                  <a:srgbClr val="4B2E83"/>
                </a:solidFill>
              </a:rPr>
              <a:t>λ = 2</a:t>
            </a:r>
            <a:endParaRPr lang="en-US" sz="2600" b="1">
              <a:solidFill>
                <a:srgbClr val="4B2E83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0DC76C-6719-6A45-850E-A9F5E4F019FC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Step 7 /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76A3B-8842-3540-813A-441620C9C59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>
                <a:solidFill>
                  <a:srgbClr val="333333"/>
                </a:solidFill>
              </a:rPr>
              <a:t>Solve (A − 2I)v = 0, then collect all three eigenpairs.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F56F-FF5C-DF48-A680-7592CB2FECC3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6362E4-62C5-7444-9FAC-6CC6E3A3B400}"/>
                  </a:ext>
                </a:extLst>
              </p:cNvPr>
              <p:cNvSpPr txBox="1"/>
              <p:nvPr/>
            </p:nvSpPr>
            <p:spPr>
              <a:xfrm>
                <a:off x="1219200" y="2717800"/>
                <a:ext cx="2159000" cy="50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1" i="1">
                          <a:solidFill>
                            <a:srgbClr val="333333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 − 2</m:t>
                      </m:r>
                      <m:r>
                        <a:rPr lang="en-US" sz="2200" b="1" i="1">
                          <a:solidFill>
                            <a:srgbClr val="333333"/>
                          </a:solidFill>
                          <a:latin typeface="Cambria Math"/>
                        </a:rPr>
                        <m:t>𝐼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6362E4-62C5-7444-9FAC-6CC6E3A3B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717800"/>
                <a:ext cx="2159000" cy="508000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8CB440-BC35-B042-B162-475A66BC11FF}"/>
                  </a:ext>
                </a:extLst>
              </p:cNvPr>
              <p:cNvSpPr txBox="1"/>
              <p:nvPr/>
            </p:nvSpPr>
            <p:spPr>
              <a:xfrm>
                <a:off x="3403600" y="2362200"/>
                <a:ext cx="2667000" cy="1397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8CB440-BC35-B042-B162-475A66BC1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0" y="2362200"/>
                <a:ext cx="2667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9B0FB-08B7-3B49-8B4E-F41D76551DD9}"/>
                  </a:ext>
                </a:extLst>
              </p:cNvPr>
              <p:cNvSpPr txBox="1"/>
              <p:nvPr/>
            </p:nvSpPr>
            <p:spPr>
              <a:xfrm>
                <a:off x="6604000" y="2489200"/>
                <a:ext cx="4318000" cy="1270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8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18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18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+ 2</m:t>
                      </m:r>
                      <m:r>
                        <a:rPr lang="en-US" sz="1800" b="0" i="1">
                          <a:solidFill>
                            <a:srgbClr val="333333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   ⇒   </m:t>
                      </m:r>
                      <m:r>
                        <a:rPr lang="en-US" sz="1800" b="0" i="1">
                          <a:solidFill>
                            <a:srgbClr val="33333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= 0</m:t>
                      </m:r>
                    </m:oMath>
                  </m:oMathPara>
                </a14:m>
                <a:endParaRPr/>
              </a:p>
              <a:p>
                <a:pPr algn="l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sz="1800" b="0" i="1">
                          <a:solidFill>
                            <a:srgbClr val="333333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𝑖𝑠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b="0" i="0">
                          <a:solidFill>
                            <a:srgbClr val="333333"/>
                          </a:solidFill>
                          <a:latin typeface="Cambria Math"/>
                        </a:rPr>
                        <m:t>𝑓𝑟𝑒𝑒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39B0FB-08B7-3B49-8B4E-F41D76551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2489200"/>
                <a:ext cx="4318000" cy="1270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ED36B-C037-504A-99AB-9F66F2D7ED64}"/>
                  </a:ext>
                </a:extLst>
              </p:cNvPr>
              <p:cNvSpPr txBox="1"/>
              <p:nvPr/>
            </p:nvSpPr>
            <p:spPr>
              <a:xfrm>
                <a:off x="5054600" y="4089400"/>
                <a:ext cx="762000" cy="5588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2200" b="1" i="1">
                          <a:solidFill>
                            <a:srgbClr val="333333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2200" b="0" i="0">
                          <a:solidFill>
                            <a:srgbClr val="333333"/>
                          </a:solidFill>
                          <a:latin typeface="Cambria Math"/>
                        </a:rPr>
                        <m:t> 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6ED36B-C037-504A-99AB-9F66F2D7E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600" y="4089400"/>
                <a:ext cx="762000" cy="558800"/>
              </a:xfrm>
              <a:prstGeom prst="rect">
                <a:avLst/>
              </a:prstGeom>
              <a:blipFill>
                <a:blip r:embed="rId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136BCA-9431-D14D-8665-C9001133D659}"/>
                  </a:ext>
                </a:extLst>
              </p:cNvPr>
              <p:cNvSpPr txBox="1"/>
              <p:nvPr/>
            </p:nvSpPr>
            <p:spPr>
              <a:xfrm>
                <a:off x="5867400" y="3886200"/>
                <a:ext cx="889000" cy="1219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1" i="1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1" i="0">
                                    <a:solidFill>
                                      <a:srgbClr val="333333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136BCA-9431-D14D-8665-C9001133D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886200"/>
                <a:ext cx="889000" cy="1219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83B5C3-94AA-5949-B903-34B94005C3B2}"/>
              </a:ext>
            </a:extLst>
          </p:cNvPr>
          <p:cNvSpPr/>
          <p:nvPr/>
        </p:nvSpPr>
        <p:spPr>
          <a:xfrm>
            <a:off x="1143000" y="5130800"/>
            <a:ext cx="9906000" cy="7112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53C3-7E9C-B64E-ADE9-81A3F802A79F}"/>
                  </a:ext>
                </a:extLst>
              </p:cNvPr>
              <p:cNvSpPr txBox="1"/>
              <p:nvPr/>
            </p:nvSpPr>
            <p:spPr>
              <a:xfrm>
                <a:off x="1397000" y="5130800"/>
                <a:ext cx="9398000" cy="711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𝐸𝑖𝑔𝑒𝑛𝑝𝑎𝑖𝑟𝑠</m:t>
                      </m:r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:   </m:t>
                      </m:r>
                      <m:r>
                        <a:rPr lang="en-US" sz="17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3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 </m:t>
                      </m:r>
                      <m:r>
                        <a:rPr lang="en-US" sz="17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1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      </m:t>
                      </m:r>
                      <m:r>
                        <a:rPr lang="en-US" sz="1700" b="1" i="1">
                          <a:solidFill>
                            <a:srgbClr val="FFFFFF"/>
                          </a:solidFill>
                          <a:latin typeface="Cambria Math"/>
                        </a:rPr>
                        <m:t>𝜆</m:t>
                      </m:r>
                      <m:r>
                        <a:rPr lang="en-US" sz="1700" b="1" i="0">
                          <a:solidFill>
                            <a:srgbClr val="FFFFFF"/>
                          </a:solidFill>
                          <a:latin typeface="Cambria Math"/>
                        </a:rPr>
                        <m:t> = 2 →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7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700" b="1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700" b="1" i="0">
                                    <a:solidFill>
                                      <a:srgbClr val="FFFF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71953C3-7E9C-B64E-ADE9-81A3F802A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0" y="5130800"/>
                <a:ext cx="9398000" cy="711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34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build="p" animBg="1"/>
      <p:bldP spid="12" grpId="0" animBg="1"/>
      <p:bldP spid="13" grpId="0" animBg="1"/>
      <p:bldP spid="14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B92920-4BCF-5C44-9EDC-F693AA5BDEB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F0BF2-5F46-204B-81D1-9A2210B6EBDE}"/>
              </a:ext>
            </a:extLst>
          </p:cNvPr>
          <p:cNvSpPr txBox="1"/>
          <p:nvPr/>
        </p:nvSpPr>
        <p:spPr>
          <a:xfrm>
            <a:off x="762000" y="6858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Where the row equations come from (λ = 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0DC76C-6719-6A45-850E-A9F5E4F019FC}"/>
              </a:ext>
            </a:extLst>
          </p:cNvPr>
          <p:cNvSpPr/>
          <p:nvPr/>
        </p:nvSpPr>
        <p:spPr>
          <a:xfrm>
            <a:off x="9931400" y="711200"/>
            <a:ext cx="1498600" cy="381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Aside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376A3B-8842-3540-813A-441620C9C59B}"/>
              </a:ext>
            </a:extLst>
          </p:cNvPr>
          <p:cNvSpPr txBox="1"/>
          <p:nvPr/>
        </p:nvSpPr>
        <p:spPr>
          <a:xfrm>
            <a:off x="762000" y="13208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333333"/>
                </a:solidFill>
              </a:rPr>
              <a:t>(A − 2I)v = 0 is three equations in disguise — one for each row of the matrix.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0CF56F-FF5C-DF48-A680-7592CB2FECC3}"/>
              </a:ext>
            </a:extLst>
          </p:cNvPr>
          <p:cNvSpPr/>
          <p:nvPr/>
        </p:nvSpPr>
        <p:spPr>
          <a:xfrm>
            <a:off x="762000" y="1930400"/>
            <a:ext cx="10668000" cy="4191000"/>
          </a:xfrm>
          <a:prstGeom prst="roundRect">
            <a:avLst/>
          </a:prstGeom>
          <a:solidFill>
            <a:srgbClr val="F5F0E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0" name="EX300"/>
          <p:cNvSpPr txBox="1"/>
          <p:nvPr/>
        </p:nvSpPr>
        <p:spPr>
          <a:xfrm>
            <a:off x="1270000" y="23114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Multiply A − 2I by v = (x, y, z), one row at a time. Each row becomes one plain equation:</a:t>
            </a:r>
          </a:p>
        </p:txBody>
      </p:sp>
      <p:sp>
        <p:nvSpPr>
          <p:cNvPr id="301" name="EX301"/>
          <p:cNvSpPr txBox="1"/>
          <p:nvPr/>
        </p:nvSpPr>
        <p:spPr>
          <a:xfrm>
            <a:off x="1270000" y="2819400"/>
            <a:ext cx="965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Row 1:  </a:t>
            </a:r>
            <a:r>
              <a:rPr lang="en-US" sz="1600" dirty="0">
                <a:solidFill>
                  <a:srgbClr val="333333"/>
                </a:solidFill>
              </a:rPr>
              <a:t>(1)x + (2)y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x + 2y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x = −2y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2:  </a:t>
            </a:r>
            <a:r>
              <a:rPr lang="en-US" sz="1600" dirty="0">
                <a:solidFill>
                  <a:srgbClr val="333333"/>
                </a:solidFill>
              </a:rPr>
              <a:t>(0)x + (−1)y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−y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y = 0, so x = 0</a:t>
            </a:r>
          </a:p>
          <a:p>
            <a:pPr algn="l">
              <a:lnSpc>
                <a:spcPts val="2000"/>
              </a:lnSpc>
              <a:spcBef>
                <a:spcPts val="800"/>
              </a:spcBef>
              <a:buNone/>
            </a:pPr>
            <a:r>
              <a:rPr lang="en-US" sz="1600" b="1" dirty="0">
                <a:solidFill>
                  <a:srgbClr val="4B2E83"/>
                </a:solidFill>
              </a:rPr>
              <a:t>Row 3:  </a:t>
            </a:r>
            <a:r>
              <a:rPr lang="en-US" sz="1600" dirty="0">
                <a:solidFill>
                  <a:srgbClr val="333333"/>
                </a:solidFill>
              </a:rPr>
              <a:t>(0)x + (0)y + (0)z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dirty="0">
                <a:solidFill>
                  <a:srgbClr val="333333"/>
                </a:solidFill>
              </a:rPr>
              <a:t>0 = 0</a:t>
            </a:r>
            <a:r>
              <a:rPr lang="en-US" sz="1600" b="1" dirty="0">
                <a:solidFill>
                  <a:srgbClr val="B7A57A"/>
                </a:solidFill>
              </a:rPr>
              <a:t>   ⇒   </a:t>
            </a:r>
            <a:r>
              <a:rPr lang="en-US" sz="1600" b="1" dirty="0">
                <a:solidFill>
                  <a:srgbClr val="4B2E83"/>
                </a:solidFill>
              </a:rPr>
              <a:t>no information</a:t>
            </a:r>
          </a:p>
        </p:txBody>
      </p:sp>
      <p:sp>
        <p:nvSpPr>
          <p:cNvPr id="302" name="EX302"/>
          <p:cNvSpPr txBox="1"/>
          <p:nvPr/>
        </p:nvSpPr>
        <p:spPr>
          <a:xfrm>
            <a:off x="1270000" y="424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4B2E83"/>
                </a:solidFill>
              </a:rPr>
              <a:t>Row 2 forces y = 0, and Row 1 then forces x = 0. Row 3 is entirely zero, so z is never constrained — z is the free direction here.</a:t>
            </a:r>
          </a:p>
        </p:txBody>
      </p:sp>
      <p:sp>
        <p:nvSpPr>
          <p:cNvPr id="303" name="EXband"/>
          <p:cNvSpPr/>
          <p:nvPr/>
        </p:nvSpPr>
        <p:spPr>
          <a:xfrm>
            <a:off x="1270000" y="5029200"/>
            <a:ext cx="9652000" cy="685800"/>
          </a:xfrm>
          <a:prstGeom prst="roundRect">
            <a:avLst>
              <a:gd name="adj" fmla="val 12000"/>
            </a:avLst>
          </a:prstGeom>
          <a:solidFill>
            <a:srgbClr val="4B2E83">
              <a:alpha val="12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EX304"/>
          <p:cNvSpPr txBox="1"/>
          <p:nvPr/>
        </p:nvSpPr>
        <p:spPr>
          <a:xfrm>
            <a:off x="1473200" y="5029200"/>
            <a:ext cx="9245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B2E83"/>
                </a:solidFill>
              </a:rPr>
              <a:t>z is free. Choose z = 1  ⇒  v = (0, 0, 1).   Any nonzero multiple of v is also an eigenvector.</a:t>
            </a:r>
          </a:p>
        </p:txBody>
      </p:sp>
    </p:spTree>
    <p:extLst>
      <p:ext uri="{BB962C8B-B14F-4D97-AF65-F5344CB8AC3E}">
        <p14:creationId xmlns:p14="http://schemas.microsoft.com/office/powerpoint/2010/main" val="10284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1" grpId="0" build="p" animBg="1"/>
      <p:bldP spid="302" grpId="0" animBg="1"/>
      <p:bldP spid="303" grpId="0" animBg="1"/>
      <p:bldP spid="30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D3C54-7F49-5D47-BA36-E1A1F1C19F1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AEEF2-63C4-6E44-8827-3D8C8E4F9D8A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Geometric Intuition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9501E-5761-104F-B4EE-2FB03A10C15D}"/>
              </a:ext>
            </a:extLst>
          </p:cNvPr>
          <p:cNvSpPr/>
          <p:nvPr/>
        </p:nvSpPr>
        <p:spPr>
          <a:xfrm>
            <a:off x="1016000" y="1905000"/>
            <a:ext cx="4572000" cy="4191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9421B2-CC3F-6D4B-8B87-8AF3CBC4EF40}"/>
              </a:ext>
            </a:extLst>
          </p:cNvPr>
          <p:cNvSpPr/>
          <p:nvPr/>
        </p:nvSpPr>
        <p:spPr>
          <a:xfrm>
            <a:off x="1447800" y="28067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E5CD4-0528-874F-A4AD-F69BE691C0F1}"/>
              </a:ext>
            </a:extLst>
          </p:cNvPr>
          <p:cNvSpPr/>
          <p:nvPr/>
        </p:nvSpPr>
        <p:spPr>
          <a:xfrm>
            <a:off x="1943100" y="2971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532A68-3BB4-2940-B15C-D7C59ADB0561}"/>
              </a:ext>
            </a:extLst>
          </p:cNvPr>
          <p:cNvSpPr/>
          <p:nvPr/>
        </p:nvSpPr>
        <p:spPr>
          <a:xfrm>
            <a:off x="1778000" y="33020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23CAE1-AEA3-F344-B61E-7D0E9DE351F7}"/>
              </a:ext>
            </a:extLst>
          </p:cNvPr>
          <p:cNvSpPr/>
          <p:nvPr/>
        </p:nvSpPr>
        <p:spPr>
          <a:xfrm>
            <a:off x="2273300" y="31369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6064AB-137E-E64A-BBAA-A084D8639C68}"/>
              </a:ext>
            </a:extLst>
          </p:cNvPr>
          <p:cNvSpPr/>
          <p:nvPr/>
        </p:nvSpPr>
        <p:spPr>
          <a:xfrm>
            <a:off x="2438400" y="34671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3B33B7-120A-9148-A59C-80E9749FAA0A}"/>
              </a:ext>
            </a:extLst>
          </p:cNvPr>
          <p:cNvSpPr/>
          <p:nvPr/>
        </p:nvSpPr>
        <p:spPr>
          <a:xfrm>
            <a:off x="2768600" y="35496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CEBF6F-4BB7-8D45-BE0F-0E5BC7322FAE}"/>
              </a:ext>
            </a:extLst>
          </p:cNvPr>
          <p:cNvSpPr/>
          <p:nvPr/>
        </p:nvSpPr>
        <p:spPr>
          <a:xfrm>
            <a:off x="2933700" y="37973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B797D8-FFF7-A344-A8F9-B9500FD19141}"/>
              </a:ext>
            </a:extLst>
          </p:cNvPr>
          <p:cNvSpPr/>
          <p:nvPr/>
        </p:nvSpPr>
        <p:spPr>
          <a:xfrm>
            <a:off x="3263900" y="38798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3421C8-AA18-AF47-8246-6492699A3071}"/>
              </a:ext>
            </a:extLst>
          </p:cNvPr>
          <p:cNvSpPr/>
          <p:nvPr/>
        </p:nvSpPr>
        <p:spPr>
          <a:xfrm>
            <a:off x="3429000" y="40449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5A60D7-8BF6-0344-9CA8-EA80B89BD096}"/>
              </a:ext>
            </a:extLst>
          </p:cNvPr>
          <p:cNvSpPr/>
          <p:nvPr/>
        </p:nvSpPr>
        <p:spPr>
          <a:xfrm>
            <a:off x="3759200" y="41275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7F2043-433D-CE46-A2ED-D6B6129F2994}"/>
              </a:ext>
            </a:extLst>
          </p:cNvPr>
          <p:cNvSpPr/>
          <p:nvPr/>
        </p:nvSpPr>
        <p:spPr>
          <a:xfrm>
            <a:off x="4089400" y="43751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69B6CAE-A818-B849-82AE-11A7677B2009}"/>
              </a:ext>
            </a:extLst>
          </p:cNvPr>
          <p:cNvSpPr/>
          <p:nvPr/>
        </p:nvSpPr>
        <p:spPr>
          <a:xfrm>
            <a:off x="4254500" y="42100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328BC4-115F-9D47-9A7B-434872C60930}"/>
              </a:ext>
            </a:extLst>
          </p:cNvPr>
          <p:cNvSpPr/>
          <p:nvPr/>
        </p:nvSpPr>
        <p:spPr>
          <a:xfrm>
            <a:off x="4584700" y="4622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6DD8032-1A9A-EC44-A294-AE0FA31D4229}"/>
              </a:ext>
            </a:extLst>
          </p:cNvPr>
          <p:cNvSpPr/>
          <p:nvPr/>
        </p:nvSpPr>
        <p:spPr>
          <a:xfrm>
            <a:off x="4749800" y="47879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22C872-65B2-B849-A825-BC7420A651BF}"/>
              </a:ext>
            </a:extLst>
          </p:cNvPr>
          <p:cNvSpPr/>
          <p:nvPr/>
        </p:nvSpPr>
        <p:spPr>
          <a:xfrm>
            <a:off x="5080000" y="49530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49AF67-9DF2-F24C-9765-C436081A637E}"/>
              </a:ext>
            </a:extLst>
          </p:cNvPr>
          <p:cNvSpPr/>
          <p:nvPr/>
        </p:nvSpPr>
        <p:spPr>
          <a:xfrm>
            <a:off x="2108200" y="36322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2CD84DC-BF9D-754A-B67E-975EEA369996}"/>
              </a:ext>
            </a:extLst>
          </p:cNvPr>
          <p:cNvSpPr/>
          <p:nvPr/>
        </p:nvSpPr>
        <p:spPr>
          <a:xfrm>
            <a:off x="3924300" y="46228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C60DE78-6950-8F40-AD56-C99D66D0D634}"/>
              </a:ext>
            </a:extLst>
          </p:cNvPr>
          <p:cNvSpPr/>
          <p:nvPr/>
        </p:nvSpPr>
        <p:spPr>
          <a:xfrm>
            <a:off x="3098800" y="338455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2DAE4A9-EB61-7447-B1FB-EB5C8C1E8AA3}"/>
              </a:ext>
            </a:extLst>
          </p:cNvPr>
          <p:cNvSpPr/>
          <p:nvPr/>
        </p:nvSpPr>
        <p:spPr>
          <a:xfrm>
            <a:off x="4419600" y="42926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E48509-BC44-9748-8B9D-3EE33355B8EB}"/>
              </a:ext>
            </a:extLst>
          </p:cNvPr>
          <p:cNvSpPr/>
          <p:nvPr/>
        </p:nvSpPr>
        <p:spPr>
          <a:xfrm>
            <a:off x="3594100" y="4457700"/>
            <a:ext cx="76200" cy="762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DA37389B-BC46-E043-AC75-D0EFDE7E3CEB}"/>
              </a:ext>
            </a:extLst>
          </p:cNvPr>
          <p:cNvSpPr/>
          <p:nvPr/>
        </p:nvSpPr>
        <p:spPr>
          <a:xfrm rot="1800000">
            <a:off x="1396998" y="3793326"/>
            <a:ext cx="3810000" cy="1778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CBF3DE-59BB-9540-805B-109A1FB35E2C}"/>
              </a:ext>
            </a:extLst>
          </p:cNvPr>
          <p:cNvSpPr txBox="1"/>
          <p:nvPr/>
        </p:nvSpPr>
        <p:spPr>
          <a:xfrm>
            <a:off x="4191000" y="2540000"/>
            <a:ext cx="152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00A7B5"/>
                </a:solidFill>
              </a:rPr>
              <a:t>PC1 (max variance)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505CE33-F04C-F64C-95FB-C70636DFAE28}"/>
              </a:ext>
            </a:extLst>
          </p:cNvPr>
          <p:cNvSpPr/>
          <p:nvPr/>
        </p:nvSpPr>
        <p:spPr>
          <a:xfrm rot="-3600000">
            <a:off x="2538948" y="3713978"/>
            <a:ext cx="889000" cy="1397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E6310C-8232-D743-9992-52630FB82348}"/>
              </a:ext>
            </a:extLst>
          </p:cNvPr>
          <p:cNvSpPr txBox="1"/>
          <p:nvPr/>
        </p:nvSpPr>
        <p:spPr>
          <a:xfrm>
            <a:off x="1206500" y="5334000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PC2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495511-58F5-EE4B-833B-27BCF6B6C545}"/>
              </a:ext>
            </a:extLst>
          </p:cNvPr>
          <p:cNvSpPr txBox="1"/>
          <p:nvPr/>
        </p:nvSpPr>
        <p:spPr>
          <a:xfrm>
            <a:off x="6096000" y="1905000"/>
            <a:ext cx="533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Reading the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4D5E0E-CA4A-004A-B50C-CF117677037A}"/>
                  </a:ext>
                </a:extLst>
              </p:cNvPr>
              <p:cNvSpPr txBox="1"/>
              <p:nvPr/>
            </p:nvSpPr>
            <p:spPr>
              <a:xfrm>
                <a:off x="6096000" y="2311400"/>
                <a:ext cx="5461000" cy="21512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The cloud is elongated: most variation lies along one diagonal direction.</a:t>
                </a:r>
              </a:p>
              <a:p>
                <a:pPr algn="l"/>
                <a:r>
                  <a:rPr lang="en-US" sz="1600" b="1" dirty="0">
                    <a:solidFill>
                      <a:schemeClr val="tx2"/>
                    </a:solidFill>
                  </a:rPr>
                  <a:t>• PC1 points along that elongation — projecting onto it loses the least information.</a:t>
                </a:r>
              </a:p>
              <a:p>
                <a:pPr algn="l"/>
                <a:r>
                  <a:rPr lang="en-US" sz="1600" b="1" dirty="0">
                    <a:solidFill>
                      <a:schemeClr val="accent3"/>
                    </a:solidFill>
                  </a:rPr>
                  <a:t>• PC2 is orthogonal to PC1 and captures the leftover spread.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 =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PC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; arrow length ∝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600" dirty="0">
                    <a:solidFill>
                      <a:srgbClr val="333333"/>
                    </a:solidFill>
                  </a:rPr>
                  <a:t>.</a:t>
                </a:r>
              </a:p>
              <a:p>
                <a:pPr algn="l"/>
                <a:r>
                  <a:rPr lang="en-US" sz="1600" dirty="0">
                    <a:solidFill>
                      <a:srgbClr val="333333"/>
                    </a:solidFill>
                  </a:rPr>
                  <a:t>• Projecting points onto PC1 alone gives a 1-D summary (the scores).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4D5E0E-CA4A-004A-B50C-CF1176770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11400"/>
                <a:ext cx="5461000" cy="2151295"/>
              </a:xfrm>
              <a:prstGeom prst="rect">
                <a:avLst/>
              </a:prstGeom>
              <a:blipFill>
                <a:blip r:embed="rId2"/>
                <a:stretch>
                  <a:fillRect l="-696" t="-585" b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26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 animBg="1"/>
      <p:bldP spid="30" grpId="0"/>
      <p:bldP spid="31" grpId="0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85C65A-465C-4E4E-8B5E-EF9F70FCF21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DFDB0-E1EC-9149-B565-35537DE5683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Eigenvectors &amp; Eigenvalues in 2D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35092-713A-7942-8F1B-43F8533A3A73}"/>
              </a:ext>
            </a:extLst>
          </p:cNvPr>
          <p:cNvSpPr txBox="1"/>
          <p:nvPr/>
        </p:nvSpPr>
        <p:spPr>
          <a:xfrm>
            <a:off x="762000" y="14478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covariance matrix S describes the shape of the data cloud. Its eigenvectors give the directions of the cloud's principal axes; its eigenvalues give the variance (spread²) along each.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81E3CA-C272-694F-8E73-90FC139994EB}"/>
              </a:ext>
            </a:extLst>
          </p:cNvPr>
          <p:cNvSpPr/>
          <p:nvPr/>
        </p:nvSpPr>
        <p:spPr>
          <a:xfrm>
            <a:off x="762000" y="2057400"/>
            <a:ext cx="5334000" cy="40386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CB75C0-09B8-6844-ACE7-EDABBAF8C18D}"/>
              </a:ext>
            </a:extLst>
          </p:cNvPr>
          <p:cNvSpPr/>
          <p:nvPr/>
        </p:nvSpPr>
        <p:spPr>
          <a:xfrm rot="-1680000">
            <a:off x="1778000" y="3365500"/>
            <a:ext cx="3302000" cy="1397000"/>
          </a:xfrm>
          <a:prstGeom prst="ellipse">
            <a:avLst/>
          </a:prstGeom>
          <a:solidFill>
            <a:srgbClr val="EDE7F3"/>
          </a:solidFill>
          <a:ln w="15875" cap="flat" cmpd="sng" algn="ctr">
            <a:solidFill>
              <a:srgbClr val="C9B9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5AD6E8-BFD5-6C47-8863-C90DE971DDB4}"/>
              </a:ext>
            </a:extLst>
          </p:cNvPr>
          <p:cNvSpPr/>
          <p:nvPr/>
        </p:nvSpPr>
        <p:spPr>
          <a:xfrm>
            <a:off x="3378200" y="4013200"/>
            <a:ext cx="101600" cy="101600"/>
          </a:xfrm>
          <a:prstGeom prst="ellipse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A683B94-E1F2-F440-9C1B-978617314E79}"/>
              </a:ext>
            </a:extLst>
          </p:cNvPr>
          <p:cNvSpPr/>
          <p:nvPr/>
        </p:nvSpPr>
        <p:spPr>
          <a:xfrm rot="-1680000">
            <a:off x="3341292" y="3636024"/>
            <a:ext cx="1498600" cy="152400"/>
          </a:xfrm>
          <a:prstGeom prst="rightArrow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FAAC7BB-3585-6D44-A259-EDE8AF6BF135}"/>
              </a:ext>
            </a:extLst>
          </p:cNvPr>
          <p:cNvSpPr/>
          <p:nvPr/>
        </p:nvSpPr>
        <p:spPr>
          <a:xfrm rot="14142659">
            <a:off x="2847844" y="3705476"/>
            <a:ext cx="736600" cy="152400"/>
          </a:xfrm>
          <a:prstGeom prst="rightArrow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711F8-CFF6-1246-9154-65C68FA216EE}"/>
                  </a:ext>
                </a:extLst>
              </p:cNvPr>
              <p:cNvSpPr txBox="1"/>
              <p:nvPr/>
            </p:nvSpPr>
            <p:spPr>
              <a:xfrm>
                <a:off x="4876800" y="3175000"/>
                <a:ext cx="1219200" cy="427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rad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711F8-CFF6-1246-9154-65C68FA21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175000"/>
                <a:ext cx="1219200" cy="427746"/>
              </a:xfrm>
              <a:prstGeom prst="rect">
                <a:avLst/>
              </a:prstGeom>
              <a:blipFill>
                <a:blip r:embed="rId2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0F47AB-F275-F747-A9BA-25AACB6227E9}"/>
                  </a:ext>
                </a:extLst>
              </p:cNvPr>
              <p:cNvSpPr txBox="1"/>
              <p:nvPr/>
            </p:nvSpPr>
            <p:spPr>
              <a:xfrm>
                <a:off x="1905000" y="3175000"/>
                <a:ext cx="1143000" cy="42774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(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0F47AB-F275-F747-A9BA-25AACB622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175000"/>
                <a:ext cx="1143000" cy="427746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F93D3C2-2393-8549-A8C3-0F2315E91C97}"/>
              </a:ext>
            </a:extLst>
          </p:cNvPr>
          <p:cNvSpPr txBox="1"/>
          <p:nvPr/>
        </p:nvSpPr>
        <p:spPr>
          <a:xfrm>
            <a:off x="939800" y="5638800"/>
            <a:ext cx="4978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4B2E83"/>
                </a:solidFill>
              </a:rPr>
              <a:t>Eigenvectors = axes of the data ellipse • eigenvalues = squared half-lengths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BF80DF-C923-2A4A-BE77-1A0F9F9E62CD}"/>
              </a:ext>
            </a:extLst>
          </p:cNvPr>
          <p:cNvSpPr txBox="1"/>
          <p:nvPr/>
        </p:nvSpPr>
        <p:spPr>
          <a:xfrm>
            <a:off x="6350000" y="2057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What they mean geometrically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74C021-BFEA-834C-A9E4-B21C8D1930C3}"/>
                  </a:ext>
                </a:extLst>
              </p:cNvPr>
              <p:cNvSpPr txBox="1"/>
              <p:nvPr/>
            </p:nvSpPr>
            <p:spPr>
              <a:xfrm>
                <a:off x="6350000" y="2413000"/>
                <a:ext cx="5080000" cy="333783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—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is a direction S only stretches, never rotates.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orientation of a principal axis of the data ellipse (the v's are orthogonal).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variance along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the ellipse's half-width there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Largest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⇒ direction of maximum spread = PC1; next ⇒ PC2 ⊥ to it.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 = fraction of variance captured by PC1.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1400" dirty="0">
                    <a:solidFill>
                      <a:srgbClr val="333333"/>
                    </a:solidFill>
                  </a:rPr>
                  <a:t>• Circular cloud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; a line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74C021-BFEA-834C-A9E4-B21C8D193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413000"/>
                <a:ext cx="5080000" cy="3337837"/>
              </a:xfrm>
              <a:prstGeom prst="rect">
                <a:avLst/>
              </a:prstGeom>
              <a:blipFill>
                <a:blip r:embed="rId4"/>
                <a:stretch>
                  <a:fillRect l="-499" r="-748" b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288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6205AA-3F3F-074B-9113-3A1D7BFFF9F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69254-75DA-8A42-9BAD-492A5044CF67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Graphical Representations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B4EFD-7467-7041-862A-6917B81028D5}"/>
              </a:ext>
            </a:extLst>
          </p:cNvPr>
          <p:cNvSpPr txBox="1"/>
          <p:nvPr/>
        </p:nvSpPr>
        <p:spPr>
          <a:xfrm>
            <a:off x="762000" y="1498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Three standard plots summarize a PCA. Each answers a different question.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DEE72D-0C50-F74C-B4C7-A9BD8487B499}"/>
              </a:ext>
            </a:extLst>
          </p:cNvPr>
          <p:cNvSpPr/>
          <p:nvPr/>
        </p:nvSpPr>
        <p:spPr>
          <a:xfrm>
            <a:off x="7620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89479-104F-6E4A-9735-EAC2C3F114B8}"/>
              </a:ext>
            </a:extLst>
          </p:cNvPr>
          <p:cNvSpPr txBox="1"/>
          <p:nvPr/>
        </p:nvSpPr>
        <p:spPr>
          <a:xfrm>
            <a:off x="9398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Score plot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D274F0-9A60-B541-A059-1C42FE030DA2}"/>
              </a:ext>
            </a:extLst>
          </p:cNvPr>
          <p:cNvSpPr txBox="1"/>
          <p:nvPr/>
        </p:nvSpPr>
        <p:spPr>
          <a:xfrm>
            <a:off x="9398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Where do observations sit on PC1–PC2? Reveals clusters, gradients, outliers.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7AFE9E-0B57-D34D-956D-8A9BEF86F377}"/>
              </a:ext>
            </a:extLst>
          </p:cNvPr>
          <p:cNvSpPr/>
          <p:nvPr/>
        </p:nvSpPr>
        <p:spPr>
          <a:xfrm>
            <a:off x="43815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EB2F8-C2BC-3549-AA8B-6B5AF8F66C3F}"/>
              </a:ext>
            </a:extLst>
          </p:cNvPr>
          <p:cNvSpPr txBox="1"/>
          <p:nvPr/>
        </p:nvSpPr>
        <p:spPr>
          <a:xfrm>
            <a:off x="45593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Loading 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A4E1E-8F76-4E4B-9A6F-AFC55BF9810C}"/>
              </a:ext>
            </a:extLst>
          </p:cNvPr>
          <p:cNvSpPr txBox="1"/>
          <p:nvPr/>
        </p:nvSpPr>
        <p:spPr>
          <a:xfrm>
            <a:off x="45593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How does each original variable contribute to each PC? Arrows = variable directions.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BDACAD-5BB1-E24E-BB52-971EB546F832}"/>
              </a:ext>
            </a:extLst>
          </p:cNvPr>
          <p:cNvSpPr/>
          <p:nvPr/>
        </p:nvSpPr>
        <p:spPr>
          <a:xfrm>
            <a:off x="8001000" y="2032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61E51-7357-6D4D-B99F-419C7AAEF332}"/>
              </a:ext>
            </a:extLst>
          </p:cNvPr>
          <p:cNvSpPr txBox="1"/>
          <p:nvPr/>
        </p:nvSpPr>
        <p:spPr>
          <a:xfrm>
            <a:off x="8178800" y="2184400"/>
            <a:ext cx="3073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Biplot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5B2E30-2253-714F-9777-E9AD5816BBE1}"/>
              </a:ext>
            </a:extLst>
          </p:cNvPr>
          <p:cNvSpPr txBox="1"/>
          <p:nvPr/>
        </p:nvSpPr>
        <p:spPr>
          <a:xfrm>
            <a:off x="8178800" y="2590800"/>
            <a:ext cx="30734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Scores + loadings overlaid. Points near an arrow score high on that variable.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5FC12DE-9859-7840-B79E-D42DD0563E48}"/>
              </a:ext>
            </a:extLst>
          </p:cNvPr>
          <p:cNvSpPr/>
          <p:nvPr/>
        </p:nvSpPr>
        <p:spPr>
          <a:xfrm>
            <a:off x="762000" y="3962400"/>
            <a:ext cx="10668000" cy="21336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05B14-1111-6E4F-A8C2-6C8CC8A52EAC}"/>
              </a:ext>
            </a:extLst>
          </p:cNvPr>
          <p:cNvSpPr txBox="1"/>
          <p:nvPr/>
        </p:nvSpPr>
        <p:spPr>
          <a:xfrm>
            <a:off x="990600" y="41148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Interpretation checklist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6A44B-BD50-A540-BB7B-242EFFA0BA1C}"/>
              </a:ext>
            </a:extLst>
          </p:cNvPr>
          <p:cNvSpPr txBox="1"/>
          <p:nvPr/>
        </p:nvSpPr>
        <p:spPr>
          <a:xfrm>
            <a:off x="990600" y="4470400"/>
            <a:ext cx="102108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>
                <a:solidFill>
                  <a:srgbClr val="333333"/>
                </a:solidFill>
              </a:rPr>
              <a:t>• Axes carry % variance explained — always label them (e.g., "PC1 (62%)").
• Angle between two loading arrows ≈ correlation between those variables (small angle ⇒ positively correlated).
• Length of a loading arrow ⇒ how well that variable is represented in the plotted plane.
• Sign of a PC is arbitrary — only relative positions and directions are meaningful.</a:t>
            </a:r>
          </a:p>
        </p:txBody>
      </p:sp>
    </p:spTree>
    <p:extLst>
      <p:ext uri="{BB962C8B-B14F-4D97-AF65-F5344CB8AC3E}">
        <p14:creationId xmlns:p14="http://schemas.microsoft.com/office/powerpoint/2010/main" val="109233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A904C5-2DE9-2047-A98B-5D216A61896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D9E21-19BD-4143-88D2-D9E54B34404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Reading a Biplot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E7402-F7CA-0245-9BE1-E81D8237CEE9}"/>
              </a:ext>
            </a:extLst>
          </p:cNvPr>
          <p:cNvSpPr/>
          <p:nvPr/>
        </p:nvSpPr>
        <p:spPr>
          <a:xfrm>
            <a:off x="889000" y="1714500"/>
            <a:ext cx="4826000" cy="4318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34247-8360-E24B-81E5-EB153DFB1836}"/>
              </a:ext>
            </a:extLst>
          </p:cNvPr>
          <p:cNvSpPr/>
          <p:nvPr/>
        </p:nvSpPr>
        <p:spPr>
          <a:xfrm>
            <a:off x="1016000" y="3860800"/>
            <a:ext cx="4572000" cy="2540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263AD-E5BB-DA4E-B3BA-D53F0248DC71}"/>
              </a:ext>
            </a:extLst>
          </p:cNvPr>
          <p:cNvSpPr/>
          <p:nvPr/>
        </p:nvSpPr>
        <p:spPr>
          <a:xfrm>
            <a:off x="3289300" y="1841500"/>
            <a:ext cx="25400" cy="4064000"/>
          </a:xfrm>
          <a:prstGeom prst="rect">
            <a:avLst/>
          </a:prstGeom>
          <a:solidFill>
            <a:srgbClr val="BBBB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48C66C-B994-AF44-881B-0AF808C96D13}"/>
              </a:ext>
            </a:extLst>
          </p:cNvPr>
          <p:cNvSpPr/>
          <p:nvPr/>
        </p:nvSpPr>
        <p:spPr>
          <a:xfrm>
            <a:off x="2362200" y="31877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CA3993-DD2E-404F-AA13-3270DFDF7A27}"/>
              </a:ext>
            </a:extLst>
          </p:cNvPr>
          <p:cNvSpPr/>
          <p:nvPr/>
        </p:nvSpPr>
        <p:spPr>
          <a:xfrm>
            <a:off x="2489200" y="29337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5EF6EC-F566-424B-A839-D9C86275FDC7}"/>
              </a:ext>
            </a:extLst>
          </p:cNvPr>
          <p:cNvSpPr/>
          <p:nvPr/>
        </p:nvSpPr>
        <p:spPr>
          <a:xfrm>
            <a:off x="2171700" y="3124200"/>
            <a:ext cx="101600" cy="1016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63DBCA-8A4E-3B4E-B436-50F7AB97D107}"/>
              </a:ext>
            </a:extLst>
          </p:cNvPr>
          <p:cNvSpPr/>
          <p:nvPr/>
        </p:nvSpPr>
        <p:spPr>
          <a:xfrm>
            <a:off x="4013200" y="4330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36E441-C379-B243-86EC-7E0D318A2336}"/>
              </a:ext>
            </a:extLst>
          </p:cNvPr>
          <p:cNvSpPr/>
          <p:nvPr/>
        </p:nvSpPr>
        <p:spPr>
          <a:xfrm>
            <a:off x="4203700" y="45212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012E67-29DF-654E-AC03-6F4C460CCEE9}"/>
              </a:ext>
            </a:extLst>
          </p:cNvPr>
          <p:cNvSpPr/>
          <p:nvPr/>
        </p:nvSpPr>
        <p:spPr>
          <a:xfrm>
            <a:off x="3949700" y="4203700"/>
            <a:ext cx="101600" cy="1016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788FE0-B243-4940-8268-0C591CE98321}"/>
              </a:ext>
            </a:extLst>
          </p:cNvPr>
          <p:cNvSpPr/>
          <p:nvPr/>
        </p:nvSpPr>
        <p:spPr>
          <a:xfrm>
            <a:off x="3505200" y="3060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1B4D4A-8ED4-7A42-BBB8-31A0639674DF}"/>
              </a:ext>
            </a:extLst>
          </p:cNvPr>
          <p:cNvSpPr/>
          <p:nvPr/>
        </p:nvSpPr>
        <p:spPr>
          <a:xfrm>
            <a:off x="3695700" y="31877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DA107E-AD7C-8443-A591-4C38416ED41D}"/>
              </a:ext>
            </a:extLst>
          </p:cNvPr>
          <p:cNvSpPr/>
          <p:nvPr/>
        </p:nvSpPr>
        <p:spPr>
          <a:xfrm>
            <a:off x="3441700" y="2870200"/>
            <a:ext cx="101600" cy="1016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00F7A0-5A69-6540-9D04-FB06047E0485}"/>
              </a:ext>
            </a:extLst>
          </p:cNvPr>
          <p:cNvSpPr/>
          <p:nvPr/>
        </p:nvSpPr>
        <p:spPr>
          <a:xfrm rot="-915307">
            <a:off x="3302000" y="3857625"/>
            <a:ext cx="1448022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3FA9A-1183-9F40-A869-CF4D23C3E1B5}"/>
              </a:ext>
            </a:extLst>
          </p:cNvPr>
          <p:cNvSpPr txBox="1"/>
          <p:nvPr/>
        </p:nvSpPr>
        <p:spPr>
          <a:xfrm>
            <a:off x="4375150" y="338455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6670"/>
                </a:solidFill>
              </a:rPr>
              <a:t>Income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37137E-4837-7541-B427-CFB8315FCF86}"/>
              </a:ext>
            </a:extLst>
          </p:cNvPr>
          <p:cNvSpPr/>
          <p:nvPr/>
        </p:nvSpPr>
        <p:spPr>
          <a:xfrm rot="2021404">
            <a:off x="3302000" y="3857625"/>
            <a:ext cx="1373715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012B7B-8686-3946-8981-87FB0AEB4861}"/>
              </a:ext>
            </a:extLst>
          </p:cNvPr>
          <p:cNvSpPr txBox="1"/>
          <p:nvPr/>
        </p:nvSpPr>
        <p:spPr>
          <a:xfrm>
            <a:off x="3759200" y="3184326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6670"/>
                </a:solidFill>
              </a:rPr>
              <a:t>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D74931-D28B-C04C-BE84-7FFCB3648488}"/>
              </a:ext>
            </a:extLst>
          </p:cNvPr>
          <p:cNvSpPr/>
          <p:nvPr/>
        </p:nvSpPr>
        <p:spPr>
          <a:xfrm rot="-6708085">
            <a:off x="3302000" y="3857625"/>
            <a:ext cx="1367831" cy="3175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5B97F-DCFA-7248-85BA-6DA6ABF0581B}"/>
              </a:ext>
            </a:extLst>
          </p:cNvPr>
          <p:cNvSpPr txBox="1"/>
          <p:nvPr/>
        </p:nvSpPr>
        <p:spPr>
          <a:xfrm>
            <a:off x="2857500" y="3302000"/>
            <a:ext cx="889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6670"/>
                </a:solidFill>
              </a:rPr>
              <a:t>Education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EFA025-0F10-DF49-B4AA-14B352027974}"/>
              </a:ext>
            </a:extLst>
          </p:cNvPr>
          <p:cNvSpPr txBox="1"/>
          <p:nvPr/>
        </p:nvSpPr>
        <p:spPr>
          <a:xfrm>
            <a:off x="4572000" y="39751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666666"/>
                </a:solidFill>
              </a:rPr>
              <a:t>PC1 (54%)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CCDB52-CF38-2246-A9C7-646DC9AF0A55}"/>
              </a:ext>
            </a:extLst>
          </p:cNvPr>
          <p:cNvSpPr txBox="1"/>
          <p:nvPr/>
        </p:nvSpPr>
        <p:spPr>
          <a:xfrm>
            <a:off x="3378200" y="1905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666666"/>
                </a:solidFill>
              </a:rPr>
              <a:t>PC2 (23%)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395196-39BF-FE45-A138-FF2EDDD3A68C}"/>
              </a:ext>
            </a:extLst>
          </p:cNvPr>
          <p:cNvSpPr txBox="1"/>
          <p:nvPr/>
        </p:nvSpPr>
        <p:spPr>
          <a:xfrm>
            <a:off x="5969000" y="1491675"/>
            <a:ext cx="5334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 dirty="0">
                <a:solidFill>
                  <a:srgbClr val="4B2E83"/>
                </a:solidFill>
              </a:rPr>
              <a:t>How to read 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BBE815-AC9A-544D-A4EA-CB0BD478B1EC}"/>
              </a:ext>
            </a:extLst>
          </p:cNvPr>
          <p:cNvSpPr txBox="1"/>
          <p:nvPr/>
        </p:nvSpPr>
        <p:spPr>
          <a:xfrm>
            <a:off x="5896625" y="1941542"/>
            <a:ext cx="6019150" cy="415498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dirty="0">
                <a:solidFill>
                  <a:srgbClr val="333333"/>
                </a:solidFill>
              </a:rPr>
              <a:t>• Three colored clusters → three sub-populations separated mainly along PC1.
• "Income" and "Age" arrows point right → high-PC1 observations are older, higher-income.
• "Income" and "Education" arrows are ~90° apart → roughly uncorrelated in this sample.
• A point far along an arrow's direction scores high on that variable.
• Axes show 54% + 23% = 77% of total variance captured in 2-D.</a:t>
            </a:r>
          </a:p>
        </p:txBody>
      </p:sp>
    </p:spTree>
    <p:extLst>
      <p:ext uri="{BB962C8B-B14F-4D97-AF65-F5344CB8AC3E}">
        <p14:creationId xmlns:p14="http://schemas.microsoft.com/office/powerpoint/2010/main" val="20230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/>
      <p:bldP spid="25" grpId="0"/>
      <p:bldP spid="26" grpId="0"/>
      <p:bldP spid="2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0CF9BC-27EA-E54C-865D-1F1F5104C0F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92285-B95E-DD42-993C-9B02884D8E1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How Many Components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CC34D-31E6-D542-BAFB-F5CDA8AEA7C0}"/>
              </a:ext>
            </a:extLst>
          </p:cNvPr>
          <p:cNvSpPr txBox="1"/>
          <p:nvPr/>
        </p:nvSpPr>
        <p:spPr>
          <a:xfrm>
            <a:off x="762000" y="14986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No single rule is definitive — use several and look for agreement.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490821-CDE8-0142-B404-A66FB7C924BC}"/>
              </a:ext>
            </a:extLst>
          </p:cNvPr>
          <p:cNvSpPr/>
          <p:nvPr/>
        </p:nvSpPr>
        <p:spPr>
          <a:xfrm>
            <a:off x="762000" y="2006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463BA-3DEA-F94B-8FD3-F56BA11E9BDD}"/>
              </a:ext>
            </a:extLst>
          </p:cNvPr>
          <p:cNvSpPr txBox="1"/>
          <p:nvPr/>
        </p:nvSpPr>
        <p:spPr>
          <a:xfrm>
            <a:off x="939800" y="2108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Kaiser criterion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E6A6DD-07D2-404D-A1A3-42D2091E73F4}"/>
                  </a:ext>
                </a:extLst>
              </p:cNvPr>
              <p:cNvSpPr txBox="1"/>
              <p:nvPr/>
            </p:nvSpPr>
            <p:spPr>
              <a:xfrm>
                <a:off x="939800" y="2387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components with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(on standardized data): they explain more than one original variable's worth of variance.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E6A6DD-07D2-404D-A1A3-42D2091E7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87600"/>
                <a:ext cx="5130800" cy="599395"/>
              </a:xfrm>
              <a:prstGeom prst="rect">
                <a:avLst/>
              </a:prstGeom>
              <a:blipFill>
                <a:blip r:embed="rId2"/>
                <a:stretch>
                  <a:fillRect l="-24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1154B6-2A6B-4442-BE3A-7D95CFA039BB}"/>
              </a:ext>
            </a:extLst>
          </p:cNvPr>
          <p:cNvSpPr/>
          <p:nvPr/>
        </p:nvSpPr>
        <p:spPr>
          <a:xfrm>
            <a:off x="762000" y="3022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345384-08C4-9445-B042-EF1F86539384}"/>
              </a:ext>
            </a:extLst>
          </p:cNvPr>
          <p:cNvSpPr txBox="1"/>
          <p:nvPr/>
        </p:nvSpPr>
        <p:spPr>
          <a:xfrm>
            <a:off x="939800" y="3124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Scree / elbow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6BD85B-8B44-9F46-9D93-AB11E03FB0E0}"/>
                  </a:ext>
                </a:extLst>
              </p:cNvPr>
              <p:cNvSpPr txBox="1"/>
              <p:nvPr/>
            </p:nvSpPr>
            <p:spPr>
              <a:xfrm>
                <a:off x="939800" y="3403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vs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; keep components before the curve flattens into the 'rubble'.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6BD85B-8B44-9F46-9D93-AB11E03FB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403600"/>
                <a:ext cx="5130800" cy="599395"/>
              </a:xfrm>
              <a:prstGeom prst="rect">
                <a:avLst/>
              </a:prstGeom>
              <a:blipFill>
                <a:blip r:embed="rId3"/>
                <a:stretch>
                  <a:fillRect l="-246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307488-FB96-6A4F-B7EE-68B0CB36B3D8}"/>
              </a:ext>
            </a:extLst>
          </p:cNvPr>
          <p:cNvSpPr/>
          <p:nvPr/>
        </p:nvSpPr>
        <p:spPr>
          <a:xfrm>
            <a:off x="762000" y="4038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876615-04E8-574F-B8D8-8E7051F25ACB}"/>
              </a:ext>
            </a:extLst>
          </p:cNvPr>
          <p:cNvSpPr txBox="1"/>
          <p:nvPr/>
        </p:nvSpPr>
        <p:spPr>
          <a:xfrm>
            <a:off x="939800" y="4140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Cumulative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5EB6E0-4DC6-B44D-83F6-F2D8743B58A6}"/>
                  </a:ext>
                </a:extLst>
              </p:cNvPr>
              <p:cNvSpPr txBox="1"/>
              <p:nvPr/>
            </p:nvSpPr>
            <p:spPr>
              <a:xfrm>
                <a:off x="939800" y="4419600"/>
                <a:ext cx="5130800" cy="36298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enough PCs to reach a target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Σ</m:t>
                    </m:r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share (e.g., 80–90%).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5EB6E0-4DC6-B44D-83F6-F2D8743B5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419600"/>
                <a:ext cx="5130800" cy="362984"/>
              </a:xfrm>
              <a:prstGeom prst="rect">
                <a:avLst/>
              </a:prstGeom>
              <a:blipFill>
                <a:blip r:embed="rId4"/>
                <a:stretch>
                  <a:fillRect l="-246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D71B6EC-8E65-FF40-9107-7B90740E5349}"/>
              </a:ext>
            </a:extLst>
          </p:cNvPr>
          <p:cNvSpPr/>
          <p:nvPr/>
        </p:nvSpPr>
        <p:spPr>
          <a:xfrm>
            <a:off x="762000" y="5054600"/>
            <a:ext cx="5461000" cy="914400"/>
          </a:xfrm>
          <a:prstGeom prst="roundRect">
            <a:avLst/>
          </a:prstGeom>
          <a:solidFill>
            <a:srgbClr val="F5F0EB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9D89A-F507-F849-8356-DEE39BE2AE5A}"/>
              </a:ext>
            </a:extLst>
          </p:cNvPr>
          <p:cNvSpPr txBox="1"/>
          <p:nvPr/>
        </p:nvSpPr>
        <p:spPr>
          <a:xfrm>
            <a:off x="939800" y="5156200"/>
            <a:ext cx="5105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Parallel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829E07-C70B-4B47-B14C-DD6076B46672}"/>
                  </a:ext>
                </a:extLst>
              </p:cNvPr>
              <p:cNvSpPr txBox="1"/>
              <p:nvPr/>
            </p:nvSpPr>
            <p:spPr>
              <a:xfrm>
                <a:off x="939800" y="5435600"/>
                <a:ext cx="5130800" cy="5993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that exceed the j-th eigenvalue from random/permuted data — the most defensible rule.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829E07-C70B-4B47-B14C-DD6076B46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435600"/>
                <a:ext cx="5130800" cy="599395"/>
              </a:xfrm>
              <a:prstGeom prst="rect">
                <a:avLst/>
              </a:prstGeom>
              <a:blipFill>
                <a:blip r:embed="rId5"/>
                <a:stretch>
                  <a:fillRect l="-246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ScreeChart"/>
          <p:cNvGraphicFramePr/>
          <p:nvPr/>
        </p:nvGraphicFramePr>
        <p:xfrm>
          <a:off x="6477000" y="2006600"/>
          <a:ext cx="4953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555863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20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— Matrix Formulation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Data matrix X ∈ ℝⁿˣᵖ : n observations (rows), p variables (columns). Center each column to mean 0; standardize if scales differ.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C5C5A-6FB6-B74C-B657-9DAE84AAACCF}"/>
              </a:ext>
            </a:extLst>
          </p:cNvPr>
          <p:cNvSpPr txBox="1"/>
          <p:nvPr/>
        </p:nvSpPr>
        <p:spPr>
          <a:xfrm>
            <a:off x="762000" y="2057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Centering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0D200E-DA5E-9842-BC68-DAA4AD7615DE}"/>
              </a:ext>
            </a:extLst>
          </p:cNvPr>
          <p:cNvSpPr/>
          <p:nvPr/>
        </p:nvSpPr>
        <p:spPr>
          <a:xfrm>
            <a:off x="762000" y="2374900"/>
            <a:ext cx="5334000" cy="863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4440AF-607E-7041-A693-CC7A4AD91D42}"/>
                  </a:ext>
                </a:extLst>
              </p:cNvPr>
              <p:cNvSpPr txBox="1"/>
              <p:nvPr/>
            </p:nvSpPr>
            <p:spPr>
              <a:xfrm>
                <a:off x="939800" y="2500334"/>
                <a:ext cx="4978400" cy="6127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bar>
                        <m:barPr>
                          <m:pos m:val="top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54440AF-607E-7041-A693-CC7A4AD91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500334"/>
                <a:ext cx="4978400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D3256AE-37C7-844D-A8E0-65192B79BEFF}"/>
              </a:ext>
            </a:extLst>
          </p:cNvPr>
          <p:cNvSpPr txBox="1"/>
          <p:nvPr/>
        </p:nvSpPr>
        <p:spPr>
          <a:xfrm>
            <a:off x="762000" y="33909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2 · Covariance matrix (p×p)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29B528F-5993-5644-8DC8-9662F6948F12}"/>
              </a:ext>
            </a:extLst>
          </p:cNvPr>
          <p:cNvSpPr/>
          <p:nvPr/>
        </p:nvSpPr>
        <p:spPr>
          <a:xfrm>
            <a:off x="762000" y="3708400"/>
            <a:ext cx="5334000" cy="939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D20A3C-9A78-3B4D-80A3-39C8B3F17239}"/>
                  </a:ext>
                </a:extLst>
              </p:cNvPr>
              <p:cNvSpPr txBox="1"/>
              <p:nvPr/>
            </p:nvSpPr>
            <p:spPr>
              <a:xfrm>
                <a:off x="939800" y="3871934"/>
                <a:ext cx="4978400" cy="6127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D20A3C-9A78-3B4D-80A3-39C8B3F1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871934"/>
                <a:ext cx="4978400" cy="612732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13C985F-A064-F645-8A2D-3FF14B14A122}"/>
              </a:ext>
            </a:extLst>
          </p:cNvPr>
          <p:cNvSpPr txBox="1"/>
          <p:nvPr/>
        </p:nvSpPr>
        <p:spPr>
          <a:xfrm>
            <a:off x="762000" y="4800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3 · Eigen-decomposition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FFABD4-4A7C-9045-AF25-964DE9A517DC}"/>
              </a:ext>
            </a:extLst>
          </p:cNvPr>
          <p:cNvSpPr/>
          <p:nvPr/>
        </p:nvSpPr>
        <p:spPr>
          <a:xfrm>
            <a:off x="762000" y="5118100"/>
            <a:ext cx="5334000" cy="9779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47CB4-67E2-B042-82F7-0C8D886732F0}"/>
                  </a:ext>
                </a:extLst>
              </p:cNvPr>
              <p:cNvSpPr txBox="1"/>
              <p:nvPr/>
            </p:nvSpPr>
            <p:spPr>
              <a:xfrm>
                <a:off x="939800" y="5232075"/>
                <a:ext cx="4978400" cy="74994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= 1,…,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𝛬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𝛬</m:t>
                      </m:r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 … ≥</m:t>
                          </m:r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547CB4-67E2-B042-82F7-0C8D88673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232075"/>
                <a:ext cx="4978400" cy="749949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8EFF22A-0BD7-8E4F-88DB-E370912C6A92}"/>
              </a:ext>
            </a:extLst>
          </p:cNvPr>
          <p:cNvSpPr txBox="1"/>
          <p:nvPr/>
        </p:nvSpPr>
        <p:spPr>
          <a:xfrm>
            <a:off x="6350000" y="2057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4 · Loadings &amp; scores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92ADA5-87F7-3748-AB34-A4B52FD65038}"/>
              </a:ext>
            </a:extLst>
          </p:cNvPr>
          <p:cNvSpPr/>
          <p:nvPr/>
        </p:nvSpPr>
        <p:spPr>
          <a:xfrm>
            <a:off x="6350000" y="2374900"/>
            <a:ext cx="5080000" cy="863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C78635-33D8-2340-B8BB-3509965764F5}"/>
                  </a:ext>
                </a:extLst>
              </p:cNvPr>
              <p:cNvSpPr txBox="1"/>
              <p:nvPr/>
            </p:nvSpPr>
            <p:spPr>
              <a:xfrm>
                <a:off x="6527800" y="2476500"/>
                <a:ext cx="4724400" cy="660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:r>
                  <a:rPr lang="en-US" sz="16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Loadings: columns of V (eigenvectors)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Scores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C78635-33D8-2340-B8BB-350996576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476500"/>
                <a:ext cx="4724400" cy="660400"/>
              </a:xfrm>
              <a:prstGeom prst="rect">
                <a:avLst/>
              </a:prstGeom>
              <a:blipFill>
                <a:blip r:embed="rId5"/>
                <a:stretch>
                  <a:fillRect l="-804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71E2E1C-4001-5A45-8C22-D0C69910EBA8}"/>
              </a:ext>
            </a:extLst>
          </p:cNvPr>
          <p:cNvSpPr txBox="1"/>
          <p:nvPr/>
        </p:nvSpPr>
        <p:spPr>
          <a:xfrm>
            <a:off x="6350000" y="33909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5 · k-dim projection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844EDC7-22A7-ED4C-9CF7-8349CE9C6E40}"/>
              </a:ext>
            </a:extLst>
          </p:cNvPr>
          <p:cNvSpPr/>
          <p:nvPr/>
        </p:nvSpPr>
        <p:spPr>
          <a:xfrm>
            <a:off x="6350000" y="3708400"/>
            <a:ext cx="5080000" cy="939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06437E-FF13-9C49-9DE5-55B10EF96C8E}"/>
                  </a:ext>
                </a:extLst>
              </p:cNvPr>
              <p:cNvSpPr txBox="1"/>
              <p:nvPr/>
            </p:nvSpPr>
            <p:spPr>
              <a:xfrm>
                <a:off x="6527800" y="3812430"/>
                <a:ext cx="4724400" cy="73173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first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k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columns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Reconstruction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pos m:val="top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006437E-FF13-9C49-9DE5-55B10EF96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3812430"/>
                <a:ext cx="4724400" cy="731739"/>
              </a:xfrm>
              <a:prstGeom prst="rect">
                <a:avLst/>
              </a:prstGeom>
              <a:blipFill>
                <a:blip r:embed="rId6"/>
                <a:stretch>
                  <a:fillRect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4573FF6-A011-3E42-8506-AE7CD8559577}"/>
              </a:ext>
            </a:extLst>
          </p:cNvPr>
          <p:cNvSpPr txBox="1"/>
          <p:nvPr/>
        </p:nvSpPr>
        <p:spPr>
          <a:xfrm>
            <a:off x="6350000" y="4800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6 · Variance explained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28D4FA8-02C5-F348-A990-02F020282638}"/>
              </a:ext>
            </a:extLst>
          </p:cNvPr>
          <p:cNvSpPr/>
          <p:nvPr/>
        </p:nvSpPr>
        <p:spPr>
          <a:xfrm>
            <a:off x="6350000" y="5118100"/>
            <a:ext cx="5080000" cy="9779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10278-5BC2-1444-A188-2339AA4077B7}"/>
                  </a:ext>
                </a:extLst>
              </p:cNvPr>
              <p:cNvSpPr txBox="1"/>
              <p:nvPr/>
            </p:nvSpPr>
            <p:spPr>
              <a:xfrm>
                <a:off x="6527800" y="5219764"/>
                <a:ext cx="4724400" cy="7745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prop</m:t>
                      </m:r>
                      <m:r>
                        <a:rPr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𝑃𝐶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/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E10278-5BC2-1444-A188-2339AA407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5219764"/>
                <a:ext cx="4724400" cy="774571"/>
              </a:xfrm>
              <a:prstGeom prst="rect">
                <a:avLst/>
              </a:prstGeom>
              <a:blipFill>
                <a:blip r:embed="rId7"/>
                <a:stretch>
                  <a:fillRect t="-8065" b="-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421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Worked Example: A 5×2 Data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n = 5 observations (rows), p = 2 variables (columns). We will run the full PCA by hand, then plot the result.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DataMatrix"/>
              <p:cNvSpPr txBox="1"/>
              <p:nvPr/>
            </p:nvSpPr>
            <p:spPr>
              <a:xfrm>
                <a:off x="415235" y="2459382"/>
                <a:ext cx="5080000" cy="4064000"/>
              </a:xfrm>
              <a:prstGeom prst="rect">
                <a:avLst/>
              </a:prstGeom>
              <a:noFill/>
            </p:spPr>
            <p:txBody>
              <a:bodyPr wrap="square" rtlCol="0" anchor="t">
                <a:normAutofit/>
              </a:bodyPr>
              <a:lstStyle/>
              <a:p>
                <a:pPr algn="ctr"/>
                <a:r>
                  <a:rPr lang="en-US" sz="1600" b="1" dirty="0">
                    <a:solidFill>
                      <a:srgbClr val="4B2E83"/>
                    </a:solidFill>
                  </a:rPr>
                  <a:t>Data matrix  X  (5 × 2)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2000" i="1">
                          <a:latin typeface="Cambria Math"/>
                        </a:rPr>
                        <m:t>𝑋</m:t>
                      </m:r>
                      <m:r>
                        <a:rPr sz="20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Each row = one observation;  columns = variables  x₁, x₂.</a:t>
                </a:r>
              </a:p>
            </p:txBody>
          </p:sp>
        </mc:Choice>
        <mc:Fallback xmlns="">
          <p:sp>
            <p:nvSpPr>
              <p:cNvPr id="120" name="Data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35" y="2459382"/>
                <a:ext cx="5080000" cy="4064000"/>
              </a:xfrm>
              <a:prstGeom prst="rect">
                <a:avLst/>
              </a:prstGeom>
              <a:blipFill>
                <a:blip r:embed="rId2"/>
                <a:stretch>
                  <a:fillRect t="-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1" name="ScatterChart"/>
          <p:cNvGraphicFramePr/>
          <p:nvPr/>
        </p:nvGraphicFramePr>
        <p:xfrm>
          <a:off x="6223000" y="1905000"/>
          <a:ext cx="5461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2142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20" grpId="0"/>
      <p:bldP spid="20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1 · Centering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Subtract each column's mean so every variable is mean-zero — the operation is  Xc = X − 1ₙ x̄ᵀ.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MeanCard"/>
              <p:cNvSpPr/>
              <p:nvPr/>
            </p:nvSpPr>
            <p:spPr>
              <a:xfrm>
                <a:off x="762000" y="1905000"/>
                <a:ext cx="10668000" cy="1752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1 · Column means  →  mean vector x̄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̄"/>
                          <m:ctrlPr>
                            <a:rPr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sz="20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20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x̄₁ = (3+4+5+6+7)/5 = 5      x̄₂ = (4+3+5+7+6)/5 = 5</a:t>
                </a:r>
              </a:p>
            </p:txBody>
          </p:sp>
        </mc:Choice>
        <mc:Fallback xmlns="">
          <p:sp>
            <p:nvSpPr>
              <p:cNvPr id="130" name="Mean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752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CenterCard"/>
              <p:cNvSpPr/>
              <p:nvPr/>
            </p:nvSpPr>
            <p:spPr>
              <a:xfrm>
                <a:off x="762000" y="3810000"/>
                <a:ext cx="10668000" cy="2489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4B2E83"/>
                    </a:solidFill>
                  </a:rPr>
                  <a:t>2 · Subtract the mean from every observation  →  centered matrix </a:t>
                </a:r>
                <a:r>
                  <a:rPr lang="en-US" sz="1450" b="1" dirty="0" err="1">
                    <a:solidFill>
                      <a:srgbClr val="4B2E83"/>
                    </a:solidFill>
                  </a:rPr>
                  <a:t>Xc</a:t>
                </a:r>
                <a:endParaRPr lang="en-US" sz="1450" b="1" dirty="0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Each column of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Xc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 now sums to 0 — the data is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centred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 on the origin.</a:t>
                </a:r>
              </a:p>
            </p:txBody>
          </p:sp>
        </mc:Choice>
        <mc:Fallback xmlns="">
          <p:sp>
            <p:nvSpPr>
              <p:cNvPr id="131" name="Center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810000"/>
                <a:ext cx="10668000" cy="2489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85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30" grpId="0" animBg="1"/>
      <p:bldP spid="13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2 · Covariance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Multiply the centered matrix by its transpose and scale —  S = 1/(n−1) · Xcᵀ Xc  (a 2×2 matrix).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ProdCard"/>
              <p:cNvSpPr/>
              <p:nvPr/>
            </p:nvSpPr>
            <p:spPr>
              <a:xfrm>
                <a:off x="762000" y="1905000"/>
                <a:ext cx="10668000" cy="2286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r>
                  <a:rPr lang="en-US" sz="1450" b="1" dirty="0">
                    <a:solidFill>
                      <a:srgbClr val="4B2E83"/>
                    </a:solidFill>
                  </a:rPr>
                  <a:t>1 · Matrix product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𝒄</m:t>
                        </m:r>
                      </m:sub>
                      <m:sup>
                        <m: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𝐓</m:t>
                        </m:r>
                      </m:sup>
                    </m:sSubSup>
                    <m:sSub>
                      <m:sSubPr>
                        <m:ctrlP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ar-AE" sz="14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1450" b="1" dirty="0">
                    <a:solidFill>
                      <a:srgbClr val="4B2E83"/>
                    </a:solidFill>
                  </a:rPr>
                  <a:t>  (2×5 · 5×2  →  2×2)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sz="15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5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sz="15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5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5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·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algn="ctr"/>
                <a:endParaRPr lang="en-US" sz="1400" i="1" dirty="0">
                  <a:solidFill>
                    <a:srgbClr val="85754D"/>
                  </a:solidFill>
                </a:endParaRPr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diagonal =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Σ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(column)² → (−2)²+(−1)²+0²+1²+2² = 10    off-diagonal =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Σ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(col₁·col₂) = 2+2+0+2+2 = 8</a:t>
                </a:r>
              </a:p>
            </p:txBody>
          </p:sp>
        </mc:Choice>
        <mc:Fallback xmlns="">
          <p:sp>
            <p:nvSpPr>
              <p:cNvPr id="140" name="Prod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2286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CovCard"/>
              <p:cNvSpPr/>
              <p:nvPr/>
            </p:nvSpPr>
            <p:spPr>
              <a:xfrm>
                <a:off x="762000" y="43815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60000" rIns="100000" bIns="6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2 · Scale by 1/(n−1) = 1/4   →   covariance matrix S</a:t>
                </a:r>
              </a:p>
              <a:p>
                <a:pPr algn="l"/>
                <a:endParaRPr lang="en-US" sz="1450" b="1" dirty="0">
                  <a:solidFill>
                    <a:srgbClr val="00A7B5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900" i="1">
                          <a:latin typeface="Cambria Math"/>
                        </a:rPr>
                        <m:t>𝑆</m:t>
                      </m:r>
                      <m:r>
                        <a:rPr sz="19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50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𝑛</m:t>
                          </m:r>
                          <m:r>
                            <a:rPr sz="1500">
                              <a:latin typeface="Cambria Math"/>
                            </a:rPr>
                            <m:t>−1</m:t>
                          </m:r>
                        </m:den>
                      </m:f>
                      <m:sSubSup>
                        <m:sSubSupPr>
                          <m:ctrlPr>
                            <a:rPr sz="17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17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70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700">
                              <a:latin typeface="Cambria Math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sz="17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7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7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90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50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sz="18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sz="190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2.0</m:t>
                                </m:r>
                              </m:e>
                            </m:mr>
                            <m:mr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2.0</m:t>
                                </m:r>
                              </m:e>
                              <m:e>
                                <m:r>
                                  <a:rPr sz="19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41" name="Cov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815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56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40" grpId="0" animBg="1"/>
      <p:bldP spid="14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46C2-82AB-9488-627C-A616A92AE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D1F815-872F-07E6-3DEE-353BD5BAB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486" y="288028"/>
            <a:ext cx="11050726" cy="59821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9669B-410C-F8E4-D040-1715FF95B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46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Eigenvalues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1 of 3 — solve the characteristic equation  det(S − λI) = 0  for the two eigenvalues.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CharA"/>
              <p:cNvSpPr/>
              <p:nvPr/>
            </p:nvSpPr>
            <p:spPr>
              <a:xfrm>
                <a:off x="762000" y="19050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4B2E83"/>
                    </a:solidFill>
                  </a:rPr>
                  <a:t>1 · Subtract </a:t>
                </a:r>
                <a:r>
                  <a:rPr lang="en-US" sz="1450" b="1" dirty="0" err="1">
                    <a:solidFill>
                      <a:srgbClr val="4B2E83"/>
                    </a:solidFill>
                  </a:rPr>
                  <a:t>λ</a:t>
                </a:r>
                <a:r>
                  <a:rPr lang="en-US" sz="1450" b="1" dirty="0">
                    <a:solidFill>
                      <a:srgbClr val="4B2E83"/>
                    </a:solidFill>
                  </a:rPr>
                  <a:t> from the diagonal of 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</m:t>
                      </m:r>
                      <m:r>
                        <a:rPr sz="1600" i="1">
                          <a:latin typeface="Cambria Math"/>
                        </a:rPr>
                        <m:t>𝜆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− </m:t>
                      </m:r>
                      <m:r>
                        <a:rPr sz="1600" i="1">
                          <a:latin typeface="Cambria Math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0" name="Char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CharB"/>
              <p:cNvSpPr/>
              <p:nvPr/>
            </p:nvSpPr>
            <p:spPr>
              <a:xfrm>
                <a:off x="762000" y="34544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2 · Set the determinant to zero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50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/>
                                </a:rPr>
                                <m:t>2.5 − </m:t>
                              </m:r>
                              <m:r>
                                <a:rPr sz="1500">
                                  <a:latin typeface="Cambria Math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− 4 = 0</m:t>
                      </m:r>
                    </m:oMath>
                  </m:oMathPara>
                </a14:m>
                <a:endParaRPr dirty="0"/>
              </a:p>
              <a:p>
                <a:pPr algn="ctr"/>
                <a:endParaRPr lang="en-US" sz="1400" i="1" dirty="0">
                  <a:solidFill>
                    <a:srgbClr val="85754D"/>
                  </a:solidFill>
                </a:endParaRPr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expand:  (2.5 −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λ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)(2.5 −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λ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) − (2)(2) = (2.5 − </a:t>
                </a:r>
                <a:r>
                  <a:rPr lang="en-US" sz="1400" i="1" dirty="0" err="1">
                    <a:solidFill>
                      <a:srgbClr val="85754D"/>
                    </a:solidFill>
                  </a:rPr>
                  <a:t>λ</a:t>
                </a:r>
                <a:r>
                  <a:rPr lang="en-US" sz="1400" i="1" dirty="0">
                    <a:solidFill>
                      <a:srgbClr val="85754D"/>
                    </a:solidFill>
                  </a:rPr>
                  <a:t>)² − 4</a:t>
                </a:r>
              </a:p>
            </p:txBody>
          </p:sp>
        </mc:Choice>
        <mc:Fallback xmlns="">
          <p:sp>
            <p:nvSpPr>
              <p:cNvPr id="151" name="Char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CharC"/>
              <p:cNvSpPr/>
              <p:nvPr/>
            </p:nvSpPr>
            <p:spPr>
              <a:xfrm>
                <a:off x="762000" y="50800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85754D"/>
                    </a:solidFill>
                  </a:rPr>
                  <a:t>3 · Solve for </a:t>
                </a:r>
                <a:r>
                  <a:rPr lang="en-US" sz="1450" b="1" dirty="0" err="1">
                    <a:solidFill>
                      <a:srgbClr val="85754D"/>
                    </a:solidFill>
                  </a:rPr>
                  <a:t>λ</a:t>
                </a:r>
                <a:endParaRPr lang="en-US" sz="1450" b="1" dirty="0">
                  <a:solidFill>
                    <a:srgbClr val="85754D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1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150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sz="1500">
                                  <a:latin typeface="Cambria Math"/>
                                </a:rPr>
                                <m:t>2.5 − </m:t>
                              </m:r>
                              <m:r>
                                <a:rPr sz="1500">
                                  <a:latin typeface="Cambria Math"/>
                                </a:rPr>
                                <m:t>𝜆</m:t>
                              </m:r>
                            </m:e>
                          </m:d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4    ⇒    2.5 −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± 2    ⇒   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= 2.5 ∓ 2</m:t>
                      </m:r>
                    </m:oMath>
                  </m:oMathPara>
                </a14:m>
                <a:endParaRPr dirty="0"/>
              </a:p>
              <a:p>
                <a:pPr algn="ctr"/>
                <a:r>
                  <a:rPr lang="en-US" sz="1900" b="1" dirty="0">
                    <a:solidFill>
                      <a:srgbClr val="7AB648"/>
                    </a:solidFill>
                  </a:rPr>
                  <a:t>⇒    </a:t>
                </a:r>
                <a:r>
                  <a:rPr lang="en-US" sz="1900" b="1" dirty="0" err="1">
                    <a:solidFill>
                      <a:srgbClr val="7AB648"/>
                    </a:solidFill>
                  </a:rPr>
                  <a:t>λ</a:t>
                </a:r>
                <a:r>
                  <a:rPr lang="en-US" sz="1900" b="1" dirty="0">
                    <a:solidFill>
                      <a:srgbClr val="7AB648"/>
                    </a:solidFill>
                  </a:rPr>
                  <a:t>₁ = 4.5        </a:t>
                </a:r>
                <a:r>
                  <a:rPr lang="en-US" sz="1900" b="1" dirty="0" err="1">
                    <a:solidFill>
                      <a:srgbClr val="7AB648"/>
                    </a:solidFill>
                  </a:rPr>
                  <a:t>λ</a:t>
                </a:r>
                <a:r>
                  <a:rPr lang="en-US" sz="1900" b="1" dirty="0">
                    <a:solidFill>
                      <a:srgbClr val="7AB648"/>
                    </a:solidFill>
                  </a:rPr>
                  <a:t>₂ = 0.5</a:t>
                </a:r>
              </a:p>
            </p:txBody>
          </p:sp>
        </mc:Choice>
        <mc:Fallback xmlns="">
          <p:sp>
            <p:nvSpPr>
              <p:cNvPr id="152" name="Char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800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274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50" grpId="0" animBg="1"/>
      <p:bldP spid="151" grpId="0" animBg="1"/>
      <p:bldP spid="15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Eigenvector for λ₁ = 4.5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2 of 3 — solve  (S − λ₁I)v₁ = 0,  then normalize to unit length.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EvA"/>
              <p:cNvSpPr/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4B2E83"/>
                    </a:solidFill>
                  </a:rPr>
                  <a:t>1 · Form (S − </a:t>
                </a:r>
                <a:r>
                  <a:rPr lang="en-US" sz="1450" b="1" dirty="0" err="1">
                    <a:solidFill>
                      <a:srgbClr val="4B2E83"/>
                    </a:solidFill>
                  </a:rPr>
                  <a:t>λ₁I</a:t>
                </a:r>
                <a:r>
                  <a:rPr lang="en-US" sz="1450" b="1" dirty="0">
                    <a:solidFill>
                      <a:srgbClr val="4B2E83"/>
                    </a:solidFill>
                  </a:rPr>
                  <a:t>) with </a:t>
                </a:r>
                <a:r>
                  <a:rPr lang="en-US" sz="1450" b="1" dirty="0" err="1">
                    <a:solidFill>
                      <a:srgbClr val="4B2E83"/>
                    </a:solidFill>
                  </a:rPr>
                  <a:t>λ</a:t>
                </a:r>
                <a:r>
                  <a:rPr lang="en-US" sz="1450" b="1" dirty="0">
                    <a:solidFill>
                      <a:srgbClr val="4B2E83"/>
                    </a:solidFill>
                  </a:rPr>
                  <a:t>₁ = 4.5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− 4.5 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2.5 − 4.5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2.5 − 4.5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0" name="Ev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EvB"/>
              <p:cNvSpPr/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2 · Solve the homogeneous system  (S − </a:t>
                </a:r>
                <a:r>
                  <a:rPr lang="en-US" sz="1450" b="1" dirty="0" err="1">
                    <a:solidFill>
                      <a:srgbClr val="00A7B5"/>
                    </a:solidFill>
                  </a:rPr>
                  <a:t>λ₁I</a:t>
                </a:r>
                <a:r>
                  <a:rPr lang="en-US" sz="1450" b="1" dirty="0">
                    <a:solidFill>
                      <a:srgbClr val="00A7B5"/>
                    </a:solidFill>
                  </a:rPr>
                  <a:t>)v₁ = 0    (let v₁ = [a, b]ᵀ)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 ⇒    −2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+ 2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  <m:r>
                        <a:rPr sz="1600">
                          <a:latin typeface="Cambria Math"/>
                        </a:rPr>
                        <m:t> = 0    ⇒    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500">
                          <a:latin typeface="Cambria Math"/>
                        </a:rPr>
                        <m:t>𝑠𝑜</m:t>
                      </m:r>
                      <m:r>
                        <a:rPr sz="1500">
                          <a:latin typeface="Cambria Math"/>
                        </a:rPr>
                        <m:t>    </m:t>
                      </m:r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₁  ∝ 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(</m:t>
                      </m:r>
                      <m:r>
                        <a:rPr sz="1500">
                          <a:latin typeface="Cambria Math"/>
                        </a:rPr>
                        <m:t>𝑐ℎ𝑜𝑜𝑠𝑒</m:t>
                      </m:r>
                      <m:r>
                        <a:rPr sz="1500">
                          <a:latin typeface="Cambria Math"/>
                        </a:rPr>
                        <m:t> </m:t>
                      </m:r>
                      <m:r>
                        <a:rPr sz="1500">
                          <a:latin typeface="Cambria Math"/>
                        </a:rPr>
                        <m:t>𝑎</m:t>
                      </m:r>
                      <m:r>
                        <a:rPr sz="1500">
                          <a:latin typeface="Cambria Math"/>
                        </a:rPr>
                        <m:t> = </m:t>
                      </m:r>
                      <m:r>
                        <a:rPr sz="1500">
                          <a:latin typeface="Cambria Math"/>
                        </a:rPr>
                        <m:t>𝑏</m:t>
                      </m:r>
                      <m:r>
                        <a:rPr sz="1500">
                          <a:latin typeface="Cambria Math"/>
                        </a:rPr>
                        <m:t> = 1)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1" name="Ev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Ev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85754D"/>
                    </a:solidFill>
                  </a:rPr>
                  <a:t>3 ·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500">
                          <a:latin typeface="Cambria Math"/>
                        </a:rPr>
                        <m:t>‖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‖ = √(1² + 1²) = √2     ⇒  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 = 1/√2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2" name="Ev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8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 animBg="1"/>
      <p:bldP spid="161" grpId="0" animBg="1"/>
      <p:bldP spid="16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Eigenvector for λ₂ = 0.5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 dirty="0">
                <a:solidFill>
                  <a:srgbClr val="85754D"/>
                </a:solidFill>
              </a:rPr>
              <a:t>Part 2 of 3 (continued) — solve  (S − </a:t>
            </a:r>
            <a:r>
              <a:rPr lang="en-US" sz="1450" i="1" dirty="0" err="1">
                <a:solidFill>
                  <a:srgbClr val="85754D"/>
                </a:solidFill>
              </a:rPr>
              <a:t>λ₂I</a:t>
            </a:r>
            <a:r>
              <a:rPr lang="en-US" sz="1450" i="1" dirty="0">
                <a:solidFill>
                  <a:srgbClr val="85754D"/>
                </a:solidFill>
              </a:rPr>
              <a:t>)v₂ = 0,  then normalize to unit length.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Ev2A"/>
              <p:cNvSpPr/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4B2E83"/>
                    </a:solidFill>
                  </a:rPr>
                  <a:t>1 · Form (S − </a:t>
                </a:r>
                <a:r>
                  <a:rPr lang="en-US" sz="1450" b="1" dirty="0" err="1">
                    <a:solidFill>
                      <a:srgbClr val="4B2E83"/>
                    </a:solidFill>
                  </a:rPr>
                  <a:t>λ₂I</a:t>
                </a:r>
                <a:r>
                  <a:rPr lang="en-US" sz="1450" b="1" dirty="0">
                    <a:solidFill>
                      <a:srgbClr val="4B2E83"/>
                    </a:solidFill>
                  </a:rPr>
                  <a:t>) with </a:t>
                </a:r>
                <a:r>
                  <a:rPr lang="en-US" sz="1450" b="1" dirty="0" err="1">
                    <a:solidFill>
                      <a:srgbClr val="4B2E83"/>
                    </a:solidFill>
                  </a:rPr>
                  <a:t>λ</a:t>
                </a:r>
                <a:r>
                  <a:rPr lang="en-US" sz="1450" b="1" dirty="0">
                    <a:solidFill>
                      <a:srgbClr val="4B2E83"/>
                    </a:solidFill>
                  </a:rPr>
                  <a:t>₂ = 0.5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− 0.5 </m:t>
                      </m:r>
                      <m:r>
                        <a:rPr sz="1600" i="1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2.5 − 0.5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2.5 − 0.5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0" name="Ev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320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Ev2B"/>
              <p:cNvSpPr/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2 · Solve the homogeneous system  (S − </a:t>
                </a:r>
                <a:r>
                  <a:rPr lang="en-US" sz="1450" b="1" dirty="0" err="1">
                    <a:solidFill>
                      <a:srgbClr val="00A7B5"/>
                    </a:solidFill>
                  </a:rPr>
                  <a:t>λ₂I</a:t>
                </a:r>
                <a:r>
                  <a:rPr lang="en-US" sz="1450" b="1" dirty="0">
                    <a:solidFill>
                      <a:srgbClr val="00A7B5"/>
                    </a:solidFill>
                  </a:rPr>
                  <a:t>)v₂ = 0    (let v₂ = [a, b]ᵀ)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 ⇒    2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+ 2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  <m:r>
                        <a:rPr sz="1600">
                          <a:latin typeface="Cambria Math"/>
                        </a:rPr>
                        <m:t> = 0    ⇒    </m:t>
                      </m:r>
                      <m:r>
                        <a:rPr sz="1600">
                          <a:latin typeface="Cambria Math"/>
                        </a:rPr>
                        <m:t>𝑎</m:t>
                      </m:r>
                      <m:r>
                        <a:rPr sz="1600">
                          <a:latin typeface="Cambria Math"/>
                        </a:rPr>
                        <m:t> = −</m:t>
                      </m:r>
                      <m:r>
                        <a:rPr sz="160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500">
                          <a:latin typeface="Cambria Math"/>
                        </a:rPr>
                        <m:t>𝑠𝑜</m:t>
                      </m:r>
                      <m:r>
                        <a:rPr sz="1500">
                          <a:latin typeface="Cambria Math"/>
                        </a:rPr>
                        <m:t>    </m:t>
                      </m:r>
                      <m:r>
                        <a:rPr sz="1700" i="1">
                          <a:latin typeface="Cambria Math"/>
                        </a:rPr>
                        <m:t>𝑣</m:t>
                      </m:r>
                      <m:r>
                        <a:rPr sz="1700" i="1">
                          <a:latin typeface="Cambria Math"/>
                        </a:rPr>
                        <m:t>₂  ∝ 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  (</m:t>
                      </m:r>
                      <m:r>
                        <a:rPr sz="1500">
                          <a:latin typeface="Cambria Math"/>
                        </a:rPr>
                        <m:t>𝑐ℎ𝑜𝑜𝑠𝑒</m:t>
                      </m:r>
                      <m:r>
                        <a:rPr sz="1500">
                          <a:latin typeface="Cambria Math"/>
                        </a:rPr>
                        <m:t> </m:t>
                      </m:r>
                      <m:r>
                        <a:rPr sz="1500">
                          <a:latin typeface="Cambria Math"/>
                        </a:rPr>
                        <m:t>𝑎</m:t>
                      </m:r>
                      <m:r>
                        <a:rPr sz="1500">
                          <a:latin typeface="Cambria Math"/>
                        </a:rPr>
                        <m:t> = 1, </m:t>
                      </m:r>
                      <m:r>
                        <a:rPr sz="1500">
                          <a:latin typeface="Cambria Math"/>
                        </a:rPr>
                        <m:t>𝑏</m:t>
                      </m:r>
                      <m:r>
                        <a:rPr sz="1500">
                          <a:latin typeface="Cambria Math"/>
                        </a:rPr>
                        <m:t> = −1)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1" name="Ev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Ev2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85754D"/>
                    </a:solidFill>
                  </a:rPr>
                  <a:t>3 ·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500">
                          <a:latin typeface="Cambria Math"/>
                        </a:rPr>
                        <m:t>‖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3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‖ = √(1² + (−1)²) = √2     ⇒  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 = 1/√2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4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2" name="Ev2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10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0" grpId="0" animBg="1"/>
      <p:bldP spid="161" grpId="0" build="allAtOnce" animBg="1"/>
      <p:bldP spid="162" grpId="0" build="allAtOnce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3 · Assemble  S = VΛVᵀ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Part 3 of 3 — collect the eigenvectors into V (columns) and eigenvalues into Λ (diagonal).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AsA"/>
              <p:cNvSpPr/>
              <p:nvPr/>
            </p:nvSpPr>
            <p:spPr>
              <a:xfrm>
                <a:off x="762000" y="19050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>
                    <a:solidFill>
                      <a:srgbClr val="4B2E83"/>
                    </a:solidFill>
                  </a:rPr>
                  <a:t>1 · Eigenvectors → columns of V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[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   </m:t>
                      </m:r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 ]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0" name="As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AsB"/>
              <p:cNvSpPr/>
              <p:nvPr/>
            </p:nvSpPr>
            <p:spPr>
              <a:xfrm>
                <a:off x="762000" y="3403600"/>
                <a:ext cx="10668000" cy="1371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2 · Eigenvalues → diagonal of </a:t>
                </a:r>
                <a:r>
                  <a:rPr lang="en-US" sz="1450" b="1" dirty="0" err="1">
                    <a:solidFill>
                      <a:srgbClr val="00A7B5"/>
                    </a:solidFill>
                  </a:rPr>
                  <a:t>Λ</a:t>
                </a:r>
                <a:r>
                  <a:rPr lang="en-US" sz="1450" b="1" dirty="0">
                    <a:solidFill>
                      <a:srgbClr val="00A7B5"/>
                    </a:solidFill>
                  </a:rPr>
                  <a:t>  (largest first)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𝛬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𝑑𝑖𝑎𝑔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₁, 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₂)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1" name="As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03600"/>
                <a:ext cx="10668000" cy="1371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AsC"/>
              <p:cNvSpPr/>
              <p:nvPr/>
            </p:nvSpPr>
            <p:spPr>
              <a:xfrm>
                <a:off x="762000" y="49022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85754D"/>
                    </a:solidFill>
                  </a:rPr>
                  <a:t>3 · Spectral decomposition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700" i="1">
                          <a:latin typeface="Cambria Math"/>
                        </a:rPr>
                        <m:t>𝑉</m:t>
                      </m:r>
                      <m:r>
                        <a:rPr sz="1700" i="1">
                          <a:latin typeface="Cambria Math"/>
                        </a:rPr>
                        <m:t>𝛬</m:t>
                      </m:r>
                      <m:sSup>
                        <m:sSupPr>
                          <m:ctrlPr>
                            <a:rPr sz="17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17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2.5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  ✓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dirty="0"/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V is orthogonal (VᵀV = I), so Vᵀ = V⁻¹ — multiplying back reproduces S exactly.</a:t>
                </a:r>
              </a:p>
            </p:txBody>
          </p:sp>
        </mc:Choice>
        <mc:Fallback xmlns="">
          <p:sp>
            <p:nvSpPr>
              <p:cNvPr id="172" name="As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022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9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171" grpId="0" build="allAtOnce" animBg="1"/>
      <p:bldP spid="17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4 · Loadings &amp; Scores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Loadings are the columns of V; scores are the centred data projected onto them —  T = Xc V.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LoadCard"/>
              <p:cNvSpPr/>
              <p:nvPr/>
            </p:nvSpPr>
            <p:spPr>
              <a:xfrm>
                <a:off x="762000" y="19050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5000" rIns="100000" bIns="45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4B2E83"/>
                    </a:solidFill>
                  </a:rPr>
                  <a:t>1 · Loadings = columns of V  (the weight of each variable on each PC)</a:t>
                </a:r>
              </a:p>
              <a:p>
                <a:pPr algn="l"/>
                <a:endParaRPr lang="en-US" sz="1450" b="1" dirty="0">
                  <a:solidFill>
                    <a:srgbClr val="4B2E83"/>
                  </a:solidFill>
                </a:endParaRPr>
              </a:p>
              <a:p>
                <a:pPr algn="l"/>
                <a:endParaRPr lang="en-US" sz="1450" b="1" dirty="0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𝑝</m:t>
                      </m:r>
                      <m:r>
                        <a:rPr sz="1700" i="1">
                          <a:latin typeface="Cambria Math"/>
                        </a:rPr>
                        <m:t>₁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(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1)         </m:t>
                      </m:r>
                      <m:r>
                        <a:rPr sz="1700" i="1">
                          <a:latin typeface="Cambria Math"/>
                        </a:rPr>
                        <m:t>𝑝</m:t>
                      </m:r>
                      <m:r>
                        <a:rPr sz="1700" i="1">
                          <a:latin typeface="Cambria Math"/>
                        </a:rPr>
                        <m:t>₂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500">
                          <a:latin typeface="Cambria Math"/>
                        </a:rPr>
                        <m:t>  (</m:t>
                      </m:r>
                      <m:r>
                        <a:rPr sz="1500">
                          <a:latin typeface="Cambria Math"/>
                        </a:rPr>
                        <m:t>𝑃𝐶</m:t>
                      </m:r>
                      <m:r>
                        <a:rPr sz="1500">
                          <a:latin typeface="Cambria Math"/>
                        </a:rPr>
                        <m:t>2)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0" name="Load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ScoreCard"/>
              <p:cNvSpPr/>
              <p:nvPr/>
            </p:nvSpPr>
            <p:spPr>
              <a:xfrm>
                <a:off x="762000" y="3683000"/>
                <a:ext cx="10668000" cy="2667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5000" rIns="100000" bIns="45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00A7B5"/>
                    </a:solidFill>
                  </a:rPr>
                  <a:t>2 · Scores  T = </a:t>
                </a:r>
                <a:r>
                  <a:rPr lang="en-US" sz="1450" b="1" dirty="0" err="1">
                    <a:solidFill>
                      <a:srgbClr val="00A7B5"/>
                    </a:solidFill>
                  </a:rPr>
                  <a:t>Xc</a:t>
                </a:r>
                <a:r>
                  <a:rPr lang="en-US" sz="1450" b="1" dirty="0">
                    <a:solidFill>
                      <a:srgbClr val="00A7B5"/>
                    </a:solidFill>
                  </a:rPr>
                  <a:t> V   (project the </a:t>
                </a:r>
                <a:r>
                  <a:rPr lang="en-US" sz="1450" b="1" dirty="0" err="1">
                    <a:solidFill>
                      <a:srgbClr val="00A7B5"/>
                    </a:solidFill>
                  </a:rPr>
                  <a:t>centred</a:t>
                </a:r>
                <a:r>
                  <a:rPr lang="en-US" sz="1450" b="1" dirty="0">
                    <a:solidFill>
                      <a:srgbClr val="00A7B5"/>
                    </a:solidFill>
                  </a:rPr>
                  <a:t> data onto the eigenvectors)</a:t>
                </a:r>
              </a:p>
              <a:p>
                <a:pPr algn="l"/>
                <a:endParaRPr lang="en-US" sz="1450" b="1" dirty="0">
                  <a:solidFill>
                    <a:srgbClr val="00A7B5"/>
                  </a:solidFill>
                </a:endParaRPr>
              </a:p>
              <a:p>
                <a:pPr algn="l"/>
                <a:endParaRPr lang="en-US" sz="1450" b="1" dirty="0">
                  <a:solidFill>
                    <a:srgbClr val="00A7B5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 i="1">
                          <a:latin typeface="Cambria Math"/>
                        </a:rPr>
                        <m:t>𝑇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sz="16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1600" i="1">
                          <a:latin typeface="Cambria Math"/>
                        </a:rPr>
                        <m:t>𝑉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−0.707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2.121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0.707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algn="ctr"/>
                <a:endParaRPr lang="en-US" sz="1400" i="1" dirty="0">
                  <a:solidFill>
                    <a:srgbClr val="85754D"/>
                  </a:solidFill>
                </a:endParaRPr>
              </a:p>
              <a:p>
                <a:pPr algn="ctr"/>
                <a:endParaRPr lang="en-US" sz="1400" i="1" dirty="0">
                  <a:solidFill>
                    <a:srgbClr val="85754D"/>
                  </a:solidFill>
                </a:endParaRPr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Columns of T are the PC1 and PC2 coordinates.   Row 1: (−2)(0.707)+(−1)(0.707) = −2.121 on PC1.</a:t>
                </a:r>
              </a:p>
            </p:txBody>
          </p:sp>
        </mc:Choice>
        <mc:Fallback xmlns="">
          <p:sp>
            <p:nvSpPr>
              <p:cNvPr id="161" name="Score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683000"/>
                <a:ext cx="10668000" cy="266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9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 animBg="1"/>
      <p:bldP spid="16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5 · Variance Explained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Each eigenvalue is the variance along its PC; divide by the total to get the share —  λⱼ / Σλ.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VarCard"/>
              <p:cNvSpPr/>
              <p:nvPr/>
            </p:nvSpPr>
            <p:spPr>
              <a:xfrm>
                <a:off x="762000" y="1905000"/>
                <a:ext cx="5461000" cy="42545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60000" rIns="100000" bIns="50000" anchor="t">
                <a:normAutofit/>
              </a:bodyPr>
              <a:lstStyle/>
              <a:p>
                <a:pPr algn="l"/>
                <a:r>
                  <a:rPr lang="en-US" sz="1450" b="1" dirty="0">
                    <a:solidFill>
                      <a:srgbClr val="4B2E83"/>
                    </a:solidFill>
                  </a:rPr>
                  <a:t>Proportion of variance per PC</a:t>
                </a:r>
              </a:p>
              <a:p>
                <a:pPr algn="l"/>
                <a:endParaRPr lang="en-US" sz="1450" b="1" dirty="0">
                  <a:solidFill>
                    <a:srgbClr val="4B2E83"/>
                  </a:solidFill>
                </a:endParaRPr>
              </a:p>
              <a:p>
                <a:pPr algn="l"/>
                <a:endParaRPr lang="en-US" sz="1450" b="1" dirty="0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>
                          <a:latin typeface="Cambria Math"/>
                        </a:rPr>
                        <m:t>𝑝𝑟𝑜𝑝</m:t>
                      </m:r>
                      <m:r>
                        <a:rPr sz="1700">
                          <a:latin typeface="Cambria Math"/>
                        </a:rPr>
                        <m:t>. </m:t>
                      </m:r>
                      <m:r>
                        <a:rPr sz="1700">
                          <a:latin typeface="Cambria Math"/>
                        </a:rPr>
                        <m:t>𝑃𝐶</m:t>
                      </m:r>
                      <m:r>
                        <a:rPr sz="1700">
                          <a:latin typeface="Cambria Math"/>
                        </a:rPr>
                        <m:t>ⱼ = </m:t>
                      </m:r>
                      <m:f>
                        <m:fPr>
                          <m:ctrlPr>
                            <a:rPr sz="15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500" i="1">
                              <a:latin typeface="Cambria Math"/>
                            </a:rPr>
                            <m:t>𝜆</m:t>
                          </m:r>
                          <m:r>
                            <a:rPr sz="1500" i="1">
                              <a:latin typeface="Cambria Math"/>
                            </a:rPr>
                            <m:t>ⱼ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 +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algn="ctr"/>
                <a:endParaRPr dirty="0"/>
              </a:p>
              <a:p>
                <a:pPr algn="l">
                  <a:spcBef>
                    <a:spcPts val="600"/>
                  </a:spcBef>
                </a:pPr>
                <a:r>
                  <a:rPr lang="en-US" sz="1500" b="0" dirty="0">
                    <a:solidFill>
                      <a:srgbClr val="85754D"/>
                    </a:solidFill>
                  </a:rPr>
                  <a:t>Total variance:  </a:t>
                </a:r>
                <a:r>
                  <a:rPr lang="en-US" sz="1500" b="0" dirty="0" err="1">
                    <a:solidFill>
                      <a:srgbClr val="85754D"/>
                    </a:solidFill>
                  </a:rPr>
                  <a:t>λ</a:t>
                </a:r>
                <a:r>
                  <a:rPr lang="en-US" sz="1500" b="0" dirty="0">
                    <a:solidFill>
                      <a:srgbClr val="85754D"/>
                    </a:solidFill>
                  </a:rPr>
                  <a:t>₁ + </a:t>
                </a:r>
                <a:r>
                  <a:rPr lang="en-US" sz="1500" b="0" dirty="0" err="1">
                    <a:solidFill>
                      <a:srgbClr val="85754D"/>
                    </a:solidFill>
                  </a:rPr>
                  <a:t>λ</a:t>
                </a:r>
                <a:r>
                  <a:rPr lang="en-US" sz="1500" b="0" dirty="0">
                    <a:solidFill>
                      <a:srgbClr val="85754D"/>
                    </a:solidFill>
                  </a:rPr>
                  <a:t>₂ = 4.5 + 0.5 = 5.0</a:t>
                </a:r>
              </a:p>
              <a:p>
                <a:pPr algn="l">
                  <a:spcBef>
                    <a:spcPts val="600"/>
                  </a:spcBef>
                </a:pPr>
                <a:endParaRPr lang="en-US" sz="1500" dirty="0">
                  <a:solidFill>
                    <a:srgbClr val="85754D"/>
                  </a:solidFill>
                </a:endParaRPr>
              </a:p>
              <a:p>
                <a:pPr algn="l">
                  <a:spcBef>
                    <a:spcPts val="600"/>
                  </a:spcBef>
                </a:pPr>
                <a:endParaRPr lang="en-US" sz="1500" b="0" dirty="0">
                  <a:solidFill>
                    <a:srgbClr val="85754D"/>
                  </a:solidFill>
                </a:endParaRPr>
              </a:p>
              <a:p>
                <a:pPr algn="l">
                  <a:spcBef>
                    <a:spcPts val="400"/>
                  </a:spcBef>
                </a:pPr>
                <a:r>
                  <a:rPr lang="en-US" sz="1700" b="1" dirty="0">
                    <a:solidFill>
                      <a:srgbClr val="7AB648"/>
                    </a:solidFill>
                  </a:rPr>
                  <a:t>PC1 :  4.5 / 5 = 0.90   →   90%</a:t>
                </a:r>
              </a:p>
              <a:p>
                <a:pPr algn="l">
                  <a:spcBef>
                    <a:spcPts val="200"/>
                  </a:spcBef>
                </a:pPr>
                <a:r>
                  <a:rPr lang="en-US" sz="1700" b="1" dirty="0">
                    <a:solidFill>
                      <a:srgbClr val="D1578A"/>
                    </a:solidFill>
                  </a:rPr>
                  <a:t>PC2 :  0.5 / 5 = 0.10   →   10%</a:t>
                </a:r>
              </a:p>
              <a:p>
                <a:pPr algn="l">
                  <a:spcBef>
                    <a:spcPts val="400"/>
                  </a:spcBef>
                </a:pPr>
                <a:r>
                  <a:rPr lang="en-US" sz="1500" b="1" dirty="0">
                    <a:solidFill>
                      <a:srgbClr val="4B2E83"/>
                    </a:solidFill>
                  </a:rPr>
                  <a:t>Cumulative:  PC1 = 90%,  PC1 + PC2 = 100%</a:t>
                </a:r>
              </a:p>
            </p:txBody>
          </p:sp>
        </mc:Choice>
        <mc:Fallback xmlns="">
          <p:sp>
            <p:nvSpPr>
              <p:cNvPr id="170" name="VarCard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461000" cy="42545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0" name="VarChart"/>
          <p:cNvGraphicFramePr/>
          <p:nvPr/>
        </p:nvGraphicFramePr>
        <p:xfrm>
          <a:off x="6604000" y="2032000"/>
          <a:ext cx="4889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24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8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18F52-7980-B14E-8AEE-B417C1EE5CF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EB6B82-86FA-1247-ADEC-D778113FC5D6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Step 6 · Plotting the Biplot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AD5FA-9043-A548-AF01-576A4159AE72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Plot the scores in PC space and overlay each original variable as a vector from the origin.</a:t>
            </a:r>
          </a:p>
        </p:txBody>
      </p:sp>
      <p:sp>
        <p:nvSpPr>
          <p:cNvPr id="190" name="StepsCard"/>
          <p:cNvSpPr/>
          <p:nvPr/>
        </p:nvSpPr>
        <p:spPr>
          <a:xfrm>
            <a:off x="635000" y="1905000"/>
            <a:ext cx="4953000" cy="4318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70000" rIns="100000" bIns="50000" anchor="t">
            <a:norm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Plotting PC1, PC2 &amp; the variable vectors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4B2E83"/>
                </a:solidFill>
              </a:rPr>
              <a:t>1 · Axes = the PCs.</a:t>
            </a:r>
            <a:r>
              <a:rPr lang="en-US" sz="1450">
                <a:solidFill>
                  <a:srgbClr val="333333"/>
                </a:solidFill>
              </a:rPr>
              <a:t>  PC1 on the x-axis, PC2 on the y-axis; the origin is the data mean.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00A7B5"/>
                </a:solidFill>
              </a:rPr>
              <a:t>2 · Plot the scores.</a:t>
            </a:r>
            <a:r>
              <a:rPr lang="en-US" sz="1450">
                <a:solidFill>
                  <a:srgbClr val="333333"/>
                </a:solidFill>
              </a:rPr>
              <a:t>  Place each row of T at its (PC1, PC2) — e.g. obs 1 → (−2.12, −0.71).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7AB648"/>
                </a:solidFill>
              </a:rPr>
              <a:t>3 · Draw variable arrows.</a:t>
            </a:r>
            <a:r>
              <a:rPr lang="en-US" sz="1450">
                <a:solidFill>
                  <a:srgbClr val="333333"/>
                </a:solidFill>
              </a:rPr>
              <a:t>  From the origin along each variable's loadings (a row of V): x₁ → (0.707, 0.707), x₂ → (0.707, −0.707).</a:t>
            </a:r>
          </a:p>
          <a:p>
            <a:pPr algn="l">
              <a:spcBef>
                <a:spcPts val="600"/>
              </a:spcBef>
            </a:pPr>
            <a:r>
              <a:rPr lang="en-US" sz="1450" b="1">
                <a:solidFill>
                  <a:srgbClr val="D1578A"/>
                </a:solidFill>
              </a:rPr>
              <a:t>4 · Interpret.</a:t>
            </a:r>
            <a:r>
              <a:rPr lang="en-US" sz="1450">
                <a:solidFill>
                  <a:srgbClr val="333333"/>
                </a:solidFill>
              </a:rPr>
              <a:t>  Arrow direction = how a variable aligns with the PCs; points spread mostly along PC1 (90% of variance).</a:t>
            </a:r>
          </a:p>
        </p:txBody>
      </p:sp>
      <p:sp>
        <p:nvSpPr>
          <p:cNvPr id="200" name="PlotFrame"/>
          <p:cNvSpPr/>
          <p:nvPr/>
        </p:nvSpPr>
        <p:spPr>
          <a:xfrm>
            <a:off x="5816600" y="1905000"/>
            <a:ext cx="5740400" cy="4318000"/>
          </a:xfrm>
          <a:prstGeom prst="roundRect">
            <a:avLst>
              <a:gd name="adj" fmla="val 3000"/>
            </a:avLst>
          </a:prstGeom>
          <a:solidFill>
            <a:srgbClr val="FBFAFD"/>
          </a:solidFill>
          <a:ln w="9525">
            <a:solidFill>
              <a:srgbClr val="D9D2E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01" name="conn201"/>
          <p:cNvCxnSpPr/>
          <p:nvPr/>
        </p:nvCxnSpPr>
        <p:spPr>
          <a:xfrm>
            <a:off x="5994400" y="4064000"/>
            <a:ext cx="5334000" cy="0"/>
          </a:xfrm>
          <a:prstGeom prst="straightConnector1">
            <a:avLst/>
          </a:prstGeom>
          <a:ln w="12700">
            <a:solidFill>
              <a:srgbClr val="AAAAAA"/>
            </a:solidFill>
          </a:ln>
        </p:spPr>
      </p:cxnSp>
      <p:cxnSp>
        <p:nvCxnSpPr>
          <p:cNvPr id="202" name="conn202"/>
          <p:cNvCxnSpPr/>
          <p:nvPr/>
        </p:nvCxnSpPr>
        <p:spPr>
          <a:xfrm>
            <a:off x="8636000" y="2095500"/>
            <a:ext cx="0" cy="3937000"/>
          </a:xfrm>
          <a:prstGeom prst="straightConnector1">
            <a:avLst/>
          </a:prstGeom>
          <a:ln w="12700">
            <a:solidFill>
              <a:srgbClr val="AAAAAA"/>
            </a:solidFill>
          </a:ln>
        </p:spPr>
      </p:cxnSp>
      <p:cxnSp>
        <p:nvCxnSpPr>
          <p:cNvPr id="221" name="conn221"/>
          <p:cNvCxnSpPr/>
          <p:nvPr/>
        </p:nvCxnSpPr>
        <p:spPr>
          <a:xfrm flipV="1">
            <a:off x="8636000" y="2743200"/>
            <a:ext cx="1320800" cy="1320800"/>
          </a:xfrm>
          <a:prstGeom prst="straightConnector1">
            <a:avLst/>
          </a:prstGeom>
          <a:ln w="28575">
            <a:solidFill>
              <a:srgbClr val="00A7B5"/>
            </a:solidFill>
            <a:tailEnd type="triangle" w="lg" len="lg"/>
          </a:ln>
        </p:spPr>
      </p:cxnSp>
      <p:cxnSp>
        <p:nvCxnSpPr>
          <p:cNvPr id="222" name="conn222"/>
          <p:cNvCxnSpPr/>
          <p:nvPr/>
        </p:nvCxnSpPr>
        <p:spPr>
          <a:xfrm>
            <a:off x="8636000" y="4064000"/>
            <a:ext cx="1320800" cy="1320800"/>
          </a:xfrm>
          <a:prstGeom prst="straightConnector1">
            <a:avLst/>
          </a:prstGeom>
          <a:ln w="28575">
            <a:solidFill>
              <a:srgbClr val="7AB648"/>
            </a:solidFill>
            <a:tailEnd type="triangle" w="lg" len="lg"/>
          </a:ln>
        </p:spPr>
      </p:cxnSp>
      <p:sp>
        <p:nvSpPr>
          <p:cNvPr id="211" name="dot211"/>
          <p:cNvSpPr/>
          <p:nvPr/>
        </p:nvSpPr>
        <p:spPr>
          <a:xfrm>
            <a:off x="6350991" y="472407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dot212"/>
          <p:cNvSpPr/>
          <p:nvPr/>
        </p:nvSpPr>
        <p:spPr>
          <a:xfrm>
            <a:off x="6350991" y="325153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dot213"/>
          <p:cNvSpPr/>
          <p:nvPr/>
        </p:nvSpPr>
        <p:spPr>
          <a:xfrm>
            <a:off x="8559800" y="398780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dot214"/>
          <p:cNvSpPr/>
          <p:nvPr/>
        </p:nvSpPr>
        <p:spPr>
          <a:xfrm>
            <a:off x="10768609" y="472407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dot215"/>
          <p:cNvSpPr/>
          <p:nvPr/>
        </p:nvSpPr>
        <p:spPr>
          <a:xfrm>
            <a:off x="10768609" y="3251530"/>
            <a:ext cx="152400" cy="1524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1" name="t241"/>
          <p:cNvSpPr txBox="1"/>
          <p:nvPr/>
        </p:nvSpPr>
        <p:spPr>
          <a:xfrm>
            <a:off x="5969000" y="4902200"/>
            <a:ext cx="18796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1  </a:t>
            </a:r>
            <a:r>
              <a:rPr lang="en-US" sz="1400" b="0" i="0">
                <a:solidFill>
                  <a:srgbClr val="333333"/>
                </a:solidFill>
              </a:rPr>
              <a:t>(−2.121, −0.707)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5969000" y="2895600"/>
            <a:ext cx="18796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2  </a:t>
            </a:r>
            <a:r>
              <a:rPr lang="en-US" sz="1400" b="0" i="0">
                <a:solidFill>
                  <a:srgbClr val="333333"/>
                </a:solidFill>
              </a:rPr>
              <a:t>(−2.121, 0.707)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7747000" y="4165600"/>
            <a:ext cx="8382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 b="1" i="0">
                <a:solidFill>
                  <a:srgbClr val="4B2E83"/>
                </a:solidFill>
              </a:rPr>
              <a:t>3  </a:t>
            </a:r>
            <a:r>
              <a:rPr lang="en-US" sz="1400" b="0" i="0">
                <a:solidFill>
                  <a:srgbClr val="333333"/>
                </a:solidFill>
              </a:rPr>
              <a:t>(0, 0)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9753600" y="4902200"/>
            <a:ext cx="18796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4B2E83"/>
                </a:solidFill>
              </a:rPr>
              <a:t>4  </a:t>
            </a:r>
            <a:r>
              <a:rPr lang="en-US" sz="1400" b="0" i="0">
                <a:solidFill>
                  <a:srgbClr val="333333"/>
                </a:solidFill>
              </a:rPr>
              <a:t>(2.121, −0.707)</a:t>
            </a:r>
          </a:p>
        </p:txBody>
      </p:sp>
      <p:sp>
        <p:nvSpPr>
          <p:cNvPr id="245" name="t245"/>
          <p:cNvSpPr txBox="1"/>
          <p:nvPr/>
        </p:nvSpPr>
        <p:spPr>
          <a:xfrm>
            <a:off x="9613900" y="2844800"/>
            <a:ext cx="18796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400" b="1" i="0">
                <a:solidFill>
                  <a:srgbClr val="4B2E83"/>
                </a:solidFill>
              </a:rPr>
              <a:t>5  </a:t>
            </a:r>
            <a:r>
              <a:rPr lang="en-US" sz="1400" b="0" i="0">
                <a:solidFill>
                  <a:srgbClr val="333333"/>
                </a:solidFill>
              </a:rPr>
              <a:t>(2.121, 0.707)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10160000" y="22860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600" b="1" i="1">
                <a:solidFill>
                  <a:srgbClr val="00A7B5"/>
                </a:solidFill>
              </a:rPr>
              <a:t>x₁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10058400" y="5359400"/>
            <a:ext cx="508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600" b="1" i="1">
                <a:solidFill>
                  <a:srgbClr val="7AB648"/>
                </a:solidFill>
              </a:rPr>
              <a:t>x₂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10414000" y="4191000"/>
            <a:ext cx="1143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85754D"/>
                </a:solidFill>
              </a:rPr>
              <a:t>PC1 (90%)</a:t>
            </a:r>
          </a:p>
        </p:txBody>
      </p:sp>
      <p:sp>
        <p:nvSpPr>
          <p:cNvPr id="234" name="t234"/>
          <p:cNvSpPr txBox="1"/>
          <p:nvPr/>
        </p:nvSpPr>
        <p:spPr>
          <a:xfrm>
            <a:off x="8737600" y="2057400"/>
            <a:ext cx="1143000" cy="304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en-US" sz="1400" b="1" i="0">
                <a:solidFill>
                  <a:srgbClr val="85754D"/>
                </a:solidFill>
              </a:rPr>
              <a:t>PC2 (10%)</a:t>
            </a:r>
          </a:p>
        </p:txBody>
      </p:sp>
    </p:spTree>
    <p:extLst>
      <p:ext uri="{BB962C8B-B14F-4D97-AF65-F5344CB8AC3E}">
        <p14:creationId xmlns:p14="http://schemas.microsoft.com/office/powerpoint/2010/main" val="292097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90" grpId="0" animBg="1"/>
      <p:bldP spid="200" grpId="0" animBg="1"/>
      <p:bldP spid="201" grpId="0" animBg="1"/>
      <p:bldP spid="202" grpId="0" animBg="1"/>
      <p:bldP spid="221" grpId="0" animBg="1"/>
      <p:bldP spid="222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41" grpId="0"/>
      <p:bldP spid="242" grpId="0"/>
      <p:bldP spid="243" grpId="0"/>
      <p:bldP spid="244" grpId="0"/>
      <p:bldP spid="245" grpId="0"/>
      <p:bldP spid="231" grpId="0"/>
      <p:bldP spid="232" grpId="0"/>
      <p:bldP spid="233" grpId="0"/>
      <p:bldP spid="23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7A75F2-0421-3C4F-95AE-20811F15AF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C8F89-F20C-1E46-82A2-F9E75B417553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PCA via Singular Value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05757-259C-554A-A032-A654DECD32E9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In practice PCA is computed from the SVD of the centered data — more numerically stable than forming S = X꜀ᵀX꜀ explicitly.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685B92-5EC7-2742-A5A7-2B1E48D8F480}"/>
              </a:ext>
            </a:extLst>
          </p:cNvPr>
          <p:cNvSpPr/>
          <p:nvPr/>
        </p:nvSpPr>
        <p:spPr>
          <a:xfrm>
            <a:off x="762000" y="2133600"/>
            <a:ext cx="10668000" cy="10160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310885-5C6A-5644-B56F-7EB45E514C9C}"/>
                  </a:ext>
                </a:extLst>
              </p:cNvPr>
              <p:cNvSpPr txBox="1"/>
              <p:nvPr/>
            </p:nvSpPr>
            <p:spPr>
              <a:xfrm>
                <a:off x="762000" y="2311400"/>
                <a:ext cx="10668000" cy="635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>
                  <a:defRPr sz="3400" b="1">
                    <a:solidFill>
                      <a:srgbClr val="FFFFFF"/>
                    </a:solidFill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310885-5C6A-5644-B56F-7EB45E514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11400"/>
                <a:ext cx="10668000" cy="63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ABB267-A058-894B-892D-EBBEF6AB6AEC}"/>
              </a:ext>
            </a:extLst>
          </p:cNvPr>
          <p:cNvSpPr/>
          <p:nvPr/>
        </p:nvSpPr>
        <p:spPr>
          <a:xfrm>
            <a:off x="7620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F53165-7419-624F-AD56-6F3B1C385E06}"/>
              </a:ext>
            </a:extLst>
          </p:cNvPr>
          <p:cNvSpPr txBox="1"/>
          <p:nvPr/>
        </p:nvSpPr>
        <p:spPr>
          <a:xfrm>
            <a:off x="9398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  <a:latin typeface="Cambria Math"/>
                <a:ea typeface="Cambria Math"/>
              </a:rPr>
              <a:t>U (n×n)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FE2E7-3610-0344-AB6A-9FC994C7DA51}"/>
              </a:ext>
            </a:extLst>
          </p:cNvPr>
          <p:cNvSpPr txBox="1"/>
          <p:nvPr/>
        </p:nvSpPr>
        <p:spPr>
          <a:xfrm>
            <a:off x="9398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Left singular vectors — orthonormal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DCB9798-69BC-5A40-A0AD-7015BCCC6F04}"/>
              </a:ext>
            </a:extLst>
          </p:cNvPr>
          <p:cNvSpPr/>
          <p:nvPr/>
        </p:nvSpPr>
        <p:spPr>
          <a:xfrm>
            <a:off x="43815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C7B05B-6E74-1748-9B0B-F72E0665C266}"/>
              </a:ext>
            </a:extLst>
          </p:cNvPr>
          <p:cNvSpPr txBox="1"/>
          <p:nvPr/>
        </p:nvSpPr>
        <p:spPr>
          <a:xfrm>
            <a:off x="45593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600" b="1">
                <a:solidFill>
                  <a:srgbClr val="00A7B5"/>
                </a:solidFill>
                <a:latin typeface="Cambria Math"/>
                <a:ea typeface="Cambria Math"/>
              </a:rPr>
              <a:t>Σ (</a:t>
            </a:r>
            <a:r>
              <a:rPr lang="en-US" sz="1600" b="1">
                <a:solidFill>
                  <a:srgbClr val="00A7B5"/>
                </a:solidFill>
                <a:latin typeface="Cambria Math"/>
                <a:ea typeface="Cambria Math"/>
              </a:rPr>
              <a:t>n×p)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06F00-B326-054B-AF5E-8823286A978D}"/>
              </a:ext>
            </a:extLst>
          </p:cNvPr>
          <p:cNvSpPr txBox="1"/>
          <p:nvPr/>
        </p:nvSpPr>
        <p:spPr>
          <a:xfrm>
            <a:off x="45593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Diagonal singular values </a:t>
            </a:r>
            <a:r>
              <a:rPr lang="el-GR" sz="1400">
                <a:solidFill>
                  <a:srgbClr val="333333"/>
                </a:solidFill>
              </a:rPr>
              <a:t>σ₁ ≥ σ₂ ≥ …</a:t>
            </a:r>
            <a:endParaRPr lang="en-US" sz="1400">
              <a:solidFill>
                <a:srgbClr val="333333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C5ECCB-72BE-4E4E-96F7-63C172A02047}"/>
              </a:ext>
            </a:extLst>
          </p:cNvPr>
          <p:cNvSpPr/>
          <p:nvPr/>
        </p:nvSpPr>
        <p:spPr>
          <a:xfrm>
            <a:off x="8001000" y="3352800"/>
            <a:ext cx="3429000" cy="990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1FCCD-2FA8-5B4E-AEEB-ACB01AC441EC}"/>
              </a:ext>
            </a:extLst>
          </p:cNvPr>
          <p:cNvSpPr txBox="1"/>
          <p:nvPr/>
        </p:nvSpPr>
        <p:spPr>
          <a:xfrm>
            <a:off x="8178800" y="3479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  <a:latin typeface="Cambria Math"/>
                <a:ea typeface="Cambria Math"/>
              </a:rPr>
              <a:t>V (p×p)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F01080-9030-F04F-A0B5-C9E0EB6885C1}"/>
              </a:ext>
            </a:extLst>
          </p:cNvPr>
          <p:cNvSpPr txBox="1"/>
          <p:nvPr/>
        </p:nvSpPr>
        <p:spPr>
          <a:xfrm>
            <a:off x="8178800" y="3810000"/>
            <a:ext cx="3073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Right singular vectors = PCA loadings</a:t>
            </a:r>
          </a:p>
        </p:txBody>
      </p:sp>
    </p:spTree>
    <p:extLst>
      <p:ext uri="{BB962C8B-B14F-4D97-AF65-F5344CB8AC3E}">
        <p14:creationId xmlns:p14="http://schemas.microsoft.com/office/powerpoint/2010/main" val="109052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1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X1S1A"/>
              <p:cNvSpPr/>
              <p:nvPr/>
            </p:nvSpPr>
            <p:spPr>
              <a:xfrm>
                <a:off x="762000" y="1905000"/>
                <a:ext cx="4826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covariance matrix 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800" i="1">
                          <a:latin typeface="Cambria Math"/>
                        </a:rPr>
                        <m:t>𝑆</m:t>
                      </m:r>
                      <m:r>
                        <a:rPr sz="17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7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X1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4826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X1S1B"/>
          <p:cNvSpPr/>
          <p:nvPr/>
        </p:nvSpPr>
        <p:spPr>
          <a:xfrm>
            <a:off x="5969000" y="1905000"/>
            <a:ext cx="5461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the eigenvalues of S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the unit eigenvector for the larger eigenvalue</a:t>
            </a:r>
          </a:p>
          <a:p>
            <a:pPr marL="285750" indent="-285750" algn="l">
              <a:spcBef>
                <a:spcPts val="700"/>
              </a:spcBef>
            </a:pPr>
            <a:r>
              <a:rPr lang="en-US" sz="1600" b="1">
                <a:solidFill>
                  <a:srgbClr val="00A7B5"/>
                </a:solidFill>
              </a:rPr>
              <a:t>(c)  </a:t>
            </a:r>
            <a:r>
              <a:rPr lang="en-US" sz="1600">
                <a:solidFill>
                  <a:srgbClr val="333333"/>
                </a:solidFill>
              </a:rPr>
              <a:t>the fraction of total variance explained by PC1</a:t>
            </a:r>
          </a:p>
        </p:txBody>
      </p:sp>
    </p:spTree>
    <p:extLst>
      <p:ext uri="{BB962C8B-B14F-4D97-AF65-F5344CB8AC3E}">
        <p14:creationId xmlns:p14="http://schemas.microsoft.com/office/powerpoint/2010/main" val="196237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(a):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2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X1S2A"/>
              <p:cNvSpPr/>
              <p:nvPr/>
            </p:nvSpPr>
            <p:spPr>
              <a:xfrm>
                <a:off x="762000" y="17018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Characteristic equation  det(S − λI) = 0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𝑑𝑒𝑡</m:t>
                      </m:r>
                      <m:d>
                        <m:dPr>
                          <m:begChr m:val="|"/>
                          <m:endChr m:val="|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5 −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2 − </m:t>
                                </m:r>
                                <m:r>
                                  <a:rPr sz="1500">
                                    <a:latin typeface="Cambria Math"/>
                                  </a:rPr>
                                  <m:t>𝜆</m:t>
                                </m:r>
                              </m:e>
                            </m:mr>
                          </m:m>
                        </m:e>
                      </m:d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sz="1500">
                              <a:latin typeface="Cambria Math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5 −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d>
                        <m:dPr>
                          <m:ctrlPr>
                            <a:rPr sz="1500">
                              <a:latin typeface="Cambria Math"/>
                            </a:rPr>
                          </m:ctrlPr>
                        </m:dPr>
                        <m:e>
                          <m:r>
                            <a:rPr sz="1500">
                              <a:latin typeface="Cambria Math"/>
                            </a:rPr>
                            <m:t>2 −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</m:e>
                      </m:d>
                      <m:r>
                        <a:rPr sz="1600">
                          <a:latin typeface="Cambria Math"/>
                        </a:rPr>
                        <m:t> − 4 =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X1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X1S2B"/>
              <p:cNvSpPr/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Expand and factor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16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𝜆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 − 7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+ 6 = 0     ⇒     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− 6)(</m:t>
                      </m:r>
                      <m:r>
                        <a:rPr sz="1600">
                          <a:latin typeface="Cambria Math"/>
                        </a:rPr>
                        <m:t>𝜆</m:t>
                      </m:r>
                      <m:r>
                        <a:rPr sz="1600">
                          <a:latin typeface="Cambria Math"/>
                        </a:rPr>
                        <m:t> − 1) = 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1" name="X1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1S2C"/>
          <p:cNvSpPr/>
          <p:nvPr/>
        </p:nvSpPr>
        <p:spPr>
          <a:xfrm>
            <a:off x="762000" y="49530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Eigenvalues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λ₁ = 6        λ₂ = 1</a:t>
            </a:r>
          </a:p>
        </p:txBody>
      </p:sp>
    </p:spTree>
    <p:extLst>
      <p:ext uri="{BB962C8B-B14F-4D97-AF65-F5344CB8AC3E}">
        <p14:creationId xmlns:p14="http://schemas.microsoft.com/office/powerpoint/2010/main" val="288083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(b): Unit Eigenvector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3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X1S3A"/>
              <p:cNvSpPr/>
              <p:nvPr/>
            </p:nvSpPr>
            <p:spPr>
              <a:xfrm>
                <a:off x="762000" y="1701800"/>
                <a:ext cx="10668000" cy="1346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Solve (S − λ₁I)v = 0  for λ₁ = 6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(5 − 6)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 ⇒     −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+ 2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 = 0     ⇒     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₁ = 2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₂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X1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46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X1S3B"/>
              <p:cNvSpPr/>
              <p:nvPr/>
            </p:nvSpPr>
            <p:spPr>
              <a:xfrm>
                <a:off x="762000" y="3175000"/>
                <a:ext cx="10668000" cy="2133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Pick a vector, then normalize to unit length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 = (2, 1),      ‖</m:t>
                      </m:r>
                      <m:r>
                        <a:rPr sz="1600">
                          <a:latin typeface="Cambria Math"/>
                        </a:rPr>
                        <m:t>𝑣</m:t>
                      </m:r>
                      <m:r>
                        <a:rPr sz="1600">
                          <a:latin typeface="Cambria Math"/>
                        </a:rPr>
                        <m:t>‖ = √(2² + 1²) = √5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₁ = (1/√5)(2, 1) = (0</m:t>
                      </m:r>
                      <m:r>
                        <a:rPr sz="1600">
                          <a:latin typeface="Cambria Math"/>
                        </a:rPr>
                        <m:t>.894, 0.447)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1" name="X1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75000"/>
                <a:ext cx="10668000" cy="2133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X1S3C"/>
              <p:cNvSpPr/>
              <p:nvPr/>
            </p:nvSpPr>
            <p:spPr>
              <a:xfrm>
                <a:off x="762000" y="5461000"/>
                <a:ext cx="10668000" cy="9906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Second eigenvector (orthogonal)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 i="1">
                          <a:latin typeface="Cambria Math"/>
                        </a:rPr>
                        <m:t>𝑣</m:t>
                      </m:r>
                      <m:r>
                        <a:rPr sz="1600" i="1">
                          <a:latin typeface="Cambria Math"/>
                        </a:rPr>
                        <m:t>₂ = (−0.447, 0.894)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perpendicular to v₁ and also unit length</a:t>
                </a:r>
              </a:p>
            </p:txBody>
          </p:sp>
        </mc:Choice>
        <mc:Fallback xmlns="">
          <p:sp>
            <p:nvSpPr>
              <p:cNvPr id="162" name="X1S3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461000"/>
                <a:ext cx="10668000" cy="9906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3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04379-5939-F44E-8772-BF3D5273CF3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32903-A3EB-CE4D-92A4-13BDA5E7C4F4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1 — Solution (c): Variance Explained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B8037F-A8B6-F741-B382-047925EAE5D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1 · 4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X1S4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variance = trace of 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>
                          <a:latin typeface="Cambria Math"/>
                        </a:rPr>
                        <m:t>𝑡𝑟</m:t>
                      </m:r>
                      <m:r>
                        <a:rPr sz="1700">
                          <a:latin typeface="Cambria Math"/>
                        </a:rPr>
                        <m:t>(</m:t>
                      </m:r>
                      <m:r>
                        <a:rPr sz="1700">
                          <a:latin typeface="Cambria Math"/>
                        </a:rPr>
                        <m:t>𝑆</m:t>
                      </m:r>
                      <m:r>
                        <a:rPr sz="1700">
                          <a:latin typeface="Cambria Math"/>
                        </a:rPr>
                        <m:t>) = 5 + 2 = 7 = </m:t>
                      </m:r>
                      <m:r>
                        <a:rPr sz="1700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₁ + </m:t>
                      </m:r>
                      <m:r>
                        <a:rPr sz="1700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₂      ✓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X1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X1S4B"/>
              <p:cNvSpPr/>
              <p:nvPr/>
            </p:nvSpPr>
            <p:spPr>
              <a:xfrm>
                <a:off x="762000" y="33020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Fraction of variance carried by PC1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𝑃𝐶</m:t>
                      </m:r>
                      <m:r>
                        <a:rPr sz="1600">
                          <a:latin typeface="Cambria Math"/>
                        </a:rPr>
                        <m:t>1 </m:t>
                      </m:r>
                      <m:r>
                        <a:rPr sz="1600">
                          <a:latin typeface="Cambria Math"/>
                        </a:rPr>
                        <m:t>𝑠ℎ𝑎𝑟𝑒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sz="150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₁ + </m:t>
                          </m:r>
                          <m:r>
                            <a:rPr sz="1500">
                              <a:latin typeface="Cambria Math"/>
                            </a:rPr>
                            <m:t>𝜆</m:t>
                          </m:r>
                          <m:r>
                            <a:rPr sz="1500">
                              <a:latin typeface="Cambria Math"/>
                            </a:rPr>
                            <m:t>₂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sz="150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500"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sz="1500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sz="1600">
                          <a:latin typeface="Cambria Math"/>
                        </a:rPr>
                        <m:t> = 0.857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1" name="X1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020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1S4C"/>
          <p:cNvSpPr/>
          <p:nvPr/>
        </p:nvSpPr>
        <p:spPr>
          <a:xfrm>
            <a:off x="762000" y="5029200"/>
            <a:ext cx="10668000" cy="1397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Answer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PC1 explains ≈ 85.7% of the total variance</a:t>
            </a:r>
          </a:p>
        </p:txBody>
      </p:sp>
    </p:spTree>
    <p:extLst>
      <p:ext uri="{BB962C8B-B14F-4D97-AF65-F5344CB8AC3E}">
        <p14:creationId xmlns:p14="http://schemas.microsoft.com/office/powerpoint/2010/main" val="284795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1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X2S1A"/>
              <p:cNvSpPr/>
              <p:nvPr/>
            </p:nvSpPr>
            <p:spPr>
              <a:xfrm>
                <a:off x="762000" y="1905000"/>
                <a:ext cx="10668000" cy="1701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eigenvalues from 6 standardized variables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800" i="1">
                          <a:latin typeface="Cambria Math"/>
                        </a:rPr>
                        <m:t>𝜆</m:t>
                      </m:r>
                      <m:r>
                        <a:rPr sz="1700">
                          <a:latin typeface="Cambria Math"/>
                        </a:rPr>
                        <m:t> = (3.1,  1.4,  0.7,  0.4,  0.25,  0.15)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standardized data → total variance Σλ = 6</a:t>
                </a:r>
              </a:p>
            </p:txBody>
          </p:sp>
        </mc:Choice>
        <mc:Fallback xmlns="">
          <p:sp>
            <p:nvSpPr>
              <p:cNvPr id="160" name="X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10668000" cy="1701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X2S1B"/>
          <p:cNvSpPr/>
          <p:nvPr/>
        </p:nvSpPr>
        <p:spPr>
          <a:xfrm>
            <a:off x="762000" y="3784600"/>
            <a:ext cx="10668000" cy="2667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how many components the Kaiser rule (λ &gt; 1) keeps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how many components are needed to reach ≥ 80% cumulative variance</a:t>
            </a:r>
          </a:p>
          <a:p>
            <a:pPr marL="300000" indent="-300000" algn="l">
              <a:spcBef>
                <a:spcPts val="650"/>
              </a:spcBef>
            </a:pPr>
            <a:r>
              <a:rPr lang="en-US" sz="1600" b="1">
                <a:solidFill>
                  <a:srgbClr val="00A7B5"/>
                </a:solidFill>
              </a:rPr>
              <a:t>(c)  </a:t>
            </a:r>
            <a:r>
              <a:rPr lang="en-US" sz="1600">
                <a:solidFill>
                  <a:srgbClr val="333333"/>
                </a:solidFill>
              </a:rPr>
              <a:t>where the elbow of the scree plot lies</a:t>
            </a:r>
          </a:p>
        </p:txBody>
      </p:sp>
    </p:spTree>
    <p:extLst>
      <p:ext uri="{BB962C8B-B14F-4D97-AF65-F5344CB8AC3E}">
        <p14:creationId xmlns:p14="http://schemas.microsoft.com/office/powerpoint/2010/main" val="284099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(a): Kaiser Rule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2 / 4</a:t>
            </a:r>
          </a:p>
        </p:txBody>
      </p:sp>
      <p:sp>
        <p:nvSpPr>
          <p:cNvPr id="160" name="X2S2A"/>
          <p:cNvSpPr/>
          <p:nvPr/>
        </p:nvSpPr>
        <p:spPr>
          <a:xfrm>
            <a:off x="762000" y="17018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0000" rIns="11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The Kaiser rule</a:t>
            </a:r>
          </a:p>
          <a:p>
            <a:pPr algn="ctr"/>
            <a:r>
              <a:rPr lang="en-US" sz="1550" b="0">
                <a:solidFill>
                  <a:srgbClr val="333333"/>
                </a:solidFill>
              </a:rPr>
              <a:t>Keep every component with λⱼ &gt; 1.  For standardized data the average eigenvalue is exactly 1, so this retains the above-average components.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X2S2B"/>
              <p:cNvSpPr/>
              <p:nvPr/>
            </p:nvSpPr>
            <p:spPr>
              <a:xfrm>
                <a:off x="762000" y="33274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10000" tIns="50000" rIns="11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Compare each eigenvalue with 1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3.1 &gt; 1 ✓    1.4 &gt; 1 ✓    0.7 </m:t>
                      </m:r>
                    </m:oMath>
                  </m:oMathPara>
                </a14:m>
                <a:endParaRPr lang="en-US" sz="1400" b="1">
                  <a:solidFill>
                    <a:srgbClr val="00A7B5"/>
                  </a:solidFill>
                </a:endParaRPr>
              </a:p>
            </p:txBody>
          </p:sp>
        </mc:Choice>
        <mc:Fallback xmlns="">
          <p:sp>
            <p:nvSpPr>
              <p:cNvPr id="161" name="X2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X2S2C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0000" rIns="11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Answer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Kaiser keeps 2 components — PC1 and PC2</a:t>
            </a:r>
          </a:p>
        </p:txBody>
      </p:sp>
    </p:spTree>
    <p:extLst>
      <p:ext uri="{BB962C8B-B14F-4D97-AF65-F5344CB8AC3E}">
        <p14:creationId xmlns:p14="http://schemas.microsoft.com/office/powerpoint/2010/main" val="154505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(b): Cumulative Variance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3 / 4</a:t>
            </a:r>
          </a:p>
        </p:txBody>
      </p:sp>
      <p:sp>
        <p:nvSpPr>
          <p:cNvPr id="160" name="X2S3A"/>
          <p:cNvSpPr/>
          <p:nvPr/>
        </p:nvSpPr>
        <p:spPr>
          <a:xfrm>
            <a:off x="762000" y="1879600"/>
            <a:ext cx="5461000" cy="4572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60000" rIns="100000" bIns="50000" anchor="t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Variance share  (λⱼ / 6)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PC1:  3.1 / 6 = 51.7%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PC2:  1.4 / 6 = 23.3%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PC3:  0.7 / 6 = 11.7%</a:t>
            </a:r>
          </a:p>
          <a:p>
            <a:pPr algn="l">
              <a:spcBef>
                <a:spcPts val="750"/>
              </a:spcBef>
            </a:pPr>
            <a:r>
              <a:rPr lang="en-US" sz="1450" b="1">
                <a:solidFill>
                  <a:srgbClr val="00A7B5"/>
                </a:solidFill>
              </a:rPr>
              <a:t>2 · Cumulative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PC1 = 51.7%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PC1+PC2 = 75.0%</a:t>
            </a:r>
          </a:p>
          <a:p>
            <a:pPr algn="l"/>
            <a:r>
              <a:rPr lang="en-US" sz="1500" b="1">
                <a:solidFill>
                  <a:srgbClr val="7AB648"/>
                </a:solidFill>
              </a:rPr>
              <a:t>PC1+PC2+PC3 = 86.7%  ← first ≥ 80%</a:t>
            </a:r>
          </a:p>
          <a:p>
            <a:pPr algn="l">
              <a:spcBef>
                <a:spcPts val="750"/>
              </a:spcBef>
            </a:pPr>
            <a:r>
              <a:rPr lang="en-US" sz="1450" b="1">
                <a:solidFill>
                  <a:srgbClr val="85754D"/>
                </a:solidFill>
              </a:rPr>
              <a:t>3 · Answer</a:t>
            </a:r>
          </a:p>
          <a:p>
            <a:pPr algn="l">
              <a:spcBef>
                <a:spcPts val="200"/>
              </a:spcBef>
            </a:pPr>
            <a:r>
              <a:rPr lang="en-US" sz="1600" b="1">
                <a:solidFill>
                  <a:srgbClr val="7AB648"/>
                </a:solidFill>
              </a:rPr>
              <a:t>3 components are needed to exceed 80%</a:t>
            </a:r>
          </a:p>
        </p:txBody>
      </p:sp>
      <p:graphicFrame>
        <p:nvGraphicFramePr>
          <p:cNvPr id="301" name="Cum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3568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Graphic spid="301" grpId="0">
        <p:bldAsOne/>
      </p:bldGraphic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510E32-9B8F-2D45-9317-5C873B2A8DD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979E8-A5F5-4143-B6BB-ECA90E16850E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Exercise 2 — Solution (c): Scree Elbow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A529E9-03DC-DB4B-9860-74D0F3E6B787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2 · 4 / 4</a:t>
            </a:r>
          </a:p>
        </p:txBody>
      </p:sp>
      <p:sp>
        <p:nvSpPr>
          <p:cNvPr id="160" name="X2S4A"/>
          <p:cNvSpPr/>
          <p:nvPr/>
        </p:nvSpPr>
        <p:spPr>
          <a:xfrm>
            <a:off x="762000" y="1879600"/>
            <a:ext cx="5588000" cy="4572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60000" rIns="100000" bIns="50000" anchor="t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1 · Drops between successive eigenvalues</a:t>
            </a:r>
          </a:p>
          <a:p>
            <a:pPr algn="l">
              <a:spcBef>
                <a:spcPts val="200"/>
              </a:spcBef>
            </a:pPr>
            <a:r>
              <a:rPr lang="en-US" sz="1500" b="0">
                <a:solidFill>
                  <a:srgbClr val="333333"/>
                </a:solidFill>
              </a:rPr>
              <a:t>3.1 → 1.4   (big drop, −1.7)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1.4 → 0.7   (−0.7)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0.7 → 0.4 → 0.25 → 0.15   (small, flat tail)</a:t>
            </a:r>
          </a:p>
          <a:p>
            <a:pPr algn="l">
              <a:spcBef>
                <a:spcPts val="650"/>
              </a:spcBef>
            </a:pPr>
            <a:r>
              <a:rPr lang="en-US" sz="1450" b="1">
                <a:solidFill>
                  <a:srgbClr val="00A7B5"/>
                </a:solidFill>
              </a:rPr>
              <a:t>2 · Where is the elbow?</a:t>
            </a:r>
          </a:p>
          <a:p>
            <a:pPr algn="l">
              <a:spcBef>
                <a:spcPts val="150"/>
              </a:spcBef>
            </a:pPr>
            <a:r>
              <a:rPr lang="en-US" sz="1500" b="1">
                <a:solidFill>
                  <a:srgbClr val="7AB648"/>
                </a:solidFill>
              </a:rPr>
              <a:t>the curve flattens after PC2  →  elbow at 2 components</a:t>
            </a:r>
          </a:p>
          <a:p>
            <a:pPr algn="l">
              <a:spcBef>
                <a:spcPts val="650"/>
              </a:spcBef>
            </a:pPr>
            <a:r>
              <a:rPr lang="en-US" sz="1450" b="1">
                <a:solidFill>
                  <a:srgbClr val="85754D"/>
                </a:solidFill>
              </a:rPr>
              <a:t>3 · Takeaway</a:t>
            </a:r>
          </a:p>
          <a:p>
            <a:pPr algn="l">
              <a:spcBef>
                <a:spcPts val="150"/>
              </a:spcBef>
            </a:pPr>
            <a:r>
              <a:rPr lang="en-US" sz="1450" b="0">
                <a:solidFill>
                  <a:srgbClr val="333333"/>
                </a:solidFill>
              </a:rPr>
              <a:t>Kaiser and the scree elbow agree on 2; the 80% rule wants 3. Rules can disagree — state your choice and the variance retained.</a:t>
            </a:r>
          </a:p>
        </p:txBody>
      </p:sp>
      <p:graphicFrame>
        <p:nvGraphicFramePr>
          <p:cNvPr id="301" name="ScreeChart"/>
          <p:cNvGraphicFramePr/>
          <p:nvPr/>
        </p:nvGraphicFramePr>
        <p:xfrm>
          <a:off x="6604000" y="1905000"/>
          <a:ext cx="482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853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Graphic spid="301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924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1 / 4</a:t>
            </a:r>
          </a:p>
        </p:txBody>
      </p:sp>
      <p:sp>
        <p:nvSpPr>
          <p:cNvPr id="160" name="X3S1A"/>
          <p:cNvSpPr/>
          <p:nvPr/>
        </p:nvSpPr>
        <p:spPr>
          <a:xfrm>
            <a:off x="762000" y="1905000"/>
            <a:ext cx="10668000" cy="4521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70000" rIns="120000" bIns="50000" anchor="ctr">
            <a:normAutofit/>
          </a:bodyPr>
          <a:lstStyle/>
          <a:p>
            <a:pPr algn="l"/>
            <a:r>
              <a:rPr lang="en-US" sz="1550" b="1">
                <a:solidFill>
                  <a:srgbClr val="4B2E83"/>
                </a:solidFill>
              </a:rPr>
              <a:t>Answer these conceptual questions about PCA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(a)  </a:t>
            </a:r>
            <a:r>
              <a:rPr lang="en-US" sz="1700">
                <a:solidFill>
                  <a:srgbClr val="333333"/>
                </a:solidFill>
              </a:rPr>
              <a:t>Why must the data be centred before running PCA?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(b)  </a:t>
            </a:r>
            <a:r>
              <a:rPr lang="en-US" sz="1700">
                <a:solidFill>
                  <a:srgbClr val="333333"/>
                </a:solidFill>
              </a:rPr>
              <a:t>When should you use the correlation matrix R instead of the covariance matrix S?</a:t>
            </a:r>
          </a:p>
          <a:p>
            <a:pPr marL="330000" indent="-330000" algn="l">
              <a:spcBef>
                <a:spcPts val="900"/>
              </a:spcBef>
            </a:pPr>
            <a:r>
              <a:rPr lang="en-US" sz="1700" b="1">
                <a:solidFill>
                  <a:srgbClr val="00A7B5"/>
                </a:solidFill>
              </a:rPr>
              <a:t>(c)  </a:t>
            </a:r>
            <a:r>
              <a:rPr lang="en-US" sz="1700">
                <a:solidFill>
                  <a:srgbClr val="333333"/>
                </a:solidFill>
              </a:rPr>
              <a:t>A colleague keeps the PCs with the largest loading magnitudes — not the largest eigenvalues. What is wrong with that?</a:t>
            </a:r>
          </a:p>
        </p:txBody>
      </p:sp>
    </p:spTree>
    <p:extLst>
      <p:ext uri="{BB962C8B-B14F-4D97-AF65-F5344CB8AC3E}">
        <p14:creationId xmlns:p14="http://schemas.microsoft.com/office/powerpoint/2010/main" val="308375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4627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300" b="1">
                <a:solidFill>
                  <a:srgbClr val="4B2E83"/>
                </a:solidFill>
              </a:rPr>
              <a:t>Exercise 3 — Solution (a): Why Centre the Data?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2 / 4</a:t>
            </a:r>
          </a:p>
        </p:txBody>
      </p:sp>
      <p:sp>
        <p:nvSpPr>
          <p:cNvPr id="160" name="X3S2A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principle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PCA looks for the directions of maximum variance about the mean — spread is always measured relative to the data's centroid.</a:t>
            </a:r>
          </a:p>
        </p:txBody>
      </p:sp>
      <p:sp>
        <p:nvSpPr>
          <p:cNvPr id="161" name="X3S2B"/>
          <p:cNvSpPr/>
          <p:nvPr/>
        </p:nvSpPr>
        <p:spPr>
          <a:xfrm>
            <a:off x="762000" y="3327400"/>
            <a:ext cx="10668000" cy="1981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Without centring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 first component is pulled toward the mean vector (the origin → centroid direction). It then measures squared distance from the origin, not spread — so the decomposition no longer describes variance at all.</a:t>
            </a:r>
          </a:p>
        </p:txBody>
      </p:sp>
      <p:sp>
        <p:nvSpPr>
          <p:cNvPr id="162" name="X3S2C"/>
          <p:cNvSpPr/>
          <p:nvPr/>
        </p:nvSpPr>
        <p:spPr>
          <a:xfrm>
            <a:off x="762000" y="54610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Takeaway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Always subtract each column's mean first:  Xc = X − 1ₙ x̄ᵀ.</a:t>
            </a:r>
          </a:p>
        </p:txBody>
      </p:sp>
    </p:spTree>
    <p:extLst>
      <p:ext uri="{BB962C8B-B14F-4D97-AF65-F5344CB8AC3E}">
        <p14:creationId xmlns:p14="http://schemas.microsoft.com/office/powerpoint/2010/main" val="386597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4B2E83"/>
                </a:solidFill>
              </a:rPr>
              <a:t>Exercise 3 — Solution (b): Correlation R vs Covariance 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3 / 4</a:t>
            </a:r>
          </a:p>
        </p:txBody>
      </p:sp>
      <p:sp>
        <p:nvSpPr>
          <p:cNvPr id="160" name="X3S3A"/>
          <p:cNvSpPr/>
          <p:nvPr/>
        </p:nvSpPr>
        <p:spPr>
          <a:xfrm>
            <a:off x="762000" y="17018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Use the correlation matrix R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When variables are on different units or scales. Standardizing makes every variable have variance 1, so a high-variance unit (e.g. income in dollars) can't dominate PC1 just because of its scale.</a:t>
            </a:r>
          </a:p>
        </p:txBody>
      </p:sp>
      <p:sp>
        <p:nvSpPr>
          <p:cNvPr id="161" name="X3S3B"/>
          <p:cNvSpPr/>
          <p:nvPr/>
        </p:nvSpPr>
        <p:spPr>
          <a:xfrm>
            <a:off x="762000" y="37592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Use the covariance matrix 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When all variables share comparable units and their differing variances are meaningful and worth preserving.</a:t>
            </a:r>
          </a:p>
        </p:txBody>
      </p:sp>
      <p:sp>
        <p:nvSpPr>
          <p:cNvPr id="162" name="X3S3C"/>
          <p:cNvSpPr/>
          <p:nvPr/>
        </p:nvSpPr>
        <p:spPr>
          <a:xfrm>
            <a:off x="762000" y="5537200"/>
            <a:ext cx="10668000" cy="914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Rule of thumb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Different units → R.    Same units → S.</a:t>
            </a:r>
          </a:p>
        </p:txBody>
      </p:sp>
    </p:spTree>
    <p:extLst>
      <p:ext uri="{BB962C8B-B14F-4D97-AF65-F5344CB8AC3E}">
        <p14:creationId xmlns:p14="http://schemas.microsoft.com/office/powerpoint/2010/main" val="87154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DA188D-AF5E-154B-A83D-8B348F4606C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58661-B2B4-4D4B-856E-BCCDC38206CD}"/>
              </a:ext>
            </a:extLst>
          </p:cNvPr>
          <p:cNvSpPr txBox="1"/>
          <p:nvPr/>
        </p:nvSpPr>
        <p:spPr>
          <a:xfrm>
            <a:off x="762000" y="711200"/>
            <a:ext cx="8382000" cy="44627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300" b="1">
                <a:solidFill>
                  <a:srgbClr val="4B2E83"/>
                </a:solidFill>
              </a:rPr>
              <a:t>Exercise 3 — Solution (c): Eigenvalue vs Loading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91FFCE-EEF4-0949-B8A0-0C79FCD3143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Exercise 3 · 4 / 4</a:t>
            </a:r>
          </a:p>
        </p:txBody>
      </p:sp>
      <p:sp>
        <p:nvSpPr>
          <p:cNvPr id="160" name="X3S4A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mistake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Ranking the principal components by their largest loading magnitude instead of by their eigenvalue.</a:t>
            </a:r>
          </a:p>
        </p:txBody>
      </p:sp>
      <p:sp>
        <p:nvSpPr>
          <p:cNvPr id="161" name="X3S4B"/>
          <p:cNvSpPr/>
          <p:nvPr/>
        </p:nvSpPr>
        <p:spPr>
          <a:xfrm>
            <a:off x="762000" y="3327400"/>
            <a:ext cx="10668000" cy="2006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Why it is wrong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 eigenvalue λⱼ is the variance captured by a component; a loading only describes one variable's contribution to that direction. A component can have a large single loading yet a tiny eigenvalue — carrying very little total variance.</a:t>
            </a:r>
          </a:p>
        </p:txBody>
      </p:sp>
      <p:sp>
        <p:nvSpPr>
          <p:cNvPr id="162" name="X3S4C"/>
          <p:cNvSpPr/>
          <p:nvPr/>
        </p:nvSpPr>
        <p:spPr>
          <a:xfrm>
            <a:off x="762000" y="5486400"/>
            <a:ext cx="10668000" cy="96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Correct rule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7AB648"/>
                </a:solidFill>
              </a:rPr>
              <a:t>Rank components by their eigenvalues λⱼ — never by any individual loading.</a:t>
            </a:r>
          </a:p>
        </p:txBody>
      </p:sp>
    </p:spTree>
    <p:extLst>
      <p:ext uri="{BB962C8B-B14F-4D97-AF65-F5344CB8AC3E}">
        <p14:creationId xmlns:p14="http://schemas.microsoft.com/office/powerpoint/2010/main" val="246615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CD268-8AE7-CC49-8A2D-80F4447686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1E4E2-1E20-9043-B62F-6AF2A2CCA79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F49C3-1F3C-AD44-8871-21FE1B9EFF96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70563-5513-FA44-B03C-F7E814603B36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5C9A6-9E45-434F-9EDE-D1E2FE9A27B7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Correspondence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7CE0E-9812-9E42-B937-6FDBB4F2EEB8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Mapping the association in a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191863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Correspondence Analysis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CA is "PCA for categorical data": it turns a contingency table of counts into a low-dimensional map where row and column categories with similar profiles sit close together.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B9361-27F0-4A44-B3B4-03DD987C6265}"/>
              </a:ext>
            </a:extLst>
          </p:cNvPr>
          <p:cNvSpPr txBox="1"/>
          <p:nvPr/>
        </p:nvSpPr>
        <p:spPr>
          <a:xfrm>
            <a:off x="939800" y="2692400"/>
            <a:ext cx="3073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two-way contingency table N (counts) — e.g., brands × attributes, regions × responses.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it preserves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/>
              <p:nvPr/>
            </p:nvSpPr>
            <p:spPr>
              <a:xfrm>
                <a:off x="4559300" y="2692400"/>
                <a:ext cx="3073400" cy="7993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distances between row profiles (and between column profiles), not raw Euclidean distance.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692400"/>
                <a:ext cx="3073400" cy="799386"/>
              </a:xfrm>
              <a:prstGeom prst="rect">
                <a:avLst/>
              </a:prstGeom>
              <a:blipFill>
                <a:blip r:embed="rId2"/>
                <a:stretch>
                  <a:fillRect l="-826" r="-124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A3022-7B5B-874D-911A-7C2BB054BFC3}"/>
              </a:ext>
            </a:extLst>
          </p:cNvPr>
          <p:cNvSpPr txBox="1"/>
          <p:nvPr/>
        </p:nvSpPr>
        <p:spPr>
          <a:xfrm>
            <a:off x="8178800" y="2692400"/>
            <a:ext cx="3073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biplot: rows and columns as points in the same space; proximity ⇒ association.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Central concept — profiles &amp; inertia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/>
              <p:nvPr/>
            </p:nvSpPr>
            <p:spPr>
              <a:xfrm>
                <a:off x="990600" y="4470400"/>
                <a:ext cx="10210800" cy="11705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Row profile = a row divided by its total (a conditional distribution across columns).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If two rows have identical profiles, they coincide in the map; rows far from the centroid are 'distinctive'.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Total inertia =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measures how far the table departs from independence — CA decomposes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this inertia into orthogonal dimensions, exactly as PCA decomposes variance.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70400"/>
                <a:ext cx="10210800" cy="1170513"/>
              </a:xfrm>
              <a:prstGeom prst="rect">
                <a:avLst/>
              </a:prstGeom>
              <a:blipFill>
                <a:blip r:embed="rId3"/>
                <a:stretch>
                  <a:fillRect l="-248" t="-1064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05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Correspondence Analysis — The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is PCA for categorical contingency tables — it turns a cross-tab into a map.</a:t>
            </a:r>
          </a:p>
        </p:txBody>
      </p:sp>
      <p:sp>
        <p:nvSpPr>
          <p:cNvPr id="160" name="tblLabel"/>
          <p:cNvSpPr txBox="1"/>
          <p:nvPr/>
        </p:nvSpPr>
        <p:spPr>
          <a:xfrm>
            <a:off x="762000" y="1905000"/>
            <a:ext cx="5207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data: a contingency table</a:t>
            </a:r>
          </a:p>
        </p:txBody>
      </p:sp>
      <p:sp>
        <p:nvSpPr>
          <p:cNvPr id="161" name="cAsks"/>
          <p:cNvSpPr/>
          <p:nvPr/>
        </p:nvSpPr>
        <p:spPr>
          <a:xfrm>
            <a:off x="6350000" y="1905000"/>
            <a:ext cx="5080000" cy="2108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CA asks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Which rows have similar distributions across the columns?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Which columns tend to be associated with which rows?</a:t>
            </a:r>
          </a:p>
        </p:txBody>
      </p:sp>
      <p:sp>
        <p:nvSpPr>
          <p:cNvPr id="162" name="cGet"/>
          <p:cNvSpPr/>
          <p:nvPr/>
        </p:nvSpPr>
        <p:spPr>
          <a:xfrm>
            <a:off x="6350000" y="4191000"/>
            <a:ext cx="5080000" cy="223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What you get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A low-dimensional map — usually 2-D — where rows with similar profiles sit close together, and so do similar columns. A row near a column suggests they are associated.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006696-3D95-4C4C-9CA3-954C3F42D375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387600"/>
          <a:ext cx="508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36049278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16099373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61360176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74175379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450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1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76911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2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08796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00707A"/>
                          </a:solidFill>
                        </a:rPr>
                        <a:t>Group 3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510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33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/>
      <p:bldP spid="161" grpId="0" animBg="1"/>
      <p:bldP spid="162" grpId="0" animBg="1"/>
      <p:bldGraphic spid="3" grpId="0">
        <p:bldAsOne/>
      </p:bldGraphic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The χ² Test for Contingency 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Testing whether two categorical variables are independent.</a:t>
            </a:r>
          </a:p>
        </p:txBody>
      </p:sp>
      <p:sp>
        <p:nvSpPr>
          <p:cNvPr id="160" name="cH0"/>
          <p:cNvSpPr/>
          <p:nvPr/>
        </p:nvSpPr>
        <p:spPr>
          <a:xfrm>
            <a:off x="762000" y="1905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H₀  —  Null hypothesis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row and column variables are independent: the observed counts match what independence would predict.</a:t>
            </a:r>
          </a:p>
        </p:txBody>
      </p:sp>
      <p:sp>
        <p:nvSpPr>
          <p:cNvPr id="161" name="cH1"/>
          <p:cNvSpPr/>
          <p:nvPr/>
        </p:nvSpPr>
        <p:spPr>
          <a:xfrm>
            <a:off x="762000" y="3556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H₁  —  Alternative hypothesis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two variables are associated: the observed counts depart from the independence pattern.</a:t>
            </a:r>
          </a:p>
        </p:txBody>
      </p:sp>
      <p:sp>
        <p:nvSpPr>
          <p:cNvPr id="162" name="cIdea"/>
          <p:cNvSpPr/>
          <p:nvPr/>
        </p:nvSpPr>
        <p:spPr>
          <a:xfrm>
            <a:off x="762000" y="5207000"/>
            <a:ext cx="10668000" cy="1219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The idea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Compare each observed count O with the count E expected under independence. Large gaps are evidence of association.</a:t>
            </a:r>
          </a:p>
        </p:txBody>
      </p:sp>
    </p:spTree>
    <p:extLst>
      <p:ext uri="{BB962C8B-B14F-4D97-AF65-F5344CB8AC3E}">
        <p14:creationId xmlns:p14="http://schemas.microsoft.com/office/powerpoint/2010/main" val="415763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 animBg="1"/>
      <p:bldP spid="161" grpId="0" animBg="1"/>
      <p:bldP spid="16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The Test Statistic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Total squared departure from independence, scaled by the expected counts.</a:t>
            </a:r>
          </a:p>
        </p:txBody>
      </p:sp>
      <p:sp>
        <p:nvSpPr>
          <p:cNvPr id="160" name="cE"/>
          <p:cNvSpPr/>
          <p:nvPr/>
        </p:nvSpPr>
        <p:spPr>
          <a:xfrm>
            <a:off x="762000" y="1879600"/>
            <a:ext cx="10668000" cy="14224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Expected counts under H₀</a:t>
            </a:r>
          </a:p>
          <a:p>
            <a:pPr algn="ctr"/>
            <a:r>
              <a:rPr lang="en-US" sz="1800" b="1">
                <a:solidFill>
                  <a:srgbClr val="2B2B2B"/>
                </a:solidFill>
                <a:latin typeface="Cambria Math"/>
              </a:rPr>
              <a:t>Eᵢⱼ = (rowᵢ × colⱼ) ⁄ n</a:t>
            </a:r>
          </a:p>
        </p:txBody>
      </p:sp>
      <p:sp>
        <p:nvSpPr>
          <p:cNvPr id="161" name="cChi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χ² statistic</a:t>
            </a:r>
          </a:p>
          <a:p>
            <a:pPr algn="ctr"/>
            <a:r>
              <a:rPr lang="en-US" sz="1900" b="1">
                <a:solidFill>
                  <a:srgbClr val="2B2B2B"/>
                </a:solidFill>
                <a:latin typeface="Cambria Math"/>
              </a:rPr>
              <a:t>χ² = ∑ᵢ ∑ⱼ (Oᵢⱼ − Eᵢⱼ)² ⁄ Eᵢⱼ</a:t>
            </a:r>
          </a:p>
          <a:p>
            <a:pPr algn="ctr"/>
            <a:r>
              <a:rPr lang="en-US" sz="1450" i="1">
                <a:solidFill>
                  <a:srgbClr val="85754D"/>
                </a:solidFill>
              </a:rPr>
              <a:t>sums the standardized squared gaps over every cell</a:t>
            </a:r>
          </a:p>
        </p:txBody>
      </p:sp>
      <p:sp>
        <p:nvSpPr>
          <p:cNvPr id="162" name="cDec"/>
          <p:cNvSpPr/>
          <p:nvPr/>
        </p:nvSpPr>
        <p:spPr>
          <a:xfrm>
            <a:off x="762000" y="5384800"/>
            <a:ext cx="10668000" cy="1041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Distribution and decision</a:t>
            </a:r>
          </a:p>
          <a:p>
            <a:pPr algn="ctr"/>
            <a:r>
              <a:rPr lang="en-US" sz="1450" i="1">
                <a:solidFill>
                  <a:srgbClr val="333333"/>
                </a:solidFill>
              </a:rPr>
              <a:t>Under H₀, χ² follows a χ² distribution with df = (I−1)(J−1). Reject H₀ when χ² exceeds the critical value (p </a:t>
            </a:r>
          </a:p>
        </p:txBody>
      </p:sp>
    </p:spTree>
    <p:extLst>
      <p:ext uri="{BB962C8B-B14F-4D97-AF65-F5344CB8AC3E}">
        <p14:creationId xmlns:p14="http://schemas.microsoft.com/office/powerpoint/2010/main" val="66593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 animBg="1"/>
      <p:bldP spid="161" grpId="0" animBg="1"/>
      <p:bldP spid="16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1: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Is hair color associated with eye color?  (n = 100)</a:t>
            </a:r>
          </a:p>
        </p:txBody>
      </p:sp>
      <p:sp>
        <p:nvSpPr>
          <p:cNvPr id="160" name="tblLabel"/>
          <p:cNvSpPr txBox="1"/>
          <p:nvPr/>
        </p:nvSpPr>
        <p:spPr>
          <a:xfrm>
            <a:off x="762000" y="1930400"/>
            <a:ext cx="5588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Observed counts (O)</a:t>
            </a:r>
          </a:p>
        </p:txBody>
      </p:sp>
      <p:sp>
        <p:nvSpPr>
          <p:cNvPr id="161" name="cHyp"/>
          <p:cNvSpPr/>
          <p:nvPr/>
        </p:nvSpPr>
        <p:spPr>
          <a:xfrm>
            <a:off x="6858000" y="2260600"/>
            <a:ext cx="4572000" cy="381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hypotheses</a:t>
            </a:r>
          </a:p>
          <a:p>
            <a:pPr algn="l">
              <a:spcBef>
                <a:spcPts val="400"/>
              </a:spcBef>
            </a:pPr>
            <a:r>
              <a:rPr lang="en-US" sz="1600" b="1">
                <a:solidFill>
                  <a:srgbClr val="4B2E83"/>
                </a:solidFill>
              </a:rPr>
              <a:t>H₀  (independence)</a:t>
            </a:r>
          </a:p>
          <a:p>
            <a:pPr algn="l">
              <a:spcBef>
                <a:spcPts val="100"/>
              </a:spcBef>
            </a:pPr>
            <a:r>
              <a:rPr lang="en-US" sz="1500" b="0">
                <a:solidFill>
                  <a:srgbClr val="333333"/>
                </a:solidFill>
              </a:rPr>
              <a:t>Hair color and eye color are independent — no association.</a:t>
            </a:r>
          </a:p>
          <a:p>
            <a:pPr algn="l">
              <a:spcBef>
                <a:spcPts val="500"/>
              </a:spcBef>
            </a:pPr>
            <a:r>
              <a:rPr lang="en-US" sz="1600" b="1">
                <a:solidFill>
                  <a:srgbClr val="00A7B5"/>
                </a:solidFill>
              </a:rPr>
              <a:t>H₁  (association)</a:t>
            </a:r>
          </a:p>
          <a:p>
            <a:pPr algn="l">
              <a:spcBef>
                <a:spcPts val="100"/>
              </a:spcBef>
            </a:pPr>
            <a:r>
              <a:rPr lang="en-US" sz="1500" b="0">
                <a:solidFill>
                  <a:srgbClr val="333333"/>
                </a:solidFill>
              </a:rPr>
              <a:t>Hair color and eye color are associated.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7DEC69-BD1C-E44E-8E41-5A594D96A40E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387600"/>
          <a:ext cx="55880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589647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6616428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2151614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86708991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3481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40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8125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15835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40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/>
                        <a:t>100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970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275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/>
      <p:bldP spid="161" grpId="0" animBg="1"/>
      <p:bldGraphic spid="3" grpId="0">
        <p:bldAsOne/>
      </p:bldGraphic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9AE7D2-6295-A046-8B20-3CD7A98C8DCB}"/>
              </a:ext>
            </a:extLst>
          </p:cNvPr>
          <p:cNvSpPr/>
          <p:nvPr/>
        </p:nvSpPr>
        <p:spPr>
          <a:xfrm>
            <a:off x="762000" y="1905000"/>
            <a:ext cx="5588000" cy="45212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2: Expected Counts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87400" y="15240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Under H₀, each cell's expected count is row × column ÷ 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D91DE-56E9-C841-A4DD-EDD411600203}"/>
              </a:ext>
            </a:extLst>
          </p:cNvPr>
          <p:cNvSpPr txBox="1"/>
          <p:nvPr/>
        </p:nvSpPr>
        <p:spPr>
          <a:xfrm>
            <a:off x="990600" y="205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746C9-ABCC-3743-B271-8559C4A843EF}"/>
              </a:ext>
            </a:extLst>
          </p:cNvPr>
          <p:cNvSpPr txBox="1"/>
          <p:nvPr/>
        </p:nvSpPr>
        <p:spPr>
          <a:xfrm>
            <a:off x="990600" y="25146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b="1">
                <a:solidFill>
                  <a:srgbClr val="2B2B2B"/>
                </a:solidFill>
              </a:rPr>
              <a:t>Eᵢⱼ = (rowᵢ × colⱼ) / 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C6987-AF49-D544-95C4-71831229A9CB}"/>
              </a:ext>
            </a:extLst>
          </p:cNvPr>
          <p:cNvSpPr txBox="1"/>
          <p:nvPr/>
        </p:nvSpPr>
        <p:spPr>
          <a:xfrm>
            <a:off x="990600" y="3200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Cell by 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0E1DA-26ED-DF41-A36C-3BA2415C8EC2}"/>
              </a:ext>
            </a:extLst>
          </p:cNvPr>
          <p:cNvSpPr txBox="1"/>
          <p:nvPr/>
        </p:nvSpPr>
        <p:spPr>
          <a:xfrm>
            <a:off x="990600" y="3632200"/>
            <a:ext cx="5207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E(Fair, Blue)  = 40 × 40 / 100 = 16
E(Fair, Brown) = 40 × 60 / 100 = 24
E(Dark, Blue)  = 60 × 40 / 100 = 24
E(Dark, Brown) = 60 × 60 / 100 = 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55763-0337-414E-95C9-F5C86BA76610}"/>
              </a:ext>
            </a:extLst>
          </p:cNvPr>
          <p:cNvSpPr txBox="1"/>
          <p:nvPr/>
        </p:nvSpPr>
        <p:spPr>
          <a:xfrm>
            <a:off x="7112000" y="633625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A7B5"/>
                </a:solidFill>
              </a:rPr>
              <a:t>Expected counts (E)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1E6CC2-7A42-6D46-92B7-85ED089D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093146"/>
              </p:ext>
            </p:extLst>
          </p:nvPr>
        </p:nvGraphicFramePr>
        <p:xfrm>
          <a:off x="7112000" y="1014625"/>
          <a:ext cx="4191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69739534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753351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1818503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0753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52737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40775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4F95A49-8B67-4048-8D6A-0AA5CA4E6555}"/>
              </a:ext>
            </a:extLst>
          </p:cNvPr>
          <p:cNvSpPr txBox="1"/>
          <p:nvPr/>
        </p:nvSpPr>
        <p:spPr>
          <a:xfrm>
            <a:off x="1016000" y="5130800"/>
            <a:ext cx="51308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Expected counts are what we'd see if hair and eye color were perfectly independent. The </a:t>
            </a:r>
            <a:r>
              <a:rPr lang="el-GR" sz="1400" i="1">
                <a:solidFill>
                  <a:srgbClr val="85754D"/>
                </a:solidFill>
              </a:rPr>
              <a:t>χ² </a:t>
            </a:r>
            <a:r>
              <a:rPr lang="en-US" sz="1400" i="1">
                <a:solidFill>
                  <a:srgbClr val="85754D"/>
                </a:solidFill>
              </a:rPr>
              <a:t>statistic measures how far the observed counts stray from these.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5ED5002-9E2B-6FBB-0877-AF921C80B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82209"/>
              </p:ext>
            </p:extLst>
          </p:nvPr>
        </p:nvGraphicFramePr>
        <p:xfrm>
          <a:off x="7112000" y="3822357"/>
          <a:ext cx="4191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589647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6616428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21516148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3481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58125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715835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491F306-2F0B-92BE-7707-CA58E5D5DFBE}"/>
              </a:ext>
            </a:extLst>
          </p:cNvPr>
          <p:cNvSpPr txBox="1"/>
          <p:nvPr/>
        </p:nvSpPr>
        <p:spPr>
          <a:xfrm>
            <a:off x="7112000" y="3479800"/>
            <a:ext cx="4191000" cy="2308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chemeClr val="accent1"/>
                </a:solidFill>
              </a:rPr>
              <a:t>Observed counts (O)</a:t>
            </a:r>
          </a:p>
        </p:txBody>
      </p:sp>
    </p:spTree>
    <p:extLst>
      <p:ext uri="{BB962C8B-B14F-4D97-AF65-F5344CB8AC3E}">
        <p14:creationId xmlns:p14="http://schemas.microsoft.com/office/powerpoint/2010/main" val="215578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/>
      <p:bldP spid="6" grpId="0"/>
      <p:bldP spid="3" grpId="0"/>
      <p:bldP spid="7" grpId="0"/>
      <p:bldP spid="8" grpId="0"/>
      <p:bldP spid="9" grpId="0"/>
      <p:bldP spid="10" grpId="0"/>
      <p:bldGraphic spid="12" grpId="0">
        <p:bldAsOne/>
      </p:bldGraphic>
      <p:bldP spid="13" grpId="0"/>
      <p:bldGraphic spid="14" grpId="0">
        <p:bldAsOne/>
      </p:bldGraphic>
      <p:bldP spid="1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EC650E-94FA-9E43-8384-EBC5A4E3CAB8}"/>
              </a:ext>
            </a:extLst>
          </p:cNvPr>
          <p:cNvSpPr/>
          <p:nvPr/>
        </p:nvSpPr>
        <p:spPr>
          <a:xfrm>
            <a:off x="762000" y="5105400"/>
            <a:ext cx="10668000" cy="13208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0B5F02-99EF-1C47-ADC2-37B6D35BDC7A}"/>
              </a:ext>
            </a:extLst>
          </p:cNvPr>
          <p:cNvSpPr/>
          <p:nvPr/>
        </p:nvSpPr>
        <p:spPr>
          <a:xfrm>
            <a:off x="762000" y="1905000"/>
            <a:ext cx="10668000" cy="30226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3: The </a:t>
            </a:r>
            <a:r>
              <a:rPr lang="el-GR" sz="2600" b="1">
                <a:solidFill>
                  <a:srgbClr val="4B2E83"/>
                </a:solidFill>
              </a:rPr>
              <a:t>χ² </a:t>
            </a:r>
            <a:r>
              <a:rPr lang="en-US" sz="2600" b="1">
                <a:solidFill>
                  <a:srgbClr val="4B2E83"/>
                </a:solidFill>
              </a:rPr>
              <a:t>Statistic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Add up (O − E)² / E across all four cells.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09ADE-7524-B941-B153-085D6626B7D1}"/>
              </a:ext>
            </a:extLst>
          </p:cNvPr>
          <p:cNvSpPr txBox="1"/>
          <p:nvPr/>
        </p:nvSpPr>
        <p:spPr>
          <a:xfrm>
            <a:off x="1016000" y="2057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Cell contributions   (O − E)² / 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94973-3B40-424F-AE18-5FBEDA0AB477}"/>
              </a:ext>
            </a:extLst>
          </p:cNvPr>
          <p:cNvSpPr txBox="1"/>
          <p:nvPr/>
        </p:nvSpPr>
        <p:spPr>
          <a:xfrm>
            <a:off x="1016000" y="2540000"/>
            <a:ext cx="10287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(30 − 16)² / 16  =  12.25
(10 − 24)² / 24  =  8.17
(10 − 24)² / 24  =  8.17
(50 − 36)² / 36  =  5.44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D3D70-7CA9-D94C-B78E-6070B709E9DC}"/>
              </a:ext>
            </a:extLst>
          </p:cNvPr>
          <p:cNvSpPr txBox="1"/>
          <p:nvPr/>
        </p:nvSpPr>
        <p:spPr>
          <a:xfrm>
            <a:off x="1016000" y="52324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73451-B587-5A4E-8E33-47C421E12840}"/>
              </a:ext>
            </a:extLst>
          </p:cNvPr>
          <p:cNvSpPr txBox="1"/>
          <p:nvPr/>
        </p:nvSpPr>
        <p:spPr>
          <a:xfrm>
            <a:off x="1016000" y="5588000"/>
            <a:ext cx="10287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sz="1900" b="1">
                <a:solidFill>
                  <a:srgbClr val="7AB648"/>
                </a:solidFill>
              </a:rPr>
              <a:t>χ²  =  12.25 + 8.17 + 8.17 + 5.44  =  34.03</a:t>
            </a:r>
            <a:endParaRPr lang="en-US" sz="1900" b="1">
              <a:solidFill>
                <a:srgbClr val="7AB6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92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4" grpId="0" animBg="1"/>
      <p:bldP spid="5" grpId="0"/>
      <p:bldP spid="6" grpId="0"/>
      <p:bldP spid="8" grpId="0"/>
      <p:bldP spid="9" grpId="0"/>
      <p:bldP spid="10" grpId="0"/>
      <p:bldP spid="1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CA7527-5914-BA45-A219-DC4ACC53798A}"/>
              </a:ext>
            </a:extLst>
          </p:cNvPr>
          <p:cNvSpPr/>
          <p:nvPr/>
        </p:nvSpPr>
        <p:spPr>
          <a:xfrm>
            <a:off x="762000" y="4216400"/>
            <a:ext cx="5207000" cy="22098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4E5015-1FD6-1242-BCB2-4A7876C65D83}"/>
              </a:ext>
            </a:extLst>
          </p:cNvPr>
          <p:cNvSpPr/>
          <p:nvPr/>
        </p:nvSpPr>
        <p:spPr>
          <a:xfrm>
            <a:off x="6223000" y="1905000"/>
            <a:ext cx="5207000" cy="19812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CE3B023-6EB4-AD41-9902-2958CED59F14}"/>
              </a:ext>
            </a:extLst>
          </p:cNvPr>
          <p:cNvSpPr/>
          <p:nvPr/>
        </p:nvSpPr>
        <p:spPr>
          <a:xfrm>
            <a:off x="762000" y="1905000"/>
            <a:ext cx="5207000" cy="19812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Example — Step 4: Degrees of Freedom &amp;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Compare the statistic with the critical 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E5FD2-812B-B84F-ABD9-18F26A208196}"/>
              </a:ext>
            </a:extLst>
          </p:cNvPr>
          <p:cNvSpPr txBox="1"/>
          <p:nvPr/>
        </p:nvSpPr>
        <p:spPr>
          <a:xfrm>
            <a:off x="1016000" y="2082800"/>
            <a:ext cx="4749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Degrees of freedom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30A99-0AF9-5549-A247-4097787AFEAB}"/>
              </a:ext>
            </a:extLst>
          </p:cNvPr>
          <p:cNvSpPr txBox="1"/>
          <p:nvPr/>
        </p:nvSpPr>
        <p:spPr>
          <a:xfrm>
            <a:off x="1016000" y="2667000"/>
            <a:ext cx="47498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df = (I − 1)(J − 1)
= (2 − 1)(2 − 1)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1A1A0-8585-8F4E-878C-15BDE0BEB3C3}"/>
              </a:ext>
            </a:extLst>
          </p:cNvPr>
          <p:cNvSpPr txBox="1"/>
          <p:nvPr/>
        </p:nvSpPr>
        <p:spPr>
          <a:xfrm>
            <a:off x="6477000" y="2082800"/>
            <a:ext cx="4749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Critical value  (</a:t>
            </a:r>
            <a:r>
              <a:rPr lang="el-GR" sz="1600" b="1">
                <a:solidFill>
                  <a:srgbClr val="00A7B5"/>
                </a:solidFill>
              </a:rPr>
              <a:t>α = 0.05)</a:t>
            </a:r>
            <a:endParaRPr lang="en-US" sz="1600" b="1">
              <a:solidFill>
                <a:srgbClr val="00A7B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2A5E0-83C7-2541-9595-C15DF1FFB12E}"/>
              </a:ext>
            </a:extLst>
          </p:cNvPr>
          <p:cNvSpPr txBox="1"/>
          <p:nvPr/>
        </p:nvSpPr>
        <p:spPr>
          <a:xfrm>
            <a:off x="6477000" y="28194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b="1">
                <a:solidFill>
                  <a:srgbClr val="333333"/>
                </a:solidFill>
              </a:rPr>
              <a:t>χ²</a:t>
            </a:r>
            <a:r>
              <a:rPr lang="en-US" b="1" baseline="-25000">
                <a:solidFill>
                  <a:srgbClr val="333333"/>
                </a:solidFill>
              </a:rPr>
              <a:t>0.95</a:t>
            </a:r>
            <a:r>
              <a:rPr lang="en-US" b="1">
                <a:solidFill>
                  <a:srgbClr val="333333"/>
                </a:solidFill>
              </a:rPr>
              <a:t>(df = 1) = 3.84</a:t>
            </a:r>
          </a:p>
          <a:p>
            <a:pPr algn="l">
              <a:spcBef>
                <a:spcPts val="400"/>
              </a:spcBef>
            </a:pPr>
            <a:r>
              <a:rPr lang="en-US" sz="1400">
                <a:solidFill>
                  <a:srgbClr val="333333"/>
                </a:solidFill>
              </a:rPr>
              <a:t>i.e. the 0.95 percentile — 5% of the distribution lies above 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7A4F3-4221-6A47-AC31-A093089F18CC}"/>
              </a:ext>
            </a:extLst>
          </p:cNvPr>
          <p:cNvSpPr txBox="1"/>
          <p:nvPr/>
        </p:nvSpPr>
        <p:spPr>
          <a:xfrm>
            <a:off x="1016000" y="4394200"/>
            <a:ext cx="4953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Decision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4AB3D-43CF-8945-9043-B1C59A6854F8}"/>
              </a:ext>
            </a:extLst>
          </p:cNvPr>
          <p:cNvSpPr txBox="1"/>
          <p:nvPr/>
        </p:nvSpPr>
        <p:spPr>
          <a:xfrm>
            <a:off x="1016000" y="49276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sz="1700" b="1">
                <a:solidFill>
                  <a:srgbClr val="7AB648"/>
                </a:solidFill>
              </a:rPr>
              <a:t>χ² = 34.03   &gt;   3.84    ⇒    </a:t>
            </a:r>
            <a:r>
              <a:rPr lang="en-US" sz="1700" b="1">
                <a:solidFill>
                  <a:srgbClr val="7AB648"/>
                </a:solidFill>
              </a:rPr>
              <a:t>reject H₀   (p &lt; 0.001)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F8291-9BC4-884E-A176-B2DF28616B09}"/>
              </a:ext>
            </a:extLst>
          </p:cNvPr>
          <p:cNvSpPr txBox="1"/>
          <p:nvPr/>
        </p:nvSpPr>
        <p:spPr>
          <a:xfrm>
            <a:off x="1016000" y="56896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The data show a strong association between hair color and eye color.</a:t>
            </a:r>
          </a:p>
        </p:txBody>
      </p:sp>
      <p:graphicFrame>
        <p:nvGraphicFramePr>
          <p:cNvPr id="301" name="ChiSqDist"/>
          <p:cNvGraphicFramePr/>
          <p:nvPr/>
        </p:nvGraphicFramePr>
        <p:xfrm>
          <a:off x="6121400" y="4013200"/>
          <a:ext cx="5384800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7749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2" grpId="0" animBg="1"/>
      <p:bldP spid="4" grpId="0" animBg="1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Graphic spid="301" grpId="0">
        <p:bldAsOne/>
      </p:bldGraphic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DD6D44-F39C-9B4F-BE57-DB8C2C8B173C}"/>
              </a:ext>
            </a:extLst>
          </p:cNvPr>
          <p:cNvSpPr/>
          <p:nvPr/>
        </p:nvSpPr>
        <p:spPr>
          <a:xfrm>
            <a:off x="762000" y="5080000"/>
            <a:ext cx="10668000" cy="13462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5BBC60-2079-2B44-853F-FAED461FA5D2}"/>
              </a:ext>
            </a:extLst>
          </p:cNvPr>
          <p:cNvSpPr/>
          <p:nvPr/>
        </p:nvSpPr>
        <p:spPr>
          <a:xfrm>
            <a:off x="762000" y="3454400"/>
            <a:ext cx="10668000" cy="14732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DB957A-C26A-4E4C-BD72-55709BC52B57}"/>
              </a:ext>
            </a:extLst>
          </p:cNvPr>
          <p:cNvSpPr/>
          <p:nvPr/>
        </p:nvSpPr>
        <p:spPr>
          <a:xfrm>
            <a:off x="762000" y="1905000"/>
            <a:ext cx="10668000" cy="13970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Connecting the </a:t>
            </a:r>
            <a:r>
              <a:rPr lang="el-GR" sz="2600" b="1">
                <a:solidFill>
                  <a:srgbClr val="4B2E83"/>
                </a:solidFill>
              </a:rPr>
              <a:t>χ² </a:t>
            </a:r>
            <a:r>
              <a:rPr lang="en-US" sz="2600" b="1">
                <a:solidFill>
                  <a:srgbClr val="4B2E83"/>
                </a:solidFill>
              </a:rPr>
              <a:t>Test and 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Correspondence Analysis decomposes the very same </a:t>
            </a:r>
            <a:r>
              <a:rPr lang="el-GR" sz="1500" i="1">
                <a:solidFill>
                  <a:srgbClr val="85754D"/>
                </a:solidFill>
              </a:rPr>
              <a:t>χ².</a:t>
            </a:r>
            <a:endParaRPr lang="en-US" sz="1500" i="1">
              <a:solidFill>
                <a:srgbClr val="85754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DEC9D-F0A8-0546-B4B3-1DB431044958}"/>
              </a:ext>
            </a:extLst>
          </p:cNvPr>
          <p:cNvSpPr txBox="1"/>
          <p:nvPr/>
        </p:nvSpPr>
        <p:spPr>
          <a:xfrm>
            <a:off x="1016000" y="20574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Same quantity, two views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63859-C1F4-0344-91F4-67E24787406C}"/>
              </a:ext>
            </a:extLst>
          </p:cNvPr>
          <p:cNvSpPr txBox="1"/>
          <p:nvPr/>
        </p:nvSpPr>
        <p:spPr>
          <a:xfrm>
            <a:off x="1016000" y="25654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b="1">
                <a:solidFill>
                  <a:srgbClr val="2B2B2B"/>
                </a:solidFill>
              </a:rPr>
              <a:t>χ² = </a:t>
            </a:r>
            <a:r>
              <a:rPr lang="en-US" b="1">
                <a:solidFill>
                  <a:srgbClr val="2B2B2B"/>
                </a:solidFill>
              </a:rPr>
              <a:t>n × total inertia      ⇒      total inertia = </a:t>
            </a:r>
            <a:r>
              <a:rPr lang="el-GR" b="1">
                <a:solidFill>
                  <a:srgbClr val="2B2B2B"/>
                </a:solidFill>
              </a:rPr>
              <a:t>χ² / </a:t>
            </a:r>
            <a:r>
              <a:rPr lang="en-US" b="1">
                <a:solidFill>
                  <a:srgbClr val="2B2B2B"/>
                </a:solidFill>
              </a:rPr>
              <a:t>n = 34.03 / 100 = 0.3403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831B3-6A19-604C-8EF7-023D2EFDB48B}"/>
              </a:ext>
            </a:extLst>
          </p:cNvPr>
          <p:cNvSpPr txBox="1"/>
          <p:nvPr/>
        </p:nvSpPr>
        <p:spPr>
          <a:xfrm>
            <a:off x="1016000" y="36068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CA adds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28797-A2E3-FB43-B470-9BB461999212}"/>
              </a:ext>
            </a:extLst>
          </p:cNvPr>
          <p:cNvSpPr txBox="1"/>
          <p:nvPr/>
        </p:nvSpPr>
        <p:spPr>
          <a:xfrm>
            <a:off x="1016000" y="40386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CA splits the total inertia into orthogonal dimensions — the principal inertias </a:t>
            </a:r>
            <a:r>
              <a:rPr lang="el-GR" sz="1500">
                <a:solidFill>
                  <a:srgbClr val="333333"/>
                </a:solidFill>
              </a:rPr>
              <a:t>σ²</a:t>
            </a:r>
            <a:r>
              <a:rPr lang="en-US" sz="1500">
                <a:solidFill>
                  <a:srgbClr val="333333"/>
                </a:solidFill>
              </a:rPr>
              <a:t>ₖ that sum to the total. Each dimension captures part of the association.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979B8-3A86-6D46-B72F-EBB7FE279172}"/>
              </a:ext>
            </a:extLst>
          </p:cNvPr>
          <p:cNvSpPr txBox="1"/>
          <p:nvPr/>
        </p:nvSpPr>
        <p:spPr>
          <a:xfrm>
            <a:off x="1016000" y="5207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The big picture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F665A-54DF-CC4F-B3E2-6F0F076ADDD1}"/>
              </a:ext>
            </a:extLst>
          </p:cNvPr>
          <p:cNvSpPr txBox="1"/>
          <p:nvPr/>
        </p:nvSpPr>
        <p:spPr>
          <a:xfrm>
            <a:off x="1016000" y="5638800"/>
            <a:ext cx="10287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The </a:t>
            </a:r>
            <a:r>
              <a:rPr lang="el-GR" sz="1500">
                <a:solidFill>
                  <a:srgbClr val="333333"/>
                </a:solidFill>
              </a:rPr>
              <a:t>χ² </a:t>
            </a:r>
            <a:r>
              <a:rPr lang="en-US" sz="1500">
                <a:solidFill>
                  <a:srgbClr val="333333"/>
                </a:solidFill>
              </a:rPr>
              <a:t>test tells you IF an association exists; CA shows you WHERE it comes from — which rows and columns drive it, and on which dimensions.</a:t>
            </a:r>
          </a:p>
        </p:txBody>
      </p:sp>
    </p:spTree>
    <p:extLst>
      <p:ext uri="{BB962C8B-B14F-4D97-AF65-F5344CB8AC3E}">
        <p14:creationId xmlns:p14="http://schemas.microsoft.com/office/powerpoint/2010/main" val="3081907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2" grpId="0" animBg="1"/>
      <p:bldP spid="4" grpId="0" animBg="1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Reading a CA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CA is "PCA for categorical data": it turns a contingency table of counts into a low-dimensional map where row and column categories with similar profiles sit close together.</a:t>
            </a:r>
          </a:p>
        </p:txBody>
      </p:sp>
      <p:sp>
        <p:nvSpPr>
          <p:cNvPr id="162" name="cTake"/>
          <p:cNvSpPr/>
          <p:nvPr/>
        </p:nvSpPr>
        <p:spPr>
          <a:xfrm>
            <a:off x="762000" y="5181600"/>
            <a:ext cx="10668000" cy="1244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100584" rIns="137160" bIns="100584" anchor="ctr"/>
          <a:lstStyle/>
          <a:p>
            <a:pPr algn="ctr"/>
            <a:r>
              <a:rPr lang="en-US" sz="1650" b="1">
                <a:solidFill>
                  <a:srgbClr val="85754D"/>
                </a:solidFill>
              </a:rPr>
              <a:t>CA turns a cross-tab into a picture of which row and column categories go together.</a:t>
            </a:r>
          </a:p>
        </p:txBody>
      </p:sp>
      <p:sp>
        <p:nvSpPr>
          <p:cNvPr id="160" name="cProx"/>
          <p:cNvSpPr/>
          <p:nvPr/>
        </p:nvSpPr>
        <p:spPr>
          <a:xfrm>
            <a:off x="762000" y="1905000"/>
            <a:ext cx="5334000" cy="3098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100584" rIns="137160" bIns="100584" anchor="t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Proximity = similarity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Rows close together have similar column profiles.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Columns close together have similar row profiles.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A row point near a column point suggests the two categories are associated.</a:t>
            </a:r>
          </a:p>
        </p:txBody>
      </p:sp>
      <p:sp>
        <p:nvSpPr>
          <p:cNvPr id="161" name="cDist"/>
          <p:cNvSpPr/>
          <p:nvPr/>
        </p:nvSpPr>
        <p:spPr>
          <a:xfrm>
            <a:off x="6350000" y="1905000"/>
            <a:ext cx="5080000" cy="30988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100584" rIns="137160" bIns="100584" anchor="t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Distance from the origin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Points near the origin match the average, the independence pattern.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Points far from the origin contribute more to the association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341605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2" grpId="0" animBg="1"/>
      <p:bldP spid="160" grpId="0" animBg="1"/>
      <p:bldP spid="16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CA Decomposes the Pearson χ²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does not maximize counts; it studies deviations from independence.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1"/>
              <p:cNvSpPr/>
              <p:nvPr/>
            </p:nvSpPr>
            <p:spPr>
              <a:xfrm>
                <a:off x="762000" y="1879600"/>
                <a:ext cx="106680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Proportions and masses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>
                          <a:latin typeface="Cambria Math"/>
                        </a:rPr>
                        <m:t>𝑃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17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700" i="1">
                              <a:latin typeface="Cambria Math"/>
                            </a:rPr>
                            <m:t>𝑁</m:t>
                          </m:r>
                        </m:num>
                        <m:den>
                          <m:r>
                            <a:rPr lang="en-US" sz="1700" i="1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1700">
                          <a:latin typeface="Cambria Math"/>
                        </a:rPr>
                        <m:t>        </m:t>
                      </m:r>
                      <m:r>
                        <a:rPr lang="en-US" sz="1700" i="1">
                          <a:latin typeface="Cambria Math"/>
                        </a:rPr>
                        <m:t>𝑟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 i="1">
                          <a:latin typeface="Cambria Math"/>
                        </a:rPr>
                        <m:t>𝑃</m:t>
                      </m:r>
                      <m:r>
                        <a:rPr lang="en-US" sz="1700">
                          <a:latin typeface="Cambria Math"/>
                        </a:rPr>
                        <m:t>1        </m:t>
                      </m:r>
                      <m:r>
                        <a:rPr lang="en-US" sz="1700" i="1">
                          <a:latin typeface="Cambria Math"/>
                        </a:rPr>
                        <m:t>𝑐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lang="en-US" sz="17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2"/>
              <p:cNvSpPr/>
              <p:nvPr/>
            </p:nvSpPr>
            <p:spPr>
              <a:xfrm>
                <a:off x="762000" y="3251200"/>
                <a:ext cx="10668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2 · Standardized residuals (departure from independence rcᵀ)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>
                          <a:latin typeface="Cambria Math"/>
                        </a:rPr>
                        <m:t>𝑆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sSubSup>
                        <m:sSubSupPr>
                          <m:ctrlPr>
                            <a:rPr lang="en-US" sz="17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1250" i="1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1250">
                              <a:latin typeface="Cambria Math"/>
                            </a:rPr>
                            <m:t>−1/2</m:t>
                          </m:r>
                        </m:sup>
                      </m:sSubSup>
                      <m:d>
                        <m:dPr>
                          <m:ctrlPr>
                            <a:rPr lang="en-US" sz="17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700" i="1">
                              <a:latin typeface="Cambria Math"/>
                            </a:rPr>
                            <m:t>𝑃</m:t>
                          </m:r>
                          <m:r>
                            <a:rPr lang="en-US" sz="1700">
                              <a:latin typeface="Cambria Math"/>
                            </a:rPr>
                            <m:t> − </m:t>
                          </m:r>
                          <m:r>
                            <a:rPr lang="en-US" sz="1700" i="1">
                              <a:latin typeface="Cambria Math"/>
                            </a:rPr>
                            <m:t>𝑟</m:t>
                          </m:r>
                          <m:sSup>
                            <m:sSupPr>
                              <m:ctrlPr>
                                <a:rPr lang="en-US" sz="17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700" i="1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sz="110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lang="en-US" sz="17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125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250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 xmlns=""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51200"/>
                <a:ext cx="10668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c3"/>
              <p:cNvSpPr/>
              <p:nvPr/>
            </p:nvSpPr>
            <p:spPr>
              <a:xfrm>
                <a:off x="762000" y="50546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85754D"/>
                    </a:solidFill>
                  </a:rPr>
                  <a:t>3 · SVD gives the principal inertias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>
                          <a:latin typeface="Cambria Math"/>
                        </a:rPr>
                        <m:t>𝑆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 i="1">
                          <a:latin typeface="Cambria Math"/>
                        </a:rPr>
                        <m:t>𝑈</m:t>
                      </m:r>
                      <m:r>
                        <a:rPr lang="en-US" sz="1700" i="1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lang="en-US" sz="17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          </m:t>
                      </m:r>
                      <m:r>
                        <a:rPr lang="en-US" sz="1700">
                          <a:latin typeface="Cambria Math"/>
                        </a:rPr>
                        <m:t>𝑡𝑜𝑡𝑎𝑙</m:t>
                      </m:r>
                      <m:r>
                        <a:rPr lang="en-US" sz="1700">
                          <a:latin typeface="Cambria Math"/>
                        </a:rPr>
                        <m:t> </m:t>
                      </m:r>
                      <m:r>
                        <a:rPr lang="en-US" sz="1700">
                          <a:latin typeface="Cambria Math"/>
                        </a:rPr>
                        <m:t>𝑖𝑛𝑒𝑟𝑡𝑖𝑎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lang="en-US" sz="17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ₖ = </m:t>
                      </m:r>
                      <m:f>
                        <m:fPr>
                          <m:ctrlPr>
                            <a:rPr lang="en-US" sz="170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700">
                              <a:latin typeface="Cambria Math"/>
                            </a:rPr>
                            <m:t>𝜒</m:t>
                          </m:r>
                          <m:r>
                            <a:rPr lang="en-US" sz="1700">
                              <a:latin typeface="Cambria Math"/>
                            </a:rPr>
                            <m:t>²</m:t>
                          </m:r>
                        </m:num>
                        <m:den>
                          <m:r>
                            <a:rPr lang="en-US" sz="1700" i="1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1700">
                          <a:latin typeface="Cambria Math"/>
                        </a:rPr>
                        <m:t>     ⇒     </m:t>
                      </m:r>
                      <m:r>
                        <a:rPr lang="en-US" sz="1700">
                          <a:latin typeface="Cambria Math"/>
                        </a:rPr>
                        <m:t>𝜒</m:t>
                      </m:r>
                      <m:r>
                        <a:rPr lang="en-US" sz="1700">
                          <a:latin typeface="Cambria Math"/>
                        </a:rPr>
                        <m:t>² = </m:t>
                      </m:r>
                      <m:r>
                        <a:rPr lang="en-US" sz="1700">
                          <a:latin typeface="Cambria Math"/>
                        </a:rPr>
                        <m:t>𝑛</m:t>
                      </m:r>
                      <m:r>
                        <a:rPr lang="en-US" sz="1700">
                          <a:latin typeface="Cambria Math"/>
                        </a:rPr>
                        <m:t> · </m:t>
                      </m:r>
                      <m:r>
                        <a:rPr lang="en-US" sz="1700">
                          <a:latin typeface="Cambria Math"/>
                        </a:rPr>
                        <m:t>𝑖𝑛𝑒𝑟𝑡𝑖𝑎</m:t>
                      </m:r>
                    </m:oMath>
                  </m:oMathPara>
                </a14:m>
                <a:endParaRPr lang="en-US" sz="1500" b="1">
                  <a:solidFill>
                    <a:srgbClr val="85754D"/>
                  </a:solidFill>
                </a:endParaRPr>
              </a:p>
            </p:txBody>
          </p:sp>
        </mc:Choice>
        <mc:Fallback xmlns="">
          <p:sp>
            <p:nvSpPr>
              <p:cNvPr id="162" name="c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546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0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 animBg="1"/>
      <p:bldP spid="161" grpId="0" animBg="1"/>
      <p:bldP spid="16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CA Decomposes the Pearson χ²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does not maximize counts; it studies deviations from independence.</a:t>
            </a:r>
          </a:p>
        </p:txBody>
      </p:sp>
      <p:sp>
        <p:nvSpPr>
          <p:cNvPr id="160" name="cObj"/>
          <p:cNvSpPr/>
          <p:nvPr/>
        </p:nvSpPr>
        <p:spPr>
          <a:xfrm>
            <a:off x="762000" y="1905000"/>
            <a:ext cx="10668000" cy="127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objective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CA finds the dimensions that capture the largest share of χ² inertia. The first axis explains the largest departure from independence; each later axis is orthogonal and explains the largest remaining part.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A0253D5-D0E9-8F4D-87EB-37C27E42968D}"/>
              </a:ext>
            </a:extLst>
          </p:cNvPr>
          <p:cNvSpPr/>
          <p:nvPr/>
        </p:nvSpPr>
        <p:spPr>
          <a:xfrm>
            <a:off x="762000" y="3327400"/>
            <a:ext cx="5207000" cy="19304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262C4-A654-3D4E-8712-29BC9862AC90}"/>
              </a:ext>
            </a:extLst>
          </p:cNvPr>
          <p:cNvSpPr txBox="1"/>
          <p:nvPr/>
        </p:nvSpPr>
        <p:spPr>
          <a:xfrm>
            <a:off x="990600" y="34798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C0579-CD8D-2D49-8EBA-325AB08EE27C}"/>
              </a:ext>
            </a:extLst>
          </p:cNvPr>
          <p:cNvSpPr txBox="1"/>
          <p:nvPr/>
        </p:nvSpPr>
        <p:spPr>
          <a:xfrm>
            <a:off x="990600" y="3886200"/>
            <a:ext cx="482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Maximizes variance
•  Uses Euclidean distance
•  For continuous variables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2FDB5-F38E-0742-B018-C9BEA7B64676}"/>
              </a:ext>
            </a:extLst>
          </p:cNvPr>
          <p:cNvSpPr/>
          <p:nvPr/>
        </p:nvSpPr>
        <p:spPr>
          <a:xfrm>
            <a:off x="6350000" y="3327400"/>
            <a:ext cx="5080000" cy="19304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626A7-8352-724D-8B18-75DC9C3E0758}"/>
              </a:ext>
            </a:extLst>
          </p:cNvPr>
          <p:cNvSpPr txBox="1"/>
          <p:nvPr/>
        </p:nvSpPr>
        <p:spPr>
          <a:xfrm>
            <a:off x="6578600" y="34798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2A8CC-87FA-C84B-BED7-46A1884968C3}"/>
              </a:ext>
            </a:extLst>
          </p:cNvPr>
          <p:cNvSpPr txBox="1"/>
          <p:nvPr/>
        </p:nvSpPr>
        <p:spPr>
          <a:xfrm>
            <a:off x="6578600" y="3886200"/>
            <a:ext cx="457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Maximizes </a:t>
            </a:r>
            <a:r>
              <a:rPr lang="el-GR" sz="1500">
                <a:solidFill>
                  <a:srgbClr val="333333"/>
                </a:solidFill>
              </a:rPr>
              <a:t>χ² </a:t>
            </a:r>
            <a:r>
              <a:rPr lang="en-US" sz="1500">
                <a:solidFill>
                  <a:srgbClr val="333333"/>
                </a:solidFill>
              </a:rPr>
              <a:t>inertia
•  Uses chi-square distance
•  For categorical profiles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33C2D0-D100-F841-A092-C00CA4247B60}"/>
              </a:ext>
            </a:extLst>
          </p:cNvPr>
          <p:cNvSpPr/>
          <p:nvPr/>
        </p:nvSpPr>
        <p:spPr>
          <a:xfrm>
            <a:off x="762000" y="5384800"/>
            <a:ext cx="10668000" cy="10414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CA shows which row and column categories are responsible for the association in a contingency table.</a:t>
            </a:r>
          </a:p>
        </p:txBody>
      </p:sp>
    </p:spTree>
    <p:extLst>
      <p:ext uri="{BB962C8B-B14F-4D97-AF65-F5344CB8AC3E}">
        <p14:creationId xmlns:p14="http://schemas.microsoft.com/office/powerpoint/2010/main" val="404604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160" grpId="0" animBg="1"/>
      <p:bldP spid="2" grpId="0" animBg="1"/>
      <p:bldP spid="3" grpId="0"/>
      <p:bldP spid="7" grpId="0"/>
      <p:bldP spid="8" grpId="0" animBg="1"/>
      <p:bldP spid="9" grpId="0"/>
      <p:bldP spid="10" grpId="0"/>
      <p:bldP spid="1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2E3B10-354E-DE4D-BAFA-33021ADAD9A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B011A-59BD-1244-AD8C-380C035AECF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Correspondence Analysis — Reading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6605B-B363-984E-BF5D-24BBE0D139C9}"/>
              </a:ext>
            </a:extLst>
          </p:cNvPr>
          <p:cNvSpPr/>
          <p:nvPr/>
        </p:nvSpPr>
        <p:spPr>
          <a:xfrm>
            <a:off x="762000" y="1574800"/>
            <a:ext cx="5334000" cy="45212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28D17-FDC2-4C41-A1A7-6C8512DACD10}"/>
              </a:ext>
            </a:extLst>
          </p:cNvPr>
          <p:cNvSpPr/>
          <p:nvPr/>
        </p:nvSpPr>
        <p:spPr>
          <a:xfrm>
            <a:off x="1016000" y="3810000"/>
            <a:ext cx="4826000" cy="254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F0D201-E5C6-8E40-8FD1-ADAB7C6C7CD2}"/>
              </a:ext>
            </a:extLst>
          </p:cNvPr>
          <p:cNvSpPr/>
          <p:nvPr/>
        </p:nvSpPr>
        <p:spPr>
          <a:xfrm>
            <a:off x="3429000" y="1778000"/>
            <a:ext cx="25400" cy="40894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8E808-1901-A74D-9D82-28B594DDD881}"/>
              </a:ext>
            </a:extLst>
          </p:cNvPr>
          <p:cNvSpPr txBox="1"/>
          <p:nvPr/>
        </p:nvSpPr>
        <p:spPr>
          <a:xfrm>
            <a:off x="4826000" y="38608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85754D"/>
                </a:solidFill>
              </a:rPr>
              <a:t>Dim 1 (58%)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07132-9019-7349-B8F5-76CF587DDA65}"/>
              </a:ext>
            </a:extLst>
          </p:cNvPr>
          <p:cNvSpPr txBox="1"/>
          <p:nvPr/>
        </p:nvSpPr>
        <p:spPr>
          <a:xfrm>
            <a:off x="3530600" y="1803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85754D"/>
                </a:solidFill>
              </a:rPr>
              <a:t>Dim 2 (27%)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C702EB-C33A-1D47-BDE4-02DE5A33181D}"/>
              </a:ext>
            </a:extLst>
          </p:cNvPr>
          <p:cNvSpPr/>
          <p:nvPr/>
        </p:nvSpPr>
        <p:spPr>
          <a:xfrm>
            <a:off x="1905000" y="2540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890E8-1E30-9A4E-8F83-251B62063100}"/>
              </a:ext>
            </a:extLst>
          </p:cNvPr>
          <p:cNvSpPr txBox="1"/>
          <p:nvPr/>
        </p:nvSpPr>
        <p:spPr>
          <a:xfrm>
            <a:off x="2082800" y="2476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Young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0F9B3C-33D4-B54B-8D85-7765A8F48A8C}"/>
              </a:ext>
            </a:extLst>
          </p:cNvPr>
          <p:cNvSpPr/>
          <p:nvPr/>
        </p:nvSpPr>
        <p:spPr>
          <a:xfrm>
            <a:off x="3810000" y="3175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F8838-73B9-F64A-AD6C-688D2CAC915E}"/>
              </a:ext>
            </a:extLst>
          </p:cNvPr>
          <p:cNvSpPr txBox="1"/>
          <p:nvPr/>
        </p:nvSpPr>
        <p:spPr>
          <a:xfrm>
            <a:off x="3987800" y="3111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Mid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2B88AA-29C7-044D-A30D-9F0078AE79CE}"/>
              </a:ext>
            </a:extLst>
          </p:cNvPr>
          <p:cNvSpPr/>
          <p:nvPr/>
        </p:nvSpPr>
        <p:spPr>
          <a:xfrm>
            <a:off x="4826000" y="4572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23EBA-C5D2-E34A-8C9E-E08DFD2B345E}"/>
              </a:ext>
            </a:extLst>
          </p:cNvPr>
          <p:cNvSpPr txBox="1"/>
          <p:nvPr/>
        </p:nvSpPr>
        <p:spPr>
          <a:xfrm>
            <a:off x="5003800" y="4508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Senior</a:t>
            </a: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EB577668-547E-7142-9A60-EBE49A13DCFB}"/>
              </a:ext>
            </a:extLst>
          </p:cNvPr>
          <p:cNvSpPr/>
          <p:nvPr/>
        </p:nvSpPr>
        <p:spPr>
          <a:xfrm>
            <a:off x="2159000" y="2286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B00D1-1CFB-D543-BF20-018930F5D16B}"/>
              </a:ext>
            </a:extLst>
          </p:cNvPr>
          <p:cNvSpPr txBox="1"/>
          <p:nvPr/>
        </p:nvSpPr>
        <p:spPr>
          <a:xfrm>
            <a:off x="2336800" y="2222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A7B5"/>
                </a:solidFill>
              </a:rPr>
              <a:t>C: Sport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856198E-35D5-E543-B585-D6D8FDB119D7}"/>
              </a:ext>
            </a:extLst>
          </p:cNvPr>
          <p:cNvSpPr/>
          <p:nvPr/>
        </p:nvSpPr>
        <p:spPr>
          <a:xfrm>
            <a:off x="4064000" y="3429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C96FA-981D-1E41-A96D-C19B2E1562D4}"/>
              </a:ext>
            </a:extLst>
          </p:cNvPr>
          <p:cNvSpPr txBox="1"/>
          <p:nvPr/>
        </p:nvSpPr>
        <p:spPr>
          <a:xfrm>
            <a:off x="4241800" y="3365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A7B5"/>
                </a:solidFill>
              </a:rPr>
              <a:t>C: Sedan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4D0EC271-50E7-1147-8BC6-F9101F66F63D}"/>
              </a:ext>
            </a:extLst>
          </p:cNvPr>
          <p:cNvSpPr/>
          <p:nvPr/>
        </p:nvSpPr>
        <p:spPr>
          <a:xfrm>
            <a:off x="5080000" y="4826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091658-ACD3-CC4C-BAC7-728F73BA161C}"/>
              </a:ext>
            </a:extLst>
          </p:cNvPr>
          <p:cNvSpPr txBox="1"/>
          <p:nvPr/>
        </p:nvSpPr>
        <p:spPr>
          <a:xfrm>
            <a:off x="5245100" y="47879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A7B5"/>
                </a:solidFill>
              </a:rPr>
              <a:t>C: Luxury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66994E-2AB0-9240-BA57-5577A83204AC}"/>
              </a:ext>
            </a:extLst>
          </p:cNvPr>
          <p:cNvSpPr txBox="1"/>
          <p:nvPr/>
        </p:nvSpPr>
        <p:spPr>
          <a:xfrm>
            <a:off x="939800" y="57404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● rows (e.g. age groups)    ▲ columns (e.g. car type)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EF402-9B55-7C4F-88AB-7353FF5E825F}"/>
              </a:ext>
            </a:extLst>
          </p:cNvPr>
          <p:cNvSpPr txBox="1"/>
          <p:nvPr/>
        </p:nvSpPr>
        <p:spPr>
          <a:xfrm>
            <a:off x="6350000" y="1625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read 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35E5FA-7CFD-CA41-AC22-76048A39E8A8}"/>
              </a:ext>
            </a:extLst>
          </p:cNvPr>
          <p:cNvSpPr txBox="1"/>
          <p:nvPr/>
        </p:nvSpPr>
        <p:spPr>
          <a:xfrm>
            <a:off x="6350000" y="2006600"/>
            <a:ext cx="5080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Near the origin = average profile (close to independence); far out = distinctive.
• Row–row / col–col proximity ⇒ similar profiles.
• Row near a column point ⇒ that combination occurs more than independence predicts (positive association).
• Axis % = share of total inertia explained by that dimension; report them like PCA variance.
• Caution (symmetric map): row–column distances are only suggestive — strictly, interpret each cloud's geometry separately.</a:t>
            </a:r>
          </a:p>
        </p:txBody>
      </p:sp>
    </p:spTree>
    <p:extLst>
      <p:ext uri="{BB962C8B-B14F-4D97-AF65-F5344CB8AC3E}">
        <p14:creationId xmlns:p14="http://schemas.microsoft.com/office/powerpoint/2010/main" val="360167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/>
      <p:bldP spid="24" grpId="0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BEF722-4649-FA49-87E6-F8FC5F434E5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7104D-555E-0540-AA65-FDE8DD3661F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How Many Dimensions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4CE35-6C98-4D49-A50B-012333311F97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map has at most K = min(I−1, J−1) dimensions for an I×J table. Choose how many to display.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D3A903-1859-5A40-883B-D8C5901D5CA3}"/>
              </a:ext>
            </a:extLst>
          </p:cNvPr>
          <p:cNvSpPr/>
          <p:nvPr/>
        </p:nvSpPr>
        <p:spPr>
          <a:xfrm>
            <a:off x="7620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25BB0-5EA5-9E44-B040-021E455D74DE}"/>
              </a:ext>
            </a:extLst>
          </p:cNvPr>
          <p:cNvSpPr txBox="1"/>
          <p:nvPr/>
        </p:nvSpPr>
        <p:spPr>
          <a:xfrm>
            <a:off x="9144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Inertia explained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4DB41-7566-3942-9F1A-7744E13D1EFC}"/>
                  </a:ext>
                </a:extLst>
              </p:cNvPr>
              <p:cNvSpPr txBox="1"/>
              <p:nvPr/>
            </p:nvSpPr>
            <p:spPr>
              <a:xfrm>
                <a:off x="914400" y="2717800"/>
                <a:ext cx="2235200" cy="81310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Each dimension k explains </a:t>
                </a:r>
                <a14:m>
                  <m:oMath xmlns:m="http://schemas.openxmlformats.org/officeDocument/2006/math">
                    <m:f>
                      <m:fPr>
                        <m:ctrlPr>
                          <a:rPr sz="13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13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135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sz="135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sz="135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sz="135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of total inertia. Keep enough to reach ~70–80%.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4DB41-7566-3942-9F1A-7744E13D1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717800"/>
                <a:ext cx="2235200" cy="813108"/>
              </a:xfrm>
              <a:prstGeom prst="rect">
                <a:avLst/>
              </a:prstGeom>
              <a:blipFill>
                <a:blip r:embed="rId2"/>
                <a:stretch>
                  <a:fillRect l="-565"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B0C7FB-9D95-0840-8100-63DCC59791D4}"/>
              </a:ext>
            </a:extLst>
          </p:cNvPr>
          <p:cNvSpPr/>
          <p:nvPr/>
        </p:nvSpPr>
        <p:spPr>
          <a:xfrm>
            <a:off x="34798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81D5E-8684-F943-9605-8C8F49339CD1}"/>
              </a:ext>
            </a:extLst>
          </p:cNvPr>
          <p:cNvSpPr txBox="1"/>
          <p:nvPr/>
        </p:nvSpPr>
        <p:spPr>
          <a:xfrm>
            <a:off x="36322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Scree of inertia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FEAB3-3B3C-E74D-9CB3-6BF46258FB9A}"/>
                  </a:ext>
                </a:extLst>
              </p:cNvPr>
              <p:cNvSpPr txBox="1"/>
              <p:nvPr/>
            </p:nvSpPr>
            <p:spPr>
              <a:xfrm>
                <a:off x="3632200" y="2717800"/>
                <a:ext cx="2235200" cy="9233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3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35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sz="135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sz="135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sz="1350">
                        <a:latin typeface="Cambria Math" panose="02040503050406030204" pitchFamily="18" charset="0"/>
                      </a:rPr>
                      <m:t>vs</m:t>
                    </m:r>
                    <m:r>
                      <a:rPr sz="1350">
                        <a:latin typeface="Cambria Math" panose="02040503050406030204" pitchFamily="18" charset="0"/>
                      </a:rPr>
                      <m:t> </m:t>
                    </m:r>
                    <m:r>
                      <a:rPr sz="135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; keep dimensions before the elbow — same logic as PCA's scree plot.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FEAB3-3B3C-E74D-9CB3-6BF46258F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200" y="2717800"/>
                <a:ext cx="2235200" cy="923330"/>
              </a:xfrm>
              <a:prstGeom prst="rect">
                <a:avLst/>
              </a:prstGeom>
              <a:blipFill>
                <a:blip r:embed="rId3"/>
                <a:stretch>
                  <a:fillRect l="-565" t="-1370" r="-113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A49352-5C67-EF47-9FF0-825E39A1E521}"/>
              </a:ext>
            </a:extLst>
          </p:cNvPr>
          <p:cNvSpPr/>
          <p:nvPr/>
        </p:nvSpPr>
        <p:spPr>
          <a:xfrm>
            <a:off x="61976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B5969-BE63-A545-8EC3-EC52E0CD354F}"/>
              </a:ext>
            </a:extLst>
          </p:cNvPr>
          <p:cNvSpPr txBox="1"/>
          <p:nvPr/>
        </p:nvSpPr>
        <p:spPr>
          <a:xfrm>
            <a:off x="63500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Average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D67CDF-D1D1-1A47-AA44-3920A2CFB603}"/>
                  </a:ext>
                </a:extLst>
              </p:cNvPr>
              <p:cNvSpPr txBox="1"/>
              <p:nvPr/>
            </p:nvSpPr>
            <p:spPr>
              <a:xfrm>
                <a:off x="6350000" y="2717800"/>
                <a:ext cx="2235200" cy="92890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dimensions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13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35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sz="135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sz="1350">
                        <a:latin typeface="Cambria Math" panose="02040503050406030204" pitchFamily="18" charset="0"/>
                      </a:rPr>
                      <m:t> &gt; </m:t>
                    </m:r>
                    <m:acc>
                      <m:accPr>
                        <m:chr m:val="̄"/>
                        <m:ctrlPr>
                          <a:rPr sz="135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135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sz="135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135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sz="1350">
                        <a:latin typeface="Cambria Math" panose="02040503050406030204" pitchFamily="18" charset="0"/>
                      </a:rPr>
                      <m:t> = (</m:t>
                    </m:r>
                    <m:r>
                      <m:rPr>
                        <m:sty m:val="p"/>
                      </m:rPr>
                      <a:rPr sz="1350">
                        <a:latin typeface="Cambria Math" panose="02040503050406030204" pitchFamily="18" charset="0"/>
                      </a:rPr>
                      <m:t>total</m:t>
                    </m:r>
                    <m:r>
                      <a:rPr sz="135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sz="1350">
                        <a:latin typeface="Cambria Math" panose="02040503050406030204" pitchFamily="18" charset="0"/>
                      </a:rPr>
                      <m:t>inertia</m:t>
                    </m:r>
                    <m:r>
                      <a:rPr sz="1350">
                        <a:latin typeface="Cambria Math" panose="02040503050406030204" pitchFamily="18" charset="0"/>
                      </a:rPr>
                      <m:t>)/</m:t>
                    </m:r>
                    <m:r>
                      <a:rPr sz="135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 (CA analogue of Kaiser).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D67CDF-D1D1-1A47-AA44-3920A2CFB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717800"/>
                <a:ext cx="2235200" cy="928909"/>
              </a:xfrm>
              <a:prstGeom prst="rect">
                <a:avLst/>
              </a:prstGeom>
              <a:blipFill>
                <a:blip r:embed="rId4"/>
                <a:stretch>
                  <a:fillRect l="-568" t="-1351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ABBEE2-4904-2B47-A15B-8A32584D4B72}"/>
              </a:ext>
            </a:extLst>
          </p:cNvPr>
          <p:cNvSpPr/>
          <p:nvPr/>
        </p:nvSpPr>
        <p:spPr>
          <a:xfrm>
            <a:off x="89154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C4D4A5-C0E5-8F4C-9D66-B3C8DCA9AA8C}"/>
              </a:ext>
            </a:extLst>
          </p:cNvPr>
          <p:cNvSpPr txBox="1"/>
          <p:nvPr/>
        </p:nvSpPr>
        <p:spPr>
          <a:xfrm>
            <a:off x="90678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Interpretability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8EB5D2-AD22-014C-AE18-89BFA770A0F1}"/>
              </a:ext>
            </a:extLst>
          </p:cNvPr>
          <p:cNvSpPr txBox="1"/>
          <p:nvPr/>
        </p:nvSpPr>
        <p:spPr>
          <a:xfrm>
            <a:off x="9067800" y="2717800"/>
            <a:ext cx="22352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dirty="0">
                <a:solidFill>
                  <a:srgbClr val="333333"/>
                </a:solidFill>
              </a:rPr>
              <a:t>Two dimensions are usually plotted for a readable biplot; a 3rd only if clearly meaningful.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E74F72-465B-CE4B-B659-74A6F8CBE072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09EDD-D35E-4744-BB12-E3206FCF3E1F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Worked 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AF935-809E-BD4D-9881-5F7703296F7B}"/>
                  </a:ext>
                </a:extLst>
              </p:cNvPr>
              <p:cNvSpPr txBox="1"/>
              <p:nvPr/>
            </p:nvSpPr>
            <p:spPr>
              <a:xfrm>
                <a:off x="990600" y="4470400"/>
                <a:ext cx="10210800" cy="95981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 4×5 table ⇒ </a:t>
                </a:r>
                <a14:m>
                  <m:oMath xmlns:m="http://schemas.openxmlformats.org/officeDocument/2006/math">
                    <m:r>
                      <a:rPr sz="1400">
                        <a:latin typeface="Cambria Math" panose="02040503050406030204" pitchFamily="18" charset="0"/>
                      </a:rPr>
                      <m:t>𝐾</m:t>
                    </m:r>
                    <m:r>
                      <a:rPr sz="140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sz="1400">
                        <a:latin typeface="Cambria Math" panose="02040503050406030204" pitchFamily="18" charset="0"/>
                      </a:rPr>
                      <m:t>min</m:t>
                    </m:r>
                    <m:r>
                      <a:rPr sz="1400">
                        <a:latin typeface="Cambria Math" panose="02040503050406030204" pitchFamily="18" charset="0"/>
                      </a:rPr>
                      <m:t>(3,4) = 3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possible dimensions. Suppose principal inertias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 sz="1400">
                        <a:latin typeface="Cambria Math" panose="02040503050406030204" pitchFamily="18" charset="0"/>
                      </a:rPr>
                      <m:t>𝜆</m:t>
                    </m:r>
                    <m:r>
                      <a:rPr sz="1400">
                        <a:latin typeface="Cambria Math" panose="02040503050406030204" pitchFamily="18" charset="0"/>
                      </a:rPr>
                      <m:t>= (0.182, 0.071, 0.014)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 total inertia = 0.267.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Shares: Dim1 = 68.2%, Dim2 = 26.6%, Dim3 = 5.2%.  Dim1+Dim2 = 94.8% ⇒ a 2-D map is more than adequate.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Average rule: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sz="1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14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 sz="1400">
                        <a:latin typeface="Cambria Math" panose="02040503050406030204" pitchFamily="18" charset="0"/>
                      </a:rPr>
                      <m:t> = 0.267/3 = 0.089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only Dim1 (0.182) exceeds it — but we still plot Dim2 for a 2-D picture.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AF935-809E-BD4D-9881-5F7703296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70400"/>
                <a:ext cx="10210800" cy="959815"/>
              </a:xfrm>
              <a:prstGeom prst="rect">
                <a:avLst/>
              </a:prstGeom>
              <a:blipFill>
                <a:blip r:embed="rId5"/>
                <a:stretch>
                  <a:fillRect l="-248" t="-1299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07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Matrix Formulation (1): Profiles &amp; Inertia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Start from the I×J count table N with grand total n. Work with proportions, masses, and expected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Correspondence matrix &amp; masses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40686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250"/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sums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1)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vectors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), 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Expected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406860"/>
              </a:xfrm>
              <a:prstGeom prst="rect">
                <a:avLst/>
              </a:prstGeom>
              <a:blipFill>
                <a:blip r:embed="rId2"/>
                <a:stretch>
                  <a:fillRect t="-25893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Profiles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62826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profile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profile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 profiles live in the simplex of column categories; their weighted average (centroid) = c.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628266"/>
              </a:xfrm>
              <a:prstGeom prst="rect">
                <a:avLst/>
              </a:prstGeom>
              <a:blipFill>
                <a:blip r:embed="rId3"/>
                <a:stretch>
                  <a:fillRect l="-536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Total inertia = </a:t>
            </a:r>
            <a:r>
              <a:rPr lang="el-GR" sz="1450" b="1">
                <a:solidFill>
                  <a:srgbClr val="7AB648"/>
                </a:solidFill>
              </a:rPr>
              <a:t>χ²/</a:t>
            </a:r>
            <a:r>
              <a:rPr lang="en-US" sz="1450" b="1">
                <a:solidFill>
                  <a:srgbClr val="7AB648"/>
                </a:solidFill>
              </a:rPr>
              <a:t>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72000"/>
            <a:ext cx="10668000" cy="179173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99000"/>
                <a:ext cx="10312400" cy="151939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/>
                      </m:nary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inertia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/>
                      </m:nary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Φ² = weighted sum of squared χ²-distances of row profiles to their centroid c.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CA finds orthogonal axes that successively capture the largest share of this total inertia.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99000"/>
                <a:ext cx="10312400" cy="1519390"/>
              </a:xfrm>
              <a:prstGeom prst="rect">
                <a:avLst/>
              </a:prstGeom>
              <a:blipFill>
                <a:blip r:embed="rId4"/>
                <a:stretch>
                  <a:fillRect l="-123" t="-4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43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418EE9-0D35-834C-968C-571FB2B35E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7D219-9FE0-3F4F-A730-9B4B59F1F2F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Matrix Formulation (2): SVD &amp; Coordinates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D60DE-E52A-E84E-8E48-5E341D9D1130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Step 1 — Standardized residual matrix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E69293F-3CF9-2643-94AE-D5FE5362D872}"/>
              </a:ext>
            </a:extLst>
          </p:cNvPr>
          <p:cNvSpPr/>
          <p:nvPr/>
        </p:nvSpPr>
        <p:spPr>
          <a:xfrm>
            <a:off x="762000" y="1828800"/>
            <a:ext cx="10668000" cy="101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C964D-8DE2-E84D-A100-E5523F112DE0}"/>
                  </a:ext>
                </a:extLst>
              </p:cNvPr>
              <p:cNvSpPr txBox="1"/>
              <p:nvPr/>
            </p:nvSpPr>
            <p:spPr>
              <a:xfrm>
                <a:off x="939800" y="1955800"/>
                <a:ext cx="10312400" cy="88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standardized residuals,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Note: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/>
                    </m:nary>
                    <m:sSubSup>
                      <m:sSub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= total inertia.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C964D-8DE2-E84D-A100-E5523F112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1955800"/>
                <a:ext cx="10312400" cy="888000"/>
              </a:xfrm>
              <a:prstGeom prst="rect">
                <a:avLst/>
              </a:prstGeom>
              <a:blipFill>
                <a:blip r:embed="rId2"/>
                <a:stretch>
                  <a:fillRect l="-123" b="-66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B957CAC-9BC6-7D4D-8464-13C41CF10A2F}"/>
              </a:ext>
            </a:extLst>
          </p:cNvPr>
          <p:cNvSpPr txBox="1"/>
          <p:nvPr/>
        </p:nvSpPr>
        <p:spPr>
          <a:xfrm>
            <a:off x="762000" y="2844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Step 2 — SVD of 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F129D6-CC8A-6C4C-9270-4294C3DE3467}"/>
              </a:ext>
            </a:extLst>
          </p:cNvPr>
          <p:cNvSpPr/>
          <p:nvPr/>
        </p:nvSpPr>
        <p:spPr>
          <a:xfrm>
            <a:off x="762000" y="3149600"/>
            <a:ext cx="5334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8EB22-1DBE-9F46-BBFD-960668270215}"/>
                  </a:ext>
                </a:extLst>
              </p:cNvPr>
              <p:cNvSpPr txBox="1"/>
              <p:nvPr/>
            </p:nvSpPr>
            <p:spPr>
              <a:xfrm>
                <a:off x="939800" y="3276600"/>
                <a:ext cx="4978400" cy="89819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≥…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algn="l">
                  <a:defRPr sz="1300"/>
                </a:pPr>
                <a:endParaRPr lang="ar-AE" dirty="0"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Principal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inertias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/>
                      </m:nary>
                      <m:sSub>
                        <m:sSub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axis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share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8EB22-1DBE-9F46-BBFD-960668270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276600"/>
                <a:ext cx="4978400" cy="898195"/>
              </a:xfrm>
              <a:prstGeom prst="rect">
                <a:avLst/>
              </a:prstGeom>
              <a:blipFill>
                <a:blip r:embed="rId3"/>
                <a:stretch>
                  <a:fillRect l="-254" t="-32394" b="-1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28B7C32-5CEA-8B42-BF4B-9E2E31ECDA46}"/>
              </a:ext>
            </a:extLst>
          </p:cNvPr>
          <p:cNvSpPr txBox="1"/>
          <p:nvPr/>
        </p:nvSpPr>
        <p:spPr>
          <a:xfrm>
            <a:off x="6350000" y="2844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Step 3 — Principal coordinates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28FDE0-77EC-4C45-A08C-0F085BA37925}"/>
              </a:ext>
            </a:extLst>
          </p:cNvPr>
          <p:cNvSpPr/>
          <p:nvPr/>
        </p:nvSpPr>
        <p:spPr>
          <a:xfrm>
            <a:off x="6350000" y="3149600"/>
            <a:ext cx="5080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40094-1C7A-9E4E-9A32-7E3FA1CCD485}"/>
                  </a:ext>
                </a:extLst>
              </p:cNvPr>
              <p:cNvSpPr txBox="1"/>
              <p:nvPr/>
            </p:nvSpPr>
            <p:spPr>
              <a:xfrm>
                <a:off x="6527800" y="3276600"/>
                <a:ext cx="4724400" cy="871264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ctr">
                  <a:defRPr sz="13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algn="ctr">
                  <a:defRPr sz="1300"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algn="ctr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Plot columns k=1,2 of F and G → the symmetric CA map.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40094-1C7A-9E4E-9A32-7E3FA1CC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3276600"/>
                <a:ext cx="4724400" cy="871264"/>
              </a:xfrm>
              <a:prstGeom prst="rect">
                <a:avLst/>
              </a:prstGeom>
              <a:blipFill>
                <a:blip r:embed="rId4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F266D6-42E2-AB4A-92C8-8782E73AC34D}"/>
              </a:ext>
            </a:extLst>
          </p:cNvPr>
          <p:cNvSpPr txBox="1"/>
          <p:nvPr/>
        </p:nvSpPr>
        <p:spPr>
          <a:xfrm>
            <a:off x="762000" y="4749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Diagnostics — contributions &amp; quality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59F18E-F7CC-0643-8F19-D60FD8FA80D5}"/>
              </a:ext>
            </a:extLst>
          </p:cNvPr>
          <p:cNvSpPr/>
          <p:nvPr/>
        </p:nvSpPr>
        <p:spPr>
          <a:xfrm>
            <a:off x="762000" y="5054599"/>
            <a:ext cx="10668000" cy="1296773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F77022-855D-6F49-9A55-436610319A67}"/>
                  </a:ext>
                </a:extLst>
              </p:cNvPr>
              <p:cNvSpPr txBox="1"/>
              <p:nvPr/>
            </p:nvSpPr>
            <p:spPr>
              <a:xfrm>
                <a:off x="939800" y="5181600"/>
                <a:ext cx="10312400" cy="107837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Contribution of row i to axis k: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𝐶𝑇𝑅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(which categories build an axis)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Quality (cos²):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𝐶𝑂𝑅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/>
                        </m:nary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2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(how well point i is shown)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F77022-855D-6F49-9A55-43661031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181600"/>
                <a:ext cx="10312400" cy="1078372"/>
              </a:xfrm>
              <a:prstGeom prst="rect">
                <a:avLst/>
              </a:prstGeom>
              <a:blipFill>
                <a:blip r:embed="rId5"/>
                <a:stretch>
                  <a:fillRect l="-123" b="-4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91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2723A7-D9F5-3849-A815-D302339F98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52483-074A-6247-949B-08934904AEA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Computation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212253-DDE7-9F4D-8E16-BF32A32488A7}"/>
              </a:ext>
            </a:extLst>
          </p:cNvPr>
          <p:cNvSpPr/>
          <p:nvPr/>
        </p:nvSpPr>
        <p:spPr>
          <a:xfrm>
            <a:off x="762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561C8F-7AE4-0F49-8D77-CA177D2C7373}"/>
              </a:ext>
            </a:extLst>
          </p:cNvPr>
          <p:cNvSpPr/>
          <p:nvPr/>
        </p:nvSpPr>
        <p:spPr>
          <a:xfrm>
            <a:off x="939800" y="18034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38D8C-1129-1846-B7E3-BA00AC7263D1}"/>
              </a:ext>
            </a:extLst>
          </p:cNvPr>
          <p:cNvSpPr txBox="1"/>
          <p:nvPr/>
        </p:nvSpPr>
        <p:spPr>
          <a:xfrm>
            <a:off x="1473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Build P = N/n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5CC97-B4D5-8C4C-BE87-A19B7DA5716C}"/>
              </a:ext>
            </a:extLst>
          </p:cNvPr>
          <p:cNvSpPr txBox="1"/>
          <p:nvPr/>
        </p:nvSpPr>
        <p:spPr>
          <a:xfrm>
            <a:off x="939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Divide the contingency table by its grand total.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788D60-633E-9749-BFCC-7797D77B2108}"/>
              </a:ext>
            </a:extLst>
          </p:cNvPr>
          <p:cNvSpPr/>
          <p:nvPr/>
        </p:nvSpPr>
        <p:spPr>
          <a:xfrm>
            <a:off x="43815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3A45B0-BABE-4040-ACB8-FB0A2634E4B0}"/>
              </a:ext>
            </a:extLst>
          </p:cNvPr>
          <p:cNvSpPr/>
          <p:nvPr/>
        </p:nvSpPr>
        <p:spPr>
          <a:xfrm>
            <a:off x="4559300" y="1803400"/>
            <a:ext cx="431800" cy="431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3A4C5-E1E1-3249-BB82-E4B5809C162F}"/>
              </a:ext>
            </a:extLst>
          </p:cNvPr>
          <p:cNvSpPr txBox="1"/>
          <p:nvPr/>
        </p:nvSpPr>
        <p:spPr>
          <a:xfrm>
            <a:off x="50927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Masses r,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E4134F-F31B-D24D-A23E-7901CEBE61BF}"/>
                  </a:ext>
                </a:extLst>
              </p:cNvPr>
              <p:cNvSpPr txBox="1"/>
              <p:nvPr/>
            </p:nvSpPr>
            <p:spPr>
              <a:xfrm>
                <a:off x="4559300" y="2362200"/>
                <a:ext cx="3073400" cy="63927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 sums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col sums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E4134F-F31B-D24D-A23E-7901CEBE6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362200"/>
                <a:ext cx="3073400" cy="639278"/>
              </a:xfrm>
              <a:prstGeom prst="rect">
                <a:avLst/>
              </a:prstGeom>
              <a:blipFill>
                <a:blip r:embed="rId2"/>
                <a:stretch>
                  <a:fillRect l="-82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C2F45A-ED35-6F4D-9006-CF2F4D15EF13}"/>
              </a:ext>
            </a:extLst>
          </p:cNvPr>
          <p:cNvSpPr/>
          <p:nvPr/>
        </p:nvSpPr>
        <p:spPr>
          <a:xfrm>
            <a:off x="8001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557043-2555-0848-8F2A-6A170F924F44}"/>
              </a:ext>
            </a:extLst>
          </p:cNvPr>
          <p:cNvSpPr/>
          <p:nvPr/>
        </p:nvSpPr>
        <p:spPr>
          <a:xfrm>
            <a:off x="8178800" y="1803400"/>
            <a:ext cx="431800" cy="431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2DD145-CF77-414E-BC2B-8F7DA8A24217}"/>
              </a:ext>
            </a:extLst>
          </p:cNvPr>
          <p:cNvSpPr txBox="1"/>
          <p:nvPr/>
        </p:nvSpPr>
        <p:spPr>
          <a:xfrm>
            <a:off x="8712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Residual matrix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0BC6B-8DCC-4141-8952-3735A89A8DA2}"/>
                  </a:ext>
                </a:extLst>
              </p:cNvPr>
              <p:cNvSpPr txBox="1"/>
              <p:nvPr/>
            </p:nvSpPr>
            <p:spPr>
              <a:xfrm>
                <a:off x="8178800" y="2362200"/>
                <a:ext cx="3073400" cy="4932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0BC6B-8DCC-4141-8952-3735A89A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0" y="2362200"/>
                <a:ext cx="3073400" cy="493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3FC7F4-F1D1-0647-A2DD-66C4FC3CD5F0}"/>
              </a:ext>
            </a:extLst>
          </p:cNvPr>
          <p:cNvSpPr/>
          <p:nvPr/>
        </p:nvSpPr>
        <p:spPr>
          <a:xfrm>
            <a:off x="762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1CF9E6-4F99-654F-A0F5-6F866708A49C}"/>
              </a:ext>
            </a:extLst>
          </p:cNvPr>
          <p:cNvSpPr/>
          <p:nvPr/>
        </p:nvSpPr>
        <p:spPr>
          <a:xfrm>
            <a:off x="939800" y="3937000"/>
            <a:ext cx="431800" cy="431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743824-2D85-2E4C-BCA9-A85010274BF2}"/>
              </a:ext>
            </a:extLst>
          </p:cNvPr>
          <p:cNvSpPr txBox="1"/>
          <p:nvPr/>
        </p:nvSpPr>
        <p:spPr>
          <a:xfrm>
            <a:off x="1473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SVD  S = U Dₐ Vᵀ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9CDCF-B349-8F4F-BA16-BCA460AF5FFE}"/>
                  </a:ext>
                </a:extLst>
              </p:cNvPr>
              <p:cNvSpPr txBox="1"/>
              <p:nvPr/>
            </p:nvSpPr>
            <p:spPr>
              <a:xfrm>
                <a:off x="939800" y="4495800"/>
                <a:ext cx="3073400" cy="78726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Principal inertias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shares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9CDCF-B349-8F4F-BA16-BCA460AF5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495800"/>
                <a:ext cx="3073400" cy="787267"/>
              </a:xfrm>
              <a:prstGeom prst="rect">
                <a:avLst/>
              </a:prstGeom>
              <a:blipFill>
                <a:blip r:embed="rId4"/>
                <a:stretch>
                  <a:fillRect l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0A2D9F7-1D5C-6C45-9F4C-B93F0B1AFCF7}"/>
              </a:ext>
            </a:extLst>
          </p:cNvPr>
          <p:cNvSpPr/>
          <p:nvPr/>
        </p:nvSpPr>
        <p:spPr>
          <a:xfrm>
            <a:off x="43815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706900-1C9F-AA42-9573-D790DD1C49EB}"/>
              </a:ext>
            </a:extLst>
          </p:cNvPr>
          <p:cNvSpPr/>
          <p:nvPr/>
        </p:nvSpPr>
        <p:spPr>
          <a:xfrm>
            <a:off x="4559300" y="3937000"/>
            <a:ext cx="431800" cy="431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77223-ACBA-9D4B-B921-F255926BE306}"/>
              </a:ext>
            </a:extLst>
          </p:cNvPr>
          <p:cNvSpPr txBox="1"/>
          <p:nvPr/>
        </p:nvSpPr>
        <p:spPr>
          <a:xfrm>
            <a:off x="50927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Coordinates F, 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47A93-EC37-E544-B33F-C8D6F92DB193}"/>
                  </a:ext>
                </a:extLst>
              </p:cNvPr>
              <p:cNvSpPr txBox="1"/>
              <p:nvPr/>
            </p:nvSpPr>
            <p:spPr>
              <a:xfrm>
                <a:off x="4559300" y="4495800"/>
                <a:ext cx="3073400" cy="47038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47A93-EC37-E544-B33F-C8D6F92DB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4495800"/>
                <a:ext cx="3073400" cy="47038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E7D2C7-BEE7-B144-800B-64746D381236}"/>
              </a:ext>
            </a:extLst>
          </p:cNvPr>
          <p:cNvSpPr/>
          <p:nvPr/>
        </p:nvSpPr>
        <p:spPr>
          <a:xfrm>
            <a:off x="8001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A9A636-F2C9-9248-A91C-EF32DD63617A}"/>
              </a:ext>
            </a:extLst>
          </p:cNvPr>
          <p:cNvSpPr/>
          <p:nvPr/>
        </p:nvSpPr>
        <p:spPr>
          <a:xfrm>
            <a:off x="8178800" y="39370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6BABD4-473C-0744-A2CE-C91E40A8A05A}"/>
              </a:ext>
            </a:extLst>
          </p:cNvPr>
          <p:cNvSpPr txBox="1"/>
          <p:nvPr/>
        </p:nvSpPr>
        <p:spPr>
          <a:xfrm>
            <a:off x="8712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Plot &amp; diagnose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D518C5-6156-4B45-9EF7-F707566B68C1}"/>
              </a:ext>
            </a:extLst>
          </p:cNvPr>
          <p:cNvSpPr txBox="1"/>
          <p:nvPr/>
        </p:nvSpPr>
        <p:spPr>
          <a:xfrm>
            <a:off x="8178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Plot dims 1–2; report contributions &amp; cos² quality.</a:t>
            </a:r>
          </a:p>
        </p:txBody>
      </p:sp>
    </p:spTree>
    <p:extLst>
      <p:ext uri="{BB962C8B-B14F-4D97-AF65-F5344CB8AC3E}">
        <p14:creationId xmlns:p14="http://schemas.microsoft.com/office/powerpoint/2010/main" val="38518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91961F-A398-6D43-98EA-80B8161D3B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C8EC5-B8C5-FE4E-82D8-1803C4C54CFD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1: Table &amp; Masses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C6AA41-7A1D-5E4E-9C54-B3CD7E1B0BB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1 /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1S1A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Contingency table  N   (Hair × Eye)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𝑁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rows = Fair, Dark · columns = Blue, Brown · totals 40/60, grand total n = 100</a:t>
                </a:r>
              </a:p>
            </p:txBody>
          </p:sp>
        </mc:Choice>
        <mc:Fallback xmlns="">
          <p:sp>
            <p:nvSpPr>
              <p:cNvPr id="160" name="CA1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1S1B"/>
              <p:cNvSpPr/>
              <p:nvPr/>
            </p:nvSpPr>
            <p:spPr>
              <a:xfrm>
                <a:off x="762000" y="33782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 dirty="0">
                    <a:solidFill>
                      <a:srgbClr val="00A7B5"/>
                    </a:solidFill>
                  </a:rPr>
                  <a:t>2 · Correspondence matrix  P = N / 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𝑃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0.30</m:t>
                                </m:r>
                                <m:r>
                                  <a:rPr sz="100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■</m:t>
                                </m:r>
                              </m:e>
                              <m:e>
                                <m:r>
                                  <a:rPr sz="160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0.10</m:t>
                                </m:r>
                                <m:r>
                                  <a:rPr sz="1000" b="1">
                                    <a:solidFill>
                                      <a:srgbClr val="5C9A2E"/>
                                    </a:solidFill>
                                    <a:latin typeface="Cambria Math"/>
                                  </a:rPr>
                                  <m:t>■</m:t>
                                </m:r>
                              </m:e>
                            </m:mr>
                            <m:mr>
                              <m:e>
                                <m:r>
                                  <a:rPr sz="160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0.10</m:t>
                                </m:r>
                                <m:r>
                                  <a:rPr sz="100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■</m:t>
                                </m:r>
                              </m:e>
                              <m:e>
                                <m:r>
                                  <a:rPr sz="160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0.50</m:t>
                                </m:r>
                                <m:r>
                                  <a:rPr sz="1000" b="1">
                                    <a:solidFill>
                                      <a:srgbClr val="5C9A2E"/>
                                    </a:solidFill>
                                    <a:latin typeface="Cambria Math"/>
                                  </a:rPr>
                                  <m:t>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  <a:p>
                <a:pPr algn="ctr"/>
                <a:r>
                  <a:rPr lang="en-US" sz="1400" i="1" dirty="0">
                    <a:solidFill>
                      <a:srgbClr val="333333"/>
                    </a:solidFill>
                  </a:rPr>
                  <a:t>digit </a:t>
                </a:r>
                <a:r>
                  <a:rPr lang="en-US" sz="1400" i="1" dirty="0" err="1">
                    <a:solidFill>
                      <a:srgbClr val="333333"/>
                    </a:solidFill>
                  </a:rPr>
                  <a:t>colour</a:t>
                </a:r>
                <a:r>
                  <a:rPr lang="en-US" sz="1400" i="1" dirty="0">
                    <a:solidFill>
                      <a:srgbClr val="333333"/>
                    </a:solidFill>
                  </a:rPr>
                  <a:t> = row mass  ·  square marker = column mass</a:t>
                </a:r>
              </a:p>
            </p:txBody>
          </p:sp>
        </mc:Choice>
        <mc:Fallback xmlns="">
          <p:sp>
            <p:nvSpPr>
              <p:cNvPr id="161" name="CA1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CA1S1C"/>
              <p:cNvSpPr/>
              <p:nvPr/>
            </p:nvSpPr>
            <p:spPr>
              <a:xfrm>
                <a:off x="762000" y="4978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 dirty="0">
                    <a:solidFill>
                      <a:srgbClr val="85754D"/>
                    </a:solidFill>
                  </a:rPr>
                  <a:t>3 · Masses (margins of P)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𝑟</m:t>
                      </m:r>
                      <m:r>
                        <a:rPr sz="1600">
                          <a:latin typeface="Cambria Math"/>
                        </a:rPr>
                        <m:t> = (</m:t>
                      </m:r>
                      <m:r>
                        <a:rPr sz="1600" b="1">
                          <a:solidFill>
                            <a:srgbClr val="4B2E83"/>
                          </a:solidFill>
                          <a:latin typeface="Cambria Math"/>
                        </a:rPr>
                        <m:t>0.40</m:t>
                      </m:r>
                      <m:r>
                        <a:rPr sz="1600">
                          <a:latin typeface="Cambria Math"/>
                        </a:rPr>
                        <m:t>, </m:t>
                      </m:r>
                      <m:r>
                        <a:rPr sz="1600" b="1">
                          <a:solidFill>
                            <a:srgbClr val="D1578A"/>
                          </a:solidFill>
                          <a:latin typeface="Cambria Math"/>
                        </a:rPr>
                        <m:t>0.60</m:t>
                      </m:r>
                      <m:r>
                        <a:rPr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𝑐</m:t>
                      </m:r>
                      <m:r>
                        <a:rPr sz="1600">
                          <a:latin typeface="Cambria Math"/>
                        </a:rPr>
                        <m:t> = (</m:t>
                      </m:r>
                      <m:r>
                        <a:rPr sz="1600" b="1">
                          <a:solidFill>
                            <a:srgbClr val="00A7B5"/>
                          </a:solidFill>
                          <a:latin typeface="Cambria Math"/>
                        </a:rPr>
                        <m:t>0.40</m:t>
                      </m:r>
                      <m:r>
                        <a:rPr sz="1000" b="1">
                          <a:solidFill>
                            <a:srgbClr val="00A7B5"/>
                          </a:solidFill>
                          <a:latin typeface="Cambria Math"/>
                        </a:rPr>
                        <m:t>■</m:t>
                      </m:r>
                      <m:r>
                        <a:rPr sz="1600">
                          <a:latin typeface="Cambria Math"/>
                        </a:rPr>
                        <m:t>, </m:t>
                      </m:r>
                      <m:r>
                        <a:rPr sz="1600" b="1">
                          <a:solidFill>
                            <a:srgbClr val="5C9A2E"/>
                          </a:solidFill>
                          <a:latin typeface="Cambria Math"/>
                        </a:rPr>
                        <m:t>0.60</m:t>
                      </m:r>
                      <m:r>
                        <a:rPr sz="1000" b="1">
                          <a:solidFill>
                            <a:srgbClr val="5C9A2E"/>
                          </a:solidFill>
                          <a:latin typeface="Cambria Math"/>
                        </a:rPr>
                        <m:t>■</m:t>
                      </m:r>
                      <m:r>
                        <a:rPr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2" name="CA1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78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34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2: Expected Counts &amp; χ²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2 /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1S2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Expected counts under independence   Eᵢⱼ = (rowᵢ · colⱼ) / 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𝐸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 E₁₁ = 40·40 / 100 = 16,   E₂₂ = 60·60 / 100 = 36</a:t>
                </a:r>
              </a:p>
            </p:txBody>
          </p:sp>
        </mc:Choice>
        <mc:Fallback xmlns="">
          <p:sp>
            <p:nvSpPr>
              <p:cNvPr id="160" name="CA1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1S2B"/>
              <p:cNvSpPr/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Chi-square statistic   χ² = Σ (O − E)² / 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500">
                          <a:latin typeface="Cambria Math"/>
                        </a:rPr>
                        <m:t>𝜒</m:t>
                      </m:r>
                      <m:r>
                        <a:rPr sz="1500">
                          <a:latin typeface="Cambria Math"/>
                        </a:rPr>
                        <m:t>² = (30−16)²/16 + (10−24)²/24 + (10−24)²/24 + (50−36)²/36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= 12.25 + 8.17 + 8.17 + 5.44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1" name="CA1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2C"/>
          <p:cNvSpPr/>
          <p:nvPr/>
        </p:nvSpPr>
        <p:spPr>
          <a:xfrm>
            <a:off x="762000" y="5511800"/>
            <a:ext cx="10668000" cy="939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Result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χ² = 34.03</a:t>
            </a:r>
          </a:p>
        </p:txBody>
      </p:sp>
    </p:spTree>
    <p:extLst>
      <p:ext uri="{BB962C8B-B14F-4D97-AF65-F5344CB8AC3E}">
        <p14:creationId xmlns:p14="http://schemas.microsoft.com/office/powerpoint/2010/main" val="421090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3: Total Inertia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3 /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1S3A"/>
              <p:cNvSpPr/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inertia  =  χ² / 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>
                          <a:latin typeface="Cambria Math"/>
                        </a:rPr>
                        <m:t>𝛷</m:t>
                      </m:r>
                      <m:r>
                        <a:rPr sz="1700">
                          <a:latin typeface="Cambria Math"/>
                        </a:rPr>
                        <m:t>² = </m:t>
                      </m:r>
                      <m:r>
                        <a:rPr sz="1700">
                          <a:latin typeface="Cambria Math"/>
                        </a:rPr>
                        <m:t>𝜒</m:t>
                      </m:r>
                      <m:r>
                        <a:rPr sz="1700">
                          <a:latin typeface="Cambria Math"/>
                        </a:rPr>
                        <m:t>² / </m:t>
                      </m:r>
                      <m:r>
                        <a:rPr sz="1700">
                          <a:latin typeface="Cambria Math"/>
                        </a:rPr>
                        <m:t>𝑛</m:t>
                      </m:r>
                      <m:r>
                        <a:rPr sz="1700">
                          <a:latin typeface="Cambria Math"/>
                        </a:rPr>
                        <m:t> = 34.03 / 100 = 0.3403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CA1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1S3B"/>
              <p:cNvSpPr/>
              <p:nvPr/>
            </p:nvSpPr>
            <p:spPr>
              <a:xfrm>
                <a:off x="762000" y="3200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How many dimensions?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𝐾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𝑚𝑖𝑛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− 1, </m:t>
                      </m:r>
                      <m:r>
                        <a:rPr sz="1600">
                          <a:latin typeface="Cambria Math"/>
                        </a:rPr>
                        <m:t>𝐽</m:t>
                      </m:r>
                      <m:r>
                        <a:rPr sz="1600">
                          <a:latin typeface="Cambria Math"/>
                        </a:rPr>
                        <m:t> − 1) = </m:t>
                      </m:r>
                      <m:r>
                        <a:rPr sz="1600">
                          <a:latin typeface="Cambria Math"/>
                        </a:rPr>
                        <m:t>𝑚𝑖𝑛</m:t>
                      </m:r>
                      <m:r>
                        <a:rPr sz="1600">
                          <a:latin typeface="Cambria Math"/>
                        </a:rPr>
                        <m:t>(1, 1) = 1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a 2×2 table needs only one axis — it captures 100% of the inertia</a:t>
                </a:r>
              </a:p>
            </p:txBody>
          </p:sp>
        </mc:Choice>
        <mc:Fallback xmlns="">
          <p:sp>
            <p:nvSpPr>
              <p:cNvPr id="161" name="CA1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00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CA1S3C"/>
              <p:cNvSpPr/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Interpretation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>
                          <a:latin typeface="Cambria Math"/>
                        </a:rPr>
                        <m:t>√</m:t>
                      </m:r>
                      <m:r>
                        <a:rPr sz="1700">
                          <a:latin typeface="Cambria Math"/>
                        </a:rPr>
                        <m:t>𝛷</m:t>
                      </m:r>
                      <m:r>
                        <a:rPr sz="1700">
                          <a:latin typeface="Cambria Math"/>
                        </a:rPr>
                        <m:t>² = √0.3403 = 0.583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333333"/>
                    </a:solidFill>
                  </a:rPr>
                  <a:t>the single axis carries 100% of the inertia · 0.583 is the row–column score correlation, a strong Hair–Eye association</a:t>
                </a:r>
              </a:p>
            </p:txBody>
          </p:sp>
        </mc:Choice>
        <mc:Fallback xmlns="">
          <p:sp>
            <p:nvSpPr>
              <p:cNvPr id="162" name="CA1S3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334000"/>
                <a:ext cx="10668000" cy="1092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14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4: Standardized Residuals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4 /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1S4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 dirty="0">
                    <a:solidFill>
                      <a:srgbClr val="4B2E83"/>
                    </a:solidFill>
                  </a:rPr>
                  <a:t>1 · Standardized residual  Sᵢⱼ = (pᵢⱼ − </a:t>
                </a:r>
                <a:r>
                  <a:rPr lang="en-US" sz="1400" b="1" dirty="0" err="1">
                    <a:solidFill>
                      <a:srgbClr val="4B2E83"/>
                    </a:solidFill>
                  </a:rPr>
                  <a:t>rᵢc</a:t>
                </a:r>
                <a:r>
                  <a:rPr lang="en-US" sz="1400" b="1" dirty="0">
                    <a:solidFill>
                      <a:srgbClr val="4B2E83"/>
                    </a:solidFill>
                  </a:rPr>
                  <a:t>ⱼ) / √(</a:t>
                </a:r>
                <a:r>
                  <a:rPr lang="en-US" sz="1400" b="1" dirty="0" err="1">
                    <a:solidFill>
                      <a:srgbClr val="4B2E83"/>
                    </a:solidFill>
                  </a:rPr>
                  <a:t>rᵢc</a:t>
                </a:r>
                <a:r>
                  <a:rPr lang="en-US" sz="1400" b="1" dirty="0">
                    <a:solidFill>
                      <a:srgbClr val="4B2E83"/>
                    </a:solidFill>
                  </a:rPr>
                  <a:t>ⱼ)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𝑟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</m:t>
                      </m:r>
                      <m:r>
                        <a:rPr sz="1600">
                          <a:latin typeface="Cambria Math"/>
                        </a:rPr>
                        <m:t>ᵀ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0.16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0.24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0.24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0.36</m:t>
                                </m:r>
                              </m:e>
                            </m:mr>
                          </m:m>
                        </m:e>
                      </m:d>
                      <m:r>
                        <a:rPr sz="1400">
                          <a:latin typeface="Cambria Math"/>
                        </a:rPr>
                        <m:t>    (</m:t>
                      </m:r>
                      <m:r>
                        <a:rPr sz="1400">
                          <a:latin typeface="Cambria Math"/>
                        </a:rPr>
                        <m:t>𝑡ℎ𝑒</m:t>
                      </m:r>
                      <m:r>
                        <a:rPr sz="1400">
                          <a:latin typeface="Cambria Math"/>
                        </a:rPr>
                        <m:t> </m:t>
                      </m:r>
                      <m:r>
                        <a:rPr sz="1400">
                          <a:latin typeface="Cambria Math"/>
                        </a:rPr>
                        <m:t>𝑖𝑛𝑑𝑒𝑝𝑒𝑛𝑑𝑒𝑛𝑐𝑒</m:t>
                      </m:r>
                      <m:r>
                        <a:rPr sz="1400">
                          <a:latin typeface="Cambria Math"/>
                        </a:rPr>
                        <m:t> </m:t>
                      </m:r>
                      <m:r>
                        <a:rPr sz="1400">
                          <a:latin typeface="Cambria Math"/>
                        </a:rPr>
                        <m:t>𝑚𝑜𝑑𝑒𝑙</m:t>
                      </m:r>
                      <m:r>
                        <a:rPr sz="1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0" name="CA1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1S4B"/>
              <p:cNvSpPr/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 dirty="0">
                    <a:solidFill>
                      <a:srgbClr val="00A7B5"/>
                    </a:solidFill>
                  </a:rPr>
                  <a:t>2 · Compute each entry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ᵀ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ᵀ</m:t>
                              </m:r>
                            </m:e>
                          </m:ra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0.30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0.10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0.10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0.50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0.16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0.24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0.24</m:t>
                                    </m:r>
                                  </m: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0.36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0.16</m:t>
                                        </m:r>
                                      </m:e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0.24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0.24</m:t>
                                        </m:r>
                                      </m:e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0.36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rad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0.350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−0.286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−0.286</m:t>
                                </m:r>
                              </m:e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0.233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i="1" dirty="0">
                  <a:latin typeface="Cambria Math" panose="02040503050406030204" pitchFamily="18" charset="0"/>
                </a:endParaRPr>
              </a:p>
              <a:p>
                <a:pPr algn="ctr"/>
                <a:endParaRPr lang="ar-AE" sz="1400" i="1" dirty="0">
                  <a:solidFill>
                    <a:srgbClr val="85754D"/>
                  </a:solidFill>
                </a:endParaRPr>
              </a:p>
              <a:p>
                <a:pPr algn="ctr"/>
                <a:r>
                  <a:rPr lang="en-US" sz="1400" i="1" dirty="0">
                    <a:solidFill>
                      <a:srgbClr val="85754D"/>
                    </a:solidFill>
                  </a:rPr>
                  <a:t>e.g.  S₁₁ = (0.30 − 0.16) / √0.16 = 0.14 / 0.40 = 0.350</a:t>
                </a:r>
              </a:p>
            </p:txBody>
          </p:sp>
        </mc:Choice>
        <mc:Fallback xmlns="">
          <p:sp>
            <p:nvSpPr>
              <p:cNvPr id="161" name="CA1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 b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4C"/>
          <p:cNvSpPr/>
          <p:nvPr/>
        </p:nvSpPr>
        <p:spPr>
          <a:xfrm>
            <a:off x="762000" y="5511800"/>
            <a:ext cx="10668000" cy="939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 dirty="0">
                <a:solidFill>
                  <a:srgbClr val="85754D"/>
                </a:solidFill>
              </a:rPr>
              <a:t>3 · Check</a:t>
            </a:r>
          </a:p>
          <a:p>
            <a:pPr algn="ctr"/>
            <a:r>
              <a:rPr lang="en-US" sz="1600" b="1" dirty="0" err="1">
                <a:solidFill>
                  <a:srgbClr val="7AB648"/>
                </a:solidFill>
              </a:rPr>
              <a:t>Σ</a:t>
            </a:r>
            <a:r>
              <a:rPr lang="en-US" sz="1600" b="1" dirty="0">
                <a:solidFill>
                  <a:srgbClr val="7AB648"/>
                </a:solidFill>
              </a:rPr>
              <a:t> Sᵢⱼ² = 0.350² + 0.286² + 0.286² + 0.233² = 0.340 = Φ²   ✓</a:t>
            </a:r>
          </a:p>
        </p:txBody>
      </p:sp>
    </p:spTree>
    <p:extLst>
      <p:ext uri="{BB962C8B-B14F-4D97-AF65-F5344CB8AC3E}">
        <p14:creationId xmlns:p14="http://schemas.microsoft.com/office/powerpoint/2010/main" val="394265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5: Coordinates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 /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1S5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One axis from the SVD of S   (S = α₁ u₁ v₁ᵀ)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𝛼</m:t>
                      </m:r>
                      <m:r>
                        <a:rPr sz="1600">
                          <a:latin typeface="Cambria Math"/>
                        </a:rPr>
                        <m:t>₁ = √0.340 = 0.583     →     </m:t>
                      </m:r>
                      <m:r>
                        <a:rPr sz="1600">
                          <a:latin typeface="Cambria Math"/>
                        </a:rPr>
                        <m:t>𝑝𝑟𝑖𝑛𝑐𝑖𝑝𝑎𝑙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𝑐𝑜𝑜𝑟𝑑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𝛼</m:t>
                      </m:r>
                      <m:r>
                        <a:rPr sz="1600">
                          <a:latin typeface="Cambria Math"/>
                        </a:rPr>
                        <m:t>₁ × (</m:t>
                      </m:r>
                      <m:r>
                        <a:rPr sz="1600">
                          <a:latin typeface="Cambria Math"/>
                        </a:rPr>
                        <m:t>𝑠𝑡𝑎𝑛𝑑𝑎𝑟𝑑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𝑐𝑜𝑜𝑟𝑑</m:t>
                      </m:r>
                      <m:r>
                        <a:rPr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 has rank 1, so a single axis reproduces it exactly</a:t>
                </a:r>
              </a:p>
            </p:txBody>
          </p:sp>
        </mc:Choice>
        <mc:Fallback xmlns="">
          <p:sp>
            <p:nvSpPr>
              <p:cNvPr id="160" name="CA1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Principal coordinates on dimension 1</a:t>
            </a:r>
          </a:p>
          <a:p>
            <a:pPr algn="ctr"/>
            <a:r>
              <a:rPr lang="en-US" sz="1700" b="1">
                <a:solidFill>
                  <a:srgbClr val="4B2E83"/>
                </a:solidFill>
              </a:rPr>
              <a:t>Rows:    Fair = +0.714        Dark = −0.476</a:t>
            </a:r>
          </a:p>
          <a:p>
            <a:pPr algn="ctr"/>
            <a:r>
              <a:rPr lang="en-US" sz="1700" b="1">
                <a:solidFill>
                  <a:srgbClr val="D1578A"/>
                </a:solidFill>
              </a:rPr>
              <a:t>Columns:    Blue = +0.714        Brown = −0.476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Sanity checks</a:t>
            </a:r>
          </a:p>
          <a:p>
            <a:pPr algn="ctr"/>
            <a:r>
              <a:rPr lang="en-US" sz="1450" b="0">
                <a:solidFill>
                  <a:srgbClr val="333333"/>
                </a:solidFill>
              </a:rPr>
              <a:t>weighted mean = 0.4(+0.714) + 0.6(−0.476) = 0   ✓      inertia = 0.4(0.714²) + 0.6(0.476²) = 0.340 = λ₁   ✓</a:t>
            </a:r>
          </a:p>
        </p:txBody>
      </p:sp>
    </p:spTree>
    <p:extLst>
      <p:ext uri="{BB962C8B-B14F-4D97-AF65-F5344CB8AC3E}">
        <p14:creationId xmlns:p14="http://schemas.microsoft.com/office/powerpoint/2010/main" val="288078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5a: SVD of 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1S5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The standardised residual matrix S (from Step 4)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0.350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−0.286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−0.286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0.233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CA1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Singular value α₁ = √(Σ Sᵢⱼ²)</a:t>
            </a:r>
          </a:p>
          <a:p>
            <a:pPr algn="ctr"/>
            <a:r>
              <a:rPr lang="en-US" sz="1500" b="0" i="0">
                <a:solidFill>
                  <a:srgbClr val="333333"/>
                </a:solidFill>
              </a:rPr>
              <a:t>Σ Sᵢⱼ² = 0.350² + (−0.286)² + (−0.286)² + 0.233²</a:t>
            </a:r>
          </a:p>
          <a:p>
            <a:pPr algn="ctr"/>
            <a:r>
              <a:rPr lang="en-US" sz="1500" b="0" i="0">
                <a:solidFill>
                  <a:srgbClr val="333333"/>
                </a:solidFill>
              </a:rPr>
              <a:t>= 0.1225 + 0.0818 + 0.0818 + 0.0544 = 0.3403</a:t>
            </a:r>
          </a:p>
          <a:p>
            <a:pPr algn="ctr"/>
            <a:r>
              <a:rPr lang="en-US" sz="1600" b="1" i="0">
                <a:solidFill>
                  <a:srgbClr val="4B2E83"/>
                </a:solidFill>
              </a:rPr>
              <a:t>α₁ = √0.3403 = 0.583        λ₁ = α₁² = 0.340 = Φ²   (100% of inertia)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Singular vectors (rank 1, so only one pair)</a:t>
            </a:r>
          </a:p>
          <a:p>
            <a:pPr algn="ctr"/>
            <a:r>
              <a:rPr lang="en-US" sz="1600" b="1" i="0">
                <a:solidFill>
                  <a:srgbClr val="D1578A"/>
                </a:solidFill>
              </a:rPr>
              <a:t>u₁ = (+0.774, −0.632)        v₁ = (+0.774, −0.632)</a:t>
            </a:r>
          </a:p>
          <a:p>
            <a:pPr algn="ctr"/>
            <a:r>
              <a:rPr lang="en-US" sz="1400" b="0" i="1">
                <a:solidFill>
                  <a:srgbClr val="333333"/>
                </a:solidFill>
              </a:rPr>
              <a:t>check: α₁ u₁₁ v₁₁ = 0.583 × 0.774 × 0.774 = 0.350 = S₁₁   ✓</a:t>
            </a:r>
          </a:p>
        </p:txBody>
      </p:sp>
    </p:spTree>
    <p:extLst>
      <p:ext uri="{BB962C8B-B14F-4D97-AF65-F5344CB8AC3E}">
        <p14:creationId xmlns:p14="http://schemas.microsoft.com/office/powerpoint/2010/main" val="217470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5b: Standard Coordinates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5b</a:t>
            </a:r>
          </a:p>
        </p:txBody>
      </p:sp>
      <p:sp>
        <p:nvSpPr>
          <p:cNvPr id="160" name="CA1S5A"/>
          <p:cNvSpPr/>
          <p:nvPr/>
        </p:nvSpPr>
        <p:spPr>
          <a:xfrm>
            <a:off x="762000" y="17018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Rows:  φ = u₁ ÷ √r      (divide each u by the square root of its row mass)</a:t>
            </a:r>
          </a:p>
          <a:p>
            <a:pPr algn="ctr"/>
            <a:r>
              <a:rPr lang="en-US" sz="1500" b="1" i="0">
                <a:solidFill>
                  <a:srgbClr val="4B2E83"/>
                </a:solidFill>
              </a:rPr>
              <a:t>Fair:   φ₁ = +0.774 / √0.40 = +0.774 / 0.632 = +1.224</a:t>
            </a:r>
          </a:p>
          <a:p>
            <a:pPr algn="ctr"/>
            <a:r>
              <a:rPr lang="en-US" sz="1500" b="1" i="0">
                <a:solidFill>
                  <a:srgbClr val="4B2E83"/>
                </a:solidFill>
              </a:rPr>
              <a:t>Dark:   φ₂ = −0.632 / √0.60 = −0.632 / 0.775 = −0.816</a:t>
            </a:r>
          </a:p>
        </p:txBody>
      </p:sp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Columns:  ψ = v₁ ÷ √c      (same arithmetic with the column masses)</a:t>
            </a:r>
          </a:p>
          <a:p>
            <a:pPr algn="ctr"/>
            <a:r>
              <a:rPr lang="en-US" sz="1500" b="1" i="0">
                <a:solidFill>
                  <a:srgbClr val="D1578A"/>
                </a:solidFill>
              </a:rPr>
              <a:t>Blue:    ψ₁ = +0.774 / √0.40 = +0.774 / 0.632 = +1.224</a:t>
            </a:r>
          </a:p>
          <a:p>
            <a:pPr algn="ctr"/>
            <a:r>
              <a:rPr lang="en-US" sz="1500" b="1" i="0">
                <a:solidFill>
                  <a:srgbClr val="D1578A"/>
                </a:solidFill>
              </a:rPr>
              <a:t>Brown:   ψ₂ = −0.632 / √0.60 = −0.632 / 0.775 = −0.816</a:t>
            </a:r>
          </a:p>
          <a:p>
            <a:pPr algn="ctr"/>
            <a:r>
              <a:rPr lang="en-US" sz="1400" b="0" i="1">
                <a:solidFill>
                  <a:srgbClr val="85754D"/>
                </a:solidFill>
              </a:rPr>
              <a:t>rows and columns coincide here because P is symmetric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Check — standard coordinates are centred and scaled to 1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mean:  0.4(+1.224) + 0.6(−0.816) = 0.490 − 0.490 = 0   ✓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variance:  0.4(1.224²) + 0.6(0.816²) = 0.599 + 0.400 = 1.000   ✓</a:t>
            </a:r>
          </a:p>
        </p:txBody>
      </p:sp>
    </p:spTree>
    <p:extLst>
      <p:ext uri="{BB962C8B-B14F-4D97-AF65-F5344CB8AC3E}">
        <p14:creationId xmlns:p14="http://schemas.microsoft.com/office/powerpoint/2010/main" val="167559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5c: Principal Coordinates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5c</a:t>
            </a:r>
          </a:p>
        </p:txBody>
      </p:sp>
      <p:sp>
        <p:nvSpPr>
          <p:cNvPr id="160" name="CA1S5A"/>
          <p:cNvSpPr/>
          <p:nvPr/>
        </p:nvSpPr>
        <p:spPr>
          <a:xfrm>
            <a:off x="762000" y="17018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Rows:  F = α₁ × φ      (stretch the standard coordinates by the singular value)</a:t>
            </a:r>
          </a:p>
          <a:p>
            <a:pPr algn="ctr"/>
            <a:r>
              <a:rPr lang="en-US" sz="1600" b="1" i="0">
                <a:solidFill>
                  <a:srgbClr val="4B2E83"/>
                </a:solidFill>
              </a:rPr>
              <a:t>Fair:   F₁ = 0.583 × (+1.224) = +0.714</a:t>
            </a:r>
          </a:p>
          <a:p>
            <a:pPr algn="ctr"/>
            <a:r>
              <a:rPr lang="en-US" sz="1600" b="1" i="0">
                <a:solidFill>
                  <a:srgbClr val="4B2E83"/>
                </a:solidFill>
              </a:rPr>
              <a:t>Dark:   F₂ = 0.583 × (−0.816) = −0.476</a:t>
            </a:r>
          </a:p>
        </p:txBody>
      </p:sp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Columns:  G = α₁ × ψ</a:t>
            </a:r>
          </a:p>
          <a:p>
            <a:pPr algn="ctr"/>
            <a:r>
              <a:rPr lang="en-US" sz="1600" b="1" i="0">
                <a:solidFill>
                  <a:srgbClr val="D1578A"/>
                </a:solidFill>
              </a:rPr>
              <a:t>Blue:    G₁ = 0.583 × (+1.224) = +0.714</a:t>
            </a:r>
          </a:p>
          <a:p>
            <a:pPr algn="ctr"/>
            <a:r>
              <a:rPr lang="en-US" sz="1600" b="1" i="0">
                <a:solidFill>
                  <a:srgbClr val="D1578A"/>
                </a:solidFill>
              </a:rPr>
              <a:t>Brown:   G₂ = 0.583 × (−0.816) = −0.476</a:t>
            </a:r>
          </a:p>
          <a:p>
            <a:pPr algn="ctr"/>
            <a:r>
              <a:rPr lang="en-US" sz="1400" b="0" i="1">
                <a:solidFill>
                  <a:srgbClr val="85754D"/>
                </a:solidFill>
              </a:rPr>
              <a:t>these are the numbers plotted on the CA map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Reading the axis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Fair hair and Blue eyes sit together on the positive side;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Dark hair and Brown eyes on the negative side — the association the χ² test detected.</a:t>
            </a:r>
          </a:p>
        </p:txBody>
      </p:sp>
    </p:spTree>
    <p:extLst>
      <p:ext uri="{BB962C8B-B14F-4D97-AF65-F5344CB8AC3E}">
        <p14:creationId xmlns:p14="http://schemas.microsoft.com/office/powerpoint/2010/main" val="178059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5d: Cross-check via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5d</a:t>
            </a:r>
          </a:p>
        </p:txBody>
      </p:sp>
      <p:sp>
        <p:nvSpPr>
          <p:cNvPr id="160" name="CA1S5A"/>
          <p:cNvSpPr/>
          <p:nvPr/>
        </p:nvSpPr>
        <p:spPr>
          <a:xfrm>
            <a:off x="762000" y="17018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Row profiles (each row of N divided by its own total)</a:t>
            </a:r>
          </a:p>
          <a:p>
            <a:pPr algn="ctr"/>
            <a:r>
              <a:rPr lang="en-US" sz="1500" b="1" i="0">
                <a:solidFill>
                  <a:srgbClr val="4B2E83"/>
                </a:solidFill>
              </a:rPr>
              <a:t>Fair = (30/40, 10/40) = (0.750, 0.250)        Dark = (10/60, 50/60) = (0.167, 0.833)</a:t>
            </a:r>
          </a:p>
          <a:p>
            <a:pPr algn="ctr"/>
            <a:r>
              <a:rPr lang="en-US" sz="1400" b="0" i="1">
                <a:solidFill>
                  <a:srgbClr val="85754D"/>
                </a:solidFill>
              </a:rPr>
              <a:t>centroid = column masses c = (0.400, 0.600)</a:t>
            </a:r>
          </a:p>
        </p:txBody>
      </p:sp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χ² distance of each profile from the centroid:  d² = Σ (profileⱼ − cⱼ)² / cⱼ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Fair:   (0.750−0.400)²/0.400 + (0.250−0.600)²/0.600 = 0.3063 + 0.2042 = 0.5104   →   d = 0.714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Dark:   (0.167−0.400)²/0.400 + (0.833−0.600)²/0.600 = 0.1361 + 0.0907 = 0.2269   →   d = 0.476</a:t>
            </a:r>
          </a:p>
          <a:p>
            <a:pPr algn="ctr"/>
            <a:r>
              <a:rPr lang="en-US" sz="1500" b="1" i="0">
                <a:solidFill>
                  <a:srgbClr val="5C9A2E"/>
                </a:solidFill>
              </a:rPr>
              <a:t>identical to the principal coordinates from Step 5c   ✓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Inertia decomposition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Fair: 0.40 × 0.5104 = 0.204   (60%)        Dark: 0.60 × 0.2269 = 0.136   (40%)</a:t>
            </a:r>
          </a:p>
          <a:p>
            <a:pPr algn="ctr"/>
            <a:r>
              <a:rPr lang="en-US" sz="1500" b="1" i="0">
                <a:solidFill>
                  <a:srgbClr val="5C9A2E"/>
                </a:solidFill>
              </a:rPr>
              <a:t>total = 0.204 + 0.136 = 0.340 = Φ²   ✓</a:t>
            </a:r>
          </a:p>
        </p:txBody>
      </p:sp>
    </p:spTree>
    <p:extLst>
      <p:ext uri="{BB962C8B-B14F-4D97-AF65-F5344CB8AC3E}">
        <p14:creationId xmlns:p14="http://schemas.microsoft.com/office/powerpoint/2010/main" val="66852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5e: Final Verification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5e</a:t>
            </a:r>
          </a:p>
        </p:txBody>
      </p:sp>
      <p:sp>
        <p:nvSpPr>
          <p:cNvPr id="160" name="CA1S5A"/>
          <p:cNvSpPr/>
          <p:nvPr/>
        </p:nvSpPr>
        <p:spPr>
          <a:xfrm>
            <a:off x="762000" y="1701800"/>
            <a:ext cx="10668000" cy="1625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1 · Centroid — principal coordinates average to zero under the masses</a:t>
            </a:r>
          </a:p>
          <a:p>
            <a:pPr algn="ctr"/>
            <a:r>
              <a:rPr lang="en-US" sz="1500" b="1" i="0">
                <a:solidFill>
                  <a:srgbClr val="4B2E83"/>
                </a:solidFill>
              </a:rPr>
              <a:t>rows:      0.40(+0.714) + 0.60(−0.476) = 0.286 − 0.286 = 0   ✓</a:t>
            </a:r>
          </a:p>
          <a:p>
            <a:pPr algn="ctr"/>
            <a:r>
              <a:rPr lang="en-US" sz="1500" b="1" i="0">
                <a:solidFill>
                  <a:srgbClr val="D1578A"/>
                </a:solidFill>
              </a:rPr>
              <a:t>columns:   0.40(+0.714) + 0.60(−0.476) = 0.286 − 0.286 = 0   ✓</a:t>
            </a:r>
          </a:p>
        </p:txBody>
      </p:sp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Inertia — weighted sum of squared coordinates returns λ₁</a:t>
            </a:r>
          </a:p>
          <a:p>
            <a:pPr algn="ctr"/>
            <a:r>
              <a:rPr lang="en-US" sz="1500" b="0" i="0">
                <a:solidFill>
                  <a:srgbClr val="333333"/>
                </a:solidFill>
              </a:rPr>
              <a:t>0.40 × (0.714²) + 0.60 × (0.476²)</a:t>
            </a:r>
          </a:p>
          <a:p>
            <a:pPr algn="ctr"/>
            <a:r>
              <a:rPr lang="en-US" sz="1500" b="0" i="0">
                <a:solidFill>
                  <a:srgbClr val="333333"/>
                </a:solidFill>
              </a:rPr>
              <a:t>= 0.40 × 0.5098 + 0.60 × 0.2266 = 0.204 + 0.136 = 0.340</a:t>
            </a:r>
          </a:p>
          <a:p>
            <a:pPr algn="ctr"/>
            <a:r>
              <a:rPr lang="en-US" sz="1500" b="1" i="0">
                <a:solidFill>
                  <a:srgbClr val="5C9A2E"/>
                </a:solidFill>
              </a:rPr>
              <a:t>λ₁ = α₁² = 0.583² = 0.340 = Φ²   ✓   (dimension 1 explains 100%)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Summary of Step 5</a:t>
            </a:r>
          </a:p>
          <a:p>
            <a:pPr algn="ctr"/>
            <a:r>
              <a:rPr lang="en-US" sz="1400" b="0" i="0">
                <a:solidFill>
                  <a:srgbClr val="333333"/>
                </a:solidFill>
              </a:rPr>
              <a:t>α₁ = 0.583   ·   standard coords ±(1.224, −0.816)   ·   principal coords ±(0.714, −0.476)</a:t>
            </a:r>
          </a:p>
          <a:p>
            <a:pPr algn="ctr"/>
            <a:r>
              <a:rPr lang="en-US" sz="1400" b="0" i="1">
                <a:solidFill>
                  <a:srgbClr val="85754D"/>
                </a:solidFill>
              </a:rPr>
              <a:t>one axis, 100% of inertia, rows and columns identical because P is symmetric</a:t>
            </a:r>
          </a:p>
        </p:txBody>
      </p:sp>
    </p:spTree>
    <p:extLst>
      <p:ext uri="{BB962C8B-B14F-4D97-AF65-F5344CB8AC3E}">
        <p14:creationId xmlns:p14="http://schemas.microsoft.com/office/powerpoint/2010/main" val="73755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6: The Map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6 / 6</a:t>
            </a:r>
          </a:p>
        </p:txBody>
      </p:sp>
      <p:sp>
        <p:nvSpPr>
          <p:cNvPr id="160" name="CA1S6A"/>
          <p:cNvSpPr/>
          <p:nvPr/>
        </p:nvSpPr>
        <p:spPr>
          <a:xfrm>
            <a:off x="762000" y="1676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Dimension 1 explains 100% of the inertia</a:t>
            </a:r>
          </a:p>
          <a:p>
            <a:pPr algn="l">
              <a:spcBef>
                <a:spcPts val="300"/>
              </a:spcBef>
            </a:pPr>
            <a:endParaRPr lang="en-US" sz="1400" b="1">
              <a:solidFill>
                <a:srgbClr val="4B2E83"/>
              </a:solidFill>
            </a:endParaRPr>
          </a:p>
        </p:txBody>
      </p:sp>
      <p:sp>
        <p:nvSpPr>
          <p:cNvPr id="170" name="MapBg"/>
          <p:cNvSpPr/>
          <p:nvPr/>
        </p:nvSpPr>
        <p:spPr>
          <a:xfrm>
            <a:off x="762000" y="3175000"/>
            <a:ext cx="10668000" cy="3276600"/>
          </a:xfrm>
          <a:prstGeom prst="roundRect">
            <a:avLst>
              <a:gd name="adj" fmla="val 3000"/>
            </a:avLst>
          </a:prstGeom>
          <a:solidFill>
            <a:srgbClr val="FB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t171"/>
          <p:cNvSpPr txBox="1"/>
          <p:nvPr/>
        </p:nvSpPr>
        <p:spPr>
          <a:xfrm>
            <a:off x="1016000" y="3276600"/>
            <a:ext cx="6350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300" b="0">
                <a:solidFill>
                  <a:srgbClr val="85754D"/>
                </a:solidFill>
              </a:rPr>
              <a:t>rows = hair (purple)   ·   columns = eye (pink)</a:t>
            </a:r>
          </a:p>
        </p:txBody>
      </p:sp>
      <p:cxnSp>
        <p:nvCxnSpPr>
          <p:cNvPr id="172" name="ln172"/>
          <p:cNvCxnSpPr/>
          <p:nvPr/>
        </p:nvCxnSpPr>
        <p:spPr>
          <a:xfrm>
            <a:off x="2349500" y="4876800"/>
            <a:ext cx="7302500" cy="0"/>
          </a:xfrm>
          <a:prstGeom prst="straightConnector1">
            <a:avLst/>
          </a:prstGeom>
          <a:ln w="12700">
            <a:solidFill>
              <a:srgbClr val="9A9A9A"/>
            </a:solidFill>
            <a:headEnd type="triangle" w="med" len="med"/>
            <a:tailEnd type="triangle" w="med" len="med"/>
          </a:ln>
        </p:spPr>
      </p:cxnSp>
      <p:cxnSp>
        <p:nvCxnSpPr>
          <p:cNvPr id="173" name="ln173"/>
          <p:cNvCxnSpPr/>
          <p:nvPr/>
        </p:nvCxnSpPr>
        <p:spPr>
          <a:xfrm>
            <a:off x="5969000" y="4775200"/>
            <a:ext cx="0" cy="203200"/>
          </a:xfrm>
          <a:prstGeom prst="straightConnector1">
            <a:avLst/>
          </a:prstGeom>
          <a:ln w="9525">
            <a:solidFill>
              <a:srgbClr val="9A9A9A"/>
            </a:solidFill>
          </a:ln>
        </p:spPr>
      </p:cxnSp>
      <p:sp>
        <p:nvSpPr>
          <p:cNvPr id="174" name="t174"/>
          <p:cNvSpPr txBox="1"/>
          <p:nvPr/>
        </p:nvSpPr>
        <p:spPr>
          <a:xfrm>
            <a:off x="5765800" y="4927600"/>
            <a:ext cx="304800" cy="203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200" b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180" name="dot180"/>
          <p:cNvSpPr/>
          <p:nvPr/>
        </p:nvSpPr>
        <p:spPr>
          <a:xfrm>
            <a:off x="9144000" y="4381500"/>
            <a:ext cx="177800" cy="177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1" name="t181"/>
          <p:cNvSpPr txBox="1"/>
          <p:nvPr/>
        </p:nvSpPr>
        <p:spPr>
          <a:xfrm>
            <a:off x="8470900" y="40894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4B2E83"/>
                </a:solidFill>
              </a:rPr>
              <a:t>Fair  +0.71</a:t>
            </a:r>
          </a:p>
        </p:txBody>
      </p:sp>
      <p:sp>
        <p:nvSpPr>
          <p:cNvPr id="182" name="dot182"/>
          <p:cNvSpPr/>
          <p:nvPr/>
        </p:nvSpPr>
        <p:spPr>
          <a:xfrm>
            <a:off x="3708400" y="4381500"/>
            <a:ext cx="177800" cy="177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3" name="t183"/>
          <p:cNvSpPr txBox="1"/>
          <p:nvPr/>
        </p:nvSpPr>
        <p:spPr>
          <a:xfrm>
            <a:off x="3035300" y="40894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4B2E83"/>
                </a:solidFill>
              </a:rPr>
              <a:t>Dark  −0.48</a:t>
            </a:r>
          </a:p>
        </p:txBody>
      </p:sp>
      <p:sp>
        <p:nvSpPr>
          <p:cNvPr id="184" name="dot184"/>
          <p:cNvSpPr/>
          <p:nvPr/>
        </p:nvSpPr>
        <p:spPr>
          <a:xfrm>
            <a:off x="9144000" y="5194300"/>
            <a:ext cx="177800" cy="1778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5" name="t185"/>
          <p:cNvSpPr txBox="1"/>
          <p:nvPr/>
        </p:nvSpPr>
        <p:spPr>
          <a:xfrm>
            <a:off x="8470900" y="53848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D1578A"/>
                </a:solidFill>
              </a:rPr>
              <a:t>Blue  +0.71</a:t>
            </a:r>
          </a:p>
        </p:txBody>
      </p:sp>
      <p:sp>
        <p:nvSpPr>
          <p:cNvPr id="186" name="dot186"/>
          <p:cNvSpPr/>
          <p:nvPr/>
        </p:nvSpPr>
        <p:spPr>
          <a:xfrm>
            <a:off x="3708400" y="5194300"/>
            <a:ext cx="177800" cy="1778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7" name="t187"/>
          <p:cNvSpPr txBox="1"/>
          <p:nvPr/>
        </p:nvSpPr>
        <p:spPr>
          <a:xfrm>
            <a:off x="3035300" y="53848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D1578A"/>
                </a:solidFill>
              </a:rPr>
              <a:t>Brown  −0.48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3810000" y="5969000"/>
            <a:ext cx="4572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333333"/>
                </a:solidFill>
              </a:rPr>
              <a:t>Dimension 1  —  100% of inertia</a:t>
            </a:r>
          </a:p>
        </p:txBody>
      </p:sp>
    </p:spTree>
    <p:extLst>
      <p:ext uri="{BB962C8B-B14F-4D97-AF65-F5344CB8AC3E}">
        <p14:creationId xmlns:p14="http://schemas.microsoft.com/office/powerpoint/2010/main" val="150609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70" grpId="0" animBg="1"/>
      <p:bldP spid="171" grpId="0"/>
      <p:bldP spid="172" grpId="0" animBg="1"/>
      <p:bldP spid="173" grpId="0" animBg="1"/>
      <p:bldP spid="174" grpId="0"/>
      <p:bldP spid="180" grpId="0" animBg="1"/>
      <p:bldP spid="181" grpId="0"/>
      <p:bldP spid="182" grpId="0" animBg="1"/>
      <p:bldP spid="183" grpId="0"/>
      <p:bldP spid="184" grpId="0" animBg="1"/>
      <p:bldP spid="185" grpId="0"/>
      <p:bldP spid="186" grpId="0" animBg="1"/>
      <p:bldP spid="187" grpId="0"/>
      <p:bldP spid="190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1: Table &amp; Row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1 /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2S1A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Contingency table  N   (2 rows × 3 columns A, B, C)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𝑁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 totals 100, 100 · column totals 60, 60, 80 · grand total n = 200</a:t>
                </a:r>
              </a:p>
            </p:txBody>
          </p:sp>
        </mc:Choice>
        <mc:Fallback xmlns="">
          <p:sp>
            <p:nvSpPr>
              <p:cNvPr id="160" name="CA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2S1B"/>
              <p:cNvSpPr/>
              <p:nvPr/>
            </p:nvSpPr>
            <p:spPr>
              <a:xfrm>
                <a:off x="762000" y="3378200"/>
                <a:ext cx="10668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Row profiles  (each row ÷ its total)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₁ = (0.20, 0.30, 0.50)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₂ = (0.40, 0.30, 0.30)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1" name="CA2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CA2S1C"/>
              <p:cNvSpPr/>
              <p:nvPr/>
            </p:nvSpPr>
            <p:spPr>
              <a:xfrm>
                <a:off x="762000" y="5257800"/>
                <a:ext cx="10668000" cy="11938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Column masses  (column total ÷ n)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700" i="1">
                          <a:latin typeface="Cambria Math"/>
                        </a:rPr>
                        <m:t>𝑐</m:t>
                      </m:r>
                      <m:r>
                        <a:rPr sz="1650">
                          <a:latin typeface="Cambria Math"/>
                        </a:rPr>
                        <m:t> = (0.30, 0.30, 0.40)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2" name="CA2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257800"/>
                <a:ext cx="10668000" cy="1193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45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2: Profile Difference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2 /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2S2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Subtract the two row profiles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₁ − </m:t>
                      </m:r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₂ = (0.20, 0.30, 0.50) − (0.40, 0.30, 0.30)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CA2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2S2B"/>
          <p:cNvSpPr/>
          <p:nvPr/>
        </p:nvSpPr>
        <p:spPr>
          <a:xfrm>
            <a:off x="762000" y="3327400"/>
            <a:ext cx="10668000" cy="14224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Difference vector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= ( −0.20,   0,   +0.20 )</a:t>
            </a:r>
          </a:p>
        </p:txBody>
      </p:sp>
      <p:sp>
        <p:nvSpPr>
          <p:cNvPr id="162" name="CA2S2C"/>
          <p:cNvSpPr/>
          <p:nvPr/>
        </p:nvSpPr>
        <p:spPr>
          <a:xfrm>
            <a:off x="762000" y="4902200"/>
            <a:ext cx="10668000" cy="1549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Read it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The rows differ on categories A and C (by ∓0.20) and match exactly on B.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The χ² distance will weight each gap by 1 / cⱼ.</a:t>
            </a:r>
          </a:p>
        </p:txBody>
      </p:sp>
    </p:spTree>
    <p:extLst>
      <p:ext uri="{BB962C8B-B14F-4D97-AF65-F5344CB8AC3E}">
        <p14:creationId xmlns:p14="http://schemas.microsoft.com/office/powerpoint/2010/main" val="31156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3: The χ² 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3 /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2S3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χ²-distance between two row profiles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17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1700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700">
                          <a:latin typeface="Cambria Math"/>
                        </a:rPr>
                        <m:t>(1, 2) = </m:t>
                      </m:r>
                      <m:r>
                        <a:rPr sz="1800">
                          <a:latin typeface="Cambria Math"/>
                        </a:rPr>
                        <m:t>∑</m:t>
                      </m:r>
                      <m:r>
                        <a:rPr sz="1300" i="1">
                          <a:latin typeface="Cambria Math"/>
                        </a:rPr>
                        <m:t>ⱼ</m:t>
                      </m:r>
                      <m:r>
                        <a:rPr sz="160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sz="14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4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45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sz="145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₁ⱼ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₁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 − 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₂ⱼ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₂</m:t>
                                  </m:r>
                                </m:e>
                              </m:d>
                            </m:e>
                            <m:sup>
                              <m:r>
                                <a:rPr sz="10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  <m:r>
                            <a:rPr sz="1500" i="1">
                              <a:latin typeface="Cambria Math"/>
                            </a:rPr>
                            <m:t>ⱼ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CA2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2S3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Why divide by cⱼ ?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Dividing each squared gap by the column mass up-weights rare columns and down-weights common ones.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This is exactly what makes the geometry χ² — not ordinary Euclidean.</a:t>
            </a:r>
          </a:p>
        </p:txBody>
      </p:sp>
      <p:sp>
        <p:nvSpPr>
          <p:cNvPr id="162" name="CA2S3C"/>
          <p:cNvSpPr/>
          <p:nvPr/>
        </p:nvSpPr>
        <p:spPr>
          <a:xfrm>
            <a:off x="762000" y="5334000"/>
            <a:ext cx="10668000" cy="1117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Note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Both rows have equal total, so pᵢⱼ / rᵢ is just the row profile from Step 1.</a:t>
            </a:r>
          </a:p>
        </p:txBody>
      </p:sp>
    </p:spTree>
    <p:extLst>
      <p:ext uri="{BB962C8B-B14F-4D97-AF65-F5344CB8AC3E}">
        <p14:creationId xmlns:p14="http://schemas.microsoft.com/office/powerpoint/2010/main" val="330391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4: Compute the 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4 /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A2S4A"/>
              <p:cNvSpPr/>
              <p:nvPr/>
            </p:nvSpPr>
            <p:spPr>
              <a:xfrm>
                <a:off x="762000" y="1701800"/>
                <a:ext cx="10668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Plug in the difference (−0.20, 0, +0.20) and masses (0.30, 0.30, 0.40)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sz="16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(1,2) = </m:t>
                      </m:r>
                      <m:f>
                        <m:fPr>
                          <m:ctrlPr>
                            <a:rPr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3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35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sz="1350">
                                      <a:latin typeface="Cambria Math"/>
                                    </a:rPr>
                                    <m:t>−0.20</m:t>
                                  </m:r>
                                </m:e>
                              </m:d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0.30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35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1350">
                                  <a:latin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0.30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sz="13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13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135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sz="1350">
                                      <a:latin typeface="Cambria Math"/>
                                    </a:rPr>
                                    <m:t>0.20</m:t>
                                  </m:r>
                                </m:e>
                              </m:d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0.40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0" name="CA2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A2S4B"/>
              <p:cNvSpPr/>
              <p:nvPr/>
            </p:nvSpPr>
            <p:spPr>
              <a:xfrm>
                <a:off x="762000" y="34798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Evaluate each term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sz="1600">
                          <a:latin typeface="Cambria Math"/>
                        </a:rPr>
                        <m:t>= 0.04 / 0.30 + 0 + 0.04 / 0.40 = 0.1333 + 0 + 0.1000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1" name="CA2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798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2S4C"/>
          <p:cNvSpPr/>
          <p:nvPr/>
        </p:nvSpPr>
        <p:spPr>
          <a:xfrm>
            <a:off x="762000" y="5054600"/>
            <a:ext cx="10668000" cy="1397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Result</a:t>
            </a:r>
          </a:p>
          <a:p>
            <a:pPr algn="ctr"/>
            <a:r>
              <a:rPr lang="en-US" sz="1750" b="1">
                <a:solidFill>
                  <a:srgbClr val="7AB648"/>
                </a:solidFill>
              </a:rPr>
              <a:t>d²(1, 2) = 0.2333      →      d(1, 2) = √0.2333 = 0.483</a:t>
            </a:r>
          </a:p>
        </p:txBody>
      </p:sp>
    </p:spTree>
    <p:extLst>
      <p:ext uri="{BB962C8B-B14F-4D97-AF65-F5344CB8AC3E}">
        <p14:creationId xmlns:p14="http://schemas.microsoft.com/office/powerpoint/2010/main" val="17857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5: Interpretation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5 / 5</a:t>
            </a:r>
          </a:p>
        </p:txBody>
      </p:sp>
      <p:sp>
        <p:nvSpPr>
          <p:cNvPr id="160" name="CA2S5A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What the distance means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d = 0.483 measures how differently the two rows spread across categories A, B and C. The rows match on B but diverge on A and C, so their profiles are moderately far apart.</a:t>
            </a:r>
          </a:p>
        </p:txBody>
      </p:sp>
      <p:sp>
        <p:nvSpPr>
          <p:cNvPr id="161" name="CA2S5B"/>
          <p:cNvSpPr/>
          <p:nvPr/>
        </p:nvSpPr>
        <p:spPr>
          <a:xfrm>
            <a:off x="762000" y="33274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Why the χ² weighting matters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Because each squared gap is divided by the column mass cⱼ, a difference in a rare category contributes more than the same gap in a common one.</a:t>
            </a:r>
          </a:p>
        </p:txBody>
      </p:sp>
      <p:sp>
        <p:nvSpPr>
          <p:cNvPr id="162" name="CA2S5C"/>
          <p:cNvSpPr/>
          <p:nvPr/>
        </p:nvSpPr>
        <p:spPr>
          <a:xfrm>
            <a:off x="762000" y="4953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Connection to CA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These χ²-distances between profiles are exactly what a CA map reproduces as ordinary straight-line distances in a low-dimensional plot.</a:t>
            </a:r>
          </a:p>
        </p:txBody>
      </p:sp>
    </p:spTree>
    <p:extLst>
      <p:ext uri="{BB962C8B-B14F-4D97-AF65-F5344CB8AC3E}">
        <p14:creationId xmlns:p14="http://schemas.microsoft.com/office/powerpoint/2010/main" val="212766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1: The CA Output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1 / 5</a:t>
            </a:r>
          </a:p>
        </p:txBody>
      </p:sp>
      <p:sp>
        <p:nvSpPr>
          <p:cNvPr id="160" name="lblInertia"/>
          <p:cNvSpPr txBox="1"/>
          <p:nvPr/>
        </p:nvSpPr>
        <p:spPr>
          <a:xfrm>
            <a:off x="787400" y="1752600"/>
            <a:ext cx="5334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Inertia by dimension</a:t>
            </a:r>
          </a:p>
        </p:txBody>
      </p:sp>
      <p:sp>
        <p:nvSpPr>
          <p:cNvPr id="161" name="lblDiag"/>
          <p:cNvSpPr txBox="1"/>
          <p:nvPr/>
        </p:nvSpPr>
        <p:spPr>
          <a:xfrm>
            <a:off x="6502400" y="1752600"/>
            <a:ext cx="49276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Point diagnostics — Axis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6330D2-FFB5-AE4B-B4F0-2D352E82A6F0}"/>
              </a:ext>
            </a:extLst>
          </p:cNvPr>
          <p:cNvGraphicFramePr>
            <a:graphicFrameLocks noGrp="1"/>
          </p:cNvGraphicFramePr>
          <p:nvPr/>
        </p:nvGraphicFramePr>
        <p:xfrm>
          <a:off x="787400" y="2184400"/>
          <a:ext cx="533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89827954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64684240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21793542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20308388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λ (inertia)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cumul.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1276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61%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6741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35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32816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Total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0.343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100%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—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98981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4D5B8D-F5A8-FB4A-9FCA-F995D34B9D20}"/>
              </a:ext>
            </a:extLst>
          </p:cNvPr>
          <p:cNvGraphicFramePr>
            <a:graphicFrameLocks noGrp="1"/>
          </p:cNvGraphicFramePr>
          <p:nvPr/>
        </p:nvGraphicFramePr>
        <p:xfrm>
          <a:off x="6502400" y="2184400"/>
          <a:ext cx="4927599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533">
                  <a:extLst>
                    <a:ext uri="{9D8B030D-6E8A-4147-A177-3AD203B41FA5}">
                      <a16:colId xmlns:a16="http://schemas.microsoft.com/office/drawing/2014/main" val="2925039363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698649150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122041998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Point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CTR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cos²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4478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15179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94162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1236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66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602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/>
      <p:bldP spid="161" grpId="0"/>
      <p:bldGraphic spid="3" grpId="0">
        <p:bldAsOne/>
      </p:bldGraphic>
      <p:bldGraphic spid="8" grpId="0">
        <p:bldAsOne/>
      </p:bldGraphic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2: How Many Dimensions?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2 / 5</a:t>
            </a:r>
          </a:p>
        </p:txBody>
      </p:sp>
      <p:sp>
        <p:nvSpPr>
          <p:cNvPr id="160" name="cardDims"/>
          <p:cNvSpPr/>
          <p:nvPr/>
        </p:nvSpPr>
        <p:spPr>
          <a:xfrm>
            <a:off x="762000" y="1905000"/>
            <a:ext cx="5461000" cy="4521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Cumulative inertia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Dim 1:  61%</a:t>
            </a:r>
          </a:p>
          <a:p>
            <a:pPr algn="l">
              <a:spcBef>
                <a:spcPts val="200"/>
              </a:spcBef>
            </a:pPr>
            <a:r>
              <a:rPr lang="en-US" sz="1600" b="0">
                <a:solidFill>
                  <a:srgbClr val="333333"/>
                </a:solidFill>
              </a:rPr>
              <a:t>Dim 1 + Dim 2:  89%</a:t>
            </a:r>
          </a:p>
          <a:p>
            <a:pPr algn="l">
              <a:spcBef>
                <a:spcPts val="200"/>
              </a:spcBef>
            </a:pPr>
            <a:r>
              <a:rPr lang="en-US" sz="1600" b="0">
                <a:solidFill>
                  <a:srgbClr val="333333"/>
                </a:solidFill>
              </a:rPr>
              <a:t>Dim 1 + 2 + 3:  100%</a:t>
            </a:r>
          </a:p>
          <a:p>
            <a:pPr algn="l">
              <a:spcBef>
                <a:spcPts val="800"/>
              </a:spcBef>
            </a:pPr>
            <a:r>
              <a:rPr lang="en-US" sz="1500" b="1">
                <a:solidFill>
                  <a:srgbClr val="00A7B5"/>
                </a:solidFill>
              </a:rPr>
              <a:t>Decision</a:t>
            </a:r>
          </a:p>
          <a:p>
            <a:pPr algn="l">
              <a:spcBef>
                <a:spcPts val="300"/>
              </a:spcBef>
            </a:pPr>
            <a:r>
              <a:rPr lang="en-US" sz="1550" b="1">
                <a:solidFill>
                  <a:srgbClr val="7AB648"/>
                </a:solidFill>
              </a:rPr>
              <a:t>Two dimensions capture 89% of the inertia → a 2-D map is enough.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Dim 3 (11%) adds little and can be safely ignored.</a:t>
            </a:r>
          </a:p>
        </p:txBody>
      </p:sp>
      <p:graphicFrame>
        <p:nvGraphicFramePr>
          <p:cNvPr id="201" name="InertiaChart"/>
          <p:cNvGraphicFramePr/>
          <p:nvPr/>
        </p:nvGraphicFramePr>
        <p:xfrm>
          <a:off x="6604000" y="1905000"/>
          <a:ext cx="4826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208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Graphic spid="201" grpId="0">
        <p:bldAsOne/>
      </p:bldGraphic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3: Contributions (CTR)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3 / 5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CTR = how much each point builds the axis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Contributions to Axis 1:   A = 0.05    B = 0.48    C = 0.41    D = 0.06    (they sum to 1)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big contributors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B (0.48) and C (0.41) together make up 89% of Axis 1 — so Axis 1 is essentially the contrast between Region B and Region C.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The rest</a:t>
            </a:r>
          </a:p>
          <a:p>
            <a:pPr algn="l">
              <a:spcBef>
                <a:spcPts val="250"/>
              </a:spcBef>
            </a:pPr>
            <a:r>
              <a:rPr lang="en-US" sz="1550" b="0">
                <a:solidFill>
                  <a:srgbClr val="333333"/>
                </a:solidFill>
              </a:rPr>
              <a:t>A (0.05) and D (0.06) contribute almost nothing — they do not define this axis.</a:t>
            </a:r>
          </a:p>
        </p:txBody>
      </p:sp>
    </p:spTree>
    <p:extLst>
      <p:ext uri="{BB962C8B-B14F-4D97-AF65-F5344CB8AC3E}">
        <p14:creationId xmlns:p14="http://schemas.microsoft.com/office/powerpoint/2010/main" val="132622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4: Quality (cos²)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4 / 5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cos² = how well a point is shown on the axis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Quality on Axis 1:   B = 0.88    C = 0.83    A = 0.22    (closer to 1 = better represented)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Well represented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B and C have cos² ≈ 0.85 — their positions on Axis 1 are trustworthy and can be interpreted.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Poorly represented</a:t>
            </a:r>
          </a:p>
          <a:p>
            <a:pPr algn="l">
              <a:spcBef>
                <a:spcPts val="250"/>
              </a:spcBef>
            </a:pPr>
            <a:r>
              <a:rPr lang="en-US" sz="1550" b="0">
                <a:solidFill>
                  <a:srgbClr val="333333"/>
                </a:solidFill>
              </a:rPr>
              <a:t>A has cos² = 0.22 — most of its profile lies off this plane, so don't over-interpret where A sits.</a:t>
            </a:r>
          </a:p>
        </p:txBody>
      </p:sp>
    </p:spTree>
    <p:extLst>
      <p:ext uri="{BB962C8B-B14F-4D97-AF65-F5344CB8AC3E}">
        <p14:creationId xmlns:p14="http://schemas.microsoft.com/office/powerpoint/2010/main" val="150901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5: CTR vs cos²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5 / 5</a:t>
            </a:r>
          </a:p>
        </p:txBody>
      </p:sp>
      <p:sp>
        <p:nvSpPr>
          <p:cNvPr id="160" name="ctr"/>
          <p:cNvSpPr/>
          <p:nvPr/>
        </p:nvSpPr>
        <p:spPr>
          <a:xfrm>
            <a:off x="762000" y="1905000"/>
            <a:ext cx="5207000" cy="2997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8520" tIns="91440" rIns="128520" bIns="91440" anchor="t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CTR — what BUILDS an axis</a:t>
            </a:r>
          </a:p>
          <a:p>
            <a:pPr algn="l">
              <a:spcBef>
                <a:spcPts val="350"/>
              </a:spcBef>
            </a:pPr>
            <a:r>
              <a:rPr lang="en-US" sz="1500" b="0">
                <a:solidFill>
                  <a:srgbClr val="333333"/>
                </a:solidFill>
              </a:rPr>
              <a:t>Use contributions to NAME a dimension. A high CTR means the point drives that axis.</a:t>
            </a:r>
          </a:p>
          <a:p>
            <a:pPr algn="l">
              <a:spcBef>
                <a:spcPts val="350"/>
              </a:spcBef>
            </a:pPr>
            <a:r>
              <a:rPr lang="en-US" sz="1500" b="1">
                <a:solidFill>
                  <a:srgbClr val="4B2E83"/>
                </a:solidFill>
              </a:rPr>
              <a:t>Here: B and C build Axis 1, so it is the “B vs C” axis.</a:t>
            </a:r>
          </a:p>
        </p:txBody>
      </p:sp>
      <p:sp>
        <p:nvSpPr>
          <p:cNvPr id="161" name="cos"/>
          <p:cNvSpPr/>
          <p:nvPr/>
        </p:nvSpPr>
        <p:spPr>
          <a:xfrm>
            <a:off x="6223000" y="1905000"/>
            <a:ext cx="5207000" cy="2997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8520" tIns="91440" rIns="128520" bIns="91440" anchor="t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cos² — which points to TRUST</a:t>
            </a:r>
          </a:p>
          <a:p>
            <a:pPr algn="l">
              <a:spcBef>
                <a:spcPts val="350"/>
              </a:spcBef>
            </a:pPr>
            <a:r>
              <a:rPr lang="en-US" sz="1500" b="0">
                <a:solidFill>
                  <a:srgbClr val="333333"/>
                </a:solidFill>
              </a:rPr>
              <a:t>Use quality to judge whether a point's position is reliable. A high cos² means it is well shown in this plane.</a:t>
            </a:r>
          </a:p>
          <a:p>
            <a:pPr algn="l">
              <a:spcBef>
                <a:spcPts val="350"/>
              </a:spcBef>
            </a:pPr>
            <a:r>
              <a:rPr lang="en-US" sz="1500" b="1">
                <a:solidFill>
                  <a:srgbClr val="00A7B5"/>
                </a:solidFill>
              </a:rPr>
              <a:t>Here: B and C are reliable; A (cos²=0.22) is not.</a:t>
            </a:r>
          </a:p>
        </p:txBody>
      </p:sp>
      <p:sp>
        <p:nvSpPr>
          <p:cNvPr id="162" name="rule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8520" tIns="91440" rIns="128520" bIns="91440" anchor="ctr"/>
          <a:lstStyle/>
          <a:p>
            <a:pPr algn="ctr"/>
            <a:r>
              <a:rPr lang="en-US" sz="1600" b="1">
                <a:solidFill>
                  <a:srgbClr val="85754D"/>
                </a:solidFill>
              </a:rPr>
              <a:t>Golden rule</a:t>
            </a:r>
          </a:p>
          <a:p>
            <a:pPr algn="ctr">
              <a:spcBef>
                <a:spcPts val="250"/>
              </a:spcBef>
            </a:pPr>
            <a:r>
              <a:rPr lang="en-US" sz="1550" b="1">
                <a:solidFill>
                  <a:srgbClr val="333333"/>
                </a:solidFill>
              </a:rPr>
              <a:t>CTR tells you what an axis MEANS;  cos² tells you which points you may INTERPRET.  Always check both before reading a CA map.</a:t>
            </a:r>
          </a:p>
        </p:txBody>
      </p:sp>
    </p:spTree>
    <p:extLst>
      <p:ext uri="{BB962C8B-B14F-4D97-AF65-F5344CB8AC3E}">
        <p14:creationId xmlns:p14="http://schemas.microsoft.com/office/powerpoint/2010/main" val="205732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1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Given"/>
              <p:cNvSpPr/>
              <p:nvPr/>
            </p:nvSpPr>
            <p:spPr>
              <a:xfrm>
                <a:off x="762000" y="1905000"/>
                <a:ext cx="5080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91440" rIns="137160" bIns="91440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2×2 table (n = 100)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/>
                        </a:rPr>
                        <m:t>𝑁</m:t>
                      </m:r>
                      <m:r>
                        <a:rPr lang="en-US" sz="20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 totals 60, 40 · column totals 70, 30</a:t>
                </a:r>
              </a:p>
            </p:txBody>
          </p:sp>
        </mc:Choice>
        <mc:Fallback xmlns="">
          <p:sp>
            <p:nvSpPr>
              <p:cNvPr id="160" name="cGiv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080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Find"/>
          <p:cNvSpPr/>
          <p:nvPr/>
        </p:nvSpPr>
        <p:spPr>
          <a:xfrm>
            <a:off x="6350000" y="1905000"/>
            <a:ext cx="5080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(a)  </a:t>
            </a:r>
            <a:r>
              <a:rPr lang="en-US" sz="1550">
                <a:solidFill>
                  <a:srgbClr val="333333"/>
                </a:solidFill>
              </a:rPr>
              <a:t>row &amp; column masses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(b)  </a:t>
            </a:r>
            <a:r>
              <a:rPr lang="en-US" sz="1550">
                <a:solidFill>
                  <a:srgbClr val="333333"/>
                </a:solidFill>
              </a:rPr>
              <a:t>the expected counts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(c)  </a:t>
            </a:r>
            <a:r>
              <a:rPr lang="en-US" sz="1550">
                <a:solidFill>
                  <a:srgbClr val="333333"/>
                </a:solidFill>
              </a:rPr>
              <a:t>the χ² statistic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(d)  </a:t>
            </a:r>
            <a:r>
              <a:rPr lang="en-US" sz="1550">
                <a:solidFill>
                  <a:srgbClr val="333333"/>
                </a:solidFill>
              </a:rPr>
              <a:t>the total inertia Φ²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(e)  </a:t>
            </a:r>
            <a:r>
              <a:rPr lang="en-US" sz="1550">
                <a:solidFill>
                  <a:srgbClr val="333333"/>
                </a:solidFill>
              </a:rPr>
              <a:t>how many CA dimensions</a:t>
            </a:r>
          </a:p>
        </p:txBody>
      </p:sp>
    </p:spTree>
    <p:extLst>
      <p:ext uri="{BB962C8B-B14F-4D97-AF65-F5344CB8AC3E}">
        <p14:creationId xmlns:p14="http://schemas.microsoft.com/office/powerpoint/2010/main" val="1892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Masses &amp; Expected Counts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2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(a) · Masses = margins ÷ 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/>
                        </a:rPr>
                        <m:t>𝑟</m:t>
                      </m:r>
                      <m:r>
                        <a:rPr lang="en-US" sz="1600">
                          <a:latin typeface="Cambria Math"/>
                        </a:rPr>
                        <m:t> = (60/100, 40/100) = (0.60, 0.40)        </m:t>
                      </m:r>
                      <m:r>
                        <a:rPr lang="en-US" sz="1600" i="1">
                          <a:latin typeface="Cambria Math"/>
                        </a:rPr>
                        <m:t>𝑐</m:t>
                      </m:r>
                      <m:r>
                        <a:rPr lang="en-US" sz="1600">
                          <a:latin typeface="Cambria Math"/>
                        </a:rPr>
                        <m:t> = (70/100, 30/100) = (0.70, 0.30)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2"/>
              <p:cNvSpPr/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(b) · Expected counts   Eᵢⱼ = n · rᵢ · cⱼ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>
                          <a:latin typeface="Cambria Math"/>
                        </a:rPr>
                        <m:t>𝐸</m:t>
                      </m:r>
                      <m:r>
                        <a:rPr lang="en-US"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42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28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E₁₁ = 100 · 0.60 · 0.70 = 42</a:t>
                </a:r>
              </a:p>
            </p:txBody>
          </p:sp>
        </mc:Choice>
        <mc:Fallback xmlns=""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Idea</a:t>
            </a:r>
          </a:p>
          <a:p>
            <a:pPr algn="l"/>
            <a:r>
              <a:rPr lang="en-US" sz="1500">
                <a:solidFill>
                  <a:srgbClr val="333333"/>
                </a:solidFill>
              </a:rPr>
              <a:t>The expected counts assume row and column are independent; CA measures how far N departs from E.</a:t>
            </a:r>
          </a:p>
        </p:txBody>
      </p:sp>
    </p:spTree>
    <p:extLst>
      <p:ext uri="{BB962C8B-B14F-4D97-AF65-F5344CB8AC3E}">
        <p14:creationId xmlns:p14="http://schemas.microsoft.com/office/powerpoint/2010/main" val="414910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The χ² Statistic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3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(c) · Chi-square statistic  χ² = Σ (O − E)² / E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>
                          <a:latin typeface="Cambria Math"/>
                        </a:rPr>
                        <m:t>𝜒</m:t>
                      </m:r>
                      <m:r>
                        <a:rPr lang="en-US" sz="1600">
                          <a:latin typeface="Cambria Math"/>
                        </a:rPr>
                        <m:t>² = (50−42)²/42 + (10−18)²/18 + (20−28)²/28 + (20−12)²/12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2"/>
              <p:cNvSpPr/>
              <p:nvPr/>
            </p:nvSpPr>
            <p:spPr>
              <a:xfrm>
                <a:off x="762000" y="34036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Evaluate each term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>
                          <a:latin typeface="Cambria Math"/>
                        </a:rPr>
                        <m:t>= 1.524 + 3.556 + 2.286 + 5.333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 xmlns=""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036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49276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Result</a:t>
            </a:r>
          </a:p>
          <a:p>
            <a:pPr algn="ctr"/>
            <a:r>
              <a:rPr lang="en-US" sz="2000" b="1">
                <a:solidFill>
                  <a:srgbClr val="7AB648"/>
                </a:solidFill>
              </a:rPr>
              <a:t>χ² = 12.70</a:t>
            </a:r>
          </a:p>
        </p:txBody>
      </p:sp>
    </p:spTree>
    <p:extLst>
      <p:ext uri="{BB962C8B-B14F-4D97-AF65-F5344CB8AC3E}">
        <p14:creationId xmlns:p14="http://schemas.microsoft.com/office/powerpoint/2010/main" val="2137135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Total Inertia &amp; Dimensions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4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(d) · Total inertia = χ² / n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>
                          <a:latin typeface="Cambria Math"/>
                        </a:rPr>
                        <m:t>𝛷</m:t>
                      </m:r>
                      <m:r>
                        <a:rPr lang="en-US" sz="1700">
                          <a:latin typeface="Cambria Math"/>
                        </a:rPr>
                        <m:t>² = 12.70 / 100 = 0.127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2"/>
              <p:cNvSpPr/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(e) · Number of CA dimensions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>
                          <a:latin typeface="Cambria Math"/>
                        </a:rPr>
                        <m:t>𝐾</m:t>
                      </m:r>
                      <m:r>
                        <a:rPr lang="en-US" sz="1600">
                          <a:latin typeface="Cambria Math"/>
                        </a:rPr>
                        <m:t> = </m:t>
                      </m:r>
                      <m:r>
                        <a:rPr lang="en-US" sz="1600">
                          <a:latin typeface="Cambria Math"/>
                        </a:rPr>
                        <m:t>𝑚𝑖𝑛</m:t>
                      </m:r>
                      <m:r>
                        <a:rPr lang="en-US" sz="1600">
                          <a:latin typeface="Cambria Math"/>
                        </a:rPr>
                        <m:t>(</m:t>
                      </m:r>
                      <m:r>
                        <a:rPr lang="en-US" sz="1600">
                          <a:latin typeface="Cambria Math"/>
                        </a:rPr>
                        <m:t>𝐼</m:t>
                      </m:r>
                      <m:r>
                        <a:rPr lang="en-US" sz="1600">
                          <a:latin typeface="Cambria Math"/>
                        </a:rPr>
                        <m:t>−1, </m:t>
                      </m:r>
                      <m:r>
                        <a:rPr lang="en-US" sz="1600">
                          <a:latin typeface="Cambria Math"/>
                        </a:rPr>
                        <m:t>𝐽</m:t>
                      </m:r>
                      <m:r>
                        <a:rPr lang="en-US" sz="1600">
                          <a:latin typeface="Cambria Math"/>
                        </a:rPr>
                        <m:t>−1) = </m:t>
                      </m:r>
                      <m:r>
                        <a:rPr lang="en-US" sz="1600">
                          <a:latin typeface="Cambria Math"/>
                        </a:rPr>
                        <m:t>𝑚𝑖𝑛</m:t>
                      </m:r>
                      <m:r>
                        <a:rPr lang="en-US" sz="1600">
                          <a:latin typeface="Cambria Math"/>
                        </a:rPr>
                        <m:t>(1, 1) = 1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  <a:p>
                <a:pPr algn="l"/>
                <a:r>
                  <a:rPr lang="en-US" sz="1500" b="0">
                    <a:solidFill>
                      <a:srgbClr val="333333"/>
                    </a:solidFill>
                  </a:rPr>
                  <a:t>A 2×2 table needs a single axis — it carries all 0.127 of the inertia.</a:t>
                </a:r>
              </a:p>
            </p:txBody>
          </p:sp>
        </mc:Choice>
        <mc:Fallback xmlns=""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Answer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Φ² = 0.127, captured entirely on one CA dimension.</a:t>
            </a:r>
          </a:p>
        </p:txBody>
      </p:sp>
    </p:spTree>
    <p:extLst>
      <p:ext uri="{BB962C8B-B14F-4D97-AF65-F5344CB8AC3E}">
        <p14:creationId xmlns:p14="http://schemas.microsoft.com/office/powerpoint/2010/main" val="183337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1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Given"/>
              <p:cNvSpPr/>
              <p:nvPr/>
            </p:nvSpPr>
            <p:spPr>
              <a:xfrm>
                <a:off x="762000" y="1905000"/>
                <a:ext cx="5588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91440" rIns="137160" bIns="91440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two rows rated Low / Med / High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/>
                        </a:rPr>
                        <m:t>𝑋</m:t>
                      </m:r>
                      <m:r>
                        <a:rPr lang="en-US" sz="1800">
                          <a:latin typeface="Cambria Math"/>
                        </a:rPr>
                        <m:t> = (10, 30, 60)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/>
                        </a:rPr>
                        <m:t>𝑌</m:t>
                      </m:r>
                      <m:r>
                        <a:rPr lang="en-US" sz="1800">
                          <a:latin typeface="Cambria Math"/>
                        </a:rPr>
                        <m:t> = (30, 30, 40)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00" i="1">
                          <a:latin typeface="Cambria Math"/>
                        </a:rPr>
                        <m:t>𝑐</m:t>
                      </m:r>
                      <m:r>
                        <a:rPr lang="en-US" sz="1800">
                          <a:latin typeface="Cambria Math"/>
                        </a:rPr>
                        <m:t> = (0.25, 0.30, 0.45)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row total = 100 · c = column masses (given)</a:t>
                </a:r>
              </a:p>
            </p:txBody>
          </p:sp>
        </mc:Choice>
        <mc:Fallback xmlns="">
          <p:sp>
            <p:nvSpPr>
              <p:cNvPr id="160" name="cGiv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588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Find"/>
          <p:cNvSpPr/>
          <p:nvPr/>
        </p:nvSpPr>
        <p:spPr>
          <a:xfrm>
            <a:off x="6604000" y="1905000"/>
            <a:ext cx="4826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the row profile of each row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the χ²-distance d(X, Y) between them</a:t>
            </a:r>
          </a:p>
        </p:txBody>
      </p:sp>
    </p:spTree>
    <p:extLst>
      <p:ext uri="{BB962C8B-B14F-4D97-AF65-F5344CB8AC3E}">
        <p14:creationId xmlns:p14="http://schemas.microsoft.com/office/powerpoint/2010/main" val="218851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Solution (a): Row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2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Divide each row by its total (100)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 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1600">
                          <a:latin typeface="Cambria Math"/>
                        </a:rPr>
                        <m:t> = (0.10, 0.30, 0.60)        </m:t>
                      </m:r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sSub>
                        <m:sSubPr>
                          <m:ctrlPr>
                            <a:rPr sz="160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 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1600">
                          <a:latin typeface="Cambria Math"/>
                        </a:rPr>
                        <m:t> = (0.30, 0.30, 0.40)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2"/>
          <p:cNvSpPr/>
          <p:nvPr/>
        </p:nvSpPr>
        <p:spPr>
          <a:xfrm>
            <a:off x="762000" y="3733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Profile difference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(0.10, 0.30, 0.60) − (0.30, 0.30, 0.40)  =  (−0.20,  0,  +0.20)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Read it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two rows match on 'Med' but diverge on 'Low' (−0.20) and 'High' (+0.20).</a:t>
            </a:r>
          </a:p>
        </p:txBody>
      </p:sp>
    </p:spTree>
    <p:extLst>
      <p:ext uri="{BB962C8B-B14F-4D97-AF65-F5344CB8AC3E}">
        <p14:creationId xmlns:p14="http://schemas.microsoft.com/office/powerpoint/2010/main" val="249747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Solution (b): χ²-Distance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3 /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χ²-distance between two row profiles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>
                          <a:latin typeface="Cambria Math"/>
                        </a:rPr>
                        <m:t>𝑑</m:t>
                      </m:r>
                      <m:r>
                        <a:rPr lang="en-US" sz="1600">
                          <a:latin typeface="Cambria Math"/>
                        </a:rPr>
                        <m:t>²(</m:t>
                      </m:r>
                      <m:r>
                        <a:rPr lang="en-US" sz="1600">
                          <a:latin typeface="Cambria Math"/>
                        </a:rPr>
                        <m:t>𝑋</m:t>
                      </m:r>
                      <m:r>
                        <a:rPr lang="en-US" sz="1600">
                          <a:latin typeface="Cambria Math"/>
                        </a:rPr>
                        <m:t>, </m:t>
                      </m:r>
                      <m:r>
                        <a:rPr lang="en-US" sz="1600">
                          <a:latin typeface="Cambria Math"/>
                        </a:rPr>
                        <m:t>𝑌</m:t>
                      </m:r>
                      <m:r>
                        <a:rPr lang="en-US" sz="1600">
                          <a:latin typeface="Cambria Math"/>
                        </a:rPr>
                        <m:t>) = ∑ⱼ  (</m:t>
                      </m:r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r>
                        <a:rPr lang="en-US" sz="1600">
                          <a:latin typeface="Cambria Math"/>
                        </a:rPr>
                        <m:t>ⱼ </m:t>
                      </m:r>
                      <m:r>
                        <a:rPr lang="en-US" sz="1600">
                          <a:latin typeface="Cambria Math"/>
                        </a:rPr>
                        <m:t>𝑑𝑖𝑓𝑓𝑒𝑟𝑒𝑛𝑐𝑒</m:t>
                      </m:r>
                      <m:r>
                        <a:rPr lang="en-US" sz="1600">
                          <a:latin typeface="Cambria Math"/>
                        </a:rPr>
                        <m:t>)² / </m:t>
                      </m:r>
                      <m:r>
                        <a:rPr lang="en-US" sz="1600">
                          <a:latin typeface="Cambria Math"/>
                        </a:rPr>
                        <m:t>𝑐</m:t>
                      </m:r>
                      <m:r>
                        <a:rPr lang="en-US" sz="1600">
                          <a:latin typeface="Cambria Math"/>
                        </a:rPr>
                        <m:t>ⱼ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 xmlns=""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c2"/>
              <p:cNvSpPr/>
              <p:nvPr/>
            </p:nvSpPr>
            <p:spPr>
              <a:xfrm>
                <a:off x="762000" y="32512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2 · Plug in the difference and the column masses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>
                          <a:latin typeface="Cambria Math"/>
                        </a:rPr>
                        <m:t>𝑑</m:t>
                      </m:r>
                      <m:r>
                        <a:rPr lang="en-US" sz="1600">
                          <a:latin typeface="Cambria Math"/>
                        </a:rPr>
                        <m:t>²(</m:t>
                      </m:r>
                      <m:r>
                        <a:rPr lang="en-US" sz="1600">
                          <a:latin typeface="Cambria Math"/>
                        </a:rPr>
                        <m:t>𝑋</m:t>
                      </m:r>
                      <m:r>
                        <a:rPr lang="en-US" sz="1600">
                          <a:latin typeface="Cambria Math"/>
                        </a:rPr>
                        <m:t>, </m:t>
                      </m:r>
                      <m:r>
                        <a:rPr lang="en-US" sz="1600">
                          <a:latin typeface="Cambria Math"/>
                        </a:rPr>
                        <m:t>𝑌</m:t>
                      </m:r>
                      <m:r>
                        <a:rPr lang="en-US" sz="1600">
                          <a:latin typeface="Cambria Math"/>
                        </a:rPr>
                        <m:t>) = (−0.20)²/0.25 + (0)²/0.30 + (0.20)²/0.45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 xmlns=""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512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49276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Evaluate each term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= 0.160 + 0 + 0.0889 = 0.2489</a:t>
            </a:r>
          </a:p>
        </p:txBody>
      </p:sp>
    </p:spTree>
    <p:extLst>
      <p:ext uri="{BB962C8B-B14F-4D97-AF65-F5344CB8AC3E}">
        <p14:creationId xmlns:p14="http://schemas.microsoft.com/office/powerpoint/2010/main" val="358023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Result &amp; Interpretation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4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Take the square root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d(X, Y) = √0.2489 = 0.499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Which column matters most?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'Low' category (mass 0.25 — the rarest) contributes 0.160 of the 0.249. Dividing each squared gap by cⱼ up-weights the rarer columns.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Why it matters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This χ²-weighting is exactly the distance CA preserves when it places the row points on a map.</a:t>
            </a:r>
          </a:p>
        </p:txBody>
      </p:sp>
    </p:spTree>
    <p:extLst>
      <p:ext uri="{BB962C8B-B14F-4D97-AF65-F5344CB8AC3E}">
        <p14:creationId xmlns:p14="http://schemas.microsoft.com/office/powerpoint/2010/main" val="79081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1 / 4</a:t>
            </a:r>
          </a:p>
        </p:txBody>
      </p:sp>
      <p:sp>
        <p:nvSpPr>
          <p:cNvPr id="160" name="cGiven"/>
          <p:cNvSpPr/>
          <p:nvPr/>
        </p:nvSpPr>
        <p:spPr>
          <a:xfrm>
            <a:off x="762000" y="1905000"/>
            <a:ext cx="5969000" cy="381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Given — CA output of a 5×4 table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Principal inertias: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λ = (0.240, 0.110, 0.030, 0.012),  total = 0.392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Axis-1 contributions (CTR):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A = 0.55,  B = 0.32,  C = 0.08,  D = 0.05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Axis-1 quality (cos²):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A = 0.91,  C = 0.18</a:t>
            </a:r>
          </a:p>
        </p:txBody>
      </p:sp>
      <p:sp>
        <p:nvSpPr>
          <p:cNvPr id="161" name="cFind"/>
          <p:cNvSpPr/>
          <p:nvPr/>
        </p:nvSpPr>
        <p:spPr>
          <a:xfrm>
            <a:off x="6985000" y="1905000"/>
            <a:ext cx="4445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(a)  </a:t>
            </a:r>
            <a:r>
              <a:rPr lang="en-US" sz="1550">
                <a:solidFill>
                  <a:srgbClr val="333333"/>
                </a:solidFill>
              </a:rPr>
              <a:t>how many dimensions to report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(b)  </a:t>
            </a:r>
            <a:r>
              <a:rPr lang="en-US" sz="1550">
                <a:solidFill>
                  <a:srgbClr val="333333"/>
                </a:solidFill>
              </a:rPr>
              <a:t>an interpretation of Axis 1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(c)  </a:t>
            </a:r>
            <a:r>
              <a:rPr lang="en-US" sz="1550">
                <a:solidFill>
                  <a:srgbClr val="333333"/>
                </a:solidFill>
              </a:rPr>
              <a:t>Brand A vs Brand C</a:t>
            </a:r>
          </a:p>
        </p:txBody>
      </p:sp>
    </p:spTree>
    <p:extLst>
      <p:ext uri="{BB962C8B-B14F-4D97-AF65-F5344CB8AC3E}">
        <p14:creationId xmlns:p14="http://schemas.microsoft.com/office/powerpoint/2010/main" val="422896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(a): How Many Dimensions?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2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701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Variance share = λ / total inertia (0.392)</a:t>
            </a:r>
          </a:p>
          <a:p>
            <a:pPr algn="ctr"/>
            <a:r>
              <a:rPr lang="en-US" sz="1550" b="0">
                <a:solidFill>
                  <a:srgbClr val="333333"/>
                </a:solidFill>
              </a:rPr>
              <a:t>Dim 1: 0.240/0.392 = 61%     Dim 2: 0.110/0.392 = 28%     Dim 3: 8%     Dim 4: 3%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5306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Cumulative</a:t>
            </a:r>
          </a:p>
          <a:p>
            <a:pPr algn="ctr"/>
            <a:r>
              <a:rPr lang="en-US" sz="1650" b="0">
                <a:solidFill>
                  <a:srgbClr val="333333"/>
                </a:solidFill>
              </a:rPr>
              <a:t>Dim 1 = 61%      Dim 1 + Dim 2 = 89%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4978400"/>
            <a:ext cx="10668000" cy="1447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Decision</a:t>
            </a:r>
          </a:p>
          <a:p>
            <a:pPr algn="ctr"/>
            <a:r>
              <a:rPr lang="en-US" sz="1550" b="1">
                <a:solidFill>
                  <a:srgbClr val="7AB648"/>
                </a:solidFill>
              </a:rPr>
              <a:t>Report a 2-D map — it captures 89% of the inertia. Dim 3 and Dim 4 (11% combined) are negligible.</a:t>
            </a:r>
          </a:p>
        </p:txBody>
      </p:sp>
    </p:spTree>
    <p:extLst>
      <p:ext uri="{BB962C8B-B14F-4D97-AF65-F5344CB8AC3E}">
        <p14:creationId xmlns:p14="http://schemas.microsoft.com/office/powerpoint/2010/main" val="164826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(b): Interpreting Axis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3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Which columns build Axis 1?  (contributions)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CTR:   A = 0.55      B = 0.32      C = 0.08      D = 0.05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dominant pair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A (0.55) + B (0.32) = 0.87 → 87% of Axis 1 comes from Brands A and B.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Interpretation</a:t>
            </a:r>
          </a:p>
          <a:p>
            <a:pPr algn="l"/>
            <a:r>
              <a:rPr lang="en-US" sz="1500" b="1">
                <a:solidFill>
                  <a:srgbClr val="7AB648"/>
                </a:solidFill>
              </a:rPr>
              <a:t>Axis 1 is defined by Brands A and B — it captures how these two dominant brands stand apart from the rest. C and D barely shape it.</a:t>
            </a:r>
          </a:p>
        </p:txBody>
      </p:sp>
    </p:spTree>
    <p:extLst>
      <p:ext uri="{BB962C8B-B14F-4D97-AF65-F5344CB8AC3E}">
        <p14:creationId xmlns:p14="http://schemas.microsoft.com/office/powerpoint/2010/main" val="205494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(c): Brand A vs Brand 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4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Brand A — cos² = 0.91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Excellently represented on Axis 1: A's position on the map is trustworthy and can be interpreted with confidence.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Brand C — cos² = 0.18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Poorly represented in this plane: most of C's variation lies on a higher, unshown dimension. Do not interpret where C sits on the 2-D map.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4978400"/>
            <a:ext cx="10668000" cy="1447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Golden rule recap</a:t>
            </a:r>
          </a:p>
          <a:p>
            <a:pPr algn="l"/>
            <a:r>
              <a:rPr lang="en-US" sz="1550">
                <a:solidFill>
                  <a:srgbClr val="333333"/>
                </a:solidFill>
              </a:rPr>
              <a:t>CTR tells you what builds an axis (here A and B); cos² tells you which points you can trust (A yes, C no).</a:t>
            </a:r>
          </a:p>
        </p:txBody>
      </p:sp>
    </p:spTree>
    <p:extLst>
      <p:ext uri="{BB962C8B-B14F-4D97-AF65-F5344CB8AC3E}">
        <p14:creationId xmlns:p14="http://schemas.microsoft.com/office/powerpoint/2010/main" val="145968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160" grpId="0" animBg="1"/>
      <p:bldP spid="161" grpId="0" animBg="1"/>
      <p:bldP spid="162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CD268-8AE7-CC49-8A2D-80F4447686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1E4E2-1E20-9043-B62F-6AF2A2CCA79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F49C3-1F3C-AD44-8871-21FE1B9EFF96}"/>
              </a:ext>
            </a:extLst>
          </p:cNvPr>
          <p:cNvSpPr txBox="1"/>
          <p:nvPr/>
        </p:nvSpPr>
        <p:spPr>
          <a:xfrm>
            <a:off x="1524000" y="1905000"/>
            <a:ext cx="3810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02b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70563-5513-FA44-B03C-F7E814603B36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5C9A6-9E45-434F-9EDE-D1E2FE9A27B7}"/>
              </a:ext>
            </a:extLst>
          </p:cNvPr>
          <p:cNvSpPr txBox="1"/>
          <p:nvPr/>
        </p:nvSpPr>
        <p:spPr>
          <a:xfrm>
            <a:off x="1498600" y="3492500"/>
            <a:ext cx="7874000" cy="150810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Multiple Correspondence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7CE0E-9812-9E42-B937-6FDBB4F2EEB8}"/>
              </a:ext>
            </a:extLst>
          </p:cNvPr>
          <p:cNvSpPr txBox="1"/>
          <p:nvPr/>
        </p:nvSpPr>
        <p:spPr>
          <a:xfrm>
            <a:off x="1524000" y="5334000"/>
            <a:ext cx="787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Correspondence Analysis for more than two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336365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9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Multiple Correspondence Analysis (MCA)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Correspondence Analysis extended to more than two categorical variables.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B9361-27F0-4A44-B3B4-03DD987C6265}"/>
              </a:ext>
            </a:extLst>
          </p:cNvPr>
          <p:cNvSpPr txBox="1"/>
          <p:nvPr/>
        </p:nvSpPr>
        <p:spPr>
          <a:xfrm>
            <a:off x="939800" y="2692400"/>
            <a:ext cx="30734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continuous numerical variables. Projects standardized measurements to maximize variance.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DD8A21-D962-F34C-B0BA-21289AB73D2B}"/>
              </a:ext>
            </a:extLst>
          </p:cNvPr>
          <p:cNvSpPr txBox="1"/>
          <p:nvPr/>
        </p:nvSpPr>
        <p:spPr>
          <a:xfrm>
            <a:off x="4559300" y="2692400"/>
            <a:ext cx="30734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one contingency table — two categorical variables, e.g. Gender × Preference.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MCA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A3022-7B5B-874D-911A-7C2BB054BFC3}"/>
              </a:ext>
            </a:extLst>
          </p:cNvPr>
          <p:cNvSpPr txBox="1"/>
          <p:nvPr/>
        </p:nvSpPr>
        <p:spPr>
          <a:xfrm>
            <a:off x="8178800" y="2692400"/>
            <a:ext cx="3073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many categorical variables at once, e.g. a full set of survey responses.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41148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 one sentence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46787-4B14-E046-8EEE-E57E10DC7622}"/>
              </a:ext>
            </a:extLst>
          </p:cNvPr>
          <p:cNvSpPr txBox="1"/>
          <p:nvPr/>
        </p:nvSpPr>
        <p:spPr>
          <a:xfrm>
            <a:off x="990600" y="4470400"/>
            <a:ext cx="102108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MCA is basically Correspondence Analysis for more than two categorical variables. Each respondent answers several categorical questions; MCA finds a low-dimensional map where similar response patterns sit close together — just as CA does for a single two-way table, and PCA does for continuous data.</a:t>
            </a:r>
          </a:p>
        </p:txBody>
      </p:sp>
    </p:spTree>
    <p:extLst>
      <p:ext uri="{BB962C8B-B14F-4D97-AF65-F5344CB8AC3E}">
        <p14:creationId xmlns:p14="http://schemas.microsoft.com/office/powerpoint/2010/main" val="161413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From CA to the Indicator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333333"/>
                </a:solidFill>
              </a:rPr>
              <a:t>MCA is CA applied to the indicator (dummy-coded) matrix of the categorical variables.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Setup &amp; notation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52811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 = respondents (rows)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Q = categorical variables (questions)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4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5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ar-AE" sz="145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ar-AE" sz="145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categories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variable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45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ar-AE" sz="14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ar-AE" sz="14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 lang="ar-AE" sz="145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ar-AE" sz="14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5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ar-AE" sz="145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a:rPr lang="ar-AE" sz="145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categories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US" sz="145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45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5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indicator</m:t>
                      </m:r>
                      <m:r>
                        <a:rPr lang="en-US"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50">
                          <a:latin typeface="Cambria Math" panose="02040503050406030204" pitchFamily="18" charset="0"/>
                        </a:rPr>
                        <m:t>matrix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528111"/>
              </a:xfrm>
              <a:prstGeom prst="rect">
                <a:avLst/>
              </a:prstGeom>
              <a:blipFill>
                <a:blip r:embed="rId2"/>
                <a:stretch>
                  <a:fillRect l="-254" t="-820" b="-55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Indicator matrix Z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2259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sz="14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45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sz="145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sz="1450">
                          <a:latin typeface="Cambria Math" panose="02040503050406030204" pitchFamily="18" charset="0"/>
                        </a:rPr>
                        <m:t>= 1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respondent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chose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category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sz="1450" dirty="0"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                          0 otherwise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Each variable contributes a block of columns; exactly one 1 per block per row.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sums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answer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question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225977"/>
              </a:xfrm>
              <a:prstGeom prst="rect">
                <a:avLst/>
              </a:prstGeom>
              <a:blipFill>
                <a:blip r:embed="rId3"/>
                <a:stretch>
                  <a:fillRect l="-536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MCA = CA of 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21200"/>
            <a:ext cx="10668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22800"/>
                <a:ext cx="10312400" cy="154382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Apply the full Correspondence Analysis machinery to Z instead of a two-way table N: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sz="145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14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450"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 sz="1450">
                              <a:latin typeface="Cambria Math" panose="02040503050406030204" pitchFamily="18" charset="0"/>
                            </a:rPr>
                            <m:t>𝑛𝑄</m:t>
                          </m:r>
                        </m:den>
                      </m:f>
                      <m:r>
                        <a:rPr sz="1450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sz="14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45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145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sz="145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masses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), </m:t>
                      </m:r>
                      <m:sSub>
                        <m:sSubPr>
                          <m:ctrlPr>
                            <a:rPr sz="14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45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sz="145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sz="145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masses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sz="145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sz="14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sz="14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sz="14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sz="145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sz="14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45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sz="145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sz="145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sz="14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sz="14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sz="145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sz="145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sz="1450">
                          <a:latin typeface="Cambria Math" panose="02040503050406030204" pitchFamily="18" charset="0"/>
                        </a:rPr>
                        <m:t> → </m:t>
                      </m:r>
                      <m:r>
                        <m:rPr>
                          <m:sty m:val="p"/>
                        </m:rPr>
                        <a:rPr sz="1450">
                          <a:latin typeface="Cambria Math" panose="02040503050406030204" pitchFamily="18" charset="0"/>
                        </a:rPr>
                        <m:t>SVD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sz="1450"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sz="14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45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sz="145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Standard and principal coordinates then follow exactly as in CA — so MCA reduces a survey of Q categorical questions to a low-dimensional map.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22800"/>
                <a:ext cx="10312400" cy="1543821"/>
              </a:xfrm>
              <a:prstGeom prst="rect">
                <a:avLst/>
              </a:prstGeom>
              <a:blipFill>
                <a:blip r:embed="rId4"/>
                <a:stretch>
                  <a:fillRect l="-123" t="-813" b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79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The Burt Matrix &amp;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Two equivalent routes: CA of the indicator matrix Z, or CA of the Burt matrix B = ZᵀZ.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Burt matrix  B = ZᵀZ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59409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symmetric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Block structure: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diagonal blocks = category counts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 (each variable cross-tabbed with itself)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off-diagonal blocks = all pairwise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way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contingency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tables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𝑞𝑞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594091"/>
              </a:xfrm>
              <a:prstGeom prst="rect">
                <a:avLst/>
              </a:prstGeom>
              <a:blipFill>
                <a:blip r:embed="rId2"/>
                <a:stretch>
                  <a:fillRect l="-254"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Decomposition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6523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Eigen-decompose the scaled matrix: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eigenvalues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eigenvectors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Coordinates of categories from eigenvectors.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Burt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  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same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652375"/>
              </a:xfrm>
              <a:prstGeom prst="rect">
                <a:avLst/>
              </a:prstGeom>
              <a:blipFill>
                <a:blip r:embed="rId3"/>
                <a:stretch>
                  <a:fillRect l="-536" t="-763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Why it matters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99000"/>
                <a:ext cx="10312400" cy="13780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B packs every pairwise association among the Q variables into one symmetric J × J matrix, so MCA captures how all categories co-occur — not just one pair.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Plain Burt eigenvalues overstate inertia, so Benzécri / Greenacre adjustments are applied: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99000"/>
                <a:ext cx="10312400" cy="1378070"/>
              </a:xfrm>
              <a:prstGeom prst="rect">
                <a:avLst/>
              </a:prstGeom>
              <a:blipFill>
                <a:blip r:embed="rId4"/>
                <a:stretch>
                  <a:fillRect l="-123" t="-917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4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Three Worked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The indicator matrix Z in matrix notation for three small surveys.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1 · Yes/No survey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AB9361-27F0-4A44-B3B4-03DD987C6265}"/>
                  </a:ext>
                </a:extLst>
              </p:cNvPr>
              <p:cNvSpPr txBox="1"/>
              <p:nvPr/>
            </p:nvSpPr>
            <p:spPr>
              <a:xfrm>
                <a:off x="939800" y="2692400"/>
                <a:ext cx="3073400" cy="182518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3 respondents, Q=2 (Buy?, Recommend?), each Yes/No → J=4 columns.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Columns:  By  Bn  Ry  Rn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Z is 3×4;  row sums = Q = 2.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AB9361-27F0-4A44-B3B4-03DD987C6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692400"/>
                <a:ext cx="3073400" cy="1825180"/>
              </a:xfrm>
              <a:prstGeom prst="rect">
                <a:avLst/>
              </a:prstGeom>
              <a:blipFill>
                <a:blip r:embed="rId2"/>
                <a:stretch>
                  <a:fillRect l="-412" t="-69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2 · Three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/>
              <p:nvPr/>
            </p:nvSpPr>
            <p:spPr>
              <a:xfrm>
                <a:off x="4559300" y="2692400"/>
                <a:ext cx="3073400" cy="135447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n=2, Q=3: Gender(M/F), Region(N/S), Plan(A/B/C) → J=7.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Cols:  M F | N S | A B C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One block per variable; one 1 each.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692400"/>
                <a:ext cx="3073400" cy="1354473"/>
              </a:xfrm>
              <a:prstGeom prst="rect">
                <a:avLst/>
              </a:prstGeom>
              <a:blipFill>
                <a:blip r:embed="rId3"/>
                <a:stretch>
                  <a:fillRect l="-413" t="-935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3 · Burt matrix B = ZᵀZ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EA3022-7B5B-874D-911A-7C2BB054BFC3}"/>
                  </a:ext>
                </a:extLst>
              </p:cNvPr>
              <p:cNvSpPr txBox="1"/>
              <p:nvPr/>
            </p:nvSpPr>
            <p:spPr>
              <a:xfrm>
                <a:off x="8178800" y="2692400"/>
                <a:ext cx="3073400" cy="17129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From Example 1's Z (3×4), the Burt matrix: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Rows/cols:  By Bn Ry Rn.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EA3022-7B5B-874D-911A-7C2BB054B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0" y="2692400"/>
                <a:ext cx="3073400" cy="1712969"/>
              </a:xfrm>
              <a:prstGeom prst="rect">
                <a:avLst/>
              </a:prstGeom>
              <a:blipFill>
                <a:blip r:embed="rId4"/>
                <a:stretch>
                  <a:fillRect l="-412" t="-735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5232400"/>
            <a:ext cx="10668000" cy="1092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53340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/>
              <p:nvPr/>
            </p:nvSpPr>
            <p:spPr>
              <a:xfrm>
                <a:off x="990600" y="5664200"/>
                <a:ext cx="10210800" cy="5840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Code each categorical answer as dummy columns to build Z, then run CA on Z (or on the Burt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B</m:t>
                    </m:r>
                    <m:r>
                      <a:rPr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) to obtain the MCA map of categories and respondents.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664200"/>
                <a:ext cx="10210800" cy="584071"/>
              </a:xfrm>
              <a:prstGeom prst="rect">
                <a:avLst/>
              </a:prstGeom>
              <a:blipFill>
                <a:blip r:embed="rId5"/>
                <a:stretch>
                  <a:fillRect l="-248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72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4B2E83"/>
                </a:solidFill>
              </a:rPr>
              <a:t>Example A · Step 1 — Build the Indicator Matrix 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Survey: 4 respondents, Q = 2 questions (Pet owner? · Garden?)  →  J = 4 dummy columns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Indicator matrix  Z   (4 × 4)</a:t>
            </a:r>
          </a:p>
        </p:txBody>
      </p:sp>
      <p:sp>
        <p:nvSpPr>
          <p:cNvPr id="12" name="Cols"/>
          <p:cNvSpPr txBox="1"/>
          <p:nvPr/>
        </p:nvSpPr>
        <p:spPr>
          <a:xfrm>
            <a:off x="1036636" y="30353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85754D"/>
                </a:solidFill>
              </a:rPr>
              <a:t>P+        P−        G+        G−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7178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𝑍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178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181600"/>
            <a:ext cx="596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Teal row 1 = Respondent 1's two answers · rows R1–R4 top→bottom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answer to a 0/1 row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895600"/>
            <a:ext cx="40386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Respondent 1</a:t>
            </a:r>
            <a:r>
              <a:rPr lang="en-US" sz="1350" dirty="0">
                <a:solidFill>
                  <a:srgbClr val="333333"/>
                </a:solidFill>
              </a:rPr>
              <a:t> answers: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•  Pet owner? → Yes   ⇒  P+ = 1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Garden? → Yes        ⇒  G+ = 1</a:t>
            </a:r>
          </a:p>
          <a:p>
            <a:pPr algn="l">
              <a:spcBef>
                <a:spcPts val="300"/>
              </a:spcBef>
            </a:pPr>
            <a:r>
              <a:rPr lang="en-US" sz="1400" b="1" dirty="0">
                <a:solidFill>
                  <a:srgbClr val="00A7B5"/>
                </a:solidFill>
              </a:rPr>
              <a:t>→  row 1  =  [ 1  0  1  0 ]</a:t>
            </a:r>
          </a:p>
          <a:p>
            <a:pPr algn="l">
              <a:spcBef>
                <a:spcPts val="360"/>
              </a:spcBef>
            </a:pPr>
            <a:r>
              <a:rPr lang="en-US" sz="1300" dirty="0">
                <a:solidFill>
                  <a:srgbClr val="333333"/>
                </a:solidFill>
              </a:rPr>
              <a:t>Each row has exactly Q = 2 ones.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Z is n × J = 4 × 4.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indicator matrix Z turns every categorical answer into a block of 0/1 dummy columns — the raw input for MCA.</a:t>
            </a:r>
          </a:p>
        </p:txBody>
      </p:sp>
      <p:pic>
        <p:nvPicPr>
          <p:cNvPr id="32" name="Graphic 32" descr="Pet paw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0" y="2006600"/>
            <a:ext cx="355600" cy="355600"/>
          </a:xfrm>
          <a:prstGeom prst="rect">
            <a:avLst/>
          </a:prstGeom>
        </p:spPr>
      </p:pic>
      <p:pic>
        <p:nvPicPr>
          <p:cNvPr id="33" name="Graphic 33" descr="Garden tre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5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2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  <p:bldP spid="33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2 — Correspondence Matrix 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Divide every entry of Z by the grand total nQ = 4 × 2 = 8, so the table sums to 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Correspondence matrix  P  =  Z / nQ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𝑃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1308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Gold scalar 1/8 = 1/nQ · every 1 → 0.125, every 0 stays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divide by nQ ?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09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Grand total = </a:t>
            </a:r>
            <a:r>
              <a:rPr lang="en-US" sz="1300" b="1" dirty="0">
                <a:solidFill>
                  <a:srgbClr val="333333"/>
                </a:solidFill>
              </a:rPr>
              <a:t>sum of all 1's in Z</a:t>
            </a:r>
            <a:r>
              <a:rPr lang="en-US" sz="1300" dirty="0">
                <a:solidFill>
                  <a:srgbClr val="333333"/>
                </a:solidFill>
              </a:rPr>
              <a:t> = n × Q.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•  n = 4 respondents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Q = 2 questions</a:t>
            </a:r>
          </a:p>
          <a:p>
            <a:pPr algn="l">
              <a:spcBef>
                <a:spcPts val="120"/>
              </a:spcBef>
            </a:pPr>
            <a:r>
              <a:rPr lang="en-US" sz="1400" b="1" dirty="0">
                <a:solidFill>
                  <a:srgbClr val="85754D"/>
                </a:solidFill>
              </a:rPr>
              <a:t>⇒  nQ = 8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Each entry becomes a proportion.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P sums to 1 → a joint probability table.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Rescaling to P puts every category on a common probability footing, so profiles become comparable.</a:t>
            </a:r>
          </a:p>
        </p:txBody>
      </p:sp>
      <p:pic>
        <p:nvPicPr>
          <p:cNvPr id="32" name="Graphic 32" descr="Normalize/divide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7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3 — Row &amp; Column Masses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Row masses r = row sums of P (green); column masses c = column sums of P (pink).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the rows and columns of 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130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𝑃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3942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row sum  →  </a:t>
            </a:r>
            <a:r>
              <a:rPr lang="en-US" sz="1400" b="1" dirty="0">
                <a:solidFill>
                  <a:srgbClr val="7AB648"/>
                </a:solidFill>
              </a:rPr>
              <a:t>r = ( ¼, ¼, ¼, ¼ )</a:t>
            </a:r>
          </a:p>
          <a:p>
            <a:pPr algn="ctr">
              <a:spcBef>
                <a:spcPts val="240"/>
              </a:spcBef>
            </a:pPr>
            <a:r>
              <a:rPr lang="en-US" sz="1250" dirty="0">
                <a:solidFill>
                  <a:srgbClr val="666666"/>
                </a:solidFill>
              </a:rPr>
              <a:t>col sum  →  </a:t>
            </a:r>
            <a:r>
              <a:rPr lang="en-US" sz="1400" b="1" dirty="0">
                <a:solidFill>
                  <a:srgbClr val="D1578A"/>
                </a:solidFill>
              </a:rPr>
              <a:t>c = ( ¼, ¼, ⅜, ⅛ 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Reading the masses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09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Row mass rᵢ = 1/n = ¼</a:t>
            </a:r>
          </a:p>
          <a:p>
            <a:pPr algn="l">
              <a:spcBef>
                <a:spcPts val="60"/>
              </a:spcBef>
            </a:pPr>
            <a:r>
              <a:rPr lang="en-US" sz="1250" dirty="0">
                <a:solidFill>
                  <a:srgbClr val="666666"/>
                </a:solidFill>
              </a:rPr>
              <a:t>(each row of P sums to Q/nQ = ¼).</a:t>
            </a:r>
          </a:p>
          <a:p>
            <a:pPr algn="l">
              <a:spcBef>
                <a:spcPts val="240"/>
              </a:spcBef>
            </a:pPr>
            <a:r>
              <a:rPr lang="en-US" sz="1300" b="1" dirty="0">
                <a:solidFill>
                  <a:srgbClr val="333333"/>
                </a:solidFill>
              </a:rPr>
              <a:t>Column mass cⱼ = total / nQ.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•  G+ chosen 3× → c = 3/8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G− chosen once → c = 1/8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Masses = weights of points in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Masses are the weights MCA assigns: frequent categories pull harder, rare ones (G−) sit lighter.</a:t>
            </a:r>
          </a:p>
        </p:txBody>
      </p:sp>
      <p:pic>
        <p:nvPicPr>
          <p:cNvPr id="32" name="Graphic 32" descr="Mass/weight 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7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4 — Burt Matrix  B = ZᵀZ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Cross-tabulate every pair of categories: B = ZᵀZ (4 × 4, symmetric).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Burt matrix   (order: P+  P−  G+  G−)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130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𝑍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22800"/>
            <a:ext cx="59690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diagonal (gold) = category totals</a:t>
            </a:r>
          </a:p>
          <a:p>
            <a:pPr algn="ctr">
              <a:spcBef>
                <a:spcPts val="180"/>
              </a:spcBef>
            </a:pPr>
            <a:r>
              <a:rPr lang="en-US" sz="1250" b="1" dirty="0">
                <a:solidFill>
                  <a:srgbClr val="00A7B5"/>
                </a:solidFill>
              </a:rPr>
              <a:t>off-diagonal (teal) = co-occurrences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What B stores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Zᵀ is J×n, Z is n×J → B is 4×4.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Diagonal: how often each category was chosen.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Off-diagonal: how often two categories co-occur.</a:t>
            </a:r>
          </a:p>
          <a:p>
            <a:pPr algn="l">
              <a:spcBef>
                <a:spcPts val="240"/>
              </a:spcBef>
            </a:pPr>
            <a:r>
              <a:rPr lang="en-US" sz="1300" b="1" dirty="0">
                <a:solidFill>
                  <a:srgbClr val="333333"/>
                </a:solidFill>
              </a:rPr>
              <a:t>B(P+, G+) = colP+ · colG+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= [1 1 0 0]·[1 1 0 1] = 2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Pet &amp; garden owners appear together twice.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Burt matrix packs every pairwise category co-occurrence into one symmetric table — the heart of MCA.</a:t>
            </a:r>
          </a:p>
        </p:txBody>
      </p:sp>
      <p:pic>
        <p:nvPicPr>
          <p:cNvPr id="32" name="Graphic 32" descr="Cross-tabulation 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5 — Standardized Residuals 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observed P with expected E = r cᵀ, then standardize the residuals.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Residuals around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35000" y="2438400"/>
                <a:ext cx="6223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𝐸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sz="2025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𝑃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)</m:t>
                      </m:r>
                      <m:sSubSup>
                        <m:sSubSupPr>
                          <m:ctrlPr>
                            <a:rPr sz="2025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38400"/>
                <a:ext cx="6223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21200"/>
            <a:ext cx="5969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outer product  </a:t>
            </a:r>
            <a:r>
              <a:rPr lang="en-US" sz="1300" b="1" dirty="0">
                <a:solidFill>
                  <a:srgbClr val="7AB648"/>
                </a:solidFill>
              </a:rPr>
              <a:t>r</a:t>
            </a:r>
            <a:r>
              <a:rPr lang="en-US" sz="1300" b="1" dirty="0">
                <a:solidFill>
                  <a:srgbClr val="D1578A"/>
                </a:solidFill>
              </a:rPr>
              <a:t> cᵀ</a:t>
            </a:r>
            <a:r>
              <a:rPr lang="en-US" sz="1300" b="1" dirty="0">
                <a:solidFill>
                  <a:srgbClr val="333333"/>
                </a:solidFill>
              </a:rPr>
              <a:t>  →  E(1,1) = ¼ × ¼ = 1/16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counts to signal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Expected Eᵢⱼ = rᵢ cⱼ</a:t>
            </a:r>
          </a:p>
          <a:p>
            <a:pPr algn="l">
              <a:spcBef>
                <a:spcPts val="60"/>
              </a:spcBef>
            </a:pPr>
            <a:r>
              <a:rPr lang="en-US" sz="1250" dirty="0">
                <a:solidFill>
                  <a:srgbClr val="666666"/>
                </a:solidFill>
              </a:rPr>
              <a:t>— what we'd see if answers were independent.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Residual = P − E (observed − expected).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Scale by 1/√(rᵢ cⱼ) → standardized S.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666666"/>
                </a:solidFill>
              </a:rPr>
              <a:t>Dᵣ, D꜀ are diagonal mass matrices.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4B2E83"/>
                </a:solidFill>
              </a:rPr>
              <a:t>S is exactly what MCA decomposes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 measures how far each cell departs from independence — the signal MCA will turn into a map.</a:t>
            </a:r>
          </a:p>
        </p:txBody>
      </p:sp>
      <p:pic>
        <p:nvPicPr>
          <p:cNvPr id="32" name="Graphic 32" descr="Target / expected bas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2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6 — SVD &amp; the MCA Map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Decompose S = U Σ Vᵀ; coordinates G = D꜀^(−½) V Σ place each category on the map.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Decompose, then place the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35000" y="2413000"/>
                <a:ext cx="6223000" cy="1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𝑆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𝑈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𝐺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sz="216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160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13000"/>
                <a:ext cx="6223000" cy="1498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Inertia"/>
          <p:cNvSpPr txBox="1"/>
          <p:nvPr/>
        </p:nvSpPr>
        <p:spPr>
          <a:xfrm>
            <a:off x="889000" y="3962400"/>
            <a:ext cx="5715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Axis 1:  λ₁ = σ₁² = 0.79  </a:t>
            </a:r>
            <a:r>
              <a:rPr lang="en-US" sz="1350" b="1" dirty="0">
                <a:solidFill>
                  <a:srgbClr val="85754D"/>
                </a:solidFill>
              </a:rPr>
              <a:t>(79%)</a:t>
            </a:r>
          </a:p>
          <a:p>
            <a:pPr algn="l">
              <a:spcBef>
                <a:spcPts val="200"/>
              </a:spcBef>
            </a:pPr>
            <a:r>
              <a:rPr lang="en-US" sz="1400" b="1" dirty="0">
                <a:solidFill>
                  <a:srgbClr val="00A7B5"/>
                </a:solidFill>
              </a:rPr>
              <a:t>Axis 2:  λ₂ = σ₂² = 0.21  </a:t>
            </a:r>
            <a:r>
              <a:rPr lang="en-US" sz="1350" b="1" dirty="0">
                <a:solidFill>
                  <a:srgbClr val="85754D"/>
                </a:solidFill>
              </a:rPr>
              <a:t>(21%)</a:t>
            </a:r>
          </a:p>
          <a:p>
            <a:pPr algn="l">
              <a:spcBef>
                <a:spcPts val="220"/>
              </a:spcBef>
            </a:pPr>
            <a:r>
              <a:rPr lang="en-US" sz="1250" i="1" dirty="0">
                <a:solidFill>
                  <a:srgbClr val="666666"/>
                </a:solidFill>
              </a:rPr>
              <a:t>Total inertia (J−Q)/Q = 1.00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450" b="1" dirty="0">
                <a:solidFill>
                  <a:srgbClr val="4B2E83"/>
                </a:solidFill>
              </a:rPr>
              <a:t>MCA category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Categories close together are chosen by the same respondents: P+ sits with G+, while rare G− is pushed far out.</a:t>
            </a:r>
          </a:p>
        </p:txBody>
      </p:sp>
      <p:graphicFrame>
        <p:nvGraphicFramePr>
          <p:cNvPr id="40" name="MCA Map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8890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/>
      <p:bldP spid="30" grpId="0" animBg="1"/>
      <p:bldP spid="31" grpId="0"/>
      <p:bldP spid="40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1 — Indicator Matrix 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Survey: 6 commuters, Q = 2 questions (Transport · Commute) → J = 5 columns.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Indicator matrix   Z   (6 × 5)</a:t>
            </a:r>
          </a:p>
        </p:txBody>
      </p:sp>
      <p:sp>
        <p:nvSpPr>
          <p:cNvPr id="12" name="Cols"/>
          <p:cNvSpPr txBox="1"/>
          <p:nvPr/>
        </p:nvSpPr>
        <p:spPr>
          <a:xfrm>
            <a:off x="990600" y="2849562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</a:rPr>
              <a:t>Car   Bike   Train   Short   Long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667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𝑍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257800"/>
            <a:ext cx="596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rows R1–R6 top→bottom · row 1 (teal) = commuter 1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answer to 0/1 row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Commuter 1</a:t>
            </a:r>
            <a:r>
              <a:rPr lang="en-US" sz="1350" dirty="0">
                <a:solidFill>
                  <a:srgbClr val="333333"/>
                </a:solidFill>
              </a:rPr>
              <a:t> travels by Car, Long trip.</a:t>
            </a:r>
          </a:p>
          <a:p>
            <a:pPr algn="l">
              <a:spcBef>
                <a:spcPts val="140"/>
              </a:spcBef>
            </a:pPr>
            <a:r>
              <a:rPr lang="en-US" sz="1350" b="1" dirty="0">
                <a:solidFill>
                  <a:srgbClr val="00A7B5"/>
                </a:solidFill>
              </a:rPr>
              <a:t>→ row 1 = [ 1 0 0 0 1 ]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•  One 1 per question block</a:t>
            </a:r>
          </a:p>
          <a:p>
            <a:pPr algn="l">
              <a:spcBef>
                <a:spcPts val="40"/>
              </a:spcBef>
            </a:pPr>
            <a:r>
              <a:rPr lang="en-US" sz="1200" dirty="0">
                <a:solidFill>
                  <a:srgbClr val="666666"/>
                </a:solidFill>
              </a:rPr>
              <a:t>   (Transport: 3 cols · Commute: 2 cols).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Row sum = Q = 2 for everyone.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Z has n = 6 rows, J = 5 columns.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With a 3-category variable, that question contributes 3 dummy columns — still exactly one 1 per block.</a:t>
            </a:r>
          </a:p>
        </p:txBody>
      </p:sp>
      <p:pic>
        <p:nvPicPr>
          <p:cNvPr id="32" name="Graphic 32" descr="Trai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0" y="1981200"/>
            <a:ext cx="355600" cy="355600"/>
          </a:xfrm>
          <a:prstGeom prst="rect">
            <a:avLst/>
          </a:prstGeom>
        </p:spPr>
      </p:pic>
      <p:pic>
        <p:nvPicPr>
          <p:cNvPr id="33" name="Graphic 33" descr="Bicyc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1981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2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2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  <p:bldP spid="3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2 — Correspondence Matrix 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Divide every entry of Z by the grand total nQ = 6 × 2 = 12.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Correspondence matrix   P = Z ⁄ nQ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𝑃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2070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every 1 → 1/12 ≈ 0.083 · every 0 stays 0 · grand total = 12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divide by nQ?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Grand total = sum of all 1's in Z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= n × Q = 6 × 2 = 12.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Each entry becomes a proportion of the whole table.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P now sums to 1 → a joint probability table.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Same recipe, any survey size.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Rescaling to P makes surveys of different sizes directly comparable on a shared probability footing.</a:t>
            </a:r>
          </a:p>
        </p:txBody>
      </p:sp>
      <p:pic>
        <p:nvPicPr>
          <p:cNvPr id="32" name="Graphic 32" descr="Normalize/divide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50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3 — Row &amp; Column Masses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Row masses r (green) = row sums of P; column masses c (pink) = column sums.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the rows and columns of  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3876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𝑃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row sum → </a:t>
            </a:r>
            <a:r>
              <a:rPr lang="en-US" sz="1350" b="1" dirty="0">
                <a:solidFill>
                  <a:srgbClr val="7AB648"/>
                </a:solidFill>
              </a:rPr>
              <a:t>r = ( ⅙, ⅙, ⅙, ⅙, ⅙, ⅙ )</a:t>
            </a:r>
          </a:p>
          <a:p>
            <a:pPr algn="ctr">
              <a:spcBef>
                <a:spcPts val="220"/>
              </a:spcBef>
            </a:pPr>
            <a:r>
              <a:rPr lang="en-US" sz="1200" dirty="0">
                <a:solidFill>
                  <a:srgbClr val="666666"/>
                </a:solidFill>
              </a:rPr>
              <a:t>col sum → </a:t>
            </a:r>
            <a:r>
              <a:rPr lang="en-US" sz="1350" b="1" dirty="0">
                <a:solidFill>
                  <a:srgbClr val="D1578A"/>
                </a:solidFill>
              </a:rPr>
              <a:t>c = ( ⅙, ⅙, ⅙, ¼, ¼ 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Reading the masses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Row mass rᵢ = 1/n = 1/6.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Column mass cⱼ = total / nQ.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•  Car, Bike, Train each 2× → c = 2/12 = ⅙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Short, Long each 3× → c = 3/12 = ¼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Bigger groups carry more weight in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Commute categories (¼) outweigh the three transport categories (⅙) — mass follows frequency.</a:t>
            </a:r>
          </a:p>
        </p:txBody>
      </p:sp>
      <p:pic>
        <p:nvPicPr>
          <p:cNvPr id="32" name="Graphic 32" descr="Mass/weight 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1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4 — Burt Matrix  B = ZᵀZ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Cross-tabulate every pair of categories: B = ZᵀZ (5 × 5, symmetric).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order:  Car  Bike  Train  Short  Long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35000" y="2413000"/>
                <a:ext cx="6223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𝐵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sz="189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1890"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sz="189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890">
                          <a:latin typeface="Cambria Math"/>
                        </a:rPr>
                        <m:t>𝑍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13000"/>
                <a:ext cx="6223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diagonal (gold) = category totals</a:t>
            </a:r>
          </a:p>
          <a:p>
            <a:pPr algn="ctr">
              <a:spcBef>
                <a:spcPts val="160"/>
              </a:spcBef>
            </a:pPr>
            <a:r>
              <a:rPr lang="en-US" sz="1250" b="1" dirty="0">
                <a:solidFill>
                  <a:srgbClr val="00A7B5"/>
                </a:solidFill>
              </a:rPr>
              <a:t>off-diagonal (teal) = co-occurrences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What B stores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Zᵀ is 5×6, Z is 6×5 → B is 5×5.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Diagonal: each category's total.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Off-diagonal: pairwise co-occurrence.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333333"/>
                </a:solidFill>
              </a:rPr>
              <a:t>B(Car, Long) = colCar · colLong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= [110000]·[110010] = 2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Every Car commuter here travels Long.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5×5 Burt matrix captures all transport–commute associations in one symmetric table.</a:t>
            </a:r>
          </a:p>
        </p:txBody>
      </p:sp>
      <p:pic>
        <p:nvPicPr>
          <p:cNvPr id="32" name="Graphic 32" descr="Cross-tabulation 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8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5 — Standardized Residuals 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observed P with expected E = r cᵀ, then standardize the residuals.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Residuals around independence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s"/>
              <p:cNvSpPr txBox="1"/>
              <p:nvPr/>
            </p:nvSpPr>
            <p:spPr>
              <a:xfrm>
                <a:off x="635000" y="2463800"/>
                <a:ext cx="6223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𝐸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sz="2025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𝑃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)</m:t>
                      </m:r>
                      <m:sSubSup>
                        <m:sSubSupPr>
                          <m:ctrlPr>
                            <a:rPr sz="2025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uatio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63800"/>
                <a:ext cx="6223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outer product:  </a:t>
            </a:r>
            <a:r>
              <a:rPr lang="en-US" sz="1300" b="1" dirty="0">
                <a:solidFill>
                  <a:srgbClr val="7AB648"/>
                </a:solidFill>
              </a:rPr>
              <a:t>r</a:t>
            </a:r>
            <a:r>
              <a:rPr lang="en-US" sz="1250" dirty="0">
                <a:solidFill>
                  <a:srgbClr val="666666"/>
                </a:solidFill>
              </a:rPr>
              <a:t> (mass column)  ×  </a:t>
            </a:r>
            <a:r>
              <a:rPr lang="en-US" sz="1300" b="1" dirty="0">
                <a:solidFill>
                  <a:srgbClr val="D1578A"/>
                </a:solidFill>
              </a:rPr>
              <a:t>cᵀ</a:t>
            </a:r>
            <a:r>
              <a:rPr lang="en-US" sz="1250" dirty="0">
                <a:solidFill>
                  <a:srgbClr val="666666"/>
                </a:solidFill>
              </a:rPr>
              <a:t> (mass row)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counts to signal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Expected Eᵢⱼ = rᵢ cⱼ — value under independence.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E(1,1) = ⅙ × ⅙ = 1/36.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Residual = P − E (observed − expected).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Divide by √(rᵢ cⱼ) → standardized S.</a:t>
            </a:r>
          </a:p>
          <a:p>
            <a:pPr algn="l">
              <a:spcBef>
                <a:spcPts val="220"/>
              </a:spcBef>
            </a:pPr>
            <a:r>
              <a:rPr lang="en-US" sz="1250" i="1" dirty="0">
                <a:solidFill>
                  <a:srgbClr val="4B2E83"/>
                </a:solidFill>
              </a:rPr>
              <a:t>S is exactly what MCA decomposes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 measures how far each cell departs from independence — the signal MCA turns into a map.</a:t>
            </a:r>
          </a:p>
        </p:txBody>
      </p:sp>
      <p:pic>
        <p:nvPicPr>
          <p:cNvPr id="32" name="Graphic 32" descr="Target/expected bas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9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30" grpId="0" animBg="1"/>
      <p:bldP spid="31" grpId="0"/>
      <p:bldP spid="32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6 — SVD &amp; the MCA Map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 = U Σ Vᵀ; coordinates G = Dc^(−1/2) V Σ place the five categories.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Decompose, then place the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s"/>
              <p:cNvSpPr txBox="1"/>
              <p:nvPr/>
            </p:nvSpPr>
            <p:spPr>
              <a:xfrm>
                <a:off x="635000" y="2438400"/>
                <a:ext cx="6223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𝑆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𝑈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𝐺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sz="216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160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38400"/>
                <a:ext cx="6223000" cy="165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Inertia"/>
          <p:cNvSpPr txBox="1"/>
          <p:nvPr/>
        </p:nvSpPr>
        <p:spPr>
          <a:xfrm>
            <a:off x="889000" y="4140200"/>
            <a:ext cx="5715000" cy="147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4B2E83"/>
                </a:solidFill>
              </a:rPr>
              <a:t>Axis 1:  λ₁ = σ₁² = 0.91</a:t>
            </a:r>
            <a:r>
              <a:rPr lang="en-US" sz="1300" dirty="0">
                <a:solidFill>
                  <a:srgbClr val="85754D"/>
                </a:solidFill>
              </a:rPr>
              <a:t>   (61%)</a:t>
            </a:r>
          </a:p>
          <a:p>
            <a:pPr algn="l">
              <a:spcBef>
                <a:spcPts val="140"/>
              </a:spcBef>
            </a:pPr>
            <a:r>
              <a:rPr lang="en-US" sz="1350" b="1" dirty="0">
                <a:solidFill>
                  <a:srgbClr val="00A7B5"/>
                </a:solidFill>
              </a:rPr>
              <a:t>Axis 2:  λ₂ = σ₂² = 0.50</a:t>
            </a:r>
            <a:r>
              <a:rPr lang="en-US" sz="1300" dirty="0">
                <a:solidFill>
                  <a:srgbClr val="85754D"/>
                </a:solidFill>
              </a:rPr>
              <a:t>   (33%)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Total inertia (J−Q)/Q = 1.50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MCA category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Car↔Long and Bike↔Short sit on opposite sides; Train stands apart. Distance on the map = profile dissimilarity.</a:t>
            </a:r>
          </a:p>
        </p:txBody>
      </p:sp>
      <p:graphicFrame>
        <p:nvGraphicFramePr>
          <p:cNvPr id="40" name="MCA Map B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091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10" grpId="0" animBg="1"/>
      <p:bldP spid="11" grpId="0"/>
      <p:bldP spid="13" grpId="0"/>
      <p:bldP spid="14" grpId="0"/>
      <p:bldP spid="20" grpId="0"/>
      <p:bldP spid="30" grpId="0" animBg="1"/>
      <p:bldP spid="31" grpId="0"/>
      <p:bldP spid="40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565ECB-36E5-CE47-AA0B-B9363E2F67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D891F-4353-C345-BFDF-721FFDA293FF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42E25-227F-4440-A6AD-525BDF3BE13E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E0C1B8-950B-154F-B723-ACAE29B7F6BD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E83E4-F24B-1447-8790-4024864E4810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Multidimensional Scaling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5E2E40-CCA0-D64B-9F00-3E35820EC628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Recovering a map from a table of distances</a:t>
            </a:r>
          </a:p>
        </p:txBody>
      </p:sp>
    </p:spTree>
    <p:extLst>
      <p:ext uri="{BB962C8B-B14F-4D97-AF65-F5344CB8AC3E}">
        <p14:creationId xmlns:p14="http://schemas.microsoft.com/office/powerpoint/2010/main" val="319628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9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E1949D-BD21-C84B-B9A8-F1B9CC2DE0C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029BD-08C1-F448-9366-6BBE06BDCB1F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Multidimensional Scaling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D0EEB-9496-784E-A394-27F74E6C1879}"/>
              </a:ext>
            </a:extLst>
          </p:cNvPr>
          <p:cNvSpPr txBox="1"/>
          <p:nvPr/>
        </p:nvSpPr>
        <p:spPr>
          <a:xfrm>
            <a:off x="762000" y="14732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MDS works backwards from PCA: given only a table of pairwise distances (or dissimilarities) between objects, place them as points in a low-dimensional space so that the plotted distances match the given ones as closely as possible.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EA7619-C781-D342-887E-E68331B66408}"/>
              </a:ext>
            </a:extLst>
          </p:cNvPr>
          <p:cNvSpPr/>
          <p:nvPr/>
        </p:nvSpPr>
        <p:spPr>
          <a:xfrm>
            <a:off x="7620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0996D-5148-9B43-A0F9-BD3C945FBC03}"/>
              </a:ext>
            </a:extLst>
          </p:cNvPr>
          <p:cNvSpPr txBox="1"/>
          <p:nvPr/>
        </p:nvSpPr>
        <p:spPr>
          <a:xfrm>
            <a:off x="9398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51D41-B6FF-F241-A5D2-3ACC011F70CA}"/>
              </a:ext>
            </a:extLst>
          </p:cNvPr>
          <p:cNvSpPr txBox="1"/>
          <p:nvPr/>
        </p:nvSpPr>
        <p:spPr>
          <a:xfrm>
            <a:off x="9398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An n×n distance / dissimilarity matrix D. No coordinates needed — distances alone.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41DB41B-3933-BC48-BAD7-8D522377888E}"/>
              </a:ext>
            </a:extLst>
          </p:cNvPr>
          <p:cNvSpPr/>
          <p:nvPr/>
        </p:nvSpPr>
        <p:spPr>
          <a:xfrm>
            <a:off x="43815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57D53-A710-B64B-83A2-8637849DE43E}"/>
              </a:ext>
            </a:extLst>
          </p:cNvPr>
          <p:cNvSpPr txBox="1"/>
          <p:nvPr/>
        </p:nvSpPr>
        <p:spPr>
          <a:xfrm>
            <a:off x="45593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D0D9D-3EFD-C744-BD5A-DD0B232DFABB}"/>
              </a:ext>
            </a:extLst>
          </p:cNvPr>
          <p:cNvSpPr txBox="1"/>
          <p:nvPr/>
        </p:nvSpPr>
        <p:spPr>
          <a:xfrm>
            <a:off x="45593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Find coordinates X ∈ ℝⁿˣᵏ (usually k=2) whose pairwise distances ≈ 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5C0E408-DC93-C546-82F8-8D6F6607270F}"/>
              </a:ext>
            </a:extLst>
          </p:cNvPr>
          <p:cNvSpPr/>
          <p:nvPr/>
        </p:nvSpPr>
        <p:spPr>
          <a:xfrm>
            <a:off x="80010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C5A6B-E992-6E49-BD17-7A14CBC481F7}"/>
              </a:ext>
            </a:extLst>
          </p:cNvPr>
          <p:cNvSpPr txBox="1"/>
          <p:nvPr/>
        </p:nvSpPr>
        <p:spPr>
          <a:xfrm>
            <a:off x="81788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96A7DF-0690-7242-8EC8-506FD37FC6C9}"/>
              </a:ext>
            </a:extLst>
          </p:cNvPr>
          <p:cNvSpPr txBox="1"/>
          <p:nvPr/>
        </p:nvSpPr>
        <p:spPr>
          <a:xfrm>
            <a:off x="81788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map where 'close in D' ⇒ 'close on the page'. Reveals hidden structure / groupings.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9AA6C6-DC9E-5746-9616-3CADC5AD9F5E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25976-90D4-814D-A4BE-B2118AE060F8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Two flavours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261339-780F-044F-ACBB-6BCE8A0A1A5F}"/>
              </a:ext>
            </a:extLst>
          </p:cNvPr>
          <p:cNvSpPr txBox="1"/>
          <p:nvPr/>
        </p:nvSpPr>
        <p:spPr>
          <a:xfrm>
            <a:off x="990600" y="4470400"/>
            <a:ext cx="10210800" cy="9541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• Classical (metric) MDS — assumes distances are (approximately) Euclidean; solved in closed form by double-centering D² and taking an eigen-decomposition. Equivalent to PCA when D is Euclidean.
• Non-metric MDS — only the RANK ORDER of dissimilarities matters; finds coordinates by iteratively minimizing a stress function. Used for perceptual / preference data where exact distances aren't trusted.</a:t>
            </a:r>
          </a:p>
        </p:txBody>
      </p:sp>
    </p:spTree>
    <p:extLst>
      <p:ext uri="{BB962C8B-B14F-4D97-AF65-F5344CB8AC3E}">
        <p14:creationId xmlns:p14="http://schemas.microsoft.com/office/powerpoint/2010/main" val="119414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B8F3C-F561-FC44-A40E-E1CAC591132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61383-11E6-8D4A-B7CC-DA39093BCAAD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From Distances to a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EF52A-478D-BC47-81D1-E83AB71964A8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canonical demo: feed MDS a table of road distances between cities and it reconstructs their geographic layout — orientation and reflection are arbitrary.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BDA98-3270-0949-BADD-99D97295CF80}"/>
              </a:ext>
            </a:extLst>
          </p:cNvPr>
          <p:cNvSpPr txBox="1"/>
          <p:nvPr/>
        </p:nvSpPr>
        <p:spPr>
          <a:xfrm>
            <a:off x="762000" y="2108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Input: distance matrix (km)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69F510-4780-D74D-B0EA-E01202BB0D92}"/>
              </a:ext>
            </a:extLst>
          </p:cNvPr>
          <p:cNvSpPr/>
          <p:nvPr/>
        </p:nvSpPr>
        <p:spPr>
          <a:xfrm>
            <a:off x="762000" y="2413000"/>
            <a:ext cx="4826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0EFBF-62CF-004E-A2FE-40EED196484E}"/>
              </a:ext>
            </a:extLst>
          </p:cNvPr>
          <p:cNvSpPr txBox="1"/>
          <p:nvPr/>
        </p:nvSpPr>
        <p:spPr>
          <a:xfrm>
            <a:off x="939800" y="2565400"/>
            <a:ext cx="4470400" cy="162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            Sea    Por    SF     LA
Seattle      0    280   1100  1550
Portland   280     0    870   1300
S.F.      1100   870     0     560
L.A.      1550  1300    560    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3D71D-6239-D644-BF19-588944CF27EE}"/>
              </a:ext>
            </a:extLst>
          </p:cNvPr>
          <p:cNvSpPr txBox="1"/>
          <p:nvPr/>
        </p:nvSpPr>
        <p:spPr>
          <a:xfrm>
            <a:off x="6096000" y="2108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Output: recovered 2-D 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FEE0C6-3EC7-204A-AE5A-689DFB0DD3EE}"/>
              </a:ext>
            </a:extLst>
          </p:cNvPr>
          <p:cNvSpPr/>
          <p:nvPr/>
        </p:nvSpPr>
        <p:spPr>
          <a:xfrm>
            <a:off x="6096000" y="2413000"/>
            <a:ext cx="5334000" cy="1905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9DBB60-DDDA-7547-8E4A-6D77375C5F0E}"/>
              </a:ext>
            </a:extLst>
          </p:cNvPr>
          <p:cNvSpPr/>
          <p:nvPr/>
        </p:nvSpPr>
        <p:spPr>
          <a:xfrm>
            <a:off x="7112000" y="2540000"/>
            <a:ext cx="139700" cy="1397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989A4-BD01-AC48-B1EC-03A3484870BA}"/>
              </a:ext>
            </a:extLst>
          </p:cNvPr>
          <p:cNvSpPr txBox="1"/>
          <p:nvPr/>
        </p:nvSpPr>
        <p:spPr>
          <a:xfrm>
            <a:off x="7277100" y="24765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Seattle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54D1A7-B5C7-0643-8B7D-60C8CC1A9C31}"/>
              </a:ext>
            </a:extLst>
          </p:cNvPr>
          <p:cNvSpPr/>
          <p:nvPr/>
        </p:nvSpPr>
        <p:spPr>
          <a:xfrm>
            <a:off x="7302500" y="2946400"/>
            <a:ext cx="139700" cy="1397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7F5643-70DA-D44E-9F2D-FCF7E72C3602}"/>
              </a:ext>
            </a:extLst>
          </p:cNvPr>
          <p:cNvSpPr txBox="1"/>
          <p:nvPr/>
        </p:nvSpPr>
        <p:spPr>
          <a:xfrm>
            <a:off x="7467600" y="28829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Portland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9B02A0-7ED1-9742-A4B1-DB5F22E091F9}"/>
              </a:ext>
            </a:extLst>
          </p:cNvPr>
          <p:cNvSpPr/>
          <p:nvPr/>
        </p:nvSpPr>
        <p:spPr>
          <a:xfrm>
            <a:off x="8128000" y="3683000"/>
            <a:ext cx="139700" cy="1397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2BBA9B-7F5A-154F-B9CD-A24D46F27C7C}"/>
              </a:ext>
            </a:extLst>
          </p:cNvPr>
          <p:cNvSpPr txBox="1"/>
          <p:nvPr/>
        </p:nvSpPr>
        <p:spPr>
          <a:xfrm>
            <a:off x="8293100" y="36195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D1578A"/>
                </a:solidFill>
              </a:rPr>
              <a:t>S.F.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613AF9-CD60-7840-8D83-E7ECC6F903F0}"/>
              </a:ext>
            </a:extLst>
          </p:cNvPr>
          <p:cNvSpPr/>
          <p:nvPr/>
        </p:nvSpPr>
        <p:spPr>
          <a:xfrm>
            <a:off x="8890000" y="4038600"/>
            <a:ext cx="139700" cy="1397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1575FE-1425-9743-8A3F-52139D13EAE1}"/>
              </a:ext>
            </a:extLst>
          </p:cNvPr>
          <p:cNvSpPr txBox="1"/>
          <p:nvPr/>
        </p:nvSpPr>
        <p:spPr>
          <a:xfrm>
            <a:off x="9055100" y="39751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D1578A"/>
                </a:solidFill>
              </a:rPr>
              <a:t>L.A.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1CE62FD-A52D-3C48-8380-F81B3310839D}"/>
              </a:ext>
            </a:extLst>
          </p:cNvPr>
          <p:cNvSpPr/>
          <p:nvPr/>
        </p:nvSpPr>
        <p:spPr>
          <a:xfrm>
            <a:off x="762000" y="4521200"/>
            <a:ext cx="10668000" cy="1549400"/>
          </a:xfrm>
          <a:prstGeom prst="roundRect">
            <a:avLst/>
          </a:prstGeom>
          <a:solidFill>
            <a:srgbClr val="FBF1F5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E3EA5-BC8E-9D45-81CA-1413314F9815}"/>
              </a:ext>
            </a:extLst>
          </p:cNvPr>
          <p:cNvSpPr txBox="1"/>
          <p:nvPr/>
        </p:nvSpPr>
        <p:spPr>
          <a:xfrm>
            <a:off x="990600" y="46482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C03070"/>
                </a:solidFill>
              </a:rPr>
              <a:t>Reading an MDS map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16E73-6278-1F47-B4EE-E18DCA6AF9AA}"/>
              </a:ext>
            </a:extLst>
          </p:cNvPr>
          <p:cNvSpPr txBox="1"/>
          <p:nvPr/>
        </p:nvSpPr>
        <p:spPr>
          <a:xfrm>
            <a:off x="990600" y="4978400"/>
            <a:ext cx="10210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Only relative distances are meaningful — the whole map can be rotated, reflected, or shifted freely.
• Axes have no intrinsic units or names; don't interpret them like PCA loadings unless you add side data.
• Check goodness-of-fit (stress) before trusting the picture — a low-stress 2-D solution means distances are well preserved.</a:t>
            </a:r>
          </a:p>
        </p:txBody>
      </p:sp>
    </p:spTree>
    <p:extLst>
      <p:ext uri="{BB962C8B-B14F-4D97-AF65-F5344CB8AC3E}">
        <p14:creationId xmlns:p14="http://schemas.microsoft.com/office/powerpoint/2010/main" val="425277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E4504E-540D-3E47-AF1B-5C10C3657B5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8FB3D-953D-A443-9A43-0B600BAE95CE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How Many Dimensions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7659F-8DD3-6448-B066-78CDA34B758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Choosing k trades off readability against fidelity. Three diagnostics guide the choice.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F8BAC1-D9CE-9943-9DFD-0767E8B14E98}"/>
              </a:ext>
            </a:extLst>
          </p:cNvPr>
          <p:cNvSpPr/>
          <p:nvPr/>
        </p:nvSpPr>
        <p:spPr>
          <a:xfrm>
            <a:off x="762000" y="19304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E9012-8473-9942-9ABF-448A10C48792}"/>
              </a:ext>
            </a:extLst>
          </p:cNvPr>
          <p:cNvSpPr txBox="1"/>
          <p:nvPr/>
        </p:nvSpPr>
        <p:spPr>
          <a:xfrm>
            <a:off x="939800" y="20320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Stress vs 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27D61-235A-F547-BEDB-BBBCE304B6BF}"/>
              </a:ext>
            </a:extLst>
          </p:cNvPr>
          <p:cNvSpPr txBox="1"/>
          <p:nvPr/>
        </p:nvSpPr>
        <p:spPr>
          <a:xfrm>
            <a:off x="939800" y="23114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Plot Kruskal's stress against k; pick the 'elbow' where adding a dimension stops helping.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57D653-C38D-AE4E-B8D5-50915F5A6CD3}"/>
              </a:ext>
            </a:extLst>
          </p:cNvPr>
          <p:cNvSpPr/>
          <p:nvPr/>
        </p:nvSpPr>
        <p:spPr>
          <a:xfrm>
            <a:off x="762000" y="29210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AEA7B-018B-9848-B241-17AAB83A890E}"/>
              </a:ext>
            </a:extLst>
          </p:cNvPr>
          <p:cNvSpPr txBox="1"/>
          <p:nvPr/>
        </p:nvSpPr>
        <p:spPr>
          <a:xfrm>
            <a:off x="939800" y="30226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Stress thresholds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088B7D-AAD8-7B4B-95F1-68D71A0C2D3D}"/>
              </a:ext>
            </a:extLst>
          </p:cNvPr>
          <p:cNvSpPr txBox="1"/>
          <p:nvPr/>
        </p:nvSpPr>
        <p:spPr>
          <a:xfrm>
            <a:off x="939800" y="33020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Rule of thumb: stress ≤0.05 excellent, ≤0.10 good, ≤0.20 fair, &gt;0.20 poor.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19D49D-CFDE-4F49-A870-29623C26D336}"/>
              </a:ext>
            </a:extLst>
          </p:cNvPr>
          <p:cNvSpPr/>
          <p:nvPr/>
        </p:nvSpPr>
        <p:spPr>
          <a:xfrm>
            <a:off x="762000" y="39116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B6AE1-B522-924F-9F40-58E1D0F60D38}"/>
              </a:ext>
            </a:extLst>
          </p:cNvPr>
          <p:cNvSpPr txBox="1"/>
          <p:nvPr/>
        </p:nvSpPr>
        <p:spPr>
          <a:xfrm>
            <a:off x="939800" y="40132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Eigenvalues (classical)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093F9-6E6E-9C43-A811-65D68D5DBBA6}"/>
              </a:ext>
            </a:extLst>
          </p:cNvPr>
          <p:cNvSpPr txBox="1"/>
          <p:nvPr/>
        </p:nvSpPr>
        <p:spPr>
          <a:xfrm>
            <a:off x="939800" y="42926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 classical MDS, keep dims with large positive eigenvalues; negatives signal non-Euclidean 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37A4FB-971E-8E41-B786-40359FFCB0E5}"/>
              </a:ext>
            </a:extLst>
          </p:cNvPr>
          <p:cNvSpPr txBox="1"/>
          <p:nvPr/>
        </p:nvSpPr>
        <p:spPr>
          <a:xfrm>
            <a:off x="762000" y="4978400"/>
            <a:ext cx="482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Stress generally falls as k rises; the elbow (here k=2) is the practical choice for a readable map.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5842000" y="1905000"/>
          <a:ext cx="558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572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/>
      <p:bldP spid="20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EB3D1A-9957-184D-98E1-910B1C81AF0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966C-D9CD-9F4D-A658-416FE29B07F3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Classical MDS — Matrix Formulation 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8027D-8FA5-2146-BC2B-7A95F81242C2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Classical MDS turns a distance matrix into an inner-product (Gram) matrix by 'double-centering', then reads off coordinates from its eigen-decomposition.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50977-4392-594A-95A0-5E064689391E}"/>
              </a:ext>
            </a:extLst>
          </p:cNvPr>
          <p:cNvSpPr txBox="1"/>
          <p:nvPr/>
        </p:nvSpPr>
        <p:spPr>
          <a:xfrm>
            <a:off x="762000" y="2032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Given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BD40E7-19B3-5040-AD22-F1D6CC2BAD7F}"/>
              </a:ext>
            </a:extLst>
          </p:cNvPr>
          <p:cNvSpPr/>
          <p:nvPr/>
        </p:nvSpPr>
        <p:spPr>
          <a:xfrm>
            <a:off x="762000" y="2336800"/>
            <a:ext cx="5334000" cy="121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B8D39-EBA7-9E4B-94AB-BC6B90AC4978}"/>
              </a:ext>
            </a:extLst>
          </p:cNvPr>
          <p:cNvSpPr txBox="1"/>
          <p:nvPr/>
        </p:nvSpPr>
        <p:spPr>
          <a:xfrm>
            <a:off x="939800" y="2463800"/>
            <a:ext cx="4978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Distance matrix D ∈ ℝⁿˣⁿ, entries dᵢⱼ ≥ 0.
Squared distances:  D⁽²⁾ with (D⁽²⁾)ᵢⱼ = dᵢⱼ².
Centering matrix:  J = I − (1/n) 11ᵀ.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9DCEB-5195-7043-BA62-3675C7DDE0A1}"/>
              </a:ext>
            </a:extLst>
          </p:cNvPr>
          <p:cNvSpPr txBox="1"/>
          <p:nvPr/>
        </p:nvSpPr>
        <p:spPr>
          <a:xfrm>
            <a:off x="6350000" y="2032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Double-centering ⇒ Gram matrix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6D6F20-5630-D34B-BF30-4DDAD773551D}"/>
              </a:ext>
            </a:extLst>
          </p:cNvPr>
          <p:cNvSpPr/>
          <p:nvPr/>
        </p:nvSpPr>
        <p:spPr>
          <a:xfrm>
            <a:off x="6350000" y="2336800"/>
            <a:ext cx="5080000" cy="121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6B336-32B4-F240-B585-C14552BAE16F}"/>
              </a:ext>
            </a:extLst>
          </p:cNvPr>
          <p:cNvSpPr txBox="1"/>
          <p:nvPr/>
        </p:nvSpPr>
        <p:spPr>
          <a:xfrm>
            <a:off x="6527800" y="2463800"/>
            <a:ext cx="4724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B = −½ · J D⁽²⁾ J
Then  Bᵢⱼ = ⟨xᵢ − x̄, xⱼ − x̄⟩
(centred inner products of the points).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C1517-79C7-E144-AE68-0E7B7023676D}"/>
              </a:ext>
            </a:extLst>
          </p:cNvPr>
          <p:cNvSpPr txBox="1"/>
          <p:nvPr/>
        </p:nvSpPr>
        <p:spPr>
          <a:xfrm>
            <a:off x="762000" y="3759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Why this works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7F137D-F37C-BA4B-9E39-E636E7680D27}"/>
              </a:ext>
            </a:extLst>
          </p:cNvPr>
          <p:cNvSpPr/>
          <p:nvPr/>
        </p:nvSpPr>
        <p:spPr>
          <a:xfrm>
            <a:off x="762000" y="4064000"/>
            <a:ext cx="10668000" cy="2006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E0C4B-8564-A249-89A9-D30CEC5BCEFC}"/>
              </a:ext>
            </a:extLst>
          </p:cNvPr>
          <p:cNvSpPr txBox="1"/>
          <p:nvPr/>
        </p:nvSpPr>
        <p:spPr>
          <a:xfrm>
            <a:off x="939800" y="4191000"/>
            <a:ext cx="10312400" cy="180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If the dᵢⱼ are Euclidean distances among points x₁,…,xₙ, then dᵢⱼ² = ‖xᵢ‖² + ‖xⱼ‖² − 2⟨xᵢ,xⱼ⟩.
Pre- and post-multiplying D⁽²⁾ by J subtracts the row mean and column mean (and adds back the grand mean),
which cancels the ‖xᵢ‖² and ‖xⱼ‖² terms and leaves exactly the centred inner products:
        B = X꜀ X꜀ᵀ ,   where X꜀ holds the centred coordinates.
So recovering coordinates from D reduces to factorizing the n×n matrix B — handled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61076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4E751E-2FBB-8B45-B4C8-4ADCFCF3FF7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E1F0A-4A72-9044-97D8-97E5BEA63F3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Classical MDS — Matrix Formulation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F306A-CB4D-2344-BDC8-ED0BBDFB21F0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Eigen-decompose 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84D094-55EF-C549-BF94-740687BAEE3C}"/>
              </a:ext>
            </a:extLst>
          </p:cNvPr>
          <p:cNvSpPr/>
          <p:nvPr/>
        </p:nvSpPr>
        <p:spPr>
          <a:xfrm>
            <a:off x="762000" y="1828800"/>
            <a:ext cx="5334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8BDF3-7313-884B-A3CD-96DFFEB96589}"/>
              </a:ext>
            </a:extLst>
          </p:cNvPr>
          <p:cNvSpPr txBox="1"/>
          <p:nvPr/>
        </p:nvSpPr>
        <p:spPr>
          <a:xfrm>
            <a:off x="939800" y="1955800"/>
            <a:ext cx="4978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B = V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 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Vᵀ ,
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 = 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diag(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λ₁ ≥ λ₂ ≥ … ≥ λ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ₙ),
V = orthonormal eigenvectors.
(B is symmetric ⇒ real eigenvalues.)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0FFA1-E842-1942-B27C-E157945ACBE3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Coordinates in k dimensions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90C7CE-5089-7948-AE46-60ED6004DE3C}"/>
              </a:ext>
            </a:extLst>
          </p:cNvPr>
          <p:cNvSpPr/>
          <p:nvPr/>
        </p:nvSpPr>
        <p:spPr>
          <a:xfrm>
            <a:off x="6350000" y="1828800"/>
            <a:ext cx="5080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4A02D-CE99-2B41-93B4-BD2F5D065087}"/>
              </a:ext>
            </a:extLst>
          </p:cNvPr>
          <p:cNvSpPr txBox="1"/>
          <p:nvPr/>
        </p:nvSpPr>
        <p:spPr>
          <a:xfrm>
            <a:off x="6527800" y="1955800"/>
            <a:ext cx="4724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Take the k largest POSITIVE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λ:
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X = Vₖ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ₖ^(1/2)    (n×k)
Row i of X = coordinates of point i.
k=2 gives the usual planar map.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BF99A-8A60-364B-A3E7-2E9DE4CB40EF}"/>
              </a:ext>
            </a:extLst>
          </p:cNvPr>
          <p:cNvSpPr txBox="1"/>
          <p:nvPr/>
        </p:nvSpPr>
        <p:spPr>
          <a:xfrm>
            <a:off x="762000" y="3530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Goodness-of-fit &amp; caveats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AF88E6-5BCC-BF42-A98A-35E4EFE35A75}"/>
              </a:ext>
            </a:extLst>
          </p:cNvPr>
          <p:cNvSpPr/>
          <p:nvPr/>
        </p:nvSpPr>
        <p:spPr>
          <a:xfrm>
            <a:off x="762000" y="3835400"/>
            <a:ext cx="10668000" cy="2235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45E61-C4B6-344B-8DE5-3D47B6B68530}"/>
              </a:ext>
            </a:extLst>
          </p:cNvPr>
          <p:cNvSpPr txBox="1"/>
          <p:nvPr/>
        </p:nvSpPr>
        <p:spPr>
          <a:xfrm>
            <a:off x="939800" y="3962400"/>
            <a:ext cx="103124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Variance-explained analogue:   GoF(k)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λ₁+…+λ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ₖ) /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 max(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ⱼ, 0).
Equivalence to PCA:  if D holds Euclidean distances of centred data, classical MDS coordinates equal the
PCA scores — same eigenvalues, same picture (up to rotation/reflection).
Negative eigenvalues:  appear when D is NOT Euclidean (e.g. road distances over terrain). Small negatives are
usually ignored; large ones warn that a low-dim Euclidean map distorts the data — consider non-metric MDS.
Sign/orientation of axes is arbitrary, exactly as in PCA and CA.</a:t>
            </a:r>
          </a:p>
        </p:txBody>
      </p:sp>
    </p:spTree>
    <p:extLst>
      <p:ext uri="{BB962C8B-B14F-4D97-AF65-F5344CB8AC3E}">
        <p14:creationId xmlns:p14="http://schemas.microsoft.com/office/powerpoint/2010/main" val="293911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5B4906-6428-AF47-8C05-C7A30D1BBC7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92EF9-9424-174B-A0E7-7E94C8091718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Computation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F88F6-04FB-9F49-B78D-1BB6365CE8F4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Classical (metric) MDS — closed form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41ABA1-5050-BB43-9442-19DD93547376}"/>
              </a:ext>
            </a:extLst>
          </p:cNvPr>
          <p:cNvSpPr/>
          <p:nvPr/>
        </p:nvSpPr>
        <p:spPr>
          <a:xfrm>
            <a:off x="7620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CDF2EE-8A8D-9A46-8711-7B6C5FA672FE}"/>
              </a:ext>
            </a:extLst>
          </p:cNvPr>
          <p:cNvSpPr/>
          <p:nvPr/>
        </p:nvSpPr>
        <p:spPr>
          <a:xfrm>
            <a:off x="914400" y="2032000"/>
            <a:ext cx="406400" cy="406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CF8B3-0B31-6847-848D-AE4D2F00C54A}"/>
              </a:ext>
            </a:extLst>
          </p:cNvPr>
          <p:cNvSpPr txBox="1"/>
          <p:nvPr/>
        </p:nvSpPr>
        <p:spPr>
          <a:xfrm>
            <a:off x="9144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Square distances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C6995-03F6-404E-9DB8-1BD67023FB9C}"/>
              </a:ext>
            </a:extLst>
          </p:cNvPr>
          <p:cNvSpPr txBox="1"/>
          <p:nvPr/>
        </p:nvSpPr>
        <p:spPr>
          <a:xfrm>
            <a:off x="9144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Form D⁽²⁾ with entries dᵢⱼ².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FECA1BB-CC05-DB46-808D-4642FE7D8C06}"/>
              </a:ext>
            </a:extLst>
          </p:cNvPr>
          <p:cNvSpPr/>
          <p:nvPr/>
        </p:nvSpPr>
        <p:spPr>
          <a:xfrm>
            <a:off x="34544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11E80-E906-8F41-ACEC-5BEAE8CBB003}"/>
              </a:ext>
            </a:extLst>
          </p:cNvPr>
          <p:cNvSpPr/>
          <p:nvPr/>
        </p:nvSpPr>
        <p:spPr>
          <a:xfrm>
            <a:off x="3606800" y="2032000"/>
            <a:ext cx="406400" cy="4064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C20DF-AF27-AC41-9205-72474957D081}"/>
              </a:ext>
            </a:extLst>
          </p:cNvPr>
          <p:cNvSpPr txBox="1"/>
          <p:nvPr/>
        </p:nvSpPr>
        <p:spPr>
          <a:xfrm>
            <a:off x="36068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Double-center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ECE17-E76E-FA44-8C43-03C048A2F30F}"/>
              </a:ext>
            </a:extLst>
          </p:cNvPr>
          <p:cNvSpPr txBox="1"/>
          <p:nvPr/>
        </p:nvSpPr>
        <p:spPr>
          <a:xfrm>
            <a:off x="36068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B = −½ J D⁽²⁾ J,  J = I − (1/n)11ᵀ.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46ECEC-8D23-8B4E-849C-EC25BDE7BC5E}"/>
              </a:ext>
            </a:extLst>
          </p:cNvPr>
          <p:cNvSpPr/>
          <p:nvPr/>
        </p:nvSpPr>
        <p:spPr>
          <a:xfrm>
            <a:off x="61468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9FAD7F-FDB0-6D43-BEF2-C7566566C875}"/>
              </a:ext>
            </a:extLst>
          </p:cNvPr>
          <p:cNvSpPr/>
          <p:nvPr/>
        </p:nvSpPr>
        <p:spPr>
          <a:xfrm>
            <a:off x="6299200" y="2032000"/>
            <a:ext cx="406400" cy="406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B4BAB-AB03-FD40-9F99-0002163D8DBC}"/>
              </a:ext>
            </a:extLst>
          </p:cNvPr>
          <p:cNvSpPr txBox="1"/>
          <p:nvPr/>
        </p:nvSpPr>
        <p:spPr>
          <a:xfrm>
            <a:off x="62992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7AB648"/>
                </a:solidFill>
              </a:rPr>
              <a:t>Eigen-decompose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44BD9-102A-F74F-8EAB-412064518029}"/>
              </a:ext>
            </a:extLst>
          </p:cNvPr>
          <p:cNvSpPr txBox="1"/>
          <p:nvPr/>
        </p:nvSpPr>
        <p:spPr>
          <a:xfrm>
            <a:off x="62992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B = V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Vᵀ; sort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 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descending.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1A0242-EF8F-D44F-B5FD-46DAD3F9512E}"/>
              </a:ext>
            </a:extLst>
          </p:cNvPr>
          <p:cNvSpPr/>
          <p:nvPr/>
        </p:nvSpPr>
        <p:spPr>
          <a:xfrm>
            <a:off x="88392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C62362-5FD0-AF48-BC84-7FF5D077A3E2}"/>
              </a:ext>
            </a:extLst>
          </p:cNvPr>
          <p:cNvSpPr/>
          <p:nvPr/>
        </p:nvSpPr>
        <p:spPr>
          <a:xfrm>
            <a:off x="8991600" y="2032000"/>
            <a:ext cx="406400" cy="406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C52181-1473-7D42-B131-220593F3AA23}"/>
              </a:ext>
            </a:extLst>
          </p:cNvPr>
          <p:cNvSpPr txBox="1"/>
          <p:nvPr/>
        </p:nvSpPr>
        <p:spPr>
          <a:xfrm>
            <a:off x="89916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Read coordinates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23F310-85DA-394A-BD5D-AA95DD7980BD}"/>
              </a:ext>
            </a:extLst>
          </p:cNvPr>
          <p:cNvSpPr txBox="1"/>
          <p:nvPr/>
        </p:nvSpPr>
        <p:spPr>
          <a:xfrm>
            <a:off x="89916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X = Vₖ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ₖ^{1/2} using k top positive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λ.</a:t>
            </a:r>
            <a:endParaRPr lang="en-US" sz="135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3A9EA-FD90-1D44-AE81-55816220E9B4}"/>
              </a:ext>
            </a:extLst>
          </p:cNvPr>
          <p:cNvSpPr txBox="1"/>
          <p:nvPr/>
        </p:nvSpPr>
        <p:spPr>
          <a:xfrm>
            <a:off x="762000" y="3810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Non-metric MDS — iterative (SMACOF / Kruskal)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40D2F9-F4FD-7B46-8230-6D2049E4F110}"/>
              </a:ext>
            </a:extLst>
          </p:cNvPr>
          <p:cNvSpPr/>
          <p:nvPr/>
        </p:nvSpPr>
        <p:spPr>
          <a:xfrm>
            <a:off x="762000" y="4114800"/>
            <a:ext cx="10668000" cy="1955800"/>
          </a:xfrm>
          <a:prstGeom prst="roundRect">
            <a:avLst/>
          </a:prstGeom>
          <a:solidFill>
            <a:srgbClr val="FBF1F5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5C4F12-96B0-5141-BB27-1C8CFF63458A}"/>
              </a:ext>
            </a:extLst>
          </p:cNvPr>
          <p:cNvSpPr txBox="1"/>
          <p:nvPr/>
        </p:nvSpPr>
        <p:spPr>
          <a:xfrm>
            <a:off x="990600" y="4267200"/>
            <a:ext cx="10210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1.  Initialize coordinates (often from classical MDS).
2.  Compute current map distances; fit a monotone regression of distances on the input dissimilarities
     (isotonic 'disparities' d̂ᵢⱼ that respect only the rank order).
3.  Update points to reduce  Stress = √[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dᵢⱼ − d̂ᵢⱼ)² /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dᵢⱼ² ]  (gradient / majorization step).
4.  Repeat 2–3 until stress converges. Use several random starts to avoid local minima.</a:t>
            </a:r>
          </a:p>
        </p:txBody>
      </p:sp>
    </p:spTree>
    <p:extLst>
      <p:ext uri="{BB962C8B-B14F-4D97-AF65-F5344CB8AC3E}">
        <p14:creationId xmlns:p14="http://schemas.microsoft.com/office/powerpoint/2010/main" val="40927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23373D-7F75-D149-A65E-BB158EE3737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0DB77-AB8C-1D41-88C5-7C581379CADB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Classical MDS (Setup)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A1A777-401A-A046-A471-A1362D5AB63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4AD65-1FA8-284C-A448-269F341345EC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Three objects with the distance matrix below. Build D⁽²⁾ and double-center to get B = −½ J D⁽²⁾ J.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440BC-30A6-C14D-A9CC-AB11E54B5169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Distances D and squares D⁽²⁾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BDA594-A531-E243-BE0B-3652B8BA07CC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35115-796F-9C48-AAF9-FB86BB8B8C1C}"/>
              </a:ext>
            </a:extLst>
          </p:cNvPr>
          <p:cNvSpPr txBox="1"/>
          <p:nvPr/>
        </p:nvSpPr>
        <p:spPr>
          <a:xfrm>
            <a:off x="939800" y="2311400"/>
            <a:ext cx="49784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        A    B    C
A      0    3    3
B      3    0    3        (equilateral,
C      3    3    0         side 3)
D⁽²⁾ = [0 9 9 ; 9 0 9 ; 9 9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2DF9B-E71B-5E4E-A99C-39A082905BA5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Double-centering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E8603B-AA22-7146-9B6D-1DDDB68AB62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79F7B-9258-5741-98B2-65D679284030}"/>
              </a:ext>
            </a:extLst>
          </p:cNvPr>
          <p:cNvSpPr txBox="1"/>
          <p:nvPr/>
        </p:nvSpPr>
        <p:spPr>
          <a:xfrm>
            <a:off x="6527800" y="2311400"/>
            <a:ext cx="4724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J = I − (1/3)11ᵀ  (n=3)
Row/col means of D⁽²⁾ = 6; grand mean = 6.
Bᵢⱼ = −½(D⁽²⁾ᵢⱼ − rowᵢ − colⱼ + grand)
Diagonal: −½(0 − 6 − 6 + 6) = 3
Off-diag: −½(9 − 6 − 6 + 6) = −1.5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24BD2-E487-0342-803A-F99276748222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Resulting Gram matrix 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03C06-B142-0347-B238-04834D9BAF1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DD20B-378F-CE4F-869C-9F6832B9D41A}"/>
              </a:ext>
            </a:extLst>
          </p:cNvPr>
          <p:cNvSpPr txBox="1"/>
          <p:nvPr/>
        </p:nvSpPr>
        <p:spPr>
          <a:xfrm>
            <a:off x="939800" y="4699000"/>
            <a:ext cx="10312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 = [  3.0   −1.5   −1.5 ;
      −1.5    3.0   −1.5 ;
      −1.5   −1.5    3.0 ]
Each row sums to 0 (a property guaranteed by double-centering — the points are centred at the origin).
Next slide: eigen-decompose B to obtain the 2-D coordinates of the three points.</a:t>
            </a:r>
          </a:p>
        </p:txBody>
      </p:sp>
    </p:spTree>
    <p:extLst>
      <p:ext uri="{BB962C8B-B14F-4D97-AF65-F5344CB8AC3E}">
        <p14:creationId xmlns:p14="http://schemas.microsoft.com/office/powerpoint/2010/main" val="58861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Distance Matrix 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Three points on an equilateral triangle, every side = 3 → symmetric D with a zero diagonal.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Pairwise distances   D   (3 ×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𝐷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498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zero diagonal (gold) · equal sides = 3 (teal) · symmetric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hidden configuration</a:t>
            </a:r>
          </a:p>
        </p:txBody>
      </p:sp>
      <p:sp>
        <p:nvSpPr>
          <p:cNvPr id="60" name="Triangle"/>
          <p:cNvSpPr/>
          <p:nvPr/>
        </p:nvSpPr>
        <p:spPr>
          <a:xfrm>
            <a:off x="8064500" y="2692400"/>
            <a:ext cx="2286000" cy="2006600"/>
          </a:xfrm>
          <a:prstGeom prst="triangle">
            <a:avLst/>
          </a:prstGeom>
          <a:noFill/>
          <a:ln w="285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DotA"/>
          <p:cNvSpPr/>
          <p:nvPr/>
        </p:nvSpPr>
        <p:spPr>
          <a:xfrm>
            <a:off x="9105900" y="25908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B"/>
          <p:cNvSpPr/>
          <p:nvPr/>
        </p:nvSpPr>
        <p:spPr>
          <a:xfrm>
            <a:off x="7962900" y="45974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C"/>
          <p:cNvSpPr/>
          <p:nvPr/>
        </p:nvSpPr>
        <p:spPr>
          <a:xfrm>
            <a:off x="10248900" y="45974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LabA"/>
          <p:cNvSpPr txBox="1"/>
          <p:nvPr/>
        </p:nvSpPr>
        <p:spPr>
          <a:xfrm>
            <a:off x="9017000" y="2260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A</a:t>
            </a:r>
          </a:p>
        </p:txBody>
      </p:sp>
      <p:sp>
        <p:nvSpPr>
          <p:cNvPr id="65" name="LabB"/>
          <p:cNvSpPr txBox="1"/>
          <p:nvPr/>
        </p:nvSpPr>
        <p:spPr>
          <a:xfrm>
            <a:off x="7594600" y="4775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B</a:t>
            </a:r>
          </a:p>
        </p:txBody>
      </p:sp>
      <p:sp>
        <p:nvSpPr>
          <p:cNvPr id="66" name="LabC"/>
          <p:cNvSpPr txBox="1"/>
          <p:nvPr/>
        </p:nvSpPr>
        <p:spPr>
          <a:xfrm>
            <a:off x="10261600" y="4775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C</a:t>
            </a:r>
          </a:p>
        </p:txBody>
      </p:sp>
      <p:sp>
        <p:nvSpPr>
          <p:cNvPr id="67" name="SideAB"/>
          <p:cNvSpPr txBox="1"/>
          <p:nvPr/>
        </p:nvSpPr>
        <p:spPr>
          <a:xfrm>
            <a:off x="8077200" y="3530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68" name="SideAC"/>
          <p:cNvSpPr txBox="1"/>
          <p:nvPr/>
        </p:nvSpPr>
        <p:spPr>
          <a:xfrm>
            <a:off x="9931400" y="3530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69" name="SideBC"/>
          <p:cNvSpPr txBox="1"/>
          <p:nvPr/>
        </p:nvSpPr>
        <p:spPr>
          <a:xfrm>
            <a:off x="9017000" y="43180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Classical MDS starts from distances only — the goal is to recover points whose distances reproduce D.</a:t>
            </a:r>
          </a:p>
        </p:txBody>
      </p:sp>
    </p:spTree>
    <p:extLst>
      <p:ext uri="{BB962C8B-B14F-4D97-AF65-F5344CB8AC3E}">
        <p14:creationId xmlns:p14="http://schemas.microsoft.com/office/powerpoint/2010/main" val="21023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60" grpId="0" animBg="1"/>
      <p:bldP spid="61" grpId="0" animBg="1"/>
      <p:bldP spid="62" grpId="0" animBg="1"/>
      <p:bldP spid="63" grpId="0" animBg="1"/>
      <p:bldP spid="64" grpId="0"/>
      <p:bldP spid="65" grpId="0"/>
      <p:bldP spid="66" grpId="0"/>
      <p:bldP spid="67" grpId="0"/>
      <p:bldP spid="68" grpId="0"/>
      <p:bldP spid="69" grpId="0"/>
      <p:bldP spid="30" grpId="0" animBg="1"/>
      <p:bldP spid="3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Square the Distances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every entry of D element-wise → D⁽²⁾ (gold shows 3² = 9; the diagonal stays 0).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Squared distances   D⁽²⁾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5400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30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8006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every 3 → 9 (gold) · diagonal 0 →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Element-wise squaring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Eq2"/>
              <p:cNvSpPr txBox="1"/>
              <p:nvPr/>
            </p:nvSpPr>
            <p:spPr>
              <a:xfrm>
                <a:off x="7112000" y="2667000"/>
                <a:ext cx="4191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30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2" name="Eq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67000"/>
                <a:ext cx="4191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Body"/>
          <p:cNvSpPr txBox="1"/>
          <p:nvPr/>
        </p:nvSpPr>
        <p:spPr>
          <a:xfrm>
            <a:off x="7188200" y="36830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MDS transforms </a:t>
            </a:r>
            <a:r>
              <a:rPr lang="en-US" sz="1300" b="1" dirty="0">
                <a:solidFill>
                  <a:srgbClr val="85754D"/>
                </a:solidFill>
              </a:rPr>
              <a:t>squared</a:t>
            </a:r>
            <a:r>
              <a:rPr lang="en-US" sz="1300" dirty="0">
                <a:solidFill>
                  <a:srgbClr val="333333"/>
                </a:solidFill>
              </a:rPr>
              <a:t> distances,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</a:rPr>
              <a:t>not the raw ones.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Squaring is what lets double-centering recover inner products.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Squared distances D⁽²⁾ are the input to double-centering, which converts them into a Gram matrix.</a:t>
            </a:r>
          </a:p>
        </p:txBody>
      </p:sp>
    </p:spTree>
    <p:extLst>
      <p:ext uri="{BB962C8B-B14F-4D97-AF65-F5344CB8AC3E}">
        <p14:creationId xmlns:p14="http://schemas.microsoft.com/office/powerpoint/2010/main" val="354122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23" grpId="0"/>
      <p:bldP spid="30" grpId="0" animBg="1"/>
      <p:bldP spid="3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Centering Matrix J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Double-centering in one shot: B = −½ · J · D⁽²⁾ · J, with J = I − (1/n)·11ᵀ.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Centering matrix   J   (n = 3)</a:t>
            </a:r>
          </a:p>
        </p:txBody>
      </p:sp>
      <p:sp>
        <p:nvSpPr>
          <p:cNvPr id="12" name="Formula"/>
          <p:cNvSpPr txBox="1"/>
          <p:nvPr/>
        </p:nvSpPr>
        <p:spPr>
          <a:xfrm>
            <a:off x="838200" y="2387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450" b="1" dirty="0">
                <a:solidFill>
                  <a:srgbClr val="333333"/>
                </a:solidFill>
              </a:rPr>
              <a:t>B = −½ · J · D⁽²⁾ · 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Jmatrix"/>
              <p:cNvSpPr txBox="1"/>
              <p:nvPr/>
            </p:nvSpPr>
            <p:spPr>
              <a:xfrm>
                <a:off x="698500" y="27686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𝐽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sz="189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sz="189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sz="189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sz="189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sz="189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sz="189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J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686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One operation, two centerings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 — identity matrix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11ᵀ — all-ones matrix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J = I − (1/n)·11ᵀ subtracts row and column means simultaneously.</a:t>
            </a:r>
          </a:p>
          <a:p>
            <a:pPr algn="l">
              <a:spcBef>
                <a:spcPts val="160"/>
              </a:spcBef>
            </a:pPr>
            <a:r>
              <a:rPr lang="en-US" sz="1250" dirty="0">
                <a:solidFill>
                  <a:srgbClr val="4B2E83"/>
                </a:solidFill>
              </a:rPr>
              <a:t>Diagonal = 2/3 (purple), off-diagonal = −1/3.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B = −½ J D⁽²⁾ J does Steps 4–7 in one product.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J packages row-mean, column-mean and grand-mean subtraction into a single clean matrix operation.</a:t>
            </a:r>
          </a:p>
        </p:txBody>
      </p:sp>
    </p:spTree>
    <p:extLst>
      <p:ext uri="{BB962C8B-B14F-4D97-AF65-F5344CB8AC3E}">
        <p14:creationId xmlns:p14="http://schemas.microsoft.com/office/powerpoint/2010/main" val="214833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2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Row Means of D⁽²⁾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Average each row of D⁽²⁾. Row 1 (green): (0 + 9 + 9)/3 = 6 — every row mean is 6.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Row averages of   D⁽²⁾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45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1 mean = (0 + 9 + 9) / 3 = 18/3 = 6</a:t>
            </a:r>
          </a:p>
          <a:p>
            <a:pPr algn="ctr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all rows identical → every row mean = 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row means?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Double-centering subtracts each row mean…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…removing the arbitrary location of the points.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Here every row of D⁽²⁾ sums to 18,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7AB648"/>
                </a:solidFill>
              </a:rPr>
              <a:t>so all three row means equal 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 means are the first half of double-centering — they strip out where the points sit.</a:t>
            </a:r>
          </a:p>
        </p:txBody>
      </p:sp>
    </p:spTree>
    <p:extLst>
      <p:ext uri="{BB962C8B-B14F-4D97-AF65-F5344CB8AC3E}">
        <p14:creationId xmlns:p14="http://schemas.microsoft.com/office/powerpoint/2010/main" val="418894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Column &amp; Grand Mean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By symmetry every column mean = 6 (pink), and the grand mean = 54/9 = 6.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Column averages of   D⁽²⁾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45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D1578A"/>
                </a:solidFill>
              </a:rPr>
              <a:t>col 1 mean = (0 + 9 + 9) / 3 = 6</a:t>
            </a:r>
          </a:p>
          <a:p>
            <a:pPr algn="ctr">
              <a:spcBef>
                <a:spcPts val="160"/>
              </a:spcBef>
            </a:pPr>
            <a:r>
              <a:rPr lang="en-US" sz="1400" b="1" dirty="0">
                <a:solidFill>
                  <a:srgbClr val="85754D"/>
                </a:solidFill>
              </a:rPr>
              <a:t>grand mean = 54 / 9 = 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Completing the centering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Subtract column means (2nd half)…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…then add back the grand mean once.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D⁽²⁾ is symmetric, so columns mirror rows: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D1578A"/>
                </a:solidFill>
              </a:rPr>
              <a:t>all column means = 6, grand mean = 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 mean, column mean, and grand mean are the three ingredients of the double-centering formula.</a:t>
            </a:r>
          </a:p>
        </p:txBody>
      </p:sp>
    </p:spTree>
    <p:extLst>
      <p:ext uri="{BB962C8B-B14F-4D97-AF65-F5344CB8AC3E}">
        <p14:creationId xmlns:p14="http://schemas.microsoft.com/office/powerpoint/2010/main" val="23991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Diagonal Entry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Apply Bᵢⱼ = −½(D²ᵢⱼ − rowᵢ − colⱼ + grand) to a diagonal cell → B₁₁ = 3.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Double-centering formula</a:t>
            </a:r>
          </a:p>
        </p:txBody>
      </p:sp>
      <p:sp>
        <p:nvSpPr>
          <p:cNvPr id="13" name="Formula"/>
          <p:cNvSpPr txBox="1"/>
          <p:nvPr/>
        </p:nvSpPr>
        <p:spPr>
          <a:xfrm>
            <a:off x="838200" y="2438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Bᵢⱼ = −½ ( D²ᵢⱼ − rowᵢ − colⱼ + grand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lc"/>
              <p:cNvSpPr txBox="1"/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25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sz="189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(0−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+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sz="189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(−6)=</m:t>
                      </m:r>
                      <m:r>
                        <a:rPr sz="2295" b="1">
                          <a:solidFill>
                            <a:srgbClr val="4B2E83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4" name="Cal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e"/>
          <p:cNvSpPr txBox="1"/>
          <p:nvPr/>
        </p:nvSpPr>
        <p:spPr>
          <a:xfrm>
            <a:off x="762000" y="5054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the three means (gold) collapse the cell to 3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each term means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D²ᵢⱼ — squared distance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85754D"/>
                </a:solidFill>
              </a:rPr>
              <a:t>rowᵢ , colⱼ — the means (= 6)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85754D"/>
                </a:solidFill>
              </a:rPr>
              <a:t>grand — overall mean (= 6)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−½ — rescales to an inner product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Diagonal Bᵢᵢ = squared distance of point i from the centroid.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diagonal entry of B measures how far a point lies from the centre of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959483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15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7 — Off-Diagonal Entry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Same formula on an off-diagonal cell (D²₁₂ = 9, teal) → B₁₂ = −1.5.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Off-diagonal cell  B₁₂</a:t>
            </a:r>
          </a:p>
        </p:txBody>
      </p:sp>
      <p:sp>
        <p:nvSpPr>
          <p:cNvPr id="13" name="Formula"/>
          <p:cNvSpPr txBox="1"/>
          <p:nvPr/>
        </p:nvSpPr>
        <p:spPr>
          <a:xfrm>
            <a:off x="838200" y="2438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Bᵢⱼ = −½ ( D²ᵢⱼ − rowᵢ − colⱼ + grand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lc"/>
              <p:cNvSpPr txBox="1"/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25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12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sz="189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9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+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sz="189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(3)=</m:t>
                      </m:r>
                      <m:r>
                        <a:rPr sz="2295" b="1">
                          <a:solidFill>
                            <a:srgbClr val="D1578A"/>
                          </a:solidFill>
                          <a:latin typeface="Cambria Math"/>
                        </a:rPr>
                        <m:t>−1.5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4" name="Cal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e"/>
          <p:cNvSpPr txBox="1"/>
          <p:nvPr/>
        </p:nvSpPr>
        <p:spPr>
          <a:xfrm>
            <a:off x="762000" y="5054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squared distance 9 (teal) − means → −1.5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Off-diagonal = inner product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Off-diagonal Bᵢⱼ = ⟨xᵢ , xⱼ⟩,</a:t>
            </a:r>
          </a:p>
          <a:p>
            <a:pPr algn="l">
              <a:spcBef>
                <a:spcPts val="60"/>
              </a:spcBef>
            </a:pPr>
            <a:r>
              <a:rPr lang="en-US" sz="1300" dirty="0">
                <a:solidFill>
                  <a:srgbClr val="333333"/>
                </a:solidFill>
              </a:rPr>
              <a:t>the inner product of two centred points.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Negative value (−1.5) ⇒ the points sit on opposite sides of the centroid.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D1578A"/>
                </a:solidFill>
              </a:rPr>
              <a:t>By symmetry every off-diagonal entry = −1.5.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Off-diagonal entries are inner products; their sign tells you how points are oriented around the centre.</a:t>
            </a:r>
          </a:p>
        </p:txBody>
      </p:sp>
    </p:spTree>
    <p:extLst>
      <p:ext uri="{BB962C8B-B14F-4D97-AF65-F5344CB8AC3E}">
        <p14:creationId xmlns:p14="http://schemas.microsoft.com/office/powerpoint/2010/main" val="3566770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15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8 — The Gram Matrix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Collect every entry → B. It is symmetric and centred: each row sums to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Centred Gram matrix  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sum:  3 − 1.5 − 1.5 = 0  ✓</a:t>
            </a:r>
          </a:p>
          <a:p>
            <a:pPr algn="ctr">
              <a:spcBef>
                <a:spcPts val="140"/>
              </a:spcBef>
            </a:pPr>
            <a:r>
              <a:rPr lang="en-US" sz="1250" i="1" dirty="0">
                <a:solidFill>
                  <a:srgbClr val="666666"/>
                </a:solidFill>
              </a:rPr>
              <a:t>diagonal (gold) = 3 · off-diagonal = −1.5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Properties of B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Symmetric:  Bᵢⱼ = Bⱼᵢ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Centred: rows &amp; columns sum to 0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Diagonal: squared distance to centroid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Off-diagonal: inner products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Next: eigen-decompose B → coordinates.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B is the centred inner-product matrix; its eigen-decomposition yields the point coordinates.</a:t>
            </a:r>
          </a:p>
        </p:txBody>
      </p:sp>
    </p:spTree>
    <p:extLst>
      <p:ext uri="{BB962C8B-B14F-4D97-AF65-F5344CB8AC3E}">
        <p14:creationId xmlns:p14="http://schemas.microsoft.com/office/powerpoint/2010/main" val="69027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23D15A-7CAB-F24B-A57D-9311C2810AC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8C6E6-3B12-8242-BAF6-6CD93652F768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Coordinates &amp; Check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242621-DFD0-CB46-84BC-3A445B89188C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6B5CD-C3FB-1D43-A798-7E649F6A3CEF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Eigen-decomposition of 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19F7B5-31EF-2A4D-B1C4-9AF058E90BE2}"/>
              </a:ext>
            </a:extLst>
          </p:cNvPr>
          <p:cNvSpPr/>
          <p:nvPr/>
        </p:nvSpPr>
        <p:spPr>
          <a:xfrm>
            <a:off x="762000" y="18288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EFD68-F1EB-5145-B956-492C9E8A2F56}"/>
              </a:ext>
            </a:extLst>
          </p:cNvPr>
          <p:cNvSpPr txBox="1"/>
          <p:nvPr/>
        </p:nvSpPr>
        <p:spPr>
          <a:xfrm>
            <a:off x="939800" y="1955800"/>
            <a:ext cx="49784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 has eigenvalues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= (4.5, 4.5, 0).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Two equal positive eigenvalues ⇒ the
points live in a 2-D plane (k = 2).
Orthonormal eigenvectors for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λ=4.5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span
the plane; the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λ=0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direction is the
all-ones (centering) direction.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70240-0024-DF41-AD1D-E284899C787E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Coordinates  X = Vₖ </a:t>
            </a:r>
            <a:r>
              <a:rPr lang="el-GR" sz="1450" b="1">
                <a:solidFill>
                  <a:srgbClr val="00A7B5"/>
                </a:solidFill>
              </a:rPr>
              <a:t>Λ</a:t>
            </a:r>
            <a:r>
              <a:rPr lang="en-US" sz="1450" b="1">
                <a:solidFill>
                  <a:srgbClr val="00A7B5"/>
                </a:solidFill>
              </a:rPr>
              <a:t>ₖ^{1/2}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3066EC-7DEA-514F-AE1C-D461AAB3B5B6}"/>
              </a:ext>
            </a:extLst>
          </p:cNvPr>
          <p:cNvSpPr/>
          <p:nvPr/>
        </p:nvSpPr>
        <p:spPr>
          <a:xfrm>
            <a:off x="6350000" y="18288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F47B43-1F80-8242-849E-6DF3C9E601F9}"/>
              </a:ext>
            </a:extLst>
          </p:cNvPr>
          <p:cNvSpPr txBox="1"/>
          <p:nvPr/>
        </p:nvSpPr>
        <p:spPr>
          <a:xfrm>
            <a:off x="6527800" y="1955800"/>
            <a:ext cx="4724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√4.5 = 2.121. One valid solution:
A = ( 2.121,  0.000 )
B = (−1.061,  1.837 )
C = (−1.061, −1.837 )
(an equilateral triangle, centred at 0).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F6E4C-F474-0C42-94CE-F1B12ABD6B62}"/>
              </a:ext>
            </a:extLst>
          </p:cNvPr>
          <p:cNvSpPr txBox="1"/>
          <p:nvPr/>
        </p:nvSpPr>
        <p:spPr>
          <a:xfrm>
            <a:off x="762000" y="3911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Verify the distances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1784F9-1929-3F42-8742-4E254FC93CDD}"/>
              </a:ext>
            </a:extLst>
          </p:cNvPr>
          <p:cNvSpPr/>
          <p:nvPr/>
        </p:nvSpPr>
        <p:spPr>
          <a:xfrm>
            <a:off x="762000" y="4216400"/>
            <a:ext cx="10668000" cy="185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337A5-9423-B941-BF99-449D4C43951E}"/>
              </a:ext>
            </a:extLst>
          </p:cNvPr>
          <p:cNvSpPr txBox="1"/>
          <p:nvPr/>
        </p:nvSpPr>
        <p:spPr>
          <a:xfrm>
            <a:off x="939800" y="4343400"/>
            <a:ext cx="10312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‖A − B‖ = √[(2.121+1.061)² + (0−1.837)²] = √[(3.182)² + (1.837)²] = √[10.12+3.375] = √13.5 = 3.0  ✓
By symmetry ‖A−C‖ = ‖B−C‖ = 3.0 as well — the original distances are recovered exactly.
GoF(2) = (4.5+4.5)/(4.5+4.5+0) = 100% — D was perfectly Euclidean in 2-D, so two dimensions suffice.
Reflection / rotation: any rotation of these three points gives the SAME distance matrix; the solution is
unique only up to a rigid motion — a general feature of every MDS map.</a:t>
            </a:r>
          </a:p>
        </p:txBody>
      </p:sp>
    </p:spTree>
    <p:extLst>
      <p:ext uri="{BB962C8B-B14F-4D97-AF65-F5344CB8AC3E}">
        <p14:creationId xmlns:p14="http://schemas.microsoft.com/office/powerpoint/2010/main" val="31785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Eigen-Decomposition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Diagonalize the Gram matrix: B = V Λ Vᵀ. Each eigenpair (λₖ, vₖ) becomes one axis.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Diagonalize   B   (from Setup)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Bmatrix"/>
              <p:cNvSpPr txBox="1"/>
              <p:nvPr/>
            </p:nvSpPr>
            <p:spPr>
              <a:xfrm>
                <a:off x="698500" y="23876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B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igeneq"/>
              <p:cNvSpPr txBox="1"/>
              <p:nvPr/>
            </p:nvSpPr>
            <p:spPr>
              <a:xfrm>
                <a:off x="762000" y="4368800"/>
                <a:ext cx="5969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𝛬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𝐵</m:t>
                      </m:r>
                      <m:sSub>
                        <m:sSubPr>
                          <m:ctrlPr>
                            <a:rPr sz="216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16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sz="216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4" name="Eigen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68800"/>
                <a:ext cx="59690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the pieces mean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V — eigenvectors (axis directions)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Λ — diagonal of eigenvalues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Positive λ → real coordinates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Classical MDS is exactly the eigen-decomposition of B.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Solve B vₖ = λₖ vₖ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Coordinates come straight from the eigenvectors and eigenvalues of the Gram matrix B.</a:t>
            </a:r>
          </a:p>
        </p:txBody>
      </p:sp>
    </p:spTree>
    <p:extLst>
      <p:ext uri="{BB962C8B-B14F-4D97-AF65-F5344CB8AC3E}">
        <p14:creationId xmlns:p14="http://schemas.microsoft.com/office/powerpoint/2010/main" val="93682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The Eigenvalues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Solving det(B − λI) = 0 gives λ = (4.5, 4.5, 0): two equal positive, one zero.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Eigenvalue matrix   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Lmatrix"/>
              <p:cNvSpPr txBox="1"/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𝛬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L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4B2E83"/>
                </a:solidFill>
              </a:rPr>
              <a:t>two positive (4.5, 4.5) → a 2-D plane</a:t>
            </a:r>
          </a:p>
          <a:p>
            <a:pPr algn="ctr">
              <a:spcBef>
                <a:spcPts val="150"/>
              </a:spcBef>
            </a:pPr>
            <a:r>
              <a:rPr lang="en-US" sz="1250" i="1" dirty="0">
                <a:solidFill>
                  <a:srgbClr val="666666"/>
                </a:solidFill>
              </a:rPr>
              <a:t>trace check: 4.5 + 4.5 + 0 = 9 = 3+3+3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40" name="Bar1"/>
          <p:cNvSpPr/>
          <p:nvPr/>
        </p:nvSpPr>
        <p:spPr>
          <a:xfrm>
            <a:off x="7620000" y="3111500"/>
            <a:ext cx="711200" cy="1905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2"/>
          <p:cNvSpPr/>
          <p:nvPr/>
        </p:nvSpPr>
        <p:spPr>
          <a:xfrm>
            <a:off x="8699500" y="3111500"/>
            <a:ext cx="711200" cy="19050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3"/>
          <p:cNvSpPr/>
          <p:nvPr/>
        </p:nvSpPr>
        <p:spPr>
          <a:xfrm>
            <a:off x="9779000" y="4978400"/>
            <a:ext cx="711200" cy="508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aseline"/>
          <p:cNvSpPr/>
          <p:nvPr/>
        </p:nvSpPr>
        <p:spPr>
          <a:xfrm>
            <a:off x="7518400" y="5016500"/>
            <a:ext cx="317500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V1"/>
          <p:cNvSpPr txBox="1"/>
          <p:nvPr/>
        </p:nvSpPr>
        <p:spPr>
          <a:xfrm>
            <a:off x="7620000" y="281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4.5</a:t>
            </a:r>
          </a:p>
        </p:txBody>
      </p:sp>
      <p:sp>
        <p:nvSpPr>
          <p:cNvPr id="45" name="V2"/>
          <p:cNvSpPr txBox="1"/>
          <p:nvPr/>
        </p:nvSpPr>
        <p:spPr>
          <a:xfrm>
            <a:off x="8699500" y="281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4.5</a:t>
            </a:r>
          </a:p>
        </p:txBody>
      </p:sp>
      <p:sp>
        <p:nvSpPr>
          <p:cNvPr id="46" name="V3"/>
          <p:cNvSpPr txBox="1"/>
          <p:nvPr/>
        </p:nvSpPr>
        <p:spPr>
          <a:xfrm>
            <a:off x="9779000" y="46736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0</a:t>
            </a:r>
          </a:p>
        </p:txBody>
      </p:sp>
      <p:sp>
        <p:nvSpPr>
          <p:cNvPr id="47" name="X1"/>
          <p:cNvSpPr txBox="1"/>
          <p:nvPr/>
        </p:nvSpPr>
        <p:spPr>
          <a:xfrm>
            <a:off x="76200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λ₁</a:t>
            </a:r>
          </a:p>
        </p:txBody>
      </p:sp>
      <p:sp>
        <p:nvSpPr>
          <p:cNvPr id="48" name="X2"/>
          <p:cNvSpPr txBox="1"/>
          <p:nvPr/>
        </p:nvSpPr>
        <p:spPr>
          <a:xfrm>
            <a:off x="86995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λ₂</a:t>
            </a:r>
          </a:p>
        </p:txBody>
      </p:sp>
      <p:sp>
        <p:nvSpPr>
          <p:cNvPr id="49" name="X3"/>
          <p:cNvSpPr txBox="1"/>
          <p:nvPr/>
        </p:nvSpPr>
        <p:spPr>
          <a:xfrm>
            <a:off x="97790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λ₃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count of positive eigenvalues is the embedding dimension — here, 2.</a:t>
            </a:r>
          </a:p>
        </p:txBody>
      </p:sp>
    </p:spTree>
    <p:extLst>
      <p:ext uri="{BB962C8B-B14F-4D97-AF65-F5344CB8AC3E}">
        <p14:creationId xmlns:p14="http://schemas.microsoft.com/office/powerpoint/2010/main" val="363733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47" grpId="0"/>
      <p:bldP spid="48" grpId="0"/>
      <p:bldP spid="49" grpId="0"/>
      <p:bldP spid="30" grpId="0" animBg="1"/>
      <p:bldP spid="31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Zero Eigenvalue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λ₃ = 0 points along (1, 1, 1) — the direction removed by centering.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all-ones direction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16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=(1/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160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sz="2160">
                          <a:latin typeface="Cambria Math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Centering's fingerprint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Every centred matrix has a zero eigenvalue.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Its eigenvector is the all-ones direction (1,1,1).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It carries no coordinate, so we drop it…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4B2E83"/>
                </a:solidFill>
              </a:rPr>
              <a:t>…leaving exactly 2 axes for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zero eigenvalue is the signature of centering — it never carries coordinates.</a:t>
            </a:r>
          </a:p>
        </p:txBody>
      </p:sp>
    </p:spTree>
    <p:extLst>
      <p:ext uri="{BB962C8B-B14F-4D97-AF65-F5344CB8AC3E}">
        <p14:creationId xmlns:p14="http://schemas.microsoft.com/office/powerpoint/2010/main" val="240361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Coordinate Formula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Coordinates X = Eₖ Λₖ^½ — scale each eigenvector by √λ. Here √4.5 = 2.121.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Scale eigenvectors by  √λ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295">
                          <a:latin typeface="Cambria Math"/>
                        </a:rPr>
                        <m:t>𝑋</m:t>
                      </m:r>
                      <m:r>
                        <a:rPr sz="2295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295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295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sz="2295">
                              <a:latin typeface="Cambria Math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sz="2295">
                              <a:latin typeface="Cambria Math"/>
                            </a:rPr>
                          </m:ctrlPr>
                        </m:sSubSupPr>
                        <m:e>
                          <m:r>
                            <a:rPr sz="2295">
                              <a:latin typeface="Cambria Math"/>
                            </a:rPr>
                            <m:t>𝛬</m:t>
                          </m:r>
                        </m:e>
                        <m:sub>
                          <m:r>
                            <a:rPr sz="2295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sz="2295">
                              <a:latin typeface="Cambria Math"/>
                            </a:rPr>
                            <m:t>1/2</m:t>
                          </m:r>
                        </m:sup>
                      </m:sSubSup>
                    </m:oMath>
                  </m:oMathPara>
                </a14:m>
                <a:endParaRPr lang="en-US" sz="17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295">
                              <a:latin typeface="Cambria Math"/>
                            </a:rPr>
                            <m:t>4.5</m:t>
                          </m:r>
                        </m:e>
                      </m:rad>
                      <m:r>
                        <a:rPr sz="2295">
                          <a:latin typeface="Cambria Math"/>
                        </a:rPr>
                        <m:t>=</m:t>
                      </m:r>
                      <m:r>
                        <a:rPr sz="2295" b="1">
                          <a:solidFill>
                            <a:srgbClr val="4B2E83"/>
                          </a:solidFill>
                          <a:latin typeface="Cambria Math"/>
                        </a:rPr>
                        <m:t>2.121</m:t>
                      </m:r>
                    </m:oMath>
                  </m:oMathPara>
                </a14:m>
                <a:endParaRPr lang="en-US" sz="17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formula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Eₖ — first k eigenvectors as columns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Λₖ^½ — diag(√λ₁, …, √λₖ)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Multiplying stretches each axis by √λ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Bigger eigenvalue → more spread along that axis.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axis length equals √(eigenvalue); the two √4.5 = 2.121 axes set the scale of the map.</a:t>
            </a:r>
          </a:p>
        </p:txBody>
      </p:sp>
    </p:spTree>
    <p:extLst>
      <p:ext uri="{BB962C8B-B14F-4D97-AF65-F5344CB8AC3E}">
        <p14:creationId xmlns:p14="http://schemas.microsoft.com/office/powerpoint/2010/main" val="155454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The Coordinates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Scaling the eigenvectors gives the three points, centred at the origin.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Coordinate matrix  X   (rows A, B, 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4638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𝑋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𝟏𝟐𝟏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𝟎𝟔𝟏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𝟖𝟑𝟕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𝟎𝟔𝟏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𝟖𝟑𝟕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638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212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A (2.121, 0)</a:t>
            </a:r>
            <a:r>
              <a:rPr lang="en-US" sz="1300" b="1" dirty="0">
                <a:solidFill>
                  <a:srgbClr val="00A7B5"/>
                </a:solidFill>
              </a:rPr>
              <a:t>    B (−1.061, 1.837)</a:t>
            </a:r>
          </a:p>
          <a:p>
            <a:pPr algn="ctr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C (−1.061, −1.837)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Recovered configuration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These three points reproduce the equilateral triangle — same distances, brand-new coordinates.</a:t>
            </a:r>
          </a:p>
        </p:txBody>
      </p:sp>
      <p:graphicFrame>
        <p:nvGraphicFramePr>
          <p:cNvPr id="60" name="MDS Map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0565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/>
      <p:bldP spid="30" grpId="0" animBg="1"/>
      <p:bldP spid="31" grpId="0"/>
      <p:bldP spid="60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Distance Check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Verify ‖A − B‖ = 3: subtract coordinates, square, sum, take the root.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Recover the side  A–B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60400" y="2489200"/>
                <a:ext cx="6172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𝐴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=(3.182,−1.837)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‖</m:t>
                      </m:r>
                      <m:r>
                        <a:rPr sz="2025">
                          <a:latin typeface="Cambria Math"/>
                        </a:rPr>
                        <m:t>𝐴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‖=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sz="2025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025">
                                  <a:latin typeface="Cambria Math"/>
                                </a:rPr>
                                <m:t>3.182</m:t>
                              </m:r>
                            </m:e>
                            <m:sup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025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025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025">
                                  <a:latin typeface="Cambria Math"/>
                                </a:rPr>
                                <m:t>1.837</m:t>
                              </m:r>
                            </m:e>
                            <m:sup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25">
                              <a:latin typeface="Cambria Math"/>
                            </a:rPr>
                            <m:t>13.5</m:t>
                          </m:r>
                        </m:e>
                      </m:rad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3.0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489200"/>
                <a:ext cx="61722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k"/>
          <p:cNvSpPr txBox="1"/>
          <p:nvPr/>
        </p:nvSpPr>
        <p:spPr>
          <a:xfrm>
            <a:off x="762000" y="5207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7AB648"/>
                </a:solidFill>
              </a:rPr>
              <a:t>matches the original side = 3  ✓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Step by step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Δx = 2.121 − (−1.061) = 3.182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Δy = 0 − 1.837 = −1.837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3.182² = 10.125,  1.837² = 3.375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7AB648"/>
                </a:solidFill>
              </a:rPr>
              <a:t>sum = 13.5,  √13.5 = 3.0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By symmetry all three sides = 3.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Recovered distances equal the inputs — classical MDS is exact when B is positive semi-definite.</a:t>
            </a:r>
          </a:p>
        </p:txBody>
      </p:sp>
    </p:spTree>
    <p:extLst>
      <p:ext uri="{BB962C8B-B14F-4D97-AF65-F5344CB8AC3E}">
        <p14:creationId xmlns:p14="http://schemas.microsoft.com/office/powerpoint/2010/main" val="198425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7 — Goodness-of-Fit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GoF(2) = (λ₁+λ₂)/Σλ = 9/9 = 100%; the map is unique only up to rigid motion.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Fraction of inertia kept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670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𝐺𝑜𝐹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89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4.5+4.5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4.5+4.5+0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025">
                              <a:latin typeface="Cambria Math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sz="2025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7AB648"/>
                          </a:solidFill>
                          <a:latin typeface="Cambria Math"/>
                        </a:rPr>
                        <m:t>100%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facts to remember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100% → 2 axes capture all structure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Rotation, reflection, translation leave every distance unchanged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So axis orientation is arbitrary —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4B2E83"/>
                </a:solidFill>
              </a:rPr>
              <a:t>read clusters &amp; proximities, not axis directions.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Perfect fit here; in general GoF reports how much structure your k axes retain.</a:t>
            </a:r>
          </a:p>
        </p:txBody>
      </p:sp>
    </p:spTree>
    <p:extLst>
      <p:ext uri="{BB962C8B-B14F-4D97-AF65-F5344CB8AC3E}">
        <p14:creationId xmlns:p14="http://schemas.microsoft.com/office/powerpoint/2010/main" val="415958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BF5E12-20F0-7F49-B2FB-C75E4F0A012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4BF78-514C-DA41-BC00-D5B4A9611435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2 — Computing Stress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5932A1-6B46-8E41-B531-084F198A5D9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E261C-F22A-A44A-A6D6-3B713B243E3B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candidate 1-D configuration is proposed for 3 objects. Compute Kruskal's stress to judge the fit.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3F4EA-B02B-8A4B-AF98-42DFCD31C98C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Given dissimilarities vs. map distances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7DA676-23D9-0C4B-8BDD-61F95D9AD739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CF730-382B-F74D-91A0-8D9D8BFC5FE7}"/>
              </a:ext>
            </a:extLst>
          </p:cNvPr>
          <p:cNvSpPr txBox="1"/>
          <p:nvPr/>
        </p:nvSpPr>
        <p:spPr>
          <a:xfrm>
            <a:off x="939800" y="2311400"/>
            <a:ext cx="4978400" cy="170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Pair    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input)    d (on map)
(1,2)        2.0          1.8
(1,3)        5.0          5.2
(2,3)        4.0          3.6
Stress = √[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/ 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43E42-5097-4949-970D-671564D95657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Plug in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E4AB98-7707-7D46-AE6E-C1E57C6E009B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B979E-88E8-0747-947A-8D2CEDCB77D9}"/>
              </a:ext>
            </a:extLst>
          </p:cNvPr>
          <p:cNvSpPr txBox="1"/>
          <p:nvPr/>
        </p:nvSpPr>
        <p:spPr>
          <a:xfrm>
            <a:off x="6527800" y="2311400"/>
            <a:ext cx="4724400" cy="170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= (1.8−2.0)² + (5.2−5.0)²
           + (3.6−4.0)²
        = 0.04 + 0.04 + 0.16 = 0.24
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= 1.8² + 5.2² + 3.6² = 43.24
Stress = √(0.24/43.24) = √0.00555 = 0.0745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F4A1E-1EDC-A04D-B51B-F28BE0020A85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Interpretation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2AC253B-6585-9D44-816D-DF840E12092D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B6CAF8-5010-EF4E-BB88-5AB4892928CE}"/>
              </a:ext>
            </a:extLst>
          </p:cNvPr>
          <p:cNvSpPr txBox="1"/>
          <p:nvPr/>
        </p:nvSpPr>
        <p:spPr>
          <a:xfrm>
            <a:off x="939800" y="4699000"/>
            <a:ext cx="10312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Stress ≈ 0.075 falls between 0.05 (excellent) and 0.10 (good) ⇒ the configuration fits well.
The map distances track the input dissimilarities closely; no large single discrepancy dominates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 non-metric MDS an optimizer would nudge the points to push this stress even lower, then stop at the
elbow of the stress-vs-iterations curve.</a:t>
            </a:r>
          </a:p>
        </p:txBody>
      </p:sp>
    </p:spTree>
    <p:extLst>
      <p:ext uri="{BB962C8B-B14F-4D97-AF65-F5344CB8AC3E}">
        <p14:creationId xmlns:p14="http://schemas.microsoft.com/office/powerpoint/2010/main" val="379765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Targets δ vs Map 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Three pairs: target dissimilarities δ vs map distances d. Kruskal's Stress scores the gap.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Inputs and the Stress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Vectors"/>
              <p:cNvSpPr txBox="1"/>
              <p:nvPr/>
            </p:nvSpPr>
            <p:spPr>
              <a:xfrm>
                <a:off x="698500" y="24892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Vector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Formula"/>
              <p:cNvSpPr txBox="1"/>
              <p:nvPr/>
            </p:nvSpPr>
            <p:spPr>
              <a:xfrm>
                <a:off x="698500" y="40640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𝑆𝑡𝑟𝑒𝑠𝑠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sz="2025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025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𝑑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𝛿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sz="2025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sz="2025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025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sz="2025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ra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4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4064000"/>
                <a:ext cx="6096000" cy="1397000"/>
              </a:xfrm>
              <a:prstGeom prst="rect">
                <a:avLst/>
              </a:prstGeom>
              <a:blipFill>
                <a:blip r:embed="rId3"/>
                <a:stretch>
                  <a:fillRect t="-5405" b="-243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three pairs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dirty="0">
                <a:solidFill>
                  <a:srgbClr val="333333"/>
                </a:solidFill>
              </a:rPr>
              <a:t>pair (1,2):   δ = 2.0,   d = 1.8</a:t>
            </a:r>
          </a:p>
          <a:p>
            <a:pPr algn="l">
              <a:spcBef>
                <a:spcPts val="140"/>
              </a:spcBef>
            </a:pPr>
            <a:r>
              <a:rPr lang="en-US" sz="1350" dirty="0">
                <a:solidFill>
                  <a:srgbClr val="333333"/>
                </a:solidFill>
              </a:rPr>
              <a:t>pair (1,3):   δ = 5.0,   d = 5.2</a:t>
            </a:r>
          </a:p>
          <a:p>
            <a:pPr algn="l">
              <a:spcBef>
                <a:spcPts val="140"/>
              </a:spcBef>
            </a:pPr>
            <a:r>
              <a:rPr lang="en-US" sz="1350" dirty="0">
                <a:solidFill>
                  <a:srgbClr val="333333"/>
                </a:solidFill>
              </a:rPr>
              <a:t>pair (2,3):   δ = 4.0,   d = 3.6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00A7B5"/>
                </a:solidFill>
              </a:rPr>
              <a:t>δ </a:t>
            </a:r>
            <a:r>
              <a:rPr lang="en-US" sz="1300" dirty="0">
                <a:solidFill>
                  <a:srgbClr val="333333"/>
                </a:solidFill>
              </a:rPr>
              <a:t>= target dissimilarities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D1578A"/>
                </a:solidFill>
              </a:rPr>
              <a:t>d </a:t>
            </a:r>
            <a:r>
              <a:rPr lang="en-US" sz="1300" dirty="0">
                <a:solidFill>
                  <a:srgbClr val="333333"/>
                </a:solidFill>
              </a:rPr>
              <a:t>= distances in the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is the normalized root-mean-square gap between target and realized distances.</a:t>
            </a:r>
          </a:p>
        </p:txBody>
      </p:sp>
    </p:spTree>
    <p:extLst>
      <p:ext uri="{BB962C8B-B14F-4D97-AF65-F5344CB8AC3E}">
        <p14:creationId xmlns:p14="http://schemas.microsoft.com/office/powerpoint/2010/main" val="409607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Residuals  d − δ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Subtract the target from each map distance: residual = d − δ for every pair.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Pairwise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residuals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Residual = map distance − target.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(1,2): −0.2 → a touch too close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333333"/>
                </a:solidFill>
              </a:rPr>
              <a:t>•  (1,3): +0.2 → a touch too far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333333"/>
                </a:solidFill>
              </a:rPr>
              <a:t>•  (2,3): −0.4 → the largest miss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Signs would cancel if summed — so we square them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residual shows how far one map distance misses its target dissimilarity.</a:t>
            </a:r>
          </a:p>
        </p:txBody>
      </p:sp>
    </p:spTree>
    <p:extLst>
      <p:ext uri="{BB962C8B-B14F-4D97-AF65-F5344CB8AC3E}">
        <p14:creationId xmlns:p14="http://schemas.microsoft.com/office/powerpoint/2010/main" val="118172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Numerator  Σ(d−δ)²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each residual and add them up — this sum is the Stress numerator.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of squared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(−0.2)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(0.2)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(−0.4)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=0.04+0.04+0.16=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0.24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square?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Squaring removes signs and weights large misses more heavily.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(−0.2)² = 0.04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(0.2)²  = 0.04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(−0.4)² = 0.16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4B2E83"/>
                </a:solidFill>
              </a:rPr>
              <a:t>Σ(d−δ)² = 0.24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numerator 0.24 is the total squared misfit — small here, so the map is close.</a:t>
            </a:r>
          </a:p>
        </p:txBody>
      </p:sp>
    </p:spTree>
    <p:extLst>
      <p:ext uri="{BB962C8B-B14F-4D97-AF65-F5344CB8AC3E}">
        <p14:creationId xmlns:p14="http://schemas.microsoft.com/office/powerpoint/2010/main" val="134053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The Denominator  Σd²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Normalize by the squared map distances. Σd² makes Stress scale-free (a proportion).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of squared distances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1.8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5.2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3.6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=3.24+27.04+12.96=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43.24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normalize?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Dividing by Σd² turns Stress into a unitless proportion, independent of scale.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1.8² = 3.24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5.2² = 27.04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3.6² = 12.96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4B2E83"/>
                </a:solidFill>
              </a:rPr>
              <a:t>Σd² = 43.24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denominator 43.24 rescales the misfit so Stress is comparable across datasets.</a:t>
            </a:r>
          </a:p>
        </p:txBody>
      </p:sp>
    </p:spTree>
    <p:extLst>
      <p:ext uri="{BB962C8B-B14F-4D97-AF65-F5344CB8AC3E}">
        <p14:creationId xmlns:p14="http://schemas.microsoft.com/office/powerpoint/2010/main" val="203913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The Stress 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Combine numerator and denominator under the root: Stress = √(0.24 / 43.24).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Putting it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𝑆𝑡𝑟𝑒𝑠𝑠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sz="216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sz="2160">
                                  <a:latin typeface="Cambria Math"/>
                                </a:rPr>
                                <m:t>0.24</m:t>
                              </m:r>
                            </m:num>
                            <m:den>
                              <m:r>
                                <a:rPr sz="2160">
                                  <a:latin typeface="Cambria Math"/>
                                </a:rPr>
                                <m:t>43.24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160">
                              <a:latin typeface="Cambria Math"/>
                            </a:rPr>
                            <m:t>0.00555</m:t>
                          </m:r>
                        </m:e>
                      </m:rad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0.0745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Arithmetic, step by step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numerator = 0.24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denominator = 43.24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ratio = 0.24 / 43.24 = 0.00555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4B2E83"/>
                </a:solidFill>
              </a:rPr>
              <a:t>•  √0.00555 = 0.0745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A low value — the map reproduces the dissimilarities well.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≈ 0.075. Next, read it against the standard rule-of-thumb bands.</a:t>
            </a:r>
          </a:p>
        </p:txBody>
      </p:sp>
    </p:spTree>
    <p:extLst>
      <p:ext uri="{BB962C8B-B14F-4D97-AF65-F5344CB8AC3E}">
        <p14:creationId xmlns:p14="http://schemas.microsoft.com/office/powerpoint/2010/main" val="391312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Interpreting the Stress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Stress ≈ 0.075 lands between ‘excellent’ (0.05) and ‘good’ (0.10) → the map fits well.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Stress fit gauge</a:t>
            </a:r>
          </a:p>
        </p:txBody>
      </p:sp>
      <p:sp>
        <p:nvSpPr>
          <p:cNvPr id="60" name="Z1"/>
          <p:cNvSpPr/>
          <p:nvPr/>
        </p:nvSpPr>
        <p:spPr>
          <a:xfrm>
            <a:off x="1206500" y="3873500"/>
            <a:ext cx="1270000" cy="330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Z2"/>
          <p:cNvSpPr/>
          <p:nvPr/>
        </p:nvSpPr>
        <p:spPr>
          <a:xfrm>
            <a:off x="2476500" y="3873500"/>
            <a:ext cx="1270000" cy="3302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Z3"/>
          <p:cNvSpPr/>
          <p:nvPr/>
        </p:nvSpPr>
        <p:spPr>
          <a:xfrm>
            <a:off x="3746500" y="3873500"/>
            <a:ext cx="1270000" cy="3302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Z4"/>
          <p:cNvSpPr/>
          <p:nvPr/>
        </p:nvSpPr>
        <p:spPr>
          <a:xfrm>
            <a:off x="5016500" y="3873500"/>
            <a:ext cx="1270000" cy="3302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MarkerLine"/>
          <p:cNvSpPr/>
          <p:nvPr/>
        </p:nvSpPr>
        <p:spPr>
          <a:xfrm>
            <a:off x="3092450" y="3810000"/>
            <a:ext cx="38100" cy="660400"/>
          </a:xfrm>
          <a:prstGeom prst="rect">
            <a:avLst/>
          </a:prstGeom>
          <a:solidFill>
            <a:srgbClr val="333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arkerDot"/>
          <p:cNvSpPr/>
          <p:nvPr/>
        </p:nvSpPr>
        <p:spPr>
          <a:xfrm>
            <a:off x="3009900" y="3594100"/>
            <a:ext cx="203200" cy="2032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arkerLbl"/>
          <p:cNvSpPr txBox="1"/>
          <p:nvPr/>
        </p:nvSpPr>
        <p:spPr>
          <a:xfrm>
            <a:off x="2222500" y="3302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Stress = 0.075</a:t>
            </a:r>
          </a:p>
        </p:txBody>
      </p:sp>
      <p:sp>
        <p:nvSpPr>
          <p:cNvPr id="70" name="T0"/>
          <p:cNvSpPr txBox="1"/>
          <p:nvPr/>
        </p:nvSpPr>
        <p:spPr>
          <a:xfrm>
            <a:off x="92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0.00</a:t>
            </a:r>
          </a:p>
        </p:txBody>
      </p:sp>
      <p:sp>
        <p:nvSpPr>
          <p:cNvPr id="71" name="T1"/>
          <p:cNvSpPr txBox="1"/>
          <p:nvPr/>
        </p:nvSpPr>
        <p:spPr>
          <a:xfrm>
            <a:off x="219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0.05</a:t>
            </a:r>
          </a:p>
        </p:txBody>
      </p:sp>
      <p:sp>
        <p:nvSpPr>
          <p:cNvPr id="72" name="T2"/>
          <p:cNvSpPr txBox="1"/>
          <p:nvPr/>
        </p:nvSpPr>
        <p:spPr>
          <a:xfrm>
            <a:off x="346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0.10</a:t>
            </a:r>
          </a:p>
        </p:txBody>
      </p:sp>
      <p:sp>
        <p:nvSpPr>
          <p:cNvPr id="73" name="T3"/>
          <p:cNvSpPr txBox="1"/>
          <p:nvPr/>
        </p:nvSpPr>
        <p:spPr>
          <a:xfrm>
            <a:off x="473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0.15</a:t>
            </a:r>
          </a:p>
        </p:txBody>
      </p:sp>
      <p:sp>
        <p:nvSpPr>
          <p:cNvPr id="74" name="T4"/>
          <p:cNvSpPr txBox="1"/>
          <p:nvPr/>
        </p:nvSpPr>
        <p:spPr>
          <a:xfrm>
            <a:off x="600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0.20</a:t>
            </a:r>
          </a:p>
        </p:txBody>
      </p:sp>
      <p:sp>
        <p:nvSpPr>
          <p:cNvPr id="80" name="ZL0"/>
          <p:cNvSpPr txBox="1"/>
          <p:nvPr/>
        </p:nvSpPr>
        <p:spPr>
          <a:xfrm>
            <a:off x="130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7AB648"/>
                </a:solidFill>
              </a:rPr>
              <a:t>excellent</a:t>
            </a:r>
          </a:p>
        </p:txBody>
      </p:sp>
      <p:sp>
        <p:nvSpPr>
          <p:cNvPr id="81" name="ZL1"/>
          <p:cNvSpPr txBox="1"/>
          <p:nvPr/>
        </p:nvSpPr>
        <p:spPr>
          <a:xfrm>
            <a:off x="257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00A7B5"/>
                </a:solidFill>
              </a:rPr>
              <a:t>good</a:t>
            </a:r>
          </a:p>
        </p:txBody>
      </p:sp>
      <p:sp>
        <p:nvSpPr>
          <p:cNvPr id="82" name="ZL2"/>
          <p:cNvSpPr txBox="1"/>
          <p:nvPr/>
        </p:nvSpPr>
        <p:spPr>
          <a:xfrm>
            <a:off x="384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85754D"/>
                </a:solidFill>
              </a:rPr>
              <a:t>fair</a:t>
            </a:r>
          </a:p>
        </p:txBody>
      </p:sp>
      <p:sp>
        <p:nvSpPr>
          <p:cNvPr id="83" name="ZL3"/>
          <p:cNvSpPr txBox="1"/>
          <p:nvPr/>
        </p:nvSpPr>
        <p:spPr>
          <a:xfrm>
            <a:off x="511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D1578A"/>
                </a:solidFill>
              </a:rPr>
              <a:t>poor</a:t>
            </a:r>
          </a:p>
        </p:txBody>
      </p:sp>
      <p:sp>
        <p:nvSpPr>
          <p:cNvPr id="90" name="GaugeNote"/>
          <p:cNvSpPr txBox="1"/>
          <p:nvPr/>
        </p:nvSpPr>
        <p:spPr>
          <a:xfrm>
            <a:off x="965200" y="49784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The marker sits just inside the ‘good’ band — a reliable 2-D map.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Rule-of-thumb bands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540000"/>
            <a:ext cx="4038600" cy="3048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7AB648"/>
                </a:solidFill>
              </a:rPr>
              <a:t>0.00 – 0.05   </a:t>
            </a:r>
            <a:r>
              <a:rPr lang="en-US" sz="1350" dirty="0">
                <a:solidFill>
                  <a:srgbClr val="333333"/>
                </a:solidFill>
              </a:rPr>
              <a:t>excellent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00A7B5"/>
                </a:solidFill>
              </a:rPr>
              <a:t>0.05 – 0.10   </a:t>
            </a:r>
            <a:r>
              <a:rPr lang="en-US" sz="1350" dirty="0">
                <a:solidFill>
                  <a:srgbClr val="333333"/>
                </a:solidFill>
              </a:rPr>
              <a:t>good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85754D"/>
                </a:solidFill>
              </a:rPr>
              <a:t>0.10 – 0.20   </a:t>
            </a:r>
            <a:r>
              <a:rPr lang="en-US" sz="1350" dirty="0">
                <a:solidFill>
                  <a:srgbClr val="333333"/>
                </a:solidFill>
              </a:rPr>
              <a:t>fair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D1578A"/>
                </a:solidFill>
              </a:rPr>
              <a:t>&gt; 0.20          </a:t>
            </a:r>
            <a:r>
              <a:rPr lang="en-US" sz="1350" dirty="0">
                <a:solidFill>
                  <a:srgbClr val="333333"/>
                </a:solidFill>
              </a:rPr>
              <a:t>poor</a:t>
            </a:r>
          </a:p>
          <a:p>
            <a:pPr algn="l">
              <a:spcBef>
                <a:spcPts val="240"/>
              </a:spcBef>
            </a:pPr>
            <a:r>
              <a:rPr lang="en-US" sz="1400" b="1" dirty="0">
                <a:solidFill>
                  <a:srgbClr val="4B2E83"/>
                </a:solidFill>
              </a:rPr>
              <a:t>Our 0.075 → good 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Always judge Stress against these bands — a small number alone doesn’t guarantee a good map.</a:t>
            </a:r>
          </a:p>
        </p:txBody>
      </p:sp>
    </p:spTree>
    <p:extLst>
      <p:ext uri="{BB962C8B-B14F-4D97-AF65-F5344CB8AC3E}">
        <p14:creationId xmlns:p14="http://schemas.microsoft.com/office/powerpoint/2010/main" val="300787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/>
      <p:bldP spid="70" grpId="0"/>
      <p:bldP spid="71" grpId="0"/>
      <p:bldP spid="72" grpId="0"/>
      <p:bldP spid="73" grpId="0"/>
      <p:bldP spid="74" grpId="0"/>
      <p:bldP spid="80" grpId="0"/>
      <p:bldP spid="81" grpId="0"/>
      <p:bldP spid="82" grpId="0"/>
      <p:bldP spid="83" grpId="0"/>
      <p:bldP spid="90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8F7D2A-0AF6-C24F-A3AC-477CA4BE750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09225-174F-4346-BF92-5E21B8236F82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3 — Reading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A22839-52F8-1948-A253-AE27DDCEF2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D7447-E4AD-7B49-BC97-1EE6010F4A3C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classical-MDS run on a 5-object dissimilarity matrix returns these eigenvalues of B. Diagnose the result.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F41EF-568A-794B-9252-F955DBCA20B1}"/>
              </a:ext>
            </a:extLst>
          </p:cNvPr>
          <p:cNvSpPr txBox="1"/>
          <p:nvPr/>
        </p:nvSpPr>
        <p:spPr>
          <a:xfrm>
            <a:off x="762000" y="1879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Eigenvalues of B (descending)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A7BE0B-6A54-A144-9F09-FABF0755D9C1}"/>
              </a:ext>
            </a:extLst>
          </p:cNvPr>
          <p:cNvSpPr/>
          <p:nvPr/>
        </p:nvSpPr>
        <p:spPr>
          <a:xfrm>
            <a:off x="762000" y="2184400"/>
            <a:ext cx="10668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A0B98-4C61-1143-8C07-6305624FE8CA}"/>
              </a:ext>
            </a:extLst>
          </p:cNvPr>
          <p:cNvSpPr txBox="1"/>
          <p:nvPr/>
        </p:nvSpPr>
        <p:spPr>
          <a:xfrm>
            <a:off x="939800" y="2311400"/>
            <a:ext cx="1031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= ( 8.20,  3.10,  0.40,  −0.05,  −0.65 )       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positive = 8.20 + 3.10 + 0.40 = 11.70
Questions: (a) Is the data Euclidean?  (b) How many dimensions to keep?  (c) GoF of a 2-D map?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344B2-A595-6842-A29E-27BB7A6993B1}"/>
              </a:ext>
            </a:extLst>
          </p:cNvPr>
          <p:cNvSpPr txBox="1"/>
          <p:nvPr/>
        </p:nvSpPr>
        <p:spPr>
          <a:xfrm>
            <a:off x="762000" y="3276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Answers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5FFF88-029D-4B4E-BB3C-F3EBF0D3C810}"/>
              </a:ext>
            </a:extLst>
          </p:cNvPr>
          <p:cNvSpPr/>
          <p:nvPr/>
        </p:nvSpPr>
        <p:spPr>
          <a:xfrm>
            <a:off x="762000" y="3581400"/>
            <a:ext cx="10668000" cy="248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9CFD1-D6E4-2548-BE3F-5746736A25D5}"/>
              </a:ext>
            </a:extLst>
          </p:cNvPr>
          <p:cNvSpPr txBox="1"/>
          <p:nvPr/>
        </p:nvSpPr>
        <p:spPr>
          <a:xfrm>
            <a:off x="939800" y="3708400"/>
            <a:ext cx="10312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Not exactly Euclidean: two eigenvalues are negative (−0.05, −0.65). The −0.65 is sizeable, so a low-dim
      Euclidean map will distort some distances. (Pure Euclidean data ⇒ all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≥ 0.)
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b) Dimensions: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λ₁, λ₂ (8.20, 3.10)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dominate;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λ₃ = 0.40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is small. Keep k = 2 for a readable map.
(c) GoF(2)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λ₁+λ₂)/Σ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max(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λ,0) = (8.20+3.10)/11.70 = 11.30/11.70 = 96.6%.
      ⇒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the 2-D solution captures ~97% of the positive structure — a good map, but report the negative
      eigenvalues as a caveat (some triangle inequalities are mildly violated in the original dissimilarities).
Take-away: scan the eigenvalue spectrum for size (how many dims) AND sign (how Euclidean) before plotting.</a:t>
            </a:r>
          </a:p>
        </p:txBody>
      </p:sp>
    </p:spTree>
    <p:extLst>
      <p:ext uri="{BB962C8B-B14F-4D97-AF65-F5344CB8AC3E}">
        <p14:creationId xmlns:p14="http://schemas.microsoft.com/office/powerpoint/2010/main" val="351925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Eigenvalue Spectrum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Classical MDS on 5 objects returns eigenvalues λ₁…λ₅ — read their size and their sign.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five eigenvalues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Vector"/>
              <p:cNvSpPr txBox="1"/>
              <p:nvPr/>
            </p:nvSpPr>
            <p:spPr>
              <a:xfrm>
                <a:off x="698500" y="26670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𝟒𝟎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𝟎𝟓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Ve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3688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3 positive</a:t>
            </a:r>
            <a:r>
              <a:rPr lang="en-US" sz="1400" dirty="0">
                <a:solidFill>
                  <a:srgbClr val="666666"/>
                </a:solidFill>
              </a:rPr>
              <a:t>   ·   </a:t>
            </a:r>
            <a:r>
              <a:rPr lang="en-US" sz="1400" b="1" dirty="0">
                <a:solidFill>
                  <a:srgbClr val="D1578A"/>
                </a:solidFill>
              </a:rPr>
              <a:t>2 negative</a:t>
            </a:r>
          </a:p>
          <a:p>
            <a:pPr algn="ctr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ordered largest → smallest</a:t>
            </a:r>
          </a:p>
        </p:txBody>
      </p:sp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spectrum tells you two things: how big the eigenvalues are (dimensionality) and what sign they have (Euclidean?).</a:t>
            </a:r>
          </a:p>
        </p:txBody>
      </p:sp>
      <p:graphicFrame>
        <p:nvGraphicFramePr>
          <p:cNvPr id="60" name="Spectrum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3335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/>
      <p:bldP spid="30" grpId="0" animBg="1"/>
      <p:bldP spid="31" grpId="0"/>
      <p:bldP spid="60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Sum of Positive λ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Add only the positive eigenvalues — they form the total recoverable inertia.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Positive eigenvalues only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𝛴</m:t>
                      </m:r>
                      <m:r>
                        <a:rPr sz="2160">
                          <a:latin typeface="Cambria Math"/>
                        </a:rPr>
                        <m:t>⁺=8.20+3.10+0.40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11.70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99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D1578A"/>
                </a:solidFill>
              </a:rPr>
              <a:t>the negatives (−0.05, −0.65) are discarded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only positives?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Each positive λ is the squared spread along one real axis.</a:t>
            </a:r>
          </a:p>
          <a:p>
            <a:pPr algn="l">
              <a:spcBef>
                <a:spcPts val="180"/>
              </a:spcBef>
            </a:pPr>
            <a:r>
              <a:rPr lang="en-US" sz="1300" b="1" dirty="0">
                <a:solidFill>
                  <a:srgbClr val="333333"/>
                </a:solidFill>
              </a:rPr>
              <a:t>Σ⁺ = 11.70 = total recoverable structure.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Negative λ cannot be embedded in Euclidean space — they signal distortion.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We use Σ⁺ as the denominator for goodness-of-fit.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positive eigenvalues add up to 11.70 — the benchmark every fit percentage is measured against.</a:t>
            </a:r>
          </a:p>
        </p:txBody>
      </p:sp>
    </p:spTree>
    <p:extLst>
      <p:ext uri="{BB962C8B-B14F-4D97-AF65-F5344CB8AC3E}">
        <p14:creationId xmlns:p14="http://schemas.microsoft.com/office/powerpoint/2010/main" val="315150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Is it Euclidean?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Check the signs: a sizeable negative eigenvalue means the distances are NOT Euclidean.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Look at the negatives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514600"/>
                <a:ext cx="6096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𝜆</m:t>
                      </m:r>
                      <m:r>
                        <a:rPr sz="2160">
                          <a:latin typeface="Cambria Math"/>
                        </a:rPr>
                        <m:t>₅=−0.65   </m:t>
                      </m:r>
                      <m:r>
                        <a:rPr sz="2160">
                          <a:latin typeface="Cambria Math"/>
                        </a:rPr>
                        <m:t>𝑣𝑠</m:t>
                      </m:r>
                      <m:r>
                        <a:rPr sz="2160">
                          <a:latin typeface="Cambria Math"/>
                        </a:rPr>
                        <m:t>   </m:t>
                      </m:r>
                      <m:r>
                        <a:rPr sz="2160">
                          <a:latin typeface="Cambria Math"/>
                        </a:rPr>
                        <m:t>𝜆</m:t>
                      </m:r>
                      <m:r>
                        <a:rPr sz="2160">
                          <a:latin typeface="Cambria Math"/>
                        </a:rPr>
                        <m:t>₁=8.20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14600"/>
                <a:ext cx="6096000" cy="114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338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|−0.65| / 8.20 ≈ 8%  →  too big to ignore</a:t>
            </a:r>
          </a:p>
        </p:txBody>
      </p:sp>
      <p:sp>
        <p:nvSpPr>
          <p:cNvPr id="15" name="Verdict"/>
          <p:cNvSpPr/>
          <p:nvPr/>
        </p:nvSpPr>
        <p:spPr>
          <a:xfrm>
            <a:off x="1905000" y="4648200"/>
            <a:ext cx="3683000" cy="66040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⇒  not Euclidean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Sign tells you validity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A truly Euclidean D gives B ⪰ 0 — no negative eigenvalues.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−0.05 → rounding noise (ignore)</a:t>
            </a:r>
          </a:p>
          <a:p>
            <a:pPr algn="l">
              <a:spcBef>
                <a:spcPts val="100"/>
              </a:spcBef>
            </a:pPr>
            <a:r>
              <a:rPr lang="en-US" sz="1300" b="1" dirty="0">
                <a:solidFill>
                  <a:srgbClr val="D1578A"/>
                </a:solidFill>
              </a:rPr>
              <a:t>•  −0.65 → real distortion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Small negatives are fine; sizeable ones are not.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Fix: non-metric MDS or an additive constant.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large negative eigenvalue is the red flag for non-Euclidean distances — the 2-D map will distort them.</a:t>
            </a:r>
          </a:p>
        </p:txBody>
      </p:sp>
    </p:spTree>
    <p:extLst>
      <p:ext uri="{BB962C8B-B14F-4D97-AF65-F5344CB8AC3E}">
        <p14:creationId xmlns:p14="http://schemas.microsoft.com/office/powerpoint/2010/main" val="377755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15" grpId="0" animBg="1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How Many Dimensions?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Use the sizes: keep the axes whose eigenvalues dominate. Here λ₁, λ₂ ≫ λ₃.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Find the gap in the spectrum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11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₁,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₂=8.20,3.10  ≫  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₃=0.40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168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84600"/>
            <a:ext cx="571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λ₃ = 0.40 ≈ 3% of Σ⁺  →  negligible</a:t>
            </a:r>
          </a:p>
        </p:txBody>
      </p:sp>
      <p:sp>
        <p:nvSpPr>
          <p:cNvPr id="15" name="Verdict"/>
          <p:cNvSpPr/>
          <p:nvPr/>
        </p:nvSpPr>
        <p:spPr>
          <a:xfrm>
            <a:off x="1905000" y="4648200"/>
            <a:ext cx="3683000" cy="660400"/>
          </a:xfrm>
          <a:prstGeom prst="roundRect">
            <a:avLst/>
          </a:prstGeom>
          <a:solidFill>
            <a:srgbClr val="3F6E2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⇒  keep  k = 2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Look for the elbow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Scan for a big drop in the spectrum:</a:t>
            </a:r>
          </a:p>
          <a:p>
            <a:pPr algn="ctr">
              <a:spcBef>
                <a:spcPts val="140"/>
              </a:spcBef>
            </a:pPr>
            <a:r>
              <a:rPr lang="en-US" sz="1400" b="1" dirty="0">
                <a:solidFill>
                  <a:srgbClr val="333333"/>
                </a:solidFill>
              </a:rPr>
              <a:t>8.20  →  3.10  →  0.40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The cliff after λ₂ marks the natural dimensionality.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λ₃ would add only ~3% — a 2-D map suffices.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Keeping 2 axes balances fit and simplicity.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Eigenvalue magnitude sets dimensionality: keep axes before the big drop, discard the small tail.</a:t>
            </a:r>
          </a:p>
        </p:txBody>
      </p:sp>
    </p:spTree>
    <p:extLst>
      <p:ext uri="{BB962C8B-B14F-4D97-AF65-F5344CB8AC3E}">
        <p14:creationId xmlns:p14="http://schemas.microsoft.com/office/powerpoint/2010/main" val="62121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15" grpId="0" animBg="1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Goodness-of-Fit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GoF(2) = (λ₁+λ₂)/Σ⁺ — the share of recoverable structure the 2-D map keeps.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Fraction of inertia kept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𝐺𝑜𝐹</m:t>
                      </m:r>
                      <m:r>
                        <a:rPr sz="2160">
                          <a:latin typeface="Cambria Math"/>
                        </a:rPr>
                        <m:t>(2)=</m:t>
                      </m:r>
                      <m:f>
                        <m:fPr>
                          <m:ctrlPr>
                            <a:rPr sz="189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𝜆</m:t>
                          </m:r>
                          <m:r>
                            <a:rPr sz="1890">
                              <a:latin typeface="Cambria Math"/>
                            </a:rPr>
                            <m:t>₁+</m:t>
                          </m:r>
                          <m:r>
                            <a:rPr sz="1890">
                              <a:latin typeface="Cambria Math"/>
                            </a:rPr>
                            <m:t>𝜆</m:t>
                          </m:r>
                          <m:r>
                            <a:rPr sz="1890">
                              <a:latin typeface="Cambria Math"/>
                            </a:rPr>
                            <m:t>₂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𝛴</m:t>
                          </m:r>
                          <m:r>
                            <a:rPr sz="1890">
                              <a:latin typeface="Cambria Math"/>
                            </a:rPr>
                            <m:t>⁺</m:t>
                          </m:r>
                        </m:den>
                      </m:f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755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755">
                              <a:latin typeface="Cambria Math"/>
                            </a:rPr>
                            <m:t>8.20+3.10</m:t>
                          </m:r>
                        </m:num>
                        <m:den>
                          <m:r>
                            <a:rPr sz="1755">
                              <a:latin typeface="Cambria Math"/>
                            </a:rPr>
                            <m:t>11.70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1755">
                              <a:latin typeface="Cambria Math"/>
                            </a:rPr>
                          </m:ctrlPr>
                        </m:fPr>
                        <m:num>
                          <m:r>
                            <a:rPr sz="1755">
                              <a:latin typeface="Cambria Math"/>
                            </a:rPr>
                            <m:t>11.30</m:t>
                          </m:r>
                        </m:num>
                        <m:den>
                          <m:r>
                            <a:rPr sz="1755">
                              <a:latin typeface="Cambria Math"/>
                            </a:rPr>
                            <m:t>11.70</m:t>
                          </m:r>
                        </m:den>
                      </m:f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96.6%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Structure retained</a:t>
            </a:r>
          </a:p>
        </p:txBody>
      </p:sp>
      <p:sp>
        <p:nvSpPr>
          <p:cNvPr id="40" name="Ring"/>
          <p:cNvSpPr/>
          <p:nvPr/>
        </p:nvSpPr>
        <p:spPr>
          <a:xfrm>
            <a:off x="8255000" y="2489200"/>
            <a:ext cx="1905000" cy="1905000"/>
          </a:xfrm>
          <a:prstGeom prst="ellipse">
            <a:avLst/>
          </a:prstGeom>
          <a:solidFill>
            <a:srgbClr val="F7F4FB"/>
          </a:solidFill>
          <a:ln w="101600">
            <a:solidFill>
              <a:srgbClr val="4B2E83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4B2E83"/>
                </a:solidFill>
              </a:rPr>
              <a:t>96.6%</a:t>
            </a:r>
          </a:p>
        </p:txBody>
      </p:sp>
      <p:sp>
        <p:nvSpPr>
          <p:cNvPr id="41" name="RingCap"/>
          <p:cNvSpPr txBox="1"/>
          <p:nvPr/>
        </p:nvSpPr>
        <p:spPr>
          <a:xfrm>
            <a:off x="7188200" y="4521200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333333"/>
                </a:solidFill>
              </a:rPr>
              <a:t>of recoverable inertia kept by 2 axes</a:t>
            </a:r>
          </a:p>
        </p:txBody>
      </p:sp>
      <p:sp>
        <p:nvSpPr>
          <p:cNvPr id="42" name="RingCap2"/>
          <p:cNvSpPr txBox="1"/>
          <p:nvPr/>
        </p:nvSpPr>
        <p:spPr>
          <a:xfrm>
            <a:off x="7188200" y="5054600"/>
            <a:ext cx="40386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7AB648"/>
                </a:solidFill>
              </a:rPr>
              <a:t>Excellent: almost nothing is lost.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GoF = kept eigenvalues ÷ Σ⁺. At 96.6%, the 2-D map represents the data almost perfectly.</a:t>
            </a:r>
          </a:p>
        </p:txBody>
      </p:sp>
    </p:spTree>
    <p:extLst>
      <p:ext uri="{BB962C8B-B14F-4D97-AF65-F5344CB8AC3E}">
        <p14:creationId xmlns:p14="http://schemas.microsoft.com/office/powerpoint/2010/main" val="315481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40" grpId="0" animBg="1"/>
      <p:bldP spid="41" grpId="0"/>
      <p:bldP spid="42" grpId="0"/>
      <p:bldP spid="30" grpId="0" animBg="1"/>
      <p:bldP spid="31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Reading the Spectrum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Two questions, two cues: sizes give the dimension, signs give the Euclidean validity.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Two things to read</a:t>
            </a:r>
          </a:p>
        </p:txBody>
      </p:sp>
      <p:sp>
        <p:nvSpPr>
          <p:cNvPr id="12" name="SizeCard"/>
          <p:cNvSpPr/>
          <p:nvPr/>
        </p:nvSpPr>
        <p:spPr>
          <a:xfrm>
            <a:off x="965200" y="2438400"/>
            <a:ext cx="55626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B648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7AB648"/>
                </a:solidFill>
              </a:rPr>
              <a:t>SIZE  →  dimensions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Count the large eigenvalues; the gap (elbow) sets the embedding dimension k.</a:t>
            </a:r>
          </a:p>
        </p:txBody>
      </p:sp>
      <p:sp>
        <p:nvSpPr>
          <p:cNvPr id="13" name="SignCard"/>
          <p:cNvSpPr/>
          <p:nvPr/>
        </p:nvSpPr>
        <p:spPr>
          <a:xfrm>
            <a:off x="965200" y="3937000"/>
            <a:ext cx="55626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1578A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SIGN  →  validity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A sizeable negative eigenvalue means the distances are not Euclidean.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This example, in one view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63800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</a:rPr>
              <a:t>λ = (8.20, 3.10, 0.40, −0.05, −0.65)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•  2 dominant eigenvalues → k = 2</a:t>
            </a:r>
          </a:p>
          <a:p>
            <a:pPr algn="l">
              <a:spcBef>
                <a:spcPts val="110"/>
              </a:spcBef>
            </a:pPr>
            <a:r>
              <a:rPr lang="en-US" sz="1300" dirty="0">
                <a:solidFill>
                  <a:srgbClr val="D1578A"/>
                </a:solidFill>
              </a:rPr>
              <a:t>•  −0.65 sizeable → not Euclidean</a:t>
            </a:r>
          </a:p>
          <a:p>
            <a:pPr algn="l">
              <a:spcBef>
                <a:spcPts val="110"/>
              </a:spcBef>
            </a:pPr>
            <a:r>
              <a:rPr lang="en-US" sz="1300" dirty="0">
                <a:solidFill>
                  <a:srgbClr val="7AB648"/>
                </a:solidFill>
              </a:rPr>
              <a:t>•  GoF(2) = 96.6%</a:t>
            </a:r>
          </a:p>
          <a:p>
            <a:pPr algn="l">
              <a:spcBef>
                <a:spcPts val="170"/>
              </a:spcBef>
            </a:pPr>
            <a:r>
              <a:rPr lang="en-US" sz="1250" i="1" dirty="0">
                <a:solidFill>
                  <a:srgbClr val="4B2E83"/>
                </a:solidFill>
              </a:rPr>
              <a:t>Verdict: use the 2-D map — it captures 96.6%, but slightly distorts the non-Euclidean part.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Always scan a spectrum for both magnitude and sign before trusting the low-dimensional map.</a:t>
            </a:r>
          </a:p>
        </p:txBody>
      </p:sp>
    </p:spTree>
    <p:extLst>
      <p:ext uri="{BB962C8B-B14F-4D97-AF65-F5344CB8AC3E}">
        <p14:creationId xmlns:p14="http://schemas.microsoft.com/office/powerpoint/2010/main" val="146508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2" grpId="0" animBg="1"/>
      <p:bldP spid="13" grpId="0" animBg="1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F54464-27AA-894E-8DDC-BDD57DDBF62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1EFFA-8E55-E347-9040-884C2030B2EC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Double-Centering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DFDE7F-FCE3-3149-B1F0-9A8A9F39E84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E614F7-B44D-2840-A5EA-998105114AAF}"/>
              </a:ext>
            </a:extLst>
          </p:cNvPr>
          <p:cNvSpPr/>
          <p:nvPr/>
        </p:nvSpPr>
        <p:spPr>
          <a:xfrm>
            <a:off x="762000" y="1473200"/>
            <a:ext cx="10668000" cy="10160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D99C0-8DD4-2D49-8833-2B8F9670707C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A9F6E-CE08-944D-9D29-6B3C7CD3BE65}"/>
              </a:ext>
            </a:extLst>
          </p:cNvPr>
          <p:cNvSpPr txBox="1"/>
          <p:nvPr/>
        </p:nvSpPr>
        <p:spPr>
          <a:xfrm>
            <a:off x="990600" y="1879600"/>
            <a:ext cx="10210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Two points have the distance matrix  D = [ 0  4 ; 4  0 ].
Form D⁽²⁾, build B = −½ J D⁽²⁾ J with J = I − ½11ᵀ (n=2), and read off 1-D coordinates.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B33EC9-F098-AB45-8403-3A7F71A3A18A}"/>
              </a:ext>
            </a:extLst>
          </p:cNvPr>
          <p:cNvSpPr/>
          <p:nvPr/>
        </p:nvSpPr>
        <p:spPr>
          <a:xfrm>
            <a:off x="762000" y="2667000"/>
            <a:ext cx="10668000" cy="34036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00E84-6C54-A94A-8E34-9A033B7E99CC}"/>
              </a:ext>
            </a:extLst>
          </p:cNvPr>
          <p:cNvSpPr txBox="1"/>
          <p:nvPr/>
        </p:nvSpPr>
        <p:spPr>
          <a:xfrm>
            <a:off x="990600" y="2768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243FD-9C49-0748-9F5F-915FBAF1FAA7}"/>
              </a:ext>
            </a:extLst>
          </p:cNvPr>
          <p:cNvSpPr txBox="1"/>
          <p:nvPr/>
        </p:nvSpPr>
        <p:spPr>
          <a:xfrm>
            <a:off x="990600" y="3073400"/>
            <a:ext cx="102108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D⁽²⁾ = [0 16 ; 16 0].  Row means = (8, 8); grand mean = 8.
Bᵢⱼ = −½(D⁽²⁾ᵢⱼ − rowᵢ − colⱼ + grand):
  B₁₁ = −½(0 − 8 − 8 + 8) = 4,   B₂₂ = 4,   B₁₂ = −½(16 − 8 − 8 + 8) = −4.
B = [4 −4 ; −4 4].  Eigenvalues: 8 and 0; eigenvector for 8 is (1,−1)/√2.
Coordinates X = √8 · (1,−1)/√2 = (2, −2).  So point 1 at +2, point 2 at −2 ⇒ distance = 4 ✓.
One positive eigenvalue ⇒ the two points are perfectly represented on a single dimension.</a:t>
            </a:r>
          </a:p>
        </p:txBody>
      </p:sp>
    </p:spTree>
    <p:extLst>
      <p:ext uri="{BB962C8B-B14F-4D97-AF65-F5344CB8AC3E}">
        <p14:creationId xmlns:p14="http://schemas.microsoft.com/office/powerpoint/2010/main" val="418950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Two points a distance 4 apart. Recover their 1-D coordinates by double-centering D.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Distance matrix   D   (2 ×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𝐷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666666"/>
                </a:solidFill>
              </a:rPr>
              <a:t>Goal: find x₁, x₂ on a line whose distance reproduces 4.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points, one distance</a:t>
            </a:r>
          </a:p>
        </p:txBody>
      </p:sp>
      <p:sp>
        <p:nvSpPr>
          <p:cNvPr id="40" name="DistLabel"/>
          <p:cNvSpPr txBox="1"/>
          <p:nvPr/>
        </p:nvSpPr>
        <p:spPr>
          <a:xfrm>
            <a:off x="8191500" y="31750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d = 4</a:t>
            </a:r>
          </a:p>
        </p:txBody>
      </p:sp>
      <p:sp>
        <p:nvSpPr>
          <p:cNvPr id="41" name="Line"/>
          <p:cNvSpPr/>
          <p:nvPr/>
        </p:nvSpPr>
        <p:spPr>
          <a:xfrm>
            <a:off x="7772400" y="3810000"/>
            <a:ext cx="2870200" cy="50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Dot1"/>
          <p:cNvSpPr/>
          <p:nvPr/>
        </p:nvSpPr>
        <p:spPr>
          <a:xfrm>
            <a:off x="7670800" y="3708400"/>
            <a:ext cx="254000" cy="254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Dot2"/>
          <p:cNvSpPr/>
          <p:nvPr/>
        </p:nvSpPr>
        <p:spPr>
          <a:xfrm>
            <a:off x="10490200" y="3708400"/>
            <a:ext cx="254000" cy="2540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L1"/>
          <p:cNvSpPr txBox="1"/>
          <p:nvPr/>
        </p:nvSpPr>
        <p:spPr>
          <a:xfrm>
            <a:off x="7518400" y="4038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P₁</a:t>
            </a:r>
          </a:p>
        </p:txBody>
      </p:sp>
      <p:sp>
        <p:nvSpPr>
          <p:cNvPr id="45" name="L2"/>
          <p:cNvSpPr txBox="1"/>
          <p:nvPr/>
        </p:nvSpPr>
        <p:spPr>
          <a:xfrm>
            <a:off x="10337800" y="4038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P₂</a:t>
            </a:r>
          </a:p>
        </p:txBody>
      </p:sp>
      <p:sp>
        <p:nvSpPr>
          <p:cNvPr id="46" name="RB"/>
          <p:cNvSpPr txBox="1"/>
          <p:nvPr/>
        </p:nvSpPr>
        <p:spPr>
          <a:xfrm>
            <a:off x="7188200" y="4572000"/>
            <a:ext cx="403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</a:rPr>
              <a:t>D is symmetric with a zero diagonal.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One distance → expect a 1-D answer.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same five-stage recipe (square → centre → eigen → scale → check) works even for two points.</a:t>
            </a:r>
          </a:p>
        </p:txBody>
      </p:sp>
    </p:spTree>
    <p:extLst>
      <p:ext uri="{BB962C8B-B14F-4D97-AF65-F5344CB8AC3E}">
        <p14:creationId xmlns:p14="http://schemas.microsoft.com/office/powerpoint/2010/main" val="55983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40" grpId="0"/>
      <p:bldP spid="41" grpId="0" animBg="1"/>
      <p:bldP spid="42" grpId="0" animBg="1"/>
      <p:bldP spid="43" grpId="0" animBg="1"/>
      <p:bldP spid="44" grpId="0"/>
      <p:bldP spid="45" grpId="0"/>
      <p:bldP spid="46" grpId="0"/>
      <p:bldP spid="30" grpId="0" animBg="1"/>
      <p:bldP spid="31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Square the Distances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each entry element-wise: 4² = 16, and the zero diagonal stays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Squared distances   D⁽²⁾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𝟏𝟔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99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each 4 → 16 (gold) · diagonal 0 →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Element-wise squaring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Eq2"/>
              <p:cNvSpPr txBox="1"/>
              <p:nvPr/>
            </p:nvSpPr>
            <p:spPr>
              <a:xfrm>
                <a:off x="7112000" y="2692400"/>
                <a:ext cx="4191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30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=16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22" name="Eq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92400"/>
                <a:ext cx="4191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B"/>
          <p:cNvSpPr txBox="1"/>
          <p:nvPr/>
        </p:nvSpPr>
        <p:spPr>
          <a:xfrm>
            <a:off x="7188200" y="37084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Double-centering always works on squared distances.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Here only one off-diagonal value changes: 4 → 16.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D⁽²⁾ is the squared-distance matrix that double-centering converts into the Gram matrix B.</a:t>
            </a:r>
          </a:p>
        </p:txBody>
      </p:sp>
    </p:spTree>
    <p:extLst>
      <p:ext uri="{BB962C8B-B14F-4D97-AF65-F5344CB8AC3E}">
        <p14:creationId xmlns:p14="http://schemas.microsoft.com/office/powerpoint/2010/main" val="340160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2" grpId="0"/>
      <p:bldP spid="23" grpId="0"/>
      <p:bldP spid="30" grpId="0" animBg="1"/>
      <p:bldP spid="31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Centering Means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n = 2: each row mean of D⁽²⁾ = 8, and the grand mean = 8.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Means of   D⁽²⁾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489200"/>
                <a:ext cx="6096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𝟏𝟔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77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292600"/>
            <a:ext cx="59690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means = ( 8,  8 )</a:t>
            </a:r>
          </a:p>
          <a:p>
            <a:pPr algn="ctr">
              <a:spcBef>
                <a:spcPts val="160"/>
              </a:spcBef>
            </a:pPr>
            <a:r>
              <a:rPr lang="en-US" sz="1400" b="1" dirty="0">
                <a:solidFill>
                  <a:srgbClr val="D1578A"/>
                </a:solidFill>
              </a:rPr>
              <a:t>grand mean = 32 / 4 = 8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Removing location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Row 1 sum = 0 + 16 = 16 → mean 8.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Row 2 sum = 16 + 0 = 16 → mean 8.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Grand mean = (0+16+16+0)/4 = 8.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Subtracting these centres the points at the origin.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Row, column and grand means all equal 8 — the symmetry of a two-point problem.</a:t>
            </a:r>
          </a:p>
        </p:txBody>
      </p:sp>
    </p:spTree>
    <p:extLst>
      <p:ext uri="{BB962C8B-B14F-4D97-AF65-F5344CB8AC3E}">
        <p14:creationId xmlns:p14="http://schemas.microsoft.com/office/powerpoint/2010/main" val="404039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Double-Centering →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Apply Bᵢⱼ = −½(D²ᵢⱼ − rowᵢ − colⱼ + grand) to each entry.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Compute the entries of 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s"/>
              <p:cNvSpPr txBox="1"/>
              <p:nvPr/>
            </p:nvSpPr>
            <p:spPr>
              <a:xfrm>
                <a:off x="698500" y="2413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₁₁=−½(0−8−8+8)=4</m:t>
                      </m:r>
                    </m:oMath>
                  </m:oMathPara>
                </a14:m>
                <a:endParaRPr lang="en-US" sz="14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₁₂=−½(16−8−8+8)=−4</m:t>
                      </m:r>
                    </m:oMath>
                  </m:oMathPara>
                </a14:m>
                <a:endParaRPr lang="en-US" sz="14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958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1958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50"/>
              </a:p>
            </p:txBody>
          </p:sp>
        </mc:Choice>
        <mc:Fallback xmlns=""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Gram matrix B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Diagonal +4 (purple)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Off-diagonal −4 (pink)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Rows sum to 0 → centred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B has rank 1: one nonzero eigenvalue, so the points live on a line.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Double-centering turns the 2×2 squared-distance matrix into the centred Gram matrix B = [[4,−4],[−4,4]].</a:t>
            </a:r>
          </a:p>
        </p:txBody>
      </p:sp>
    </p:spTree>
    <p:extLst>
      <p:ext uri="{BB962C8B-B14F-4D97-AF65-F5344CB8AC3E}">
        <p14:creationId xmlns:p14="http://schemas.microsoft.com/office/powerpoint/2010/main" val="340684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Eigen-Decomposition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B = [[4,−4],[−4,4]] has eigenvalues 8 and 0; the axis direction is v = (1,−1)/√2.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Eigenvalues and eigenvector</a:t>
            </a:r>
          </a:p>
        </p:txBody>
      </p:sp>
      <p:sp>
        <p:nvSpPr>
          <p:cNvPr id="12" name="Char"/>
          <p:cNvSpPr txBox="1"/>
          <p:nvPr/>
        </p:nvSpPr>
        <p:spPr>
          <a:xfrm>
            <a:off x="838200" y="2413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det(B − λI) = 0  →  λ² − 8λ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s"/>
              <p:cNvSpPr txBox="1"/>
              <p:nvPr/>
            </p:nvSpPr>
            <p:spPr>
              <a:xfrm>
                <a:off x="698500" y="2794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93">
                          <a:latin typeface="Cambria Math"/>
                        </a:rPr>
                        <m:t>𝜆</m:t>
                      </m:r>
                      <m:r>
                        <a:rPr sz="2093">
                          <a:latin typeface="Cambria Math"/>
                        </a:rPr>
                        <m:t>=8   </m:t>
                      </m:r>
                      <m:r>
                        <a:rPr sz="2093">
                          <a:latin typeface="Cambria Math"/>
                        </a:rPr>
                        <m:t>𝑜𝑟</m:t>
                      </m:r>
                      <m:r>
                        <a:rPr sz="2093">
                          <a:latin typeface="Cambria Math"/>
                        </a:rPr>
                        <m:t>   0</m:t>
                      </m:r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93">
                          <a:latin typeface="Cambria Math"/>
                        </a:rPr>
                        <m:t>𝑣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093">
                              <a:latin typeface="Cambria Math"/>
                            </a:rPr>
                          </m:ctrlPr>
                        </m:fPr>
                        <m:num>
                          <m:r>
                            <a:rPr sz="2093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93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</p:txBody>
          </p:sp>
        </mc:Choice>
        <mc:Fallback xmlns=""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94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eigenpairs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λ = 8 → one real dimension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λ = 0 → centering direction (1,1)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Eigenvector (1,−1) points along the line through the two points.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Exactly one positive λ → the data are perfectly 1-D.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positive eigenvalue (8) means a single axis captures the configuration exactly.</a:t>
            </a:r>
          </a:p>
        </p:txBody>
      </p:sp>
    </p:spTree>
    <p:extLst>
      <p:ext uri="{BB962C8B-B14F-4D97-AF65-F5344CB8AC3E}">
        <p14:creationId xmlns:p14="http://schemas.microsoft.com/office/powerpoint/2010/main" val="234492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2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Coordinates &amp; Check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Scale the eigenvector: X = √8 · (1,−1)/√2 = (2, −2). Recovered distance |2 − (−2)| = 4 ✓.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Scale eigenvector by √λ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93">
                          <a:latin typeface="Cambria Math"/>
                        </a:rPr>
                        <m:t>𝑋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93">
                              <a:latin typeface="Cambria Math"/>
                            </a:rPr>
                            <m:t>8</m:t>
                          </m:r>
                        </m:e>
                      </m:rad>
                      <m:r>
                        <a:rPr sz="2093">
                          <a:latin typeface="Cambria Math"/>
                        </a:rPr>
                        <m:t>·</m:t>
                      </m:r>
                      <m:f>
                        <m:fPr>
                          <m:ctrlPr>
                            <a:rPr sz="2093">
                              <a:latin typeface="Cambria Math"/>
                            </a:rPr>
                          </m:ctrlPr>
                        </m:fPr>
                        <m:num>
                          <m:r>
                            <a:rPr sz="2093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93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93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93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93">
                          <a:latin typeface="Cambria Math"/>
                        </a:rPr>
                        <m:t>|2−(−2)|=</m:t>
                      </m:r>
                      <m:r>
                        <a:rPr sz="2093" b="1">
                          <a:solidFill>
                            <a:srgbClr val="7AB648"/>
                          </a:solidFill>
                          <a:latin typeface="Cambria Math"/>
                        </a:rPr>
                        <m:t>4</m:t>
                      </m:r>
                      <m:r>
                        <a:rPr sz="2093">
                          <a:latin typeface="Cambria Math"/>
                        </a:rPr>
                        <m:t> ✓</m:t>
                      </m:r>
                    </m:oMath>
                  </m:oMathPara>
                </a14:m>
                <a:endParaRPr lang="en-US" sz="1550"/>
              </a:p>
            </p:txBody>
          </p:sp>
        </mc:Choice>
        <mc:Fallback xmlns=""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two points on a line</a:t>
            </a:r>
          </a:p>
        </p:txBody>
      </p:sp>
      <p:sp>
        <p:nvSpPr>
          <p:cNvPr id="40" name="DistLbl"/>
          <p:cNvSpPr txBox="1"/>
          <p:nvPr/>
        </p:nvSpPr>
        <p:spPr>
          <a:xfrm>
            <a:off x="8128000" y="3175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distance = 4</a:t>
            </a:r>
          </a:p>
        </p:txBody>
      </p:sp>
      <p:sp>
        <p:nvSpPr>
          <p:cNvPr id="41" name="Axis"/>
          <p:cNvSpPr/>
          <p:nvPr/>
        </p:nvSpPr>
        <p:spPr>
          <a:xfrm>
            <a:off x="7429500" y="3810000"/>
            <a:ext cx="368300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1"/>
          <p:cNvSpPr/>
          <p:nvPr/>
        </p:nvSpPr>
        <p:spPr>
          <a:xfrm>
            <a:off x="792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0"/>
          <p:cNvSpPr/>
          <p:nvPr/>
        </p:nvSpPr>
        <p:spPr>
          <a:xfrm>
            <a:off x="919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2"/>
          <p:cNvSpPr/>
          <p:nvPr/>
        </p:nvSpPr>
        <p:spPr>
          <a:xfrm>
            <a:off x="1046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Dot2"/>
          <p:cNvSpPr/>
          <p:nvPr/>
        </p:nvSpPr>
        <p:spPr>
          <a:xfrm>
            <a:off x="7835900" y="3721100"/>
            <a:ext cx="203200" cy="2032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Dot1"/>
          <p:cNvSpPr/>
          <p:nvPr/>
        </p:nvSpPr>
        <p:spPr>
          <a:xfrm>
            <a:off x="10375900" y="3721100"/>
            <a:ext cx="203200" cy="203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L2"/>
          <p:cNvSpPr txBox="1"/>
          <p:nvPr/>
        </p:nvSpPr>
        <p:spPr>
          <a:xfrm>
            <a:off x="7416800" y="3987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P₂ = −2</a:t>
            </a:r>
          </a:p>
        </p:txBody>
      </p:sp>
      <p:sp>
        <p:nvSpPr>
          <p:cNvPr id="48" name="L0"/>
          <p:cNvSpPr txBox="1"/>
          <p:nvPr/>
        </p:nvSpPr>
        <p:spPr>
          <a:xfrm>
            <a:off x="8940800" y="3987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9" name="L1"/>
          <p:cNvSpPr txBox="1"/>
          <p:nvPr/>
        </p:nvSpPr>
        <p:spPr>
          <a:xfrm>
            <a:off x="9956800" y="3987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P₁ = +2</a:t>
            </a:r>
          </a:p>
        </p:txBody>
      </p:sp>
      <p:sp>
        <p:nvSpPr>
          <p:cNvPr id="22" name="RB"/>
          <p:cNvSpPr txBox="1"/>
          <p:nvPr/>
        </p:nvSpPr>
        <p:spPr>
          <a:xfrm>
            <a:off x="7188200" y="4368800"/>
            <a:ext cx="4038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</a:rPr>
              <a:t>One positive eigenvalue → the data sit perfectly on a 1-D line.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Distances are reproduced exactly.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√8 / √2 = 2, so the two points land at +2 and −2 — distance 4 recovered exactly.</a:t>
            </a:r>
          </a:p>
        </p:txBody>
      </p:sp>
    </p:spTree>
    <p:extLst>
      <p:ext uri="{BB962C8B-B14F-4D97-AF65-F5344CB8AC3E}">
        <p14:creationId xmlns:p14="http://schemas.microsoft.com/office/powerpoint/2010/main" val="168442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22" grpId="0"/>
      <p:bldP spid="30" grpId="0" animBg="1"/>
      <p:bldP spid="31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24EC67-F41B-FC44-A00A-D3F41B95CAD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F3A13-9282-0844-9BA8-56922FE3CCD6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Stress &amp; Fit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6FE11B-4B4A-674A-A243-D2CADD72086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FD296-316D-984F-A2FE-18FBF62BE8BB}"/>
              </a:ext>
            </a:extLst>
          </p:cNvPr>
          <p:cNvSpPr/>
          <p:nvPr/>
        </p:nvSpPr>
        <p:spPr>
          <a:xfrm>
            <a:off x="762000" y="1473200"/>
            <a:ext cx="10668000" cy="11684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0306F-DB2F-214C-993D-B5876960BFAA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7DABF-3C0B-7C4A-A1A8-CEF350E06480}"/>
              </a:ext>
            </a:extLst>
          </p:cNvPr>
          <p:cNvSpPr txBox="1"/>
          <p:nvPr/>
        </p:nvSpPr>
        <p:spPr>
          <a:xfrm>
            <a:off x="990600" y="1879600"/>
            <a:ext cx="10210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For three pairs the input dissimilarities are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= (1, 2, 3)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and a candidate map gives distances
d = (1.2, 1.8, 3.1). Compute Kruskal's stress and classify the fit.
Then state one reason you might prefer non-metric MDS here.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E3FD98-4F43-E446-81BD-1E2F71361074}"/>
              </a:ext>
            </a:extLst>
          </p:cNvPr>
          <p:cNvSpPr/>
          <p:nvPr/>
        </p:nvSpPr>
        <p:spPr>
          <a:xfrm>
            <a:off x="533400" y="3048000"/>
            <a:ext cx="10668000" cy="34036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36234-8DF7-3544-9A7F-C69959D1C292}"/>
              </a:ext>
            </a:extLst>
          </p:cNvPr>
          <p:cNvSpPr txBox="1"/>
          <p:nvPr/>
        </p:nvSpPr>
        <p:spPr>
          <a:xfrm>
            <a:off x="990600" y="3149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F3C01-16B9-3A4B-A727-3F6295BA277D}"/>
              </a:ext>
            </a:extLst>
          </p:cNvPr>
          <p:cNvSpPr txBox="1"/>
          <p:nvPr/>
        </p:nvSpPr>
        <p:spPr>
          <a:xfrm>
            <a:off x="990600" y="3987800"/>
            <a:ext cx="102108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 dirty="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 dirty="0">
                <a:solidFill>
                  <a:srgbClr val="333333"/>
                </a:solidFill>
                <a:latin typeface="Cambria Math"/>
                <a:ea typeface="Cambria Math"/>
              </a:rPr>
              <a:t>δ)² = (1.2−1)² + (1.8−2)² + (3.1−3)² = 0.04 + 0.04 + 0.01 = 0.09.
Σ </a:t>
            </a:r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d² = 1.2² + 1.8² + 3.1² = 1.44 + 3.24 + 9.61 = 14.29.
Stress = √(0.09 / 14.29) = √0.0063 = 0.0794 ≈ 0.08.
Classification: between 0.05 (excellent) and 0.10 (good) ⇒ a good fit.
Non-metric MDS: if the </a:t>
            </a:r>
            <a:r>
              <a:rPr lang="el-GR" sz="1400" dirty="0">
                <a:solidFill>
                  <a:srgbClr val="333333"/>
                </a:solidFill>
                <a:latin typeface="Cambria Math"/>
                <a:ea typeface="Cambria Math"/>
              </a:rPr>
              <a:t>δ </a:t>
            </a:r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are only ordinal (e.g. survey rankings), we trust their ORDER but not their exact
values. Non-metric MDS fits a monotone transform of </a:t>
            </a:r>
            <a:r>
              <a:rPr lang="el-GR" sz="1400" dirty="0">
                <a:solidFill>
                  <a:srgbClr val="333333"/>
                </a:solidFill>
                <a:latin typeface="Cambria Math"/>
                <a:ea typeface="Cambria Math"/>
              </a:rPr>
              <a:t>δ, </a:t>
            </a:r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so it can reach lower stress without assuming the
dissimilarities are true metric distances.</a:t>
            </a:r>
          </a:p>
        </p:txBody>
      </p:sp>
    </p:spTree>
    <p:extLst>
      <p:ext uri="{BB962C8B-B14F-4D97-AF65-F5344CB8AC3E}">
        <p14:creationId xmlns:p14="http://schemas.microsoft.com/office/powerpoint/2010/main" val="81737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Targets δ vs map distances d for three pairs — compute Kruskal's Stress and classify the fit.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Inputs and the Stress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Vecs"/>
              <p:cNvSpPr txBox="1"/>
              <p:nvPr/>
            </p:nvSpPr>
            <p:spPr>
              <a:xfrm>
                <a:off x="698500" y="24892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Vec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39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Formula"/>
              <p:cNvSpPr txBox="1"/>
              <p:nvPr/>
            </p:nvSpPr>
            <p:spPr>
              <a:xfrm>
                <a:off x="698500" y="40132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𝑆𝑡𝑟𝑒𝑠𝑠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sz="2025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sz="2025">
                                  <a:latin typeface="Cambria Math"/>
                                </a:rPr>
                                <m:t>𝛴</m:t>
                              </m:r>
                              <m:sSup>
                                <m:sSupPr>
                                  <m:ctrlPr>
                                    <a:rPr sz="2025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025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𝛿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sz="2025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sz="2025">
                                  <a:latin typeface="Cambria Math"/>
                                </a:rPr>
                                <m:t>𝛴</m:t>
                              </m:r>
                              <m:sSup>
                                <m:sSupPr>
                                  <m:ctrlPr>
                                    <a:rPr sz="2025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025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sz="2025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4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4013200"/>
                <a:ext cx="6096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four steps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1.  Residual d − δ for each pair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2.  Square and sum → numerator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3.  Σd² → denominator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4.  Square-root the ratio → Stress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δ teal · d pink throughout.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is the normalized root-mean-square gap between target dissimilarities and map distances.</a:t>
            </a:r>
          </a:p>
        </p:txBody>
      </p:sp>
    </p:spTree>
    <p:extLst>
      <p:ext uri="{BB962C8B-B14F-4D97-AF65-F5344CB8AC3E}">
        <p14:creationId xmlns:p14="http://schemas.microsoft.com/office/powerpoint/2010/main" val="65992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Residuals &amp; Numerator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Residual d − δ for each pair, then square and sum to get the numerator.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Residuals → squared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92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</m:t>
                          </m:r>
                          <m:r>
                            <a:rPr sz="2025">
                              <a:latin typeface="Cambria Math"/>
                            </a:rPr>
                            <m:t>𝑑</m:t>
                          </m:r>
                          <m:r>
                            <a:rPr sz="2025">
                              <a:latin typeface="Cambria Math"/>
                            </a:rPr>
                            <m:t>−</m:t>
                          </m:r>
                          <m:r>
                            <a:rPr sz="2025">
                              <a:latin typeface="Cambria Math"/>
                            </a:rPr>
                            <m:t>𝛿</m:t>
                          </m:r>
                          <m:r>
                            <a:rPr sz="2025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=0.04+0.04+0.01=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0.09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92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misfit total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Two pairs miss by ±0.2, one by 0.1.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Squaring: 0.04, 0.04, 0.01.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Sum = 0.09 = total squared misfit.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Small, because every miss is tiny.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numerator Σ(d−δ)² = 0.09 measures the raw squared misfit before normalizing.</a:t>
            </a:r>
          </a:p>
        </p:txBody>
      </p:sp>
    </p:spTree>
    <p:extLst>
      <p:ext uri="{BB962C8B-B14F-4D97-AF65-F5344CB8AC3E}">
        <p14:creationId xmlns:p14="http://schemas.microsoft.com/office/powerpoint/2010/main" val="4124179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Denominator  Σd²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Normalize the misfit by the squared map distances Σd² — this makes Stress scale-free.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Sum of squared distances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1.2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1.8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3.1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=1.44+3.24+9.61=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14.29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normalize?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Dividing by Σd² makes Stress a proportion (0–1), independent of scale.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1.2²=1.44, 1.8²=3.24, 3.1²=9.61.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Σd² = 14.29.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A large denominator vs tiny numerator → low stress.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denominator Σd² = 14.29 rescales the misfit so Stress can be compared across problems.</a:t>
            </a:r>
          </a:p>
        </p:txBody>
      </p:sp>
    </p:spTree>
    <p:extLst>
      <p:ext uri="{BB962C8B-B14F-4D97-AF65-F5344CB8AC3E}">
        <p14:creationId xmlns:p14="http://schemas.microsoft.com/office/powerpoint/2010/main" val="325372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The Stress 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Stress = √(0.09 / 14.29) = 0.0794 ≈ 0.08 — a good fit on the rule-of-thumb scale.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Stress value &amp; fit gauge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"/>
              <p:cNvSpPr txBox="1"/>
              <p:nvPr/>
            </p:nvSpPr>
            <p:spPr>
              <a:xfrm>
                <a:off x="698500" y="2463800"/>
                <a:ext cx="6096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𝑆𝑡𝑟𝑒𝑠𝑠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sz="1755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sz="1755">
                                  <a:latin typeface="Cambria Math"/>
                                </a:rPr>
                                <m:t>0.09</m:t>
                              </m:r>
                            </m:num>
                            <m:den>
                              <m:r>
                                <a:rPr sz="1755">
                                  <a:latin typeface="Cambria Math"/>
                                </a:rPr>
                                <m:t>14.29</m:t>
                              </m:r>
                            </m:den>
                          </m:f>
                        </m:e>
                      </m:rad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0.08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63800"/>
                <a:ext cx="60960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MLbl"/>
          <p:cNvSpPr txBox="1"/>
          <p:nvPr/>
        </p:nvSpPr>
        <p:spPr>
          <a:xfrm>
            <a:off x="2603500" y="3454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Stress = 0.08</a:t>
            </a:r>
          </a:p>
        </p:txBody>
      </p:sp>
      <p:sp>
        <p:nvSpPr>
          <p:cNvPr id="61" name="Z0"/>
          <p:cNvSpPr/>
          <p:nvPr/>
        </p:nvSpPr>
        <p:spPr>
          <a:xfrm>
            <a:off x="1206500" y="3873500"/>
            <a:ext cx="1270000" cy="330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Z1"/>
          <p:cNvSpPr/>
          <p:nvPr/>
        </p:nvSpPr>
        <p:spPr>
          <a:xfrm>
            <a:off x="2476500" y="3873500"/>
            <a:ext cx="1270000" cy="3302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Z2"/>
          <p:cNvSpPr/>
          <p:nvPr/>
        </p:nvSpPr>
        <p:spPr>
          <a:xfrm>
            <a:off x="3746500" y="3873500"/>
            <a:ext cx="1270000" cy="3302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Z3"/>
          <p:cNvSpPr/>
          <p:nvPr/>
        </p:nvSpPr>
        <p:spPr>
          <a:xfrm>
            <a:off x="5016500" y="3873500"/>
            <a:ext cx="1270000" cy="3302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Line"/>
          <p:cNvSpPr/>
          <p:nvPr/>
        </p:nvSpPr>
        <p:spPr>
          <a:xfrm>
            <a:off x="3219450" y="3759200"/>
            <a:ext cx="38100" cy="558800"/>
          </a:xfrm>
          <a:prstGeom prst="rect">
            <a:avLst/>
          </a:prstGeom>
          <a:solidFill>
            <a:srgbClr val="2320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MDot"/>
          <p:cNvSpPr/>
          <p:nvPr/>
        </p:nvSpPr>
        <p:spPr>
          <a:xfrm>
            <a:off x="3149600" y="3670300"/>
            <a:ext cx="177800" cy="177800"/>
          </a:xfrm>
          <a:prstGeom prst="ellipse">
            <a:avLst/>
          </a:prstGeom>
          <a:solidFill>
            <a:srgbClr val="2320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0"/>
          <p:cNvSpPr txBox="1"/>
          <p:nvPr/>
        </p:nvSpPr>
        <p:spPr>
          <a:xfrm>
            <a:off x="95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0.00</a:t>
            </a:r>
          </a:p>
        </p:txBody>
      </p:sp>
      <p:sp>
        <p:nvSpPr>
          <p:cNvPr id="71" name="T1"/>
          <p:cNvSpPr txBox="1"/>
          <p:nvPr/>
        </p:nvSpPr>
        <p:spPr>
          <a:xfrm>
            <a:off x="222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0.05</a:t>
            </a:r>
          </a:p>
        </p:txBody>
      </p:sp>
      <p:sp>
        <p:nvSpPr>
          <p:cNvPr id="72" name="T2"/>
          <p:cNvSpPr txBox="1"/>
          <p:nvPr/>
        </p:nvSpPr>
        <p:spPr>
          <a:xfrm>
            <a:off x="349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0.10</a:t>
            </a:r>
          </a:p>
        </p:txBody>
      </p:sp>
      <p:sp>
        <p:nvSpPr>
          <p:cNvPr id="73" name="T3"/>
          <p:cNvSpPr txBox="1"/>
          <p:nvPr/>
        </p:nvSpPr>
        <p:spPr>
          <a:xfrm>
            <a:off x="476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0.15</a:t>
            </a:r>
          </a:p>
        </p:txBody>
      </p:sp>
      <p:sp>
        <p:nvSpPr>
          <p:cNvPr id="74" name="T4"/>
          <p:cNvSpPr txBox="1"/>
          <p:nvPr/>
        </p:nvSpPr>
        <p:spPr>
          <a:xfrm>
            <a:off x="603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0.20</a:t>
            </a:r>
          </a:p>
        </p:txBody>
      </p:sp>
      <p:sp>
        <p:nvSpPr>
          <p:cNvPr id="80" name="ZL0"/>
          <p:cNvSpPr txBox="1"/>
          <p:nvPr/>
        </p:nvSpPr>
        <p:spPr>
          <a:xfrm>
            <a:off x="133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5C8A2E"/>
                </a:solidFill>
              </a:rPr>
              <a:t>excellent</a:t>
            </a:r>
          </a:p>
        </p:txBody>
      </p:sp>
      <p:sp>
        <p:nvSpPr>
          <p:cNvPr id="81" name="ZL1"/>
          <p:cNvSpPr txBox="1"/>
          <p:nvPr/>
        </p:nvSpPr>
        <p:spPr>
          <a:xfrm>
            <a:off x="260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00838D"/>
                </a:solidFill>
              </a:rPr>
              <a:t>good</a:t>
            </a:r>
          </a:p>
        </p:txBody>
      </p:sp>
      <p:sp>
        <p:nvSpPr>
          <p:cNvPr id="82" name="ZL2"/>
          <p:cNvSpPr txBox="1"/>
          <p:nvPr/>
        </p:nvSpPr>
        <p:spPr>
          <a:xfrm>
            <a:off x="387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85754D"/>
                </a:solidFill>
              </a:rPr>
              <a:t>fair</a:t>
            </a:r>
          </a:p>
        </p:txBody>
      </p:sp>
      <p:sp>
        <p:nvSpPr>
          <p:cNvPr id="83" name="ZL3"/>
          <p:cNvSpPr txBox="1"/>
          <p:nvPr/>
        </p:nvSpPr>
        <p:spPr>
          <a:xfrm>
            <a:off x="514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D1578A"/>
                </a:solidFill>
              </a:rPr>
              <a:t>poor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Rule-of-thumb bands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514600"/>
            <a:ext cx="40386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5C8A2E"/>
                </a:solidFill>
              </a:rPr>
              <a:t>0.00–0.05   excellent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00838D"/>
                </a:solidFill>
              </a:rPr>
              <a:t>0.05–0.10   good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85754D"/>
                </a:solidFill>
              </a:rPr>
              <a:t>0.10–0.20   fair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&gt;0.20   poor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4B2E83"/>
                </a:solidFill>
              </a:rPr>
              <a:t>Our 0.08 → good 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≈ 0.08 sits in the 'good' band — the 2-D map represents these dissimilarities well.</a:t>
            </a:r>
          </a:p>
        </p:txBody>
      </p:sp>
    </p:spTree>
    <p:extLst>
      <p:ext uri="{BB962C8B-B14F-4D97-AF65-F5344CB8AC3E}">
        <p14:creationId xmlns:p14="http://schemas.microsoft.com/office/powerpoint/2010/main" val="274215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/>
      <p:bldP spid="71" grpId="0"/>
      <p:bldP spid="72" grpId="0"/>
      <p:bldP spid="73" grpId="0"/>
      <p:bldP spid="74" grpId="0"/>
      <p:bldP spid="80" grpId="0"/>
      <p:bldP spid="81" grpId="0"/>
      <p:bldP spid="82" grpId="0"/>
      <p:bldP spid="8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Why Non-Metric MDS?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If the δ are only ordinal (ranks), fit a monotone transform f(δ) → disparities d̂ and minimize stress.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Monotone (isotonic) fit</a:t>
            </a:r>
          </a:p>
        </p:txBody>
      </p:sp>
      <p:sp>
        <p:nvSpPr>
          <p:cNvPr id="40" name="YAxis"/>
          <p:cNvSpPr/>
          <p:nvPr/>
        </p:nvSpPr>
        <p:spPr>
          <a:xfrm>
            <a:off x="1498600" y="2489200"/>
            <a:ext cx="31750" cy="2667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XAxis"/>
          <p:cNvSpPr/>
          <p:nvPr/>
        </p:nvSpPr>
        <p:spPr>
          <a:xfrm>
            <a:off x="1498600" y="5130800"/>
            <a:ext cx="4572000" cy="317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YLab"/>
          <p:cNvSpPr txBox="1"/>
          <p:nvPr/>
        </p:nvSpPr>
        <p:spPr>
          <a:xfrm>
            <a:off x="889000" y="3175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66666"/>
                </a:solidFill>
              </a:rPr>
              <a:t>d, d̂</a:t>
            </a:r>
          </a:p>
        </p:txBody>
      </p:sp>
      <p:sp>
        <p:nvSpPr>
          <p:cNvPr id="43" name="XLab"/>
          <p:cNvSpPr txBox="1"/>
          <p:nvPr/>
        </p:nvSpPr>
        <p:spPr>
          <a:xfrm>
            <a:off x="3175000" y="52070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l"/>
            <a:r>
              <a:rPr lang="en-US" sz="1150" b="1" dirty="0">
                <a:solidFill>
                  <a:srgbClr val="666666"/>
                </a:solidFill>
              </a:rPr>
              <a:t>δ  (rank order) →</a:t>
            </a:r>
          </a:p>
        </p:txBody>
      </p:sp>
      <p:sp>
        <p:nvSpPr>
          <p:cNvPr id="5" name="Tread1"/>
          <p:cNvSpPr/>
          <p:nvPr/>
        </p:nvSpPr>
        <p:spPr>
          <a:xfrm>
            <a:off x="1905000" y="4572000"/>
            <a:ext cx="11684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iser1"/>
          <p:cNvSpPr/>
          <p:nvPr/>
        </p:nvSpPr>
        <p:spPr>
          <a:xfrm>
            <a:off x="3048000" y="4191000"/>
            <a:ext cx="50800" cy="431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read2"/>
          <p:cNvSpPr/>
          <p:nvPr/>
        </p:nvSpPr>
        <p:spPr>
          <a:xfrm>
            <a:off x="3073400" y="4165600"/>
            <a:ext cx="12192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Riser2"/>
          <p:cNvSpPr/>
          <p:nvPr/>
        </p:nvSpPr>
        <p:spPr>
          <a:xfrm>
            <a:off x="4267200" y="3708400"/>
            <a:ext cx="50800" cy="4826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read3"/>
          <p:cNvSpPr/>
          <p:nvPr/>
        </p:nvSpPr>
        <p:spPr>
          <a:xfrm>
            <a:off x="4292600" y="3683000"/>
            <a:ext cx="15240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P1"/>
          <p:cNvSpPr/>
          <p:nvPr/>
        </p:nvSpPr>
        <p:spPr>
          <a:xfrm>
            <a:off x="2159000" y="44704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P2"/>
          <p:cNvSpPr/>
          <p:nvPr/>
        </p:nvSpPr>
        <p:spPr>
          <a:xfrm>
            <a:off x="3327400" y="42926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P3"/>
          <p:cNvSpPr/>
          <p:nvPr/>
        </p:nvSpPr>
        <p:spPr>
          <a:xfrm>
            <a:off x="4572000" y="38100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P4"/>
          <p:cNvSpPr/>
          <p:nvPr/>
        </p:nvSpPr>
        <p:spPr>
          <a:xfrm>
            <a:off x="5588000" y="31750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Leg1"/>
          <p:cNvSpPr txBox="1"/>
          <p:nvPr/>
        </p:nvSpPr>
        <p:spPr>
          <a:xfrm>
            <a:off x="1905000" y="2489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D1578A"/>
                </a:solidFill>
              </a:rPr>
              <a:t>● map distance d</a:t>
            </a:r>
          </a:p>
        </p:txBody>
      </p:sp>
      <p:sp>
        <p:nvSpPr>
          <p:cNvPr id="71" name="Leg2"/>
          <p:cNvSpPr txBox="1"/>
          <p:nvPr/>
        </p:nvSpPr>
        <p:spPr>
          <a:xfrm>
            <a:off x="1905000" y="27178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US" sz="1100" b="1" dirty="0">
                <a:solidFill>
                  <a:srgbClr val="00838D"/>
                </a:solidFill>
              </a:rPr>
              <a:t>▬ disparity d̂ = f(δ), monotone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Metric vs non-metric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Metric MDS treats δ as true distances.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Non-metric keeps only the ORDER of δ.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It fits a monotone f → disparities d̂, minimizing stress over f.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Use for ranks, ratings, perceptions — where only order is meaningful.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Result: equal or lower stress than metric MDS.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Non-metric MDS replaces δ with a monotone step function of its ranks — ideal when dissimilarities are ordinal.</a:t>
            </a:r>
          </a:p>
        </p:txBody>
      </p:sp>
    </p:spTree>
    <p:extLst>
      <p:ext uri="{BB962C8B-B14F-4D97-AF65-F5344CB8AC3E}">
        <p14:creationId xmlns:p14="http://schemas.microsoft.com/office/powerpoint/2010/main" val="239978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40" grpId="0" animBg="1"/>
      <p:bldP spid="41" grpId="0" animBg="1"/>
      <p:bldP spid="42" grpId="0"/>
      <p:bldP spid="43" grpId="0"/>
      <p:bldP spid="5" grpId="0" animBg="1"/>
      <p:bldP spid="51" grpId="0" animBg="1"/>
      <p:bldP spid="52" grpId="0" animBg="1"/>
      <p:bldP spid="53" grpId="0" animBg="1"/>
      <p:bldP spid="54" grpId="0" animBg="1"/>
      <p:bldP spid="60" grpId="0" animBg="1"/>
      <p:bldP spid="61" grpId="0" animBg="1"/>
      <p:bldP spid="62" grpId="0" animBg="1"/>
      <p:bldP spid="63" grpId="0" animBg="1"/>
      <p:bldP spid="70" grpId="0"/>
      <p:bldP spid="7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Example — Likert Data in Psychology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120 students rate how similar pairs of emotion words feel on a 1–9 Likert scale; only the order of those ratings is trustworthy.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Step 1 — Mean ratings → dissimilarities δ  (δ = 9 − mean similarity)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Why non-metric?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Likert responses are ordinal: the gap between 3 and 4 need not equal the gap between 7 and 8.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So we keep only the rank order of the 10 pairs:</a:t>
            </a:r>
          </a:p>
          <a:p>
            <a:pPr algn="l">
              <a:spcBef>
                <a:spcPts val="140"/>
              </a:spcBef>
            </a:pPr>
            <a:r>
              <a:rPr lang="en-US" sz="1250" b="1" dirty="0">
                <a:solidFill>
                  <a:srgbClr val="4B2E83"/>
                </a:solidFill>
              </a:rPr>
              <a:t>Calm–Happy (2.8) &lt; Anx–Angry (3.1) &lt; Anx–Sad (3.6) &lt; Angry–Sad (4.2) &lt; Sad–Calm (6.4) &lt; … &lt; Angry–Happy (8.5)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Kruskal's algorithm then fits a monotone f so that map distances follow this same order.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R: MASS::isoMDS(delta, k = 2)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Likert similarity judgements are ordinal — non-metric MDS uses only their ranks, so no interval assumption is needed.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3B1D3E-1F66-A142-9756-D3FA021E0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37082"/>
              </p:ext>
            </p:extLst>
          </p:nvPr>
        </p:nvGraphicFramePr>
        <p:xfrm>
          <a:off x="1041400" y="2667000"/>
          <a:ext cx="5410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67227178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0334443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9559412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838673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58337665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71457202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δ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Anx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Ang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Calm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Happy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3908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Anxious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7.8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42767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Angry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3.1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4.2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8.0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8.5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04194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Sad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6.4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7981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Calm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7.8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8.0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6.4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2.8</a:t>
                      </a:r>
                    </a:p>
                  </a:txBody>
                  <a:tcPr anchor="ctr">
                    <a:solidFill>
                      <a:srgbClr val="F7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33872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Happy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17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69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Result — Two-Dimensional Emotion Map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i="1" dirty="0">
                <a:solidFill>
                  <a:srgbClr val="333333"/>
                </a:solidFill>
              </a:rPr>
              <a:t>isoMDS on the ranked Likert dissimilarities: Kruskal stress = 0.041 (excellent fit) after 6 iterations.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Step 2 — Configuration recovered from ranks only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Reading the solution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Dim 1 separates unpleasant (Anxious, Angry, Sad) from pleasant (Calm, Happy) — a valence axis.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Dim 2 orders terms by activation: Angry/Anxious high, Sad/Calm low — an arousal axis.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Stress guide: 0.20 poor · 0.10 fair · 0.05 good · 0.025 excellent.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Axes have no units and can be rotated or reflected freely — only the relative positions matter.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This reproduces Russell's circumplex model of affect from ordinal ratings alone.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Rank information alone is enough to recover an interpretable valence × arousal space — the classic payoff of non-metric MDS in psychology.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83192-057A-9248-899D-049F4C554DA0}"/>
              </a:ext>
            </a:extLst>
          </p:cNvPr>
          <p:cNvSpPr/>
          <p:nvPr/>
        </p:nvSpPr>
        <p:spPr>
          <a:xfrm>
            <a:off x="1498600" y="2540000"/>
            <a:ext cx="38100" cy="2616200"/>
          </a:xfrm>
          <a:prstGeom prst="rect">
            <a:avLst/>
          </a:prstGeom>
          <a:solidFill>
            <a:srgbClr val="BF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3D6D51-BB38-5547-9C6F-481C89806A2E}"/>
              </a:ext>
            </a:extLst>
          </p:cNvPr>
          <p:cNvSpPr/>
          <p:nvPr/>
        </p:nvSpPr>
        <p:spPr>
          <a:xfrm>
            <a:off x="1498600" y="5130800"/>
            <a:ext cx="4978400" cy="38100"/>
          </a:xfrm>
          <a:prstGeom prst="rect">
            <a:avLst/>
          </a:prstGeom>
          <a:solidFill>
            <a:srgbClr val="BF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EB47E-FB93-E949-B30D-4920C865CD9F}"/>
              </a:ext>
            </a:extLst>
          </p:cNvPr>
          <p:cNvSpPr txBox="1"/>
          <p:nvPr/>
        </p:nvSpPr>
        <p:spPr>
          <a:xfrm>
            <a:off x="812800" y="3632200"/>
            <a:ext cx="660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666666"/>
                </a:solidFill>
              </a:rPr>
              <a:t>Dim 2 — arousal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DD184-4052-6148-AE81-FBBAFB4534F9}"/>
              </a:ext>
            </a:extLst>
          </p:cNvPr>
          <p:cNvSpPr txBox="1"/>
          <p:nvPr/>
        </p:nvSpPr>
        <p:spPr>
          <a:xfrm>
            <a:off x="2667000" y="5207000"/>
            <a:ext cx="3302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000">
                <a:solidFill>
                  <a:srgbClr val="666666"/>
                </a:solidFill>
              </a:rPr>
              <a:t>Dim 1 — valence (unpleasant → pleasant)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407E95-A57C-E74A-9A65-C836C7A6D160}"/>
              </a:ext>
            </a:extLst>
          </p:cNvPr>
          <p:cNvSpPr/>
          <p:nvPr/>
        </p:nvSpPr>
        <p:spPr>
          <a:xfrm>
            <a:off x="2159000" y="3022600"/>
            <a:ext cx="177800" cy="177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F1636-21A7-C64F-8492-5940C3723F99}"/>
              </a:ext>
            </a:extLst>
          </p:cNvPr>
          <p:cNvSpPr txBox="1"/>
          <p:nvPr/>
        </p:nvSpPr>
        <p:spPr>
          <a:xfrm>
            <a:off x="2387600" y="29845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</a:rPr>
              <a:t>Anxious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C956976-5D64-5541-BCBE-70964B243D56}"/>
              </a:ext>
            </a:extLst>
          </p:cNvPr>
          <p:cNvSpPr/>
          <p:nvPr/>
        </p:nvSpPr>
        <p:spPr>
          <a:xfrm>
            <a:off x="2616200" y="3556000"/>
            <a:ext cx="177800" cy="177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255FD-7397-094A-B6EE-A9440DEAB5A7}"/>
              </a:ext>
            </a:extLst>
          </p:cNvPr>
          <p:cNvSpPr txBox="1"/>
          <p:nvPr/>
        </p:nvSpPr>
        <p:spPr>
          <a:xfrm>
            <a:off x="2844800" y="35179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</a:rPr>
              <a:t>Angry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0D7A58-0E2F-9344-AAD4-59350F0961EF}"/>
              </a:ext>
            </a:extLst>
          </p:cNvPr>
          <p:cNvSpPr/>
          <p:nvPr/>
        </p:nvSpPr>
        <p:spPr>
          <a:xfrm>
            <a:off x="3175000" y="4470400"/>
            <a:ext cx="177800" cy="177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FEB495-C722-0442-BA5F-EA45BA3993E3}"/>
              </a:ext>
            </a:extLst>
          </p:cNvPr>
          <p:cNvSpPr txBox="1"/>
          <p:nvPr/>
        </p:nvSpPr>
        <p:spPr>
          <a:xfrm>
            <a:off x="3403600" y="44323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</a:rPr>
              <a:t>Sad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BE838D9-EA45-2449-BC08-0B54C3FFE907}"/>
              </a:ext>
            </a:extLst>
          </p:cNvPr>
          <p:cNvSpPr/>
          <p:nvPr/>
        </p:nvSpPr>
        <p:spPr>
          <a:xfrm>
            <a:off x="5334000" y="436880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C0E9C2-3E44-AA48-8366-50D467574867}"/>
              </a:ext>
            </a:extLst>
          </p:cNvPr>
          <p:cNvSpPr txBox="1"/>
          <p:nvPr/>
        </p:nvSpPr>
        <p:spPr>
          <a:xfrm>
            <a:off x="5562600" y="43307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</a:rPr>
              <a:t>Calm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480FD3-5D8E-C640-B3AB-4F86B1E335CF}"/>
              </a:ext>
            </a:extLst>
          </p:cNvPr>
          <p:cNvSpPr/>
          <p:nvPr/>
        </p:nvSpPr>
        <p:spPr>
          <a:xfrm>
            <a:off x="5740400" y="3327400"/>
            <a:ext cx="177800" cy="177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3A522-F278-3147-87D0-D6237A74FFF3}"/>
              </a:ext>
            </a:extLst>
          </p:cNvPr>
          <p:cNvSpPr txBox="1"/>
          <p:nvPr/>
        </p:nvSpPr>
        <p:spPr>
          <a:xfrm>
            <a:off x="5969000" y="3289300"/>
            <a:ext cx="1143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00" b="1">
                <a:solidFill>
                  <a:srgbClr val="333333"/>
                </a:solidFill>
              </a:rPr>
              <a:t>Happy</a:t>
            </a:r>
          </a:p>
        </p:txBody>
      </p:sp>
    </p:spTree>
    <p:extLst>
      <p:ext uri="{BB962C8B-B14F-4D97-AF65-F5344CB8AC3E}">
        <p14:creationId xmlns:p14="http://schemas.microsoft.com/office/powerpoint/2010/main" val="323356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C1DE0-5992-DD42-9C06-F31D6689C3E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92FA7-EECA-1843-A5B7-56C5E094AB0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Conceptual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FBD154-D7F7-B647-B492-225B3982CF16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06847A-0BFB-0140-873D-51D9960E763F}"/>
              </a:ext>
            </a:extLst>
          </p:cNvPr>
          <p:cNvSpPr/>
          <p:nvPr/>
        </p:nvSpPr>
        <p:spPr>
          <a:xfrm>
            <a:off x="762000" y="1473199"/>
            <a:ext cx="10668000" cy="1415145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3511C-B094-C741-9A11-04E1A1339140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53A47-20F6-6A48-941A-B614358F60A8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Answer briefly:
(a) When does classical MDS give exactly the same map as PCA?
(b) Why are MDS axes unlabeled, and what does this imply for interpretation?
(c) Your classical-MDS eigenvalues are (6.0, 2.5, −1.8, −2.0). What do the negatives tell you?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023E77-5B4C-D140-A312-48BBC0F4AEF8}"/>
              </a:ext>
            </a:extLst>
          </p:cNvPr>
          <p:cNvSpPr/>
          <p:nvPr/>
        </p:nvSpPr>
        <p:spPr>
          <a:xfrm>
            <a:off x="762000" y="3066145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502B0-499B-644E-9033-99EDD27BAFB4}"/>
              </a:ext>
            </a:extLst>
          </p:cNvPr>
          <p:cNvSpPr txBox="1"/>
          <p:nvPr/>
        </p:nvSpPr>
        <p:spPr>
          <a:xfrm>
            <a:off x="990600" y="3167745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 dirty="0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C1E7A-BCFE-3649-8521-80B003671181}"/>
              </a:ext>
            </a:extLst>
          </p:cNvPr>
          <p:cNvSpPr txBox="1"/>
          <p:nvPr/>
        </p:nvSpPr>
        <p:spPr>
          <a:xfrm>
            <a:off x="990600" y="3472545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(a) When D contains the Euclidean distances between (</a:t>
            </a:r>
            <a:r>
              <a:rPr lang="en-US" sz="1400" dirty="0" err="1">
                <a:solidFill>
                  <a:srgbClr val="333333"/>
                </a:solidFill>
                <a:latin typeface="Cambria Math"/>
                <a:ea typeface="Cambria Math"/>
              </a:rPr>
              <a:t>centred</a:t>
            </a:r>
            <a:r>
              <a:rPr lang="en-US" sz="1400" dirty="0">
                <a:solidFill>
                  <a:srgbClr val="333333"/>
                </a:solidFill>
                <a:latin typeface="Cambria Math"/>
                <a:ea typeface="Cambria Math"/>
              </a:rPr>
              <a:t>) data points. Then B = X꜀X꜀ᵀ shares the
     non-zero eigenvalues of the PCA covariance, so MDS coordinates = PCA scores (up to rotation/reflection).
(b) MDS only constrains pairwise distances, which are invariant to rotation, reflection and translation. So the
     axes carry no intrinsic meaning — interpret CLUSTERS and relative proximities, not axis directions, unless
     you regress external variables onto the configuration to name the axes.
(c) Large negative eigenvalues (−1.8, −2.0 vs positives 6.0, 2.5) mean D is markedly non-Euclidean — a 2-D
     Euclidean map will distort distances. Consider non-metric MDS, or add a constant to off-diagonal d²
     (additive constant method) to make B positive semi-definite before mapping.</a:t>
            </a:r>
          </a:p>
        </p:txBody>
      </p:sp>
    </p:spTree>
    <p:extLst>
      <p:ext uri="{BB962C8B-B14F-4D97-AF65-F5344CB8AC3E}">
        <p14:creationId xmlns:p14="http://schemas.microsoft.com/office/powerpoint/2010/main" val="310221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Three Questions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conceptual exercise linking classical MDS to PCA, axis meaning, and eigenvalue signs.</a:t>
            </a:r>
          </a:p>
        </p:txBody>
      </p:sp>
      <p:sp>
        <p:nvSpPr>
          <p:cNvPr id="9" name="CardA"/>
          <p:cNvSpPr/>
          <p:nvPr/>
        </p:nvSpPr>
        <p:spPr>
          <a:xfrm>
            <a:off x="762000" y="2006600"/>
            <a:ext cx="10668000" cy="11684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Dot10"/>
          <p:cNvSpPr/>
          <p:nvPr/>
        </p:nvSpPr>
        <p:spPr>
          <a:xfrm>
            <a:off x="990600" y="2286000"/>
            <a:ext cx="609600" cy="6096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QA"/>
          <p:cNvSpPr txBox="1"/>
          <p:nvPr/>
        </p:nvSpPr>
        <p:spPr>
          <a:xfrm>
            <a:off x="1803400" y="21590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When is classical MDS equivalent to PCA?</a:t>
            </a:r>
          </a:p>
        </p:txBody>
      </p:sp>
      <p:sp>
        <p:nvSpPr>
          <p:cNvPr id="13" name="CardB"/>
          <p:cNvSpPr/>
          <p:nvPr/>
        </p:nvSpPr>
        <p:spPr>
          <a:xfrm>
            <a:off x="762000" y="3251200"/>
            <a:ext cx="10668000" cy="11684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ot14"/>
          <p:cNvSpPr/>
          <p:nvPr/>
        </p:nvSpPr>
        <p:spPr>
          <a:xfrm>
            <a:off x="990600" y="3530600"/>
            <a:ext cx="609600" cy="6096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QB"/>
          <p:cNvSpPr txBox="1"/>
          <p:nvPr/>
        </p:nvSpPr>
        <p:spPr>
          <a:xfrm>
            <a:off x="1803400" y="34036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Why are the axes of an MDS map unlabeled?</a:t>
            </a:r>
          </a:p>
        </p:txBody>
      </p:sp>
      <p:sp>
        <p:nvSpPr>
          <p:cNvPr id="16" name="CardC"/>
          <p:cNvSpPr/>
          <p:nvPr/>
        </p:nvSpPr>
        <p:spPr>
          <a:xfrm>
            <a:off x="762000" y="4495800"/>
            <a:ext cx="10668000" cy="12446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t17"/>
          <p:cNvSpPr/>
          <p:nvPr/>
        </p:nvSpPr>
        <p:spPr>
          <a:xfrm>
            <a:off x="990600" y="4800600"/>
            <a:ext cx="609600" cy="6096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QC"/>
          <p:cNvSpPr txBox="1"/>
          <p:nvPr/>
        </p:nvSpPr>
        <p:spPr>
          <a:xfrm>
            <a:off x="1803400" y="4648200"/>
            <a:ext cx="94234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Eigenvalues (6.0, 2.5, −1.8, −2.0): what do the negatives tell you?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Three lenses on MDS: its link to PCA, the geometry of invariance, and eigenvalues as a diagnostic.</a:t>
            </a:r>
          </a:p>
        </p:txBody>
      </p:sp>
    </p:spTree>
    <p:extLst>
      <p:ext uri="{BB962C8B-B14F-4D97-AF65-F5344CB8AC3E}">
        <p14:creationId xmlns:p14="http://schemas.microsoft.com/office/powerpoint/2010/main" val="215388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9" grpId="0" animBg="1"/>
      <p:bldP spid="10" grpId="0" animBg="1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9" grpId="0"/>
      <p:bldP spid="30" grpId="0" animBg="1"/>
      <p:bldP spid="31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(a) When MDS =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Classical MDS equals PCA when D holds the Euclidean distances of centred data.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The shared eigenstructure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sz="216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sz="216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sz="216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16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16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sz="216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sz="216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16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16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sz="2160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=(</m:t>
                      </m:r>
                      <m:r>
                        <a:rPr sz="2160">
                          <a:latin typeface="Cambria Math"/>
                        </a:rPr>
                        <m:t>𝑛</m:t>
                      </m:r>
                      <m:r>
                        <a:rPr sz="2160">
                          <a:latin typeface="Cambria Math"/>
                        </a:rPr>
                        <m:t>−1) 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𝑒𝑖𝑔</m:t>
                      </m:r>
                      <m:r>
                        <a:rPr sz="2160">
                          <a:latin typeface="Cambria Math"/>
                        </a:rPr>
                        <m:t>⁺(</m:t>
                      </m:r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)=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𝑒𝑖𝑔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⁺(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𝛴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routes, one answer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If dᵢⱼ = ‖xᵢ − xⱼ‖ and the data are centred…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…then B = Xc Xcᵀ (the Gram matrix).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Xc Xcᵀ and Xcᵀ Xc share nonzero eigenvalues.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⇒ MDS coordinates = PCA scores,</a:t>
            </a:r>
          </a:p>
          <a:p>
            <a:pPr algn="l">
              <a:spcBef>
                <a:spcPts val="60"/>
              </a:spcBef>
            </a:pPr>
            <a:r>
              <a:rPr lang="en-US" sz="1250" i="1" dirty="0">
                <a:solidFill>
                  <a:srgbClr val="4B2E83"/>
                </a:solidFill>
              </a:rPr>
              <a:t>identical up to rotation / reflection.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 Euclidean distances of centred data, classical MDS and PCA give the same coordinates.</a:t>
            </a:r>
          </a:p>
        </p:txBody>
      </p:sp>
    </p:spTree>
    <p:extLst>
      <p:ext uri="{BB962C8B-B14F-4D97-AF65-F5344CB8AC3E}">
        <p14:creationId xmlns:p14="http://schemas.microsoft.com/office/powerpoint/2010/main" val="1245554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3 — (b) Why Axes Are Unlabeled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MDS fixes only the pairwise distances — invariant to rotation, reflection, and translation.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Same shape, any orientation</a:t>
            </a:r>
          </a:p>
        </p:txBody>
      </p:sp>
      <p:sp>
        <p:nvSpPr>
          <p:cNvPr id="40" name="Tri1"/>
          <p:cNvSpPr/>
          <p:nvPr/>
        </p:nvSpPr>
        <p:spPr>
          <a:xfrm>
            <a:off x="1397000" y="2717800"/>
            <a:ext cx="1905000" cy="1651000"/>
          </a:xfrm>
          <a:prstGeom prst="triangle">
            <a:avLst/>
          </a:prstGeom>
          <a:noFill/>
          <a:ln w="3175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ri2"/>
          <p:cNvSpPr/>
          <p:nvPr/>
        </p:nvSpPr>
        <p:spPr>
          <a:xfrm rot="2700000">
            <a:off x="4191000" y="2667000"/>
            <a:ext cx="1905000" cy="1778000"/>
          </a:xfrm>
          <a:prstGeom prst="triangle">
            <a:avLst/>
          </a:prstGeom>
          <a:noFill/>
          <a:ln w="3175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quiv"/>
          <p:cNvSpPr txBox="1"/>
          <p:nvPr/>
        </p:nvSpPr>
        <p:spPr>
          <a:xfrm>
            <a:off x="3327400" y="31750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85754D"/>
                </a:solidFill>
              </a:rPr>
              <a:t>≡</a:t>
            </a:r>
          </a:p>
        </p:txBody>
      </p:sp>
      <p:sp>
        <p:nvSpPr>
          <p:cNvPr id="43" name="Cap"/>
          <p:cNvSpPr txBox="1"/>
          <p:nvPr/>
        </p:nvSpPr>
        <p:spPr>
          <a:xfrm>
            <a:off x="889000" y="4572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rotate · reflect · translate</a:t>
            </a:r>
          </a:p>
          <a:p>
            <a:pPr algn="ctr">
              <a:spcBef>
                <a:spcPts val="80"/>
              </a:spcBef>
            </a:pPr>
            <a:r>
              <a:rPr lang="en-US" sz="1250" i="1" dirty="0">
                <a:solidFill>
                  <a:srgbClr val="666666"/>
                </a:solidFill>
              </a:rPr>
              <a:t>every distance dᵢⱼ stays the same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 proximities, not axes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MDS constrains only the distances dᵢⱼ between points.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Rotating, reflecting or shifting the whole map leaves every distance unchanged.</a:t>
            </a:r>
          </a:p>
          <a:p>
            <a:pPr algn="l">
              <a:spcBef>
                <a:spcPts val="130"/>
              </a:spcBef>
            </a:pPr>
            <a:r>
              <a:rPr lang="en-US" sz="1300" b="1" dirty="0">
                <a:solidFill>
                  <a:srgbClr val="333333"/>
                </a:solidFill>
              </a:rPr>
              <a:t>So axis directions and units are arbitrary.</a:t>
            </a:r>
          </a:p>
          <a:p>
            <a:pPr algn="l">
              <a:spcBef>
                <a:spcPts val="130"/>
              </a:spcBef>
            </a:pPr>
            <a:r>
              <a:rPr lang="en-US" sz="1250" i="1" dirty="0">
                <a:solidFill>
                  <a:srgbClr val="4B2E83"/>
                </a:solidFill>
              </a:rPr>
              <a:t>Interpret clusters and relative proximities — not axis labels.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Read an MDS map by what sits near what — the axes carry no intrinsic meaning.</a:t>
            </a:r>
          </a:p>
        </p:txBody>
      </p:sp>
    </p:spTree>
    <p:extLst>
      <p:ext uri="{BB962C8B-B14F-4D97-AF65-F5344CB8AC3E}">
        <p14:creationId xmlns:p14="http://schemas.microsoft.com/office/powerpoint/2010/main" val="78157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40" grpId="0" animBg="1"/>
      <p:bldP spid="41" grpId="0" animBg="1"/>
      <p:bldP spid="42" grpId="0"/>
      <p:bldP spid="43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4 — (c) Negative Eigenvalues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Eigenvalues (6.0, 2.5, −1.8, −2.0): two large negatives signal markedly non-Euclidean distances.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Size of the negatives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Vector"/>
              <p:cNvSpPr txBox="1"/>
              <p:nvPr/>
            </p:nvSpPr>
            <p:spPr>
              <a:xfrm>
                <a:off x="698500" y="2489200"/>
                <a:ext cx="6096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 xmlns="">
          <p:sp>
            <p:nvSpPr>
              <p:cNvPr id="13" name="Ve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21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84600"/>
            <a:ext cx="5715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|−2.0| / 6.0 ≈ 33%  →  far too large to ignore</a:t>
            </a:r>
          </a:p>
        </p:txBody>
      </p:sp>
      <p:sp>
        <p:nvSpPr>
          <p:cNvPr id="15" name="Verdict"/>
          <p:cNvSpPr/>
          <p:nvPr/>
        </p:nvSpPr>
        <p:spPr>
          <a:xfrm>
            <a:off x="1524000" y="4597400"/>
            <a:ext cx="4445000" cy="660400"/>
          </a:xfrm>
          <a:prstGeom prst="roundRect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⇒  markedly non-Euclidean</a:t>
            </a:r>
          </a:p>
        </p:txBody>
      </p:sp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Negative eigenvalues as big as the positives mean a 2-D Euclidean map will visibly distort the data.</a:t>
            </a:r>
          </a:p>
        </p:txBody>
      </p:sp>
      <p:graphicFrame>
        <p:nvGraphicFramePr>
          <p:cNvPr id="80" name="Eigen Chart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0922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14" grpId="0"/>
      <p:bldP spid="15" grpId="0" animBg="1"/>
      <p:bldP spid="20" grpId="0"/>
      <p:bldP spid="30" grpId="0" animBg="1"/>
      <p:bldP spid="31" grpId="0"/>
      <p:bldP spid="80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Fixes &amp; Summary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When B isn't positive semi-definite, repair it — then recap the three answers.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080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Fixes when B ⋡ 0</a:t>
            </a:r>
          </a:p>
        </p:txBody>
      </p:sp>
      <p:sp>
        <p:nvSpPr>
          <p:cNvPr id="13" name="LB"/>
          <p:cNvSpPr txBox="1"/>
          <p:nvPr/>
        </p:nvSpPr>
        <p:spPr>
          <a:xfrm>
            <a:off x="965200" y="2489200"/>
            <a:ext cx="4724400" cy="314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Additive constant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add c to every off-diagonal D²ᵢⱼ until B ⪰ 0.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333333"/>
                </a:solidFill>
              </a:rPr>
              <a:t>Non-metric MDS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fit monotone disparities, minimize stress.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333333"/>
                </a:solidFill>
              </a:rPr>
              <a:t>Report with a caveat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keep the 2-D map but flag the distortion.</a:t>
            </a:r>
          </a:p>
        </p:txBody>
      </p:sp>
      <p:sp>
        <p:nvSpPr>
          <p:cNvPr id="20" name="Right Card"/>
          <p:cNvSpPr/>
          <p:nvPr/>
        </p:nvSpPr>
        <p:spPr>
          <a:xfrm>
            <a:off x="6096000" y="1905000"/>
            <a:ext cx="533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6299200" y="2057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The three answers</a:t>
            </a:r>
          </a:p>
        </p:txBody>
      </p:sp>
      <p:sp>
        <p:nvSpPr>
          <p:cNvPr id="60" name="Dota"/>
          <p:cNvSpPr/>
          <p:nvPr/>
        </p:nvSpPr>
        <p:spPr>
          <a:xfrm>
            <a:off x="6324600" y="2540000"/>
            <a:ext cx="381000" cy="381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3" name="Ans_a"/>
          <p:cNvSpPr txBox="1"/>
          <p:nvPr/>
        </p:nvSpPr>
        <p:spPr>
          <a:xfrm>
            <a:off x="6832600" y="2489200"/>
            <a:ext cx="441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MDS = PCA on Euclidean distances of centred data (shared eigenstructure).</a:t>
            </a:r>
          </a:p>
        </p:txBody>
      </p:sp>
      <p:sp>
        <p:nvSpPr>
          <p:cNvPr id="61" name="Dotb"/>
          <p:cNvSpPr/>
          <p:nvPr/>
        </p:nvSpPr>
        <p:spPr>
          <a:xfrm>
            <a:off x="6324600" y="3454400"/>
            <a:ext cx="381000" cy="3810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4" name="Ans_b"/>
          <p:cNvSpPr txBox="1"/>
          <p:nvPr/>
        </p:nvSpPr>
        <p:spPr>
          <a:xfrm>
            <a:off x="6832600" y="3403600"/>
            <a:ext cx="441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Axes are unlabeled — distances are invariant to rotation, reflection, translation.</a:t>
            </a:r>
          </a:p>
        </p:txBody>
      </p:sp>
      <p:sp>
        <p:nvSpPr>
          <p:cNvPr id="62" name="Dotc"/>
          <p:cNvSpPr/>
          <p:nvPr/>
        </p:nvSpPr>
        <p:spPr>
          <a:xfrm>
            <a:off x="6324600" y="4368800"/>
            <a:ext cx="381000" cy="3810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" name="Ans_c"/>
          <p:cNvSpPr txBox="1"/>
          <p:nvPr/>
        </p:nvSpPr>
        <p:spPr>
          <a:xfrm>
            <a:off x="6832600" y="43180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Large negative eigenvalues ⇒ non-Euclidean; the 2-D map distorts — use the fixes at left.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Eigenvalue sizes and signs diagnose the whole MDS — fit, dimensionality, and Euclidean validity.</a:t>
            </a:r>
          </a:p>
        </p:txBody>
      </p:sp>
    </p:spTree>
    <p:extLst>
      <p:ext uri="{BB962C8B-B14F-4D97-AF65-F5344CB8AC3E}">
        <p14:creationId xmlns:p14="http://schemas.microsoft.com/office/powerpoint/2010/main" val="68264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60" grpId="0" animBg="1"/>
      <p:bldP spid="23" grpId="0"/>
      <p:bldP spid="61" grpId="0" animBg="1"/>
      <p:bldP spid="24" grpId="0"/>
      <p:bldP spid="62" grpId="0" animBg="1"/>
      <p:bldP spid="25" grpId="0"/>
      <p:bldP spid="30" grpId="0" animBg="1"/>
      <p:bldP spid="31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FF8FF5-2125-FF40-8588-BFB53F1EA8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D525F-B888-A042-98C0-1B616DEE93A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E5EAA-D873-064B-AEBB-3A343C51E05F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6EA24-C60F-4547-81F3-FA2C3CA54A61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19158-8F38-B541-925F-3F18862E5C2B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Autoencoders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65552-230C-9044-B70A-2B92004524C5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Learning nonlinear embeddings with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74510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9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446E0E-924A-1844-A7B1-2F7A943FC0E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D6BA6-0EAC-9C48-A209-54447251B00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F94B3-C8F5-1749-8DF7-8800D4F5A33B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An autoencoder is a neural network trained to copy its input to its output through a narrow bottleneck — forcing it to learn a compressed code.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A17FA2-6BB0-7E4E-A4DC-0BE1E9FF9EBA}"/>
              </a:ext>
            </a:extLst>
          </p:cNvPr>
          <p:cNvSpPr/>
          <p:nvPr/>
        </p:nvSpPr>
        <p:spPr>
          <a:xfrm>
            <a:off x="7620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35CA4-14D6-D244-B810-00BE6152D30A}"/>
              </a:ext>
            </a:extLst>
          </p:cNvPr>
          <p:cNvSpPr txBox="1"/>
          <p:nvPr/>
        </p:nvSpPr>
        <p:spPr>
          <a:xfrm>
            <a:off x="939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00F15-1FE9-C546-B0A0-0BA08EAFEDE1}"/>
              </a:ext>
            </a:extLst>
          </p:cNvPr>
          <p:cNvSpPr txBox="1"/>
          <p:nvPr/>
        </p:nvSpPr>
        <p:spPr>
          <a:xfrm>
            <a:off x="9398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z = f(x) maps the input x ∈ ℝᵖ to a low-dim code z ∈ ℝᵏ (k ≪ p). This is the embedding.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71C9A1-41FC-084E-B60F-CE668ED80799}"/>
              </a:ext>
            </a:extLst>
          </p:cNvPr>
          <p:cNvSpPr/>
          <p:nvPr/>
        </p:nvSpPr>
        <p:spPr>
          <a:xfrm>
            <a:off x="43815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E3011-6027-CF4E-9702-FDA488DBF6F7}"/>
              </a:ext>
            </a:extLst>
          </p:cNvPr>
          <p:cNvSpPr txBox="1"/>
          <p:nvPr/>
        </p:nvSpPr>
        <p:spPr>
          <a:xfrm>
            <a:off x="45593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Bottleneck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1F254-0F8F-D545-9D18-77C871A613C5}"/>
              </a:ext>
            </a:extLst>
          </p:cNvPr>
          <p:cNvSpPr txBox="1"/>
          <p:nvPr/>
        </p:nvSpPr>
        <p:spPr>
          <a:xfrm>
            <a:off x="45593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The code layer z. Its width k sets the embedding dimension — the AE analogue of 'number of components'.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7BB8CE-856D-0942-9929-D21ED8C57555}"/>
              </a:ext>
            </a:extLst>
          </p:cNvPr>
          <p:cNvSpPr/>
          <p:nvPr/>
        </p:nvSpPr>
        <p:spPr>
          <a:xfrm>
            <a:off x="80010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398C0-B3FF-464D-A4CF-98F3A8D036AB}"/>
              </a:ext>
            </a:extLst>
          </p:cNvPr>
          <p:cNvSpPr txBox="1"/>
          <p:nvPr/>
        </p:nvSpPr>
        <p:spPr>
          <a:xfrm>
            <a:off x="8178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Decoder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C8BE8-32B9-D441-88CA-D7DFAC839AB5}"/>
              </a:ext>
            </a:extLst>
          </p:cNvPr>
          <p:cNvSpPr txBox="1"/>
          <p:nvPr/>
        </p:nvSpPr>
        <p:spPr>
          <a:xfrm>
            <a:off x="81788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x̂ = g(z) reconstructs the input from the code. Training minimizes reconstruction error ‖x − x̂‖².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06093E2-6A8A-D249-ACF8-1307F4651716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4376A-142F-5B48-9C14-4404D122910C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Why it generalizes PCA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FE0C-A8C6-5B49-B3D9-C99D423A7489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Linear encoder + linear decoder + squared loss ⇒ the optimal AE spans the same subspace as PCA.
• Add nonlinear activations (ReLU, tanh) and depth ⇒ the AE bends the manifold, capturing structure PCA cannot.
• The code z is the embedding you use downstream (clustering, visualization, similarity search).
• Variants: denoising, sparse, contractive, and variational (VAE) autoencoders add structure to the code.</a:t>
            </a:r>
          </a:p>
        </p:txBody>
      </p:sp>
    </p:spTree>
    <p:extLst>
      <p:ext uri="{BB962C8B-B14F-4D97-AF65-F5344CB8AC3E}">
        <p14:creationId xmlns:p14="http://schemas.microsoft.com/office/powerpoint/2010/main" val="277675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110199B-71FF-B147-A4F2-009F7A9400B5}"/>
              </a:ext>
            </a:extLst>
          </p:cNvPr>
          <p:cNvSpPr/>
          <p:nvPr/>
        </p:nvSpPr>
        <p:spPr>
          <a:xfrm rot="831381">
            <a:off x="7464450" y="42291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EB6B29-4F1C-4042-B3B0-B57EDB15D329}"/>
              </a:ext>
            </a:extLst>
          </p:cNvPr>
          <p:cNvSpPr/>
          <p:nvPr/>
        </p:nvSpPr>
        <p:spPr>
          <a:xfrm>
            <a:off x="7493000" y="39941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95A26F-8861-8A41-8363-68AFF244AAEB}"/>
              </a:ext>
            </a:extLst>
          </p:cNvPr>
          <p:cNvSpPr/>
          <p:nvPr/>
        </p:nvSpPr>
        <p:spPr>
          <a:xfrm rot="-831381">
            <a:off x="7464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5B7952-FBE3-7045-A338-C8A76A4E8D61}"/>
              </a:ext>
            </a:extLst>
          </p:cNvPr>
          <p:cNvSpPr/>
          <p:nvPr/>
        </p:nvSpPr>
        <p:spPr>
          <a:xfrm rot="-1575520">
            <a:off x="7383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B263DE-62F9-DF42-9FB3-B64E5E94C404}"/>
              </a:ext>
            </a:extLst>
          </p:cNvPr>
          <p:cNvSpPr/>
          <p:nvPr/>
        </p:nvSpPr>
        <p:spPr>
          <a:xfrm rot="-2190086">
            <a:off x="7260565" y="32893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9B639-DF15-AC4B-80B7-CA5A94A1496F}"/>
              </a:ext>
            </a:extLst>
          </p:cNvPr>
          <p:cNvSpPr/>
          <p:nvPr/>
        </p:nvSpPr>
        <p:spPr>
          <a:xfrm rot="1575520">
            <a:off x="7383397" y="39941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860D48-B9DF-D140-8D92-A508089A163F}"/>
              </a:ext>
            </a:extLst>
          </p:cNvPr>
          <p:cNvSpPr/>
          <p:nvPr/>
        </p:nvSpPr>
        <p:spPr>
          <a:xfrm rot="831381">
            <a:off x="7464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633EF9-05F4-644B-8DB1-4973FE0EA415}"/>
              </a:ext>
            </a:extLst>
          </p:cNvPr>
          <p:cNvSpPr/>
          <p:nvPr/>
        </p:nvSpPr>
        <p:spPr>
          <a:xfrm>
            <a:off x="7493000" y="35242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B71B50-1A09-F745-B8A4-EE5A2E62B5D2}"/>
              </a:ext>
            </a:extLst>
          </p:cNvPr>
          <p:cNvSpPr/>
          <p:nvPr/>
        </p:nvSpPr>
        <p:spPr>
          <a:xfrm rot="-831381">
            <a:off x="7464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2A9BEF-78BE-BD4E-83CE-F4E99EF78441}"/>
              </a:ext>
            </a:extLst>
          </p:cNvPr>
          <p:cNvSpPr/>
          <p:nvPr/>
        </p:nvSpPr>
        <p:spPr>
          <a:xfrm rot="-1575520">
            <a:off x="7383397" y="30543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4EB8B6-BBC0-1E49-991F-7A525273A1C1}"/>
              </a:ext>
            </a:extLst>
          </p:cNvPr>
          <p:cNvSpPr/>
          <p:nvPr/>
        </p:nvSpPr>
        <p:spPr>
          <a:xfrm rot="2190086">
            <a:off x="7260565" y="37592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70FDAA-4E34-EC45-AC4D-52D25CF8D90B}"/>
              </a:ext>
            </a:extLst>
          </p:cNvPr>
          <p:cNvSpPr/>
          <p:nvPr/>
        </p:nvSpPr>
        <p:spPr>
          <a:xfrm rot="1575520">
            <a:off x="7383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88389-966A-FE42-8912-35E85877E632}"/>
              </a:ext>
            </a:extLst>
          </p:cNvPr>
          <p:cNvSpPr/>
          <p:nvPr/>
        </p:nvSpPr>
        <p:spPr>
          <a:xfrm rot="831381">
            <a:off x="7464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655653-B5D8-A84D-8738-C6082C8157ED}"/>
              </a:ext>
            </a:extLst>
          </p:cNvPr>
          <p:cNvSpPr/>
          <p:nvPr/>
        </p:nvSpPr>
        <p:spPr>
          <a:xfrm>
            <a:off x="7493000" y="30543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11F157-8F09-054A-BA5C-004D2691A937}"/>
              </a:ext>
            </a:extLst>
          </p:cNvPr>
          <p:cNvSpPr/>
          <p:nvPr/>
        </p:nvSpPr>
        <p:spPr>
          <a:xfrm rot="-831381">
            <a:off x="7464450" y="28194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F32691-8475-C14A-8FFE-BB23DFBC021A}"/>
              </a:ext>
            </a:extLst>
          </p:cNvPr>
          <p:cNvSpPr/>
          <p:nvPr/>
        </p:nvSpPr>
        <p:spPr>
          <a:xfrm rot="421858">
            <a:off x="5580783" y="38766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AB98B7-ECDF-DB45-B27A-D260AE165395}"/>
              </a:ext>
            </a:extLst>
          </p:cNvPr>
          <p:cNvSpPr/>
          <p:nvPr/>
        </p:nvSpPr>
        <p:spPr>
          <a:xfrm rot="-421858">
            <a:off x="5580783" y="36417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463379-8177-C349-83B3-DD9AC3E1F22C}"/>
              </a:ext>
            </a:extLst>
          </p:cNvPr>
          <p:cNvSpPr/>
          <p:nvPr/>
        </p:nvSpPr>
        <p:spPr>
          <a:xfrm rot="-1218268">
            <a:off x="5524891" y="340677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9DCA1-429D-C94F-B28A-8676A740B0B9}"/>
              </a:ext>
            </a:extLst>
          </p:cNvPr>
          <p:cNvSpPr/>
          <p:nvPr/>
        </p:nvSpPr>
        <p:spPr>
          <a:xfrm rot="1218268">
            <a:off x="5524891" y="364172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E68A60-AA3F-4E46-B9BD-0ECA2FF767BA}"/>
              </a:ext>
            </a:extLst>
          </p:cNvPr>
          <p:cNvSpPr/>
          <p:nvPr/>
        </p:nvSpPr>
        <p:spPr>
          <a:xfrm rot="421858">
            <a:off x="5580783" y="34067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A0A075-66F7-9248-A918-CBA6900D02C6}"/>
              </a:ext>
            </a:extLst>
          </p:cNvPr>
          <p:cNvSpPr/>
          <p:nvPr/>
        </p:nvSpPr>
        <p:spPr>
          <a:xfrm rot="-421858">
            <a:off x="5580783" y="31718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FAE553-DF34-604C-B892-BB03C43A57EB}"/>
              </a:ext>
            </a:extLst>
          </p:cNvPr>
          <p:cNvSpPr/>
          <p:nvPr/>
        </p:nvSpPr>
        <p:spPr>
          <a:xfrm rot="-421858">
            <a:off x="3675783" y="38766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3B2BF7-E111-3F4F-A2C2-8CE7187F2F47}"/>
              </a:ext>
            </a:extLst>
          </p:cNvPr>
          <p:cNvSpPr/>
          <p:nvPr/>
        </p:nvSpPr>
        <p:spPr>
          <a:xfrm rot="-1218268">
            <a:off x="3619891" y="364172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5BFEC8-E660-8944-A7A4-69CFF25A3E4C}"/>
              </a:ext>
            </a:extLst>
          </p:cNvPr>
          <p:cNvSpPr/>
          <p:nvPr/>
        </p:nvSpPr>
        <p:spPr>
          <a:xfrm rot="421858">
            <a:off x="3675783" y="36417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928577-B9A1-1448-B782-05AD2B085D98}"/>
              </a:ext>
            </a:extLst>
          </p:cNvPr>
          <p:cNvSpPr/>
          <p:nvPr/>
        </p:nvSpPr>
        <p:spPr>
          <a:xfrm rot="-421858">
            <a:off x="3675783" y="34067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552064-F6B7-BA4B-B71B-473C69FE2D32}"/>
              </a:ext>
            </a:extLst>
          </p:cNvPr>
          <p:cNvSpPr/>
          <p:nvPr/>
        </p:nvSpPr>
        <p:spPr>
          <a:xfrm rot="1218268">
            <a:off x="3619891" y="340677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70C74-B54B-4A40-8D7D-3FB54DCD3845}"/>
              </a:ext>
            </a:extLst>
          </p:cNvPr>
          <p:cNvSpPr/>
          <p:nvPr/>
        </p:nvSpPr>
        <p:spPr>
          <a:xfrm rot="421858">
            <a:off x="3675783" y="31718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C1EDE5-45CE-E94D-AA0E-9398668711F9}"/>
              </a:ext>
            </a:extLst>
          </p:cNvPr>
          <p:cNvSpPr/>
          <p:nvPr/>
        </p:nvSpPr>
        <p:spPr>
          <a:xfrm rot="-831381">
            <a:off x="1749450" y="42291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64F63-199E-654C-AE11-3C5E408A4035}"/>
              </a:ext>
            </a:extLst>
          </p:cNvPr>
          <p:cNvSpPr/>
          <p:nvPr/>
        </p:nvSpPr>
        <p:spPr>
          <a:xfrm rot="-1575520">
            <a:off x="1668397" y="39941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88ECC1-FE31-3244-B48D-A0B5A8DB3A1B}"/>
              </a:ext>
            </a:extLst>
          </p:cNvPr>
          <p:cNvSpPr/>
          <p:nvPr/>
        </p:nvSpPr>
        <p:spPr>
          <a:xfrm rot="-2190086">
            <a:off x="1545565" y="37592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1AC0D-56BF-8E47-ADC0-AC876375ECFE}"/>
              </a:ext>
            </a:extLst>
          </p:cNvPr>
          <p:cNvSpPr/>
          <p:nvPr/>
        </p:nvSpPr>
        <p:spPr>
          <a:xfrm>
            <a:off x="1778000" y="39941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E9C47-7C80-CE49-A9A0-E298125C6F5F}"/>
              </a:ext>
            </a:extLst>
          </p:cNvPr>
          <p:cNvSpPr/>
          <p:nvPr/>
        </p:nvSpPr>
        <p:spPr>
          <a:xfrm rot="-831381">
            <a:off x="1749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56536-2E08-FF4B-9C9F-463C1AA578DA}"/>
              </a:ext>
            </a:extLst>
          </p:cNvPr>
          <p:cNvSpPr/>
          <p:nvPr/>
        </p:nvSpPr>
        <p:spPr>
          <a:xfrm rot="-1575520">
            <a:off x="1668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DAD44D-C120-904C-AE4F-13D5BDE704DE}"/>
              </a:ext>
            </a:extLst>
          </p:cNvPr>
          <p:cNvSpPr/>
          <p:nvPr/>
        </p:nvSpPr>
        <p:spPr>
          <a:xfrm rot="831381">
            <a:off x="1749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3F59D-75CA-E348-8094-E0F8C98846A6}"/>
              </a:ext>
            </a:extLst>
          </p:cNvPr>
          <p:cNvSpPr/>
          <p:nvPr/>
        </p:nvSpPr>
        <p:spPr>
          <a:xfrm>
            <a:off x="1778000" y="35242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F2D66-FAAA-784D-BD64-DF751A9E3D5C}"/>
              </a:ext>
            </a:extLst>
          </p:cNvPr>
          <p:cNvSpPr/>
          <p:nvPr/>
        </p:nvSpPr>
        <p:spPr>
          <a:xfrm rot="-831381">
            <a:off x="1749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0195E9-5AE0-FC41-AFF9-2C33DABF9BD9}"/>
              </a:ext>
            </a:extLst>
          </p:cNvPr>
          <p:cNvSpPr/>
          <p:nvPr/>
        </p:nvSpPr>
        <p:spPr>
          <a:xfrm rot="1575520">
            <a:off x="1668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31481-850C-604D-9BE4-F32A0A50E198}"/>
              </a:ext>
            </a:extLst>
          </p:cNvPr>
          <p:cNvSpPr/>
          <p:nvPr/>
        </p:nvSpPr>
        <p:spPr>
          <a:xfrm rot="831381">
            <a:off x="1749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BD831-364E-9743-955E-92D1597B32DF}"/>
              </a:ext>
            </a:extLst>
          </p:cNvPr>
          <p:cNvSpPr/>
          <p:nvPr/>
        </p:nvSpPr>
        <p:spPr>
          <a:xfrm>
            <a:off x="1778000" y="30543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69AA6-4342-ED4D-9098-975B17327B58}"/>
              </a:ext>
            </a:extLst>
          </p:cNvPr>
          <p:cNvSpPr/>
          <p:nvPr/>
        </p:nvSpPr>
        <p:spPr>
          <a:xfrm rot="2190086">
            <a:off x="1545565" y="32893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70CDC-BC92-1F4C-8B57-B28057752B9C}"/>
              </a:ext>
            </a:extLst>
          </p:cNvPr>
          <p:cNvSpPr/>
          <p:nvPr/>
        </p:nvSpPr>
        <p:spPr>
          <a:xfrm rot="1575520">
            <a:off x="1668397" y="30543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425718-B10E-904C-8C12-E931A0A57D72}"/>
              </a:ext>
            </a:extLst>
          </p:cNvPr>
          <p:cNvSpPr/>
          <p:nvPr/>
        </p:nvSpPr>
        <p:spPr>
          <a:xfrm rot="831381">
            <a:off x="1749450" y="28194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B2FBA-79FE-B247-8029-0DF5AA2E0AA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53472-8DC1-B945-B216-E7FFAF1FB2B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B44DA-27CB-0F49-8F8B-29B58883202A}"/>
              </a:ext>
            </a:extLst>
          </p:cNvPr>
          <p:cNvSpPr txBox="1"/>
          <p:nvPr/>
        </p:nvSpPr>
        <p:spPr>
          <a:xfrm>
            <a:off x="762000" y="1447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Layers narrow from input to the bottleneck (encoder), then widen back to the output (decoder).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0FA6E63-86DE-1D47-86C5-BCEDCEA4FD2B}"/>
              </a:ext>
            </a:extLst>
          </p:cNvPr>
          <p:cNvSpPr/>
          <p:nvPr/>
        </p:nvSpPr>
        <p:spPr>
          <a:xfrm>
            <a:off x="1638300" y="24511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92655FC-7EB6-CC4B-A1A8-5379398668D2}"/>
              </a:ext>
            </a:extLst>
          </p:cNvPr>
          <p:cNvSpPr/>
          <p:nvPr/>
        </p:nvSpPr>
        <p:spPr>
          <a:xfrm>
            <a:off x="1638300" y="29210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EC2C181-3BBD-104C-8AF9-0D1FEC2F9F76}"/>
              </a:ext>
            </a:extLst>
          </p:cNvPr>
          <p:cNvSpPr/>
          <p:nvPr/>
        </p:nvSpPr>
        <p:spPr>
          <a:xfrm>
            <a:off x="1638300" y="33909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4CB029E-B1AC-3441-9C43-54341F1319FF}"/>
              </a:ext>
            </a:extLst>
          </p:cNvPr>
          <p:cNvSpPr/>
          <p:nvPr/>
        </p:nvSpPr>
        <p:spPr>
          <a:xfrm>
            <a:off x="1638300" y="38608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C7E9836-BC26-3348-B31F-8C1DDFA5CD4F}"/>
              </a:ext>
            </a:extLst>
          </p:cNvPr>
          <p:cNvSpPr/>
          <p:nvPr/>
        </p:nvSpPr>
        <p:spPr>
          <a:xfrm>
            <a:off x="1638300" y="43307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C45F58D-A109-3C44-83B9-B1D976B981F4}"/>
              </a:ext>
            </a:extLst>
          </p:cNvPr>
          <p:cNvSpPr/>
          <p:nvPr/>
        </p:nvSpPr>
        <p:spPr>
          <a:xfrm>
            <a:off x="3543300" y="29210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2056023-3E3E-3D4B-85AB-A817BD92D48A}"/>
              </a:ext>
            </a:extLst>
          </p:cNvPr>
          <p:cNvSpPr/>
          <p:nvPr/>
        </p:nvSpPr>
        <p:spPr>
          <a:xfrm>
            <a:off x="3543300" y="33909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127C43-6E75-5044-8B76-95BDE4D77499}"/>
              </a:ext>
            </a:extLst>
          </p:cNvPr>
          <p:cNvSpPr/>
          <p:nvPr/>
        </p:nvSpPr>
        <p:spPr>
          <a:xfrm>
            <a:off x="3543300" y="38608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AE0A980-3781-754A-B89E-3BDDBD0257D3}"/>
              </a:ext>
            </a:extLst>
          </p:cNvPr>
          <p:cNvSpPr/>
          <p:nvPr/>
        </p:nvSpPr>
        <p:spPr>
          <a:xfrm>
            <a:off x="5448300" y="3155950"/>
            <a:ext cx="279400" cy="279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7A9F0CA-C2C6-BB41-BD55-84E2D0C672C2}"/>
              </a:ext>
            </a:extLst>
          </p:cNvPr>
          <p:cNvSpPr/>
          <p:nvPr/>
        </p:nvSpPr>
        <p:spPr>
          <a:xfrm>
            <a:off x="5448300" y="3625850"/>
            <a:ext cx="279400" cy="279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C70E1C-868F-A544-9A55-4F4F88AA52D5}"/>
              </a:ext>
            </a:extLst>
          </p:cNvPr>
          <p:cNvSpPr/>
          <p:nvPr/>
        </p:nvSpPr>
        <p:spPr>
          <a:xfrm>
            <a:off x="7353300" y="29210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2808455-A9F0-9042-9256-8A8A628DFA18}"/>
              </a:ext>
            </a:extLst>
          </p:cNvPr>
          <p:cNvSpPr/>
          <p:nvPr/>
        </p:nvSpPr>
        <p:spPr>
          <a:xfrm>
            <a:off x="7353300" y="33909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638D025-697C-2540-9956-B1B081E337DD}"/>
              </a:ext>
            </a:extLst>
          </p:cNvPr>
          <p:cNvSpPr/>
          <p:nvPr/>
        </p:nvSpPr>
        <p:spPr>
          <a:xfrm>
            <a:off x="7353300" y="38608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67D6250-ED57-5A4E-9E1D-07E2C53DE7D2}"/>
              </a:ext>
            </a:extLst>
          </p:cNvPr>
          <p:cNvSpPr/>
          <p:nvPr/>
        </p:nvSpPr>
        <p:spPr>
          <a:xfrm>
            <a:off x="9258300" y="24511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9A710D7-75A3-1547-9896-0D2144A9B0D2}"/>
              </a:ext>
            </a:extLst>
          </p:cNvPr>
          <p:cNvSpPr/>
          <p:nvPr/>
        </p:nvSpPr>
        <p:spPr>
          <a:xfrm>
            <a:off x="9258300" y="29210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CAF01D0-0606-BE45-A87A-3E02083DFA7A}"/>
              </a:ext>
            </a:extLst>
          </p:cNvPr>
          <p:cNvSpPr/>
          <p:nvPr/>
        </p:nvSpPr>
        <p:spPr>
          <a:xfrm>
            <a:off x="9258300" y="33909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7A61E8-E1F5-A749-9C2B-34E819922FC8}"/>
              </a:ext>
            </a:extLst>
          </p:cNvPr>
          <p:cNvSpPr/>
          <p:nvPr/>
        </p:nvSpPr>
        <p:spPr>
          <a:xfrm>
            <a:off x="9258300" y="38608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1DF8B05-A1AD-D346-AD94-BBB7F95CBD70}"/>
              </a:ext>
            </a:extLst>
          </p:cNvPr>
          <p:cNvSpPr/>
          <p:nvPr/>
        </p:nvSpPr>
        <p:spPr>
          <a:xfrm>
            <a:off x="9258300" y="43307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761722-B95F-894E-8655-C795B5BDFC9A}"/>
              </a:ext>
            </a:extLst>
          </p:cNvPr>
          <p:cNvSpPr txBox="1"/>
          <p:nvPr/>
        </p:nvSpPr>
        <p:spPr>
          <a:xfrm>
            <a:off x="1168400" y="46863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x  (p=5)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5D6D43-8440-7F4F-9179-976AE64B7584}"/>
              </a:ext>
            </a:extLst>
          </p:cNvPr>
          <p:cNvSpPr txBox="1"/>
          <p:nvPr/>
        </p:nvSpPr>
        <p:spPr>
          <a:xfrm>
            <a:off x="3073400" y="42164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hidden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31E35B-C20D-E549-B53E-D7BB3FA9B5A8}"/>
              </a:ext>
            </a:extLst>
          </p:cNvPr>
          <p:cNvSpPr txBox="1"/>
          <p:nvPr/>
        </p:nvSpPr>
        <p:spPr>
          <a:xfrm>
            <a:off x="4978400" y="398145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7AB648"/>
                </a:solidFill>
              </a:rPr>
              <a:t>z  (k=2)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6851C2-CBE8-5F40-B80A-06249EB66B4B}"/>
              </a:ext>
            </a:extLst>
          </p:cNvPr>
          <p:cNvSpPr txBox="1"/>
          <p:nvPr/>
        </p:nvSpPr>
        <p:spPr>
          <a:xfrm>
            <a:off x="6883400" y="42164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hidden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9CFFAC-6D14-B14B-849D-27D0A779989A}"/>
              </a:ext>
            </a:extLst>
          </p:cNvPr>
          <p:cNvSpPr txBox="1"/>
          <p:nvPr/>
        </p:nvSpPr>
        <p:spPr>
          <a:xfrm>
            <a:off x="8788400" y="46863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x̂  (p=5)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652696-E5A6-1840-9C88-C8FFD9D0F9C2}"/>
              </a:ext>
            </a:extLst>
          </p:cNvPr>
          <p:cNvSpPr txBox="1"/>
          <p:nvPr/>
        </p:nvSpPr>
        <p:spPr>
          <a:xfrm>
            <a:off x="1143000" y="200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ENCODER  f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55AF6E-16F2-8144-9D80-FB042ABAFF5D}"/>
              </a:ext>
            </a:extLst>
          </p:cNvPr>
          <p:cNvSpPr txBox="1"/>
          <p:nvPr/>
        </p:nvSpPr>
        <p:spPr>
          <a:xfrm>
            <a:off x="7620000" y="200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DECODER  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FFC1B5-254C-E54A-BD48-D6C477FADDCC}"/>
              </a:ext>
            </a:extLst>
          </p:cNvPr>
          <p:cNvSpPr txBox="1"/>
          <p:nvPr/>
        </p:nvSpPr>
        <p:spPr>
          <a:xfrm>
            <a:off x="4978400" y="19050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5A8A2E"/>
                </a:solidFill>
              </a:rPr>
              <a:t>bottleneck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70FE919-E057-734A-8588-6B72C2630B4C}"/>
              </a:ext>
            </a:extLst>
          </p:cNvPr>
          <p:cNvSpPr/>
          <p:nvPr/>
        </p:nvSpPr>
        <p:spPr>
          <a:xfrm>
            <a:off x="762000" y="4978400"/>
            <a:ext cx="10668000" cy="1092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63C2E2-2038-D544-A2CA-D0617B4087B5}"/>
              </a:ext>
            </a:extLst>
          </p:cNvPr>
          <p:cNvSpPr txBox="1"/>
          <p:nvPr/>
        </p:nvSpPr>
        <p:spPr>
          <a:xfrm>
            <a:off x="990600" y="5105400"/>
            <a:ext cx="102108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Symmetric design: decoder mirrors the encoder. Weights may be tied (W_dec = W_encᵀ) to halve parameters.
• The bottleneck width k forces compression; only directions that best reconstruct the data survive.
• After training, discard the decoder — the encoder f is your dimensionality-reduction map.</a:t>
            </a:r>
          </a:p>
        </p:txBody>
      </p:sp>
    </p:spTree>
    <p:extLst>
      <p:ext uri="{BB962C8B-B14F-4D97-AF65-F5344CB8AC3E}">
        <p14:creationId xmlns:p14="http://schemas.microsoft.com/office/powerpoint/2010/main" val="409034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7" grpId="0" animBg="1"/>
      <p:bldP spid="46" grpId="0" animBg="1"/>
      <p:bldP spid="45" grpId="0" animBg="1"/>
      <p:bldP spid="44" grpId="0" animBg="1"/>
      <p:bldP spid="43" grpId="0" animBg="1"/>
      <p:bldP spid="42" grpId="0" animBg="1"/>
      <p:bldP spid="41" grpId="0" animBg="1"/>
      <p:bldP spid="40" grpId="0" animBg="1"/>
      <p:bldP spid="39" grpId="0" animBg="1"/>
      <p:bldP spid="38" grpId="0" animBg="1"/>
      <p:bldP spid="37" grpId="0" animBg="1"/>
      <p:bldP spid="36" grpId="0" animBg="1"/>
      <p:bldP spid="35" grpId="0" animBg="1"/>
      <p:bldP spid="34" grpId="0" animBg="1"/>
      <p:bldP spid="33" grpId="0" animBg="1"/>
      <p:bldP spid="32" grpId="0" animBg="1"/>
      <p:bldP spid="31" grpId="0" animBg="1"/>
      <p:bldP spid="30" grpId="0" animBg="1"/>
      <p:bldP spid="29" grpId="0" animBg="1"/>
      <p:bldP spid="28" grpId="0" animBg="1"/>
      <p:bldP spid="27" grpId="0" animBg="1"/>
      <p:bldP spid="26" grpId="0" animBg="1"/>
      <p:bldP spid="25" grpId="0" animBg="1"/>
      <p:bldP spid="24" grpId="0" animBg="1"/>
      <p:bldP spid="23" grpId="0" animBg="1"/>
      <p:bldP spid="22" grpId="0" animBg="1"/>
      <p:bldP spid="21" grpId="0" animBg="1"/>
      <p:bldP spid="20" grpId="0" animBg="1"/>
      <p:bldP spid="19" grpId="0" animBg="1"/>
      <p:bldP spid="18" grpId="0" animBg="1"/>
      <p:bldP spid="17" grpId="0" animBg="1"/>
      <p:bldP spid="16" grpId="0" animBg="1"/>
      <p:bldP spid="15" grpId="0" animBg="1"/>
      <p:bldP spid="14" grpId="0" animBg="1"/>
      <p:bldP spid="13" grpId="0" animBg="1"/>
      <p:bldP spid="12" grpId="0" animBg="1"/>
      <p:bldP spid="11" grpId="0" animBg="1"/>
      <p:bldP spid="10" grpId="0" animBg="1"/>
      <p:bldP spid="9" grpId="0" animBg="1"/>
      <p:bldP spid="8" grpId="0" animBg="1"/>
      <p:bldP spid="7" grpId="0" animBg="1"/>
      <p:bldP spid="4" grpId="0" animBg="1"/>
      <p:bldP spid="5" grpId="0"/>
      <p:bldP spid="6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 animBg="1"/>
      <p:bldP spid="76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5976A4-0C64-0542-9EE3-C0CBDF63D8E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29E43-BD0D-E24C-A5D6-EFBBF120DBA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Choosing the Bottleneck Size 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CAD6E-ED02-8244-8890-00E30C7EF7A1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k is a hyperparameter, not solved by eigenvalues. Choose it from reconstruction quality and downstream use.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5441CC-A7AA-614E-842D-B3EDCEB79977}"/>
              </a:ext>
            </a:extLst>
          </p:cNvPr>
          <p:cNvSpPr/>
          <p:nvPr/>
        </p:nvSpPr>
        <p:spPr>
          <a:xfrm>
            <a:off x="7620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C561B-B04D-FC48-97C1-FC23D51C952F}"/>
              </a:ext>
            </a:extLst>
          </p:cNvPr>
          <p:cNvSpPr txBox="1"/>
          <p:nvPr/>
        </p:nvSpPr>
        <p:spPr>
          <a:xfrm>
            <a:off x="9144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Reconstruction 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1F9E4-09A7-A94B-A2EA-D07F7A25D20B}"/>
              </a:ext>
            </a:extLst>
          </p:cNvPr>
          <p:cNvSpPr txBox="1"/>
          <p:nvPr/>
        </p:nvSpPr>
        <p:spPr>
          <a:xfrm>
            <a:off x="9144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Train AEs for several k; plot validation loss vs k. Pick k at the elbow where loss stops dropping.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E8389F-1FAF-0C42-A1E2-0687F9251DA5}"/>
              </a:ext>
            </a:extLst>
          </p:cNvPr>
          <p:cNvSpPr/>
          <p:nvPr/>
        </p:nvSpPr>
        <p:spPr>
          <a:xfrm>
            <a:off x="34798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7F690-075A-4441-8C8B-82A25A53737E}"/>
              </a:ext>
            </a:extLst>
          </p:cNvPr>
          <p:cNvSpPr txBox="1"/>
          <p:nvPr/>
        </p:nvSpPr>
        <p:spPr>
          <a:xfrm>
            <a:off x="36322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Downstream metric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6BC54-C1F4-6448-B52A-2A3404154A0F}"/>
              </a:ext>
            </a:extLst>
          </p:cNvPr>
          <p:cNvSpPr txBox="1"/>
          <p:nvPr/>
        </p:nvSpPr>
        <p:spPr>
          <a:xfrm>
            <a:off x="36322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If the code feeds a classifier/cluster, choose k that maximizes that task's validation score.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C1096A-3CDA-5E4D-A4FE-E2F5F02ED026}"/>
              </a:ext>
            </a:extLst>
          </p:cNvPr>
          <p:cNvSpPr/>
          <p:nvPr/>
        </p:nvSpPr>
        <p:spPr>
          <a:xfrm>
            <a:off x="61976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4658A-B1F4-4F4E-BD71-EF8F1D8D363B}"/>
              </a:ext>
            </a:extLst>
          </p:cNvPr>
          <p:cNvSpPr txBox="1"/>
          <p:nvPr/>
        </p:nvSpPr>
        <p:spPr>
          <a:xfrm>
            <a:off x="63500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Capacity vs overfit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61797-B684-8047-9D0E-26E1BF7F4B24}"/>
              </a:ext>
            </a:extLst>
          </p:cNvPr>
          <p:cNvSpPr txBox="1"/>
          <p:nvPr/>
        </p:nvSpPr>
        <p:spPr>
          <a:xfrm>
            <a:off x="63500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Too large k ⇒ the AE just copies (identity); regularize (sparsity, denoising) or keep k small.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2065E7-9FD5-5640-B7A5-AA23E73AF2CC}"/>
              </a:ext>
            </a:extLst>
          </p:cNvPr>
          <p:cNvSpPr/>
          <p:nvPr/>
        </p:nvSpPr>
        <p:spPr>
          <a:xfrm>
            <a:off x="89154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1CE0E7-8C90-B047-AFCB-1DA55E8B4BCD}"/>
              </a:ext>
            </a:extLst>
          </p:cNvPr>
          <p:cNvSpPr txBox="1"/>
          <p:nvPr/>
        </p:nvSpPr>
        <p:spPr>
          <a:xfrm>
            <a:off x="90678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0D6DF-41F5-7045-AE01-4D0F05A8076C}"/>
              </a:ext>
            </a:extLst>
          </p:cNvPr>
          <p:cNvSpPr txBox="1"/>
          <p:nvPr/>
        </p:nvSpPr>
        <p:spPr>
          <a:xfrm>
            <a:off x="90678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For plotting, k = 2 or 3; for compression, the smallest k meeting an error tolerance.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17E8A3-81C8-9147-A157-086D087CC368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AC977-4280-BD41-8ECE-757CB73254AB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Contrast with PCA / CA / MDS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30F49-96ED-F247-8657-D99BD079E1D9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PCA/MDS give an ordered spectrum of eigenvalues ⇒ scree/variance rules pick k directly.
• An autoencoder has no such ordering — every code unit is learned jointly, so you must SEARCH over k.
• Practical recipe: grid k ∈ {2,4,8,16,…}, train each, compare validation reconstruction error, pick the elbow.
• Tip: a linear AE with k units recovers PCA's k-dim error — use that as a baseline the nonlinear AE must beat.</a:t>
            </a:r>
          </a:p>
        </p:txBody>
      </p:sp>
    </p:spTree>
    <p:extLst>
      <p:ext uri="{BB962C8B-B14F-4D97-AF65-F5344CB8AC3E}">
        <p14:creationId xmlns:p14="http://schemas.microsoft.com/office/powerpoint/2010/main" val="262884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16C6AC-7CDF-504C-AEF6-5E14824E99F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8F55C-1A99-FA42-AFA8-775DD38ADAD2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AE — Math (1): Encoder, Decoder,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D504C-90A4-7040-888A-85F1CA809E76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Single hidden-layer autoencoder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5824CE-4FAC-6D43-BB47-8D6D7CF7455B}"/>
              </a:ext>
            </a:extLst>
          </p:cNvPr>
          <p:cNvSpPr/>
          <p:nvPr/>
        </p:nvSpPr>
        <p:spPr>
          <a:xfrm>
            <a:off x="762000" y="1828800"/>
            <a:ext cx="5334000" cy="1574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FF9B4-C8F3-1341-A48A-461544BA2890}"/>
              </a:ext>
            </a:extLst>
          </p:cNvPr>
          <p:cNvSpPr txBox="1"/>
          <p:nvPr/>
        </p:nvSpPr>
        <p:spPr>
          <a:xfrm>
            <a:off x="939800" y="1955800"/>
            <a:ext cx="49784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Encoder:  z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 x + b)        W ∈ ℝᵏˣᵖ
Decoder:  x̂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W′ z + b′)     W′ ∈ ℝᵖˣᵏ
x ∈ ℝᵖ ,  z ∈ ℝᵏ  (k ≪ p)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=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activation (ReLU, tanh, sigmoid;
      identity ⇒ linear AE)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5B6E1-A494-A849-B90E-F6BD201BED35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Reconstruction loss (training objective)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5CBF4D-7BB5-AC41-AC7C-B9FB6B02040C}"/>
              </a:ext>
            </a:extLst>
          </p:cNvPr>
          <p:cNvSpPr/>
          <p:nvPr/>
        </p:nvSpPr>
        <p:spPr>
          <a:xfrm>
            <a:off x="6350000" y="1828800"/>
            <a:ext cx="5080000" cy="1574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3C2D0-D344-3749-82E3-144259BD761B}"/>
              </a:ext>
            </a:extLst>
          </p:cNvPr>
          <p:cNvSpPr txBox="1"/>
          <p:nvPr/>
        </p:nvSpPr>
        <p:spPr>
          <a:xfrm>
            <a:off x="6527800" y="1955800"/>
            <a:ext cx="47244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θ) = (1/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n)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ᵢ ‖xᵢ − x̂ᵢ‖²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= {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W, b, W′, b′}
Minimized by gradient descent;
for binary inputs use cross-entropy
instead of squared error.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306BD-CC79-8D47-94EF-FDECCD44649A}"/>
              </a:ext>
            </a:extLst>
          </p:cNvPr>
          <p:cNvSpPr txBox="1"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Regularized variants (shape the code)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4B3B92-942A-564A-A516-425FA1DDA6E5}"/>
              </a:ext>
            </a:extLst>
          </p:cNvPr>
          <p:cNvSpPr/>
          <p:nvPr/>
        </p:nvSpPr>
        <p:spPr>
          <a:xfrm>
            <a:off x="762000" y="3886200"/>
            <a:ext cx="10668000" cy="218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24D86-1909-8543-84FE-AB4E8E3F6AF9}"/>
              </a:ext>
            </a:extLst>
          </p:cNvPr>
          <p:cNvSpPr txBox="1"/>
          <p:nvPr/>
        </p:nvSpPr>
        <p:spPr>
          <a:xfrm>
            <a:off x="939800" y="4013200"/>
            <a:ext cx="10312400" cy="198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Sparse AE:        L +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 KL(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ρ ‖ ρ̂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ⱼ)        — penalizes average activation, forces few active units.
Denoising AE:    minimize ‖x − g(f(x̃))‖²,  x̃ = x + noise   — learns robust features, not the identity.
Contractive AE:  L +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J_f(x)‖²_F          — penalizes the encoder Jacobian, stabilizing the code.
Variational AE:  L_recon + KL(q(z|x) ‖ N(0,I))  — probabilistic code, enables generation.
Weight tying:     set W′ = Wᵀ  — fewer parameters and a tighter PCA analogy.</a:t>
            </a:r>
          </a:p>
        </p:txBody>
      </p:sp>
    </p:spTree>
    <p:extLst>
      <p:ext uri="{BB962C8B-B14F-4D97-AF65-F5344CB8AC3E}">
        <p14:creationId xmlns:p14="http://schemas.microsoft.com/office/powerpoint/2010/main" val="209798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C5A94C-8199-6142-A09C-69CB02C7F2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51CB1-D5A7-EF4C-8E5D-E0ACD6B99D0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AE — Math (2): Linear AE ≈ PCA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8B317-63C2-1F4E-806C-460CE9D709CD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linear-autoencoder theorem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18E3BB-F73C-B241-ADD6-A03BCE6D78BD}"/>
              </a:ext>
            </a:extLst>
          </p:cNvPr>
          <p:cNvSpPr/>
          <p:nvPr/>
        </p:nvSpPr>
        <p:spPr>
          <a:xfrm>
            <a:off x="762000" y="18288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3FCB3-5299-ED40-9C84-832C54AF7560}"/>
              </a:ext>
            </a:extLst>
          </p:cNvPr>
          <p:cNvSpPr txBox="1"/>
          <p:nvPr/>
        </p:nvSpPr>
        <p:spPr>
          <a:xfrm>
            <a:off x="939800" y="1955800"/>
            <a:ext cx="10312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Take identity activations and tied weights:  x̂ = W′W x ,  with W ∈ ℝᵏˣᵖ.
Minimizing  L = (1/n)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xᵢ − W′W xᵢ‖²  over W, W′  (data centered)  ⇒  the optimum W′W is the
rank-k orthogonal projector onto the top-k eigenvectors of the covariance S = (1/n)X꜀ᵀX꜀.
⇒ A linear AE spans the SAME subspace as PCA; the global minimum reconstruction error equals PCA's.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F34F0-EAA2-DC47-99E6-5D8C2A79B188}"/>
              </a:ext>
            </a:extLst>
          </p:cNvPr>
          <p:cNvSpPr txBox="1"/>
          <p:nvPr/>
        </p:nvSpPr>
        <p:spPr>
          <a:xfrm>
            <a:off x="762000" y="3454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Caveats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BDFA3C-19D4-604E-AE8B-7FA5239CAEC9}"/>
              </a:ext>
            </a:extLst>
          </p:cNvPr>
          <p:cNvSpPr/>
          <p:nvPr/>
        </p:nvSpPr>
        <p:spPr>
          <a:xfrm>
            <a:off x="762000" y="3759200"/>
            <a:ext cx="5334000" cy="2311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F693F-CB3C-A74C-A466-524D14B560DF}"/>
              </a:ext>
            </a:extLst>
          </p:cNvPr>
          <p:cNvSpPr txBox="1"/>
          <p:nvPr/>
        </p:nvSpPr>
        <p:spPr>
          <a:xfrm>
            <a:off x="939800" y="3886200"/>
            <a:ext cx="49784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AE axes are not forced orthogonal or
   ordered — only the subspace matches PCA,
   not the individual components.
• Loss surface is non-convex; SGD finds A
   global-error solution, not necessarily the
   PCA basis itself.
• Nonlinear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breaks the equivalence — that
   is the whole point of using an AE.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8BF89-1654-5246-BA79-2103BE3CD659}"/>
              </a:ext>
            </a:extLst>
          </p:cNvPr>
          <p:cNvSpPr txBox="1"/>
          <p:nvPr/>
        </p:nvSpPr>
        <p:spPr>
          <a:xfrm>
            <a:off x="6350000" y="3454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Training gradients (backprop)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7948EF-CF2B-BC4F-9F41-AF926E5C4CC7}"/>
              </a:ext>
            </a:extLst>
          </p:cNvPr>
          <p:cNvSpPr/>
          <p:nvPr/>
        </p:nvSpPr>
        <p:spPr>
          <a:xfrm>
            <a:off x="6350000" y="3759200"/>
            <a:ext cx="5080000" cy="2311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353E7-5F7C-5C4F-A34A-A0B8D4A7AE03}"/>
              </a:ext>
            </a:extLst>
          </p:cNvPr>
          <p:cNvSpPr txBox="1"/>
          <p:nvPr/>
        </p:nvSpPr>
        <p:spPr>
          <a:xfrm>
            <a:off x="6527800" y="3886200"/>
            <a:ext cx="47244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Per example, with e = x̂ − x: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 = e ⊙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pre_out)
∂L/∂W′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 zᵀ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hid = (W′ᵀ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out) ⊙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pre_hid)
∂L/∂W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hid xᵀ
Update: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← θ − 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  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SGD/Adam)</a:t>
            </a:r>
          </a:p>
        </p:txBody>
      </p:sp>
    </p:spTree>
    <p:extLst>
      <p:ext uri="{BB962C8B-B14F-4D97-AF65-F5344CB8AC3E}">
        <p14:creationId xmlns:p14="http://schemas.microsoft.com/office/powerpoint/2010/main" val="422143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CF9A9E-EAA7-EB45-BF38-915FDBD94D3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DD257-E70A-C446-9246-668EAF24EEC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Training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FDABFC-B45A-C346-A4D4-9E59F998F752}"/>
              </a:ext>
            </a:extLst>
          </p:cNvPr>
          <p:cNvSpPr/>
          <p:nvPr/>
        </p:nvSpPr>
        <p:spPr>
          <a:xfrm>
            <a:off x="762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C08FF2-28EE-804C-9203-628C3496D63A}"/>
              </a:ext>
            </a:extLst>
          </p:cNvPr>
          <p:cNvSpPr/>
          <p:nvPr/>
        </p:nvSpPr>
        <p:spPr>
          <a:xfrm>
            <a:off x="939800" y="18034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1DF2D-2C8E-5949-AF78-1F07FF29AD6D}"/>
              </a:ext>
            </a:extLst>
          </p:cNvPr>
          <p:cNvSpPr txBox="1"/>
          <p:nvPr/>
        </p:nvSpPr>
        <p:spPr>
          <a:xfrm>
            <a:off x="1473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Preprocess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C1CA6-7AF7-A74B-8786-E8ECFF6EEBF9}"/>
              </a:ext>
            </a:extLst>
          </p:cNvPr>
          <p:cNvSpPr txBox="1"/>
          <p:nvPr/>
        </p:nvSpPr>
        <p:spPr>
          <a:xfrm>
            <a:off x="939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Center/scale inputs; split train/validation. Choose architecture (depth, widths, bottleneck k).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8006EE-EC76-4C44-8446-E98BDA5584D9}"/>
              </a:ext>
            </a:extLst>
          </p:cNvPr>
          <p:cNvSpPr/>
          <p:nvPr/>
        </p:nvSpPr>
        <p:spPr>
          <a:xfrm>
            <a:off x="43815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E16550-CDD2-834E-B72A-99D75C396FD9}"/>
              </a:ext>
            </a:extLst>
          </p:cNvPr>
          <p:cNvSpPr/>
          <p:nvPr/>
        </p:nvSpPr>
        <p:spPr>
          <a:xfrm>
            <a:off x="4559300" y="1803400"/>
            <a:ext cx="431800" cy="431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5DCAF-1EE9-4B4F-A1CE-433962630627}"/>
              </a:ext>
            </a:extLst>
          </p:cNvPr>
          <p:cNvSpPr txBox="1"/>
          <p:nvPr/>
        </p:nvSpPr>
        <p:spPr>
          <a:xfrm>
            <a:off x="50927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Init &amp; forward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C93C8-9ADE-7F47-B2EA-D1D0D43A28F7}"/>
              </a:ext>
            </a:extLst>
          </p:cNvPr>
          <p:cNvSpPr txBox="1"/>
          <p:nvPr/>
        </p:nvSpPr>
        <p:spPr>
          <a:xfrm>
            <a:off x="45593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Initialize weights; forward pass z = f(x), x̂ = g(z) on a minibatch.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DD5143-6378-4A40-9256-793B89962C0A}"/>
              </a:ext>
            </a:extLst>
          </p:cNvPr>
          <p:cNvSpPr/>
          <p:nvPr/>
        </p:nvSpPr>
        <p:spPr>
          <a:xfrm>
            <a:off x="8001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A5347C-E17C-704F-80F6-701F1B604821}"/>
              </a:ext>
            </a:extLst>
          </p:cNvPr>
          <p:cNvSpPr/>
          <p:nvPr/>
        </p:nvSpPr>
        <p:spPr>
          <a:xfrm>
            <a:off x="8178800" y="1803400"/>
            <a:ext cx="431800" cy="431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3F78A-64DE-EC4B-8F33-59AA9AF99888}"/>
              </a:ext>
            </a:extLst>
          </p:cNvPr>
          <p:cNvSpPr txBox="1"/>
          <p:nvPr/>
        </p:nvSpPr>
        <p:spPr>
          <a:xfrm>
            <a:off x="8712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Compute loss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DDA9EC-04F8-7C43-BBD5-B06456FA0A37}"/>
              </a:ext>
            </a:extLst>
          </p:cNvPr>
          <p:cNvSpPr txBox="1"/>
          <p:nvPr/>
        </p:nvSpPr>
        <p:spPr>
          <a:xfrm>
            <a:off x="8178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 = mean ‖x − x̂‖² (+ regularizers: sparsity / denoising / KL).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7A39A3-4EA9-F548-B28E-54FFF3A75B39}"/>
              </a:ext>
            </a:extLst>
          </p:cNvPr>
          <p:cNvSpPr/>
          <p:nvPr/>
        </p:nvSpPr>
        <p:spPr>
          <a:xfrm>
            <a:off x="762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ED2682-84A5-7C43-86A5-34003316A4AF}"/>
              </a:ext>
            </a:extLst>
          </p:cNvPr>
          <p:cNvSpPr/>
          <p:nvPr/>
        </p:nvSpPr>
        <p:spPr>
          <a:xfrm>
            <a:off x="939800" y="3937000"/>
            <a:ext cx="431800" cy="431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3ED690-8BEB-5C4F-B446-A03435CDEE10}"/>
              </a:ext>
            </a:extLst>
          </p:cNvPr>
          <p:cNvSpPr txBox="1"/>
          <p:nvPr/>
        </p:nvSpPr>
        <p:spPr>
          <a:xfrm>
            <a:off x="1473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Backprop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00B04-1FBC-D148-A6AF-5642767DCDA8}"/>
              </a:ext>
            </a:extLst>
          </p:cNvPr>
          <p:cNvSpPr txBox="1"/>
          <p:nvPr/>
        </p:nvSpPr>
        <p:spPr>
          <a:xfrm>
            <a:off x="939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Backpropagate gradients ∂L/∂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through decoder then encoder.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D75346D-88E7-8847-908F-147EC89CC6CF}"/>
              </a:ext>
            </a:extLst>
          </p:cNvPr>
          <p:cNvSpPr/>
          <p:nvPr/>
        </p:nvSpPr>
        <p:spPr>
          <a:xfrm>
            <a:off x="43815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721F6D-6BCA-284E-B593-CC9D2F84064F}"/>
              </a:ext>
            </a:extLst>
          </p:cNvPr>
          <p:cNvSpPr/>
          <p:nvPr/>
        </p:nvSpPr>
        <p:spPr>
          <a:xfrm>
            <a:off x="4559300" y="3937000"/>
            <a:ext cx="431800" cy="431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A48924-AEBF-EB4F-A231-3E92AE1B287D}"/>
              </a:ext>
            </a:extLst>
          </p:cNvPr>
          <p:cNvSpPr txBox="1"/>
          <p:nvPr/>
        </p:nvSpPr>
        <p:spPr>
          <a:xfrm>
            <a:off x="50927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Update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0B4A8-BC02-FC4B-8CE3-2E640333EA15}"/>
              </a:ext>
            </a:extLst>
          </p:cNvPr>
          <p:cNvSpPr txBox="1"/>
          <p:nvPr/>
        </p:nvSpPr>
        <p:spPr>
          <a:xfrm>
            <a:off x="45593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← θ − 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via SGD / Adam; repeat over minibatches &amp; epochs.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36AF844-698E-A946-8ACF-CDAEC8D86A00}"/>
              </a:ext>
            </a:extLst>
          </p:cNvPr>
          <p:cNvSpPr/>
          <p:nvPr/>
        </p:nvSpPr>
        <p:spPr>
          <a:xfrm>
            <a:off x="8001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068812-4762-8E46-B5AE-B441629FCB11}"/>
              </a:ext>
            </a:extLst>
          </p:cNvPr>
          <p:cNvSpPr/>
          <p:nvPr/>
        </p:nvSpPr>
        <p:spPr>
          <a:xfrm>
            <a:off x="8178800" y="39370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134A6-578C-E244-94EC-3875776567BA}"/>
              </a:ext>
            </a:extLst>
          </p:cNvPr>
          <p:cNvSpPr txBox="1"/>
          <p:nvPr/>
        </p:nvSpPr>
        <p:spPr>
          <a:xfrm>
            <a:off x="8712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Validate &amp; stop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4FC247-5060-E645-9D7A-76111B5CDEF0}"/>
              </a:ext>
            </a:extLst>
          </p:cNvPr>
          <p:cNvSpPr txBox="1"/>
          <p:nvPr/>
        </p:nvSpPr>
        <p:spPr>
          <a:xfrm>
            <a:off x="8178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Track validation loss; early-stop at the minimum. Keep encoder f as the embedding.</a:t>
            </a:r>
          </a:p>
        </p:txBody>
      </p:sp>
    </p:spTree>
    <p:extLst>
      <p:ext uri="{BB962C8B-B14F-4D97-AF65-F5344CB8AC3E}">
        <p14:creationId xmlns:p14="http://schemas.microsoft.com/office/powerpoint/2010/main" val="124505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 animBg="1"/>
      <p:bldP spid="28" grpId="0"/>
      <p:bldP spid="29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D1A463-1C1B-134C-8F06-75D5C1EA4DF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B8CF9-5229-D740-9DF5-C1EB623184D1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Forward Pass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3D148A-5707-F844-868B-8108D036C66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8B478-BFFE-7045-A297-1F95EEEE154E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3→2→3 linear autoencoder (identity activation). Compute the code z and reconstruction x̂ for one input.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A96AD-0D0E-214D-8F9F-8634A4B5E6B6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Weights &amp; input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8B2129-0E0D-FB41-AAA7-F6E0ECF4749A}"/>
              </a:ext>
            </a:extLst>
          </p:cNvPr>
          <p:cNvSpPr/>
          <p:nvPr/>
        </p:nvSpPr>
        <p:spPr>
          <a:xfrm>
            <a:off x="762000" y="2184400"/>
            <a:ext cx="5334000" cy="2032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10001-B4F1-1A45-A882-F76521E8B0BD}"/>
              </a:ext>
            </a:extLst>
          </p:cNvPr>
          <p:cNvSpPr txBox="1"/>
          <p:nvPr/>
        </p:nvSpPr>
        <p:spPr>
          <a:xfrm>
            <a:off x="939800" y="2311400"/>
            <a:ext cx="4978400" cy="182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 = (2, 0, −2)ᵀ ,  biases = 0
W = [ 0.5  0   0.5 ;
        0    1    0   ]   (2×3)
W′ = Wᵀ  (tied weights, 3×2)
   = [0.5 0 ; 0 1 ; 0.5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FA32A-75CD-1742-97EF-F365CE0A519C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Encode  z = W 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E9A6043-8BE1-7048-B37A-E37CDD95E917}"/>
              </a:ext>
            </a:extLst>
          </p:cNvPr>
          <p:cNvSpPr/>
          <p:nvPr/>
        </p:nvSpPr>
        <p:spPr>
          <a:xfrm>
            <a:off x="6350000" y="2184400"/>
            <a:ext cx="5080000" cy="2032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2691D-53E6-2B48-86E1-A6337B9154CD}"/>
              </a:ext>
            </a:extLst>
          </p:cNvPr>
          <p:cNvSpPr txBox="1"/>
          <p:nvPr/>
        </p:nvSpPr>
        <p:spPr>
          <a:xfrm>
            <a:off x="6527800" y="2311400"/>
            <a:ext cx="4724400" cy="182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z₁ = 0.5·2 + 0·0 + 0.5·(−2) = 0
z₂ = 0·2 + 1·0 + 0·(−2) = 0
z = (0, 0)ᵀ
The input lies in the null space of W —
its code is the origin.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A16414-2E0E-0D4C-8E2A-3BAB446DC2D5}"/>
              </a:ext>
            </a:extLst>
          </p:cNvPr>
          <p:cNvSpPr txBox="1"/>
          <p:nvPr/>
        </p:nvSpPr>
        <p:spPr>
          <a:xfrm>
            <a:off x="762000" y="4394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Decode  x̂ = W′ z   and observe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0F074C-DC66-164B-B4B0-B70E73592953}"/>
              </a:ext>
            </a:extLst>
          </p:cNvPr>
          <p:cNvSpPr/>
          <p:nvPr/>
        </p:nvSpPr>
        <p:spPr>
          <a:xfrm>
            <a:off x="762000" y="4699000"/>
            <a:ext cx="10668000" cy="1371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8EE7F-AF28-BB41-BA41-A8C71CC391CF}"/>
              </a:ext>
            </a:extLst>
          </p:cNvPr>
          <p:cNvSpPr txBox="1"/>
          <p:nvPr/>
        </p:nvSpPr>
        <p:spPr>
          <a:xfrm>
            <a:off x="939800" y="4826000"/>
            <a:ext cx="103124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x̂ = W′ (0,0)ᵀ = (0, 0, 0)ᵀ .   Reconstruction error e = x̂ − x = (−2, 0, 2)ᵀ.
This input is reconstructed poorly because the encoder collapses the (1,0,−1) direction.
Lesson: an AE only preserves directions its weights span; a different x (e.g. (2,3,2)) would encode and
reconstruct well. Training adjusts W so that high-variance directions of the data are the ones retained.</a:t>
            </a:r>
          </a:p>
        </p:txBody>
      </p:sp>
    </p:spTree>
    <p:extLst>
      <p:ext uri="{BB962C8B-B14F-4D97-AF65-F5344CB8AC3E}">
        <p14:creationId xmlns:p14="http://schemas.microsoft.com/office/powerpoint/2010/main" val="324723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Setup &amp; Architecture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3→2→3 tied autoencoder. Input x=(2,0,−2)ᵀ, encoder W (2×3), decoder W′=Wᵀ, biases =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Inputs &amp; tied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387600"/>
                <a:ext cx="6096000" cy="317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𝑥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′=</m:t>
                      </m:r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ᵀ=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317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858000" y="1905000"/>
            <a:ext cx="4572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6959600" y="20066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3 → 2 → 3  tied autoencoder</a:t>
            </a:r>
          </a:p>
        </p:txBody>
      </p:sp>
      <p:sp>
        <p:nvSpPr>
          <p:cNvPr id="200" name="edge"/>
          <p:cNvSpPr/>
          <p:nvPr/>
        </p:nvSpPr>
        <p:spPr>
          <a:xfrm rot="892541">
            <a:off x="7591814" y="31534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edge"/>
          <p:cNvSpPr/>
          <p:nvPr/>
        </p:nvSpPr>
        <p:spPr>
          <a:xfrm rot="2313028">
            <a:off x="7393493" y="3585210"/>
            <a:ext cx="2078614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dge"/>
          <p:cNvSpPr/>
          <p:nvPr/>
        </p:nvSpPr>
        <p:spPr>
          <a:xfrm rot="-892541">
            <a:off x="7591814" y="35852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edge"/>
          <p:cNvSpPr/>
          <p:nvPr/>
        </p:nvSpPr>
        <p:spPr>
          <a:xfrm rot="892541">
            <a:off x="7591814" y="40170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edge"/>
          <p:cNvSpPr/>
          <p:nvPr/>
        </p:nvSpPr>
        <p:spPr>
          <a:xfrm rot="-2313028">
            <a:off x="7393493" y="4017010"/>
            <a:ext cx="2078614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edge"/>
          <p:cNvSpPr/>
          <p:nvPr/>
        </p:nvSpPr>
        <p:spPr>
          <a:xfrm rot="-892541">
            <a:off x="7591814" y="44488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edge"/>
          <p:cNvSpPr/>
          <p:nvPr/>
        </p:nvSpPr>
        <p:spPr>
          <a:xfrm rot="-892541">
            <a:off x="9217414" y="31534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edge"/>
          <p:cNvSpPr/>
          <p:nvPr/>
        </p:nvSpPr>
        <p:spPr>
          <a:xfrm rot="892541">
            <a:off x="9217414" y="35852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edge"/>
          <p:cNvSpPr/>
          <p:nvPr/>
        </p:nvSpPr>
        <p:spPr>
          <a:xfrm rot="2313028">
            <a:off x="9019093" y="4017010"/>
            <a:ext cx="2078614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edge"/>
          <p:cNvSpPr/>
          <p:nvPr/>
        </p:nvSpPr>
        <p:spPr>
          <a:xfrm rot="-2313028">
            <a:off x="9019093" y="3585210"/>
            <a:ext cx="2078614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edge"/>
          <p:cNvSpPr/>
          <p:nvPr/>
        </p:nvSpPr>
        <p:spPr>
          <a:xfrm rot="-892541">
            <a:off x="9217414" y="40170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edge"/>
          <p:cNvSpPr/>
          <p:nvPr/>
        </p:nvSpPr>
        <p:spPr>
          <a:xfrm rot="892541">
            <a:off x="9217414" y="44488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node"/>
          <p:cNvSpPr/>
          <p:nvPr/>
        </p:nvSpPr>
        <p:spPr>
          <a:xfrm>
            <a:off x="7454900" y="27813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node"/>
          <p:cNvSpPr/>
          <p:nvPr/>
        </p:nvSpPr>
        <p:spPr>
          <a:xfrm>
            <a:off x="7454900" y="36449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node"/>
          <p:cNvSpPr/>
          <p:nvPr/>
        </p:nvSpPr>
        <p:spPr>
          <a:xfrm>
            <a:off x="7454900" y="4508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node"/>
          <p:cNvSpPr/>
          <p:nvPr/>
        </p:nvSpPr>
        <p:spPr>
          <a:xfrm>
            <a:off x="9080500" y="3213100"/>
            <a:ext cx="330200" cy="3302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ode"/>
          <p:cNvSpPr/>
          <p:nvPr/>
        </p:nvSpPr>
        <p:spPr>
          <a:xfrm>
            <a:off x="9080500" y="4076700"/>
            <a:ext cx="330200" cy="3302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node"/>
          <p:cNvSpPr/>
          <p:nvPr/>
        </p:nvSpPr>
        <p:spPr>
          <a:xfrm>
            <a:off x="10706100" y="27813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node"/>
          <p:cNvSpPr/>
          <p:nvPr/>
        </p:nvSpPr>
        <p:spPr>
          <a:xfrm>
            <a:off x="10706100" y="36449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node"/>
          <p:cNvSpPr/>
          <p:nvPr/>
        </p:nvSpPr>
        <p:spPr>
          <a:xfrm>
            <a:off x="10706100" y="4508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0" name="LxIn"/>
          <p:cNvSpPr txBox="1"/>
          <p:nvPr/>
        </p:nvSpPr>
        <p:spPr>
          <a:xfrm>
            <a:off x="7112000" y="4978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00A7B5"/>
                </a:solidFill>
              </a:rPr>
              <a:t>x  (input)</a:t>
            </a:r>
          </a:p>
        </p:txBody>
      </p:sp>
      <p:sp>
        <p:nvSpPr>
          <p:cNvPr id="181" name="Lz"/>
          <p:cNvSpPr txBox="1"/>
          <p:nvPr/>
        </p:nvSpPr>
        <p:spPr>
          <a:xfrm>
            <a:off x="8763000" y="4978400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z (code)</a:t>
            </a:r>
          </a:p>
        </p:txBody>
      </p:sp>
      <p:sp>
        <p:nvSpPr>
          <p:cNvPr id="182" name="Lout"/>
          <p:cNvSpPr txBox="1"/>
          <p:nvPr/>
        </p:nvSpPr>
        <p:spPr>
          <a:xfrm>
            <a:off x="10363200" y="4978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85754D"/>
                </a:solidFill>
              </a:rPr>
              <a:t>x̂ (output)</a:t>
            </a:r>
          </a:p>
        </p:txBody>
      </p:sp>
      <p:sp>
        <p:nvSpPr>
          <p:cNvPr id="183" name="Lenc"/>
          <p:cNvSpPr txBox="1"/>
          <p:nvPr/>
        </p:nvSpPr>
        <p:spPr>
          <a:xfrm>
            <a:off x="7975600" y="2489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7A6CA8"/>
                </a:solidFill>
              </a:rPr>
              <a:t>encoder W</a:t>
            </a:r>
          </a:p>
        </p:txBody>
      </p:sp>
      <p:sp>
        <p:nvSpPr>
          <p:cNvPr id="184" name="Ldec"/>
          <p:cNvSpPr txBox="1"/>
          <p:nvPr/>
        </p:nvSpPr>
        <p:spPr>
          <a:xfrm>
            <a:off x="9652000" y="24892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A89456"/>
                </a:solidFill>
              </a:rPr>
              <a:t>decoder Wᵀ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Tied weights reuse the encoder matrix transposed for decoding — halving the parameters.</a:t>
            </a:r>
          </a:p>
        </p:txBody>
      </p:sp>
    </p:spTree>
    <p:extLst>
      <p:ext uri="{BB962C8B-B14F-4D97-AF65-F5344CB8AC3E}">
        <p14:creationId xmlns:p14="http://schemas.microsoft.com/office/powerpoint/2010/main" val="153862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77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180" grpId="0"/>
      <p:bldP spid="181" grpId="0"/>
      <p:bldP spid="182" grpId="0"/>
      <p:bldP spid="183" grpId="0"/>
      <p:bldP spid="184" grpId="0"/>
      <p:bldP spid="30" grpId="0" animBg="1"/>
      <p:bldP spid="31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Encoder:  z = Wx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Multiply the encoder weights by the input — a matrix-vector product gives the code z.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Encode the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384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₁=0.5·2 + 0·0 + 0.5·(−2)=0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₂=0·2 + 1·0 + 0·(−2)=0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384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Row by row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Each code unit = a dot product: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00A7B5"/>
                </a:solidFill>
              </a:rPr>
              <a:t>z₁ = ⟨row 1 of W, x⟩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z₂ = ⟨row 2 of W, x⟩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Both equal 0 → the code collapses to the origin.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x lies in the null space of W.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Encoding is a matrix multiply; for this input every code unit cancels to 0.</a:t>
            </a:r>
          </a:p>
        </p:txBody>
      </p:sp>
    </p:spTree>
    <p:extLst>
      <p:ext uri="{BB962C8B-B14F-4D97-AF65-F5344CB8AC3E}">
        <p14:creationId xmlns:p14="http://schemas.microsoft.com/office/powerpoint/2010/main" val="375575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Decoder:  x̂ = W′z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Map the code back to input space with the tied decoder W′ = Wᵀ.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Decode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Zero code, zero output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decoder lifts the 2-D code back to 3-D.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But z = 0, so every output entry is 0 — whatever the decoder weights are.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x̂ = (0, 0, 0)ᵀ: nothing of x survives.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 collapse happened in the encoder.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zero code decodes to a zero reconstruction — the information was already lost at encoding.</a:t>
            </a:r>
          </a:p>
        </p:txBody>
      </p:sp>
    </p:spTree>
    <p:extLst>
      <p:ext uri="{BB962C8B-B14F-4D97-AF65-F5344CB8AC3E}">
        <p14:creationId xmlns:p14="http://schemas.microsoft.com/office/powerpoint/2010/main" val="129655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Reconstruction Error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output to input: e = x̂ − x, and the squared loss is ‖e‖².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Error and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‖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‖²=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D1578A"/>
                          </a:solidFill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bad is it?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Because x̂ = 0, the error equals −x.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Squared loss ‖e‖² = 8 — the same as reconstructing nothing at all.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D1578A"/>
                </a:solidFill>
              </a:rPr>
              <a:t>This input was entirely lost.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Next: why did the encoder erase it?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reconstruction loss ‖x̂ − x‖² = 8 quantifies a complete failure on this input.</a:t>
            </a:r>
          </a:p>
        </p:txBody>
      </p:sp>
    </p:spTree>
    <p:extLst>
      <p:ext uri="{BB962C8B-B14F-4D97-AF65-F5344CB8AC3E}">
        <p14:creationId xmlns:p14="http://schemas.microsoft.com/office/powerpoint/2010/main" val="56970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Why It Failed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x = 2·(1,0,−1) lies in W's null space — a direction the encoder maps to zero.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collapsed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38400"/>
                <a:ext cx="6096000" cy="101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  ⇒   </m:t>
                      </m:r>
                      <m:r>
                        <a:rPr sz="1755">
                          <a:latin typeface="Cambria Math"/>
                        </a:rPr>
                        <m:t>(1,0,−1) ∈ </m:t>
                      </m:r>
                      <m:r>
                        <a:rPr sz="1755">
                          <a:latin typeface="Cambria Math"/>
                        </a:rPr>
                        <m:t>𝑛𝑢𝑙𝑙</m:t>
                      </m:r>
                      <m:r>
                        <a:rPr sz="1755">
                          <a:latin typeface="Cambria Math"/>
                        </a:rPr>
                        <m:t>(</m:t>
                      </m:r>
                      <m:r>
                        <a:rPr sz="1755">
                          <a:latin typeface="Cambria Math"/>
                        </a:rPr>
                        <m:t>𝑊</m:t>
                      </m:r>
                      <m:r>
                        <a:rPr sz="175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38400"/>
                <a:ext cx="6096000" cy="101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Plane"/>
          <p:cNvSpPr/>
          <p:nvPr/>
        </p:nvSpPr>
        <p:spPr>
          <a:xfrm>
            <a:off x="1524000" y="4191000"/>
            <a:ext cx="2286000" cy="838200"/>
          </a:xfrm>
          <a:prstGeom prst="parallelogram">
            <a:avLst/>
          </a:prstGeom>
          <a:solidFill>
            <a:srgbClr val="D9CFE8"/>
          </a:solidFill>
          <a:ln w="15875">
            <a:solidFill>
              <a:srgbClr val="4B2E83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span(W) — kept</a:t>
            </a:r>
          </a:p>
        </p:txBody>
      </p:sp>
      <p:sp>
        <p:nvSpPr>
          <p:cNvPr id="41" name="Lost"/>
          <p:cNvSpPr/>
          <p:nvPr/>
        </p:nvSpPr>
        <p:spPr>
          <a:xfrm>
            <a:off x="4267200" y="4140200"/>
            <a:ext cx="330200" cy="914400"/>
          </a:xfrm>
          <a:prstGeom prst="upArrow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ostLab"/>
          <p:cNvSpPr txBox="1"/>
          <p:nvPr/>
        </p:nvSpPr>
        <p:spPr>
          <a:xfrm>
            <a:off x="4648200" y="4419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50" b="1" dirty="0">
                <a:solidFill>
                  <a:srgbClr val="D1578A"/>
                </a:solidFill>
              </a:rPr>
              <a:t>(1,0,−1)</a:t>
            </a:r>
          </a:p>
          <a:p>
            <a:pPr algn="l"/>
            <a:r>
              <a:rPr lang="en-US" sz="1150" b="1" dirty="0">
                <a:solidFill>
                  <a:srgbClr val="D1578A"/>
                </a:solidFill>
              </a:rPr>
              <a:t>lost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an AE keeps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An autoencoder only preserves directions its weights span.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(1,0,−1) lies in W's null space → its variance is discarded.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Training aligns W with the data's high-variance directions…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…so a typical input like (2,3,2) would reconstruct well.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Untrained weights can zero out whole directions; training makes the encoder keep what varies most.</a:t>
            </a:r>
          </a:p>
        </p:txBody>
      </p:sp>
    </p:spTree>
    <p:extLst>
      <p:ext uri="{BB962C8B-B14F-4D97-AF65-F5344CB8AC3E}">
        <p14:creationId xmlns:p14="http://schemas.microsoft.com/office/powerpoint/2010/main" val="220096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35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40" grpId="0" animBg="1"/>
      <p:bldP spid="41" grpId="0" animBg="1"/>
      <p:bldP spid="42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74AF78-9AE8-A54B-B192-0B75370029D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345D0-BEA5-6D4E-8C31-5433D4CECD08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2 — Reconstruction Loss &amp; One SGD Step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03DDBA-9481-2F43-9404-A3EE2AF04D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F79E5-B133-124D-9249-A0438A773CB7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Take a well-encoded input, compute the squared-error loss, and perform one gradient-descent update on W′.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0D8CC-827A-B942-81B9-063408B9B347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Forward pass &amp; loss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D830D8-0C57-0342-BE45-881D032DA565}"/>
              </a:ext>
            </a:extLst>
          </p:cNvPr>
          <p:cNvSpPr/>
          <p:nvPr/>
        </p:nvSpPr>
        <p:spPr>
          <a:xfrm>
            <a:off x="762000" y="2184400"/>
            <a:ext cx="5334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75C78-5095-034F-BCA4-5512E317D094}"/>
              </a:ext>
            </a:extLst>
          </p:cNvPr>
          <p:cNvSpPr txBox="1"/>
          <p:nvPr/>
        </p:nvSpPr>
        <p:spPr>
          <a:xfrm>
            <a:off x="939800" y="2311400"/>
            <a:ext cx="4978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 = (1, 1)ᵀ ,  W = [0.5  0.5] (1×2)
z = Wx = 1.0
W′ = [0.4 ; 0.4] (2×1),  x̂ = W′z = (0.4, 0.4)
e = x̂ − x = (−0.6, −0.6)
L = ‖e‖² = 0.36 + 0.36 = 0.72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A927B-BC5D-EF4A-9094-93DC071719D6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Gradient on W′  (</a:t>
            </a:r>
            <a:r>
              <a:rPr lang="el-GR" sz="1450" b="1">
                <a:solidFill>
                  <a:srgbClr val="7AB648"/>
                </a:solidFill>
              </a:rPr>
              <a:t>η = 0.1)</a:t>
            </a:r>
            <a:endParaRPr lang="en-US" sz="1450" b="1">
              <a:solidFill>
                <a:srgbClr val="7AB648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0BE7AE-0093-DE4A-9794-6538E93F497C}"/>
              </a:ext>
            </a:extLst>
          </p:cNvPr>
          <p:cNvSpPr/>
          <p:nvPr/>
        </p:nvSpPr>
        <p:spPr>
          <a:xfrm>
            <a:off x="6350000" y="2184400"/>
            <a:ext cx="5080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CC9C3-62FD-3F47-8B67-88FEE37C149C}"/>
              </a:ext>
            </a:extLst>
          </p:cNvPr>
          <p:cNvSpPr txBox="1"/>
          <p:nvPr/>
        </p:nvSpPr>
        <p:spPr>
          <a:xfrm>
            <a:off x="6527800" y="2311400"/>
            <a:ext cx="4724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∂L/∂W′ = 2 e z = 2·(−0.6,−0.6)·1
        = (−1.2, −1.2)ᵀ
W′_new = W′ −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L/∂W′
        = (0.4,0.4) − 0.1·(−1.2,−1.2)
        = (0.52, 0.52)ᵀ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F4C2E0-D88B-7A4D-9621-D4A871977FFB}"/>
              </a:ext>
            </a:extLst>
          </p:cNvPr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Did the loss go down?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F78C59F-0BD7-B44F-8C55-0F7484E092A4}"/>
              </a:ext>
            </a:extLst>
          </p:cNvPr>
          <p:cNvSpPr/>
          <p:nvPr/>
        </p:nvSpPr>
        <p:spPr>
          <a:xfrm>
            <a:off x="762000" y="4826000"/>
            <a:ext cx="10668000" cy="1244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31D29-12DA-234E-B6CE-DD0A0A37A732}"/>
              </a:ext>
            </a:extLst>
          </p:cNvPr>
          <p:cNvSpPr txBox="1"/>
          <p:nvPr/>
        </p:nvSpPr>
        <p:spPr>
          <a:xfrm>
            <a:off x="939800" y="4953000"/>
            <a:ext cx="103124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New x̂ = W′_new · z = (0.52, 0.52);  new e = (−0.48, −0.48);  L_new = 2·0.48² = 0.4608.
Loss dropped 0.72 → 0.461 after a single step — the update moves x̂ toward x, as gradient descent should.
Iterating to convergence drives W′z → x (here W′ → (0.5,0.5) gives perfect reconstruction of this point).</a:t>
            </a:r>
          </a:p>
        </p:txBody>
      </p:sp>
    </p:spTree>
    <p:extLst>
      <p:ext uri="{BB962C8B-B14F-4D97-AF65-F5344CB8AC3E}">
        <p14:creationId xmlns:p14="http://schemas.microsoft.com/office/powerpoint/2010/main" val="48469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Setup &amp; Forward Pass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2→1→2 linear AE. x=(1,1), encoder W=[0.5, 0.5], decoder W′=(0.4, 0.4)ᵀ, η=0.1.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Encode then decode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=0.5·1 + 0.5·1=1.0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·1.0=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59600" y="1905000"/>
            <a:ext cx="44958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6959600" y="20320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2 → 1 → 2 linear autoencoder</a:t>
            </a:r>
          </a:p>
        </p:txBody>
      </p:sp>
      <p:sp>
        <p:nvSpPr>
          <p:cNvPr id="300" name="edge"/>
          <p:cNvSpPr/>
          <p:nvPr/>
        </p:nvSpPr>
        <p:spPr>
          <a:xfrm rot="1089957">
            <a:off x="7577363" y="3530600"/>
            <a:ext cx="1710874" cy="254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edge"/>
          <p:cNvSpPr/>
          <p:nvPr/>
        </p:nvSpPr>
        <p:spPr>
          <a:xfrm rot="-1233363">
            <a:off x="7564729" y="4102100"/>
            <a:ext cx="1736142" cy="254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edge"/>
          <p:cNvSpPr/>
          <p:nvPr/>
        </p:nvSpPr>
        <p:spPr>
          <a:xfrm rot="-1089957">
            <a:off x="9202963" y="3530600"/>
            <a:ext cx="1710874" cy="25400"/>
          </a:xfrm>
          <a:prstGeom prst="rect">
            <a:avLst/>
          </a:prstGeom>
          <a:solidFill>
            <a:srgbClr val="E6D9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edge"/>
          <p:cNvSpPr/>
          <p:nvPr/>
        </p:nvSpPr>
        <p:spPr>
          <a:xfrm rot="1233363">
            <a:off x="9190329" y="4102100"/>
            <a:ext cx="1736142" cy="25400"/>
          </a:xfrm>
          <a:prstGeom prst="rect">
            <a:avLst/>
          </a:prstGeom>
          <a:solidFill>
            <a:srgbClr val="E6D9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node"/>
          <p:cNvSpPr/>
          <p:nvPr/>
        </p:nvSpPr>
        <p:spPr>
          <a:xfrm>
            <a:off x="7454900" y="3111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node"/>
          <p:cNvSpPr/>
          <p:nvPr/>
        </p:nvSpPr>
        <p:spPr>
          <a:xfrm>
            <a:off x="7454900" y="4254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node"/>
          <p:cNvSpPr/>
          <p:nvPr/>
        </p:nvSpPr>
        <p:spPr>
          <a:xfrm>
            <a:off x="9055100" y="3619500"/>
            <a:ext cx="381000" cy="3810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7" name="node"/>
          <p:cNvSpPr/>
          <p:nvPr/>
        </p:nvSpPr>
        <p:spPr>
          <a:xfrm>
            <a:off x="10706100" y="3111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node"/>
          <p:cNvSpPr/>
          <p:nvPr/>
        </p:nvSpPr>
        <p:spPr>
          <a:xfrm>
            <a:off x="10706100" y="4254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x"/>
          <p:cNvSpPr txBox="1"/>
          <p:nvPr/>
        </p:nvSpPr>
        <p:spPr>
          <a:xfrm>
            <a:off x="7315200" y="4724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x</a:t>
            </a:r>
          </a:p>
        </p:txBody>
      </p:sp>
      <p:sp>
        <p:nvSpPr>
          <p:cNvPr id="61" name="Lz"/>
          <p:cNvSpPr txBox="1"/>
          <p:nvPr/>
        </p:nvSpPr>
        <p:spPr>
          <a:xfrm>
            <a:off x="8966200" y="41910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z</a:t>
            </a:r>
          </a:p>
        </p:txBody>
      </p:sp>
      <p:sp>
        <p:nvSpPr>
          <p:cNvPr id="62" name="Lxh"/>
          <p:cNvSpPr txBox="1"/>
          <p:nvPr/>
        </p:nvSpPr>
        <p:spPr>
          <a:xfrm>
            <a:off x="10566400" y="4724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x̂</a:t>
            </a:r>
          </a:p>
        </p:txBody>
      </p:sp>
      <p:sp>
        <p:nvSpPr>
          <p:cNvPr id="63" name="Lenc"/>
          <p:cNvSpPr txBox="1"/>
          <p:nvPr/>
        </p:nvSpPr>
        <p:spPr>
          <a:xfrm>
            <a:off x="77724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dirty="0">
                <a:solidFill>
                  <a:srgbClr val="888888"/>
                </a:solidFill>
              </a:rPr>
              <a:t>W</a:t>
            </a:r>
          </a:p>
        </p:txBody>
      </p:sp>
      <p:sp>
        <p:nvSpPr>
          <p:cNvPr id="64" name="Ldec"/>
          <p:cNvSpPr txBox="1"/>
          <p:nvPr/>
        </p:nvSpPr>
        <p:spPr>
          <a:xfrm>
            <a:off x="97282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dirty="0">
                <a:solidFill>
                  <a:srgbClr val="888888"/>
                </a:solidFill>
              </a:rPr>
              <a:t>W′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forward pass compresses x to a single number z, then expands it back to x̂ = (0.4, 0.4).</a:t>
            </a:r>
          </a:p>
        </p:txBody>
      </p:sp>
    </p:spTree>
    <p:extLst>
      <p:ext uri="{BB962C8B-B14F-4D97-AF65-F5344CB8AC3E}">
        <p14:creationId xmlns:p14="http://schemas.microsoft.com/office/powerpoint/2010/main" val="78630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55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60" grpId="0"/>
      <p:bldP spid="61" grpId="0"/>
      <p:bldP spid="62" grpId="0"/>
      <p:bldP spid="63" grpId="0"/>
      <p:bldP spid="64" grpId="0"/>
      <p:bldP spid="30" grpId="0" animBg="1"/>
      <p:bldP spid="31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Reconstruction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Squared error between reconstruction and input: L = ‖x̂ − x‖².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Error vector and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=‖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‖²=(−0.6)² + (−0.6)²=0.72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far off?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Both outputs undershoot by 0.6.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Squaring and summing gives the loss: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333333"/>
                </a:solidFill>
              </a:rPr>
              <a:t>L = 0.36 + 0.36 = 0.72.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Gradient descent will push x̂ toward x, shrinking 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reconstruction loss L = ‖x̂ − x‖² = 0.72 measures how badly the AE reproduces this input.</a:t>
            </a:r>
          </a:p>
        </p:txBody>
      </p:sp>
    </p:spTree>
    <p:extLst>
      <p:ext uri="{BB962C8B-B14F-4D97-AF65-F5344CB8AC3E}">
        <p14:creationId xmlns:p14="http://schemas.microsoft.com/office/powerpoint/2010/main" val="413231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Gradient of the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Differentiate L = ‖W′z − x‖² with respect to the decoder weights W′.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Decoder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sz="2025">
                              <a:latin typeface="Cambria Math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𝜕</m:t>
                          </m:r>
                          <m:r>
                            <a:rPr sz="2025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sz="2025">
                              <a:latin typeface="Cambria Math"/>
                            </a:rPr>
                            <m:t>𝜕</m:t>
                          </m:r>
                          <m:r>
                            <a:rPr sz="2025">
                              <a:latin typeface="Cambria Math"/>
                            </a:rPr>
                            <m:t>𝑊</m:t>
                          </m:r>
                          <m:r>
                            <a:rPr sz="2025">
                              <a:latin typeface="Cambria Math"/>
                            </a:rPr>
                            <m:t>′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=2 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 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=2 ·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· 1.0=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Chain rule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L = ‖W′z − x‖²,  so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333333"/>
                </a:solidFill>
              </a:rPr>
              <a:t>∂L/∂W′ = 2(x̂ − x)·z = 2 e z.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With e = (−0.6, −0.6) and z = 1:</a:t>
            </a:r>
          </a:p>
          <a:p>
            <a:pPr algn="l">
              <a:spcBef>
                <a:spcPts val="100"/>
              </a:spcBef>
            </a:pPr>
            <a:r>
              <a:rPr lang="en-US" sz="1300" b="1" dirty="0">
                <a:solidFill>
                  <a:srgbClr val="333333"/>
                </a:solidFill>
              </a:rPr>
              <a:t>gradient = (−1.2, −1.2).</a:t>
            </a:r>
          </a:p>
          <a:p>
            <a:pPr algn="l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Negative gradient → step increases W′.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gradient ∂L/∂W′ = 2ez = (−1.2, −1.2) points in the direction that most increases the loss.</a:t>
            </a:r>
          </a:p>
        </p:txBody>
      </p:sp>
    </p:spTree>
    <p:extLst>
      <p:ext uri="{BB962C8B-B14F-4D97-AF65-F5344CB8AC3E}">
        <p14:creationId xmlns:p14="http://schemas.microsoft.com/office/powerpoint/2010/main" val="372398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rgbClr val="4B2E83"/>
                </a:solidFill>
              </a:rPr>
              <a:t>Step 4 — Gradient-Descent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Step the weights downhill: W′ ← W′ − η · ∂L/∂W′, with learning rate η = 0.1.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One SGD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′←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 − </m:t>
                      </m:r>
                      <m:r>
                        <a:rPr sz="2025">
                          <a:latin typeface="Cambria Math"/>
                        </a:rPr>
                        <m:t>𝜂</m:t>
                      </m:r>
                      <m:r>
                        <a:rPr sz="2025">
                          <a:latin typeface="Cambria Math"/>
                        </a:rPr>
                        <m:t> ·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−0.1·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Walking downhill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Subtract η times the gradient from each weight.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0.4 − 0.1·(−1.2) = 0.4 + 0.12 = 0.52.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Both decoder weights rise from 0.4 to 0.52.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They move toward 0.5 — the perfect-reconstruction value.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gradient step nudges W′ from 0.4 to 0.52 — downhill on the loss surface.</a:t>
            </a:r>
          </a:p>
        </p:txBody>
      </p:sp>
    </p:spTree>
    <p:extLst>
      <p:ext uri="{BB962C8B-B14F-4D97-AF65-F5344CB8AC3E}">
        <p14:creationId xmlns:p14="http://schemas.microsoft.com/office/powerpoint/2010/main" val="405634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Loss After the Step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Recompute with the updated decoder: the loss falls from 0.72 to 0.461.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Recompute the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=2·(0.48)²=0.461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Loss: before → after</a:t>
            </a:r>
          </a:p>
        </p:txBody>
      </p:sp>
      <p:sp>
        <p:nvSpPr>
          <p:cNvPr id="40" name="Base"/>
          <p:cNvSpPr/>
          <p:nvPr/>
        </p:nvSpPr>
        <p:spPr>
          <a:xfrm>
            <a:off x="7620000" y="5080000"/>
            <a:ext cx="3302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Before"/>
          <p:cNvSpPr/>
          <p:nvPr/>
        </p:nvSpPr>
        <p:spPr>
          <a:xfrm>
            <a:off x="7937500" y="2819400"/>
            <a:ext cx="838200" cy="22606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After"/>
          <p:cNvSpPr/>
          <p:nvPr/>
        </p:nvSpPr>
        <p:spPr>
          <a:xfrm>
            <a:off x="9715500" y="3632200"/>
            <a:ext cx="838200" cy="14478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VB"/>
          <p:cNvSpPr txBox="1"/>
          <p:nvPr/>
        </p:nvSpPr>
        <p:spPr>
          <a:xfrm>
            <a:off x="7810500" y="25146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D1578A"/>
                </a:solidFill>
              </a:rPr>
              <a:t>0.72</a:t>
            </a:r>
          </a:p>
        </p:txBody>
      </p:sp>
      <p:sp>
        <p:nvSpPr>
          <p:cNvPr id="44" name="VA"/>
          <p:cNvSpPr txBox="1"/>
          <p:nvPr/>
        </p:nvSpPr>
        <p:spPr>
          <a:xfrm>
            <a:off x="9588500" y="33274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5C8A2E"/>
                </a:solidFill>
              </a:rPr>
              <a:t>0.461</a:t>
            </a:r>
          </a:p>
        </p:txBody>
      </p:sp>
      <p:sp>
        <p:nvSpPr>
          <p:cNvPr id="45" name="LB"/>
          <p:cNvSpPr txBox="1"/>
          <p:nvPr/>
        </p:nvSpPr>
        <p:spPr>
          <a:xfrm>
            <a:off x="7810500" y="51562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before</a:t>
            </a:r>
          </a:p>
        </p:txBody>
      </p:sp>
      <p:sp>
        <p:nvSpPr>
          <p:cNvPr id="46" name="LA"/>
          <p:cNvSpPr txBox="1"/>
          <p:nvPr/>
        </p:nvSpPr>
        <p:spPr>
          <a:xfrm>
            <a:off x="9588500" y="51562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after</a:t>
            </a:r>
          </a:p>
        </p:txBody>
      </p:sp>
      <p:sp>
        <p:nvSpPr>
          <p:cNvPr id="47" name="Arrow"/>
          <p:cNvSpPr/>
          <p:nvPr/>
        </p:nvSpPr>
        <p:spPr>
          <a:xfrm>
            <a:off x="8890000" y="3810000"/>
            <a:ext cx="762000" cy="431800"/>
          </a:xfrm>
          <a:prstGeom prst="rightArrow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SGD step cut the loss by ~36%. Repeating drives W′ → (0.5, 0.5) and L → 0.</a:t>
            </a:r>
          </a:p>
        </p:txBody>
      </p:sp>
    </p:spTree>
    <p:extLst>
      <p:ext uri="{BB962C8B-B14F-4D97-AF65-F5344CB8AC3E}">
        <p14:creationId xmlns:p14="http://schemas.microsoft.com/office/powerpoint/2010/main" val="404049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43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46" grpId="0"/>
      <p:bldP spid="47" grpId="0" animBg="1"/>
      <p:bldP spid="30" grpId="0" animBg="1"/>
      <p:bldP spid="31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1A1D37-2AD2-7B41-B639-E8CBC0F49F8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DC5D6-59F9-894F-95BE-B0B0162A52C1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3 — Linear AE vs PCA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51FEB5-2903-6348-87B3-2FF491F2578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E194B-15BC-AC42-B27C-5B0ABDF9742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Confirm the theorem numerically: a 1-unit linear AE achieves the same reconstruction error as PCA's first component.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813E2-008C-6343-AE4C-0DBD6D010F61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Data (centered) &amp; PCA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D0E3E5-7E0A-0446-B0E1-3625604B64A9}"/>
              </a:ext>
            </a:extLst>
          </p:cNvPr>
          <p:cNvSpPr/>
          <p:nvPr/>
        </p:nvSpPr>
        <p:spPr>
          <a:xfrm>
            <a:off x="762000" y="2184400"/>
            <a:ext cx="5334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8C8AC-79E1-4346-A5F7-28A06F04C831}"/>
              </a:ext>
            </a:extLst>
          </p:cNvPr>
          <p:cNvSpPr txBox="1"/>
          <p:nvPr/>
        </p:nvSpPr>
        <p:spPr>
          <a:xfrm>
            <a:off x="939800" y="2311400"/>
            <a:ext cx="4978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X꜀ rows: (2,2), (−2,−2), (1,1), (−1,−1)
All points lie on the line y = x.
S = (1/3)X꜀ᵀX꜀ = [3.33  3.33 ; 3.33  3.33]
Eigvals: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 = 6.67, λ₂ = 0.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v₁ = (1/√2)(1,1). PCA(k=1) error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λ₂ = 0.</a:t>
            </a:r>
            <a:endParaRPr lang="en-US" sz="14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DFA6B-DD6F-7741-8A55-4F8A43F4F1EF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1-unit linear AE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99BE3-ECED-264E-930F-8DFD79CB053A}"/>
              </a:ext>
            </a:extLst>
          </p:cNvPr>
          <p:cNvSpPr/>
          <p:nvPr/>
        </p:nvSpPr>
        <p:spPr>
          <a:xfrm>
            <a:off x="6350000" y="2184400"/>
            <a:ext cx="5080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5F9BC-1255-954A-8EAA-3254CD1519DD}"/>
              </a:ext>
            </a:extLst>
          </p:cNvPr>
          <p:cNvSpPr txBox="1"/>
          <p:nvPr/>
        </p:nvSpPr>
        <p:spPr>
          <a:xfrm>
            <a:off x="6527800" y="2311400"/>
            <a:ext cx="4724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Optimal W (1×2) spans v₁: e.g. W = (a,a).
z = W x,  x̂ = Wᵀz reconstructs onto y = x.
Since every point IS on y = x, x̂ = x exactly.
AE reconstruction error = 0 = PCA error. ✓
Subspace recovered = span{(1,1)} = PCA's.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CA9B7-5987-4D40-B39D-9A52848208B4}"/>
              </a:ext>
            </a:extLst>
          </p:cNvPr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Takeaways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000C2A-4249-624A-B24A-8425278AC7C8}"/>
              </a:ext>
            </a:extLst>
          </p:cNvPr>
          <p:cNvSpPr/>
          <p:nvPr/>
        </p:nvSpPr>
        <p:spPr>
          <a:xfrm>
            <a:off x="762000" y="4826000"/>
            <a:ext cx="10668000" cy="1244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3941B-081D-9C44-B0F4-1CE17439FDBD}"/>
              </a:ext>
            </a:extLst>
          </p:cNvPr>
          <p:cNvSpPr txBox="1"/>
          <p:nvPr/>
        </p:nvSpPr>
        <p:spPr>
          <a:xfrm>
            <a:off x="939800" y="4953000"/>
            <a:ext cx="103124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The linear AE and PCA reach identical reconstruction error — they find the same optimal subspace.
• But the AE's single weight vector need not equal v₁ exactly (any scaling/sign along (1,1) is optimal).
• Replace identity with tanh and the AE could fit curved data where PCA's straight line would leave error &gt; 0.</a:t>
            </a:r>
          </a:p>
        </p:txBody>
      </p:sp>
    </p:spTree>
    <p:extLst>
      <p:ext uri="{BB962C8B-B14F-4D97-AF65-F5344CB8AC3E}">
        <p14:creationId xmlns:p14="http://schemas.microsoft.com/office/powerpoint/2010/main" val="91985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Data &amp; Covariance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Four centred points, all on the line y = x. Covariance S = (1/3)·XcᵀXc.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Centred data &amp; covariance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sz="2025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=⅓</m:t>
                      </m:r>
                      <m:sSup>
                        <m:sSupPr>
                          <m:ctrlPr>
                            <a:rPr sz="2025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sz="2025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025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025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sz="2025"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Data lie on the line  y = x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All variation lies along one direction (y = x) — a one-dimensional structure PCA and a linear AE can both capture.</a:t>
            </a:r>
          </a:p>
        </p:txBody>
      </p:sp>
      <p:graphicFrame>
        <p:nvGraphicFramePr>
          <p:cNvPr id="60" name="AE PCA Map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9293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/>
      <p:bldP spid="30" grpId="0" animBg="1"/>
      <p:bldP spid="31" grpId="0"/>
      <p:bldP spid="60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Eigen-Decomposition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Diagonalize S: one direction carries all the variance, the other none.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Eigenvalues &amp; top axis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65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₁=6.67,    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₂=0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𝑣</m:t>
                      </m:r>
                      <m:r>
                        <a:rPr sz="2025">
                          <a:latin typeface="Cambria Math"/>
                        </a:rPr>
                        <m:t>₁=</m:t>
                      </m:r>
                      <m:f>
                        <m:fPr>
                          <m:ctrlPr>
                            <a:rPr sz="2025">
                              <a:latin typeface="Cambria Math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65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PCA (k = 1) reconstruction error = λ₂ =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Variance per axis</a:t>
            </a:r>
          </a:p>
        </p:txBody>
      </p:sp>
      <p:sp>
        <p:nvSpPr>
          <p:cNvPr id="40" name="Base"/>
          <p:cNvSpPr/>
          <p:nvPr/>
        </p:nvSpPr>
        <p:spPr>
          <a:xfrm>
            <a:off x="7810500" y="5054600"/>
            <a:ext cx="3175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1"/>
          <p:cNvSpPr/>
          <p:nvPr/>
        </p:nvSpPr>
        <p:spPr>
          <a:xfrm>
            <a:off x="8128000" y="3022600"/>
            <a:ext cx="838200" cy="2032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2"/>
          <p:cNvSpPr/>
          <p:nvPr/>
        </p:nvSpPr>
        <p:spPr>
          <a:xfrm>
            <a:off x="9804400" y="4991100"/>
            <a:ext cx="838200" cy="635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V1"/>
          <p:cNvSpPr txBox="1"/>
          <p:nvPr/>
        </p:nvSpPr>
        <p:spPr>
          <a:xfrm>
            <a:off x="7937500" y="2717800"/>
            <a:ext cx="121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λ₁ = 6.67</a:t>
            </a:r>
          </a:p>
        </p:txBody>
      </p:sp>
      <p:sp>
        <p:nvSpPr>
          <p:cNvPr id="44" name="V2"/>
          <p:cNvSpPr txBox="1"/>
          <p:nvPr/>
        </p:nvSpPr>
        <p:spPr>
          <a:xfrm>
            <a:off x="9613900" y="4648200"/>
            <a:ext cx="121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λ₂ = 0</a:t>
            </a:r>
          </a:p>
        </p:txBody>
      </p:sp>
      <p:sp>
        <p:nvSpPr>
          <p:cNvPr id="45" name="Cap"/>
          <p:cNvSpPr txBox="1"/>
          <p:nvPr/>
        </p:nvSpPr>
        <p:spPr>
          <a:xfrm>
            <a:off x="7112000" y="51562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rank-1: all variance on one direction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covariance is rank-1: a single principal component (along (1,1)) captures the data with zero error.</a:t>
            </a:r>
          </a:p>
        </p:txBody>
      </p:sp>
    </p:spTree>
    <p:extLst>
      <p:ext uri="{BB962C8B-B14F-4D97-AF65-F5344CB8AC3E}">
        <p14:creationId xmlns:p14="http://schemas.microsoft.com/office/powerpoint/2010/main" val="122019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41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4" grpId="0"/>
      <p:bldP spid="20" grpId="0" animBg="1"/>
      <p:bldP spid="21" grpId="0"/>
      <p:bldP spid="40" grpId="0" animBg="1"/>
      <p:bldP spid="41" grpId="0" animBg="1"/>
      <p:bldP spid="42" grpId="0" animBg="1"/>
      <p:bldP spid="43" grpId="0"/>
      <p:bldP spid="44" grpId="0"/>
      <p:bldP spid="45" grpId="0"/>
      <p:bldP spid="30" grpId="0" animBg="1"/>
      <p:bldP spid="31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Linear AE Optimum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Optimal encoder W = (a, a) spans v₁; encode-then-decode projects onto the line y = x.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Project, then reconstruct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=(</m:t>
                      </m:r>
                      <m:r>
                        <a:rPr sz="2025">
                          <a:latin typeface="Cambria Math"/>
                        </a:rPr>
                        <m:t>𝑎</m:t>
                      </m:r>
                      <m:r>
                        <a:rPr sz="2025">
                          <a:latin typeface="Cambria Math"/>
                        </a:rPr>
                        <m:t>, </m:t>
                      </m:r>
                      <m:r>
                        <a:rPr sz="2025">
                          <a:latin typeface="Cambria Math"/>
                        </a:rPr>
                        <m:t>𝑎</m:t>
                      </m:r>
                      <m:r>
                        <a:rPr sz="2025">
                          <a:latin typeface="Cambria Math"/>
                        </a:rPr>
                        <m:t>)    </m:t>
                      </m:r>
                      <m:r>
                        <a:rPr sz="2025">
                          <a:latin typeface="Cambria Math"/>
                        </a:rPr>
                        <m:t>𝑠𝑝𝑎𝑛𝑠</m:t>
                      </m:r>
                      <m:r>
                        <a:rPr sz="2025">
                          <a:latin typeface="Cambria Math"/>
                        </a:rPr>
                        <m:t>    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sSup>
                        <m:sSupPr>
                          <m:ctrlPr>
                            <a:rPr sz="2025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 = (2,2)  ⇒  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𝑥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̂ = (2,2) = 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78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every point lies on span(W) → reconstructed exactly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Same subspace as PCA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optimal weight vector lies in the top-PC direction.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Encoding then decoding = projection onto span(W) = the line y = x.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Every data point is already on that line → x̂ = x.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7AB648"/>
                </a:solidFill>
              </a:rPr>
              <a:t>AE error = 0 = PCA error.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at its optimum spans the same subspace as PCA and achieves the identical reconstruction error.</a:t>
            </a:r>
          </a:p>
        </p:txBody>
      </p:sp>
    </p:spTree>
    <p:extLst>
      <p:ext uri="{BB962C8B-B14F-4D97-AF65-F5344CB8AC3E}">
        <p14:creationId xmlns:p14="http://schemas.microsoft.com/office/powerpoint/2010/main" val="165962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31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4 — AE vs PCA: Beyond the Tie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Same subspace and error — but AE weights aren't unique, and nonlinear AEs go further.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Two caveats</a:t>
            </a:r>
          </a:p>
        </p:txBody>
      </p:sp>
      <p:sp>
        <p:nvSpPr>
          <p:cNvPr id="13" name="LB"/>
          <p:cNvSpPr txBox="1"/>
          <p:nvPr/>
        </p:nvSpPr>
        <p:spPr>
          <a:xfrm>
            <a:off x="965200" y="2489200"/>
            <a:ext cx="5562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1.  Weights aren't unique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AE: W = (a, a) for any a ≠ 0 (scale &amp; sign free). PCA fixes v₁ = (1/√2)(1,1).</a:t>
            </a:r>
          </a:p>
          <a:p>
            <a:pPr algn="l">
              <a:spcBef>
                <a:spcPts val="50"/>
              </a:spcBef>
            </a:pPr>
            <a:r>
              <a:rPr lang="en-US" sz="1250" i="1" dirty="0">
                <a:solidFill>
                  <a:srgbClr val="666666"/>
                </a:solidFill>
              </a:rPr>
              <a:t>Same subspace — different vectors.</a:t>
            </a:r>
          </a:p>
          <a:p>
            <a:pPr algn="l">
              <a:spcBef>
                <a:spcPts val="170"/>
              </a:spcBef>
            </a:pPr>
            <a:r>
              <a:rPr lang="en-US" sz="1400" b="1" dirty="0">
                <a:solidFill>
                  <a:srgbClr val="4B2E83"/>
                </a:solidFill>
              </a:rPr>
              <a:t>2.  Go nonlinear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Replace identity with tanh and the AE bends to fit curved data that PCA's flat subspace cannot.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Linear can't curve</a:t>
            </a:r>
          </a:p>
        </p:txBody>
      </p:sp>
      <p:sp>
        <p:nvSpPr>
          <p:cNvPr id="65" name="PCAline"/>
          <p:cNvSpPr/>
          <p:nvPr/>
        </p:nvSpPr>
        <p:spPr>
          <a:xfrm>
            <a:off x="7569200" y="3810000"/>
            <a:ext cx="2844800" cy="381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dot"/>
          <p:cNvSpPr/>
          <p:nvPr/>
        </p:nvSpPr>
        <p:spPr>
          <a:xfrm>
            <a:off x="7537450" y="3371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ot"/>
          <p:cNvSpPr/>
          <p:nvPr/>
        </p:nvSpPr>
        <p:spPr>
          <a:xfrm>
            <a:off x="8070850" y="3752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dot"/>
          <p:cNvSpPr/>
          <p:nvPr/>
        </p:nvSpPr>
        <p:spPr>
          <a:xfrm>
            <a:off x="8629650" y="39560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"/>
          <p:cNvSpPr/>
          <p:nvPr/>
        </p:nvSpPr>
        <p:spPr>
          <a:xfrm>
            <a:off x="9188450" y="39560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"/>
          <p:cNvSpPr/>
          <p:nvPr/>
        </p:nvSpPr>
        <p:spPr>
          <a:xfrm>
            <a:off x="9747250" y="3752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"/>
          <p:cNvSpPr/>
          <p:nvPr/>
        </p:nvSpPr>
        <p:spPr>
          <a:xfrm>
            <a:off x="10280650" y="3371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Cap"/>
          <p:cNvSpPr txBox="1"/>
          <p:nvPr/>
        </p:nvSpPr>
        <p:spPr>
          <a:xfrm>
            <a:off x="7112000" y="42926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curved data on a 1-D manifold</a:t>
            </a:r>
          </a:p>
        </p:txBody>
      </p:sp>
      <p:sp>
        <p:nvSpPr>
          <p:cNvPr id="73" name="Lg1"/>
          <p:cNvSpPr txBox="1"/>
          <p:nvPr/>
        </p:nvSpPr>
        <p:spPr>
          <a:xfrm>
            <a:off x="7620000" y="4648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00" b="1" dirty="0">
                <a:solidFill>
                  <a:srgbClr val="85754D"/>
                </a:solidFill>
              </a:rPr>
              <a:t>▬  PCA (flat) — leaves error</a:t>
            </a:r>
          </a:p>
        </p:txBody>
      </p:sp>
      <p:sp>
        <p:nvSpPr>
          <p:cNvPr id="74" name="Lg2"/>
          <p:cNvSpPr txBox="1"/>
          <p:nvPr/>
        </p:nvSpPr>
        <p:spPr>
          <a:xfrm>
            <a:off x="7620000" y="49276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00" b="1" dirty="0">
                <a:solidFill>
                  <a:srgbClr val="00838D"/>
                </a:solidFill>
              </a:rPr>
              <a:t>▬  AE + tanh — follows the curve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matches PCA; nonlinearity is what makes autoencoders strictly more powerful.</a:t>
            </a:r>
          </a:p>
        </p:txBody>
      </p:sp>
      <p:sp>
        <p:nvSpPr>
          <p:cNvPr id="60" name="seg"/>
          <p:cNvSpPr/>
          <p:nvPr/>
        </p:nvSpPr>
        <p:spPr>
          <a:xfrm rot="2132261">
            <a:off x="7558951" y="3606800"/>
            <a:ext cx="655497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eg"/>
          <p:cNvSpPr/>
          <p:nvPr/>
        </p:nvSpPr>
        <p:spPr>
          <a:xfrm rot="1198986">
            <a:off x="8135501" y="3898900"/>
            <a:ext cx="594599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eg"/>
          <p:cNvSpPr/>
          <p:nvPr/>
        </p:nvSpPr>
        <p:spPr>
          <a:xfrm>
            <a:off x="8712200" y="4000500"/>
            <a:ext cx="558800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eg"/>
          <p:cNvSpPr/>
          <p:nvPr/>
        </p:nvSpPr>
        <p:spPr>
          <a:xfrm rot="20401014">
            <a:off x="9253101" y="3898900"/>
            <a:ext cx="594599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eg"/>
          <p:cNvSpPr/>
          <p:nvPr/>
        </p:nvSpPr>
        <p:spPr>
          <a:xfrm rot="19467739">
            <a:off x="9768751" y="3606800"/>
            <a:ext cx="655497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924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3" grpId="0"/>
      <p:bldP spid="20" grpId="0" animBg="1"/>
      <p:bldP spid="21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4" grpId="0"/>
      <p:bldP spid="30" grpId="0" animBg="1"/>
      <p:bldP spid="31" grpId="0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CF89E-034E-F344-A9E0-3D6C096352A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26B1A-94E2-1949-B081-80A8778ED853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Forward Pass &amp; Loss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0A21FA-077E-124A-9E56-229635A510E2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61173B-1FD5-7F46-9CF5-6CC928E08A72}"/>
              </a:ext>
            </a:extLst>
          </p:cNvPr>
          <p:cNvSpPr/>
          <p:nvPr/>
        </p:nvSpPr>
        <p:spPr>
          <a:xfrm>
            <a:off x="762000" y="1473200"/>
            <a:ext cx="10668000" cy="10668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3BD64-1595-264B-94D6-60A25C993868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47512-2A34-3346-80CD-5857F16C1709}"/>
              </a:ext>
            </a:extLst>
          </p:cNvPr>
          <p:cNvSpPr txBox="1"/>
          <p:nvPr/>
        </p:nvSpPr>
        <p:spPr>
          <a:xfrm>
            <a:off x="990600" y="1879600"/>
            <a:ext cx="102108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 2→1→2 linear autoencoder has W = [0.6  0.8] (encoder, 1×2) and tied weights W′ = Wᵀ.
For input x = (1, 0)ᵀ, compute the code z, the reconstruction x̂, and the squared-error loss L = ‖x − x̂‖².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60B092-55CB-414E-8CD8-34613E4D3F89}"/>
              </a:ext>
            </a:extLst>
          </p:cNvPr>
          <p:cNvSpPr/>
          <p:nvPr/>
        </p:nvSpPr>
        <p:spPr>
          <a:xfrm>
            <a:off x="762000" y="2717800"/>
            <a:ext cx="10668000" cy="33528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A31-AD21-5141-855C-09557B57A7CC}"/>
              </a:ext>
            </a:extLst>
          </p:cNvPr>
          <p:cNvSpPr txBox="1"/>
          <p:nvPr/>
        </p:nvSpPr>
        <p:spPr>
          <a:xfrm>
            <a:off x="990600" y="2819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96345-3266-4047-9018-E34580C6CB36}"/>
              </a:ext>
            </a:extLst>
          </p:cNvPr>
          <p:cNvSpPr txBox="1"/>
          <p:nvPr/>
        </p:nvSpPr>
        <p:spPr>
          <a:xfrm>
            <a:off x="990600" y="3124200"/>
            <a:ext cx="102108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Encode:  z = Wx = 0.6·1 + 0.8·0 = 0.6.
Decode:  x̂ = W′z = (0.6, 0.8)ᵀ · 0.6 = (0.36, 0.48)ᵀ.
Error:   e = x̂ − x = (0.36 − 1, 0.48 − 0) = (−0.64, 0.48).
Loss:    L = (−0.64)² + (0.48)² = 0.4096 + 0.2304 = 0.640.
Note: ‖W‖ = 1, so W projects onto the unit direction (0.6,0.8); x is only partly aligned with it, hence the error.</a:t>
            </a:r>
          </a:p>
        </p:txBody>
      </p:sp>
    </p:spTree>
    <p:extLst>
      <p:ext uri="{BB962C8B-B14F-4D97-AF65-F5344CB8AC3E}">
        <p14:creationId xmlns:p14="http://schemas.microsoft.com/office/powerpoint/2010/main" val="31873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2→1→2 tied linear AE: encoder W = [0.6, 0.8], decoder W′ = Wᵀ, input x = (1, 0). Find z, x̂, 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Given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ᵀ=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2 → 1 → 2 tied autoencoder</a:t>
            </a:r>
          </a:p>
        </p:txBody>
      </p:sp>
      <p:sp>
        <p:nvSpPr>
          <p:cNvPr id="200" name="edge"/>
          <p:cNvSpPr/>
          <p:nvPr/>
        </p:nvSpPr>
        <p:spPr>
          <a:xfrm rot="1162186">
            <a:off x="7571233" y="3514725"/>
            <a:ext cx="1723133" cy="1905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edge"/>
          <p:cNvSpPr/>
          <p:nvPr/>
        </p:nvSpPr>
        <p:spPr>
          <a:xfrm rot="-1162186">
            <a:off x="7571233" y="4086225"/>
            <a:ext cx="1723133" cy="1905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dge"/>
          <p:cNvSpPr/>
          <p:nvPr/>
        </p:nvSpPr>
        <p:spPr>
          <a:xfrm rot="-1162186">
            <a:off x="9196833" y="3514725"/>
            <a:ext cx="1723133" cy="19050"/>
          </a:xfrm>
          <a:prstGeom prst="rect">
            <a:avLst/>
          </a:prstGeom>
          <a:solidFill>
            <a:srgbClr val="E0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edge"/>
          <p:cNvSpPr/>
          <p:nvPr/>
        </p:nvSpPr>
        <p:spPr>
          <a:xfrm rot="1162186">
            <a:off x="9196833" y="4086225"/>
            <a:ext cx="1723133" cy="19050"/>
          </a:xfrm>
          <a:prstGeom prst="rect">
            <a:avLst/>
          </a:prstGeom>
          <a:solidFill>
            <a:srgbClr val="E0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node"/>
          <p:cNvSpPr/>
          <p:nvPr/>
        </p:nvSpPr>
        <p:spPr>
          <a:xfrm>
            <a:off x="7454900" y="30734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node"/>
          <p:cNvSpPr/>
          <p:nvPr/>
        </p:nvSpPr>
        <p:spPr>
          <a:xfrm>
            <a:off x="7454900" y="42164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ode"/>
          <p:cNvSpPr/>
          <p:nvPr/>
        </p:nvSpPr>
        <p:spPr>
          <a:xfrm>
            <a:off x="9055100" y="3619500"/>
            <a:ext cx="381000" cy="3810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node"/>
          <p:cNvSpPr/>
          <p:nvPr/>
        </p:nvSpPr>
        <p:spPr>
          <a:xfrm>
            <a:off x="10706100" y="30734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node"/>
          <p:cNvSpPr/>
          <p:nvPr/>
        </p:nvSpPr>
        <p:spPr>
          <a:xfrm>
            <a:off x="10706100" y="42164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x"/>
          <p:cNvSpPr txBox="1"/>
          <p:nvPr/>
        </p:nvSpPr>
        <p:spPr>
          <a:xfrm>
            <a:off x="7112000" y="472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00A7B5"/>
                </a:solidFill>
              </a:rPr>
              <a:t>x  (input)</a:t>
            </a:r>
          </a:p>
        </p:txBody>
      </p:sp>
      <p:sp>
        <p:nvSpPr>
          <p:cNvPr id="210" name="Lz"/>
          <p:cNvSpPr txBox="1"/>
          <p:nvPr/>
        </p:nvSpPr>
        <p:spPr>
          <a:xfrm>
            <a:off x="8826500" y="41910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z</a:t>
            </a:r>
          </a:p>
        </p:txBody>
      </p:sp>
      <p:sp>
        <p:nvSpPr>
          <p:cNvPr id="211" name="Lo"/>
          <p:cNvSpPr txBox="1"/>
          <p:nvPr/>
        </p:nvSpPr>
        <p:spPr>
          <a:xfrm>
            <a:off x="10388600" y="472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85754D"/>
                </a:solidFill>
              </a:rPr>
              <a:t>x̂  (output)</a:t>
            </a:r>
          </a:p>
        </p:txBody>
      </p:sp>
      <p:sp>
        <p:nvSpPr>
          <p:cNvPr id="212" name="Lenc"/>
          <p:cNvSpPr txBox="1"/>
          <p:nvPr/>
        </p:nvSpPr>
        <p:spPr>
          <a:xfrm>
            <a:off x="7772400" y="284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i="1" dirty="0">
                <a:solidFill>
                  <a:srgbClr val="7A6FA0"/>
                </a:solidFill>
              </a:rPr>
              <a:t>W</a:t>
            </a:r>
          </a:p>
        </p:txBody>
      </p:sp>
      <p:sp>
        <p:nvSpPr>
          <p:cNvPr id="213" name="Ldec"/>
          <p:cNvSpPr txBox="1"/>
          <p:nvPr/>
        </p:nvSpPr>
        <p:spPr>
          <a:xfrm>
            <a:off x="9804400" y="284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i="1" dirty="0">
                <a:solidFill>
                  <a:srgbClr val="A8966A"/>
                </a:solidFill>
              </a:rPr>
              <a:t>Wᵀ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Tied weights mean the same vector both compresses (W) and reconstructs (Wᵀ).</a:t>
            </a:r>
          </a:p>
        </p:txBody>
      </p:sp>
    </p:spTree>
    <p:extLst>
      <p:ext uri="{BB962C8B-B14F-4D97-AF65-F5344CB8AC3E}">
        <p14:creationId xmlns:p14="http://schemas.microsoft.com/office/powerpoint/2010/main" val="139435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55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/>
      <p:bldP spid="210" grpId="0"/>
      <p:bldP spid="211" grpId="0"/>
      <p:bldP spid="212" grpId="0"/>
      <p:bldP spid="213" grpId="0"/>
      <p:bldP spid="30" grpId="0" animBg="1"/>
      <p:bldP spid="31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Encode:  z = Wx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The code is a single dot product: z = Wx.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𝑊𝑥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=0.6·1 + 0.8·0=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One dot product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 = ⟨W, x⟩, a scalar (the 1-D code).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Only x₁ = 1 contributes; x₂ = 0 drops out.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4B2E83"/>
                </a:solidFill>
              </a:rPr>
              <a:t>z = 0.6.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 bottleneck squeezes 2 numbers into 1.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Encoding collapses the 2-D input to a single number z = 0.6 via the dot product Wx.</a:t>
            </a:r>
          </a:p>
        </p:txBody>
      </p:sp>
    </p:spTree>
    <p:extLst>
      <p:ext uri="{BB962C8B-B14F-4D97-AF65-F5344CB8AC3E}">
        <p14:creationId xmlns:p14="http://schemas.microsoft.com/office/powerpoint/2010/main" val="384911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Decode:  x̂ = W′z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Scale the tied decoder by the code: x̂ = W′z, with W′ = Wᵀ.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Reconstruct the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̂=</m:t>
                      </m:r>
                      <m:r>
                        <a:rPr sz="2160">
                          <a:latin typeface="Cambria Math"/>
                        </a:rPr>
                        <m:t>𝑊</m:t>
                      </m:r>
                      <m:r>
                        <a:rPr sz="2160">
                          <a:latin typeface="Cambria Math"/>
                        </a:rPr>
                        <m:t>′</m:t>
                      </m:r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160">
                          <a:latin typeface="Cambria Math"/>
                        </a:rPr>
                        <m:t>·</m:t>
                      </m:r>
                      <m:r>
                        <a:rPr sz="2160" b="1">
                          <a:solidFill>
                            <a:srgbClr val="00A7B5"/>
                          </a:solidFill>
                          <a:latin typeface="Cambria Math"/>
                        </a:rPr>
                        <m:t>0.6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𝟑𝟔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Back to 2-D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decoder multiplies the scalar code by W′.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x̂ = 0.6·(0.6, 0.8) = (0.36, 0.48).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x̂ lies along the weight direction (0.6, 0.8).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It can only ever land on that line.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Decoding maps the code back to 2-D along the weight direction: x̂ = (0.36, 0.48).</a:t>
            </a:r>
          </a:p>
        </p:txBody>
      </p:sp>
    </p:spTree>
    <p:extLst>
      <p:ext uri="{BB962C8B-B14F-4D97-AF65-F5344CB8AC3E}">
        <p14:creationId xmlns:p14="http://schemas.microsoft.com/office/powerpoint/2010/main" val="148261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Error &amp;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x̂ to x and square the residual: L = ‖x̂ − x‖² = 0.640.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 and squared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654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𝟑𝟔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𝟔𝟒</m:t>
                                </m:r>
                              </m:e>
                            </m:mr>
                            <m:mr>
                              <m:e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=(−0.64)² + (0.48)²=0.640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654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the error?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‖W‖ = 0.6² + 0.8² = 1, so W projects x onto the unit direction (0.6, 0.8).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x = (1, 0) is only partly aligned with it…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…so the orthogonal part becomes the error.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D1578A"/>
                </a:solidFill>
              </a:rPr>
              <a:t>L = 0.640.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1-unit AE keeps only the projection onto its weight direction; the perpendicular part is lost as error (L = 0.640).</a:t>
            </a:r>
          </a:p>
        </p:txBody>
      </p:sp>
    </p:spTree>
    <p:extLst>
      <p:ext uri="{BB962C8B-B14F-4D97-AF65-F5344CB8AC3E}">
        <p14:creationId xmlns:p14="http://schemas.microsoft.com/office/powerpoint/2010/main" val="249069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B43338-4A42-964D-B9EC-1E7D6EAAB03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66843-2279-C549-BB58-DD586B8AC01C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One Gradient Step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4A47CB-25FC-604E-8CBC-1FF40988198A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DD86D9-4C32-AA49-B2E3-CFBD72AF1F97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84104-0A86-5540-B7DD-8CB77D49D7CB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02127-BA7F-7A40-B6C4-76DBC2697AD1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Continue Exercise 1 (W′ = (0.6, 0.8)ᵀ, z = 0.6, e = x̂ − x = (−0.64, 0.48)).
Using loss L = ‖x − x̂‖² and learning rate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= 0.5,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perform one gradient-descent update of the decoder W′
(treat z as fixed). Report W′_new.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9C6E1E-0B33-3B4D-B87B-F6E0F4F6B627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DDF33-9EE0-3D4D-B02F-73633DD3E017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D2454-9AB5-B741-9572-8C1AE2423D1E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Gradient w.r.t. the decoder:  ∂L/∂W′ = 2 e z   (since x̂ = W′z, e = x̂ − x).
∂L/∂W′ = 2 · (−0.64, 0.48)ᵀ · 0.6 = (−0.768, 0.576)ᵀ.
Update:  W′_new = W′ −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L/∂W′ = (0.6, 0.8) − 0.5·(−0.768, 0.576)
        = (0.6 + 0.384,  0.8 − 0.288) = (0.984, 0.512)ᵀ.
Check direction: the first component grew (push x̂₁ up toward x₁ = 1) and the second shrank (push x̂₂ down
toward x₂ = 0) — exactly the corrections the errors call for.</a:t>
            </a:r>
          </a:p>
        </p:txBody>
      </p:sp>
    </p:spTree>
    <p:extLst>
      <p:ext uri="{BB962C8B-B14F-4D97-AF65-F5344CB8AC3E}">
        <p14:creationId xmlns:p14="http://schemas.microsoft.com/office/powerpoint/2010/main" val="126749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Gradient Rule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Continue Exercise 1. One gradient step on the decoder W′, with learning rate η = 0.5.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Loss and its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160">
                          <a:latin typeface="Cambria Math"/>
                        </a:rPr>
                        <m:t>𝐿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sz="2160"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‖</m:t>
                          </m:r>
                          <m:r>
                            <a:rPr sz="2160">
                              <a:latin typeface="Cambria Math"/>
                            </a:rPr>
                            <m:t>𝑊</m:t>
                          </m:r>
                          <m:r>
                            <a:rPr sz="2160">
                              <a:latin typeface="Cambria Math"/>
                            </a:rPr>
                            <m:t>′</m:t>
                          </m:r>
                          <m:r>
                            <a:rPr sz="2160">
                              <a:latin typeface="Cambria Math"/>
                            </a:rPr>
                            <m:t>𝑧</m:t>
                          </m:r>
                          <m:r>
                            <a:rPr sz="2160">
                              <a:latin typeface="Cambria Math"/>
                            </a:rPr>
                            <m:t> − </m:t>
                          </m:r>
                          <m:r>
                            <a:rPr sz="2160">
                              <a:latin typeface="Cambria Math"/>
                            </a:rPr>
                            <m:t>𝑥</m:t>
                          </m:r>
                          <m:r>
                            <a:rPr sz="2160"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 sz="2160">
                              <a:latin typeface="Cambria Math"/>
                            </a:rPr>
                          </m:ctrlPr>
                        </m:fPr>
                        <m:num>
                          <m:r>
                            <a:rPr sz="2160">
                              <a:latin typeface="Cambria Math"/>
                            </a:rPr>
                            <m:t>𝜕</m:t>
                          </m:r>
                          <m:r>
                            <a:rPr sz="2160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sz="2160">
                              <a:latin typeface="Cambria Math"/>
                            </a:rPr>
                            <m:t>𝜕</m:t>
                          </m:r>
                          <m:r>
                            <a:rPr sz="2160">
                              <a:latin typeface="Cambria Math"/>
                            </a:rPr>
                            <m:t>𝑊</m:t>
                          </m:r>
                          <m:r>
                            <a:rPr sz="2160">
                              <a:latin typeface="Cambria Math"/>
                            </a:rPr>
                            <m:t>′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=2(</m:t>
                      </m:r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̂ − </m:t>
                      </m:r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)</m:t>
                      </m:r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=2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𝑒𝑧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70400"/>
            <a:ext cx="5969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</a:rPr>
              <a:t>from Ex 1:  e = (−0.64, 0.48),   z = 0.6</a:t>
            </a:r>
          </a:p>
          <a:p>
            <a:pPr algn="ctr">
              <a:spcBef>
                <a:spcPts val="140"/>
              </a:spcBef>
            </a:pPr>
            <a:r>
              <a:rPr lang="en-US" sz="1250" i="1" dirty="0">
                <a:solidFill>
                  <a:srgbClr val="666666"/>
                </a:solidFill>
              </a:rPr>
              <a:t>learning rate  η = 0.5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Where the rule comes from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Differentiate L = ‖W′z − x‖² w.r.t. W′.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Chain rule → ∂L/∂W′ = 2(W′z − x)z = 2ez.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e = x̂ − x is the residual; z is the (fixed) code.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Then step: W′ ← W′ − η · ∂L/∂W′.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decoder gradient is 2ez — residual times code. Subtract η times it to reduce the loss.</a:t>
            </a:r>
          </a:p>
        </p:txBody>
      </p:sp>
    </p:spTree>
    <p:extLst>
      <p:ext uri="{BB962C8B-B14F-4D97-AF65-F5344CB8AC3E}">
        <p14:creationId xmlns:p14="http://schemas.microsoft.com/office/powerpoint/2010/main" val="243683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31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Compute the Gradient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Plug the residual and code into 2ez to get the decoder gradient.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Evaluate 2ez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𝜕</m:t>
                      </m:r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/</m:t>
                      </m:r>
                      <m:r>
                        <a:rPr sz="2025">
                          <a:latin typeface="Cambria Math"/>
                        </a:rPr>
                        <m:t>𝜕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′=2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(0.6)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𝟕𝟔𝟖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𝟓𝟕𝟔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Scale the residual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factor 2z = 2·0.6 = 1.2 scales each residual entry.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1.2 · (−0.64) = −0.768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1.2 · ( 0.48) =  0.576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This vector points uphill — descent moves the opposite way.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gradient ∂L/∂W′ = (−0.768, 0.576) is the residual scaled by 2z = 1.2.</a:t>
            </a:r>
          </a:p>
        </p:txBody>
      </p:sp>
    </p:spTree>
    <p:extLst>
      <p:ext uri="{BB962C8B-B14F-4D97-AF65-F5344CB8AC3E}">
        <p14:creationId xmlns:p14="http://schemas.microsoft.com/office/powerpoint/2010/main" val="185719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Weight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Step downhill: W′ ← W′ − η·∂L/∂W′ with η = 0.5.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Take the descent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′←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− 0.5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𝟕𝟔𝟖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𝟓𝟕𝟔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𝟗𝟖𝟒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Component by component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η·gradient = 0.5·(−0.768, 0.576) = (−0.384, 0.288).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Subtract from W′: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0.6 − (−0.384) = 0.984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0.8 − ( 0.288) = 0.512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η = 0.5 is large → a big single step.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gradient step moves the decoder weights to W′ = (0.984, 0.512).</a:t>
            </a:r>
          </a:p>
        </p:txBody>
      </p:sp>
    </p:spTree>
    <p:extLst>
      <p:ext uri="{BB962C8B-B14F-4D97-AF65-F5344CB8AC3E}">
        <p14:creationId xmlns:p14="http://schemas.microsoft.com/office/powerpoint/2010/main" val="1904470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29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Reading the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w₁ grew (0.6 → 0.984) and w₂ shrank (0.8 → 0.512) — both toward the input x = (1, 0).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Before → after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′: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𝟗𝟖𝟒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1"/>
          <p:cNvSpPr txBox="1"/>
          <p:nvPr/>
        </p:nvSpPr>
        <p:spPr>
          <a:xfrm>
            <a:off x="1143000" y="41910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w₁:  0.6 → 0.984    </a:t>
            </a:r>
            <a:r>
              <a:rPr lang="en-US" sz="1400" b="1" dirty="0">
                <a:solidFill>
                  <a:srgbClr val="5C8A2E"/>
                </a:solidFill>
              </a:rPr>
              <a:t>↑ grew</a:t>
            </a:r>
          </a:p>
        </p:txBody>
      </p:sp>
      <p:sp>
        <p:nvSpPr>
          <p:cNvPr id="15" name="D2"/>
          <p:cNvSpPr txBox="1"/>
          <p:nvPr/>
        </p:nvSpPr>
        <p:spPr>
          <a:xfrm>
            <a:off x="1143000" y="47244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w₂:  0.8 → 0.512    </a:t>
            </a:r>
            <a:r>
              <a:rPr lang="en-US" sz="1400" b="1" dirty="0">
                <a:solidFill>
                  <a:srgbClr val="D1578A"/>
                </a:solidFill>
              </a:rPr>
              <a:t>↓ shrank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Weights move toward x</a:t>
            </a:r>
          </a:p>
        </p:txBody>
      </p:sp>
      <p:sp>
        <p:nvSpPr>
          <p:cNvPr id="40" name="Base"/>
          <p:cNvSpPr/>
          <p:nvPr/>
        </p:nvSpPr>
        <p:spPr>
          <a:xfrm>
            <a:off x="7467600" y="5080000"/>
            <a:ext cx="3556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w1b"/>
          <p:cNvSpPr/>
          <p:nvPr/>
        </p:nvSpPr>
        <p:spPr>
          <a:xfrm>
            <a:off x="7620000" y="3937000"/>
            <a:ext cx="508000" cy="1143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w1a"/>
          <p:cNvSpPr/>
          <p:nvPr/>
        </p:nvSpPr>
        <p:spPr>
          <a:xfrm>
            <a:off x="8178800" y="3200400"/>
            <a:ext cx="508000" cy="18796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w2b"/>
          <p:cNvSpPr/>
          <p:nvPr/>
        </p:nvSpPr>
        <p:spPr>
          <a:xfrm>
            <a:off x="9677400" y="3556000"/>
            <a:ext cx="508000" cy="1524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w2a"/>
          <p:cNvSpPr/>
          <p:nvPr/>
        </p:nvSpPr>
        <p:spPr>
          <a:xfrm>
            <a:off x="10236200" y="4102100"/>
            <a:ext cx="508000" cy="9779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gl1"/>
          <p:cNvSpPr txBox="1"/>
          <p:nvPr/>
        </p:nvSpPr>
        <p:spPr>
          <a:xfrm>
            <a:off x="7518400" y="5130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5C8A2E"/>
                </a:solidFill>
              </a:rPr>
              <a:t>w₁ ↑</a:t>
            </a:r>
          </a:p>
        </p:txBody>
      </p:sp>
      <p:sp>
        <p:nvSpPr>
          <p:cNvPr id="46" name="gl2"/>
          <p:cNvSpPr txBox="1"/>
          <p:nvPr/>
        </p:nvSpPr>
        <p:spPr>
          <a:xfrm>
            <a:off x="9575800" y="5130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D1578A"/>
                </a:solidFill>
              </a:rPr>
              <a:t>w₂ ↓</a:t>
            </a:r>
          </a:p>
        </p:txBody>
      </p:sp>
      <p:sp>
        <p:nvSpPr>
          <p:cNvPr id="47" name="leg"/>
          <p:cNvSpPr txBox="1"/>
          <p:nvPr/>
        </p:nvSpPr>
        <p:spPr>
          <a:xfrm>
            <a:off x="7188200" y="2692400"/>
            <a:ext cx="403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grey = before · colour = after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Gradient descent nudges each weight toward reproducing x: w₁ up (x₁=1), w₂ down (x₂=0).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E4AF-7A3E-7843-AFFA-D437891FFBCB}"/>
              </a:ext>
            </a:extLst>
          </p:cNvPr>
          <p:cNvSpPr txBox="1"/>
          <p:nvPr/>
        </p:nvSpPr>
        <p:spPr>
          <a:xfrm>
            <a:off x="7569200" y="36830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777777"/>
                </a:solidFill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5F30B-08FA-A64C-A5B7-5FA4EA8FB504}"/>
              </a:ext>
            </a:extLst>
          </p:cNvPr>
          <p:cNvSpPr txBox="1"/>
          <p:nvPr/>
        </p:nvSpPr>
        <p:spPr>
          <a:xfrm>
            <a:off x="8102600" y="29464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8A2E"/>
                </a:solidFill>
              </a:rPr>
              <a:t>0.98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0217-E322-5646-96DB-2CBECB2E6FB4}"/>
              </a:ext>
            </a:extLst>
          </p:cNvPr>
          <p:cNvSpPr txBox="1"/>
          <p:nvPr/>
        </p:nvSpPr>
        <p:spPr>
          <a:xfrm>
            <a:off x="9626600" y="33020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777777"/>
                </a:solidFill>
              </a:rPr>
              <a:t>0.80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B16DA-D8E7-CF44-B716-B058F3686F4A}"/>
              </a:ext>
            </a:extLst>
          </p:cNvPr>
          <p:cNvSpPr txBox="1"/>
          <p:nvPr/>
        </p:nvSpPr>
        <p:spPr>
          <a:xfrm>
            <a:off x="10160000" y="38481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C13A78"/>
                </a:solidFill>
              </a:rPr>
              <a:t>0.51</a:t>
            </a:r>
          </a:p>
        </p:txBody>
      </p:sp>
    </p:spTree>
    <p:extLst>
      <p:ext uri="{BB962C8B-B14F-4D97-AF65-F5344CB8AC3E}">
        <p14:creationId xmlns:p14="http://schemas.microsoft.com/office/powerpoint/2010/main" val="173082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55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4" grpId="0"/>
      <p:bldP spid="15" grpId="0"/>
      <p:bldP spid="20" grpId="0" animBg="1"/>
      <p:bldP spid="21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47" grpId="0"/>
      <p:bldP spid="30" grpId="0" animBg="1"/>
      <p:bldP spid="31" grpId="0"/>
      <p:bldP spid="5" grpId="0"/>
      <p:bldP spid="6" grpId="0"/>
      <p:bldP spid="7" grpId="0"/>
      <p:bldP spid="8" grpId="0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996769-C7C7-774C-9E6D-99E1E46B95A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69B0A-D155-EB49-812E-4EC282D48592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Conceptual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8C6AAA-96B0-6348-A062-3629BA5C8D1A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C8F2ED-E9D8-8B4F-8330-4F3ACC76A087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9879A-4461-124F-87D3-7571E7AA8AA8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80F05-7917-A64F-AE83-18069A54BBEB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Answer briefly: (a) When does a linear autoencoder coincide with PCA, and how does it differ even then?
(b) Why can stacking nonlinear layers beat PCA? (c) If the bottleneck width k equals the input dimension p
and there is no regularization, what does the AE learn — and why is that useless?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C7F5B2-63A9-CA41-B45C-F0951847EFB6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5CDF4-B5EF-2D48-A8F7-91073DD27B17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4F714-48B7-5E44-8F13-63DB2A8F2832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With identity activations and squared-error loss, the optimal linear AE spans the same top-k subspace
      as PCA and attains the same reconstruction error. Difference: its weight vectors are generally NOT the
      orthonormal, variance-ordered eigenvectors — only the subspace (not the individual axes) matches.
(b) Nonlinear activations let the encoder/decoder bend the data manifold, so a curved low-dim structure
      (e.g. a spiral) can be unrolled with small error — PCA, restricted to a flat subspace, cannot.
(c) With k = p and no regularization the AE can learn the identity map (W′W = I): zero reconstruction error
      but ZERO compression — the code just copies the input, so it carries no useful, reduced representation.
      This is why a bottleneck (k &lt; p) or a regularizer is essential.</a:t>
            </a:r>
          </a:p>
        </p:txBody>
      </p:sp>
    </p:spTree>
    <p:extLst>
      <p:ext uri="{BB962C8B-B14F-4D97-AF65-F5344CB8AC3E}">
        <p14:creationId xmlns:p14="http://schemas.microsoft.com/office/powerpoint/2010/main" val="119586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1 — Three Conceptual Questions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Connecting autoencoders to PCA, the power of nonlinearity, and the role of the bottleneck.</a:t>
            </a:r>
          </a:p>
        </p:txBody>
      </p:sp>
      <p:sp>
        <p:nvSpPr>
          <p:cNvPr id="9" name="CardA"/>
          <p:cNvSpPr/>
          <p:nvPr/>
        </p:nvSpPr>
        <p:spPr>
          <a:xfrm>
            <a:off x="762000" y="19050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Dota"/>
          <p:cNvSpPr/>
          <p:nvPr/>
        </p:nvSpPr>
        <p:spPr>
          <a:xfrm>
            <a:off x="1016000" y="2184400"/>
            <a:ext cx="609600" cy="6096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QA"/>
          <p:cNvSpPr txBox="1"/>
          <p:nvPr/>
        </p:nvSpPr>
        <p:spPr>
          <a:xfrm>
            <a:off x="1854200" y="20574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When does a linear autoencoder coincide with PCA — and how do they still differ even then?</a:t>
            </a:r>
          </a:p>
        </p:txBody>
      </p:sp>
      <p:sp>
        <p:nvSpPr>
          <p:cNvPr id="13" name="CardB"/>
          <p:cNvSpPr/>
          <p:nvPr/>
        </p:nvSpPr>
        <p:spPr>
          <a:xfrm>
            <a:off x="762000" y="31496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otb"/>
          <p:cNvSpPr/>
          <p:nvPr/>
        </p:nvSpPr>
        <p:spPr>
          <a:xfrm>
            <a:off x="1016000" y="3429000"/>
            <a:ext cx="609600" cy="6096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QB"/>
          <p:cNvSpPr txBox="1"/>
          <p:nvPr/>
        </p:nvSpPr>
        <p:spPr>
          <a:xfrm>
            <a:off x="1854200" y="33020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Why can stacking nonlinear layers let an autoencoder beat PCA?</a:t>
            </a:r>
          </a:p>
        </p:txBody>
      </p:sp>
      <p:sp>
        <p:nvSpPr>
          <p:cNvPr id="16" name="CardC"/>
          <p:cNvSpPr/>
          <p:nvPr/>
        </p:nvSpPr>
        <p:spPr>
          <a:xfrm>
            <a:off x="762000" y="4394200"/>
            <a:ext cx="10668000" cy="12446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tc"/>
          <p:cNvSpPr/>
          <p:nvPr/>
        </p:nvSpPr>
        <p:spPr>
          <a:xfrm>
            <a:off x="1016000" y="4699000"/>
            <a:ext cx="609600" cy="6096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QC"/>
          <p:cNvSpPr txBox="1"/>
          <p:nvPr/>
        </p:nvSpPr>
        <p:spPr>
          <a:xfrm>
            <a:off x="1854200" y="4521200"/>
            <a:ext cx="94234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If the bottleneck has k = p units with no regularization, what does the AE learn — and why is it useless?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Three lenses: the PCA link, the power of nonlinearity, and why a bottleneck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13543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9" grpId="0" animBg="1"/>
      <p:bldP spid="10" grpId="0" animBg="1"/>
      <p:bldP spid="12" grpId="0"/>
      <p:bldP spid="13" grpId="0" animBg="1"/>
      <p:bldP spid="14" grpId="0" animBg="1"/>
      <p:bldP spid="15" grpId="0"/>
      <p:bldP spid="16" grpId="0" animBg="1"/>
      <p:bldP spid="17" grpId="0" animBg="1"/>
      <p:bldP spid="19" grpId="0"/>
      <p:bldP spid="30" grpId="0" animBg="1"/>
      <p:bldP spid="31" grpId="0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rgbClr val="4B2E83"/>
                </a:solidFill>
              </a:rPr>
              <a:t>Step 2 — (a) Linear AE =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identity activations and squared error, the optimal linear AE spans PCA's top-k subspace.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Same subspace, same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𝑠𝑝𝑎𝑛</m:t>
                      </m:r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)=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𝑠𝑝𝑎𝑛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{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₁, … , 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_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𝑘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025">
                          <a:latin typeface="Cambria Math"/>
                        </a:rPr>
                        <m:t>𝑒𝑟𝑟</m:t>
                      </m:r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𝐴𝐸</m:t>
                      </m:r>
                      <m:r>
                        <a:rPr sz="2025">
                          <a:latin typeface="Cambria Math"/>
                        </a:rPr>
                        <m:t>)=</m:t>
                      </m:r>
                      <m:r>
                        <a:rPr sz="2025">
                          <a:latin typeface="Cambria Math"/>
                        </a:rPr>
                        <m:t>𝑒𝑟𝑟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(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𝑃𝐶𝐴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77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4419600"/>
            <a:ext cx="5715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D1578A"/>
                </a:solidFill>
              </a:rPr>
              <a:t>but in general  W ≠ {v₁, … , v_k}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666666"/>
                </a:solidFill>
              </a:rPr>
              <a:t>(any basis of that subspace is optimal)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they still differ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Identity + squared loss → the AE solves PCA's low-rank problem.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It recovers the same subspace and the same reconstruction error.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But its weights need not be orthonormal or variance-ordered…</a:t>
            </a:r>
          </a:p>
          <a:p>
            <a:pPr algn="l">
              <a:spcBef>
                <a:spcPts val="130"/>
              </a:spcBef>
            </a:pPr>
            <a:r>
              <a:rPr lang="en-US" sz="1250" i="1" dirty="0">
                <a:solidFill>
                  <a:srgbClr val="4B2E83"/>
                </a:solidFill>
              </a:rPr>
              <a:t>…only PCA gives clean, ranked axes.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matches PCA's subspace and error — but not its specific orthonormal, ordered axes.</a:t>
            </a:r>
          </a:p>
        </p:txBody>
      </p:sp>
    </p:spTree>
    <p:extLst>
      <p:ext uri="{BB962C8B-B14F-4D97-AF65-F5344CB8AC3E}">
        <p14:creationId xmlns:p14="http://schemas.microsoft.com/office/powerpoint/2010/main" val="215670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31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4" grpId="0"/>
      <p:bldP spid="20" grpId="0" animBg="1"/>
      <p:bldP spid="21" grpId="0"/>
      <p:bldP spid="23" grpId="0"/>
      <p:bldP spid="30" grpId="0" animBg="1"/>
      <p:bldP spid="31" grpId="0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Step 3 — (b) Nonlinear AE Beats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Nonlinear activations bend the mapping, unrolling curved structure a flat PCA subspace can't capture.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Flat vs curved</a:t>
            </a:r>
          </a:p>
        </p:txBody>
      </p:sp>
      <p:sp>
        <p:nvSpPr>
          <p:cNvPr id="23" name="LB"/>
          <p:cNvSpPr txBox="1"/>
          <p:nvPr/>
        </p:nvSpPr>
        <p:spPr>
          <a:xfrm>
            <a:off x="965200" y="2463800"/>
            <a:ext cx="5562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5754D"/>
                </a:solidFill>
              </a:rPr>
              <a:t>PCA fits a flat subspace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a line or plane — so a straight axis cuts across curved data, leaving large error.</a:t>
            </a:r>
          </a:p>
          <a:p>
            <a:pPr algn="l">
              <a:spcBef>
                <a:spcPts val="160"/>
              </a:spcBef>
            </a:pPr>
            <a:r>
              <a:rPr lang="en-US" sz="1400" b="1" dirty="0">
                <a:solidFill>
                  <a:srgbClr val="00838D"/>
                </a:solidFill>
              </a:rPr>
              <a:t>A nonlinear AE bends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tanh / ReLU layers warp the mapping to follow the manifold, e.g. unrolling a spiral into one coordinate.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50" b="1" dirty="0">
                <a:solidFill>
                  <a:srgbClr val="4B2E83"/>
                </a:solidFill>
              </a:rPr>
              <a:t>Spiral: PCA line vs AE curve</a:t>
            </a:r>
          </a:p>
        </p:txBody>
      </p:sp>
      <p:sp>
        <p:nvSpPr>
          <p:cNvPr id="40" name="PCAline"/>
          <p:cNvSpPr/>
          <p:nvPr/>
        </p:nvSpPr>
        <p:spPr>
          <a:xfrm>
            <a:off x="7772400" y="4216400"/>
            <a:ext cx="2667000" cy="508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eg"/>
          <p:cNvSpPr/>
          <p:nvPr/>
        </p:nvSpPr>
        <p:spPr>
          <a:xfrm rot="4077542">
            <a:off x="9097436" y="3847337"/>
            <a:ext cx="149069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eg"/>
          <p:cNvSpPr/>
          <p:nvPr/>
        </p:nvSpPr>
        <p:spPr>
          <a:xfrm rot="7399600">
            <a:off x="9036188" y="4004731"/>
            <a:ext cx="211374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eg"/>
          <p:cNvSpPr/>
          <p:nvPr/>
        </p:nvSpPr>
        <p:spPr>
          <a:xfrm rot="10321488">
            <a:off x="8804621" y="4112500"/>
            <a:ext cx="280545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eg"/>
          <p:cNvSpPr/>
          <p:nvPr/>
        </p:nvSpPr>
        <p:spPr>
          <a:xfrm rot="-8535999">
            <a:off x="8490280" y="4024080"/>
            <a:ext cx="352564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eg"/>
          <p:cNvSpPr/>
          <p:nvPr/>
        </p:nvSpPr>
        <p:spPr>
          <a:xfrm rot="-5884862">
            <a:off x="8284211" y="3705319"/>
            <a:ext cx="425988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eg"/>
          <p:cNvSpPr/>
          <p:nvPr/>
        </p:nvSpPr>
        <p:spPr>
          <a:xfrm rot="-3285687">
            <a:off x="8361467" y="3290169"/>
            <a:ext cx="500199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eg"/>
          <p:cNvSpPr/>
          <p:nvPr/>
        </p:nvSpPr>
        <p:spPr>
          <a:xfrm rot="-718638">
            <a:off x="8749612" y="3026246"/>
            <a:ext cx="574893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eg"/>
          <p:cNvSpPr/>
          <p:nvPr/>
        </p:nvSpPr>
        <p:spPr>
          <a:xfrm rot="1827245">
            <a:off x="9273416" y="3131295"/>
            <a:ext cx="649903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eg"/>
          <p:cNvSpPr/>
          <p:nvPr/>
        </p:nvSpPr>
        <p:spPr>
          <a:xfrm rot="4358477">
            <a:off x="9624094" y="3642048"/>
            <a:ext cx="725131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"/>
          <p:cNvSpPr/>
          <p:nvPr/>
        </p:nvSpPr>
        <p:spPr>
          <a:xfrm>
            <a:off x="9074150" y="3740150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"/>
          <p:cNvSpPr/>
          <p:nvPr/>
        </p:nvSpPr>
        <p:spPr>
          <a:xfrm>
            <a:off x="9130091" y="3878324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"/>
          <p:cNvSpPr/>
          <p:nvPr/>
        </p:nvSpPr>
        <p:spPr>
          <a:xfrm>
            <a:off x="9013960" y="405493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dot"/>
          <p:cNvSpPr/>
          <p:nvPr/>
        </p:nvSpPr>
        <p:spPr>
          <a:xfrm>
            <a:off x="8736128" y="4093862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dot"/>
          <p:cNvSpPr/>
          <p:nvPr/>
        </p:nvSpPr>
        <p:spPr>
          <a:xfrm>
            <a:off x="8457297" y="387809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dot"/>
          <p:cNvSpPr/>
          <p:nvPr/>
        </p:nvSpPr>
        <p:spPr>
          <a:xfrm>
            <a:off x="8397414" y="3456340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dot"/>
          <p:cNvSpPr/>
          <p:nvPr/>
        </p:nvSpPr>
        <p:spPr>
          <a:xfrm>
            <a:off x="8686020" y="304779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dot"/>
          <p:cNvSpPr/>
          <p:nvPr/>
        </p:nvSpPr>
        <p:spPr>
          <a:xfrm>
            <a:off x="9248398" y="2928494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dot"/>
          <p:cNvSpPr/>
          <p:nvPr/>
        </p:nvSpPr>
        <p:spPr>
          <a:xfrm>
            <a:off x="9808637" y="3257896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dot"/>
          <p:cNvSpPr/>
          <p:nvPr/>
        </p:nvSpPr>
        <p:spPr>
          <a:xfrm>
            <a:off x="10024982" y="3950001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Lg1"/>
          <p:cNvSpPr txBox="1"/>
          <p:nvPr/>
        </p:nvSpPr>
        <p:spPr>
          <a:xfrm>
            <a:off x="7188200" y="5181600"/>
            <a:ext cx="403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150" b="1" dirty="0">
                <a:solidFill>
                  <a:srgbClr val="00838D"/>
                </a:solidFill>
              </a:rPr>
              <a:t>▬ AE (nonlinear)    </a:t>
            </a:r>
            <a:r>
              <a:rPr lang="en-US" sz="1150" b="1" dirty="0">
                <a:solidFill>
                  <a:srgbClr val="85754D"/>
                </a:solidFill>
              </a:rPr>
              <a:t>▬ PCA (flat)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Nonlinearity lets an autoencoder follow curved manifolds — modelling structure PCA's straight axes miss.</a:t>
            </a:r>
          </a:p>
        </p:txBody>
      </p:sp>
    </p:spTree>
    <p:extLst>
      <p:ext uri="{BB962C8B-B14F-4D97-AF65-F5344CB8AC3E}">
        <p14:creationId xmlns:p14="http://schemas.microsoft.com/office/powerpoint/2010/main" val="49038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23" grpId="0"/>
      <p:bldP spid="20" grpId="0" animBg="1"/>
      <p:bldP spid="21" grpId="0"/>
      <p:bldP spid="40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5" grpId="0"/>
      <p:bldP spid="30" grpId="0" animBg="1"/>
      <p:bldP spid="31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Step 4 — (c) No Bottleneck = Useless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k = p units and no regularization, the AE can learn the identity — zero error, zero compression.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identity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14600"/>
                <a:ext cx="6096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′</m:t>
                      </m:r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=</m:t>
                      </m:r>
                      <m:r>
                        <a:rPr sz="1500" b="1">
                          <a:solidFill>
                            <a:srgbClr val="D1578A"/>
                          </a:solidFill>
                          <a:latin typeface="Cambria Math"/>
                        </a:rPr>
                        <m:t>𝐼</m:t>
                      </m:r>
                      <m:r>
                        <a:rPr sz="1500">
                          <a:latin typeface="Cambria Math"/>
                        </a:rPr>
                        <m:t>   ⇒   </m:t>
                      </m:r>
                      <m:r>
                        <a:rPr sz="1500">
                          <a:latin typeface="Cambria Math"/>
                        </a:rPr>
                        <m:t>𝑥</m:t>
                      </m:r>
                      <m:r>
                        <a:rPr sz="1500">
                          <a:latin typeface="Cambria Math"/>
                        </a:rPr>
                        <m:t>̂=</m:t>
                      </m:r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′</m:t>
                      </m:r>
                      <m:r>
                        <a:rPr sz="1500">
                          <a:latin typeface="Cambria Math"/>
                        </a:rPr>
                        <m:t>𝑊𝑥</m:t>
                      </m:r>
                      <m:r>
                        <a:rPr sz="1500">
                          <a:latin typeface="Cambria Math"/>
                        </a:rPr>
                        <m:t>=</m:t>
                      </m:r>
                      <m:r>
                        <a:rPr sz="150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14600"/>
                <a:ext cx="6096000" cy="121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810000"/>
            <a:ext cx="5715000" cy="170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Reconstruction error = 0…</a:t>
            </a:r>
          </a:p>
          <a:p>
            <a:pPr algn="ctr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…but z = Wx has the same dimension as x.</a:t>
            </a:r>
          </a:p>
          <a:p>
            <a:pPr algn="ctr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The code just copies the input — nothing is compressed or learned.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Capacity vs compression</a:t>
            </a:r>
          </a:p>
        </p:txBody>
      </p:sp>
      <p:sp>
        <p:nvSpPr>
          <p:cNvPr id="40" name="in1"/>
          <p:cNvSpPr/>
          <p:nvPr/>
        </p:nvSpPr>
        <p:spPr>
          <a:xfrm>
            <a:off x="7594600" y="2616200"/>
            <a:ext cx="431800" cy="71120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ar1"/>
          <p:cNvSpPr/>
          <p:nvPr/>
        </p:nvSpPr>
        <p:spPr>
          <a:xfrm>
            <a:off x="8077200" y="28448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d1"/>
          <p:cNvSpPr/>
          <p:nvPr/>
        </p:nvSpPr>
        <p:spPr>
          <a:xfrm>
            <a:off x="8382000" y="2616200"/>
            <a:ext cx="431800" cy="7112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ar2"/>
          <p:cNvSpPr/>
          <p:nvPr/>
        </p:nvSpPr>
        <p:spPr>
          <a:xfrm>
            <a:off x="8864600" y="28448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out1"/>
          <p:cNvSpPr/>
          <p:nvPr/>
        </p:nvSpPr>
        <p:spPr>
          <a:xfrm>
            <a:off x="9169400" y="2616200"/>
            <a:ext cx="431800" cy="7112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l1"/>
          <p:cNvSpPr txBox="1"/>
          <p:nvPr/>
        </p:nvSpPr>
        <p:spPr>
          <a:xfrm>
            <a:off x="9702800" y="2616200"/>
            <a:ext cx="157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k = p</a:t>
            </a:r>
          </a:p>
          <a:p>
            <a:pPr algn="l">
              <a:spcBef>
                <a:spcPts val="30"/>
              </a:spcBef>
            </a:pPr>
            <a:r>
              <a:rPr lang="en-US" sz="1200" b="1" dirty="0">
                <a:solidFill>
                  <a:srgbClr val="D1578A"/>
                </a:solidFill>
              </a:rPr>
              <a:t>copies input ✗</a:t>
            </a:r>
          </a:p>
        </p:txBody>
      </p:sp>
      <p:sp>
        <p:nvSpPr>
          <p:cNvPr id="5" name="in2"/>
          <p:cNvSpPr/>
          <p:nvPr/>
        </p:nvSpPr>
        <p:spPr>
          <a:xfrm>
            <a:off x="7594600" y="4191000"/>
            <a:ext cx="431800" cy="71120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r3"/>
          <p:cNvSpPr/>
          <p:nvPr/>
        </p:nvSpPr>
        <p:spPr>
          <a:xfrm>
            <a:off x="8077200" y="44196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d2"/>
          <p:cNvSpPr/>
          <p:nvPr/>
        </p:nvSpPr>
        <p:spPr>
          <a:xfrm>
            <a:off x="8382000" y="4394200"/>
            <a:ext cx="431800" cy="3048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ar4"/>
          <p:cNvSpPr/>
          <p:nvPr/>
        </p:nvSpPr>
        <p:spPr>
          <a:xfrm>
            <a:off x="8864600" y="44196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out2"/>
          <p:cNvSpPr/>
          <p:nvPr/>
        </p:nvSpPr>
        <p:spPr>
          <a:xfrm>
            <a:off x="9169400" y="4191000"/>
            <a:ext cx="431800" cy="7112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l2"/>
          <p:cNvSpPr txBox="1"/>
          <p:nvPr/>
        </p:nvSpPr>
        <p:spPr>
          <a:xfrm>
            <a:off x="9702800" y="4191000"/>
            <a:ext cx="157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k &lt; p</a:t>
            </a:r>
          </a:p>
          <a:p>
            <a:pPr algn="l">
              <a:spcBef>
                <a:spcPts val="30"/>
              </a:spcBef>
            </a:pPr>
            <a:r>
              <a:rPr lang="en-US" sz="1200" b="1" dirty="0">
                <a:solidFill>
                  <a:srgbClr val="5C8A2E"/>
                </a:solidFill>
              </a:rPr>
              <a:t>compresses ✓</a:t>
            </a:r>
          </a:p>
        </p:txBody>
      </p:sp>
      <p:sp>
        <p:nvSpPr>
          <p:cNvPr id="56" name="fix"/>
          <p:cNvSpPr txBox="1"/>
          <p:nvPr/>
        </p:nvSpPr>
        <p:spPr>
          <a:xfrm>
            <a:off x="7188200" y="50800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4B2E83"/>
                </a:solidFill>
              </a:rPr>
              <a:t>Fix: a bottleneck (k &lt; p) or a regularizer.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Compression needs a constraint: without a bottleneck or regularizer, a full-width AE just copies its input.</a:t>
            </a:r>
          </a:p>
        </p:txBody>
      </p:sp>
    </p:spTree>
    <p:extLst>
      <p:ext uri="{BB962C8B-B14F-4D97-AF65-F5344CB8AC3E}">
        <p14:creationId xmlns:p14="http://schemas.microsoft.com/office/powerpoint/2010/main" val="316687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par>
                                      <p:cTn id="55" presetID="1" presetClass="entr" presetSubtype="0" fill="hold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0" grpId="0" animBg="1"/>
      <p:bldP spid="4" grpId="0"/>
      <p:bldP spid="10" grpId="0" animBg="1"/>
      <p:bldP spid="11" grpId="0"/>
      <p:bldP spid="14" grpId="0"/>
      <p:bldP spid="20" grpId="0" animBg="1"/>
      <p:bldP spid="21" grpId="0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5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30" grpId="0" animBg="1"/>
      <p:bldP spid="31" grpId="0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Summary</a:t>
            </a:r>
          </a:p>
        </p:txBody>
      </p:sp>
      <p:sp>
        <p:nvSpPr>
          <p:cNvPr id="7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The PCA link, the power of nonlinearity, and the necessity of a bottleneck.</a:t>
            </a:r>
          </a:p>
        </p:txBody>
      </p:sp>
      <p:sp>
        <p:nvSpPr>
          <p:cNvPr id="10" name="Carda"/>
          <p:cNvSpPr/>
          <p:nvPr/>
        </p:nvSpPr>
        <p:spPr>
          <a:xfrm>
            <a:off x="762000" y="19050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ota"/>
          <p:cNvSpPr/>
          <p:nvPr/>
        </p:nvSpPr>
        <p:spPr>
          <a:xfrm>
            <a:off x="1016000" y="2197100"/>
            <a:ext cx="584200" cy="584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a"/>
          <p:cNvSpPr txBox="1"/>
          <p:nvPr/>
        </p:nvSpPr>
        <p:spPr>
          <a:xfrm>
            <a:off x="1854200" y="1905000"/>
            <a:ext cx="9423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Linear AE = PCA.  </a:t>
            </a:r>
            <a:r>
              <a:rPr lang="en-US" sz="1450" dirty="0">
                <a:solidFill>
                  <a:srgbClr val="333333"/>
                </a:solidFill>
              </a:rPr>
              <a:t>Same subspace and reconstruction error — but not the same orthonormal, ordered axes.</a:t>
            </a:r>
          </a:p>
        </p:txBody>
      </p:sp>
      <p:sp>
        <p:nvSpPr>
          <p:cNvPr id="14" name="Cardb"/>
          <p:cNvSpPr/>
          <p:nvPr/>
        </p:nvSpPr>
        <p:spPr>
          <a:xfrm>
            <a:off x="762000" y="31496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Dotb"/>
          <p:cNvSpPr/>
          <p:nvPr/>
        </p:nvSpPr>
        <p:spPr>
          <a:xfrm>
            <a:off x="1016000" y="3441700"/>
            <a:ext cx="584200" cy="5842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b"/>
          <p:cNvSpPr txBox="1"/>
          <p:nvPr/>
        </p:nvSpPr>
        <p:spPr>
          <a:xfrm>
            <a:off x="1854200" y="3149600"/>
            <a:ext cx="9423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Go nonlinear.  </a:t>
            </a:r>
            <a:r>
              <a:rPr lang="en-US" sz="1450" dirty="0">
                <a:solidFill>
                  <a:srgbClr val="333333"/>
                </a:solidFill>
              </a:rPr>
              <a:t>tanh / ReLU layers bend the mapping to follow curved manifolds PCA's flat axes miss.</a:t>
            </a:r>
          </a:p>
        </p:txBody>
      </p:sp>
      <p:sp>
        <p:nvSpPr>
          <p:cNvPr id="18" name="Cardc"/>
          <p:cNvSpPr/>
          <p:nvPr/>
        </p:nvSpPr>
        <p:spPr>
          <a:xfrm>
            <a:off x="762000" y="4394200"/>
            <a:ext cx="10668000" cy="12446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Dotc"/>
          <p:cNvSpPr/>
          <p:nvPr/>
        </p:nvSpPr>
        <p:spPr>
          <a:xfrm>
            <a:off x="1016000" y="4724400"/>
            <a:ext cx="584200" cy="5842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c"/>
          <p:cNvSpPr txBox="1"/>
          <p:nvPr/>
        </p:nvSpPr>
        <p:spPr>
          <a:xfrm>
            <a:off x="1854200" y="4394200"/>
            <a:ext cx="94234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Keep a bottleneck.  </a:t>
            </a:r>
            <a:r>
              <a:rPr lang="en-US" sz="1450" dirty="0">
                <a:solidFill>
                  <a:srgbClr val="333333"/>
                </a:solidFill>
              </a:rPr>
              <a:t>k = p with no regularizer just copies the input; real compression needs k &lt; p or a regularizer.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Autoencoders generalize PCA: identical when linear, more powerful when nonlinear — as long as a bottleneck forces real compression.</a:t>
            </a:r>
          </a:p>
        </p:txBody>
      </p:sp>
    </p:spTree>
    <p:extLst>
      <p:ext uri="{BB962C8B-B14F-4D97-AF65-F5344CB8AC3E}">
        <p14:creationId xmlns:p14="http://schemas.microsoft.com/office/powerpoint/2010/main" val="134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70" grpId="0" animBg="1"/>
      <p:bldP spid="4" grpId="0"/>
      <p:bldP spid="10" grpId="0" animBg="1"/>
      <p:bldP spid="12" grpId="0" animBg="1"/>
      <p:bldP spid="11" grpId="0"/>
      <p:bldP spid="14" grpId="0" animBg="1"/>
      <p:bldP spid="16" grpId="0" animBg="1"/>
      <p:bldP spid="15" grpId="0"/>
      <p:bldP spid="18" grpId="0" animBg="1"/>
      <p:bldP spid="20" grpId="0" animBg="1"/>
      <p:bldP spid="19" grpId="0"/>
      <p:bldP spid="30" grpId="0" animBg="1"/>
      <p:bldP spid="31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E202DC-AF5B-7448-A154-3EC9CB177A1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4F902-E899-C642-84D2-494A8A42930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The Four Methods at a Glance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784A2-9DF1-024D-9202-8B90E8D9FC9A}"/>
              </a:ext>
            </a:extLst>
          </p:cNvPr>
          <p:cNvSpPr/>
          <p:nvPr/>
        </p:nvSpPr>
        <p:spPr>
          <a:xfrm>
            <a:off x="635000" y="1524000"/>
            <a:ext cx="1524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5A1F3-CF8F-5547-A0AE-85DEC9D73BE7}"/>
              </a:ext>
            </a:extLst>
          </p:cNvPr>
          <p:cNvSpPr txBox="1"/>
          <p:nvPr/>
        </p:nvSpPr>
        <p:spPr>
          <a:xfrm>
            <a:off x="711200" y="15621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1DFE9-CF58-C74B-A444-C5D1BC99740C}"/>
              </a:ext>
            </a:extLst>
          </p:cNvPr>
          <p:cNvSpPr/>
          <p:nvPr/>
        </p:nvSpPr>
        <p:spPr>
          <a:xfrm>
            <a:off x="2159000" y="1524000"/>
            <a:ext cx="2286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D98C3-9F86-074A-8C34-E96A840F1118}"/>
              </a:ext>
            </a:extLst>
          </p:cNvPr>
          <p:cNvSpPr txBox="1"/>
          <p:nvPr/>
        </p:nvSpPr>
        <p:spPr>
          <a:xfrm>
            <a:off x="2235200" y="15621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B8625-6952-A547-A605-19B839C00C0E}"/>
              </a:ext>
            </a:extLst>
          </p:cNvPr>
          <p:cNvSpPr/>
          <p:nvPr/>
        </p:nvSpPr>
        <p:spPr>
          <a:xfrm>
            <a:off x="4445000" y="1524000"/>
            <a:ext cx="23495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4692B-99C5-AA45-A8C3-1E1434924D00}"/>
              </a:ext>
            </a:extLst>
          </p:cNvPr>
          <p:cNvSpPr txBox="1"/>
          <p:nvPr/>
        </p:nvSpPr>
        <p:spPr>
          <a:xfrm>
            <a:off x="4521200" y="1562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Correspondence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D19E42-1A47-1D40-8A55-624A19E13561}"/>
              </a:ext>
            </a:extLst>
          </p:cNvPr>
          <p:cNvSpPr/>
          <p:nvPr/>
        </p:nvSpPr>
        <p:spPr>
          <a:xfrm>
            <a:off x="6794500" y="1524000"/>
            <a:ext cx="2413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2D8C6E-F3FB-6242-82C1-FE37A870C646}"/>
              </a:ext>
            </a:extLst>
          </p:cNvPr>
          <p:cNvSpPr txBox="1"/>
          <p:nvPr/>
        </p:nvSpPr>
        <p:spPr>
          <a:xfrm>
            <a:off x="6870700" y="1562100"/>
            <a:ext cx="2260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MDS (classical)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E9663-330B-C841-88DF-1498487B1DB2}"/>
              </a:ext>
            </a:extLst>
          </p:cNvPr>
          <p:cNvSpPr/>
          <p:nvPr/>
        </p:nvSpPr>
        <p:spPr>
          <a:xfrm>
            <a:off x="9207500" y="1524000"/>
            <a:ext cx="23495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7053D-F1C7-6E48-863C-A3AE3BDD2B49}"/>
              </a:ext>
            </a:extLst>
          </p:cNvPr>
          <p:cNvSpPr txBox="1"/>
          <p:nvPr/>
        </p:nvSpPr>
        <p:spPr>
          <a:xfrm>
            <a:off x="9283700" y="1562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Autoencoders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BFE19B-695F-1D44-B57C-AD9626F349FF}"/>
              </a:ext>
            </a:extLst>
          </p:cNvPr>
          <p:cNvSpPr/>
          <p:nvPr/>
        </p:nvSpPr>
        <p:spPr>
          <a:xfrm>
            <a:off x="635000" y="1955800"/>
            <a:ext cx="1524000" cy="5842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77804-8E51-4744-A95C-BF7599410510}"/>
              </a:ext>
            </a:extLst>
          </p:cNvPr>
          <p:cNvSpPr txBox="1"/>
          <p:nvPr/>
        </p:nvSpPr>
        <p:spPr>
          <a:xfrm>
            <a:off x="711200" y="1993900"/>
            <a:ext cx="1371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Input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C3E5FE-7683-8348-A874-D7EE513175CA}"/>
              </a:ext>
            </a:extLst>
          </p:cNvPr>
          <p:cNvSpPr/>
          <p:nvPr/>
        </p:nvSpPr>
        <p:spPr>
          <a:xfrm>
            <a:off x="2159000" y="1955800"/>
            <a:ext cx="22860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5FCAE1-ECBB-B945-8615-1BF1F9629EC7}"/>
              </a:ext>
            </a:extLst>
          </p:cNvPr>
          <p:cNvSpPr txBox="1"/>
          <p:nvPr/>
        </p:nvSpPr>
        <p:spPr>
          <a:xfrm>
            <a:off x="2235200" y="1993900"/>
            <a:ext cx="2133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Numeric matrix 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FD9C68-C720-EB4E-AEA8-3F559BC1C438}"/>
              </a:ext>
            </a:extLst>
          </p:cNvPr>
          <p:cNvSpPr/>
          <p:nvPr/>
        </p:nvSpPr>
        <p:spPr>
          <a:xfrm>
            <a:off x="4445000" y="1955800"/>
            <a:ext cx="23495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AAD314-46D1-CD42-9F48-DBB74E3E616E}"/>
              </a:ext>
            </a:extLst>
          </p:cNvPr>
          <p:cNvSpPr txBox="1"/>
          <p:nvPr/>
        </p:nvSpPr>
        <p:spPr>
          <a:xfrm>
            <a:off x="4521200" y="1993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Contingency table 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BD64B-CF23-C448-91A9-5B0CBB9FCB4B}"/>
              </a:ext>
            </a:extLst>
          </p:cNvPr>
          <p:cNvSpPr/>
          <p:nvPr/>
        </p:nvSpPr>
        <p:spPr>
          <a:xfrm>
            <a:off x="6794500" y="1955800"/>
            <a:ext cx="24130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9A3AD-E934-1042-A6A6-162CE5671622}"/>
              </a:ext>
            </a:extLst>
          </p:cNvPr>
          <p:cNvSpPr txBox="1"/>
          <p:nvPr/>
        </p:nvSpPr>
        <p:spPr>
          <a:xfrm>
            <a:off x="6870700" y="1993900"/>
            <a:ext cx="2260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Distance / dissimilarity 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73CA13-B383-9140-9127-741843C9B438}"/>
              </a:ext>
            </a:extLst>
          </p:cNvPr>
          <p:cNvSpPr/>
          <p:nvPr/>
        </p:nvSpPr>
        <p:spPr>
          <a:xfrm>
            <a:off x="9207500" y="1955800"/>
            <a:ext cx="23495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260A24-179D-3244-867C-A170064182E5}"/>
              </a:ext>
            </a:extLst>
          </p:cNvPr>
          <p:cNvSpPr txBox="1"/>
          <p:nvPr/>
        </p:nvSpPr>
        <p:spPr>
          <a:xfrm>
            <a:off x="9283700" y="1993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Numeric (any) 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7642EF-F9F9-BD44-B336-4972DB64045D}"/>
              </a:ext>
            </a:extLst>
          </p:cNvPr>
          <p:cNvSpPr/>
          <p:nvPr/>
        </p:nvSpPr>
        <p:spPr>
          <a:xfrm>
            <a:off x="635000" y="2540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BE4C6F-5F6B-8A46-8F55-D357C9EEB0BA}"/>
              </a:ext>
            </a:extLst>
          </p:cNvPr>
          <p:cNvSpPr txBox="1"/>
          <p:nvPr/>
        </p:nvSpPr>
        <p:spPr>
          <a:xfrm>
            <a:off x="711200" y="2578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Preserves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6B803B-AD72-8B40-9810-4D7A043E8D66}"/>
              </a:ext>
            </a:extLst>
          </p:cNvPr>
          <p:cNvSpPr/>
          <p:nvPr/>
        </p:nvSpPr>
        <p:spPr>
          <a:xfrm>
            <a:off x="2159000" y="2540000"/>
            <a:ext cx="2286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10A02F-76C5-0147-8EF6-ACF2E4EDAD11}"/>
              </a:ext>
            </a:extLst>
          </p:cNvPr>
          <p:cNvSpPr txBox="1"/>
          <p:nvPr/>
        </p:nvSpPr>
        <p:spPr>
          <a:xfrm>
            <a:off x="2235200" y="2578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Variance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51F28-9A97-EC45-99B3-FD4695407712}"/>
              </a:ext>
            </a:extLst>
          </p:cNvPr>
          <p:cNvSpPr/>
          <p:nvPr/>
        </p:nvSpPr>
        <p:spPr>
          <a:xfrm>
            <a:off x="4445000" y="2540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C4E283-2701-644B-A95E-7D6D9CF9B1D5}"/>
              </a:ext>
            </a:extLst>
          </p:cNvPr>
          <p:cNvSpPr txBox="1"/>
          <p:nvPr/>
        </p:nvSpPr>
        <p:spPr>
          <a:xfrm>
            <a:off x="4521200" y="2578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l-GR" sz="1350">
                <a:solidFill>
                  <a:srgbClr val="333333"/>
                </a:solidFill>
              </a:rPr>
              <a:t>χ² </a:t>
            </a:r>
            <a:r>
              <a:rPr lang="en-US" sz="1350">
                <a:solidFill>
                  <a:srgbClr val="333333"/>
                </a:solidFill>
              </a:rPr>
              <a:t>association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FFDA58-16E2-4745-A4C3-B6B999DF7BE4}"/>
              </a:ext>
            </a:extLst>
          </p:cNvPr>
          <p:cNvSpPr/>
          <p:nvPr/>
        </p:nvSpPr>
        <p:spPr>
          <a:xfrm>
            <a:off x="6794500" y="2540000"/>
            <a:ext cx="2413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5C7E8C-A5AA-4B4D-8B15-909F60BC103B}"/>
              </a:ext>
            </a:extLst>
          </p:cNvPr>
          <p:cNvSpPr txBox="1"/>
          <p:nvPr/>
        </p:nvSpPr>
        <p:spPr>
          <a:xfrm>
            <a:off x="6870700" y="2578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Pairwise distances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31C9D3-2AB4-B043-AE4E-8006E7F91B29}"/>
              </a:ext>
            </a:extLst>
          </p:cNvPr>
          <p:cNvSpPr/>
          <p:nvPr/>
        </p:nvSpPr>
        <p:spPr>
          <a:xfrm>
            <a:off x="9207500" y="2540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F7BE21-83AD-574C-9F53-0A0F143E060D}"/>
              </a:ext>
            </a:extLst>
          </p:cNvPr>
          <p:cNvSpPr txBox="1"/>
          <p:nvPr/>
        </p:nvSpPr>
        <p:spPr>
          <a:xfrm>
            <a:off x="9283700" y="2578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Reconstruction fidelity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165DC0-8F18-7D40-A2FA-9D428CF143F2}"/>
              </a:ext>
            </a:extLst>
          </p:cNvPr>
          <p:cNvSpPr/>
          <p:nvPr/>
        </p:nvSpPr>
        <p:spPr>
          <a:xfrm>
            <a:off x="635000" y="3048000"/>
            <a:ext cx="1524000" cy="4318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2FACD7-6EF9-EF41-9B3E-C788DD105805}"/>
              </a:ext>
            </a:extLst>
          </p:cNvPr>
          <p:cNvSpPr txBox="1"/>
          <p:nvPr/>
        </p:nvSpPr>
        <p:spPr>
          <a:xfrm>
            <a:off x="711200" y="30861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Mapping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FC05F1-2535-934E-A3F5-A4D84C930A56}"/>
              </a:ext>
            </a:extLst>
          </p:cNvPr>
          <p:cNvSpPr/>
          <p:nvPr/>
        </p:nvSpPr>
        <p:spPr>
          <a:xfrm>
            <a:off x="2159000" y="3048000"/>
            <a:ext cx="22860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DED41B-0E37-884D-8CAB-D0426C4F23CB}"/>
              </a:ext>
            </a:extLst>
          </p:cNvPr>
          <p:cNvSpPr txBox="1"/>
          <p:nvPr/>
        </p:nvSpPr>
        <p:spPr>
          <a:xfrm>
            <a:off x="2235200" y="30861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80E08B-ADF7-9D44-8E2E-E4914289B03B}"/>
              </a:ext>
            </a:extLst>
          </p:cNvPr>
          <p:cNvSpPr/>
          <p:nvPr/>
        </p:nvSpPr>
        <p:spPr>
          <a:xfrm>
            <a:off x="4445000" y="3048000"/>
            <a:ext cx="23495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585B1B-058E-E84F-8E13-43F8C96CC55A}"/>
              </a:ext>
            </a:extLst>
          </p:cNvPr>
          <p:cNvSpPr txBox="1"/>
          <p:nvPr/>
        </p:nvSpPr>
        <p:spPr>
          <a:xfrm>
            <a:off x="4521200" y="3086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 (of profiles)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C76102-9D48-834E-B29C-BF3C24C1DFD6}"/>
              </a:ext>
            </a:extLst>
          </p:cNvPr>
          <p:cNvSpPr/>
          <p:nvPr/>
        </p:nvSpPr>
        <p:spPr>
          <a:xfrm>
            <a:off x="6794500" y="3048000"/>
            <a:ext cx="24130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CA122D-B433-4144-96A8-52CDD4494B37}"/>
              </a:ext>
            </a:extLst>
          </p:cNvPr>
          <p:cNvSpPr txBox="1"/>
          <p:nvPr/>
        </p:nvSpPr>
        <p:spPr>
          <a:xfrm>
            <a:off x="6870700" y="3086100"/>
            <a:ext cx="2260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 (classical)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70DAAC-20F1-FC47-8FB4-C4EC3F20014D}"/>
              </a:ext>
            </a:extLst>
          </p:cNvPr>
          <p:cNvSpPr/>
          <p:nvPr/>
        </p:nvSpPr>
        <p:spPr>
          <a:xfrm>
            <a:off x="9207500" y="3048000"/>
            <a:ext cx="23495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AD6DC1-A96B-E642-BB86-3BB95AD6496F}"/>
              </a:ext>
            </a:extLst>
          </p:cNvPr>
          <p:cNvSpPr txBox="1"/>
          <p:nvPr/>
        </p:nvSpPr>
        <p:spPr>
          <a:xfrm>
            <a:off x="9283700" y="3086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Nonlinear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37F146-AF26-5E4F-AF30-90F2D3CC2F38}"/>
              </a:ext>
            </a:extLst>
          </p:cNvPr>
          <p:cNvSpPr/>
          <p:nvPr/>
        </p:nvSpPr>
        <p:spPr>
          <a:xfrm>
            <a:off x="635000" y="3479800"/>
            <a:ext cx="1524000" cy="5842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10F26B-6D3E-C244-ACB0-27FA55DA687A}"/>
              </a:ext>
            </a:extLst>
          </p:cNvPr>
          <p:cNvSpPr txBox="1"/>
          <p:nvPr/>
        </p:nvSpPr>
        <p:spPr>
          <a:xfrm>
            <a:off x="711200" y="3517900"/>
            <a:ext cx="1371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Core operation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027B97-D342-6B41-83A6-AF9667502D29}"/>
              </a:ext>
            </a:extLst>
          </p:cNvPr>
          <p:cNvSpPr/>
          <p:nvPr/>
        </p:nvSpPr>
        <p:spPr>
          <a:xfrm>
            <a:off x="2159000" y="3479800"/>
            <a:ext cx="22860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B3C761-63B1-5047-BB3B-65D30E5E27B7}"/>
              </a:ext>
            </a:extLst>
          </p:cNvPr>
          <p:cNvSpPr txBox="1"/>
          <p:nvPr/>
        </p:nvSpPr>
        <p:spPr>
          <a:xfrm>
            <a:off x="2235200" y="3517900"/>
            <a:ext cx="2133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Eigen-decomp of 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2480D2-DCFB-8948-843B-654CC2C5CADD}"/>
              </a:ext>
            </a:extLst>
          </p:cNvPr>
          <p:cNvSpPr/>
          <p:nvPr/>
        </p:nvSpPr>
        <p:spPr>
          <a:xfrm>
            <a:off x="4445000" y="3479800"/>
            <a:ext cx="23495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EDCCBE-6C78-6E42-AE60-C0C7FE1F1530}"/>
              </a:ext>
            </a:extLst>
          </p:cNvPr>
          <p:cNvSpPr txBox="1"/>
          <p:nvPr/>
        </p:nvSpPr>
        <p:spPr>
          <a:xfrm>
            <a:off x="4521200" y="3517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SVD of residuals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B0F1E6-041E-3C44-86F6-91AE6036EBC6}"/>
              </a:ext>
            </a:extLst>
          </p:cNvPr>
          <p:cNvSpPr/>
          <p:nvPr/>
        </p:nvSpPr>
        <p:spPr>
          <a:xfrm>
            <a:off x="6794500" y="3479800"/>
            <a:ext cx="24130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960FBA-33BF-FF40-9384-2F28AB707E65}"/>
              </a:ext>
            </a:extLst>
          </p:cNvPr>
          <p:cNvSpPr txBox="1"/>
          <p:nvPr/>
        </p:nvSpPr>
        <p:spPr>
          <a:xfrm>
            <a:off x="6870700" y="3517900"/>
            <a:ext cx="2260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Eigos of B=−½JD²J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8036F4-F597-D647-A8D7-39944579227E}"/>
              </a:ext>
            </a:extLst>
          </p:cNvPr>
          <p:cNvSpPr/>
          <p:nvPr/>
        </p:nvSpPr>
        <p:spPr>
          <a:xfrm>
            <a:off x="9207500" y="3479800"/>
            <a:ext cx="23495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456262-DD1E-D24B-8A7D-B70F2B4D334F}"/>
              </a:ext>
            </a:extLst>
          </p:cNvPr>
          <p:cNvSpPr txBox="1"/>
          <p:nvPr/>
        </p:nvSpPr>
        <p:spPr>
          <a:xfrm>
            <a:off x="9283700" y="3517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Gradient descent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415E58-8671-954A-B036-E44EC6C8EF13}"/>
              </a:ext>
            </a:extLst>
          </p:cNvPr>
          <p:cNvSpPr/>
          <p:nvPr/>
        </p:nvSpPr>
        <p:spPr>
          <a:xfrm>
            <a:off x="635000" y="4064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97A686-ECAB-AD46-91F5-7082A3D71B42}"/>
              </a:ext>
            </a:extLst>
          </p:cNvPr>
          <p:cNvSpPr txBox="1"/>
          <p:nvPr/>
        </p:nvSpPr>
        <p:spPr>
          <a:xfrm>
            <a:off x="711200" y="4102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Choose 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146E23-7BD5-E847-9DB9-AB3589CB5A7E}"/>
              </a:ext>
            </a:extLst>
          </p:cNvPr>
          <p:cNvSpPr/>
          <p:nvPr/>
        </p:nvSpPr>
        <p:spPr>
          <a:xfrm>
            <a:off x="2159000" y="4064000"/>
            <a:ext cx="22860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56102C-42DC-654D-B8DE-B5176117DA1A}"/>
              </a:ext>
            </a:extLst>
          </p:cNvPr>
          <p:cNvSpPr txBox="1"/>
          <p:nvPr/>
        </p:nvSpPr>
        <p:spPr>
          <a:xfrm>
            <a:off x="2235200" y="4102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Scree / 80% var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B0FD79-148B-154B-96AC-F2E79D02AEE0}"/>
              </a:ext>
            </a:extLst>
          </p:cNvPr>
          <p:cNvSpPr/>
          <p:nvPr/>
        </p:nvSpPr>
        <p:spPr>
          <a:xfrm>
            <a:off x="4445000" y="4064000"/>
            <a:ext cx="23495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14FA00-A8A9-4F4B-AEC8-36A0402B20EE}"/>
              </a:ext>
            </a:extLst>
          </p:cNvPr>
          <p:cNvSpPr txBox="1"/>
          <p:nvPr/>
        </p:nvSpPr>
        <p:spPr>
          <a:xfrm>
            <a:off x="4521200" y="4102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Inertia share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60F987-FD1E-FE43-9802-EECEF346CB5F}"/>
              </a:ext>
            </a:extLst>
          </p:cNvPr>
          <p:cNvSpPr/>
          <p:nvPr/>
        </p:nvSpPr>
        <p:spPr>
          <a:xfrm>
            <a:off x="6794500" y="4064000"/>
            <a:ext cx="24130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1D306D-AB9B-084A-8A9E-9954FDFEEF1A}"/>
              </a:ext>
            </a:extLst>
          </p:cNvPr>
          <p:cNvSpPr txBox="1"/>
          <p:nvPr/>
        </p:nvSpPr>
        <p:spPr>
          <a:xfrm>
            <a:off x="6870700" y="4102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Stress / eigvals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61BA7E8-6020-1643-9DCE-B798EC7E2324}"/>
              </a:ext>
            </a:extLst>
          </p:cNvPr>
          <p:cNvSpPr/>
          <p:nvPr/>
        </p:nvSpPr>
        <p:spPr>
          <a:xfrm>
            <a:off x="9207500" y="4064000"/>
            <a:ext cx="23495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9DA168-F332-E34B-BC4C-B5A3FDEEAE5B}"/>
              </a:ext>
            </a:extLst>
          </p:cNvPr>
          <p:cNvSpPr txBox="1"/>
          <p:nvPr/>
        </p:nvSpPr>
        <p:spPr>
          <a:xfrm>
            <a:off x="9283700" y="4102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Search + val. loss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BC6DC3B-23F3-4248-B499-F54A96083CE7}"/>
              </a:ext>
            </a:extLst>
          </p:cNvPr>
          <p:cNvSpPr/>
          <p:nvPr/>
        </p:nvSpPr>
        <p:spPr>
          <a:xfrm>
            <a:off x="635000" y="4572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6CBC11-E701-D146-BB94-CFD0D7ACE500}"/>
              </a:ext>
            </a:extLst>
          </p:cNvPr>
          <p:cNvSpPr txBox="1"/>
          <p:nvPr/>
        </p:nvSpPr>
        <p:spPr>
          <a:xfrm>
            <a:off x="711200" y="4610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Best for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75BCAC-2C83-2242-AC52-C89A3427D5AC}"/>
              </a:ext>
            </a:extLst>
          </p:cNvPr>
          <p:cNvSpPr/>
          <p:nvPr/>
        </p:nvSpPr>
        <p:spPr>
          <a:xfrm>
            <a:off x="2159000" y="4572000"/>
            <a:ext cx="2286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B2AD4A-0ACE-9543-BB19-5B53D176B7C8}"/>
              </a:ext>
            </a:extLst>
          </p:cNvPr>
          <p:cNvSpPr txBox="1"/>
          <p:nvPr/>
        </p:nvSpPr>
        <p:spPr>
          <a:xfrm>
            <a:off x="2235200" y="4610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Continuous features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D07DB27-589B-764C-A991-64603C0F9F06}"/>
              </a:ext>
            </a:extLst>
          </p:cNvPr>
          <p:cNvSpPr/>
          <p:nvPr/>
        </p:nvSpPr>
        <p:spPr>
          <a:xfrm>
            <a:off x="4445000" y="4572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839195-BA05-B242-9587-4B84371A450A}"/>
              </a:ext>
            </a:extLst>
          </p:cNvPr>
          <p:cNvSpPr txBox="1"/>
          <p:nvPr/>
        </p:nvSpPr>
        <p:spPr>
          <a:xfrm>
            <a:off x="4521200" y="4610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Categorical cross-tabs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90D116B-A59D-D149-BAC8-B30BEB41B37E}"/>
              </a:ext>
            </a:extLst>
          </p:cNvPr>
          <p:cNvSpPr/>
          <p:nvPr/>
        </p:nvSpPr>
        <p:spPr>
          <a:xfrm>
            <a:off x="6794500" y="4572000"/>
            <a:ext cx="2413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76237D-0E8C-E244-92AB-1D689105620C}"/>
              </a:ext>
            </a:extLst>
          </p:cNvPr>
          <p:cNvSpPr txBox="1"/>
          <p:nvPr/>
        </p:nvSpPr>
        <p:spPr>
          <a:xfrm>
            <a:off x="6870700" y="4610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Distances only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7272B7-9C55-8F43-A344-2077A80F5674}"/>
              </a:ext>
            </a:extLst>
          </p:cNvPr>
          <p:cNvSpPr/>
          <p:nvPr/>
        </p:nvSpPr>
        <p:spPr>
          <a:xfrm>
            <a:off x="9207500" y="4572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FBA39E-4D6E-184A-BEB1-6C3930852EB9}"/>
              </a:ext>
            </a:extLst>
          </p:cNvPr>
          <p:cNvSpPr txBox="1"/>
          <p:nvPr/>
        </p:nvSpPr>
        <p:spPr>
          <a:xfrm>
            <a:off x="9283700" y="4610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Complex nonlinear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9118C4-FE63-DE4D-9C3C-FF7A72ABADDC}"/>
              </a:ext>
            </a:extLst>
          </p:cNvPr>
          <p:cNvSpPr txBox="1"/>
          <p:nvPr/>
        </p:nvSpPr>
        <p:spPr>
          <a:xfrm>
            <a:off x="635000" y="5207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All four reduce dimensionality by finding a low-dim representation that best preserves a chosen notion of structure — variance, association, distance, or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423016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0" grpId="0" animBg="1"/>
      <p:bldP spid="61" grpId="0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/>
      <p:bldP spid="76" grpId="0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178730-897D-CC4E-8195-340BDFFEE8F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E8FF2-3B6A-0941-9055-A9F9AC73436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Which Method Should I Use?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1F920-9AFB-C741-9673-2784BC7E6B6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Start from the data you have and the structure you care about.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E4E3D7-A2E4-6746-B8A8-6FB3EB338A10}"/>
              </a:ext>
            </a:extLst>
          </p:cNvPr>
          <p:cNvSpPr/>
          <p:nvPr/>
        </p:nvSpPr>
        <p:spPr>
          <a:xfrm>
            <a:off x="762000" y="19304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657FB-DE1A-D84C-88FE-5999C33B33DC}"/>
              </a:ext>
            </a:extLst>
          </p:cNvPr>
          <p:cNvSpPr/>
          <p:nvPr/>
        </p:nvSpPr>
        <p:spPr>
          <a:xfrm>
            <a:off x="762000" y="1930400"/>
            <a:ext cx="101600" cy="177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7EE78-1B15-B140-9360-F56D1611D1B1}"/>
              </a:ext>
            </a:extLst>
          </p:cNvPr>
          <p:cNvSpPr txBox="1"/>
          <p:nvPr/>
        </p:nvSpPr>
        <p:spPr>
          <a:xfrm>
            <a:off x="1041400" y="21082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Continuous variables,
linear structure?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9B782-7B6B-304F-B7D4-7F9DFA44F720}"/>
              </a:ext>
            </a:extLst>
          </p:cNvPr>
          <p:cNvSpPr txBox="1"/>
          <p:nvPr/>
        </p:nvSpPr>
        <p:spPr>
          <a:xfrm>
            <a:off x="3810000" y="21336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→ PCA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A281B-59A3-A743-A7D1-624C04A6F0D8}"/>
              </a:ext>
            </a:extLst>
          </p:cNvPr>
          <p:cNvSpPr txBox="1"/>
          <p:nvPr/>
        </p:nvSpPr>
        <p:spPr>
          <a:xfrm>
            <a:off x="1041400" y="29210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Maximize retained variance; fast, interpretable loadings. The default first thing to try.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DB19FE-6A06-2043-B55E-191479EAA07A}"/>
              </a:ext>
            </a:extLst>
          </p:cNvPr>
          <p:cNvSpPr/>
          <p:nvPr/>
        </p:nvSpPr>
        <p:spPr>
          <a:xfrm>
            <a:off x="6223000" y="19304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8A805B-DEBD-5240-861D-AE0322FAB556}"/>
              </a:ext>
            </a:extLst>
          </p:cNvPr>
          <p:cNvSpPr/>
          <p:nvPr/>
        </p:nvSpPr>
        <p:spPr>
          <a:xfrm>
            <a:off x="6223000" y="1930400"/>
            <a:ext cx="101600" cy="177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6E641-11A7-D346-AE26-A49C618903AB}"/>
              </a:ext>
            </a:extLst>
          </p:cNvPr>
          <p:cNvSpPr txBox="1"/>
          <p:nvPr/>
        </p:nvSpPr>
        <p:spPr>
          <a:xfrm>
            <a:off x="6502400" y="21082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Counts in a
contingency table?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DE51A-18FA-2F46-A4B7-99A383F4C65D}"/>
              </a:ext>
            </a:extLst>
          </p:cNvPr>
          <p:cNvSpPr txBox="1"/>
          <p:nvPr/>
        </p:nvSpPr>
        <p:spPr>
          <a:xfrm>
            <a:off x="9271000" y="21336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→ Correspondence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51D24-D8F4-7B4C-88F0-DE76F0BA9682}"/>
              </a:ext>
            </a:extLst>
          </p:cNvPr>
          <p:cNvSpPr txBox="1"/>
          <p:nvPr/>
        </p:nvSpPr>
        <p:spPr>
          <a:xfrm>
            <a:off x="6502400" y="29210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Map row &amp; column categories by </a:t>
            </a:r>
            <a:r>
              <a:rPr lang="el-GR" sz="1400">
                <a:solidFill>
                  <a:srgbClr val="333333"/>
                </a:solidFill>
              </a:rPr>
              <a:t>χ² </a:t>
            </a:r>
            <a:r>
              <a:rPr lang="en-US" sz="1400">
                <a:solidFill>
                  <a:srgbClr val="333333"/>
                </a:solidFill>
              </a:rPr>
              <a:t>association. Built for categorical cross-tabulations.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F875CA-A6BD-2541-983A-E31ED2FB4556}"/>
              </a:ext>
            </a:extLst>
          </p:cNvPr>
          <p:cNvSpPr/>
          <p:nvPr/>
        </p:nvSpPr>
        <p:spPr>
          <a:xfrm>
            <a:off x="762000" y="39370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464EF7-B300-4845-9C85-F3241CF36DD0}"/>
              </a:ext>
            </a:extLst>
          </p:cNvPr>
          <p:cNvSpPr/>
          <p:nvPr/>
        </p:nvSpPr>
        <p:spPr>
          <a:xfrm>
            <a:off x="762000" y="3937000"/>
            <a:ext cx="101600" cy="177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803D6-CD8B-3B41-B837-6B531B3589EC}"/>
              </a:ext>
            </a:extLst>
          </p:cNvPr>
          <p:cNvSpPr txBox="1"/>
          <p:nvPr/>
        </p:nvSpPr>
        <p:spPr>
          <a:xfrm>
            <a:off x="1041400" y="41148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Only distances /
dissimilarities given?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023CC-BB2A-874C-855E-44E59F187204}"/>
              </a:ext>
            </a:extLst>
          </p:cNvPr>
          <p:cNvSpPr txBox="1"/>
          <p:nvPr/>
        </p:nvSpPr>
        <p:spPr>
          <a:xfrm>
            <a:off x="3810000" y="41402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→ MDS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F5923-1AB6-2349-AE3A-A57C1CA70542}"/>
              </a:ext>
            </a:extLst>
          </p:cNvPr>
          <p:cNvSpPr txBox="1"/>
          <p:nvPr/>
        </p:nvSpPr>
        <p:spPr>
          <a:xfrm>
            <a:off x="1041400" y="49276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Recover coordinates from a distance matrix. Classical = metric; nonmetric for ranks.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C06B14D-A324-B142-BD30-65CFF4F33D91}"/>
              </a:ext>
            </a:extLst>
          </p:cNvPr>
          <p:cNvSpPr/>
          <p:nvPr/>
        </p:nvSpPr>
        <p:spPr>
          <a:xfrm>
            <a:off x="6223000" y="39370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8E149-CC72-5A47-885E-7494E217ECDA}"/>
              </a:ext>
            </a:extLst>
          </p:cNvPr>
          <p:cNvSpPr/>
          <p:nvPr/>
        </p:nvSpPr>
        <p:spPr>
          <a:xfrm>
            <a:off x="6223000" y="3937000"/>
            <a:ext cx="101600" cy="177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3E3497-3B24-8845-BDC2-281BC976021B}"/>
              </a:ext>
            </a:extLst>
          </p:cNvPr>
          <p:cNvSpPr txBox="1"/>
          <p:nvPr/>
        </p:nvSpPr>
        <p:spPr>
          <a:xfrm>
            <a:off x="6502400" y="41148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Nonlinear structure,
lots of data?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049B8-1F79-1649-A673-0B3CFFB74238}"/>
              </a:ext>
            </a:extLst>
          </p:cNvPr>
          <p:cNvSpPr txBox="1"/>
          <p:nvPr/>
        </p:nvSpPr>
        <p:spPr>
          <a:xfrm>
            <a:off x="9271000" y="41402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→ Autoencoders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7D3F55-1A78-794E-80AA-2133C6765A23}"/>
              </a:ext>
            </a:extLst>
          </p:cNvPr>
          <p:cNvSpPr txBox="1"/>
          <p:nvPr/>
        </p:nvSpPr>
        <p:spPr>
          <a:xfrm>
            <a:off x="6502400" y="49276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Learn a flexible nonlinear embedding. Needs tuning &amp; data, but most expressive.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C0160-2FE9-9A40-85BE-76AF4D5FE6B0}"/>
              </a:ext>
            </a:extLst>
          </p:cNvPr>
          <p:cNvSpPr txBox="1"/>
          <p:nvPr/>
        </p:nvSpPr>
        <p:spPr>
          <a:xfrm>
            <a:off x="762000" y="59944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Tip: PCA, CA and classical MDS are mathematically close cousins (all eigen/SVD-based). Reach for autoencoders only when linear methods leave clear structure on the table.</a:t>
            </a:r>
          </a:p>
        </p:txBody>
      </p:sp>
    </p:spTree>
    <p:extLst>
      <p:ext uri="{BB962C8B-B14F-4D97-AF65-F5344CB8AC3E}">
        <p14:creationId xmlns:p14="http://schemas.microsoft.com/office/powerpoint/2010/main" val="339453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A366A6-2502-B743-BC8C-006FB171421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90D3E-D41D-5144-994C-63E68FC86B62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Key Takeaways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25AAD5-F7D7-9E4D-A989-E41AD2064536}"/>
              </a:ext>
            </a:extLst>
          </p:cNvPr>
          <p:cNvSpPr/>
          <p:nvPr/>
        </p:nvSpPr>
        <p:spPr>
          <a:xfrm>
            <a:off x="762000" y="1701800"/>
            <a:ext cx="381000" cy="3810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3459F-BD28-604D-8ED8-6C954876A6C5}"/>
              </a:ext>
            </a:extLst>
          </p:cNvPr>
          <p:cNvSpPr txBox="1"/>
          <p:nvPr/>
        </p:nvSpPr>
        <p:spPr>
          <a:xfrm>
            <a:off x="1320800" y="1625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One common 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DD47B5-AE02-9E45-827B-A999E9425A81}"/>
              </a:ext>
            </a:extLst>
          </p:cNvPr>
          <p:cNvSpPr txBox="1"/>
          <p:nvPr/>
        </p:nvSpPr>
        <p:spPr>
          <a:xfrm>
            <a:off x="1320800" y="19304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Every method finds a low-dimensional representation that best preserves a chosen kind of structure — variance, association, distance, or reconstruction.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8F3278-9304-3249-9356-3373B5CEA46E}"/>
              </a:ext>
            </a:extLst>
          </p:cNvPr>
          <p:cNvSpPr/>
          <p:nvPr/>
        </p:nvSpPr>
        <p:spPr>
          <a:xfrm>
            <a:off x="762000" y="2641600"/>
            <a:ext cx="381000" cy="3810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060CE-9FDC-0343-AB30-89730F64F7BC}"/>
              </a:ext>
            </a:extLst>
          </p:cNvPr>
          <p:cNvSpPr txBox="1"/>
          <p:nvPr/>
        </p:nvSpPr>
        <p:spPr>
          <a:xfrm>
            <a:off x="1320800" y="25654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Eigen/SVD is the engine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ECF1A1-5F43-BF4B-8E35-3C5A2998C297}"/>
              </a:ext>
            </a:extLst>
          </p:cNvPr>
          <p:cNvSpPr txBox="1"/>
          <p:nvPr/>
        </p:nvSpPr>
        <p:spPr>
          <a:xfrm>
            <a:off x="1320800" y="28702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PCA, classical MDS and CA all reduce to an eigen- or singular-value decomposition of a suitably transformed matrix. Learn it once, reuse everywhere.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0EC2D4-2B10-3547-B832-0056320306B3}"/>
              </a:ext>
            </a:extLst>
          </p:cNvPr>
          <p:cNvSpPr/>
          <p:nvPr/>
        </p:nvSpPr>
        <p:spPr>
          <a:xfrm>
            <a:off x="762000" y="3581400"/>
            <a:ext cx="381000" cy="3810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DABD7-A8C7-3649-A560-17BC45CFB076}"/>
              </a:ext>
            </a:extLst>
          </p:cNvPr>
          <p:cNvSpPr txBox="1"/>
          <p:nvPr/>
        </p:nvSpPr>
        <p:spPr>
          <a:xfrm>
            <a:off x="1320800" y="35052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Match the method to the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1E5AC-8D5F-1640-A81D-49709F97E8A7}"/>
              </a:ext>
            </a:extLst>
          </p:cNvPr>
          <p:cNvSpPr txBox="1"/>
          <p:nvPr/>
        </p:nvSpPr>
        <p:spPr>
          <a:xfrm>
            <a:off x="1320800" y="38100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Numeric → PCA; categorical counts → CA; distances → MDS; nonlinear &amp; data-rich → autoencoders.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27A7E7-9359-024E-B7C9-84D32BEB8E54}"/>
              </a:ext>
            </a:extLst>
          </p:cNvPr>
          <p:cNvSpPr/>
          <p:nvPr/>
        </p:nvSpPr>
        <p:spPr>
          <a:xfrm>
            <a:off x="762000" y="4521200"/>
            <a:ext cx="381000" cy="3810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608DD-36D5-1943-99A2-D2555C2ED070}"/>
              </a:ext>
            </a:extLst>
          </p:cNvPr>
          <p:cNvSpPr txBox="1"/>
          <p:nvPr/>
        </p:nvSpPr>
        <p:spPr>
          <a:xfrm>
            <a:off x="1320800" y="4445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Always report how much you kept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2804B2-8EB5-3F42-A430-49AF93867C9D}"/>
              </a:ext>
            </a:extLst>
          </p:cNvPr>
          <p:cNvSpPr txBox="1"/>
          <p:nvPr/>
        </p:nvSpPr>
        <p:spPr>
          <a:xfrm>
            <a:off x="1320800" y="47498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Variance explained, inertia share, stress, or reconstruction loss — quantify what the low-dim map captures before interpreting it.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6A5A1B-07D5-834E-A848-5CBADBAF61E5}"/>
              </a:ext>
            </a:extLst>
          </p:cNvPr>
          <p:cNvSpPr/>
          <p:nvPr/>
        </p:nvSpPr>
        <p:spPr>
          <a:xfrm>
            <a:off x="762000" y="5461000"/>
            <a:ext cx="381000" cy="3810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29E14E-3A1D-E74B-AB26-F8BB0D9F045D}"/>
              </a:ext>
            </a:extLst>
          </p:cNvPr>
          <p:cNvSpPr txBox="1"/>
          <p:nvPr/>
        </p:nvSpPr>
        <p:spPr>
          <a:xfrm>
            <a:off x="1320800" y="53848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Linear AE ≈ PCA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FA7B5B-FB48-AD42-AE52-BAA2E5381F0C}"/>
              </a:ext>
            </a:extLst>
          </p:cNvPr>
          <p:cNvSpPr txBox="1"/>
          <p:nvPr/>
        </p:nvSpPr>
        <p:spPr>
          <a:xfrm>
            <a:off x="1320800" y="5689600"/>
            <a:ext cx="10109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Autoencoders generalize PCA: a linear, tied-weight, squared-loss autoencoder recovers the same subspace. Nonlinearity is what buys extra power.</a:t>
            </a:r>
          </a:p>
        </p:txBody>
      </p:sp>
    </p:spTree>
    <p:extLst>
      <p:ext uri="{BB962C8B-B14F-4D97-AF65-F5344CB8AC3E}">
        <p14:creationId xmlns:p14="http://schemas.microsoft.com/office/powerpoint/2010/main" val="369560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</p:bldLst>
  </p:timing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14906</TotalTime>
  <Words>29361</Words>
  <Application>Microsoft Macintosh PowerPoint</Application>
  <PresentationFormat>Widescreen</PresentationFormat>
  <Paragraphs>2769</Paragraphs>
  <Slides>240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240</vt:i4>
      </vt:variant>
    </vt:vector>
  </HeadingPairs>
  <TitlesOfParts>
    <vt:vector size="246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178</cp:revision>
  <dcterms:created xsi:type="dcterms:W3CDTF">2018-06-07T21:39:02Z</dcterms:created>
  <dcterms:modified xsi:type="dcterms:W3CDTF">2026-08-14T01:25:46Z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