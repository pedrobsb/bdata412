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14"/>
  </p:notesMasterIdLst>
  <p:sldIdLst>
    <p:sldId id="256" r:id="rId5"/>
    <p:sldId id="257" r:id="rId6"/>
    <p:sldId id="1072" r:id="rId7"/>
    <p:sldId id="1081" r:id="rId8"/>
    <p:sldId id="1085" r:id="rId9"/>
    <p:sldId id="1083" r:id="rId10"/>
    <p:sldId id="1086" r:id="rId11"/>
    <p:sldId id="1427" r:id="rId12"/>
    <p:sldId id="1428" r:id="rId13"/>
    <p:sldId id="258" r:id="rId14"/>
    <p:sldId id="1022" r:id="rId15"/>
    <p:sldId id="1429" r:id="rId16"/>
    <p:sldId id="1028" r:id="rId17"/>
    <p:sldId id="1670" r:id="rId18"/>
    <p:sldId id="1673" r:id="rId19"/>
    <p:sldId id="1701" r:id="rId20"/>
    <p:sldId id="1432" r:id="rId21"/>
    <p:sldId id="1433" r:id="rId22"/>
    <p:sldId id="1674" r:id="rId23"/>
    <p:sldId id="1692" r:id="rId24"/>
    <p:sldId id="1192" r:id="rId25"/>
    <p:sldId id="1440" r:id="rId26"/>
    <p:sldId id="1441" r:id="rId27"/>
    <p:sldId id="1442" r:id="rId28"/>
    <p:sldId id="1443" r:id="rId29"/>
    <p:sldId id="1444" r:id="rId30"/>
    <p:sldId id="1445" r:id="rId31"/>
    <p:sldId id="1678" r:id="rId32"/>
    <p:sldId id="1453" r:id="rId33"/>
    <p:sldId id="1454" r:id="rId34"/>
    <p:sldId id="1455" r:id="rId35"/>
    <p:sldId id="1456" r:id="rId36"/>
    <p:sldId id="1457" r:id="rId37"/>
    <p:sldId id="1458" r:id="rId38"/>
    <p:sldId id="1459" r:id="rId39"/>
    <p:sldId id="1100" r:id="rId40"/>
    <p:sldId id="1102" r:id="rId41"/>
    <p:sldId id="1103" r:id="rId42"/>
    <p:sldId id="1117" r:id="rId43"/>
    <p:sldId id="1118" r:id="rId44"/>
    <p:sldId id="1119" r:id="rId45"/>
    <p:sldId id="1121" r:id="rId46"/>
    <p:sldId id="1460" r:id="rId47"/>
    <p:sldId id="1461" r:id="rId48"/>
    <p:sldId id="1462" r:id="rId49"/>
    <p:sldId id="1463" r:id="rId50"/>
    <p:sldId id="1464" r:id="rId51"/>
    <p:sldId id="1120" r:id="rId52"/>
    <p:sldId id="1699" r:id="rId53"/>
    <p:sldId id="1695" r:id="rId54"/>
    <p:sldId id="1696" r:id="rId55"/>
    <p:sldId id="1697" r:id="rId56"/>
    <p:sldId id="1123" r:id="rId57"/>
    <p:sldId id="1468" r:id="rId58"/>
    <p:sldId id="1469" r:id="rId59"/>
    <p:sldId id="1682" r:id="rId60"/>
    <p:sldId id="1471" r:id="rId61"/>
    <p:sldId id="1474" r:id="rId62"/>
    <p:sldId id="1472" r:id="rId63"/>
    <p:sldId id="1473" r:id="rId64"/>
    <p:sldId id="1127" r:id="rId65"/>
    <p:sldId id="1478" r:id="rId66"/>
    <p:sldId id="1475" r:id="rId67"/>
    <p:sldId id="1476" r:id="rId68"/>
    <p:sldId id="1698" r:id="rId69"/>
    <p:sldId id="1479" r:id="rId70"/>
    <p:sldId id="1480" r:id="rId71"/>
    <p:sldId id="1131" r:id="rId72"/>
    <p:sldId id="1481" r:id="rId73"/>
    <p:sldId id="1482" r:id="rId74"/>
    <p:sldId id="1483" r:id="rId75"/>
    <p:sldId id="1484" r:id="rId76"/>
    <p:sldId id="1485" r:id="rId77"/>
    <p:sldId id="1486" r:id="rId78"/>
    <p:sldId id="1135" r:id="rId79"/>
    <p:sldId id="1487" r:id="rId80"/>
    <p:sldId id="1488" r:id="rId81"/>
    <p:sldId id="1489" r:id="rId82"/>
    <p:sldId id="1490" r:id="rId83"/>
    <p:sldId id="1491" r:id="rId84"/>
    <p:sldId id="1492" r:id="rId85"/>
    <p:sldId id="1493" r:id="rId86"/>
    <p:sldId id="1171" r:id="rId87"/>
    <p:sldId id="1494" r:id="rId88"/>
    <p:sldId id="1495" r:id="rId89"/>
    <p:sldId id="1496" r:id="rId90"/>
    <p:sldId id="1497" r:id="rId91"/>
    <p:sldId id="1169" r:id="rId92"/>
    <p:sldId id="1170" r:id="rId93"/>
    <p:sldId id="1138" r:id="rId94"/>
    <p:sldId id="1139" r:id="rId95"/>
    <p:sldId id="1498" r:id="rId96"/>
    <p:sldId id="1499" r:id="rId97"/>
    <p:sldId id="1500" r:id="rId98"/>
    <p:sldId id="1501" r:id="rId99"/>
    <p:sldId id="1502" r:id="rId100"/>
    <p:sldId id="1503" r:id="rId101"/>
    <p:sldId id="1143" r:id="rId102"/>
    <p:sldId id="1504" r:id="rId103"/>
    <p:sldId id="1683" r:id="rId104"/>
    <p:sldId id="1507" r:id="rId105"/>
    <p:sldId id="1508" r:id="rId106"/>
    <p:sldId id="1505" r:id="rId107"/>
    <p:sldId id="1509" r:id="rId108"/>
    <p:sldId id="1510" r:id="rId109"/>
    <p:sldId id="1282" r:id="rId110"/>
    <p:sldId id="1511" r:id="rId111"/>
    <p:sldId id="1512" r:id="rId112"/>
    <p:sldId id="1513" r:id="rId113"/>
    <p:sldId id="1514" r:id="rId114"/>
    <p:sldId id="1147" r:id="rId115"/>
    <p:sldId id="1520" r:id="rId116"/>
    <p:sldId id="1521" r:id="rId117"/>
    <p:sldId id="1522" r:id="rId118"/>
    <p:sldId id="1523" r:id="rId119"/>
    <p:sldId id="1524" r:id="rId120"/>
    <p:sldId id="1151" r:id="rId121"/>
    <p:sldId id="1525" r:id="rId122"/>
    <p:sldId id="1527" r:id="rId123"/>
    <p:sldId id="1528" r:id="rId124"/>
    <p:sldId id="1155" r:id="rId125"/>
    <p:sldId id="1530" r:id="rId126"/>
    <p:sldId id="1531" r:id="rId127"/>
    <p:sldId id="1532" r:id="rId128"/>
    <p:sldId id="1533" r:id="rId129"/>
    <p:sldId id="1534" r:id="rId130"/>
    <p:sldId id="1535" r:id="rId131"/>
    <p:sldId id="1691" r:id="rId132"/>
    <p:sldId id="1539" r:id="rId133"/>
    <p:sldId id="1542" r:id="rId134"/>
    <p:sldId id="1543" r:id="rId135"/>
    <p:sldId id="1294" r:id="rId136"/>
    <p:sldId id="1545" r:id="rId137"/>
    <p:sldId id="1546" r:id="rId138"/>
    <p:sldId id="1547" r:id="rId139"/>
    <p:sldId id="1548" r:id="rId140"/>
    <p:sldId id="1549" r:id="rId141"/>
    <p:sldId id="1337" r:id="rId142"/>
    <p:sldId id="1550" r:id="rId143"/>
    <p:sldId id="1551" r:id="rId144"/>
    <p:sldId id="1700" r:id="rId145"/>
    <p:sldId id="1553" r:id="rId146"/>
    <p:sldId id="1554" r:id="rId147"/>
    <p:sldId id="1555" r:id="rId148"/>
    <p:sldId id="1556" r:id="rId149"/>
    <p:sldId id="1557" r:id="rId150"/>
    <p:sldId id="1558" r:id="rId151"/>
    <p:sldId id="1559" r:id="rId152"/>
    <p:sldId id="1560" r:id="rId153"/>
    <p:sldId id="1561" r:id="rId154"/>
    <p:sldId id="1562" r:id="rId155"/>
    <p:sldId id="1563" r:id="rId156"/>
    <p:sldId id="1564" r:id="rId157"/>
    <p:sldId id="1340" r:id="rId158"/>
    <p:sldId id="1565" r:id="rId159"/>
    <p:sldId id="1566" r:id="rId160"/>
    <p:sldId id="1567" r:id="rId161"/>
    <p:sldId id="1684" r:id="rId162"/>
    <p:sldId id="1569" r:id="rId163"/>
    <p:sldId id="1570" r:id="rId164"/>
    <p:sldId id="1571" r:id="rId165"/>
    <p:sldId id="1572" r:id="rId166"/>
    <p:sldId id="1573" r:id="rId167"/>
    <p:sldId id="1574" r:id="rId168"/>
    <p:sldId id="1575" r:id="rId169"/>
    <p:sldId id="1685" r:id="rId170"/>
    <p:sldId id="1577" r:id="rId171"/>
    <p:sldId id="1578" r:id="rId172"/>
    <p:sldId id="1579" r:id="rId173"/>
    <p:sldId id="1686" r:id="rId174"/>
    <p:sldId id="1581" r:id="rId175"/>
    <p:sldId id="1582" r:id="rId176"/>
    <p:sldId id="1583" r:id="rId177"/>
    <p:sldId id="1584" r:id="rId178"/>
    <p:sldId id="1585" r:id="rId179"/>
    <p:sldId id="1361" r:id="rId180"/>
    <p:sldId id="1421" r:id="rId181"/>
    <p:sldId id="1586" r:id="rId182"/>
    <p:sldId id="1587" r:id="rId183"/>
    <p:sldId id="1590" r:id="rId184"/>
    <p:sldId id="1594" r:id="rId185"/>
    <p:sldId id="1595" r:id="rId186"/>
    <p:sldId id="1596" r:id="rId187"/>
    <p:sldId id="1597" r:id="rId188"/>
    <p:sldId id="1598" r:id="rId189"/>
    <p:sldId id="1640" r:id="rId190"/>
    <p:sldId id="1641" r:id="rId191"/>
    <p:sldId id="1642" r:id="rId192"/>
    <p:sldId id="1643" r:id="rId193"/>
    <p:sldId id="1644" r:id="rId194"/>
    <p:sldId id="1645" r:id="rId195"/>
    <p:sldId id="1646" r:id="rId196"/>
    <p:sldId id="1647" r:id="rId197"/>
    <p:sldId id="1648" r:id="rId198"/>
    <p:sldId id="1649" r:id="rId199"/>
    <p:sldId id="1650" r:id="rId200"/>
    <p:sldId id="1651" r:id="rId201"/>
    <p:sldId id="1620" r:id="rId202"/>
    <p:sldId id="1621" r:id="rId203"/>
    <p:sldId id="1614" r:id="rId204"/>
    <p:sldId id="1638" r:id="rId205"/>
    <p:sldId id="1631" r:id="rId206"/>
    <p:sldId id="1639" r:id="rId207"/>
    <p:sldId id="1657" r:id="rId208"/>
    <p:sldId id="1658" r:id="rId209"/>
    <p:sldId id="1662" r:id="rId210"/>
    <p:sldId id="1677" r:id="rId211"/>
    <p:sldId id="1690" r:id="rId212"/>
    <p:sldId id="1694" r:id="rId2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B6"/>
    <a:srgbClr val="B7A57A"/>
    <a:srgbClr val="4B2E83"/>
    <a:srgbClr val="D1578A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7"/>
    <p:restoredTop sz="93845"/>
  </p:normalViewPr>
  <p:slideViewPr>
    <p:cSldViewPr snapToGrid="0" snapToObjects="1">
      <p:cViewPr varScale="1">
        <p:scale>
          <a:sx n="101" d="100"/>
          <a:sy n="101" d="100"/>
        </p:scale>
        <p:origin x="20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16" Type="http://schemas.openxmlformats.org/officeDocument/2006/relationships/viewProps" Target="viewProps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217" Type="http://schemas.openxmlformats.org/officeDocument/2006/relationships/theme" Target="theme/theme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18" Type="http://schemas.openxmlformats.org/officeDocument/2006/relationships/tableStyles" Target="tableStyles.xml"/><Relationship Id="rId24" Type="http://schemas.openxmlformats.org/officeDocument/2006/relationships/slide" Target="slides/slide20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31" Type="http://schemas.openxmlformats.org/officeDocument/2006/relationships/slide" Target="slides/slide127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189" Type="http://schemas.openxmlformats.org/officeDocument/2006/relationships/slide" Target="slides/slide185.xml"/><Relationship Id="rId3" Type="http://schemas.openxmlformats.org/officeDocument/2006/relationships/customXml" Target="../customXml/item3.xml"/><Relationship Id="rId214" Type="http://schemas.openxmlformats.org/officeDocument/2006/relationships/notesMaster" Target="notesMasters/notesMaster1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slide" Target="slides/slide18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10" Type="http://schemas.openxmlformats.org/officeDocument/2006/relationships/slide" Target="slides/slide206.xml"/><Relationship Id="rId215" Type="http://schemas.openxmlformats.org/officeDocument/2006/relationships/presProps" Target="presProps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11" Type="http://schemas.openxmlformats.org/officeDocument/2006/relationships/slide" Target="slides/slide207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201" Type="http://schemas.openxmlformats.org/officeDocument/2006/relationships/slide" Target="slides/slide197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customXml" Target="../customXml/item1.xml"/><Relationship Id="rId212" Type="http://schemas.openxmlformats.org/officeDocument/2006/relationships/slide" Target="slides/slide208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202" Type="http://schemas.openxmlformats.org/officeDocument/2006/relationships/slide" Target="slides/slide198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 Purpl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3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0.png"/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6.png"/><Relationship Id="rId7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5" Type="http://schemas.openxmlformats.org/officeDocument/2006/relationships/image" Target="../media/image58.png"/><Relationship Id="rId10" Type="http://schemas.openxmlformats.org/officeDocument/2006/relationships/image" Target="../media/image70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56.png"/><Relationship Id="rId7" Type="http://schemas.openxmlformats.org/officeDocument/2006/relationships/image" Target="../media/image7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58.pn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8.png"/><Relationship Id="rId7" Type="http://schemas.openxmlformats.org/officeDocument/2006/relationships/image" Target="../media/image100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93.png"/><Relationship Id="rId4" Type="http://schemas.openxmlformats.org/officeDocument/2006/relationships/image" Target="../media/image99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7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10" Type="http://schemas.openxmlformats.org/officeDocument/2006/relationships/image" Target="../media/image167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9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4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8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2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5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8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1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5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8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0.png"/><Relationship Id="rId2" Type="http://schemas.openxmlformats.org/officeDocument/2006/relationships/image" Target="../media/image11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80.png"/><Relationship Id="rId5" Type="http://schemas.openxmlformats.org/officeDocument/2006/relationships/image" Target="../media/image1170.png"/><Relationship Id="rId4" Type="http://schemas.openxmlformats.org/officeDocument/2006/relationships/image" Target="../media/image1160.png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5.png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4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4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4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4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4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4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6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13" Type="http://schemas.openxmlformats.org/officeDocument/2006/relationships/image" Target="../media/image278.png"/><Relationship Id="rId18" Type="http://schemas.openxmlformats.org/officeDocument/2006/relationships/image" Target="../media/image283.png"/><Relationship Id="rId3" Type="http://schemas.openxmlformats.org/officeDocument/2006/relationships/image" Target="../media/image268.png"/><Relationship Id="rId21" Type="http://schemas.openxmlformats.org/officeDocument/2006/relationships/image" Target="../media/image286.png"/><Relationship Id="rId7" Type="http://schemas.openxmlformats.org/officeDocument/2006/relationships/image" Target="../media/image272.png"/><Relationship Id="rId12" Type="http://schemas.openxmlformats.org/officeDocument/2006/relationships/image" Target="../media/image277.png"/><Relationship Id="rId17" Type="http://schemas.openxmlformats.org/officeDocument/2006/relationships/image" Target="../media/image282.png"/><Relationship Id="rId25" Type="http://schemas.openxmlformats.org/officeDocument/2006/relationships/image" Target="../media/image290.png"/><Relationship Id="rId2" Type="http://schemas.openxmlformats.org/officeDocument/2006/relationships/image" Target="../media/image267.png"/><Relationship Id="rId16" Type="http://schemas.openxmlformats.org/officeDocument/2006/relationships/image" Target="../media/image281.png"/><Relationship Id="rId20" Type="http://schemas.openxmlformats.org/officeDocument/2006/relationships/image" Target="../media/image28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1.png"/><Relationship Id="rId11" Type="http://schemas.openxmlformats.org/officeDocument/2006/relationships/image" Target="../media/image276.png"/><Relationship Id="rId24" Type="http://schemas.openxmlformats.org/officeDocument/2006/relationships/image" Target="../media/image289.png"/><Relationship Id="rId5" Type="http://schemas.openxmlformats.org/officeDocument/2006/relationships/image" Target="../media/image270.png"/><Relationship Id="rId15" Type="http://schemas.openxmlformats.org/officeDocument/2006/relationships/image" Target="../media/image280.png"/><Relationship Id="rId23" Type="http://schemas.openxmlformats.org/officeDocument/2006/relationships/image" Target="../media/image288.png"/><Relationship Id="rId10" Type="http://schemas.openxmlformats.org/officeDocument/2006/relationships/image" Target="../media/image275.png"/><Relationship Id="rId19" Type="http://schemas.openxmlformats.org/officeDocument/2006/relationships/image" Target="../media/image284.png"/><Relationship Id="rId4" Type="http://schemas.openxmlformats.org/officeDocument/2006/relationships/image" Target="../media/image269.png"/><Relationship Id="rId9" Type="http://schemas.openxmlformats.org/officeDocument/2006/relationships/image" Target="../media/image274.png"/><Relationship Id="rId14" Type="http://schemas.openxmlformats.org/officeDocument/2006/relationships/image" Target="../media/image279.png"/><Relationship Id="rId22" Type="http://schemas.openxmlformats.org/officeDocument/2006/relationships/image" Target="../media/image287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13" Type="http://schemas.openxmlformats.org/officeDocument/2006/relationships/image" Target="../media/image301.png"/><Relationship Id="rId18" Type="http://schemas.openxmlformats.org/officeDocument/2006/relationships/image" Target="../media/image306.png"/><Relationship Id="rId26" Type="http://schemas.openxmlformats.org/officeDocument/2006/relationships/image" Target="../media/image314.png"/><Relationship Id="rId3" Type="http://schemas.openxmlformats.org/officeDocument/2006/relationships/image" Target="../media/image292.png"/><Relationship Id="rId21" Type="http://schemas.openxmlformats.org/officeDocument/2006/relationships/image" Target="../media/image309.png"/><Relationship Id="rId7" Type="http://schemas.openxmlformats.org/officeDocument/2006/relationships/image" Target="../media/image295.png"/><Relationship Id="rId12" Type="http://schemas.openxmlformats.org/officeDocument/2006/relationships/image" Target="../media/image300.png"/><Relationship Id="rId17" Type="http://schemas.openxmlformats.org/officeDocument/2006/relationships/image" Target="../media/image305.png"/><Relationship Id="rId25" Type="http://schemas.openxmlformats.org/officeDocument/2006/relationships/image" Target="../media/image313.png"/><Relationship Id="rId2" Type="http://schemas.openxmlformats.org/officeDocument/2006/relationships/image" Target="../media/image291.png"/><Relationship Id="rId16" Type="http://schemas.openxmlformats.org/officeDocument/2006/relationships/image" Target="../media/image304.png"/><Relationship Id="rId20" Type="http://schemas.openxmlformats.org/officeDocument/2006/relationships/image" Target="../media/image30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4.png"/><Relationship Id="rId11" Type="http://schemas.openxmlformats.org/officeDocument/2006/relationships/image" Target="../media/image299.png"/><Relationship Id="rId24" Type="http://schemas.openxmlformats.org/officeDocument/2006/relationships/image" Target="../media/image312.png"/><Relationship Id="rId5" Type="http://schemas.openxmlformats.org/officeDocument/2006/relationships/image" Target="../media/image270.png"/><Relationship Id="rId15" Type="http://schemas.openxmlformats.org/officeDocument/2006/relationships/image" Target="../media/image303.png"/><Relationship Id="rId23" Type="http://schemas.openxmlformats.org/officeDocument/2006/relationships/image" Target="../media/image311.png"/><Relationship Id="rId10" Type="http://schemas.openxmlformats.org/officeDocument/2006/relationships/image" Target="../media/image298.png"/><Relationship Id="rId19" Type="http://schemas.openxmlformats.org/officeDocument/2006/relationships/image" Target="../media/image307.png"/><Relationship Id="rId4" Type="http://schemas.openxmlformats.org/officeDocument/2006/relationships/image" Target="../media/image293.png"/><Relationship Id="rId9" Type="http://schemas.openxmlformats.org/officeDocument/2006/relationships/image" Target="../media/image297.png"/><Relationship Id="rId14" Type="http://schemas.openxmlformats.org/officeDocument/2006/relationships/image" Target="../media/image302.png"/><Relationship Id="rId22" Type="http://schemas.openxmlformats.org/officeDocument/2006/relationships/image" Target="../media/image310.png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24.png"/><Relationship Id="rId18" Type="http://schemas.openxmlformats.org/officeDocument/2006/relationships/image" Target="../media/image329.png"/><Relationship Id="rId3" Type="http://schemas.openxmlformats.org/officeDocument/2006/relationships/image" Target="../media/image316.png"/><Relationship Id="rId21" Type="http://schemas.openxmlformats.org/officeDocument/2006/relationships/image" Target="../media/image332.png"/><Relationship Id="rId7" Type="http://schemas.openxmlformats.org/officeDocument/2006/relationships/image" Target="../media/image319.png"/><Relationship Id="rId12" Type="http://schemas.openxmlformats.org/officeDocument/2006/relationships/image" Target="../media/image323.png"/><Relationship Id="rId17" Type="http://schemas.openxmlformats.org/officeDocument/2006/relationships/image" Target="../media/image328.png"/><Relationship Id="rId25" Type="http://schemas.openxmlformats.org/officeDocument/2006/relationships/image" Target="../media/image335.png"/><Relationship Id="rId2" Type="http://schemas.openxmlformats.org/officeDocument/2006/relationships/image" Target="../media/image315.png"/><Relationship Id="rId16" Type="http://schemas.openxmlformats.org/officeDocument/2006/relationships/image" Target="../media/image327.png"/><Relationship Id="rId20" Type="http://schemas.openxmlformats.org/officeDocument/2006/relationships/image" Target="../media/image33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8.png"/><Relationship Id="rId11" Type="http://schemas.openxmlformats.org/officeDocument/2006/relationships/image" Target="../media/image322.png"/><Relationship Id="rId24" Type="http://schemas.openxmlformats.org/officeDocument/2006/relationships/image" Target="../media/image334.png"/><Relationship Id="rId5" Type="http://schemas.openxmlformats.org/officeDocument/2006/relationships/image" Target="../media/image270.png"/><Relationship Id="rId15" Type="http://schemas.openxmlformats.org/officeDocument/2006/relationships/image" Target="../media/image326.png"/><Relationship Id="rId23" Type="http://schemas.openxmlformats.org/officeDocument/2006/relationships/image" Target="../media/image311.png"/><Relationship Id="rId10" Type="http://schemas.openxmlformats.org/officeDocument/2006/relationships/image" Target="../media/image321.png"/><Relationship Id="rId19" Type="http://schemas.openxmlformats.org/officeDocument/2006/relationships/image" Target="../media/image330.png"/><Relationship Id="rId4" Type="http://schemas.openxmlformats.org/officeDocument/2006/relationships/image" Target="../media/image317.png"/><Relationship Id="rId9" Type="http://schemas.openxmlformats.org/officeDocument/2006/relationships/image" Target="../media/image297.png"/><Relationship Id="rId14" Type="http://schemas.openxmlformats.org/officeDocument/2006/relationships/image" Target="../media/image325.png"/><Relationship Id="rId22" Type="http://schemas.openxmlformats.org/officeDocument/2006/relationships/image" Target="../media/image3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Curse of dimensionality and Linear Algebra </a:t>
            </a:r>
            <a:endParaRPr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162F57"/>
                </a:solidFill>
              </a:rPr>
              <a:t>BDATA 412: Advanced Data Visualization</a:t>
            </a:r>
          </a:p>
          <a:p>
            <a:r>
              <a:rPr sz="1600" dirty="0">
                <a:solidFill>
                  <a:srgbClr val="4B2E83"/>
                </a:solidFill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560320"/>
            <a:ext cx="92903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Motivation</a:t>
            </a:r>
            <a:endParaRPr sz="4400" b="1"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14800" y="4236720"/>
            <a:ext cx="301752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C641-CD7B-C293-21DC-EBB8D64F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38E815-F53F-3295-F1D6-6C651F1F9E3B}"/>
              </a:ext>
            </a:extLst>
          </p:cNvPr>
          <p:cNvSpPr txBox="1"/>
          <p:nvPr/>
        </p:nvSpPr>
        <p:spPr>
          <a:xfrm>
            <a:off x="635000" y="254000"/>
            <a:ext cx="10922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What Is the Curse of Dimensionality?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FD193-F6CA-6843-75C5-D40113C2D31F}"/>
              </a:ext>
            </a:extLst>
          </p:cNvPr>
          <p:cNvSpPr txBox="1"/>
          <p:nvPr/>
        </p:nvSpPr>
        <p:spPr>
          <a:xfrm>
            <a:off x="635000" y="736600"/>
            <a:ext cx="1092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Why more features can mean less information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6F77B0-EC63-6777-3410-C3E08D86E4E0}"/>
              </a:ext>
            </a:extLst>
          </p:cNvPr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urse of dimensionality part 1: Value at Risk">
            <a:extLst>
              <a:ext uri="{FF2B5EF4-FFF2-40B4-BE49-F238E27FC236}">
                <a16:creationId xmlns:a16="http://schemas.microsoft.com/office/drawing/2014/main" id="{FA07E460-E01C-833F-47B5-70D2CB3C1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769" y="1396651"/>
            <a:ext cx="5880795" cy="520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4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Distance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In high dimensions, "near" and "far" lose their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333333"/>
                </a:solidFill>
                <a:latin typeface="Arial"/>
              </a:rPr>
              <a:t>What breaks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666666"/>
                </a:solidFill>
                <a:latin typeface="Arial"/>
              </a:rPr>
              <a:t>Distance-based methods (k-NN, k-means, clustering) lose discriminating power — the contrast between nearest and furthest neighbor diminishes.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solidFill>
                  <a:srgbClr val="666666"/>
                </a:solidFill>
                <a:latin typeface="Arial"/>
              </a:rPr>
              <a:t>Reduce dimensions first (PCA, LDA, UMAP)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solidFill>
                  <a:srgbClr val="666666"/>
                </a:solidFill>
                <a:latin typeface="Arial"/>
              </a:rPr>
              <a:t>Use cosine similarity instead of Euclidean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solidFill>
                  <a:srgbClr val="666666"/>
                </a:solidFill>
                <a:latin typeface="Arial"/>
              </a:rPr>
              <a:t>Switch to tree-based models (Random Forest, XGBoost)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Rule of thumb: if your nearest neighbor and your farthest neighbor are within 10% of each other, distance is no longer a useful signal.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6D1AD-B0DF-8B47-9FE0-EF4069610BFE}"/>
              </a:ext>
            </a:extLst>
          </p:cNvPr>
          <p:cNvSpPr txBox="1"/>
          <p:nvPr/>
        </p:nvSpPr>
        <p:spPr>
          <a:xfrm>
            <a:off x="635000" y="1879600"/>
            <a:ext cx="51943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Low dimensions: distances vary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EFE6A2-85DE-7240-A2E5-551C2099A95E}"/>
              </a:ext>
            </a:extLst>
          </p:cNvPr>
          <p:cNvSpPr/>
          <p:nvPr/>
        </p:nvSpPr>
        <p:spPr>
          <a:xfrm>
            <a:off x="1143000" y="3149600"/>
            <a:ext cx="304800" cy="127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36ACA-F6C8-1141-A35E-29A3CBF387B1}"/>
              </a:ext>
            </a:extLst>
          </p:cNvPr>
          <p:cNvSpPr/>
          <p:nvPr/>
        </p:nvSpPr>
        <p:spPr>
          <a:xfrm>
            <a:off x="1524000" y="2997200"/>
            <a:ext cx="304800" cy="2794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FA686-87D0-C442-8868-535947B575E1}"/>
              </a:ext>
            </a:extLst>
          </p:cNvPr>
          <p:cNvSpPr/>
          <p:nvPr/>
        </p:nvSpPr>
        <p:spPr>
          <a:xfrm>
            <a:off x="1905000" y="2794000"/>
            <a:ext cx="304800" cy="482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1C0353-A6FD-0A48-BEB3-D97306F73E58}"/>
              </a:ext>
            </a:extLst>
          </p:cNvPr>
          <p:cNvSpPr/>
          <p:nvPr/>
        </p:nvSpPr>
        <p:spPr>
          <a:xfrm>
            <a:off x="2286000" y="2514600"/>
            <a:ext cx="304800" cy="762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631DC4-7F9F-3E4D-8839-6B82C1A1CF55}"/>
              </a:ext>
            </a:extLst>
          </p:cNvPr>
          <p:cNvSpPr/>
          <p:nvPr/>
        </p:nvSpPr>
        <p:spPr>
          <a:xfrm>
            <a:off x="2667000" y="2286000"/>
            <a:ext cx="304800" cy="990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C4ECC-468E-EB43-8371-B73E4C7A94C7}"/>
              </a:ext>
            </a:extLst>
          </p:cNvPr>
          <p:cNvSpPr/>
          <p:nvPr/>
        </p:nvSpPr>
        <p:spPr>
          <a:xfrm>
            <a:off x="3048000" y="2387600"/>
            <a:ext cx="304800" cy="889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7E4C50-0A78-204E-97AF-66D75A8A01A6}"/>
              </a:ext>
            </a:extLst>
          </p:cNvPr>
          <p:cNvSpPr/>
          <p:nvPr/>
        </p:nvSpPr>
        <p:spPr>
          <a:xfrm>
            <a:off x="3429000" y="2641600"/>
            <a:ext cx="304800" cy="635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B86E6-9551-DC45-B331-134142694776}"/>
              </a:ext>
            </a:extLst>
          </p:cNvPr>
          <p:cNvSpPr/>
          <p:nvPr/>
        </p:nvSpPr>
        <p:spPr>
          <a:xfrm>
            <a:off x="3810000" y="2895600"/>
            <a:ext cx="304800" cy="3810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0F6B5-8D2B-4546-8D5C-CD1143F83EA6}"/>
              </a:ext>
            </a:extLst>
          </p:cNvPr>
          <p:cNvSpPr/>
          <p:nvPr/>
        </p:nvSpPr>
        <p:spPr>
          <a:xfrm>
            <a:off x="4191000" y="3048000"/>
            <a:ext cx="304800" cy="228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5C9EBB-6114-4046-BF94-0EF08571B667}"/>
              </a:ext>
            </a:extLst>
          </p:cNvPr>
          <p:cNvSpPr/>
          <p:nvPr/>
        </p:nvSpPr>
        <p:spPr>
          <a:xfrm>
            <a:off x="4572000" y="3175000"/>
            <a:ext cx="304800" cy="101600"/>
          </a:xfrm>
          <a:prstGeom prst="rect">
            <a:avLst/>
          </a:prstGeom>
          <a:solidFill>
            <a:srgbClr val="8B7BB8"/>
          </a:solidFill>
          <a:ln w="63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528AD0-3685-884C-A225-A501B82005D1}"/>
              </a:ext>
            </a:extLst>
          </p:cNvPr>
          <p:cNvSpPr/>
          <p:nvPr/>
        </p:nvSpPr>
        <p:spPr>
          <a:xfrm>
            <a:off x="1016000" y="3276600"/>
            <a:ext cx="4572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1371A7-918D-1F44-BE5D-E9BF8DE9BE9B}"/>
              </a:ext>
            </a:extLst>
          </p:cNvPr>
          <p:cNvSpPr txBox="1"/>
          <p:nvPr/>
        </p:nvSpPr>
        <p:spPr>
          <a:xfrm>
            <a:off x="635000" y="3327400"/>
            <a:ext cx="51943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666666"/>
                </a:solidFill>
                <a:latin typeface="Arial"/>
                <a:cs typeface="Arial"/>
              </a:rPr>
              <a:t>pairwise distance 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E8A60-F090-8048-A724-802EA391A4B4}"/>
              </a:ext>
            </a:extLst>
          </p:cNvPr>
          <p:cNvSpPr txBox="1"/>
          <p:nvPr/>
        </p:nvSpPr>
        <p:spPr>
          <a:xfrm>
            <a:off x="635000" y="3683000"/>
            <a:ext cx="51943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High dimensions: distances collapse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E356E8-0D7E-CC4C-B956-D92B18C1666C}"/>
              </a:ext>
            </a:extLst>
          </p:cNvPr>
          <p:cNvSpPr/>
          <p:nvPr/>
        </p:nvSpPr>
        <p:spPr>
          <a:xfrm>
            <a:off x="1143000" y="5054600"/>
            <a:ext cx="304800" cy="254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EB738C-9BF7-2B4F-AA78-1F77D5C897F0}"/>
              </a:ext>
            </a:extLst>
          </p:cNvPr>
          <p:cNvSpPr/>
          <p:nvPr/>
        </p:nvSpPr>
        <p:spPr>
          <a:xfrm>
            <a:off x="1524000" y="5029200"/>
            <a:ext cx="304800" cy="508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E5AFE4-4BF9-6246-B760-59F30010914E}"/>
              </a:ext>
            </a:extLst>
          </p:cNvPr>
          <p:cNvSpPr/>
          <p:nvPr/>
        </p:nvSpPr>
        <p:spPr>
          <a:xfrm>
            <a:off x="1905000" y="4978400"/>
            <a:ext cx="304800" cy="1016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C06272-6B9C-684F-BB71-48452E6887CA}"/>
              </a:ext>
            </a:extLst>
          </p:cNvPr>
          <p:cNvSpPr/>
          <p:nvPr/>
        </p:nvSpPr>
        <p:spPr>
          <a:xfrm>
            <a:off x="2286000" y="4851400"/>
            <a:ext cx="304800" cy="2286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665D52-C34A-064A-A113-55B8BCD94467}"/>
              </a:ext>
            </a:extLst>
          </p:cNvPr>
          <p:cNvSpPr/>
          <p:nvPr/>
        </p:nvSpPr>
        <p:spPr>
          <a:xfrm>
            <a:off x="2667000" y="3937000"/>
            <a:ext cx="304800" cy="1143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0AC589-32D4-0C42-A914-3C0E27FA24AB}"/>
              </a:ext>
            </a:extLst>
          </p:cNvPr>
          <p:cNvSpPr/>
          <p:nvPr/>
        </p:nvSpPr>
        <p:spPr>
          <a:xfrm>
            <a:off x="3048000" y="4000500"/>
            <a:ext cx="304800" cy="10795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DEE90F-1D44-6341-9A95-67755D19EDFA}"/>
              </a:ext>
            </a:extLst>
          </p:cNvPr>
          <p:cNvSpPr/>
          <p:nvPr/>
        </p:nvSpPr>
        <p:spPr>
          <a:xfrm>
            <a:off x="3429000" y="4826000"/>
            <a:ext cx="304800" cy="254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F79233-334A-AC45-909E-4EAB85CE2C3D}"/>
              </a:ext>
            </a:extLst>
          </p:cNvPr>
          <p:cNvSpPr/>
          <p:nvPr/>
        </p:nvSpPr>
        <p:spPr>
          <a:xfrm>
            <a:off x="3810000" y="4953000"/>
            <a:ext cx="304800" cy="1270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50F251-5AF5-CC4E-B2BF-3F78ADFD146A}"/>
              </a:ext>
            </a:extLst>
          </p:cNvPr>
          <p:cNvSpPr/>
          <p:nvPr/>
        </p:nvSpPr>
        <p:spPr>
          <a:xfrm>
            <a:off x="4191000" y="5016500"/>
            <a:ext cx="304800" cy="635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3B2191-F5A8-5E43-B9EC-8A21BC7E6D3F}"/>
              </a:ext>
            </a:extLst>
          </p:cNvPr>
          <p:cNvSpPr/>
          <p:nvPr/>
        </p:nvSpPr>
        <p:spPr>
          <a:xfrm>
            <a:off x="4572000" y="5054600"/>
            <a:ext cx="304800" cy="25400"/>
          </a:xfrm>
          <a:prstGeom prst="rect">
            <a:avLst/>
          </a:prstGeom>
          <a:solidFill>
            <a:srgbClr val="4B2E83"/>
          </a:solidFill>
          <a:ln w="6350" cap="flat" cmpd="sng" algn="ctr">
            <a:solidFill>
              <a:srgbClr val="2E1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A83A8A-38BC-A148-9BD1-0079C06B58DD}"/>
              </a:ext>
            </a:extLst>
          </p:cNvPr>
          <p:cNvSpPr/>
          <p:nvPr/>
        </p:nvSpPr>
        <p:spPr>
          <a:xfrm>
            <a:off x="1016000" y="5080000"/>
            <a:ext cx="4572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555646-D1FF-E942-B9DF-5EB0C81CE4BD}"/>
              </a:ext>
            </a:extLst>
          </p:cNvPr>
          <p:cNvSpPr txBox="1"/>
          <p:nvPr/>
        </p:nvSpPr>
        <p:spPr>
          <a:xfrm>
            <a:off x="635000" y="5130800"/>
            <a:ext cx="51943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666666"/>
                </a:solidFill>
                <a:latin typeface="Arial"/>
                <a:cs typeface="Arial"/>
              </a:rPr>
              <a:t>pairwise distance →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B2E38E-96C8-4A43-A652-8304979C0CE8}"/>
              </a:ext>
            </a:extLst>
          </p:cNvPr>
          <p:cNvSpPr txBox="1"/>
          <p:nvPr/>
        </p:nvSpPr>
        <p:spPr>
          <a:xfrm>
            <a:off x="3556000" y="4038600"/>
            <a:ext cx="203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i="1">
                <a:solidFill>
                  <a:srgbClr val="4B2E83"/>
                </a:solidFill>
                <a:latin typeface="Arial"/>
                <a:cs typeface="Arial"/>
              </a:rPr>
              <a:t>nearly all distances
are the same</a:t>
            </a:r>
          </a:p>
        </p:txBody>
      </p:sp>
    </p:spTree>
    <p:extLst>
      <p:ext uri="{BB962C8B-B14F-4D97-AF65-F5344CB8AC3E}">
        <p14:creationId xmlns:p14="http://schemas.microsoft.com/office/powerpoint/2010/main" val="215519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02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02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Sparsity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The volume of high-dimensional space empties out faster than you can fill 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Arial"/>
              </a:rPr>
              <a:t>The exponential problem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666666"/>
                </a:solidFill>
                <a:latin typeface="Arial"/>
              </a:rPr>
              <a:t>Data needed to cover the sample space grows exponentially with dimensions — usually impractical to collect.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 algn="just">
              <a:spcAft>
                <a:spcPts val="300"/>
              </a:spcAft>
              <a:buFont typeface="Arial"/>
              <a:buChar char="•"/>
            </a:pPr>
            <a:r>
              <a:rPr lang="en-US" sz="2000" b="1" dirty="0">
                <a:solidFill>
                  <a:srgbClr val="666666"/>
                </a:solidFill>
                <a:latin typeface="Arial"/>
              </a:rPr>
              <a:t>Feature selection: </a:t>
            </a:r>
            <a:r>
              <a:rPr lang="en-US" sz="2000" dirty="0">
                <a:solidFill>
                  <a:srgbClr val="666666"/>
                </a:solidFill>
                <a:latin typeface="Arial"/>
              </a:rPr>
              <a:t>keep only the most relevant features (preserves interpretability)</a:t>
            </a:r>
          </a:p>
          <a:p>
            <a:pPr marL="171450" indent="-171450" algn="just">
              <a:spcAft>
                <a:spcPts val="300"/>
              </a:spcAft>
              <a:buFont typeface="Arial"/>
              <a:buChar char="•"/>
            </a:pPr>
            <a:r>
              <a:rPr lang="en-US" sz="2000" b="1" dirty="0">
                <a:solidFill>
                  <a:srgbClr val="666666"/>
                </a:solidFill>
                <a:latin typeface="Arial"/>
              </a:rPr>
              <a:t>Feature extraction: </a:t>
            </a:r>
            <a:r>
              <a:rPr lang="en-US" sz="2000" dirty="0">
                <a:solidFill>
                  <a:srgbClr val="666666"/>
                </a:solidFill>
                <a:latin typeface="Arial"/>
              </a:rPr>
              <a:t>project to a lower-D space via PCA / LDA (better performance, less interpretable)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Intuition flip: you don't have "too few data points" — you have "too much empty space."</a:t>
            </a:r>
          </a:p>
        </p:txBody>
      </p:sp>
      <p:sp>
        <p:nvSpPr>
          <p:cNvPr id="101" name="L1"/>
          <p:cNvSpPr/>
          <p:nvPr/>
        </p:nvSpPr>
        <p:spPr>
          <a:xfrm>
            <a:off x="571500" y="1866900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1D</a:t>
            </a:r>
          </a:p>
        </p:txBody>
      </p:sp>
      <p:sp>
        <p:nvSpPr>
          <p:cNvPr id="102" name="C1"/>
          <p:cNvSpPr/>
          <p:nvPr/>
        </p:nvSpPr>
        <p:spPr>
          <a:xfrm>
            <a:off x="571500" y="207645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cxnSp>
        <p:nvCxnSpPr>
          <p:cNvPr id="103" name="Ln1"/>
          <p:cNvCxnSpPr/>
          <p:nvPr/>
        </p:nvCxnSpPr>
        <p:spPr>
          <a:xfrm>
            <a:off x="1238250" y="1981200"/>
            <a:ext cx="3048000" cy="953"/>
          </a:xfrm>
          <a:prstGeom prst="line">
            <a:avLst/>
          </a:prstGeom>
          <a:ln w="12700">
            <a:solidFill>
              <a:srgbClr val="B7A57A"/>
            </a:solidFill>
          </a:ln>
        </p:spPr>
      </p:cxnSp>
      <p:sp>
        <p:nvSpPr>
          <p:cNvPr id="104" name="d1"/>
          <p:cNvSpPr/>
          <p:nvPr/>
        </p:nvSpPr>
        <p:spPr>
          <a:xfrm>
            <a:off x="132207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d1"/>
          <p:cNvSpPr/>
          <p:nvPr/>
        </p:nvSpPr>
        <p:spPr>
          <a:xfrm>
            <a:off x="159639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d1"/>
          <p:cNvSpPr/>
          <p:nvPr/>
        </p:nvSpPr>
        <p:spPr>
          <a:xfrm>
            <a:off x="18707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d1"/>
          <p:cNvSpPr/>
          <p:nvPr/>
        </p:nvSpPr>
        <p:spPr>
          <a:xfrm>
            <a:off x="21450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d1"/>
          <p:cNvSpPr/>
          <p:nvPr/>
        </p:nvSpPr>
        <p:spPr>
          <a:xfrm>
            <a:off x="24803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d1"/>
          <p:cNvSpPr/>
          <p:nvPr/>
        </p:nvSpPr>
        <p:spPr>
          <a:xfrm>
            <a:off x="27546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d1"/>
          <p:cNvSpPr/>
          <p:nvPr/>
        </p:nvSpPr>
        <p:spPr>
          <a:xfrm>
            <a:off x="305943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d1"/>
          <p:cNvSpPr/>
          <p:nvPr/>
        </p:nvSpPr>
        <p:spPr>
          <a:xfrm>
            <a:off x="339471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d1"/>
          <p:cNvSpPr/>
          <p:nvPr/>
        </p:nvSpPr>
        <p:spPr>
          <a:xfrm>
            <a:off x="376047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d1"/>
          <p:cNvSpPr/>
          <p:nvPr/>
        </p:nvSpPr>
        <p:spPr>
          <a:xfrm>
            <a:off x="4095750" y="1943100"/>
            <a:ext cx="76200" cy="76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L2"/>
          <p:cNvSpPr/>
          <p:nvPr/>
        </p:nvSpPr>
        <p:spPr>
          <a:xfrm>
            <a:off x="571500" y="2600325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2D</a:t>
            </a:r>
          </a:p>
        </p:txBody>
      </p:sp>
      <p:sp>
        <p:nvSpPr>
          <p:cNvPr id="115" name="C2"/>
          <p:cNvSpPr/>
          <p:nvPr/>
        </p:nvSpPr>
        <p:spPr>
          <a:xfrm>
            <a:off x="571500" y="2828925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sp>
        <p:nvSpPr>
          <p:cNvPr id="116" name="Sq2"/>
          <p:cNvSpPr/>
          <p:nvPr/>
        </p:nvSpPr>
        <p:spPr>
          <a:xfrm>
            <a:off x="1428750" y="2428875"/>
            <a:ext cx="7620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d2"/>
          <p:cNvSpPr/>
          <p:nvPr/>
        </p:nvSpPr>
        <p:spPr>
          <a:xfrm>
            <a:off x="1509713" y="25860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d2"/>
          <p:cNvSpPr/>
          <p:nvPr/>
        </p:nvSpPr>
        <p:spPr>
          <a:xfrm>
            <a:off x="1639253" y="29898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d2"/>
          <p:cNvSpPr/>
          <p:nvPr/>
        </p:nvSpPr>
        <p:spPr>
          <a:xfrm>
            <a:off x="1814513" y="25326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d2"/>
          <p:cNvSpPr/>
          <p:nvPr/>
        </p:nvSpPr>
        <p:spPr>
          <a:xfrm>
            <a:off x="1944053" y="286797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d2"/>
          <p:cNvSpPr/>
          <p:nvPr/>
        </p:nvSpPr>
        <p:spPr>
          <a:xfrm>
            <a:off x="2065973" y="26622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d2"/>
          <p:cNvSpPr/>
          <p:nvPr/>
        </p:nvSpPr>
        <p:spPr>
          <a:xfrm>
            <a:off x="1585913" y="28146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d2"/>
          <p:cNvSpPr/>
          <p:nvPr/>
        </p:nvSpPr>
        <p:spPr>
          <a:xfrm>
            <a:off x="1867853" y="306609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d2"/>
          <p:cNvSpPr/>
          <p:nvPr/>
        </p:nvSpPr>
        <p:spPr>
          <a:xfrm>
            <a:off x="1738313" y="27003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d2"/>
          <p:cNvSpPr/>
          <p:nvPr/>
        </p:nvSpPr>
        <p:spPr>
          <a:xfrm>
            <a:off x="2020253" y="29670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d2"/>
          <p:cNvSpPr/>
          <p:nvPr/>
        </p:nvSpPr>
        <p:spPr>
          <a:xfrm>
            <a:off x="1471613" y="3043238"/>
            <a:ext cx="66675" cy="66675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L3"/>
          <p:cNvSpPr/>
          <p:nvPr/>
        </p:nvSpPr>
        <p:spPr>
          <a:xfrm>
            <a:off x="571500" y="3719513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3D</a:t>
            </a:r>
          </a:p>
        </p:txBody>
      </p:sp>
      <p:sp>
        <p:nvSpPr>
          <p:cNvPr id="128" name="C3"/>
          <p:cNvSpPr/>
          <p:nvPr/>
        </p:nvSpPr>
        <p:spPr>
          <a:xfrm>
            <a:off x="571500" y="3948113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Arial"/>
              </a:rPr>
              <a:t>10 pts</a:t>
            </a:r>
          </a:p>
        </p:txBody>
      </p:sp>
      <p:sp>
        <p:nvSpPr>
          <p:cNvPr id="129" name="CubeF"/>
          <p:cNvSpPr/>
          <p:nvPr/>
        </p:nvSpPr>
        <p:spPr>
          <a:xfrm>
            <a:off x="1381125" y="3743325"/>
            <a:ext cx="904875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30" name="Te1"/>
          <p:cNvCxnSpPr/>
          <p:nvPr/>
        </p:nvCxnSpPr>
        <p:spPr>
          <a:xfrm flipV="1">
            <a:off x="1381125" y="3476625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1" name="Te2"/>
          <p:cNvCxnSpPr/>
          <p:nvPr/>
        </p:nvCxnSpPr>
        <p:spPr>
          <a:xfrm flipV="1">
            <a:off x="2286000" y="3476625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2" name="Te3"/>
          <p:cNvCxnSpPr/>
          <p:nvPr/>
        </p:nvCxnSpPr>
        <p:spPr>
          <a:xfrm>
            <a:off x="1647825" y="3476625"/>
            <a:ext cx="904875" cy="953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3" name="Re1"/>
          <p:cNvCxnSpPr/>
          <p:nvPr/>
        </p:nvCxnSpPr>
        <p:spPr>
          <a:xfrm>
            <a:off x="2552700" y="3476625"/>
            <a:ext cx="953" cy="904875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cxnSp>
        <p:nvCxnSpPr>
          <p:cNvPr id="134" name="Re2"/>
          <p:cNvCxnSpPr/>
          <p:nvPr/>
        </p:nvCxnSpPr>
        <p:spPr>
          <a:xfrm flipV="1">
            <a:off x="2311400" y="4381500"/>
            <a:ext cx="266700" cy="266700"/>
          </a:xfrm>
          <a:prstGeom prst="line">
            <a:avLst/>
          </a:prstGeom>
          <a:ln w="9525">
            <a:solidFill>
              <a:srgbClr val="B7A57A"/>
            </a:solidFill>
          </a:ln>
        </p:spPr>
      </p:cxnSp>
      <p:sp>
        <p:nvSpPr>
          <p:cNvPr id="135" name="d3"/>
          <p:cNvSpPr/>
          <p:nvPr/>
        </p:nvSpPr>
        <p:spPr>
          <a:xfrm>
            <a:off x="1640205" y="387953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d3"/>
          <p:cNvSpPr/>
          <p:nvPr/>
        </p:nvSpPr>
        <p:spPr>
          <a:xfrm>
            <a:off x="1948815" y="429482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d3"/>
          <p:cNvSpPr/>
          <p:nvPr/>
        </p:nvSpPr>
        <p:spPr>
          <a:xfrm>
            <a:off x="1927860" y="3953828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d3"/>
          <p:cNvSpPr/>
          <p:nvPr/>
        </p:nvSpPr>
        <p:spPr>
          <a:xfrm>
            <a:off x="2209800" y="3762375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d3"/>
          <p:cNvSpPr/>
          <p:nvPr/>
        </p:nvSpPr>
        <p:spPr>
          <a:xfrm>
            <a:off x="1568291" y="440388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d3"/>
          <p:cNvSpPr/>
          <p:nvPr/>
        </p:nvSpPr>
        <p:spPr>
          <a:xfrm>
            <a:off x="2036921" y="3890010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d3"/>
          <p:cNvSpPr/>
          <p:nvPr/>
        </p:nvSpPr>
        <p:spPr>
          <a:xfrm>
            <a:off x="2071211" y="4217670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d3"/>
          <p:cNvSpPr/>
          <p:nvPr/>
        </p:nvSpPr>
        <p:spPr>
          <a:xfrm>
            <a:off x="1864043" y="3610451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d3"/>
          <p:cNvSpPr/>
          <p:nvPr/>
        </p:nvSpPr>
        <p:spPr>
          <a:xfrm>
            <a:off x="2326958" y="432387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d3"/>
          <p:cNvSpPr/>
          <p:nvPr/>
        </p:nvSpPr>
        <p:spPr>
          <a:xfrm>
            <a:off x="1925003" y="4047173"/>
            <a:ext cx="57150" cy="5715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0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3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Nearest-Neighbor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When everyone is equally far, "nearest" is just noise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Arial"/>
              </a:rPr>
              <a:t>What breaks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666666"/>
                </a:solidFill>
                <a:latin typeface="Arial"/>
              </a:rPr>
              <a:t>k-NN, k-means and clustering rely on a meaningful gap between nearest and furthest neighbor. In </a:t>
            </a:r>
            <a:r>
              <a:rPr lang="en-US" sz="2000" b="1" dirty="0">
                <a:solidFill>
                  <a:srgbClr val="C00000"/>
                </a:solidFill>
                <a:latin typeface="Arial"/>
              </a:rPr>
              <a:t>high-D</a:t>
            </a:r>
            <a:r>
              <a:rPr lang="en-US" sz="2000" dirty="0">
                <a:solidFill>
                  <a:srgbClr val="666666"/>
                </a:solidFill>
                <a:latin typeface="Arial"/>
              </a:rPr>
              <a:t> that gap vanishes.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/>
              </a:rPr>
              <a:t>Reduce dimensions before applying distance methods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/>
              </a:rPr>
              <a:t>Pick metrics designed for high-D (cosine, Mahalanobis)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solidFill>
                  <a:srgbClr val="666666"/>
                </a:solidFill>
                <a:latin typeface="Arial"/>
              </a:rPr>
              <a:t>Use tree-based or kernel models that don't need raw distances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If your kNN classifier suddenly stops working when you add features, the geometry is fighting you — not your code.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740A8-5C0A-844F-A609-AD2926A339C9}"/>
              </a:ext>
            </a:extLst>
          </p:cNvPr>
          <p:cNvSpPr txBox="1"/>
          <p:nvPr/>
        </p:nvSpPr>
        <p:spPr>
          <a:xfrm>
            <a:off x="762000" y="1879600"/>
            <a:ext cx="2222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Low dimensions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69305C-0341-E54D-862C-28FDA186C1F0}"/>
              </a:ext>
            </a:extLst>
          </p:cNvPr>
          <p:cNvSpPr/>
          <p:nvPr/>
        </p:nvSpPr>
        <p:spPr>
          <a:xfrm>
            <a:off x="761314" y="2243554"/>
            <a:ext cx="22225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627BE1-0A08-0944-9584-2653C0E138F4}"/>
              </a:ext>
            </a:extLst>
          </p:cNvPr>
          <p:cNvSpPr/>
          <p:nvPr/>
        </p:nvSpPr>
        <p:spPr>
          <a:xfrm>
            <a:off x="1568450" y="3092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D9780D-02C1-2341-B72E-0ED73325DE75}"/>
              </a:ext>
            </a:extLst>
          </p:cNvPr>
          <p:cNvSpPr/>
          <p:nvPr/>
        </p:nvSpPr>
        <p:spPr>
          <a:xfrm>
            <a:off x="2012950" y="2965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2C5BE5D-3E06-004D-A9A9-8386C1347F7A}"/>
              </a:ext>
            </a:extLst>
          </p:cNvPr>
          <p:cNvSpPr/>
          <p:nvPr/>
        </p:nvSpPr>
        <p:spPr>
          <a:xfrm>
            <a:off x="2266950" y="3663950"/>
            <a:ext cx="101600" cy="101600"/>
          </a:xfrm>
          <a:prstGeom prst="ellipse">
            <a:avLst/>
          </a:prstGeom>
          <a:solidFill>
            <a:srgbClr val="8B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B3B887E-D069-0B4A-A2EB-43919B00E4AB}"/>
              </a:ext>
            </a:extLst>
          </p:cNvPr>
          <p:cNvSpPr/>
          <p:nvPr/>
        </p:nvSpPr>
        <p:spPr>
          <a:xfrm>
            <a:off x="1314450" y="3727450"/>
            <a:ext cx="101600" cy="101600"/>
          </a:xfrm>
          <a:prstGeom prst="ellipse">
            <a:avLst/>
          </a:prstGeom>
          <a:solidFill>
            <a:srgbClr val="8B7B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7F7C84-B3E4-4242-94A8-AF146CF5D842}"/>
              </a:ext>
            </a:extLst>
          </p:cNvPr>
          <p:cNvSpPr/>
          <p:nvPr/>
        </p:nvSpPr>
        <p:spPr>
          <a:xfrm>
            <a:off x="996950" y="26479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1CF5FF-C9D2-3E4E-AB30-51AD5DE85EF3}"/>
              </a:ext>
            </a:extLst>
          </p:cNvPr>
          <p:cNvSpPr/>
          <p:nvPr/>
        </p:nvSpPr>
        <p:spPr>
          <a:xfrm>
            <a:off x="2711450" y="25844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B58C76A-B80F-CF46-9955-13BFFA54F573}"/>
              </a:ext>
            </a:extLst>
          </p:cNvPr>
          <p:cNvSpPr/>
          <p:nvPr/>
        </p:nvSpPr>
        <p:spPr>
          <a:xfrm>
            <a:off x="2584450" y="41084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5BB9CC-62F4-6A4A-8216-FD961A3460D2}"/>
              </a:ext>
            </a:extLst>
          </p:cNvPr>
          <p:cNvSpPr/>
          <p:nvPr/>
        </p:nvSpPr>
        <p:spPr>
          <a:xfrm rot="-8587806">
            <a:off x="1576688" y="3228548"/>
            <a:ext cx="317500" cy="127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D3B4CE-2AD4-714A-943B-7B2CE5F63590}"/>
              </a:ext>
            </a:extLst>
          </p:cNvPr>
          <p:cNvSpPr/>
          <p:nvPr/>
        </p:nvSpPr>
        <p:spPr>
          <a:xfrm rot="-3542175">
            <a:off x="1780576" y="3154406"/>
            <a:ext cx="370265" cy="127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04AF85E-3D19-1242-AC37-625CEF6C8CB0}"/>
              </a:ext>
            </a:extLst>
          </p:cNvPr>
          <p:cNvSpPr/>
          <p:nvPr/>
        </p:nvSpPr>
        <p:spPr>
          <a:xfrm>
            <a:off x="933450" y="4044950"/>
            <a:ext cx="101600" cy="101600"/>
          </a:xfrm>
          <a:prstGeom prst="ellipse">
            <a:avLst/>
          </a:prstGeom>
          <a:solidFill>
            <a:srgbClr val="B5A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23FD0-2CD2-494B-A4CF-6DD6AEE6C2C1}"/>
              </a:ext>
            </a:extLst>
          </p:cNvPr>
          <p:cNvSpPr txBox="1"/>
          <p:nvPr/>
        </p:nvSpPr>
        <p:spPr>
          <a:xfrm>
            <a:off x="762000" y="4495800"/>
            <a:ext cx="2222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i="1">
                <a:solidFill>
                  <a:srgbClr val="666666"/>
                </a:solidFill>
                <a:latin typeface="Arial"/>
                <a:cs typeface="Arial"/>
              </a:rPr>
              <a:t>clear nearest neighbors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612142-93D6-E743-8661-8C78016B3D44}"/>
              </a:ext>
            </a:extLst>
          </p:cNvPr>
          <p:cNvSpPr txBox="1"/>
          <p:nvPr/>
        </p:nvSpPr>
        <p:spPr>
          <a:xfrm>
            <a:off x="3302000" y="1879600"/>
            <a:ext cx="2222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High dimensions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CB29E6-0CC9-FD4E-BC88-0D2D6A95D49E}"/>
              </a:ext>
            </a:extLst>
          </p:cNvPr>
          <p:cNvSpPr/>
          <p:nvPr/>
        </p:nvSpPr>
        <p:spPr>
          <a:xfrm>
            <a:off x="3302000" y="2222500"/>
            <a:ext cx="2222500" cy="2222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78DB67-7898-A547-A39F-C256BB2F4CD4}"/>
              </a:ext>
            </a:extLst>
          </p:cNvPr>
          <p:cNvSpPr/>
          <p:nvPr/>
        </p:nvSpPr>
        <p:spPr>
          <a:xfrm>
            <a:off x="3587750" y="2508250"/>
            <a:ext cx="1651000" cy="1651000"/>
          </a:xfrm>
          <a:prstGeom prst="ellipse">
            <a:avLst/>
          </a:prstGeom>
          <a:noFill/>
          <a:ln w="19050" cap="flat" cmpd="sng" algn="ctr">
            <a:solidFill>
              <a:srgbClr val="8B7BB8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406A8A-E234-0342-8F8D-DF0240338DAA}"/>
              </a:ext>
            </a:extLst>
          </p:cNvPr>
          <p:cNvSpPr/>
          <p:nvPr/>
        </p:nvSpPr>
        <p:spPr>
          <a:xfrm>
            <a:off x="4349750" y="3270250"/>
            <a:ext cx="127000" cy="127000"/>
          </a:xfrm>
          <a:prstGeom prst="ellipse">
            <a:avLst/>
          </a:prstGeom>
          <a:solidFill>
            <a:srgbClr val="E74C3C"/>
          </a:solidFill>
          <a:ln w="12700" cap="flat" cmpd="sng" algn="ctr">
            <a:solidFill>
              <a:srgbClr val="B33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81D6E0C-D49C-0141-94EA-394544F3499F}"/>
              </a:ext>
            </a:extLst>
          </p:cNvPr>
          <p:cNvSpPr/>
          <p:nvPr/>
        </p:nvSpPr>
        <p:spPr>
          <a:xfrm>
            <a:off x="5187950" y="32829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8687EB5-84BF-BC46-BBAF-2392014CA672}"/>
              </a:ext>
            </a:extLst>
          </p:cNvPr>
          <p:cNvSpPr/>
          <p:nvPr/>
        </p:nvSpPr>
        <p:spPr>
          <a:xfrm>
            <a:off x="4946166" y="3866666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CECD74-0158-8A46-A62D-61CFE918F2B5}"/>
              </a:ext>
            </a:extLst>
          </p:cNvPr>
          <p:cNvSpPr/>
          <p:nvPr/>
        </p:nvSpPr>
        <p:spPr>
          <a:xfrm>
            <a:off x="4362450" y="4108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F167469-4022-5D49-9C8A-36ADAD5459A5}"/>
              </a:ext>
            </a:extLst>
          </p:cNvPr>
          <p:cNvSpPr/>
          <p:nvPr/>
        </p:nvSpPr>
        <p:spPr>
          <a:xfrm>
            <a:off x="3778733" y="3866666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72228A-B5DE-0E43-95E6-A95DD07090D6}"/>
              </a:ext>
            </a:extLst>
          </p:cNvPr>
          <p:cNvSpPr/>
          <p:nvPr/>
        </p:nvSpPr>
        <p:spPr>
          <a:xfrm rot="10800000">
            <a:off x="4017834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4839D7-6E35-D94D-8EC0-4A2916B50958}"/>
              </a:ext>
            </a:extLst>
          </p:cNvPr>
          <p:cNvSpPr/>
          <p:nvPr/>
        </p:nvSpPr>
        <p:spPr>
          <a:xfrm>
            <a:off x="3536950" y="32829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15D79B-941E-8641-8C8A-4009606EDAE0}"/>
              </a:ext>
            </a:extLst>
          </p:cNvPr>
          <p:cNvSpPr/>
          <p:nvPr/>
        </p:nvSpPr>
        <p:spPr>
          <a:xfrm rot="-8100000">
            <a:off x="4017834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8A4277-400E-1A49-81E7-0D8B64A0A830}"/>
              </a:ext>
            </a:extLst>
          </p:cNvPr>
          <p:cNvSpPr/>
          <p:nvPr/>
        </p:nvSpPr>
        <p:spPr>
          <a:xfrm>
            <a:off x="3778733" y="2699233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A31384-075C-8645-A29D-142C973B322E}"/>
              </a:ext>
            </a:extLst>
          </p:cNvPr>
          <p:cNvSpPr/>
          <p:nvPr/>
        </p:nvSpPr>
        <p:spPr>
          <a:xfrm rot="-5400000">
            <a:off x="4017834" y="3327400"/>
            <a:ext cx="825500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28DE09F-27C7-3148-876A-B9B241277050}"/>
              </a:ext>
            </a:extLst>
          </p:cNvPr>
          <p:cNvSpPr/>
          <p:nvPr/>
        </p:nvSpPr>
        <p:spPr>
          <a:xfrm>
            <a:off x="4362450" y="245745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37A4ED-0F27-1548-97FF-9E063E2E7B2A}"/>
              </a:ext>
            </a:extLst>
          </p:cNvPr>
          <p:cNvSpPr/>
          <p:nvPr/>
        </p:nvSpPr>
        <p:spPr>
          <a:xfrm rot="-2700000">
            <a:off x="4017834" y="3327400"/>
            <a:ext cx="825499" cy="12700"/>
          </a:xfrm>
          <a:prstGeom prst="rect">
            <a:avLst/>
          </a:prstGeom>
          <a:solidFill>
            <a:srgbClr val="D5CC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C299D43-0124-5547-B740-81BC60C1E5CC}"/>
              </a:ext>
            </a:extLst>
          </p:cNvPr>
          <p:cNvSpPr/>
          <p:nvPr/>
        </p:nvSpPr>
        <p:spPr>
          <a:xfrm>
            <a:off x="4946166" y="2699233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0F9621-D95D-B146-B4E3-646AC26D0C76}"/>
              </a:ext>
            </a:extLst>
          </p:cNvPr>
          <p:cNvSpPr txBox="1"/>
          <p:nvPr/>
        </p:nvSpPr>
        <p:spPr>
          <a:xfrm>
            <a:off x="3302000" y="4495800"/>
            <a:ext cx="22225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i="1">
                <a:solidFill>
                  <a:srgbClr val="666666"/>
                </a:solidFill>
                <a:latin typeface="Arial"/>
                <a:cs typeface="Arial"/>
              </a:rPr>
              <a:t>all points ≈ equidistant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5AF29E-FCB9-D147-BC5E-CE6274BC66BB}"/>
              </a:ext>
            </a:extLst>
          </p:cNvPr>
          <p:cNvSpPr/>
          <p:nvPr/>
        </p:nvSpPr>
        <p:spPr>
          <a:xfrm>
            <a:off x="1809750" y="3270250"/>
            <a:ext cx="127000" cy="127000"/>
          </a:xfrm>
          <a:prstGeom prst="ellipse">
            <a:avLst/>
          </a:prstGeom>
          <a:solidFill>
            <a:srgbClr val="E74C3C"/>
          </a:solidFill>
          <a:ln w="12700" cap="flat" cmpd="sng" algn="ctr">
            <a:solidFill>
              <a:srgbClr val="B3302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0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13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13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Overfitting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With enough features, a model can memorize anything — including noise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VISUAL INTUITION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PRACTICAL 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Arial"/>
              </a:rPr>
              <a:t>Why it happens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666666"/>
                </a:solidFill>
                <a:latin typeface="Arial"/>
              </a:rPr>
              <a:t>More features = more model complexity. The model starts learning noise instead of signal, so it nails training data but fails on new data.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Arial"/>
              </a:rPr>
              <a:t>What to do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b="1" dirty="0">
                <a:solidFill>
                  <a:srgbClr val="666666"/>
                </a:solidFill>
                <a:latin typeface="Arial"/>
              </a:rPr>
              <a:t>Regularization: </a:t>
            </a:r>
            <a:r>
              <a:rPr lang="en-US" sz="2000" dirty="0">
                <a:solidFill>
                  <a:srgbClr val="666666"/>
                </a:solidFill>
                <a:latin typeface="Arial"/>
              </a:rPr>
              <a:t>Lasso (L₁) and Ridge (L₂) penalize large coefficients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b="1" dirty="0">
                <a:solidFill>
                  <a:srgbClr val="666666"/>
                </a:solidFill>
                <a:latin typeface="Arial"/>
              </a:rPr>
              <a:t>Robust models: </a:t>
            </a:r>
            <a:r>
              <a:rPr lang="en-US" sz="2000" dirty="0">
                <a:solidFill>
                  <a:srgbClr val="666666"/>
                </a:solidFill>
                <a:latin typeface="Arial"/>
              </a:rPr>
              <a:t>Random Forests handle high-D well via built-in feature selection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2000" b="1" dirty="0">
                <a:solidFill>
                  <a:srgbClr val="666666"/>
                </a:solidFill>
                <a:latin typeface="Arial"/>
              </a:rPr>
              <a:t>Preprocess: </a:t>
            </a:r>
            <a:r>
              <a:rPr lang="en-US" sz="2000" dirty="0">
                <a:solidFill>
                  <a:srgbClr val="666666"/>
                </a:solidFill>
                <a:latin typeface="Arial"/>
              </a:rPr>
              <a:t>normalize and standardize so no single feature dominates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If training accuracy is 99% and test accuracy is 60%, the curse isn't in your model — it's in your feature count.</a:t>
            </a:r>
          </a:p>
        </p:txBody>
      </p:sp>
      <p:cxnSp>
        <p:nvCxnSpPr>
          <p:cNvPr id="201" name="Axx"/>
          <p:cNvCxnSpPr>
            <a:cxnSpLocks/>
          </p:cNvCxnSpPr>
          <p:nvPr/>
        </p:nvCxnSpPr>
        <p:spPr>
          <a:xfrm>
            <a:off x="1443424" y="4265400"/>
            <a:ext cx="3429000" cy="953"/>
          </a:xfrm>
          <a:prstGeom prst="line">
            <a:avLst/>
          </a:prstGeom>
          <a:ln w="9525">
            <a:solidFill>
              <a:srgbClr val="999999"/>
            </a:solidFill>
          </a:ln>
        </p:spPr>
      </p:cxnSp>
      <p:cxnSp>
        <p:nvCxnSpPr>
          <p:cNvPr id="202" name="Axy"/>
          <p:cNvCxnSpPr>
            <a:cxnSpLocks/>
          </p:cNvCxnSpPr>
          <p:nvPr/>
        </p:nvCxnSpPr>
        <p:spPr>
          <a:xfrm>
            <a:off x="714375" y="1762125"/>
            <a:ext cx="953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</p:cxnSp>
      <p:sp>
        <p:nvSpPr>
          <p:cNvPr id="203" name="XLab"/>
          <p:cNvSpPr/>
          <p:nvPr/>
        </p:nvSpPr>
        <p:spPr>
          <a:xfrm>
            <a:off x="1443424" y="4303500"/>
            <a:ext cx="342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000" dirty="0">
                <a:solidFill>
                  <a:srgbClr val="888888"/>
                </a:solidFill>
                <a:latin typeface="Arial"/>
              </a:rPr>
              <a:t>x (feature)</a:t>
            </a:r>
          </a:p>
        </p:txBody>
      </p:sp>
      <p:sp>
        <p:nvSpPr>
          <p:cNvPr id="204" name="GoodFit"/>
          <p:cNvSpPr/>
          <p:nvPr/>
        </p:nvSpPr>
        <p:spPr>
          <a:xfrm>
            <a:off x="1443424" y="2710939"/>
            <a:ext cx="3429000" cy="1030586"/>
          </a:xfrm>
          <a:custGeom>
            <a:avLst/>
            <a:gdLst/>
            <a:ahLst/>
            <a:cxnLst/>
            <a:rect l="0" t="0" r="0" b="0"/>
            <a:pathLst>
              <a:path w="3429000" h="1030586">
                <a:moveTo>
                  <a:pt x="0" y="1030586"/>
                </a:moveTo>
                <a:lnTo>
                  <a:pt x="57150" y="991854"/>
                </a:lnTo>
                <a:lnTo>
                  <a:pt x="114300" y="953296"/>
                </a:lnTo>
                <a:lnTo>
                  <a:pt x="171450" y="915082"/>
                </a:lnTo>
                <a:lnTo>
                  <a:pt x="228600" y="877382"/>
                </a:lnTo>
                <a:lnTo>
                  <a:pt x="285750" y="840360"/>
                </a:lnTo>
                <a:lnTo>
                  <a:pt x="342900" y="804174"/>
                </a:lnTo>
                <a:lnTo>
                  <a:pt x="400050" y="768975"/>
                </a:lnTo>
                <a:lnTo>
                  <a:pt x="457200" y="734904"/>
                </a:lnTo>
                <a:lnTo>
                  <a:pt x="514350" y="702094"/>
                </a:lnTo>
                <a:lnTo>
                  <a:pt x="571500" y="670665"/>
                </a:lnTo>
                <a:lnTo>
                  <a:pt x="628650" y="640725"/>
                </a:lnTo>
                <a:lnTo>
                  <a:pt x="685800" y="612371"/>
                </a:lnTo>
                <a:lnTo>
                  <a:pt x="742950" y="585683"/>
                </a:lnTo>
                <a:lnTo>
                  <a:pt x="800100" y="560727"/>
                </a:lnTo>
                <a:lnTo>
                  <a:pt x="857250" y="537555"/>
                </a:lnTo>
                <a:lnTo>
                  <a:pt x="914400" y="516201"/>
                </a:lnTo>
                <a:lnTo>
                  <a:pt x="971550" y="496685"/>
                </a:lnTo>
                <a:lnTo>
                  <a:pt x="1028700" y="479010"/>
                </a:lnTo>
                <a:lnTo>
                  <a:pt x="1085850" y="463162"/>
                </a:lnTo>
                <a:lnTo>
                  <a:pt x="1143000" y="449110"/>
                </a:lnTo>
                <a:lnTo>
                  <a:pt x="1200150" y="436810"/>
                </a:lnTo>
                <a:lnTo>
                  <a:pt x="1257300" y="426200"/>
                </a:lnTo>
                <a:lnTo>
                  <a:pt x="1314450" y="417203"/>
                </a:lnTo>
                <a:lnTo>
                  <a:pt x="1371600" y="409730"/>
                </a:lnTo>
                <a:lnTo>
                  <a:pt x="1428750" y="403675"/>
                </a:lnTo>
                <a:lnTo>
                  <a:pt x="1485900" y="398922"/>
                </a:lnTo>
                <a:lnTo>
                  <a:pt x="1543050" y="395343"/>
                </a:lnTo>
                <a:lnTo>
                  <a:pt x="1600200" y="392799"/>
                </a:lnTo>
                <a:lnTo>
                  <a:pt x="1657350" y="391142"/>
                </a:lnTo>
                <a:lnTo>
                  <a:pt x="1714500" y="390217"/>
                </a:lnTo>
                <a:lnTo>
                  <a:pt x="1771650" y="389860"/>
                </a:lnTo>
                <a:lnTo>
                  <a:pt x="1828800" y="389905"/>
                </a:lnTo>
                <a:lnTo>
                  <a:pt x="1885950" y="390181"/>
                </a:lnTo>
                <a:lnTo>
                  <a:pt x="1943100" y="390515"/>
                </a:lnTo>
                <a:lnTo>
                  <a:pt x="2000250" y="390733"/>
                </a:lnTo>
                <a:lnTo>
                  <a:pt x="2057400" y="390663"/>
                </a:lnTo>
                <a:lnTo>
                  <a:pt x="2114550" y="390135"/>
                </a:lnTo>
                <a:lnTo>
                  <a:pt x="2171700" y="388984"/>
                </a:lnTo>
                <a:lnTo>
                  <a:pt x="2228850" y="387048"/>
                </a:lnTo>
                <a:lnTo>
                  <a:pt x="2286000" y="384175"/>
                </a:lnTo>
                <a:lnTo>
                  <a:pt x="2343150" y="380220"/>
                </a:lnTo>
                <a:lnTo>
                  <a:pt x="2400300" y="375047"/>
                </a:lnTo>
                <a:lnTo>
                  <a:pt x="2457450" y="368531"/>
                </a:lnTo>
                <a:lnTo>
                  <a:pt x="2514600" y="360561"/>
                </a:lnTo>
                <a:lnTo>
                  <a:pt x="2571750" y="351036"/>
                </a:lnTo>
                <a:lnTo>
                  <a:pt x="2628900" y="339870"/>
                </a:lnTo>
                <a:lnTo>
                  <a:pt x="2686050" y="326992"/>
                </a:lnTo>
                <a:lnTo>
                  <a:pt x="2743200" y="312346"/>
                </a:lnTo>
                <a:lnTo>
                  <a:pt x="2800350" y="295891"/>
                </a:lnTo>
                <a:lnTo>
                  <a:pt x="2857500" y="277603"/>
                </a:lnTo>
                <a:lnTo>
                  <a:pt x="2914650" y="257474"/>
                </a:lnTo>
                <a:lnTo>
                  <a:pt x="2971800" y="235511"/>
                </a:lnTo>
                <a:lnTo>
                  <a:pt x="3028950" y="211740"/>
                </a:lnTo>
                <a:lnTo>
                  <a:pt x="3086100" y="186200"/>
                </a:lnTo>
                <a:lnTo>
                  <a:pt x="3143250" y="158948"/>
                </a:lnTo>
                <a:lnTo>
                  <a:pt x="3200400" y="130056"/>
                </a:lnTo>
                <a:lnTo>
                  <a:pt x="3257550" y="99609"/>
                </a:lnTo>
                <a:lnTo>
                  <a:pt x="3314700" y="67707"/>
                </a:lnTo>
                <a:lnTo>
                  <a:pt x="3371850" y="34462"/>
                </a:lnTo>
                <a:lnTo>
                  <a:pt x="3429000" y="0"/>
                </a:lnTo>
              </a:path>
            </a:pathLst>
          </a:custGeom>
          <a:noFill/>
          <a:ln w="28000" cap="rnd">
            <a:solidFill>
              <a:srgbClr val="00A7B5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5" name="Overfit"/>
          <p:cNvSpPr/>
          <p:nvPr/>
        </p:nvSpPr>
        <p:spPr>
          <a:xfrm>
            <a:off x="1443424" y="2798664"/>
            <a:ext cx="3429000" cy="938464"/>
          </a:xfrm>
          <a:custGeom>
            <a:avLst/>
            <a:gdLst/>
            <a:ahLst/>
            <a:cxnLst/>
            <a:rect l="0" t="0" r="0" b="0"/>
            <a:pathLst>
              <a:path w="3429000" h="938464">
                <a:moveTo>
                  <a:pt x="0" y="938464"/>
                </a:moveTo>
                <a:lnTo>
                  <a:pt x="142875" y="843214"/>
                </a:lnTo>
                <a:lnTo>
                  <a:pt x="285750" y="897122"/>
                </a:lnTo>
                <a:lnTo>
                  <a:pt x="428625" y="684330"/>
                </a:lnTo>
                <a:lnTo>
                  <a:pt x="571500" y="400264"/>
                </a:lnTo>
                <a:lnTo>
                  <a:pt x="714375" y="382897"/>
                </a:lnTo>
                <a:lnTo>
                  <a:pt x="857250" y="482069"/>
                </a:lnTo>
                <a:lnTo>
                  <a:pt x="1000125" y="314541"/>
                </a:lnTo>
                <a:lnTo>
                  <a:pt x="1143000" y="181344"/>
                </a:lnTo>
                <a:lnTo>
                  <a:pt x="1285875" y="314847"/>
                </a:lnTo>
                <a:lnTo>
                  <a:pt x="1428750" y="444950"/>
                </a:lnTo>
                <a:lnTo>
                  <a:pt x="1571625" y="308353"/>
                </a:lnTo>
                <a:lnTo>
                  <a:pt x="1714500" y="101727"/>
                </a:lnTo>
                <a:lnTo>
                  <a:pt x="1857375" y="161801"/>
                </a:lnTo>
                <a:lnTo>
                  <a:pt x="2000250" y="428365"/>
                </a:lnTo>
                <a:lnTo>
                  <a:pt x="2143125" y="428228"/>
                </a:lnTo>
                <a:lnTo>
                  <a:pt x="2286000" y="237789"/>
                </a:lnTo>
                <a:lnTo>
                  <a:pt x="2428875" y="314049"/>
                </a:lnTo>
                <a:lnTo>
                  <a:pt x="2571750" y="391594"/>
                </a:lnTo>
                <a:lnTo>
                  <a:pt x="2714625" y="202439"/>
                </a:lnTo>
                <a:lnTo>
                  <a:pt x="2857500" y="0"/>
                </a:lnTo>
                <a:lnTo>
                  <a:pt x="3000375" y="64261"/>
                </a:lnTo>
                <a:lnTo>
                  <a:pt x="3143250" y="210416"/>
                </a:lnTo>
                <a:lnTo>
                  <a:pt x="3286125" y="89870"/>
                </a:lnTo>
                <a:lnTo>
                  <a:pt x="3429000" y="13670"/>
                </a:lnTo>
              </a:path>
            </a:pathLst>
          </a:custGeom>
          <a:noFill/>
          <a:ln w="22000" cap="rnd">
            <a:solidFill>
              <a:srgbClr val="D1578A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6" name="pt"/>
          <p:cNvSpPr/>
          <p:nvPr/>
        </p:nvSpPr>
        <p:spPr>
          <a:xfrm>
            <a:off x="1548199" y="3603778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7" name="pt"/>
          <p:cNvSpPr/>
          <p:nvPr/>
        </p:nvSpPr>
        <p:spPr>
          <a:xfrm>
            <a:off x="1833949" y="3444894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8" name="pt"/>
          <p:cNvSpPr/>
          <p:nvPr/>
        </p:nvSpPr>
        <p:spPr>
          <a:xfrm>
            <a:off x="2119699" y="3143462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pt"/>
          <p:cNvSpPr/>
          <p:nvPr/>
        </p:nvSpPr>
        <p:spPr>
          <a:xfrm>
            <a:off x="2405449" y="3075105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" name="pt"/>
          <p:cNvSpPr/>
          <p:nvPr/>
        </p:nvSpPr>
        <p:spPr>
          <a:xfrm>
            <a:off x="2691199" y="3075412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" name="pt"/>
          <p:cNvSpPr/>
          <p:nvPr/>
        </p:nvSpPr>
        <p:spPr>
          <a:xfrm>
            <a:off x="2976949" y="3068918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" name="pt"/>
          <p:cNvSpPr/>
          <p:nvPr/>
        </p:nvSpPr>
        <p:spPr>
          <a:xfrm>
            <a:off x="3262699" y="2922366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3" name="pt"/>
          <p:cNvSpPr/>
          <p:nvPr/>
        </p:nvSpPr>
        <p:spPr>
          <a:xfrm>
            <a:off x="3548449" y="3188792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4" name="pt"/>
          <p:cNvSpPr/>
          <p:nvPr/>
        </p:nvSpPr>
        <p:spPr>
          <a:xfrm>
            <a:off x="3834199" y="3074613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" name="pt"/>
          <p:cNvSpPr/>
          <p:nvPr/>
        </p:nvSpPr>
        <p:spPr>
          <a:xfrm>
            <a:off x="4119949" y="2963003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6" name="pt"/>
          <p:cNvSpPr/>
          <p:nvPr/>
        </p:nvSpPr>
        <p:spPr>
          <a:xfrm>
            <a:off x="4405699" y="2824826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7" name="pt"/>
          <p:cNvSpPr/>
          <p:nvPr/>
        </p:nvSpPr>
        <p:spPr>
          <a:xfrm>
            <a:off x="4691449" y="2850435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18" name="LgL1"/>
          <p:cNvCxnSpPr>
            <a:cxnSpLocks/>
          </p:cNvCxnSpPr>
          <p:nvPr/>
        </p:nvCxnSpPr>
        <p:spPr>
          <a:xfrm>
            <a:off x="1491049" y="2503275"/>
            <a:ext cx="228600" cy="953"/>
          </a:xfrm>
          <a:prstGeom prst="line">
            <a:avLst/>
          </a:prstGeom>
          <a:ln w="28000">
            <a:solidFill>
              <a:srgbClr val="00A7B5"/>
            </a:solidFill>
          </a:ln>
        </p:spPr>
      </p:cxnSp>
      <p:sp>
        <p:nvSpPr>
          <p:cNvPr id="219" name="LgT1"/>
          <p:cNvSpPr/>
          <p:nvPr/>
        </p:nvSpPr>
        <p:spPr>
          <a:xfrm>
            <a:off x="1770449" y="2414375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Good fit</a:t>
            </a:r>
          </a:p>
        </p:txBody>
      </p:sp>
      <p:cxnSp>
        <p:nvCxnSpPr>
          <p:cNvPr id="220" name="LgL2"/>
          <p:cNvCxnSpPr>
            <a:cxnSpLocks/>
          </p:cNvCxnSpPr>
          <p:nvPr/>
        </p:nvCxnSpPr>
        <p:spPr>
          <a:xfrm>
            <a:off x="2735649" y="2503275"/>
            <a:ext cx="228600" cy="953"/>
          </a:xfrm>
          <a:prstGeom prst="line">
            <a:avLst/>
          </a:prstGeom>
          <a:ln w="22000">
            <a:solidFill>
              <a:srgbClr val="D1578A"/>
            </a:solidFill>
          </a:ln>
        </p:spPr>
      </p:cxnSp>
      <p:sp>
        <p:nvSpPr>
          <p:cNvPr id="221" name="LgT2"/>
          <p:cNvSpPr/>
          <p:nvPr/>
        </p:nvSpPr>
        <p:spPr>
          <a:xfrm>
            <a:off x="3015049" y="2414375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Overfit</a:t>
            </a:r>
          </a:p>
        </p:txBody>
      </p:sp>
      <p:sp>
        <p:nvSpPr>
          <p:cNvPr id="222" name="LgD"/>
          <p:cNvSpPr/>
          <p:nvPr/>
        </p:nvSpPr>
        <p:spPr>
          <a:xfrm>
            <a:off x="3980249" y="2465175"/>
            <a:ext cx="76200" cy="76200"/>
          </a:xfrm>
          <a:prstGeom prst="ellipse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3" name="LgT3"/>
          <p:cNvSpPr/>
          <p:nvPr/>
        </p:nvSpPr>
        <p:spPr>
          <a:xfrm>
            <a:off x="4094549" y="2414375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Data</a:t>
            </a:r>
          </a:p>
        </p:txBody>
      </p:sp>
      <p:sp>
        <p:nvSpPr>
          <p:cNvPr id="224" name="Cap"/>
          <p:cNvSpPr/>
          <p:nvPr/>
        </p:nvSpPr>
        <p:spPr>
          <a:xfrm>
            <a:off x="1443424" y="4474950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100" dirty="0">
                <a:solidFill>
                  <a:srgbClr val="555555"/>
                </a:solidFill>
                <a:latin typeface="Arial"/>
              </a:rPr>
              <a:t>The wiggly pink curve fits every training point — including the noise — and will fail on new data.</a:t>
            </a:r>
          </a:p>
        </p:txBody>
      </p:sp>
    </p:spTree>
    <p:extLst>
      <p:ext uri="{BB962C8B-B14F-4D97-AF65-F5344CB8AC3E}">
        <p14:creationId xmlns:p14="http://schemas.microsoft.com/office/powerpoint/2010/main" val="35308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84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84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9B52-A62F-670E-02CA-DD0AD2DD9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97D08E-9FB2-CF95-994A-806AEE9956C5}"/>
              </a:ext>
            </a:extLst>
          </p:cNvPr>
          <p:cNvSpPr txBox="1"/>
          <p:nvPr/>
        </p:nvSpPr>
        <p:spPr>
          <a:xfrm>
            <a:off x="1005840" y="2560320"/>
            <a:ext cx="9290304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Curse of
Dimensionality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F7526-C8CD-0BE0-5CD1-F09B7E7220AF}"/>
              </a:ext>
            </a:extLst>
          </p:cNvPr>
          <p:cNvSpPr/>
          <p:nvPr/>
        </p:nvSpPr>
        <p:spPr>
          <a:xfrm>
            <a:off x="4114800" y="4236720"/>
            <a:ext cx="301752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95014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tting Data ready for modelling: Feature engineering, Feature Selection,  Dimension Reduction (Part two)">
            <a:extLst>
              <a:ext uri="{FF2B5EF4-FFF2-40B4-BE49-F238E27FC236}">
                <a16:creationId xmlns:a16="http://schemas.microsoft.com/office/drawing/2014/main" id="{CE624C1D-743C-625E-425F-714F56B55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254000"/>
            <a:ext cx="10922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2E83"/>
                </a:solidFill>
                <a:latin typeface="Arial"/>
              </a:rPr>
              <a:t>What Is the Curse of Dimensionality?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736600"/>
            <a:ext cx="1092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666666"/>
                </a:solidFill>
                <a:latin typeface="Arial"/>
              </a:rPr>
              <a:t>Why more features can mean less information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5000" y="1117600"/>
            <a:ext cx="1092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350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DEFINITION &amp; INTUITION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828800"/>
            <a:ext cx="51943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333333"/>
                </a:solidFill>
                <a:latin typeface="Arial"/>
              </a:rPr>
              <a:t>Distance concentration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As dimensions grow, all pairwise distances converge — max ≈ min.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Sparsity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Data points become isolated; need exponentially more data to fill the space.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Nearest-neighbor breakdown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When all points are equidistant, 'nearest' is meaningless.</a:t>
            </a:r>
          </a:p>
          <a:p>
            <a:r>
              <a:rPr b="1" dirty="0">
                <a:solidFill>
                  <a:srgbClr val="333333"/>
                </a:solidFill>
                <a:latin typeface="Arial"/>
              </a:rPr>
              <a:t>Overfitting risk</a:t>
            </a:r>
          </a:p>
          <a:p>
            <a:r>
              <a:rPr dirty="0">
                <a:solidFill>
                  <a:srgbClr val="666666"/>
                </a:solidFill>
                <a:latin typeface="Arial"/>
              </a:rPr>
              <a:t>Many features + few samples = model finds spurious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7300" y="1244600"/>
            <a:ext cx="5194300" cy="5080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WHEN TO WORRY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7300" y="1828800"/>
            <a:ext cx="51943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333333"/>
                </a:solidFill>
                <a:latin typeface="Arial"/>
              </a:rPr>
              <a:t>p &gt; n datasets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Genomics, NLP bag-of-words, survey data with hundreds of questions.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Adding noise features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Irrelevant variables drown out the signal in useful features.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Computational burden</a:t>
            </a:r>
          </a:p>
          <a:p>
            <a:r>
              <a:rPr sz="2000" dirty="0">
                <a:solidFill>
                  <a:srgbClr val="666666"/>
                </a:solidFill>
                <a:latin typeface="Arial"/>
              </a:rPr>
              <a:t>Distance calculations scale as O(np), storage as O(np).</a:t>
            </a:r>
          </a:p>
          <a:p>
            <a:r>
              <a:rPr sz="2000" b="1" dirty="0">
                <a:solidFill>
                  <a:srgbClr val="333333"/>
                </a:solidFill>
                <a:latin typeface="Arial"/>
              </a:rPr>
              <a:t>Mitigation</a:t>
            </a:r>
          </a:p>
          <a:p>
            <a:r>
              <a:rPr sz="2000" b="1" dirty="0">
                <a:solidFill>
                  <a:srgbClr val="C00000"/>
                </a:solidFill>
                <a:latin typeface="Arial"/>
              </a:rPr>
              <a:t>Feature selection, PCA, regularization, manifold methods.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1244600"/>
            <a:ext cx="0" cy="452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000" y="5842000"/>
            <a:ext cx="10922000" cy="482600"/>
          </a:xfrm>
          <a:prstGeom prst="roundRect">
            <a:avLst/>
          </a:prstGeom>
          <a:solidFill>
            <a:srgbClr val="32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The Party Analogy: 20 people in a small room feel crowded. The same 20 in a 100D hyper-warehouse are all equally far apart.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1FCAF-FDD5-6995-666C-24551C1A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90" y="0"/>
            <a:ext cx="10515600" cy="1325563"/>
          </a:xfrm>
        </p:spPr>
        <p:txBody>
          <a:bodyPr/>
          <a:lstStyle/>
          <a:p>
            <a:r>
              <a:rPr lang="en-US" sz="2400" b="1" dirty="0"/>
              <a:t>K-Nearest Neighbors (KNN) Algorithm</a:t>
            </a:r>
          </a:p>
        </p:txBody>
      </p:sp>
      <p:sp>
        <p:nvSpPr>
          <p:cNvPr id="10" name="AccentBar"/>
          <p:cNvSpPr/>
          <p:nvPr/>
        </p:nvSpPr>
        <p:spPr>
          <a:xfrm>
            <a:off x="508000" y="1003300"/>
            <a:ext cx="11176000" cy="406400"/>
          </a:xfrm>
          <a:prstGeom prst="roundRect">
            <a:avLst>
              <a:gd name="adj" fmla="val 10000"/>
            </a:avLst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Pseudocode — Classification by Majority Vote of K Nearest Neighbors</a:t>
            </a:r>
          </a:p>
        </p:txBody>
      </p:sp>
      <p:sp>
        <p:nvSpPr>
          <p:cNvPr id="11" name="PseudoCode"/>
          <p:cNvSpPr/>
          <p:nvPr/>
        </p:nvSpPr>
        <p:spPr>
          <a:xfrm>
            <a:off x="508000" y="152400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12700">
            <a:solidFill>
              <a:srgbClr val="4B2E83"/>
            </a:solidFill>
          </a:ln>
        </p:spPr>
        <p:txBody>
          <a:bodyPr wrap="square" lIns="182880" tIns="91440" rIns="9144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Consolas"/>
              </a:rPr>
              <a:t>KNN_Classify(training_set, query_point, K):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1.  For each point xᵢ in training_set: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distance[i] ← dist(xᵢ, query_point)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2.  Sort distances in ascending order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3.  Select the K nearest neighbors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neighbors ← top K points from sorted list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4.  Count class votes among neighbors: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For each neighbor in neighbors:</a:t>
            </a:r>
          </a:p>
          <a:p>
            <a:pPr algn="l">
              <a:buNone/>
            </a:pPr>
            <a:r>
              <a:rPr lang="en-US" dirty="0">
                <a:solidFill>
                  <a:srgbClr val="85754D"/>
                </a:solidFill>
                <a:latin typeface="Consolas"/>
              </a:rPr>
              <a:t>          votes[neighbor.class] += 1</a:t>
            </a:r>
          </a:p>
          <a:p>
            <a:pPr algn="l">
              <a:buNone/>
            </a:pPr>
            <a:r>
              <a:rPr lang="en-US" dirty="0">
                <a:solidFill>
                  <a:srgbClr val="333333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en-US" b="1" dirty="0">
                <a:solidFill>
                  <a:srgbClr val="4B2E83"/>
                </a:solidFill>
                <a:latin typeface="Consolas"/>
              </a:rPr>
              <a:t>5.  Return class with maximum votes</a:t>
            </a:r>
          </a:p>
        </p:txBody>
      </p:sp>
      <p:sp>
        <p:nvSpPr>
          <p:cNvPr id="12" name="KeyConcepts"/>
          <p:cNvSpPr/>
          <p:nvPr/>
        </p:nvSpPr>
        <p:spPr>
          <a:xfrm>
            <a:off x="7620000" y="1524000"/>
            <a:ext cx="40640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A57A"/>
            </a:solidFill>
          </a:ln>
        </p:spPr>
        <p:txBody>
          <a:bodyPr wrap="square" lIns="137160" tIns="91440" rIns="91440" bIns="9144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Arial"/>
              </a:rPr>
              <a:t>Key Concepts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Distance Metric</a:t>
            </a:r>
          </a:p>
          <a:p>
            <a:pPr marL="228600" algn="l">
              <a:buNone/>
            </a:pPr>
            <a:r>
              <a:rPr lang="en-US" sz="1600" b="1" dirty="0">
                <a:solidFill>
                  <a:srgbClr val="C00000"/>
                </a:solidFill>
                <a:latin typeface="Arial"/>
              </a:rPr>
              <a:t>Euclidean, Manhattan, or Minkowski distance between feature vectors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Choice of K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Odd K avoids ties; </a:t>
            </a:r>
            <a:r>
              <a:rPr lang="en-US" sz="1600" dirty="0">
                <a:solidFill>
                  <a:srgbClr val="C00000"/>
                </a:solidFill>
                <a:latin typeface="Arial"/>
              </a:rPr>
              <a:t>small K = noise-sensitive;</a:t>
            </a:r>
            <a:r>
              <a:rPr lang="en-US" sz="1600" dirty="0">
                <a:solidFill>
                  <a:srgbClr val="333333"/>
                </a:solidFill>
                <a:latin typeface="Arial"/>
              </a:rPr>
              <a:t> </a:t>
            </a:r>
            <a:r>
              <a:rPr lang="en-US" sz="1600" dirty="0">
                <a:solidFill>
                  <a:srgbClr val="4B2E83"/>
                </a:solidFill>
                <a:latin typeface="Arial"/>
              </a:rPr>
              <a:t>large K = smooth boundaries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Majority Vote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The query point is classified to the most frequent class among its K neighbors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marL="228600" indent="-228600" algn="l">
              <a:buFont typeface="Arial"/>
              <a:buChar char="▸"/>
            </a:pPr>
            <a:r>
              <a:rPr lang="en-US" b="1" dirty="0">
                <a:solidFill>
                  <a:srgbClr val="4B2E83"/>
                </a:solidFill>
                <a:latin typeface="Arial"/>
              </a:rPr>
              <a:t>No Training Phase</a:t>
            </a:r>
          </a:p>
          <a:p>
            <a:pPr marL="228600" algn="l">
              <a:buNone/>
            </a:pPr>
            <a:r>
              <a:rPr lang="en-US" sz="1600" dirty="0">
                <a:solidFill>
                  <a:srgbClr val="333333"/>
                </a:solidFill>
                <a:latin typeface="Arial"/>
              </a:rPr>
              <a:t>KNN is a lazy learner — all computation happens at prediction time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497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918D-0A08-5C65-3067-F67D91C2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E03D0-29EE-D116-C965-8AED1950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42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66DD-3404-1ACF-3DC0-61AF7CF2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07" y="68738"/>
            <a:ext cx="10515600" cy="1325563"/>
          </a:xfrm>
        </p:spPr>
        <p:txBody>
          <a:bodyPr/>
          <a:lstStyle/>
          <a:p>
            <a:r>
              <a:rPr lang="en-US" sz="2400" b="1" dirty="0"/>
              <a:t>KNN Visual Example: K=5 with Two Classes</a:t>
            </a:r>
          </a:p>
        </p:txBody>
      </p:sp>
      <p:sp>
        <p:nvSpPr>
          <p:cNvPr id="10" name="AccentBar2"/>
          <p:cNvSpPr/>
          <p:nvPr/>
        </p:nvSpPr>
        <p:spPr>
          <a:xfrm>
            <a:off x="508000" y="1003300"/>
            <a:ext cx="11176000" cy="406400"/>
          </a:xfrm>
          <a:prstGeom prst="roundRect">
            <a:avLst>
              <a:gd name="adj" fmla="val 10000"/>
            </a:avLst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The 5 nearest neighbors vote: 3 Class A (purple) vs 2 Class B (gold) → Query classified as Class A</a:t>
            </a:r>
          </a:p>
        </p:txBody>
      </p:sp>
      <p:sp>
        <p:nvSpPr>
          <p:cNvPr id="40" name="PlotBg"/>
          <p:cNvSpPr/>
          <p:nvPr/>
        </p:nvSpPr>
        <p:spPr>
          <a:xfrm>
            <a:off x="508000" y="1524000"/>
            <a:ext cx="7048500" cy="4826000"/>
          </a:xfrm>
          <a:prstGeom prst="roundRect">
            <a:avLst>
              <a:gd name="adj" fmla="val 2000"/>
            </a:avLst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GridH1"/>
          <p:cNvSpPr/>
          <p:nvPr/>
        </p:nvSpPr>
        <p:spPr>
          <a:xfrm>
            <a:off x="698500" y="27305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2" name="GridH2"/>
          <p:cNvSpPr/>
          <p:nvPr/>
        </p:nvSpPr>
        <p:spPr>
          <a:xfrm>
            <a:off x="698500" y="39370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3" name="GridH3"/>
          <p:cNvSpPr/>
          <p:nvPr/>
        </p:nvSpPr>
        <p:spPr>
          <a:xfrm>
            <a:off x="698500" y="5143500"/>
            <a:ext cx="6667500" cy="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4" name="GridV1"/>
          <p:cNvSpPr/>
          <p:nvPr/>
        </p:nvSpPr>
        <p:spPr>
          <a:xfrm>
            <a:off x="2270125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5" name="GridV2"/>
          <p:cNvSpPr/>
          <p:nvPr/>
        </p:nvSpPr>
        <p:spPr>
          <a:xfrm>
            <a:off x="4032250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6" name="GridV3"/>
          <p:cNvSpPr/>
          <p:nvPr/>
        </p:nvSpPr>
        <p:spPr>
          <a:xfrm>
            <a:off x="5794375" y="1714500"/>
            <a:ext cx="0" cy="4445000"/>
          </a:xfrm>
          <a:prstGeom prst="line">
            <a:avLst/>
          </a:prstGeom>
          <a:ln w="6350">
            <a:solidFill>
              <a:srgbClr val="D8D0C6"/>
            </a:solidFill>
            <a:prstDash val="dot"/>
          </a:ln>
        </p:spPr>
        <p:txBody>
          <a:bodyPr/>
          <a:lstStyle/>
          <a:p>
            <a:endParaRPr lang="en-US"/>
          </a:p>
        </p:txBody>
      </p:sp>
      <p:sp>
        <p:nvSpPr>
          <p:cNvPr id="47" name="XAxis"/>
          <p:cNvSpPr/>
          <p:nvPr/>
        </p:nvSpPr>
        <p:spPr>
          <a:xfrm>
            <a:off x="2622550" y="6400800"/>
            <a:ext cx="2819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200" b="1" dirty="0">
                <a:solidFill>
                  <a:srgbClr val="85754D"/>
                </a:solidFill>
                <a:latin typeface="Arial"/>
              </a:rPr>
              <a:t>Feature X₁</a:t>
            </a:r>
          </a:p>
        </p:txBody>
      </p:sp>
      <p:sp>
        <p:nvSpPr>
          <p:cNvPr id="48" name="YAxis"/>
          <p:cNvSpPr/>
          <p:nvPr/>
        </p:nvSpPr>
        <p:spPr>
          <a:xfrm rot="16200000">
            <a:off x="-304800" y="29718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b="1" dirty="0">
                <a:solidFill>
                  <a:srgbClr val="85754D"/>
                </a:solidFill>
                <a:latin typeface="Arial"/>
              </a:rPr>
              <a:t>Feature X₂</a:t>
            </a:r>
          </a:p>
        </p:txBody>
      </p:sp>
      <p:sp>
        <p:nvSpPr>
          <p:cNvPr id="49" name="A0"/>
          <p:cNvSpPr/>
          <p:nvPr/>
        </p:nvSpPr>
        <p:spPr>
          <a:xfrm>
            <a:off x="1455420" y="22047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0" name="A1"/>
          <p:cNvSpPr/>
          <p:nvPr/>
        </p:nvSpPr>
        <p:spPr>
          <a:xfrm>
            <a:off x="1840230" y="26238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1" name="A2"/>
          <p:cNvSpPr/>
          <p:nvPr/>
        </p:nvSpPr>
        <p:spPr>
          <a:xfrm>
            <a:off x="2096770" y="20370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2" name="A3"/>
          <p:cNvSpPr/>
          <p:nvPr/>
        </p:nvSpPr>
        <p:spPr>
          <a:xfrm>
            <a:off x="1198880" y="28752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3" name="A4"/>
          <p:cNvSpPr/>
          <p:nvPr/>
        </p:nvSpPr>
        <p:spPr>
          <a:xfrm>
            <a:off x="2289175" y="24561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4" name="A5"/>
          <p:cNvSpPr/>
          <p:nvPr/>
        </p:nvSpPr>
        <p:spPr>
          <a:xfrm>
            <a:off x="1647825" y="30429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5" name="A6"/>
          <p:cNvSpPr/>
          <p:nvPr/>
        </p:nvSpPr>
        <p:spPr>
          <a:xfrm>
            <a:off x="2070100" y="285115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6" name="A7"/>
          <p:cNvSpPr/>
          <p:nvPr/>
        </p:nvSpPr>
        <p:spPr>
          <a:xfrm>
            <a:off x="1327150" y="254000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7" name="A8"/>
          <p:cNvSpPr/>
          <p:nvPr/>
        </p:nvSpPr>
        <p:spPr>
          <a:xfrm>
            <a:off x="3122930" y="346202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8" name="A9"/>
          <p:cNvSpPr/>
          <p:nvPr/>
        </p:nvSpPr>
        <p:spPr>
          <a:xfrm>
            <a:off x="3379470" y="321056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59" name="A10"/>
          <p:cNvSpPr/>
          <p:nvPr/>
        </p:nvSpPr>
        <p:spPr>
          <a:xfrm>
            <a:off x="2867660" y="3776980"/>
            <a:ext cx="279400" cy="279400"/>
          </a:xfrm>
          <a:prstGeom prst="ellipse">
            <a:avLst/>
          </a:prstGeom>
          <a:solidFill>
            <a:srgbClr val="4B2E83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60" name="B0"/>
          <p:cNvSpPr/>
          <p:nvPr/>
        </p:nvSpPr>
        <p:spPr>
          <a:xfrm>
            <a:off x="5303520" y="46355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1" name="B1"/>
          <p:cNvSpPr/>
          <p:nvPr/>
        </p:nvSpPr>
        <p:spPr>
          <a:xfrm>
            <a:off x="5688330" y="50546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2" name="B2"/>
          <p:cNvSpPr/>
          <p:nvPr/>
        </p:nvSpPr>
        <p:spPr>
          <a:xfrm>
            <a:off x="5944870" y="455168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3" name="B3"/>
          <p:cNvSpPr/>
          <p:nvPr/>
        </p:nvSpPr>
        <p:spPr>
          <a:xfrm>
            <a:off x="5046980" y="51384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4" name="B4"/>
          <p:cNvSpPr/>
          <p:nvPr/>
        </p:nvSpPr>
        <p:spPr>
          <a:xfrm>
            <a:off x="6137275" y="484505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5" name="B5"/>
          <p:cNvSpPr/>
          <p:nvPr/>
        </p:nvSpPr>
        <p:spPr>
          <a:xfrm>
            <a:off x="5419725" y="534035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6" name="B6"/>
          <p:cNvSpPr/>
          <p:nvPr/>
        </p:nvSpPr>
        <p:spPr>
          <a:xfrm>
            <a:off x="5816600" y="547370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7" name="B7"/>
          <p:cNvSpPr/>
          <p:nvPr/>
        </p:nvSpPr>
        <p:spPr>
          <a:xfrm>
            <a:off x="6431280" y="46431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8" name="B8"/>
          <p:cNvSpPr/>
          <p:nvPr/>
        </p:nvSpPr>
        <p:spPr>
          <a:xfrm>
            <a:off x="4020820" y="388112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69" name="B9"/>
          <p:cNvSpPr/>
          <p:nvPr/>
        </p:nvSpPr>
        <p:spPr>
          <a:xfrm>
            <a:off x="3764280" y="4132580"/>
            <a:ext cx="279400" cy="279400"/>
          </a:xfrm>
          <a:prstGeom prst="ellipse">
            <a:avLst/>
          </a:prstGeom>
          <a:solidFill>
            <a:srgbClr val="B7A57A"/>
          </a:solidFill>
          <a:ln>
            <a:noFill/>
          </a:ln>
          <a:effectLst>
            <a:outerShdw blurRad="25400" dist="12700" dir="5400000" algn="t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70" name="KCircle"/>
          <p:cNvSpPr/>
          <p:nvPr/>
        </p:nvSpPr>
        <p:spPr>
          <a:xfrm>
            <a:off x="2250440" y="2456180"/>
            <a:ext cx="2794000" cy="2794000"/>
          </a:xfrm>
          <a:prstGeom prst="ellipse">
            <a:avLst/>
          </a:prstGeom>
          <a:solidFill>
            <a:srgbClr val="00A7B5">
              <a:alpha val="8000"/>
            </a:srgbClr>
          </a:solidFill>
          <a:ln w="22225">
            <a:solidFill>
              <a:srgbClr val="00A7B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1" name="Query"/>
          <p:cNvSpPr/>
          <p:nvPr/>
        </p:nvSpPr>
        <p:spPr>
          <a:xfrm>
            <a:off x="3456940" y="3662680"/>
            <a:ext cx="381000" cy="381000"/>
          </a:xfrm>
          <a:prstGeom prst="ellipse">
            <a:avLst/>
          </a:prstGeom>
          <a:solidFill>
            <a:srgbClr val="00A7B5"/>
          </a:solidFill>
          <a:ln w="28575">
            <a:solidFill>
              <a:srgbClr val="FFFFFF"/>
            </a:solidFill>
          </a:ln>
          <a:effectLst>
            <a:outerShdw blurRad="63500" algn="ctr" rotWithShape="0">
              <a:srgbClr val="00A7B5">
                <a:alpha val="40000"/>
              </a:srgbClr>
            </a:outerShdw>
          </a:effectLst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72" name="KLabel"/>
          <p:cNvSpPr/>
          <p:nvPr/>
        </p:nvSpPr>
        <p:spPr>
          <a:xfrm>
            <a:off x="4790440" y="2100580"/>
            <a:ext cx="825500" cy="330200"/>
          </a:xfrm>
          <a:prstGeom prst="roundRect">
            <a:avLst>
              <a:gd name="adj" fmla="val 16667"/>
            </a:avLst>
          </a:prstGeom>
          <a:solidFill>
            <a:srgbClr val="00A7B5"/>
          </a:solidFill>
          <a:ln>
            <a:noFill/>
          </a:ln>
        </p:spPr>
        <p:txBody>
          <a:bodyPr wrap="none" lIns="45720" tIns="18288" rIns="45720" bIns="18288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K = 5</a:t>
            </a:r>
          </a:p>
        </p:txBody>
      </p:sp>
      <p:sp>
        <p:nvSpPr>
          <p:cNvPr id="73" name="Panel"/>
          <p:cNvSpPr/>
          <p:nvPr/>
        </p:nvSpPr>
        <p:spPr>
          <a:xfrm>
            <a:off x="7747000" y="1524000"/>
            <a:ext cx="4000500" cy="495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B7A57A"/>
            </a:solidFill>
          </a:ln>
        </p:spPr>
        <p:txBody>
          <a:bodyPr wrap="square" lIns="137160" tIns="91440" rIns="91440" bIns="91440" anchor="t"/>
          <a:lstStyle/>
          <a:p>
            <a:pPr algn="l">
              <a:buNone/>
            </a:pPr>
            <a:r>
              <a:rPr lang="en-US" sz="3200" b="1" dirty="0">
                <a:solidFill>
                  <a:srgbClr val="4B2E83"/>
                </a:solidFill>
                <a:latin typeface="Arial"/>
              </a:rPr>
              <a:t>How It Works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1. Compute Distances</a:t>
            </a:r>
          </a:p>
          <a:p>
            <a:pPr algn="l">
              <a:buNone/>
            </a:pPr>
            <a:r>
              <a:rPr lang="en-US" sz="2000" dirty="0">
                <a:solidFill>
                  <a:srgbClr val="333333"/>
                </a:solidFill>
                <a:latin typeface="Arial"/>
              </a:rPr>
              <a:t>Measure distance from query (teal) to every training point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2. Find 5 Nearest</a:t>
            </a:r>
          </a:p>
          <a:p>
            <a:pPr algn="l">
              <a:buNone/>
            </a:pPr>
            <a:r>
              <a:rPr lang="en-US" sz="2000" dirty="0">
                <a:solidFill>
                  <a:srgbClr val="333333"/>
                </a:solidFill>
                <a:latin typeface="Arial"/>
              </a:rPr>
              <a:t>Select K=5 closest points inside the dashed boundary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3. Majority Vote</a:t>
            </a:r>
          </a:p>
          <a:p>
            <a:pPr marL="228600" indent="-228600" algn="l">
              <a:buFont typeface="Arial"/>
              <a:buChar char="▸"/>
            </a:pPr>
            <a:r>
              <a:rPr lang="en-US" sz="2000" b="1" dirty="0">
                <a:solidFill>
                  <a:srgbClr val="4B2E83"/>
                </a:solidFill>
                <a:latin typeface="Arial"/>
              </a:rPr>
              <a:t>Class A (purple):  3 votes</a:t>
            </a:r>
          </a:p>
          <a:p>
            <a:pPr marL="228600" indent="-228600" algn="l">
              <a:buFont typeface="Arial"/>
              <a:buChar char="▸"/>
            </a:pPr>
            <a:r>
              <a:rPr lang="en-US" sz="2000" dirty="0">
                <a:solidFill>
                  <a:srgbClr val="B7A57A"/>
                </a:solidFill>
                <a:latin typeface="Arial"/>
              </a:rPr>
              <a:t>Class B (gold):  2 votes</a:t>
            </a:r>
          </a:p>
          <a:p>
            <a:pPr algn="l">
              <a:buNone/>
            </a:pPr>
            <a:r>
              <a:rPr lang="en-US" sz="2400" b="1" dirty="0">
                <a:solidFill>
                  <a:srgbClr val="00A7B5"/>
                </a:solidFill>
                <a:latin typeface="Arial"/>
              </a:rPr>
              <a:t>4. Classification</a:t>
            </a:r>
          </a:p>
          <a:p>
            <a:pPr algn="l">
              <a:buNone/>
            </a:pPr>
            <a:r>
              <a:rPr lang="en-US" sz="2400" b="1" dirty="0">
                <a:solidFill>
                  <a:srgbClr val="4B2E83"/>
                </a:solidFill>
                <a:latin typeface="Arial"/>
              </a:rPr>
              <a:t>Query → Class A</a:t>
            </a:r>
          </a:p>
          <a:p>
            <a:pPr algn="l">
              <a:buNone/>
            </a:pPr>
            <a:r>
              <a:rPr lang="en-US" sz="1600" dirty="0">
                <a:solidFill>
                  <a:srgbClr val="85754D"/>
                </a:solidFill>
                <a:latin typeface="Arial"/>
              </a:rPr>
              <a:t>(majority wins)</a:t>
            </a:r>
          </a:p>
        </p:txBody>
      </p:sp>
      <p:sp>
        <p:nvSpPr>
          <p:cNvPr id="74" name="LegDot0"/>
          <p:cNvSpPr/>
          <p:nvPr/>
        </p:nvSpPr>
        <p:spPr>
          <a:xfrm>
            <a:off x="508000" y="6578600"/>
            <a:ext cx="177800" cy="1778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4B2E83"/>
              </a:solidFill>
            </a:endParaRPr>
          </a:p>
        </p:txBody>
      </p:sp>
      <p:sp>
        <p:nvSpPr>
          <p:cNvPr id="75" name="LegLabel0"/>
          <p:cNvSpPr/>
          <p:nvPr/>
        </p:nvSpPr>
        <p:spPr>
          <a:xfrm>
            <a:off x="7366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4B2E83"/>
                </a:solidFill>
                <a:latin typeface="Arial"/>
              </a:rPr>
              <a:t>Class A</a:t>
            </a:r>
          </a:p>
        </p:txBody>
      </p:sp>
      <p:sp>
        <p:nvSpPr>
          <p:cNvPr id="76" name="LegDot1"/>
          <p:cNvSpPr/>
          <p:nvPr/>
        </p:nvSpPr>
        <p:spPr>
          <a:xfrm>
            <a:off x="1841500" y="6578600"/>
            <a:ext cx="177800" cy="1778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B7A57A"/>
              </a:solidFill>
            </a:endParaRPr>
          </a:p>
        </p:txBody>
      </p:sp>
      <p:sp>
        <p:nvSpPr>
          <p:cNvPr id="77" name="LegLabel1"/>
          <p:cNvSpPr/>
          <p:nvPr/>
        </p:nvSpPr>
        <p:spPr>
          <a:xfrm>
            <a:off x="20701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B7A57A"/>
                </a:solidFill>
                <a:latin typeface="Arial"/>
              </a:rPr>
              <a:t>Class B</a:t>
            </a:r>
          </a:p>
        </p:txBody>
      </p:sp>
      <p:sp>
        <p:nvSpPr>
          <p:cNvPr id="78" name="LegDot2"/>
          <p:cNvSpPr/>
          <p:nvPr/>
        </p:nvSpPr>
        <p:spPr>
          <a:xfrm>
            <a:off x="3175000" y="6578600"/>
            <a:ext cx="177800" cy="1778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0A7B5"/>
              </a:solidFill>
            </a:endParaRPr>
          </a:p>
        </p:txBody>
      </p:sp>
      <p:sp>
        <p:nvSpPr>
          <p:cNvPr id="79" name="LegLabel2"/>
          <p:cNvSpPr/>
          <p:nvPr/>
        </p:nvSpPr>
        <p:spPr>
          <a:xfrm>
            <a:off x="3403600" y="6553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00A7B5"/>
                </a:solidFill>
                <a:latin typeface="Arial"/>
              </a:rPr>
              <a:t>Query Point</a:t>
            </a:r>
          </a:p>
        </p:txBody>
      </p:sp>
    </p:spTree>
    <p:extLst>
      <p:ext uri="{BB962C8B-B14F-4D97-AF65-F5344CB8AC3E}">
        <p14:creationId xmlns:p14="http://schemas.microsoft.com/office/powerpoint/2010/main" val="120297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8572500" cy="28575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Curse of dimensionality — Stage 1: d = 1 (one feature)</a:t>
            </a:r>
          </a:p>
        </p:txBody>
      </p:sp>
      <p:sp>
        <p:nvSpPr>
          <p:cNvPr id="502" name="S1Hdr"/>
          <p:cNvSpPr/>
          <p:nvPr/>
        </p:nvSpPr>
        <p:spPr>
          <a:xfrm>
            <a:off x="292100" y="6286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Training set (5 points, labels)</a:t>
            </a:r>
          </a:p>
        </p:txBody>
      </p:sp>
      <p:sp>
        <p:nvSpPr>
          <p:cNvPr id="503" name="S1Box"/>
          <p:cNvSpPr/>
          <p:nvPr/>
        </p:nvSpPr>
        <p:spPr>
          <a:xfrm>
            <a:off x="292100" y="819150"/>
            <a:ext cx="6858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onsolas"/>
              </a:rPr>
              <a:t>x₁=1 </a:t>
            </a:r>
            <a:r>
              <a:rPr lang="en-US" sz="1200" dirty="0">
                <a:solidFill>
                  <a:srgbClr val="B7A57A"/>
                </a:solidFill>
                <a:latin typeface="Consolas"/>
              </a:rPr>
              <a:t>(A)</a:t>
            </a:r>
            <a:r>
              <a:rPr lang="en-US" sz="1200" dirty="0">
                <a:solidFill>
                  <a:srgbClr val="333333"/>
                </a:solidFill>
                <a:latin typeface="Consolas"/>
              </a:rPr>
              <a:t>   x₂=2 </a:t>
            </a:r>
            <a:r>
              <a:rPr lang="en-US" sz="1200" dirty="0">
                <a:solidFill>
                  <a:srgbClr val="B7A57A"/>
                </a:solidFill>
                <a:latin typeface="Consolas"/>
              </a:rPr>
              <a:t>(A)   </a:t>
            </a:r>
            <a:r>
              <a:rPr lang="en-US" sz="1200" dirty="0">
                <a:solidFill>
                  <a:srgbClr val="333333"/>
                </a:solidFill>
                <a:latin typeface="Consolas"/>
              </a:rPr>
              <a:t>x₃=4 </a:t>
            </a:r>
            <a:r>
              <a:rPr lang="en-US" sz="1200" dirty="0">
                <a:solidFill>
                  <a:srgbClr val="00A8B6"/>
                </a:solidFill>
                <a:latin typeface="Consolas"/>
              </a:rPr>
              <a:t>(B)   </a:t>
            </a:r>
            <a:r>
              <a:rPr lang="en-US" sz="1200" dirty="0">
                <a:solidFill>
                  <a:srgbClr val="333333"/>
                </a:solidFill>
                <a:latin typeface="Consolas"/>
              </a:rPr>
              <a:t>x₄=7 </a:t>
            </a:r>
            <a:r>
              <a:rPr lang="en-US" sz="1200" dirty="0">
                <a:solidFill>
                  <a:srgbClr val="00A8B6"/>
                </a:solidFill>
                <a:latin typeface="Consolas"/>
              </a:rPr>
              <a:t>(B)</a:t>
            </a:r>
            <a:r>
              <a:rPr lang="en-US" sz="1200" dirty="0">
                <a:solidFill>
                  <a:srgbClr val="333333"/>
                </a:solidFill>
                <a:latin typeface="Consolas"/>
              </a:rPr>
              <a:t>   x₅=9 </a:t>
            </a:r>
            <a:r>
              <a:rPr lang="en-US" sz="1200" dirty="0">
                <a:solidFill>
                  <a:srgbClr val="00A8B6"/>
                </a:solidFill>
                <a:latin typeface="Consolas"/>
              </a:rPr>
              <a:t>(B)</a:t>
            </a:r>
          </a:p>
        </p:txBody>
      </p:sp>
      <p:sp>
        <p:nvSpPr>
          <p:cNvPr id="504" name="S2Hdr"/>
          <p:cNvSpPr/>
          <p:nvPr/>
        </p:nvSpPr>
        <p:spPr>
          <a:xfrm>
            <a:off x="7366000" y="628650"/>
            <a:ext cx="1016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7366000" y="819150"/>
            <a:ext cx="1016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onsolas"/>
              </a:rPr>
              <a:t>x* = 5</a:t>
            </a:r>
          </a:p>
        </p:txBody>
      </p:sp>
      <p:sp>
        <p:nvSpPr>
          <p:cNvPr id="506" name="S3Hdr"/>
          <p:cNvSpPr/>
          <p:nvPr/>
        </p:nvSpPr>
        <p:spPr>
          <a:xfrm>
            <a:off x="8636000" y="628650"/>
            <a:ext cx="317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Distance: |x* − xᵢ|       k = 3 nearest neighbors</a:t>
            </a:r>
          </a:p>
        </p:txBody>
      </p:sp>
      <p:sp>
        <p:nvSpPr>
          <p:cNvPr id="507" name="S3Box"/>
          <p:cNvSpPr/>
          <p:nvPr/>
        </p:nvSpPr>
        <p:spPr>
          <a:xfrm>
            <a:off x="8636000" y="819150"/>
            <a:ext cx="3175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Consolas"/>
              </a:rPr>
              <a:t>d(x*, xᵢ) = | 5 − xᵢ |</a:t>
            </a:r>
          </a:p>
        </p:txBody>
      </p:sp>
      <p:sp>
        <p:nvSpPr>
          <p:cNvPr id="508" name="VizHdr"/>
          <p:cNvSpPr/>
          <p:nvPr/>
        </p:nvSpPr>
        <p:spPr>
          <a:xfrm>
            <a:off x="285750" y="2260600"/>
            <a:ext cx="857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Geometry — points on the number line, query in purple</a:t>
            </a:r>
          </a:p>
        </p:txBody>
      </p:sp>
      <p:cxnSp>
        <p:nvCxnSpPr>
          <p:cNvPr id="509" name="Axis"/>
          <p:cNvCxnSpPr/>
          <p:nvPr/>
        </p:nvCxnSpPr>
        <p:spPr>
          <a:xfrm>
            <a:off x="762000" y="1504950"/>
            <a:ext cx="7810500" cy="953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10" name="Tk"/>
          <p:cNvCxnSpPr/>
          <p:nvPr/>
        </p:nvCxnSpPr>
        <p:spPr>
          <a:xfrm>
            <a:off x="7620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1" name="TL"/>
          <p:cNvSpPr/>
          <p:nvPr/>
        </p:nvSpPr>
        <p:spPr>
          <a:xfrm>
            <a:off x="6667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0</a:t>
            </a:r>
          </a:p>
        </p:txBody>
      </p:sp>
      <p:cxnSp>
        <p:nvCxnSpPr>
          <p:cNvPr id="512" name="Tk"/>
          <p:cNvCxnSpPr/>
          <p:nvPr/>
        </p:nvCxnSpPr>
        <p:spPr>
          <a:xfrm>
            <a:off x="15430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3" name="TL"/>
          <p:cNvSpPr/>
          <p:nvPr/>
        </p:nvSpPr>
        <p:spPr>
          <a:xfrm>
            <a:off x="14478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cxnSp>
        <p:nvCxnSpPr>
          <p:cNvPr id="514" name="Tk"/>
          <p:cNvCxnSpPr/>
          <p:nvPr/>
        </p:nvCxnSpPr>
        <p:spPr>
          <a:xfrm>
            <a:off x="23241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5" name="TL"/>
          <p:cNvSpPr/>
          <p:nvPr/>
        </p:nvSpPr>
        <p:spPr>
          <a:xfrm>
            <a:off x="22288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cxnSp>
        <p:nvCxnSpPr>
          <p:cNvPr id="516" name="Tk"/>
          <p:cNvCxnSpPr/>
          <p:nvPr/>
        </p:nvCxnSpPr>
        <p:spPr>
          <a:xfrm>
            <a:off x="31051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7" name="TL"/>
          <p:cNvSpPr/>
          <p:nvPr/>
        </p:nvSpPr>
        <p:spPr>
          <a:xfrm>
            <a:off x="30099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cxnSp>
        <p:nvCxnSpPr>
          <p:cNvPr id="518" name="Tk"/>
          <p:cNvCxnSpPr/>
          <p:nvPr/>
        </p:nvCxnSpPr>
        <p:spPr>
          <a:xfrm>
            <a:off x="38862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19" name="TL"/>
          <p:cNvSpPr/>
          <p:nvPr/>
        </p:nvSpPr>
        <p:spPr>
          <a:xfrm>
            <a:off x="37909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cxnSp>
        <p:nvCxnSpPr>
          <p:cNvPr id="520" name="Tk"/>
          <p:cNvCxnSpPr/>
          <p:nvPr/>
        </p:nvCxnSpPr>
        <p:spPr>
          <a:xfrm>
            <a:off x="46672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1" name="TL"/>
          <p:cNvSpPr/>
          <p:nvPr/>
        </p:nvSpPr>
        <p:spPr>
          <a:xfrm>
            <a:off x="45720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cxnSp>
        <p:nvCxnSpPr>
          <p:cNvPr id="522" name="Tk"/>
          <p:cNvCxnSpPr/>
          <p:nvPr/>
        </p:nvCxnSpPr>
        <p:spPr>
          <a:xfrm>
            <a:off x="54483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3" name="TL"/>
          <p:cNvSpPr/>
          <p:nvPr/>
        </p:nvSpPr>
        <p:spPr>
          <a:xfrm>
            <a:off x="53530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cxnSp>
        <p:nvCxnSpPr>
          <p:cNvPr id="524" name="Tk"/>
          <p:cNvCxnSpPr/>
          <p:nvPr/>
        </p:nvCxnSpPr>
        <p:spPr>
          <a:xfrm>
            <a:off x="62293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5" name="TL"/>
          <p:cNvSpPr/>
          <p:nvPr/>
        </p:nvSpPr>
        <p:spPr>
          <a:xfrm>
            <a:off x="61341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cxnSp>
        <p:nvCxnSpPr>
          <p:cNvPr id="526" name="Tk"/>
          <p:cNvCxnSpPr/>
          <p:nvPr/>
        </p:nvCxnSpPr>
        <p:spPr>
          <a:xfrm>
            <a:off x="70104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7" name="TL"/>
          <p:cNvSpPr/>
          <p:nvPr/>
        </p:nvSpPr>
        <p:spPr>
          <a:xfrm>
            <a:off x="69151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cxnSp>
        <p:nvCxnSpPr>
          <p:cNvPr id="528" name="Tk"/>
          <p:cNvCxnSpPr/>
          <p:nvPr/>
        </p:nvCxnSpPr>
        <p:spPr>
          <a:xfrm>
            <a:off x="779145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29" name="TL"/>
          <p:cNvSpPr/>
          <p:nvPr/>
        </p:nvSpPr>
        <p:spPr>
          <a:xfrm>
            <a:off x="769620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cxnSp>
        <p:nvCxnSpPr>
          <p:cNvPr id="530" name="Tk"/>
          <p:cNvCxnSpPr/>
          <p:nvPr/>
        </p:nvCxnSpPr>
        <p:spPr>
          <a:xfrm>
            <a:off x="8572500" y="1476375"/>
            <a:ext cx="953" cy="57150"/>
          </a:xfrm>
          <a:prstGeom prst="line">
            <a:avLst/>
          </a:prstGeom>
          <a:ln w="6350">
            <a:solidFill>
              <a:srgbClr val="888888"/>
            </a:solidFill>
          </a:ln>
        </p:spPr>
      </p:cxnSp>
      <p:sp>
        <p:nvSpPr>
          <p:cNvPr id="531" name="TL"/>
          <p:cNvSpPr/>
          <p:nvPr/>
        </p:nvSpPr>
        <p:spPr>
          <a:xfrm>
            <a:off x="8477250" y="1562100"/>
            <a:ext cx="190500" cy="1143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532" name="Pt"/>
          <p:cNvSpPr/>
          <p:nvPr/>
        </p:nvSpPr>
        <p:spPr>
          <a:xfrm>
            <a:off x="1390650" y="1352550"/>
            <a:ext cx="304800" cy="304800"/>
          </a:xfrm>
          <a:prstGeom prst="ellipse">
            <a:avLst/>
          </a:prstGeom>
          <a:solidFill>
            <a:srgbClr val="B7A57A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3" name="PL"/>
          <p:cNvSpPr/>
          <p:nvPr/>
        </p:nvSpPr>
        <p:spPr>
          <a:xfrm>
            <a:off x="14287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B7A57A"/>
                </a:solidFill>
                <a:latin typeface="Arial"/>
              </a:rPr>
              <a:t>A</a:t>
            </a:r>
          </a:p>
        </p:txBody>
      </p:sp>
      <p:sp>
        <p:nvSpPr>
          <p:cNvPr id="534" name="Pt"/>
          <p:cNvSpPr/>
          <p:nvPr/>
        </p:nvSpPr>
        <p:spPr>
          <a:xfrm>
            <a:off x="2171700" y="1352550"/>
            <a:ext cx="304800" cy="304800"/>
          </a:xfrm>
          <a:prstGeom prst="ellipse">
            <a:avLst/>
          </a:prstGeom>
          <a:solidFill>
            <a:srgbClr val="B7A57A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5" name="PL"/>
          <p:cNvSpPr/>
          <p:nvPr/>
        </p:nvSpPr>
        <p:spPr>
          <a:xfrm>
            <a:off x="220980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B7A57A"/>
                </a:solidFill>
                <a:latin typeface="Arial"/>
              </a:rPr>
              <a:t>A</a:t>
            </a:r>
          </a:p>
        </p:txBody>
      </p:sp>
      <p:sp>
        <p:nvSpPr>
          <p:cNvPr id="536" name="Pt"/>
          <p:cNvSpPr/>
          <p:nvPr/>
        </p:nvSpPr>
        <p:spPr>
          <a:xfrm>
            <a:off x="373380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7" name="PL"/>
          <p:cNvSpPr/>
          <p:nvPr/>
        </p:nvSpPr>
        <p:spPr>
          <a:xfrm>
            <a:off x="377190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38" name="Pt"/>
          <p:cNvSpPr/>
          <p:nvPr/>
        </p:nvSpPr>
        <p:spPr>
          <a:xfrm>
            <a:off x="607695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9" name="PL"/>
          <p:cNvSpPr/>
          <p:nvPr/>
        </p:nvSpPr>
        <p:spPr>
          <a:xfrm>
            <a:off x="61150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40" name="Pt"/>
          <p:cNvSpPr/>
          <p:nvPr/>
        </p:nvSpPr>
        <p:spPr>
          <a:xfrm>
            <a:off x="7639050" y="1352550"/>
            <a:ext cx="304800" cy="304800"/>
          </a:xfrm>
          <a:prstGeom prst="ellipse">
            <a:avLst/>
          </a:prstGeom>
          <a:solidFill>
            <a:srgbClr val="00A7B5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1" name="PL"/>
          <p:cNvSpPr/>
          <p:nvPr/>
        </p:nvSpPr>
        <p:spPr>
          <a:xfrm>
            <a:off x="7677150" y="18161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00A7B5"/>
                </a:solidFill>
                <a:latin typeface="Arial"/>
              </a:rPr>
              <a:t>B</a:t>
            </a:r>
          </a:p>
        </p:txBody>
      </p:sp>
      <p:sp>
        <p:nvSpPr>
          <p:cNvPr id="542" name="Q"/>
          <p:cNvSpPr/>
          <p:nvPr/>
        </p:nvSpPr>
        <p:spPr>
          <a:xfrm>
            <a:off x="4476750" y="1314450"/>
            <a:ext cx="381000" cy="381000"/>
          </a:xfrm>
          <a:prstGeom prst="ellipse">
            <a:avLst/>
          </a:prstGeom>
          <a:solidFill>
            <a:srgbClr val="4B2E83"/>
          </a:solidFill>
          <a:ln w="254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3" name="QL"/>
          <p:cNvSpPr/>
          <p:nvPr/>
        </p:nvSpPr>
        <p:spPr>
          <a:xfrm>
            <a:off x="4381500" y="18161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0" bIns="9000" anchor="ctr"/>
          <a:lstStyle/>
          <a:p>
            <a:pPr algn="ctr"/>
            <a:r>
              <a:rPr lang="en-US" sz="1400" b="1" dirty="0">
                <a:solidFill>
                  <a:srgbClr val="4B2E83"/>
                </a:solidFill>
                <a:latin typeface="Arial"/>
              </a:rPr>
              <a:t>x* = 5</a:t>
            </a:r>
          </a:p>
        </p:txBody>
      </p:sp>
      <p:sp>
        <p:nvSpPr>
          <p:cNvPr id="544" name="Step1Hdr"/>
          <p:cNvSpPr/>
          <p:nvPr/>
        </p:nvSpPr>
        <p:spPr>
          <a:xfrm>
            <a:off x="285750" y="25400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1 — compute distances and sort</a:t>
            </a:r>
          </a:p>
        </p:txBody>
      </p:sp>
      <p:sp>
        <p:nvSpPr>
          <p:cNvPr id="545" name="CalcL"/>
          <p:cNvSpPr/>
          <p:nvPr/>
        </p:nvSpPr>
        <p:spPr>
          <a:xfrm>
            <a:off x="571500" y="28448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1) = |5 − 1| =</a:t>
            </a:r>
          </a:p>
        </p:txBody>
      </p:sp>
      <p:sp>
        <p:nvSpPr>
          <p:cNvPr id="546" name="CalcV"/>
          <p:cNvSpPr/>
          <p:nvPr/>
        </p:nvSpPr>
        <p:spPr>
          <a:xfrm>
            <a:off x="2857500" y="28448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4</a:t>
            </a:r>
          </a:p>
        </p:txBody>
      </p:sp>
      <p:sp>
        <p:nvSpPr>
          <p:cNvPr id="547" name="CalcL"/>
          <p:cNvSpPr/>
          <p:nvPr/>
        </p:nvSpPr>
        <p:spPr>
          <a:xfrm>
            <a:off x="571500" y="31750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2) = |5 − 2| =</a:t>
            </a:r>
          </a:p>
        </p:txBody>
      </p:sp>
      <p:sp>
        <p:nvSpPr>
          <p:cNvPr id="548" name="CalcV"/>
          <p:cNvSpPr/>
          <p:nvPr/>
        </p:nvSpPr>
        <p:spPr>
          <a:xfrm>
            <a:off x="2857500" y="31750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3</a:t>
            </a:r>
          </a:p>
        </p:txBody>
      </p:sp>
      <p:sp>
        <p:nvSpPr>
          <p:cNvPr id="549" name="CalcL"/>
          <p:cNvSpPr/>
          <p:nvPr/>
        </p:nvSpPr>
        <p:spPr>
          <a:xfrm>
            <a:off x="571500" y="35052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4) = |5 − 4| =</a:t>
            </a:r>
          </a:p>
        </p:txBody>
      </p:sp>
      <p:sp>
        <p:nvSpPr>
          <p:cNvPr id="550" name="CalcV"/>
          <p:cNvSpPr/>
          <p:nvPr/>
        </p:nvSpPr>
        <p:spPr>
          <a:xfrm>
            <a:off x="2857500" y="35052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1</a:t>
            </a:r>
          </a:p>
        </p:txBody>
      </p:sp>
      <p:sp>
        <p:nvSpPr>
          <p:cNvPr id="551" name="Tag"/>
          <p:cNvSpPr/>
          <p:nvPr/>
        </p:nvSpPr>
        <p:spPr>
          <a:xfrm>
            <a:off x="3333750" y="35179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2" name="CalcL"/>
          <p:cNvSpPr/>
          <p:nvPr/>
        </p:nvSpPr>
        <p:spPr>
          <a:xfrm>
            <a:off x="571500" y="38354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7) = |5 − 7| =</a:t>
            </a:r>
          </a:p>
        </p:txBody>
      </p:sp>
      <p:sp>
        <p:nvSpPr>
          <p:cNvPr id="553" name="CalcV"/>
          <p:cNvSpPr/>
          <p:nvPr/>
        </p:nvSpPr>
        <p:spPr>
          <a:xfrm>
            <a:off x="2857500" y="38354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2</a:t>
            </a:r>
          </a:p>
        </p:txBody>
      </p:sp>
      <p:sp>
        <p:nvSpPr>
          <p:cNvPr id="554" name="Tag"/>
          <p:cNvSpPr/>
          <p:nvPr/>
        </p:nvSpPr>
        <p:spPr>
          <a:xfrm>
            <a:off x="3333750" y="38481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5" name="CalcL"/>
          <p:cNvSpPr/>
          <p:nvPr/>
        </p:nvSpPr>
        <p:spPr>
          <a:xfrm>
            <a:off x="571500" y="41656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d(5, 9) = |5 − 9| =</a:t>
            </a:r>
          </a:p>
        </p:txBody>
      </p:sp>
      <p:sp>
        <p:nvSpPr>
          <p:cNvPr id="556" name="CalcV"/>
          <p:cNvSpPr/>
          <p:nvPr/>
        </p:nvSpPr>
        <p:spPr>
          <a:xfrm>
            <a:off x="2857500" y="41656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4</a:t>
            </a:r>
          </a:p>
        </p:txBody>
      </p:sp>
      <p:sp>
        <p:nvSpPr>
          <p:cNvPr id="557" name="Tag"/>
          <p:cNvSpPr/>
          <p:nvPr/>
        </p:nvSpPr>
        <p:spPr>
          <a:xfrm>
            <a:off x="3333750" y="3187700"/>
            <a:ext cx="857250" cy="171450"/>
          </a:xfrm>
          <a:prstGeom prst="roundRect">
            <a:avLst/>
          </a:prstGeom>
          <a:solidFill>
            <a:srgbClr val="7AB6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nearest</a:t>
            </a:r>
          </a:p>
        </p:txBody>
      </p:sp>
      <p:sp>
        <p:nvSpPr>
          <p:cNvPr id="558" name="Step2Hdr"/>
          <p:cNvSpPr/>
          <p:nvPr/>
        </p:nvSpPr>
        <p:spPr>
          <a:xfrm>
            <a:off x="7394714" y="254000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2 — majority vote of 3 nearest</a:t>
            </a:r>
          </a:p>
        </p:txBody>
      </p:sp>
      <p:sp>
        <p:nvSpPr>
          <p:cNvPr id="559" name="VoteBox"/>
          <p:cNvSpPr/>
          <p:nvPr/>
        </p:nvSpPr>
        <p:spPr>
          <a:xfrm>
            <a:off x="7394714" y="2844800"/>
            <a:ext cx="4286250" cy="1168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7489964" y="29464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3 nearest: x₃ (B, d=1),  x₄ (B, d=2),  x₂ (A, d=3)</a:t>
            </a:r>
          </a:p>
        </p:txBody>
      </p:sp>
      <p:sp>
        <p:nvSpPr>
          <p:cNvPr id="561" name="VoteLine2"/>
          <p:cNvSpPr/>
          <p:nvPr/>
        </p:nvSpPr>
        <p:spPr>
          <a:xfrm>
            <a:off x="7489964" y="33020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Votes:  B = 2,   A = 1</a:t>
            </a:r>
          </a:p>
        </p:txBody>
      </p:sp>
      <p:sp>
        <p:nvSpPr>
          <p:cNvPr id="562" name="VoteLine3"/>
          <p:cNvSpPr/>
          <p:nvPr/>
        </p:nvSpPr>
        <p:spPr>
          <a:xfrm>
            <a:off x="7489964" y="36576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Arial"/>
              </a:rPr>
              <a:t>Predicted label  →  B</a:t>
            </a:r>
          </a:p>
        </p:txBody>
      </p:sp>
      <p:sp>
        <p:nvSpPr>
          <p:cNvPr id="563" name="RatHdr"/>
          <p:cNvSpPr/>
          <p:nvPr/>
        </p:nvSpPr>
        <p:spPr>
          <a:xfrm>
            <a:off x="285750" y="45720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 concentration diagnostic</a:t>
            </a:r>
          </a:p>
        </p:txBody>
      </p:sp>
      <p:sp>
        <p:nvSpPr>
          <p:cNvPr id="564" name="RatBox"/>
          <p:cNvSpPr/>
          <p:nvPr/>
        </p:nvSpPr>
        <p:spPr>
          <a:xfrm>
            <a:off x="285749" y="4800600"/>
            <a:ext cx="11813485" cy="7112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476250" y="49022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min distance = 1     max distance = 4</a:t>
            </a:r>
          </a:p>
        </p:txBody>
      </p:sp>
      <p:sp>
        <p:nvSpPr>
          <p:cNvPr id="566" name="R2"/>
          <p:cNvSpPr/>
          <p:nvPr/>
        </p:nvSpPr>
        <p:spPr>
          <a:xfrm>
            <a:off x="476250" y="51816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max / min  =  4 / 1  =  4.0×     →     neighbors are clearly different from far points</a:t>
            </a:r>
          </a:p>
        </p:txBody>
      </p:sp>
      <p:sp>
        <p:nvSpPr>
          <p:cNvPr id="567" name="TkBar"/>
          <p:cNvSpPr/>
          <p:nvPr/>
        </p:nvSpPr>
        <p:spPr>
          <a:xfrm>
            <a:off x="285750" y="5749236"/>
            <a:ext cx="11525250" cy="635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In 1D, the nearest neighbor is 4× closer than the farthest point — KNN has plenty of signal to vote on.</a:t>
            </a:r>
          </a:p>
        </p:txBody>
      </p:sp>
    </p:spTree>
    <p:extLst>
      <p:ext uri="{BB962C8B-B14F-4D97-AF65-F5344CB8AC3E}">
        <p14:creationId xmlns:p14="http://schemas.microsoft.com/office/powerpoint/2010/main" val="414872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" grpId="0"/>
      <p:bldP spid="503" grpId="0" animBg="1"/>
      <p:bldP spid="504" grpId="0"/>
      <p:bldP spid="505" grpId="0" animBg="1"/>
      <p:bldP spid="506" grpId="0"/>
      <p:bldP spid="507" grpId="0" animBg="1"/>
      <p:bldP spid="508" grpId="0"/>
      <p:bldP spid="511" grpId="0"/>
      <p:bldP spid="513" grpId="0"/>
      <p:bldP spid="515" grpId="0"/>
      <p:bldP spid="517" grpId="0"/>
      <p:bldP spid="519" grpId="0"/>
      <p:bldP spid="521" grpId="0"/>
      <p:bldP spid="523" grpId="0"/>
      <p:bldP spid="525" grpId="0"/>
      <p:bldP spid="527" grpId="0"/>
      <p:bldP spid="529" grpId="0"/>
      <p:bldP spid="531" grpId="0"/>
      <p:bldP spid="532" grpId="0" animBg="1"/>
      <p:bldP spid="533" grpId="0"/>
      <p:bldP spid="534" grpId="0" animBg="1"/>
      <p:bldP spid="535" grpId="0"/>
      <p:bldP spid="536" grpId="0" animBg="1"/>
      <p:bldP spid="537" grpId="0"/>
      <p:bldP spid="538" grpId="0" animBg="1"/>
      <p:bldP spid="539" grpId="0"/>
      <p:bldP spid="540" grpId="0" animBg="1"/>
      <p:bldP spid="541" grpId="0"/>
      <p:bldP spid="542" grpId="0" animBg="1"/>
      <p:bldP spid="543" grpId="0"/>
      <p:bldP spid="544" grpId="0"/>
      <p:bldP spid="545" grpId="0"/>
      <p:bldP spid="546" grpId="0"/>
      <p:bldP spid="547" grpId="0"/>
      <p:bldP spid="548" grpId="0"/>
      <p:bldP spid="549" grpId="0"/>
      <p:bldP spid="550" grpId="0"/>
      <p:bldP spid="551" grpId="0" animBg="1"/>
      <p:bldP spid="552" grpId="0"/>
      <p:bldP spid="553" grpId="0"/>
      <p:bldP spid="554" grpId="0" animBg="1"/>
      <p:bldP spid="555" grpId="0"/>
      <p:bldP spid="556" grpId="0"/>
      <p:bldP spid="557" grpId="0" animBg="1"/>
      <p:bldP spid="558" grpId="0"/>
      <p:bldP spid="559" grpId="0" animBg="1"/>
      <p:bldP spid="560" grpId="0"/>
      <p:bldP spid="561" grpId="0"/>
      <p:bldP spid="562" grpId="0"/>
      <p:bldP spid="563" grpId="0"/>
      <p:bldP spid="564" grpId="0" animBg="1"/>
      <p:bldP spid="564" grpId="1" animBg="1"/>
      <p:bldP spid="565" grpId="0"/>
      <p:bldP spid="566" grpId="0"/>
      <p:bldP spid="5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8572500" cy="28575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2 — d=2 (two features)</a:t>
            </a:r>
          </a:p>
        </p:txBody>
      </p:sp>
      <p:sp>
        <p:nvSpPr>
          <p:cNvPr id="502" name="S1Hdr"/>
          <p:cNvSpPr/>
          <p:nvPr/>
        </p:nvSpPr>
        <p:spPr>
          <a:xfrm>
            <a:off x="285750" y="628650"/>
            <a:ext cx="5334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Training set</a:t>
            </a:r>
          </a:p>
        </p:txBody>
      </p:sp>
      <p:sp>
        <p:nvSpPr>
          <p:cNvPr id="503" name="S1Box"/>
          <p:cNvSpPr/>
          <p:nvPr/>
        </p:nvSpPr>
        <p:spPr>
          <a:xfrm>
            <a:off x="285750" y="819150"/>
            <a:ext cx="5334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Consolas"/>
              </a:rPr>
              <a:t>x₁=(1,2)·A   x₂=(2,1)·A   x₃=(4,8)·B   x₄=(7,5)·B   x₅=(9,9)·B</a:t>
            </a:r>
          </a:p>
        </p:txBody>
      </p:sp>
      <p:sp>
        <p:nvSpPr>
          <p:cNvPr id="504" name="S2Hdr"/>
          <p:cNvSpPr/>
          <p:nvPr/>
        </p:nvSpPr>
        <p:spPr>
          <a:xfrm>
            <a:off x="5842000" y="628650"/>
            <a:ext cx="139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5842000" y="819150"/>
            <a:ext cx="1397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onsolas"/>
              </a:rPr>
              <a:t>x* = (5, 5)</a:t>
            </a:r>
          </a:p>
        </p:txBody>
      </p:sp>
      <p:sp>
        <p:nvSpPr>
          <p:cNvPr id="506" name="S3Hdr"/>
          <p:cNvSpPr/>
          <p:nvPr/>
        </p:nvSpPr>
        <p:spPr>
          <a:xfrm>
            <a:off x="7366000" y="628650"/>
            <a:ext cx="444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000" b="1" dirty="0">
                <a:solidFill>
                  <a:srgbClr val="4B2E83"/>
                </a:solidFill>
                <a:latin typeface="Arial"/>
              </a:rPr>
              <a:t>Distance formula</a:t>
            </a:r>
          </a:p>
        </p:txBody>
      </p:sp>
      <p:sp>
        <p:nvSpPr>
          <p:cNvPr id="507" name="S3Box"/>
          <p:cNvSpPr/>
          <p:nvPr/>
        </p:nvSpPr>
        <p:spPr>
          <a:xfrm>
            <a:off x="7366000" y="819150"/>
            <a:ext cx="4445000" cy="2667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Consolas"/>
              </a:rPr>
              <a:t>d(x,y) = √((x₁−y₁)² + (x₂−y₂)²)</a:t>
            </a:r>
          </a:p>
        </p:txBody>
      </p:sp>
      <p:sp>
        <p:nvSpPr>
          <p:cNvPr id="544" name="Step1Hdr"/>
          <p:cNvSpPr/>
          <p:nvPr/>
        </p:nvSpPr>
        <p:spPr>
          <a:xfrm>
            <a:off x="285750" y="271780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1 — compute distance from x* to every point</a:t>
            </a:r>
          </a:p>
        </p:txBody>
      </p:sp>
      <p:sp>
        <p:nvSpPr>
          <p:cNvPr id="545" name="CalcL"/>
          <p:cNvSpPr/>
          <p:nvPr/>
        </p:nvSpPr>
        <p:spPr>
          <a:xfrm>
            <a:off x="571499" y="3022600"/>
            <a:ext cx="4179673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x₁) = √((5−1)² + (5−2)²) = √(16+9) = √25</a:t>
            </a:r>
          </a:p>
        </p:txBody>
      </p:sp>
      <p:sp>
        <p:nvSpPr>
          <p:cNvPr id="546" name="CalcV"/>
          <p:cNvSpPr/>
          <p:nvPr/>
        </p:nvSpPr>
        <p:spPr>
          <a:xfrm>
            <a:off x="5137150" y="302895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5.00</a:t>
            </a:r>
          </a:p>
        </p:txBody>
      </p:sp>
      <p:sp>
        <p:nvSpPr>
          <p:cNvPr id="547" name="CalcL"/>
          <p:cNvSpPr/>
          <p:nvPr/>
        </p:nvSpPr>
        <p:spPr>
          <a:xfrm>
            <a:off x="571499" y="3352800"/>
            <a:ext cx="4037571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x₂) = √((5−2)² + (5−1)²) = √(9+16) = √25</a:t>
            </a:r>
          </a:p>
        </p:txBody>
      </p:sp>
      <p:sp>
        <p:nvSpPr>
          <p:cNvPr id="548" name="CalcV"/>
          <p:cNvSpPr/>
          <p:nvPr/>
        </p:nvSpPr>
        <p:spPr>
          <a:xfrm>
            <a:off x="5137150" y="335915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5.00</a:t>
            </a:r>
          </a:p>
        </p:txBody>
      </p:sp>
      <p:sp>
        <p:nvSpPr>
          <p:cNvPr id="549" name="CalcL"/>
          <p:cNvSpPr/>
          <p:nvPr/>
        </p:nvSpPr>
        <p:spPr>
          <a:xfrm>
            <a:off x="571500" y="3683000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x₃) = √((5−4)² + (5−8)²) = √(1+9) = √10</a:t>
            </a:r>
          </a:p>
        </p:txBody>
      </p:sp>
      <p:sp>
        <p:nvSpPr>
          <p:cNvPr id="550" name="CalcV"/>
          <p:cNvSpPr/>
          <p:nvPr/>
        </p:nvSpPr>
        <p:spPr>
          <a:xfrm>
            <a:off x="5137150" y="368935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3.16</a:t>
            </a:r>
          </a:p>
        </p:txBody>
      </p:sp>
      <p:sp>
        <p:nvSpPr>
          <p:cNvPr id="551" name="Tag"/>
          <p:cNvSpPr/>
          <p:nvPr/>
        </p:nvSpPr>
        <p:spPr>
          <a:xfrm>
            <a:off x="5628030" y="366229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2nd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CalcL"/>
          <p:cNvSpPr/>
          <p:nvPr/>
        </p:nvSpPr>
        <p:spPr>
          <a:xfrm>
            <a:off x="571500" y="4013200"/>
            <a:ext cx="38481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x₄) = √((5−7)² + (5−5)²) = √(4+0) = √4</a:t>
            </a:r>
          </a:p>
        </p:txBody>
      </p:sp>
      <p:sp>
        <p:nvSpPr>
          <p:cNvPr id="553" name="CalcV"/>
          <p:cNvSpPr/>
          <p:nvPr/>
        </p:nvSpPr>
        <p:spPr>
          <a:xfrm>
            <a:off x="5137150" y="401955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Consolas"/>
              </a:rPr>
              <a:t>2.00</a:t>
            </a:r>
          </a:p>
        </p:txBody>
      </p:sp>
      <p:sp>
        <p:nvSpPr>
          <p:cNvPr id="554" name="Tag"/>
          <p:cNvSpPr/>
          <p:nvPr/>
        </p:nvSpPr>
        <p:spPr>
          <a:xfrm>
            <a:off x="5628030" y="399249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1st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CalcL"/>
          <p:cNvSpPr/>
          <p:nvPr/>
        </p:nvSpPr>
        <p:spPr>
          <a:xfrm>
            <a:off x="571499" y="4343400"/>
            <a:ext cx="4117889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d(x*, x₅) = √((5−9)² + (5−9)²) = √(16+16) = √32</a:t>
            </a:r>
          </a:p>
        </p:txBody>
      </p:sp>
      <p:sp>
        <p:nvSpPr>
          <p:cNvPr id="556" name="CalcV"/>
          <p:cNvSpPr/>
          <p:nvPr/>
        </p:nvSpPr>
        <p:spPr>
          <a:xfrm>
            <a:off x="5137150" y="4349750"/>
            <a:ext cx="48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888888"/>
                </a:solidFill>
                <a:latin typeface="Consolas"/>
              </a:rPr>
              <a:t>5.66</a:t>
            </a:r>
          </a:p>
        </p:txBody>
      </p:sp>
      <p:sp>
        <p:nvSpPr>
          <p:cNvPr id="557" name="Tag"/>
          <p:cNvSpPr/>
          <p:nvPr/>
        </p:nvSpPr>
        <p:spPr>
          <a:xfrm>
            <a:off x="5628030" y="3001894"/>
            <a:ext cx="635000" cy="17145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tied 3rd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7" name="Tag"/>
          <p:cNvSpPr/>
          <p:nvPr/>
        </p:nvSpPr>
        <p:spPr>
          <a:xfrm>
            <a:off x="5628030" y="3332094"/>
            <a:ext cx="635000" cy="17145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rial"/>
              </a:rPr>
              <a:t>tied 3rd</a:t>
            </a:r>
            <a:endParaRPr lang="en-US"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tep2Hdr"/>
          <p:cNvSpPr/>
          <p:nvPr/>
        </p:nvSpPr>
        <p:spPr>
          <a:xfrm>
            <a:off x="7984988" y="2717800"/>
            <a:ext cx="3848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Step 2 — 3-NN majority vote</a:t>
            </a:r>
          </a:p>
        </p:txBody>
      </p:sp>
      <p:sp>
        <p:nvSpPr>
          <p:cNvPr id="559" name="VoteBox"/>
          <p:cNvSpPr/>
          <p:nvPr/>
        </p:nvSpPr>
        <p:spPr>
          <a:xfrm>
            <a:off x="7984988" y="3022600"/>
            <a:ext cx="3848100" cy="11684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8111988" y="31242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1st: x₄=(7,5)·B  at 2.00      2nd: x₃=(4,8)·B  at 3.16</a:t>
            </a:r>
          </a:p>
        </p:txBody>
      </p:sp>
      <p:sp>
        <p:nvSpPr>
          <p:cNvPr id="561" name="VoteLine2"/>
          <p:cNvSpPr/>
          <p:nvPr/>
        </p:nvSpPr>
        <p:spPr>
          <a:xfrm>
            <a:off x="8111988" y="34798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3rd: x₁=(1,2)·A  at 5.00  (tied with x₂; break by index)</a:t>
            </a:r>
          </a:p>
        </p:txBody>
      </p:sp>
      <p:sp>
        <p:nvSpPr>
          <p:cNvPr id="562" name="VoteLine3"/>
          <p:cNvSpPr/>
          <p:nvPr/>
        </p:nvSpPr>
        <p:spPr>
          <a:xfrm>
            <a:off x="8111988" y="3835400"/>
            <a:ext cx="3594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300" b="1" dirty="0">
                <a:solidFill>
                  <a:srgbClr val="7AB648"/>
                </a:solidFill>
                <a:latin typeface="Arial"/>
              </a:rPr>
              <a:t>Vote → B (2 of 3)</a:t>
            </a:r>
          </a:p>
        </p:txBody>
      </p:sp>
      <p:sp>
        <p:nvSpPr>
          <p:cNvPr id="563" name="RatHdr"/>
          <p:cNvSpPr/>
          <p:nvPr/>
        </p:nvSpPr>
        <p:spPr>
          <a:xfrm>
            <a:off x="285750" y="49784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 diagnostic — ratio of farthest to nearest neighbor</a:t>
            </a:r>
          </a:p>
        </p:txBody>
      </p:sp>
      <p:sp>
        <p:nvSpPr>
          <p:cNvPr id="564" name="RatBox"/>
          <p:cNvSpPr/>
          <p:nvPr/>
        </p:nvSpPr>
        <p:spPr>
          <a:xfrm>
            <a:off x="285750" y="5207000"/>
            <a:ext cx="11547338" cy="7112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476250" y="53086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max distance = 5.66       min distance = 2.00</a:t>
            </a:r>
          </a:p>
        </p:txBody>
      </p:sp>
      <p:sp>
        <p:nvSpPr>
          <p:cNvPr id="566" name="R2"/>
          <p:cNvSpPr/>
          <p:nvPr/>
        </p:nvSpPr>
        <p:spPr>
          <a:xfrm>
            <a:off x="476250" y="5588000"/>
            <a:ext cx="838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onsolas"/>
              </a:rPr>
              <a:t>ratio = 5.66 / 2.00 = 2.83×  (still useful — nearest is clearly closer than farthest)</a:t>
            </a:r>
          </a:p>
        </p:txBody>
      </p:sp>
      <p:sp>
        <p:nvSpPr>
          <p:cNvPr id="567" name="TkBar"/>
          <p:cNvSpPr/>
          <p:nvPr/>
        </p:nvSpPr>
        <p:spPr>
          <a:xfrm>
            <a:off x="285749" y="6026428"/>
            <a:ext cx="11547337" cy="33655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</a:rPr>
              <a:t>In d=2, distances still discriminate well: the nearest neighbor is 2.83× closer than the farthest. KNN's similarity signal is intact.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BC27DA-2A44-7043-A5B9-C7A35FAE90B8}"/>
              </a:ext>
            </a:extLst>
          </p:cNvPr>
          <p:cNvSpPr txBox="1"/>
          <p:nvPr/>
        </p:nvSpPr>
        <p:spPr>
          <a:xfrm>
            <a:off x="279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3E022-6634-2C46-8401-981D18043FDA}"/>
              </a:ext>
            </a:extLst>
          </p:cNvPr>
          <p:cNvSpPr txBox="1"/>
          <p:nvPr/>
        </p:nvSpPr>
        <p:spPr>
          <a:xfrm>
            <a:off x="203200" y="241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FDA62-9FAE-3B49-8AE3-54638A8E9663}"/>
              </a:ext>
            </a:extLst>
          </p:cNvPr>
          <p:cNvSpPr txBox="1"/>
          <p:nvPr/>
        </p:nvSpPr>
        <p:spPr>
          <a:xfrm>
            <a:off x="1676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DFE7B-FAC6-6A4E-A880-9E35219760BC}"/>
              </a:ext>
            </a:extLst>
          </p:cNvPr>
          <p:cNvSpPr txBox="1"/>
          <p:nvPr/>
        </p:nvSpPr>
        <p:spPr>
          <a:xfrm>
            <a:off x="203200" y="1778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DA4D4-BEBA-3046-AA36-9AE2F825972B}"/>
              </a:ext>
            </a:extLst>
          </p:cNvPr>
          <p:cNvSpPr txBox="1"/>
          <p:nvPr/>
        </p:nvSpPr>
        <p:spPr>
          <a:xfrm>
            <a:off x="3073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C60EC-07A5-6E4F-B68F-E0E6E93FDBA7}"/>
              </a:ext>
            </a:extLst>
          </p:cNvPr>
          <p:cNvSpPr txBox="1"/>
          <p:nvPr/>
        </p:nvSpPr>
        <p:spPr>
          <a:xfrm>
            <a:off x="203200" y="114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81DBC5-71DD-A540-8897-F0BC36E540D0}"/>
              </a:ext>
            </a:extLst>
          </p:cNvPr>
          <p:cNvSpPr txBox="1"/>
          <p:nvPr/>
        </p:nvSpPr>
        <p:spPr>
          <a:xfrm>
            <a:off x="1676400" y="26289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8A23C-30E8-784A-A406-5E6FEA01D1A8}"/>
              </a:ext>
            </a:extLst>
          </p:cNvPr>
          <p:cNvSpPr txBox="1"/>
          <p:nvPr/>
        </p:nvSpPr>
        <p:spPr>
          <a:xfrm>
            <a:off x="101600" y="1765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19" name="PlotBox">
            <a:extLst>
              <a:ext uri="{FF2B5EF4-FFF2-40B4-BE49-F238E27FC236}">
                <a16:creationId xmlns:a16="http://schemas.microsoft.com/office/drawing/2014/main" id="{88B08BC7-5E57-AA46-A5ED-BAF991BE5653}"/>
              </a:ext>
            </a:extLst>
          </p:cNvPr>
          <p:cNvSpPr/>
          <p:nvPr/>
        </p:nvSpPr>
        <p:spPr>
          <a:xfrm>
            <a:off x="381000" y="1206500"/>
            <a:ext cx="2794000" cy="12700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Gv">
            <a:extLst>
              <a:ext uri="{FF2B5EF4-FFF2-40B4-BE49-F238E27FC236}">
                <a16:creationId xmlns:a16="http://schemas.microsoft.com/office/drawing/2014/main" id="{1CCEEDDF-5D7B-3642-9444-C5DFF40CBF8E}"/>
              </a:ext>
            </a:extLst>
          </p:cNvPr>
          <p:cNvSpPr/>
          <p:nvPr/>
        </p:nvSpPr>
        <p:spPr>
          <a:xfrm>
            <a:off x="10795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Gh">
            <a:extLst>
              <a:ext uri="{FF2B5EF4-FFF2-40B4-BE49-F238E27FC236}">
                <a16:creationId xmlns:a16="http://schemas.microsoft.com/office/drawing/2014/main" id="{45C90424-6A00-1C4C-AB3D-C65B5B237B81}"/>
              </a:ext>
            </a:extLst>
          </p:cNvPr>
          <p:cNvSpPr/>
          <p:nvPr/>
        </p:nvSpPr>
        <p:spPr>
          <a:xfrm>
            <a:off x="381000" y="21590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Gv">
            <a:extLst>
              <a:ext uri="{FF2B5EF4-FFF2-40B4-BE49-F238E27FC236}">
                <a16:creationId xmlns:a16="http://schemas.microsoft.com/office/drawing/2014/main" id="{FD532913-4B8A-374A-A770-7DD6B6C4792D}"/>
              </a:ext>
            </a:extLst>
          </p:cNvPr>
          <p:cNvSpPr/>
          <p:nvPr/>
        </p:nvSpPr>
        <p:spPr>
          <a:xfrm>
            <a:off x="17780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Gh">
            <a:extLst>
              <a:ext uri="{FF2B5EF4-FFF2-40B4-BE49-F238E27FC236}">
                <a16:creationId xmlns:a16="http://schemas.microsoft.com/office/drawing/2014/main" id="{8C24F012-34C0-4442-A70A-A1C55ADF8089}"/>
              </a:ext>
            </a:extLst>
          </p:cNvPr>
          <p:cNvSpPr/>
          <p:nvPr/>
        </p:nvSpPr>
        <p:spPr>
          <a:xfrm>
            <a:off x="381000" y="18415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Gv">
            <a:extLst>
              <a:ext uri="{FF2B5EF4-FFF2-40B4-BE49-F238E27FC236}">
                <a16:creationId xmlns:a16="http://schemas.microsoft.com/office/drawing/2014/main" id="{C5923017-E320-BE4A-AFE3-60719129ED5A}"/>
              </a:ext>
            </a:extLst>
          </p:cNvPr>
          <p:cNvSpPr/>
          <p:nvPr/>
        </p:nvSpPr>
        <p:spPr>
          <a:xfrm>
            <a:off x="2476500" y="1206500"/>
            <a:ext cx="6350" cy="127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Gh">
            <a:extLst>
              <a:ext uri="{FF2B5EF4-FFF2-40B4-BE49-F238E27FC236}">
                <a16:creationId xmlns:a16="http://schemas.microsoft.com/office/drawing/2014/main" id="{CDD963FC-D62B-C845-8CDD-E18764864350}"/>
              </a:ext>
            </a:extLst>
          </p:cNvPr>
          <p:cNvSpPr/>
          <p:nvPr/>
        </p:nvSpPr>
        <p:spPr>
          <a:xfrm>
            <a:off x="381000" y="1524000"/>
            <a:ext cx="2794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AxX">
            <a:extLst>
              <a:ext uri="{FF2B5EF4-FFF2-40B4-BE49-F238E27FC236}">
                <a16:creationId xmlns:a16="http://schemas.microsoft.com/office/drawing/2014/main" id="{0E953B13-B1EC-6349-A915-7529B1ED3ECB}"/>
              </a:ext>
            </a:extLst>
          </p:cNvPr>
          <p:cNvSpPr/>
          <p:nvPr/>
        </p:nvSpPr>
        <p:spPr>
          <a:xfrm>
            <a:off x="381000" y="2476500"/>
            <a:ext cx="27940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AxY">
            <a:extLst>
              <a:ext uri="{FF2B5EF4-FFF2-40B4-BE49-F238E27FC236}">
                <a16:creationId xmlns:a16="http://schemas.microsoft.com/office/drawing/2014/main" id="{6C905D4C-E461-EA4C-8C07-E868922EFDAC}"/>
              </a:ext>
            </a:extLst>
          </p:cNvPr>
          <p:cNvSpPr/>
          <p:nvPr/>
        </p:nvSpPr>
        <p:spPr>
          <a:xfrm>
            <a:off x="381000" y="1206500"/>
            <a:ext cx="12700" cy="12700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Lbl">
            <a:extLst>
              <a:ext uri="{FF2B5EF4-FFF2-40B4-BE49-F238E27FC236}">
                <a16:creationId xmlns:a16="http://schemas.microsoft.com/office/drawing/2014/main" id="{CBE59B16-3B26-9646-B04B-F8F633BEB3F3}"/>
              </a:ext>
            </a:extLst>
          </p:cNvPr>
          <p:cNvSpPr txBox="1"/>
          <p:nvPr/>
        </p:nvSpPr>
        <p:spPr>
          <a:xfrm>
            <a:off x="279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29" name="TLbl">
            <a:extLst>
              <a:ext uri="{FF2B5EF4-FFF2-40B4-BE49-F238E27FC236}">
                <a16:creationId xmlns:a16="http://schemas.microsoft.com/office/drawing/2014/main" id="{41C29D46-E2A0-8C4A-9449-56E74ABCD26E}"/>
              </a:ext>
            </a:extLst>
          </p:cNvPr>
          <p:cNvSpPr txBox="1"/>
          <p:nvPr/>
        </p:nvSpPr>
        <p:spPr>
          <a:xfrm>
            <a:off x="203200" y="241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30" name="TLbl">
            <a:extLst>
              <a:ext uri="{FF2B5EF4-FFF2-40B4-BE49-F238E27FC236}">
                <a16:creationId xmlns:a16="http://schemas.microsoft.com/office/drawing/2014/main" id="{0B2ACC9E-8F01-EF4C-9FFC-CB66CEC097B3}"/>
              </a:ext>
            </a:extLst>
          </p:cNvPr>
          <p:cNvSpPr txBox="1"/>
          <p:nvPr/>
        </p:nvSpPr>
        <p:spPr>
          <a:xfrm>
            <a:off x="1676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1" name="TLbl">
            <a:extLst>
              <a:ext uri="{FF2B5EF4-FFF2-40B4-BE49-F238E27FC236}">
                <a16:creationId xmlns:a16="http://schemas.microsoft.com/office/drawing/2014/main" id="{80A70DD9-1F80-274C-BBAA-F19FD7E37CE5}"/>
              </a:ext>
            </a:extLst>
          </p:cNvPr>
          <p:cNvSpPr txBox="1"/>
          <p:nvPr/>
        </p:nvSpPr>
        <p:spPr>
          <a:xfrm>
            <a:off x="203200" y="1778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2" name="TLbl">
            <a:extLst>
              <a:ext uri="{FF2B5EF4-FFF2-40B4-BE49-F238E27FC236}">
                <a16:creationId xmlns:a16="http://schemas.microsoft.com/office/drawing/2014/main" id="{7A0B2E2C-A84D-8647-B717-E535EC373904}"/>
              </a:ext>
            </a:extLst>
          </p:cNvPr>
          <p:cNvSpPr txBox="1"/>
          <p:nvPr/>
        </p:nvSpPr>
        <p:spPr>
          <a:xfrm>
            <a:off x="3073400" y="2501900"/>
            <a:ext cx="2032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3" name="TLbl">
            <a:extLst>
              <a:ext uri="{FF2B5EF4-FFF2-40B4-BE49-F238E27FC236}">
                <a16:creationId xmlns:a16="http://schemas.microsoft.com/office/drawing/2014/main" id="{D8EED82B-995D-7A4E-8E43-7B2F60827402}"/>
              </a:ext>
            </a:extLst>
          </p:cNvPr>
          <p:cNvSpPr txBox="1"/>
          <p:nvPr/>
        </p:nvSpPr>
        <p:spPr>
          <a:xfrm>
            <a:off x="203200" y="1143000"/>
            <a:ext cx="152400" cy="114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4" name="TLbl">
            <a:extLst>
              <a:ext uri="{FF2B5EF4-FFF2-40B4-BE49-F238E27FC236}">
                <a16:creationId xmlns:a16="http://schemas.microsoft.com/office/drawing/2014/main" id="{A1A74255-BBE7-264B-9FF8-7DD9C55E371A}"/>
              </a:ext>
            </a:extLst>
          </p:cNvPr>
          <p:cNvSpPr txBox="1"/>
          <p:nvPr/>
        </p:nvSpPr>
        <p:spPr>
          <a:xfrm>
            <a:off x="1651000" y="2438400"/>
            <a:ext cx="203200" cy="101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36" name="NN">
            <a:extLst>
              <a:ext uri="{FF2B5EF4-FFF2-40B4-BE49-F238E27FC236}">
                <a16:creationId xmlns:a16="http://schemas.microsoft.com/office/drawing/2014/main" id="{099FF529-746C-824A-8BC4-AA6F21D38C1E}"/>
              </a:ext>
            </a:extLst>
          </p:cNvPr>
          <p:cNvSpPr/>
          <p:nvPr/>
        </p:nvSpPr>
        <p:spPr>
          <a:xfrm>
            <a:off x="1778000" y="1828800"/>
            <a:ext cx="558800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NN">
            <a:extLst>
              <a:ext uri="{FF2B5EF4-FFF2-40B4-BE49-F238E27FC236}">
                <a16:creationId xmlns:a16="http://schemas.microsoft.com/office/drawing/2014/main" id="{678BB06E-B775-4E4A-B70A-913860D48B37}"/>
              </a:ext>
            </a:extLst>
          </p:cNvPr>
          <p:cNvSpPr/>
          <p:nvPr/>
        </p:nvSpPr>
        <p:spPr>
          <a:xfrm rot="-7575230">
            <a:off x="1402066" y="1638300"/>
            <a:ext cx="472467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NN">
            <a:extLst>
              <a:ext uri="{FF2B5EF4-FFF2-40B4-BE49-F238E27FC236}">
                <a16:creationId xmlns:a16="http://schemas.microsoft.com/office/drawing/2014/main" id="{AC598229-7B52-BC4D-B66B-8721C3644361}"/>
              </a:ext>
            </a:extLst>
          </p:cNvPr>
          <p:cNvSpPr/>
          <p:nvPr/>
        </p:nvSpPr>
        <p:spPr>
          <a:xfrm rot="9670517">
            <a:off x="628820" y="2019300"/>
            <a:ext cx="1180758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Lbl">
            <a:extLst>
              <a:ext uri="{FF2B5EF4-FFF2-40B4-BE49-F238E27FC236}">
                <a16:creationId xmlns:a16="http://schemas.microsoft.com/office/drawing/2014/main" id="{BAD66D91-FC7B-C644-BCB3-EE803B14D505}"/>
              </a:ext>
            </a:extLst>
          </p:cNvPr>
          <p:cNvSpPr txBox="1"/>
          <p:nvPr/>
        </p:nvSpPr>
        <p:spPr>
          <a:xfrm>
            <a:off x="228600" y="1079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39" name="TPt">
            <a:extLst>
              <a:ext uri="{FF2B5EF4-FFF2-40B4-BE49-F238E27FC236}">
                <a16:creationId xmlns:a16="http://schemas.microsoft.com/office/drawing/2014/main" id="{0ABC952F-844B-4C46-8850-003238C75303}"/>
              </a:ext>
            </a:extLst>
          </p:cNvPr>
          <p:cNvSpPr/>
          <p:nvPr/>
        </p:nvSpPr>
        <p:spPr>
          <a:xfrm>
            <a:off x="584200" y="2146300"/>
            <a:ext cx="152400" cy="1524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Lbl">
            <a:extLst>
              <a:ext uri="{FF2B5EF4-FFF2-40B4-BE49-F238E27FC236}">
                <a16:creationId xmlns:a16="http://schemas.microsoft.com/office/drawing/2014/main" id="{C5B5618A-D248-834B-91B1-B15A0B04BDF0}"/>
              </a:ext>
            </a:extLst>
          </p:cNvPr>
          <p:cNvSpPr txBox="1"/>
          <p:nvPr/>
        </p:nvSpPr>
        <p:spPr>
          <a:xfrm>
            <a:off x="1651000" y="2438400"/>
            <a:ext cx="203200" cy="101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00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41" name="TPt">
            <a:extLst>
              <a:ext uri="{FF2B5EF4-FFF2-40B4-BE49-F238E27FC236}">
                <a16:creationId xmlns:a16="http://schemas.microsoft.com/office/drawing/2014/main" id="{8BB3143A-6644-3546-A014-54E464224AF6}"/>
              </a:ext>
            </a:extLst>
          </p:cNvPr>
          <p:cNvSpPr/>
          <p:nvPr/>
        </p:nvSpPr>
        <p:spPr>
          <a:xfrm>
            <a:off x="863600" y="2273300"/>
            <a:ext cx="152400" cy="1524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Lbl">
            <a:extLst>
              <a:ext uri="{FF2B5EF4-FFF2-40B4-BE49-F238E27FC236}">
                <a16:creationId xmlns:a16="http://schemas.microsoft.com/office/drawing/2014/main" id="{0C12F9AF-6425-6A4E-AEB3-4FC9A3566D51}"/>
              </a:ext>
            </a:extLst>
          </p:cNvPr>
          <p:cNvSpPr txBox="1"/>
          <p:nvPr/>
        </p:nvSpPr>
        <p:spPr>
          <a:xfrm>
            <a:off x="228600" y="1079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43" name="TPt">
            <a:extLst>
              <a:ext uri="{FF2B5EF4-FFF2-40B4-BE49-F238E27FC236}">
                <a16:creationId xmlns:a16="http://schemas.microsoft.com/office/drawing/2014/main" id="{D6EB00FC-0DD7-4747-AD11-3712ABE0C4AE}"/>
              </a:ext>
            </a:extLst>
          </p:cNvPr>
          <p:cNvSpPr/>
          <p:nvPr/>
        </p:nvSpPr>
        <p:spPr>
          <a:xfrm>
            <a:off x="1422400" y="1384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Lbl">
            <a:extLst>
              <a:ext uri="{FF2B5EF4-FFF2-40B4-BE49-F238E27FC236}">
                <a16:creationId xmlns:a16="http://schemas.microsoft.com/office/drawing/2014/main" id="{4624C2ED-8143-FA4D-9AB0-4404F365C439}"/>
              </a:ext>
            </a:extLst>
          </p:cNvPr>
          <p:cNvSpPr txBox="1"/>
          <p:nvPr/>
        </p:nvSpPr>
        <p:spPr>
          <a:xfrm>
            <a:off x="1600200" y="1358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x₃</a:t>
            </a:r>
          </a:p>
        </p:txBody>
      </p:sp>
      <p:sp>
        <p:nvSpPr>
          <p:cNvPr id="45" name="TPt">
            <a:extLst>
              <a:ext uri="{FF2B5EF4-FFF2-40B4-BE49-F238E27FC236}">
                <a16:creationId xmlns:a16="http://schemas.microsoft.com/office/drawing/2014/main" id="{7E744250-9AC6-5A42-AA63-E94C1739AD9E}"/>
              </a:ext>
            </a:extLst>
          </p:cNvPr>
          <p:cNvSpPr/>
          <p:nvPr/>
        </p:nvSpPr>
        <p:spPr>
          <a:xfrm>
            <a:off x="2260600" y="1765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Lbl">
            <a:extLst>
              <a:ext uri="{FF2B5EF4-FFF2-40B4-BE49-F238E27FC236}">
                <a16:creationId xmlns:a16="http://schemas.microsoft.com/office/drawing/2014/main" id="{D3358B9C-915C-7C43-A8DB-A9FBFC5855A9}"/>
              </a:ext>
            </a:extLst>
          </p:cNvPr>
          <p:cNvSpPr txBox="1"/>
          <p:nvPr/>
        </p:nvSpPr>
        <p:spPr>
          <a:xfrm>
            <a:off x="2438400" y="1739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x₄</a:t>
            </a:r>
          </a:p>
        </p:txBody>
      </p:sp>
      <p:sp>
        <p:nvSpPr>
          <p:cNvPr id="47" name="TPt">
            <a:extLst>
              <a:ext uri="{FF2B5EF4-FFF2-40B4-BE49-F238E27FC236}">
                <a16:creationId xmlns:a16="http://schemas.microsoft.com/office/drawing/2014/main" id="{38E5136C-CACD-E545-9B82-3C4617D0E212}"/>
              </a:ext>
            </a:extLst>
          </p:cNvPr>
          <p:cNvSpPr/>
          <p:nvPr/>
        </p:nvSpPr>
        <p:spPr>
          <a:xfrm>
            <a:off x="2819400" y="1257300"/>
            <a:ext cx="152400" cy="1524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Lbl">
            <a:extLst>
              <a:ext uri="{FF2B5EF4-FFF2-40B4-BE49-F238E27FC236}">
                <a16:creationId xmlns:a16="http://schemas.microsoft.com/office/drawing/2014/main" id="{72CB8294-1FEC-A148-A528-E534F9C62815}"/>
              </a:ext>
            </a:extLst>
          </p:cNvPr>
          <p:cNvSpPr txBox="1"/>
          <p:nvPr/>
        </p:nvSpPr>
        <p:spPr>
          <a:xfrm>
            <a:off x="2997200" y="12319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x₅</a:t>
            </a:r>
          </a:p>
        </p:txBody>
      </p:sp>
      <p:sp>
        <p:nvSpPr>
          <p:cNvPr id="49" name="QPt">
            <a:extLst>
              <a:ext uri="{FF2B5EF4-FFF2-40B4-BE49-F238E27FC236}">
                <a16:creationId xmlns:a16="http://schemas.microsoft.com/office/drawing/2014/main" id="{C0D6C787-9ACF-FC44-B853-D404C5419364}"/>
              </a:ext>
            </a:extLst>
          </p:cNvPr>
          <p:cNvSpPr/>
          <p:nvPr/>
        </p:nvSpPr>
        <p:spPr>
          <a:xfrm>
            <a:off x="1676400" y="1739900"/>
            <a:ext cx="203200" cy="203200"/>
          </a:xfrm>
          <a:prstGeom prst="diamond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Lbl">
            <a:extLst>
              <a:ext uri="{FF2B5EF4-FFF2-40B4-BE49-F238E27FC236}">
                <a16:creationId xmlns:a16="http://schemas.microsoft.com/office/drawing/2014/main" id="{A456C6FE-E20E-BE4D-BB8B-64040CCFEE12}"/>
              </a:ext>
            </a:extLst>
          </p:cNvPr>
          <p:cNvSpPr txBox="1"/>
          <p:nvPr/>
        </p:nvSpPr>
        <p:spPr>
          <a:xfrm>
            <a:off x="1905000" y="1765300"/>
            <a:ext cx="6350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4B2E83"/>
                </a:solidFill>
              </a:rPr>
              <a:t>x*</a:t>
            </a:r>
          </a:p>
        </p:txBody>
      </p:sp>
      <p:sp>
        <p:nvSpPr>
          <p:cNvPr id="51" name="LgDot">
            <a:extLst>
              <a:ext uri="{FF2B5EF4-FFF2-40B4-BE49-F238E27FC236}">
                <a16:creationId xmlns:a16="http://schemas.microsoft.com/office/drawing/2014/main" id="{410A1CAC-6BFA-2840-86CF-4B78807B740C}"/>
              </a:ext>
            </a:extLst>
          </p:cNvPr>
          <p:cNvSpPr/>
          <p:nvPr/>
        </p:nvSpPr>
        <p:spPr>
          <a:xfrm>
            <a:off x="3429000" y="1295400"/>
            <a:ext cx="127000" cy="127000"/>
          </a:xfrm>
          <a:prstGeom prst="ellipse">
            <a:avLst/>
          </a:prstGeom>
          <a:solidFill>
            <a:srgbClr val="B7A57A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Lbl">
            <a:extLst>
              <a:ext uri="{FF2B5EF4-FFF2-40B4-BE49-F238E27FC236}">
                <a16:creationId xmlns:a16="http://schemas.microsoft.com/office/drawing/2014/main" id="{B296086D-23D7-E341-8092-4F0CB6A9A8A7}"/>
              </a:ext>
            </a:extLst>
          </p:cNvPr>
          <p:cNvSpPr txBox="1"/>
          <p:nvPr/>
        </p:nvSpPr>
        <p:spPr>
          <a:xfrm>
            <a:off x="3657600" y="12954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Class A</a:t>
            </a:r>
          </a:p>
        </p:txBody>
      </p:sp>
      <p:sp>
        <p:nvSpPr>
          <p:cNvPr id="53" name="LgDot">
            <a:extLst>
              <a:ext uri="{FF2B5EF4-FFF2-40B4-BE49-F238E27FC236}">
                <a16:creationId xmlns:a16="http://schemas.microsoft.com/office/drawing/2014/main" id="{DA324B21-3534-8249-8E00-B623386A51FD}"/>
              </a:ext>
            </a:extLst>
          </p:cNvPr>
          <p:cNvSpPr/>
          <p:nvPr/>
        </p:nvSpPr>
        <p:spPr>
          <a:xfrm>
            <a:off x="3429000" y="1524000"/>
            <a:ext cx="127000" cy="127000"/>
          </a:xfrm>
          <a:prstGeom prst="ellipse">
            <a:avLst/>
          </a:prstGeom>
          <a:solidFill>
            <a:srgbClr val="00A7B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Lbl">
            <a:extLst>
              <a:ext uri="{FF2B5EF4-FFF2-40B4-BE49-F238E27FC236}">
                <a16:creationId xmlns:a16="http://schemas.microsoft.com/office/drawing/2014/main" id="{4D7CB4F1-546E-EE4A-AEB4-51CF2F7F7B57}"/>
              </a:ext>
            </a:extLst>
          </p:cNvPr>
          <p:cNvSpPr txBox="1"/>
          <p:nvPr/>
        </p:nvSpPr>
        <p:spPr>
          <a:xfrm>
            <a:off x="3657600" y="15240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Class B</a:t>
            </a:r>
          </a:p>
        </p:txBody>
      </p:sp>
      <p:sp>
        <p:nvSpPr>
          <p:cNvPr id="55" name="LgDiam">
            <a:extLst>
              <a:ext uri="{FF2B5EF4-FFF2-40B4-BE49-F238E27FC236}">
                <a16:creationId xmlns:a16="http://schemas.microsoft.com/office/drawing/2014/main" id="{7325507D-D264-BF49-8A27-7B079230BD22}"/>
              </a:ext>
            </a:extLst>
          </p:cNvPr>
          <p:cNvSpPr/>
          <p:nvPr/>
        </p:nvSpPr>
        <p:spPr>
          <a:xfrm>
            <a:off x="3429000" y="1739900"/>
            <a:ext cx="139700" cy="139700"/>
          </a:xfrm>
          <a:prstGeom prst="diamond">
            <a:avLst/>
          </a:prstGeom>
          <a:solidFill>
            <a:srgbClr val="4B2E8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Lbl">
            <a:extLst>
              <a:ext uri="{FF2B5EF4-FFF2-40B4-BE49-F238E27FC236}">
                <a16:creationId xmlns:a16="http://schemas.microsoft.com/office/drawing/2014/main" id="{E6AC8449-04F3-1742-9912-B0708622F10E}"/>
              </a:ext>
            </a:extLst>
          </p:cNvPr>
          <p:cNvSpPr txBox="1"/>
          <p:nvPr/>
        </p:nvSpPr>
        <p:spPr>
          <a:xfrm>
            <a:off x="3657600" y="17526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Query x*=(5,5)</a:t>
            </a:r>
          </a:p>
        </p:txBody>
      </p:sp>
      <p:sp>
        <p:nvSpPr>
          <p:cNvPr id="57" name="LgLine">
            <a:extLst>
              <a:ext uri="{FF2B5EF4-FFF2-40B4-BE49-F238E27FC236}">
                <a16:creationId xmlns:a16="http://schemas.microsoft.com/office/drawing/2014/main" id="{83AE7ECD-F641-B74C-AD9C-EA7C56EE7F7A}"/>
              </a:ext>
            </a:extLst>
          </p:cNvPr>
          <p:cNvSpPr/>
          <p:nvPr/>
        </p:nvSpPr>
        <p:spPr>
          <a:xfrm>
            <a:off x="3429000" y="2032000"/>
            <a:ext cx="177800" cy="1905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Lbl">
            <a:extLst>
              <a:ext uri="{FF2B5EF4-FFF2-40B4-BE49-F238E27FC236}">
                <a16:creationId xmlns:a16="http://schemas.microsoft.com/office/drawing/2014/main" id="{093AFB24-B03E-1445-BEBB-C9759E200717}"/>
              </a:ext>
            </a:extLst>
          </p:cNvPr>
          <p:cNvSpPr txBox="1"/>
          <p:nvPr/>
        </p:nvSpPr>
        <p:spPr>
          <a:xfrm>
            <a:off x="3657600" y="1981200"/>
            <a:ext cx="13970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333333"/>
                </a:solidFill>
              </a:rPr>
              <a:t>3 nearest neighbors</a:t>
            </a:r>
          </a:p>
        </p:txBody>
      </p:sp>
      <p:sp>
        <p:nvSpPr>
          <p:cNvPr id="59" name="VizCap">
            <a:extLst>
              <a:ext uri="{FF2B5EF4-FFF2-40B4-BE49-F238E27FC236}">
                <a16:creationId xmlns:a16="http://schemas.microsoft.com/office/drawing/2014/main" id="{6FF30B41-2193-EE40-8BDA-E09ED3D37205}"/>
              </a:ext>
            </a:extLst>
          </p:cNvPr>
          <p:cNvSpPr txBox="1"/>
          <p:nvPr/>
        </p:nvSpPr>
        <p:spPr>
          <a:xfrm>
            <a:off x="5207000" y="1206500"/>
            <a:ext cx="3146168" cy="106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Points spread out in a plane. The 3 nearest to x*=(5,5):
• x₄=(7,5) class B — distance 2.00
• x₃=(4,8) class B — distance 3.16
• x₁=(1,2) class A — distance 5.00
Majority vote → B (2 of 3). Signal still strong.</a:t>
            </a:r>
          </a:p>
        </p:txBody>
      </p:sp>
    </p:spTree>
    <p:extLst>
      <p:ext uri="{BB962C8B-B14F-4D97-AF65-F5344CB8AC3E}">
        <p14:creationId xmlns:p14="http://schemas.microsoft.com/office/powerpoint/2010/main" val="34421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" grpId="0"/>
      <p:bldP spid="503" grpId="0" animBg="1"/>
      <p:bldP spid="504" grpId="0"/>
      <p:bldP spid="505" grpId="0" animBg="1"/>
      <p:bldP spid="506" grpId="0"/>
      <p:bldP spid="507" grpId="0" animBg="1"/>
      <p:bldP spid="544" grpId="0"/>
      <p:bldP spid="545" grpId="0"/>
      <p:bldP spid="546" grpId="0"/>
      <p:bldP spid="547" grpId="0"/>
      <p:bldP spid="548" grpId="0"/>
      <p:bldP spid="549" grpId="0"/>
      <p:bldP spid="550" grpId="0"/>
      <p:bldP spid="551" grpId="0" animBg="1"/>
      <p:bldP spid="552" grpId="0"/>
      <p:bldP spid="553" grpId="0"/>
      <p:bldP spid="554" grpId="0" animBg="1"/>
      <p:bldP spid="555" grpId="0"/>
      <p:bldP spid="556" grpId="0"/>
      <p:bldP spid="557" grpId="0" animBg="1"/>
      <p:bldP spid="558" grpId="0"/>
      <p:bldP spid="559" grpId="0" animBg="1"/>
      <p:bldP spid="560" grpId="0"/>
      <p:bldP spid="561" grpId="0"/>
      <p:bldP spid="562" grpId="0"/>
      <p:bldP spid="563" grpId="0"/>
      <p:bldP spid="564" grpId="0" animBg="1"/>
      <p:bldP spid="565" grpId="0"/>
      <p:bldP spid="566" grpId="0"/>
      <p:bldP spid="567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 animBg="1"/>
      <p:bldP spid="37" grpId="0" animBg="1"/>
      <p:bldP spid="38" grpId="0" animBg="1"/>
      <p:bldP spid="35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  <p:bldP spid="47" grpId="0" animBg="1"/>
      <p:bldP spid="48" grpId="0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5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otBox">
            <a:extLst>
              <a:ext uri="{FF2B5EF4-FFF2-40B4-BE49-F238E27FC236}">
                <a16:creationId xmlns:a16="http://schemas.microsoft.com/office/drawing/2014/main" id="{88B08BC7-5E57-AA46-A5ED-BAF991BE5653}"/>
              </a:ext>
            </a:extLst>
          </p:cNvPr>
          <p:cNvSpPr/>
          <p:nvPr/>
        </p:nvSpPr>
        <p:spPr>
          <a:xfrm>
            <a:off x="1313872" y="835662"/>
            <a:ext cx="9652000" cy="5206999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20" name="Gv">
            <a:extLst>
              <a:ext uri="{FF2B5EF4-FFF2-40B4-BE49-F238E27FC236}">
                <a16:creationId xmlns:a16="http://schemas.microsoft.com/office/drawing/2014/main" id="{1CCEEDDF-5D7B-3642-9444-C5DFF40CBF8E}"/>
              </a:ext>
            </a:extLst>
          </p:cNvPr>
          <p:cNvSpPr/>
          <p:nvPr/>
        </p:nvSpPr>
        <p:spPr>
          <a:xfrm>
            <a:off x="3683000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Gh">
            <a:extLst>
              <a:ext uri="{FF2B5EF4-FFF2-40B4-BE49-F238E27FC236}">
                <a16:creationId xmlns:a16="http://schemas.microsoft.com/office/drawing/2014/main" id="{45C90424-6A00-1C4C-AB3D-C65B5B237B81}"/>
              </a:ext>
            </a:extLst>
          </p:cNvPr>
          <p:cNvSpPr/>
          <p:nvPr/>
        </p:nvSpPr>
        <p:spPr>
          <a:xfrm>
            <a:off x="1270000" y="473075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Gv">
            <a:extLst>
              <a:ext uri="{FF2B5EF4-FFF2-40B4-BE49-F238E27FC236}">
                <a16:creationId xmlns:a16="http://schemas.microsoft.com/office/drawing/2014/main" id="{FD532913-4B8A-374A-A770-7DD6B6C4792D}"/>
              </a:ext>
            </a:extLst>
          </p:cNvPr>
          <p:cNvSpPr/>
          <p:nvPr/>
        </p:nvSpPr>
        <p:spPr>
          <a:xfrm>
            <a:off x="6095999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Gh">
            <a:extLst>
              <a:ext uri="{FF2B5EF4-FFF2-40B4-BE49-F238E27FC236}">
                <a16:creationId xmlns:a16="http://schemas.microsoft.com/office/drawing/2014/main" id="{8C24F012-34C0-4442-A70A-A1C55ADF8089}"/>
              </a:ext>
            </a:extLst>
          </p:cNvPr>
          <p:cNvSpPr/>
          <p:nvPr/>
        </p:nvSpPr>
        <p:spPr>
          <a:xfrm>
            <a:off x="1270000" y="342900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Gv">
            <a:extLst>
              <a:ext uri="{FF2B5EF4-FFF2-40B4-BE49-F238E27FC236}">
                <a16:creationId xmlns:a16="http://schemas.microsoft.com/office/drawing/2014/main" id="{C5923017-E320-BE4A-AFE3-60719129ED5A}"/>
              </a:ext>
            </a:extLst>
          </p:cNvPr>
          <p:cNvSpPr/>
          <p:nvPr/>
        </p:nvSpPr>
        <p:spPr>
          <a:xfrm>
            <a:off x="8509000" y="825500"/>
            <a:ext cx="21936" cy="5206999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Gh">
            <a:extLst>
              <a:ext uri="{FF2B5EF4-FFF2-40B4-BE49-F238E27FC236}">
                <a16:creationId xmlns:a16="http://schemas.microsoft.com/office/drawing/2014/main" id="{CDD963FC-D62B-C845-8CDD-E18764864350}"/>
              </a:ext>
            </a:extLst>
          </p:cNvPr>
          <p:cNvSpPr/>
          <p:nvPr/>
        </p:nvSpPr>
        <p:spPr>
          <a:xfrm>
            <a:off x="1270000" y="2127250"/>
            <a:ext cx="9652000" cy="26034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AxX">
            <a:extLst>
              <a:ext uri="{FF2B5EF4-FFF2-40B4-BE49-F238E27FC236}">
                <a16:creationId xmlns:a16="http://schemas.microsoft.com/office/drawing/2014/main" id="{0E953B13-B1EC-6349-A915-7529B1ED3ECB}"/>
              </a:ext>
            </a:extLst>
          </p:cNvPr>
          <p:cNvSpPr/>
          <p:nvPr/>
        </p:nvSpPr>
        <p:spPr>
          <a:xfrm>
            <a:off x="1270000" y="6032499"/>
            <a:ext cx="9652000" cy="52069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AxY">
            <a:extLst>
              <a:ext uri="{FF2B5EF4-FFF2-40B4-BE49-F238E27FC236}">
                <a16:creationId xmlns:a16="http://schemas.microsoft.com/office/drawing/2014/main" id="{6C905D4C-E461-EA4C-8C07-E868922EFDAC}"/>
              </a:ext>
            </a:extLst>
          </p:cNvPr>
          <p:cNvSpPr/>
          <p:nvPr/>
        </p:nvSpPr>
        <p:spPr>
          <a:xfrm>
            <a:off x="1270000" y="825500"/>
            <a:ext cx="43872" cy="5206999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Lbl">
            <a:extLst>
              <a:ext uri="{FF2B5EF4-FFF2-40B4-BE49-F238E27FC236}">
                <a16:creationId xmlns:a16="http://schemas.microsoft.com/office/drawing/2014/main" id="{CBE59B16-3B26-9646-B04B-F8F633BEB3F3}"/>
              </a:ext>
            </a:extLst>
          </p:cNvPr>
          <p:cNvSpPr txBox="1"/>
          <p:nvPr/>
        </p:nvSpPr>
        <p:spPr>
          <a:xfrm>
            <a:off x="1117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29" name="TLbl">
            <a:extLst>
              <a:ext uri="{FF2B5EF4-FFF2-40B4-BE49-F238E27FC236}">
                <a16:creationId xmlns:a16="http://schemas.microsoft.com/office/drawing/2014/main" id="{41C29D46-E2A0-8C4A-9449-56E74ABCD26E}"/>
              </a:ext>
            </a:extLst>
          </p:cNvPr>
          <p:cNvSpPr txBox="1"/>
          <p:nvPr/>
        </p:nvSpPr>
        <p:spPr>
          <a:xfrm>
            <a:off x="804718" y="59207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30" name="TLbl">
            <a:extLst>
              <a:ext uri="{FF2B5EF4-FFF2-40B4-BE49-F238E27FC236}">
                <a16:creationId xmlns:a16="http://schemas.microsoft.com/office/drawing/2014/main" id="{0B2ACC9E-8F01-EF4C-9FFC-CB66CEC097B3}"/>
              </a:ext>
            </a:extLst>
          </p:cNvPr>
          <p:cNvSpPr txBox="1"/>
          <p:nvPr/>
        </p:nvSpPr>
        <p:spPr>
          <a:xfrm>
            <a:off x="5943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1" name="TLbl">
            <a:extLst>
              <a:ext uri="{FF2B5EF4-FFF2-40B4-BE49-F238E27FC236}">
                <a16:creationId xmlns:a16="http://schemas.microsoft.com/office/drawing/2014/main" id="{80A70DD9-1F80-274C-BBAA-F19FD7E37CE5}"/>
              </a:ext>
            </a:extLst>
          </p:cNvPr>
          <p:cNvSpPr txBox="1"/>
          <p:nvPr/>
        </p:nvSpPr>
        <p:spPr>
          <a:xfrm>
            <a:off x="804718" y="33172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32" name="TLbl">
            <a:extLst>
              <a:ext uri="{FF2B5EF4-FFF2-40B4-BE49-F238E27FC236}">
                <a16:creationId xmlns:a16="http://schemas.microsoft.com/office/drawing/2014/main" id="{7A0B2E2C-A84D-8647-B717-E535EC373904}"/>
              </a:ext>
            </a:extLst>
          </p:cNvPr>
          <p:cNvSpPr txBox="1"/>
          <p:nvPr/>
        </p:nvSpPr>
        <p:spPr>
          <a:xfrm>
            <a:off x="10769600" y="6285230"/>
            <a:ext cx="3048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3" name="TLbl">
            <a:extLst>
              <a:ext uri="{FF2B5EF4-FFF2-40B4-BE49-F238E27FC236}">
                <a16:creationId xmlns:a16="http://schemas.microsoft.com/office/drawing/2014/main" id="{D8EED82B-995D-7A4E-8E43-7B2F60827402}"/>
              </a:ext>
            </a:extLst>
          </p:cNvPr>
          <p:cNvSpPr txBox="1"/>
          <p:nvPr/>
        </p:nvSpPr>
        <p:spPr>
          <a:xfrm>
            <a:off x="804718" y="71374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34" name="TLbl">
            <a:extLst>
              <a:ext uri="{FF2B5EF4-FFF2-40B4-BE49-F238E27FC236}">
                <a16:creationId xmlns:a16="http://schemas.microsoft.com/office/drawing/2014/main" id="{A1A74255-BBE7-264B-9FF8-7DD9C55E371A}"/>
              </a:ext>
            </a:extLst>
          </p:cNvPr>
          <p:cNvSpPr txBox="1"/>
          <p:nvPr/>
        </p:nvSpPr>
        <p:spPr>
          <a:xfrm>
            <a:off x="11303000" y="62865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36" name="NN">
            <a:extLst>
              <a:ext uri="{FF2B5EF4-FFF2-40B4-BE49-F238E27FC236}">
                <a16:creationId xmlns:a16="http://schemas.microsoft.com/office/drawing/2014/main" id="{099FF529-746C-824A-8BC4-AA6F21D38C1E}"/>
              </a:ext>
            </a:extLst>
          </p:cNvPr>
          <p:cNvSpPr/>
          <p:nvPr/>
        </p:nvSpPr>
        <p:spPr>
          <a:xfrm>
            <a:off x="5915660" y="3416300"/>
            <a:ext cx="2291079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NN">
            <a:extLst>
              <a:ext uri="{FF2B5EF4-FFF2-40B4-BE49-F238E27FC236}">
                <a16:creationId xmlns:a16="http://schemas.microsoft.com/office/drawing/2014/main" id="{678BB06E-B775-4E4A-B70A-913860D48B37}"/>
              </a:ext>
            </a:extLst>
          </p:cNvPr>
          <p:cNvSpPr/>
          <p:nvPr/>
        </p:nvSpPr>
        <p:spPr>
          <a:xfrm rot="-7575230">
            <a:off x="4644840" y="2635250"/>
            <a:ext cx="1937114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NN">
            <a:extLst>
              <a:ext uri="{FF2B5EF4-FFF2-40B4-BE49-F238E27FC236}">
                <a16:creationId xmlns:a16="http://schemas.microsoft.com/office/drawing/2014/main" id="{AC598229-7B52-BC4D-B66B-8721C3644361}"/>
              </a:ext>
            </a:extLst>
          </p:cNvPr>
          <p:cNvSpPr/>
          <p:nvPr/>
        </p:nvSpPr>
        <p:spPr>
          <a:xfrm rot="9478289">
            <a:off x="2083178" y="4197350"/>
            <a:ext cx="4164845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Lbl">
            <a:extLst>
              <a:ext uri="{FF2B5EF4-FFF2-40B4-BE49-F238E27FC236}">
                <a16:creationId xmlns:a16="http://schemas.microsoft.com/office/drawing/2014/main" id="{BAD66D91-FC7B-C644-BCB3-EE803B14D505}"/>
              </a:ext>
            </a:extLst>
          </p:cNvPr>
          <p:cNvSpPr txBox="1"/>
          <p:nvPr/>
        </p:nvSpPr>
        <p:spPr>
          <a:xfrm>
            <a:off x="762000" y="4826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39" name="TPt">
            <a:extLst>
              <a:ext uri="{FF2B5EF4-FFF2-40B4-BE49-F238E27FC236}">
                <a16:creationId xmlns:a16="http://schemas.microsoft.com/office/drawing/2014/main" id="{0ABC952F-844B-4C46-8850-003238C75303}"/>
              </a:ext>
            </a:extLst>
          </p:cNvPr>
          <p:cNvSpPr/>
          <p:nvPr/>
        </p:nvSpPr>
        <p:spPr>
          <a:xfrm>
            <a:off x="2027365" y="4783501"/>
            <a:ext cx="415636" cy="415636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Pt">
            <a:extLst>
              <a:ext uri="{FF2B5EF4-FFF2-40B4-BE49-F238E27FC236}">
                <a16:creationId xmlns:a16="http://schemas.microsoft.com/office/drawing/2014/main" id="{8BB3143A-6644-3546-A014-54E464224AF6}"/>
              </a:ext>
            </a:extLst>
          </p:cNvPr>
          <p:cNvSpPr/>
          <p:nvPr/>
        </p:nvSpPr>
        <p:spPr>
          <a:xfrm>
            <a:off x="2992581" y="5303981"/>
            <a:ext cx="415636" cy="415636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Pt">
            <a:extLst>
              <a:ext uri="{FF2B5EF4-FFF2-40B4-BE49-F238E27FC236}">
                <a16:creationId xmlns:a16="http://schemas.microsoft.com/office/drawing/2014/main" id="{D6EB00FC-0DD7-4747-AD11-3712ABE0C4AE}"/>
              </a:ext>
            </a:extLst>
          </p:cNvPr>
          <p:cNvSpPr/>
          <p:nvPr/>
        </p:nvSpPr>
        <p:spPr>
          <a:xfrm>
            <a:off x="4922981" y="16590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Lbl">
            <a:extLst>
              <a:ext uri="{FF2B5EF4-FFF2-40B4-BE49-F238E27FC236}">
                <a16:creationId xmlns:a16="http://schemas.microsoft.com/office/drawing/2014/main" id="{4624C2ED-8143-FA4D-9AB0-4404F365C439}"/>
              </a:ext>
            </a:extLst>
          </p:cNvPr>
          <p:cNvSpPr txBox="1"/>
          <p:nvPr/>
        </p:nvSpPr>
        <p:spPr>
          <a:xfrm>
            <a:off x="5655540" y="164846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x₃</a:t>
            </a:r>
          </a:p>
        </p:txBody>
      </p:sp>
      <p:sp>
        <p:nvSpPr>
          <p:cNvPr id="45" name="TPt">
            <a:extLst>
              <a:ext uri="{FF2B5EF4-FFF2-40B4-BE49-F238E27FC236}">
                <a16:creationId xmlns:a16="http://schemas.microsoft.com/office/drawing/2014/main" id="{7E744250-9AC6-5A42-AA63-E94C1739AD9E}"/>
              </a:ext>
            </a:extLst>
          </p:cNvPr>
          <p:cNvSpPr/>
          <p:nvPr/>
        </p:nvSpPr>
        <p:spPr>
          <a:xfrm>
            <a:off x="7818581" y="32211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Lbl">
            <a:extLst>
              <a:ext uri="{FF2B5EF4-FFF2-40B4-BE49-F238E27FC236}">
                <a16:creationId xmlns:a16="http://schemas.microsoft.com/office/drawing/2014/main" id="{D3358B9C-915C-7C43-A8DB-A9FBFC5855A9}"/>
              </a:ext>
            </a:extLst>
          </p:cNvPr>
          <p:cNvSpPr txBox="1"/>
          <p:nvPr/>
        </p:nvSpPr>
        <p:spPr>
          <a:xfrm>
            <a:off x="8551140" y="3210559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x₄</a:t>
            </a:r>
          </a:p>
        </p:txBody>
      </p:sp>
      <p:sp>
        <p:nvSpPr>
          <p:cNvPr id="47" name="TPt">
            <a:extLst>
              <a:ext uri="{FF2B5EF4-FFF2-40B4-BE49-F238E27FC236}">
                <a16:creationId xmlns:a16="http://schemas.microsoft.com/office/drawing/2014/main" id="{38E5136C-CACD-E545-9B82-3C4617D0E212}"/>
              </a:ext>
            </a:extLst>
          </p:cNvPr>
          <p:cNvSpPr/>
          <p:nvPr/>
        </p:nvSpPr>
        <p:spPr>
          <a:xfrm>
            <a:off x="9748981" y="1138381"/>
            <a:ext cx="415636" cy="415636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Lbl">
            <a:extLst>
              <a:ext uri="{FF2B5EF4-FFF2-40B4-BE49-F238E27FC236}">
                <a16:creationId xmlns:a16="http://schemas.microsoft.com/office/drawing/2014/main" id="{72CB8294-1FEC-A148-A528-E534F9C62815}"/>
              </a:ext>
            </a:extLst>
          </p:cNvPr>
          <p:cNvSpPr txBox="1"/>
          <p:nvPr/>
        </p:nvSpPr>
        <p:spPr>
          <a:xfrm>
            <a:off x="10481540" y="1127760"/>
            <a:ext cx="26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x₅</a:t>
            </a:r>
          </a:p>
        </p:txBody>
      </p:sp>
      <p:sp>
        <p:nvSpPr>
          <p:cNvPr id="49" name="QPt">
            <a:extLst>
              <a:ext uri="{FF2B5EF4-FFF2-40B4-BE49-F238E27FC236}">
                <a16:creationId xmlns:a16="http://schemas.microsoft.com/office/drawing/2014/main" id="{C0D6C787-9ACF-FC44-B853-D404C5419364}"/>
              </a:ext>
            </a:extLst>
          </p:cNvPr>
          <p:cNvSpPr/>
          <p:nvPr/>
        </p:nvSpPr>
        <p:spPr>
          <a:xfrm>
            <a:off x="5819169" y="3152259"/>
            <a:ext cx="554181" cy="554181"/>
          </a:xfrm>
          <a:prstGeom prst="diamond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TLbl">
            <a:extLst>
              <a:ext uri="{FF2B5EF4-FFF2-40B4-BE49-F238E27FC236}">
                <a16:creationId xmlns:a16="http://schemas.microsoft.com/office/drawing/2014/main" id="{A456C6FE-E20E-BE4D-BB8B-64040CCFEE12}"/>
              </a:ext>
            </a:extLst>
          </p:cNvPr>
          <p:cNvSpPr txBox="1"/>
          <p:nvPr/>
        </p:nvSpPr>
        <p:spPr>
          <a:xfrm>
            <a:off x="5783580" y="373634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x* = (5, 5)</a:t>
            </a:r>
          </a:p>
        </p:txBody>
      </p:sp>
      <p:sp>
        <p:nvSpPr>
          <p:cNvPr id="2" name="FigTitle">
            <a:extLst>
              <a:ext uri="{FF2B5EF4-FFF2-40B4-BE49-F238E27FC236}">
                <a16:creationId xmlns:a16="http://schemas.microsoft.com/office/drawing/2014/main" id="{495DDB9C-7B98-FC4A-95FB-20875792AF90}"/>
              </a:ext>
            </a:extLst>
          </p:cNvPr>
          <p:cNvSpPr txBox="1"/>
          <p:nvPr/>
        </p:nvSpPr>
        <p:spPr>
          <a:xfrm>
            <a:off x="381000" y="2286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</a:rPr>
              <a:t>KNN in 2D — query x*=(5,5) with 3 nearest neighbors</a:t>
            </a:r>
          </a:p>
        </p:txBody>
      </p:sp>
      <p:sp>
        <p:nvSpPr>
          <p:cNvPr id="3" name="TLbl">
            <a:extLst>
              <a:ext uri="{FF2B5EF4-FFF2-40B4-BE49-F238E27FC236}">
                <a16:creationId xmlns:a16="http://schemas.microsoft.com/office/drawing/2014/main" id="{D8BD38AF-22AC-B040-9D95-BAFF10A2F9F1}"/>
              </a:ext>
            </a:extLst>
          </p:cNvPr>
          <p:cNvSpPr txBox="1"/>
          <p:nvPr/>
        </p:nvSpPr>
        <p:spPr>
          <a:xfrm>
            <a:off x="3530600" y="62865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2.5</a:t>
            </a:r>
          </a:p>
        </p:txBody>
      </p:sp>
      <p:sp>
        <p:nvSpPr>
          <p:cNvPr id="4" name="TLbl">
            <a:extLst>
              <a:ext uri="{FF2B5EF4-FFF2-40B4-BE49-F238E27FC236}">
                <a16:creationId xmlns:a16="http://schemas.microsoft.com/office/drawing/2014/main" id="{FD173839-8D04-6243-AF8A-C7364E7AEEBC}"/>
              </a:ext>
            </a:extLst>
          </p:cNvPr>
          <p:cNvSpPr txBox="1"/>
          <p:nvPr/>
        </p:nvSpPr>
        <p:spPr>
          <a:xfrm>
            <a:off x="8356600" y="62865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7.5</a:t>
            </a:r>
          </a:p>
        </p:txBody>
      </p:sp>
      <p:sp>
        <p:nvSpPr>
          <p:cNvPr id="5" name="TLbl">
            <a:extLst>
              <a:ext uri="{FF2B5EF4-FFF2-40B4-BE49-F238E27FC236}">
                <a16:creationId xmlns:a16="http://schemas.microsoft.com/office/drawing/2014/main" id="{39004D1B-6484-E146-A639-5345FA8F52B7}"/>
              </a:ext>
            </a:extLst>
          </p:cNvPr>
          <p:cNvSpPr txBox="1"/>
          <p:nvPr/>
        </p:nvSpPr>
        <p:spPr>
          <a:xfrm>
            <a:off x="673100" y="464185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2.5</a:t>
            </a:r>
          </a:p>
        </p:txBody>
      </p:sp>
      <p:sp>
        <p:nvSpPr>
          <p:cNvPr id="6" name="TLbl">
            <a:extLst>
              <a:ext uri="{FF2B5EF4-FFF2-40B4-BE49-F238E27FC236}">
                <a16:creationId xmlns:a16="http://schemas.microsoft.com/office/drawing/2014/main" id="{BC6FFCEB-7BCB-3342-861D-1725CC444F25}"/>
              </a:ext>
            </a:extLst>
          </p:cNvPr>
          <p:cNvSpPr txBox="1"/>
          <p:nvPr/>
        </p:nvSpPr>
        <p:spPr>
          <a:xfrm>
            <a:off x="673100" y="203835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888888"/>
                </a:solidFill>
              </a:rPr>
              <a:t>7.5</a:t>
            </a:r>
          </a:p>
        </p:txBody>
      </p:sp>
      <p:sp>
        <p:nvSpPr>
          <p:cNvPr id="7" name="TLbl">
            <a:extLst>
              <a:ext uri="{FF2B5EF4-FFF2-40B4-BE49-F238E27FC236}">
                <a16:creationId xmlns:a16="http://schemas.microsoft.com/office/drawing/2014/main" id="{50BDEB4D-3762-434E-A93E-FFB29157B58E}"/>
              </a:ext>
            </a:extLst>
          </p:cNvPr>
          <p:cNvSpPr txBox="1"/>
          <p:nvPr/>
        </p:nvSpPr>
        <p:spPr>
          <a:xfrm>
            <a:off x="2750185" y="48260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x₁</a:t>
            </a:r>
          </a:p>
        </p:txBody>
      </p:sp>
      <p:sp>
        <p:nvSpPr>
          <p:cNvPr id="9" name="NNRing">
            <a:extLst>
              <a:ext uri="{FF2B5EF4-FFF2-40B4-BE49-F238E27FC236}">
                <a16:creationId xmlns:a16="http://schemas.microsoft.com/office/drawing/2014/main" id="{0C73319E-3683-D84F-AD6E-8B0FC6F0997B}"/>
              </a:ext>
            </a:extLst>
          </p:cNvPr>
          <p:cNvSpPr/>
          <p:nvPr/>
        </p:nvSpPr>
        <p:spPr>
          <a:xfrm>
            <a:off x="7696200" y="309880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NNRing">
            <a:extLst>
              <a:ext uri="{FF2B5EF4-FFF2-40B4-BE49-F238E27FC236}">
                <a16:creationId xmlns:a16="http://schemas.microsoft.com/office/drawing/2014/main" id="{FA60ADA8-F819-B940-A8F7-73609E03DBE3}"/>
              </a:ext>
            </a:extLst>
          </p:cNvPr>
          <p:cNvSpPr/>
          <p:nvPr/>
        </p:nvSpPr>
        <p:spPr>
          <a:xfrm>
            <a:off x="4813300" y="154940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NNRing">
            <a:extLst>
              <a:ext uri="{FF2B5EF4-FFF2-40B4-BE49-F238E27FC236}">
                <a16:creationId xmlns:a16="http://schemas.microsoft.com/office/drawing/2014/main" id="{02003702-7D29-5F49-BE25-DA92A000A6D8}"/>
              </a:ext>
            </a:extLst>
          </p:cNvPr>
          <p:cNvSpPr/>
          <p:nvPr/>
        </p:nvSpPr>
        <p:spPr>
          <a:xfrm>
            <a:off x="1904984" y="4661120"/>
            <a:ext cx="660400" cy="6604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Lbl">
            <a:extLst>
              <a:ext uri="{FF2B5EF4-FFF2-40B4-BE49-F238E27FC236}">
                <a16:creationId xmlns:a16="http://schemas.microsoft.com/office/drawing/2014/main" id="{FBDA0397-3B6A-644E-B265-6830D160389D}"/>
              </a:ext>
            </a:extLst>
          </p:cNvPr>
          <p:cNvSpPr txBox="1"/>
          <p:nvPr/>
        </p:nvSpPr>
        <p:spPr>
          <a:xfrm>
            <a:off x="3505200" y="53467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</a:rPr>
              <a:t>x₂</a:t>
            </a:r>
          </a:p>
        </p:txBody>
      </p:sp>
      <p:sp>
        <p:nvSpPr>
          <p:cNvPr id="61" name="DLbl">
            <a:extLst>
              <a:ext uri="{FF2B5EF4-FFF2-40B4-BE49-F238E27FC236}">
                <a16:creationId xmlns:a16="http://schemas.microsoft.com/office/drawing/2014/main" id="{E54C44CB-6E93-7547-B9F0-C758C6E8ECA0}"/>
              </a:ext>
            </a:extLst>
          </p:cNvPr>
          <p:cNvSpPr txBox="1"/>
          <p:nvPr/>
        </p:nvSpPr>
        <p:spPr>
          <a:xfrm>
            <a:off x="6731000" y="3111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2.0</a:t>
            </a:r>
          </a:p>
        </p:txBody>
      </p:sp>
      <p:sp>
        <p:nvSpPr>
          <p:cNvPr id="62" name="DLbl">
            <a:extLst>
              <a:ext uri="{FF2B5EF4-FFF2-40B4-BE49-F238E27FC236}">
                <a16:creationId xmlns:a16="http://schemas.microsoft.com/office/drawing/2014/main" id="{BFF55D0C-C421-3041-8929-D06CBF06E04E}"/>
              </a:ext>
            </a:extLst>
          </p:cNvPr>
          <p:cNvSpPr txBox="1"/>
          <p:nvPr/>
        </p:nvSpPr>
        <p:spPr>
          <a:xfrm>
            <a:off x="4254500" y="2476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3.16</a:t>
            </a:r>
          </a:p>
        </p:txBody>
      </p:sp>
      <p:sp>
        <p:nvSpPr>
          <p:cNvPr id="63" name="DLbl">
            <a:extLst>
              <a:ext uri="{FF2B5EF4-FFF2-40B4-BE49-F238E27FC236}">
                <a16:creationId xmlns:a16="http://schemas.microsoft.com/office/drawing/2014/main" id="{A544EB54-082B-864C-B7E0-636005381880}"/>
              </a:ext>
            </a:extLst>
          </p:cNvPr>
          <p:cNvSpPr txBox="1"/>
          <p:nvPr/>
        </p:nvSpPr>
        <p:spPr>
          <a:xfrm>
            <a:off x="3619500" y="4419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 = 5.00</a:t>
            </a:r>
          </a:p>
        </p:txBody>
      </p:sp>
      <p:sp>
        <p:nvSpPr>
          <p:cNvPr id="448" name="LegBox">
            <a:extLst>
              <a:ext uri="{FF2B5EF4-FFF2-40B4-BE49-F238E27FC236}">
                <a16:creationId xmlns:a16="http://schemas.microsoft.com/office/drawing/2014/main" id="{48ACC888-190B-3A48-A789-677574151C47}"/>
              </a:ext>
            </a:extLst>
          </p:cNvPr>
          <p:cNvSpPr/>
          <p:nvPr/>
        </p:nvSpPr>
        <p:spPr>
          <a:xfrm>
            <a:off x="8826500" y="952500"/>
            <a:ext cx="2032000" cy="127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9" name="LegDot">
            <a:extLst>
              <a:ext uri="{FF2B5EF4-FFF2-40B4-BE49-F238E27FC236}">
                <a16:creationId xmlns:a16="http://schemas.microsoft.com/office/drawing/2014/main" id="{AB5A6655-DE70-9B47-AEC8-D92D9D00409B}"/>
              </a:ext>
            </a:extLst>
          </p:cNvPr>
          <p:cNvSpPr/>
          <p:nvPr/>
        </p:nvSpPr>
        <p:spPr>
          <a:xfrm>
            <a:off x="8978900" y="1066800"/>
            <a:ext cx="177800" cy="1778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0" name="LegLbl">
            <a:extLst>
              <a:ext uri="{FF2B5EF4-FFF2-40B4-BE49-F238E27FC236}">
                <a16:creationId xmlns:a16="http://schemas.microsoft.com/office/drawing/2014/main" id="{C44F0A94-1BD6-8D4A-A3D6-032C36775E67}"/>
              </a:ext>
            </a:extLst>
          </p:cNvPr>
          <p:cNvSpPr txBox="1"/>
          <p:nvPr/>
        </p:nvSpPr>
        <p:spPr>
          <a:xfrm>
            <a:off x="9245600" y="10668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Class A</a:t>
            </a:r>
          </a:p>
        </p:txBody>
      </p:sp>
      <p:sp>
        <p:nvSpPr>
          <p:cNvPr id="451" name="LegDot">
            <a:extLst>
              <a:ext uri="{FF2B5EF4-FFF2-40B4-BE49-F238E27FC236}">
                <a16:creationId xmlns:a16="http://schemas.microsoft.com/office/drawing/2014/main" id="{9AFD9554-9188-9E43-BE21-B42C28708279}"/>
              </a:ext>
            </a:extLst>
          </p:cNvPr>
          <p:cNvSpPr/>
          <p:nvPr/>
        </p:nvSpPr>
        <p:spPr>
          <a:xfrm>
            <a:off x="8978900" y="1333500"/>
            <a:ext cx="177800" cy="1778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2" name="LegLbl">
            <a:extLst>
              <a:ext uri="{FF2B5EF4-FFF2-40B4-BE49-F238E27FC236}">
                <a16:creationId xmlns:a16="http://schemas.microsoft.com/office/drawing/2014/main" id="{81C3F9FF-F436-1648-921B-D0B8A7803C28}"/>
              </a:ext>
            </a:extLst>
          </p:cNvPr>
          <p:cNvSpPr txBox="1"/>
          <p:nvPr/>
        </p:nvSpPr>
        <p:spPr>
          <a:xfrm>
            <a:off x="9245600" y="13335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Class B</a:t>
            </a:r>
          </a:p>
        </p:txBody>
      </p:sp>
      <p:sp>
        <p:nvSpPr>
          <p:cNvPr id="453" name="LegDot">
            <a:extLst>
              <a:ext uri="{FF2B5EF4-FFF2-40B4-BE49-F238E27FC236}">
                <a16:creationId xmlns:a16="http://schemas.microsoft.com/office/drawing/2014/main" id="{240ACE17-EBAB-594F-8E2F-0544C4FE352C}"/>
              </a:ext>
            </a:extLst>
          </p:cNvPr>
          <p:cNvSpPr/>
          <p:nvPr/>
        </p:nvSpPr>
        <p:spPr>
          <a:xfrm>
            <a:off x="8978900" y="1600200"/>
            <a:ext cx="177800" cy="177800"/>
          </a:xfrm>
          <a:prstGeom prst="diamond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4" name="LegLbl">
            <a:extLst>
              <a:ext uri="{FF2B5EF4-FFF2-40B4-BE49-F238E27FC236}">
                <a16:creationId xmlns:a16="http://schemas.microsoft.com/office/drawing/2014/main" id="{4E8149EF-5D90-764B-9B69-BD1E059E652C}"/>
              </a:ext>
            </a:extLst>
          </p:cNvPr>
          <p:cNvSpPr txBox="1"/>
          <p:nvPr/>
        </p:nvSpPr>
        <p:spPr>
          <a:xfrm>
            <a:off x="9245600" y="16002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Query x*</a:t>
            </a:r>
          </a:p>
        </p:txBody>
      </p:sp>
      <p:sp>
        <p:nvSpPr>
          <p:cNvPr id="455" name="LegDot">
            <a:extLst>
              <a:ext uri="{FF2B5EF4-FFF2-40B4-BE49-F238E27FC236}">
                <a16:creationId xmlns:a16="http://schemas.microsoft.com/office/drawing/2014/main" id="{C72D1A7A-14B9-CC4A-BC03-1827EDD054FC}"/>
              </a:ext>
            </a:extLst>
          </p:cNvPr>
          <p:cNvSpPr/>
          <p:nvPr/>
        </p:nvSpPr>
        <p:spPr>
          <a:xfrm>
            <a:off x="8978900" y="1866900"/>
            <a:ext cx="177800" cy="177800"/>
          </a:xfrm>
          <a:prstGeom prst="ellipse">
            <a:avLst/>
          </a:prstGeom>
          <a:noFill/>
          <a:ln w="25400" cap="flat" cmpd="sng" algn="ctr">
            <a:solidFill>
              <a:srgbClr val="D1578A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6" name="LegLbl">
            <a:extLst>
              <a:ext uri="{FF2B5EF4-FFF2-40B4-BE49-F238E27FC236}">
                <a16:creationId xmlns:a16="http://schemas.microsoft.com/office/drawing/2014/main" id="{6A814997-51CA-DC44-B987-03AF98E2C4F6}"/>
              </a:ext>
            </a:extLst>
          </p:cNvPr>
          <p:cNvSpPr txBox="1"/>
          <p:nvPr/>
        </p:nvSpPr>
        <p:spPr>
          <a:xfrm>
            <a:off x="9245600" y="1866900"/>
            <a:ext cx="1549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3-NN highlight</a:t>
            </a:r>
          </a:p>
        </p:txBody>
      </p:sp>
    </p:spTree>
    <p:extLst>
      <p:ext uri="{BB962C8B-B14F-4D97-AF65-F5344CB8AC3E}">
        <p14:creationId xmlns:p14="http://schemas.microsoft.com/office/powerpoint/2010/main" val="4252337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92100" y="228600"/>
            <a:ext cx="11607800" cy="3810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3 — d=10 (ten features)</a:t>
            </a:r>
          </a:p>
        </p:txBody>
      </p:sp>
      <p:sp>
        <p:nvSpPr>
          <p:cNvPr id="502" name="S1Hdr"/>
          <p:cNvSpPr/>
          <p:nvPr/>
        </p:nvSpPr>
        <p:spPr>
          <a:xfrm>
            <a:off x="508000" y="9652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b="1" dirty="0">
                <a:solidFill>
                  <a:srgbClr val="4B2E83"/>
                </a:solidFill>
                <a:latin typeface="Arial"/>
              </a:rPr>
              <a:t>Training set (10-dim vectors)</a:t>
            </a:r>
          </a:p>
        </p:txBody>
      </p:sp>
      <p:sp>
        <p:nvSpPr>
          <p:cNvPr id="503" name="S1Box"/>
          <p:cNvSpPr/>
          <p:nvPr/>
        </p:nvSpPr>
        <p:spPr>
          <a:xfrm>
            <a:off x="508000" y="1295400"/>
            <a:ext cx="11176000" cy="24892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 anchorCtr="0"/>
          <a:lstStyle/>
          <a:p>
            <a:pPr algn="ctr">
              <a:lnSpc>
                <a:spcPts val="3300"/>
              </a:lnSpc>
            </a:pPr>
            <a:r>
              <a:rPr lang="en-US" sz="1800" dirty="0">
                <a:solidFill>
                  <a:srgbClr val="333333"/>
                </a:solidFill>
                <a:latin typeface="Consolas"/>
              </a:rPr>
              <a:t>x₁ = (1, 2, 0, 8, 8, 5, 5, 5, 5, 5)  </a:t>
            </a:r>
            <a:r>
              <a:rPr lang="en-US" sz="1800" b="1" dirty="0">
                <a:solidFill>
                  <a:srgbClr val="B7A57A"/>
                </a:solidFill>
                <a:latin typeface="Consolas"/>
              </a:rPr>
              <a:t>(A)</a:t>
            </a:r>
          </a:p>
          <a:p>
            <a:pPr algn="ctr">
              <a:lnSpc>
                <a:spcPts val="3300"/>
              </a:lnSpc>
            </a:pPr>
            <a:r>
              <a:rPr lang="en-US" sz="1800" dirty="0">
                <a:solidFill>
                  <a:srgbClr val="333333"/>
                </a:solidFill>
                <a:latin typeface="Consolas"/>
              </a:rPr>
              <a:t>x₂ = (2, 1, 0, 9, 7, 5, 5, 5, 5, 5)  </a:t>
            </a:r>
            <a:r>
              <a:rPr lang="en-US" sz="1800" b="1" dirty="0">
                <a:solidFill>
                  <a:srgbClr val="B7A57A"/>
                </a:solidFill>
                <a:latin typeface="Consolas"/>
              </a:rPr>
              <a:t>(A)</a:t>
            </a:r>
          </a:p>
          <a:p>
            <a:pPr algn="ctr">
              <a:lnSpc>
                <a:spcPts val="3300"/>
              </a:lnSpc>
            </a:pPr>
            <a:r>
              <a:rPr lang="en-US" sz="1800" dirty="0">
                <a:solidFill>
                  <a:srgbClr val="333333"/>
                </a:solidFill>
                <a:latin typeface="Consolas"/>
              </a:rPr>
              <a:t>x₃ = (4, 8, 0, 0, 3, 4, 5, 5, 5, 5)  </a:t>
            </a:r>
            <a:r>
              <a:rPr lang="en-US" sz="1800" b="1" dirty="0">
                <a:solidFill>
                  <a:srgbClr val="00A8B6"/>
                </a:solidFill>
                <a:latin typeface="Consolas"/>
              </a:rPr>
              <a:t>(B)</a:t>
            </a:r>
          </a:p>
          <a:p>
            <a:pPr algn="ctr">
              <a:lnSpc>
                <a:spcPts val="3300"/>
              </a:lnSpc>
            </a:pPr>
            <a:r>
              <a:rPr lang="en-US" sz="1800" dirty="0">
                <a:solidFill>
                  <a:srgbClr val="333333"/>
                </a:solidFill>
                <a:latin typeface="Consolas"/>
              </a:rPr>
              <a:t>x₄ = (7, 5, 0, 0, 8, 8, 5, 5, 5, 5)  </a:t>
            </a:r>
            <a:r>
              <a:rPr lang="en-US" sz="1800" b="1" dirty="0">
                <a:solidFill>
                  <a:srgbClr val="00A8B6"/>
                </a:solidFill>
                <a:latin typeface="Consolas"/>
              </a:rPr>
              <a:t>(B)</a:t>
            </a:r>
          </a:p>
          <a:p>
            <a:pPr algn="ctr">
              <a:lnSpc>
                <a:spcPts val="3300"/>
              </a:lnSpc>
            </a:pPr>
            <a:r>
              <a:rPr lang="en-US" sz="1800" dirty="0">
                <a:solidFill>
                  <a:srgbClr val="333333"/>
                </a:solidFill>
                <a:latin typeface="Consolas"/>
              </a:rPr>
              <a:t>x₅ = (9, 9, 0, 8, 6, 5, 5, 5, 5, 5)  </a:t>
            </a:r>
            <a:r>
              <a:rPr lang="en-US" sz="1800" b="1" dirty="0">
                <a:solidFill>
                  <a:srgbClr val="00A8B6"/>
                </a:solidFill>
                <a:latin typeface="Consolas"/>
              </a:rPr>
              <a:t>(B)</a:t>
            </a:r>
          </a:p>
        </p:txBody>
      </p:sp>
      <p:sp>
        <p:nvSpPr>
          <p:cNvPr id="504" name="S2Hdr"/>
          <p:cNvSpPr/>
          <p:nvPr/>
        </p:nvSpPr>
        <p:spPr>
          <a:xfrm>
            <a:off x="508000" y="39116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b="1" dirty="0">
                <a:solidFill>
                  <a:srgbClr val="4B2E83"/>
                </a:solidFill>
                <a:latin typeface="Arial"/>
              </a:rPr>
              <a:t>Query</a:t>
            </a:r>
          </a:p>
        </p:txBody>
      </p:sp>
      <p:sp>
        <p:nvSpPr>
          <p:cNvPr id="505" name="S2Box"/>
          <p:cNvSpPr/>
          <p:nvPr/>
        </p:nvSpPr>
        <p:spPr>
          <a:xfrm>
            <a:off x="508000" y="4241800"/>
            <a:ext cx="11176000" cy="7366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 anchorCtr="0"/>
          <a:lstStyle/>
          <a:p>
            <a:pPr algn="ctr"/>
            <a:r>
              <a:rPr lang="en-US" sz="2400" b="1" dirty="0">
                <a:solidFill>
                  <a:srgbClr val="333333"/>
                </a:solidFill>
                <a:latin typeface="Consolas"/>
              </a:rPr>
              <a:t>x* = (5,5,5,5,5,5,5,5,5,5)</a:t>
            </a:r>
          </a:p>
        </p:txBody>
      </p:sp>
      <p:sp>
        <p:nvSpPr>
          <p:cNvPr id="506" name="S3Hdr"/>
          <p:cNvSpPr/>
          <p:nvPr/>
        </p:nvSpPr>
        <p:spPr>
          <a:xfrm>
            <a:off x="508000" y="51054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b="1" dirty="0">
                <a:solidFill>
                  <a:srgbClr val="4B2E83"/>
                </a:solidFill>
                <a:latin typeface="Arial"/>
              </a:rPr>
              <a:t>Distance formula</a:t>
            </a:r>
          </a:p>
        </p:txBody>
      </p:sp>
      <p:sp>
        <p:nvSpPr>
          <p:cNvPr id="507" name="S3Box"/>
          <p:cNvSpPr/>
          <p:nvPr/>
        </p:nvSpPr>
        <p:spPr>
          <a:xfrm>
            <a:off x="508000" y="5410200"/>
            <a:ext cx="11176000" cy="7874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" tIns="9000" rIns="18000" bIns="9000" anchor="ctr" anchorCtr="0"/>
          <a:lstStyle/>
          <a:p>
            <a:pPr algn="ctr"/>
            <a:r>
              <a:rPr lang="en-US" sz="2200" dirty="0">
                <a:solidFill>
                  <a:srgbClr val="333333"/>
                </a:solidFill>
                <a:latin typeface="Consolas"/>
              </a:rPr>
              <a:t>d(x,y) = √(Σⱼ₌₁¹⁰ (xⱼ−yⱼ)²)</a:t>
            </a:r>
          </a:p>
        </p:txBody>
      </p:sp>
    </p:spTree>
    <p:extLst>
      <p:ext uri="{BB962C8B-B14F-4D97-AF65-F5344CB8AC3E}">
        <p14:creationId xmlns:p14="http://schemas.microsoft.com/office/powerpoint/2010/main" val="104587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" grpId="0"/>
      <p:bldP spid="503" grpId="0" animBg="1"/>
      <p:bldP spid="504" grpId="0"/>
      <p:bldP spid="505" grpId="0" animBg="1"/>
      <p:bldP spid="506" grpId="0"/>
      <p:bldP spid="50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92100" y="228600"/>
            <a:ext cx="11607800" cy="3810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3 — d=10 (ten features)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D5767E-745B-4A42-84B1-834F416CEBD3}"/>
              </a:ext>
            </a:extLst>
          </p:cNvPr>
          <p:cNvSpPr txBox="1"/>
          <p:nvPr/>
        </p:nvSpPr>
        <p:spPr>
          <a:xfrm>
            <a:off x="508000" y="914400"/>
            <a:ext cx="1117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  <a:latin typeface="Consolas"/>
                <a:cs typeface="Consolas"/>
              </a:rPr>
              <a:t>Step 1 · Distance from query  x*  to  x₁  (class A)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04B4C9-0BD2-B84F-9B3D-CF425132C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86344"/>
              </p:ext>
            </p:extLst>
          </p:nvPr>
        </p:nvGraphicFramePr>
        <p:xfrm>
          <a:off x="508000" y="1524000"/>
          <a:ext cx="11176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141815453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85996627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8793322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7364887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653966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34318697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0227671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24769672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6154075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2076416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4056042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12743276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coord j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2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3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4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6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7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8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9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10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Σ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629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latin typeface="Consolas"/>
                          <a:cs typeface="Consolas"/>
                        </a:rPr>
                        <a:t>x*ⱼ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Consolas"/>
                        <a:cs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1985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latin typeface="Consolas"/>
                          <a:cs typeface="Consolas"/>
                        </a:rPr>
                        <a:t>x₁ⱼ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Consolas"/>
                        <a:cs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51174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latin typeface="Consolas"/>
                          <a:cs typeface="Consolas"/>
                        </a:rPr>
                        <a:t>x₁ⱼ − 5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−4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−3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−5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latin typeface="Consolas"/>
                        <a:cs typeface="Consola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0647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latin typeface="Consolas"/>
                          <a:cs typeface="Consolas"/>
                        </a:rPr>
                        <a:t>(x₁ⱼ − 5)²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latin typeface="Consolas"/>
                          <a:cs typeface="Consola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68</a:t>
                      </a:r>
                    </a:p>
                  </a:txBody>
                  <a:tcPr anchor="ctr">
                    <a:solidFill>
                      <a:srgbClr val="B7A5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4667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D5ED8E-5F00-E44F-8831-8F419C8F9A03}"/>
              </a:ext>
            </a:extLst>
          </p:cNvPr>
          <p:cNvSpPr txBox="1"/>
          <p:nvPr/>
        </p:nvSpPr>
        <p:spPr>
          <a:xfrm>
            <a:off x="508000" y="4089400"/>
            <a:ext cx="88900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600" b="1">
                <a:solidFill>
                  <a:srgbClr val="333333"/>
                </a:solidFill>
                <a:latin typeface="Consolas"/>
                <a:cs typeface="Consolas"/>
              </a:rPr>
              <a:t>d(x*, x₁)  =  √(16+9+25+9+9)  =  √68  ≈  8.25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607AC7D-2517-5C46-ABCF-AAB5C56C0235}"/>
              </a:ext>
            </a:extLst>
          </p:cNvPr>
          <p:cNvSpPr/>
          <p:nvPr/>
        </p:nvSpPr>
        <p:spPr>
          <a:xfrm>
            <a:off x="9652000" y="4089400"/>
            <a:ext cx="2032000" cy="711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Rank 3 of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565FB-50C3-794E-87E1-D732F31CE398}"/>
              </a:ext>
            </a:extLst>
          </p:cNvPr>
          <p:cNvSpPr txBox="1"/>
          <p:nvPr/>
        </p:nvSpPr>
        <p:spPr>
          <a:xfrm>
            <a:off x="508000" y="5130800"/>
            <a:ext cx="1117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</a:rPr>
              <a:t>Only 5 of 10 coordinates differ from the query — the other 5 contribute 0; yet the total still lands near √68, close to every other point.</a:t>
            </a:r>
          </a:p>
        </p:txBody>
      </p:sp>
    </p:spTree>
    <p:extLst>
      <p:ext uri="{BB962C8B-B14F-4D97-AF65-F5344CB8AC3E}">
        <p14:creationId xmlns:p14="http://schemas.microsoft.com/office/powerpoint/2010/main" val="229870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92100" y="228600"/>
            <a:ext cx="11607800" cy="3810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3 — d=10 (ten features)</a:t>
            </a:r>
          </a:p>
        </p:txBody>
      </p:sp>
      <p:sp>
        <p:nvSpPr>
          <p:cNvPr id="544" name="Step1Hdr"/>
          <p:cNvSpPr/>
          <p:nvPr/>
        </p:nvSpPr>
        <p:spPr>
          <a:xfrm>
            <a:off x="508000" y="1193800"/>
            <a:ext cx="685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b="1" dirty="0">
                <a:solidFill>
                  <a:srgbClr val="4B2E83"/>
                </a:solidFill>
                <a:latin typeface="Arial"/>
              </a:rPr>
              <a:t>Step 1 — Euclidean distances to all 5 training points</a:t>
            </a:r>
          </a:p>
        </p:txBody>
      </p:sp>
      <p:sp>
        <p:nvSpPr>
          <p:cNvPr id="545" name="CalcL"/>
          <p:cNvSpPr/>
          <p:nvPr/>
        </p:nvSpPr>
        <p:spPr>
          <a:xfrm>
            <a:off x="698500" y="18796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dirty="0">
                <a:solidFill>
                  <a:srgbClr val="333333"/>
                </a:solidFill>
                <a:latin typeface="Consolas"/>
              </a:rPr>
              <a:t>d(x*, x₁) = √(Σ (x₁ⱼ − 5)²) = √68</a:t>
            </a:r>
          </a:p>
        </p:txBody>
      </p:sp>
      <p:sp>
        <p:nvSpPr>
          <p:cNvPr id="546" name="CalcV"/>
          <p:cNvSpPr/>
          <p:nvPr/>
        </p:nvSpPr>
        <p:spPr>
          <a:xfrm>
            <a:off x="5143500" y="18796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b="1" dirty="0">
                <a:solidFill>
                  <a:srgbClr val="7AB648"/>
                </a:solidFill>
                <a:latin typeface="Consolas"/>
              </a:rPr>
              <a:t>8.25</a:t>
            </a:r>
          </a:p>
        </p:txBody>
      </p:sp>
      <p:sp>
        <p:nvSpPr>
          <p:cNvPr id="547" name="CalcL"/>
          <p:cNvSpPr/>
          <p:nvPr/>
        </p:nvSpPr>
        <p:spPr>
          <a:xfrm>
            <a:off x="698500" y="26924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dirty="0">
                <a:solidFill>
                  <a:srgbClr val="333333"/>
                </a:solidFill>
                <a:latin typeface="Consolas"/>
              </a:rPr>
              <a:t>d(x*, x₂) = √(Σ (x₂ⱼ − 5)²) = √70</a:t>
            </a:r>
          </a:p>
        </p:txBody>
      </p:sp>
      <p:sp>
        <p:nvSpPr>
          <p:cNvPr id="548" name="CalcV"/>
          <p:cNvSpPr/>
          <p:nvPr/>
        </p:nvSpPr>
        <p:spPr>
          <a:xfrm>
            <a:off x="5143500" y="26924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b="1" dirty="0">
                <a:solidFill>
                  <a:srgbClr val="888888"/>
                </a:solidFill>
                <a:latin typeface="Consolas"/>
              </a:rPr>
              <a:t>8.37</a:t>
            </a:r>
          </a:p>
        </p:txBody>
      </p:sp>
      <p:sp>
        <p:nvSpPr>
          <p:cNvPr id="549" name="CalcL"/>
          <p:cNvSpPr/>
          <p:nvPr/>
        </p:nvSpPr>
        <p:spPr>
          <a:xfrm>
            <a:off x="698500" y="35052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dirty="0">
                <a:solidFill>
                  <a:srgbClr val="333333"/>
                </a:solidFill>
                <a:latin typeface="Consolas"/>
              </a:rPr>
              <a:t>d(x*, x₃) = √(Σ (x₃ⱼ − 5)²) = √65</a:t>
            </a:r>
          </a:p>
        </p:txBody>
      </p:sp>
      <p:sp>
        <p:nvSpPr>
          <p:cNvPr id="550" name="CalcV"/>
          <p:cNvSpPr/>
          <p:nvPr/>
        </p:nvSpPr>
        <p:spPr>
          <a:xfrm>
            <a:off x="5143500" y="35052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b="1" dirty="0">
                <a:solidFill>
                  <a:srgbClr val="7AB648"/>
                </a:solidFill>
                <a:latin typeface="Consolas"/>
              </a:rPr>
              <a:t>8.06</a:t>
            </a:r>
          </a:p>
        </p:txBody>
      </p:sp>
      <p:sp>
        <p:nvSpPr>
          <p:cNvPr id="551" name="Tag"/>
          <p:cNvSpPr/>
          <p:nvPr/>
        </p:nvSpPr>
        <p:spPr>
          <a:xfrm>
            <a:off x="6286500" y="3594100"/>
            <a:ext cx="812800" cy="38100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 anchorCtr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1st</a:t>
            </a:r>
            <a:endParaRPr lang="en-US"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CalcL"/>
          <p:cNvSpPr/>
          <p:nvPr/>
        </p:nvSpPr>
        <p:spPr>
          <a:xfrm>
            <a:off x="698500" y="43180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dirty="0">
                <a:solidFill>
                  <a:srgbClr val="333333"/>
                </a:solidFill>
                <a:latin typeface="Consolas"/>
              </a:rPr>
              <a:t>d(x*, x₄) = √(Σ (x₄ⱼ − 5)²) = √72</a:t>
            </a:r>
          </a:p>
        </p:txBody>
      </p:sp>
      <p:sp>
        <p:nvSpPr>
          <p:cNvPr id="553" name="CalcV"/>
          <p:cNvSpPr/>
          <p:nvPr/>
        </p:nvSpPr>
        <p:spPr>
          <a:xfrm>
            <a:off x="5143500" y="43180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b="1" dirty="0">
                <a:solidFill>
                  <a:srgbClr val="888888"/>
                </a:solidFill>
                <a:latin typeface="Consolas"/>
              </a:rPr>
              <a:t>8.49</a:t>
            </a:r>
          </a:p>
        </p:txBody>
      </p:sp>
      <p:sp>
        <p:nvSpPr>
          <p:cNvPr id="554" name="Tag"/>
          <p:cNvSpPr/>
          <p:nvPr/>
        </p:nvSpPr>
        <p:spPr>
          <a:xfrm>
            <a:off x="6286500" y="1968500"/>
            <a:ext cx="812800" cy="38100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 anchorCtr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3rd</a:t>
            </a:r>
            <a:endParaRPr lang="en-US"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CalcL"/>
          <p:cNvSpPr/>
          <p:nvPr/>
        </p:nvSpPr>
        <p:spPr>
          <a:xfrm>
            <a:off x="698500" y="51308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dirty="0">
                <a:solidFill>
                  <a:srgbClr val="333333"/>
                </a:solidFill>
                <a:latin typeface="Consolas"/>
              </a:rPr>
              <a:t>d(x*, x₅) = √(Σ (x₅ⱼ − 5)²) = √67</a:t>
            </a:r>
          </a:p>
        </p:txBody>
      </p:sp>
      <p:sp>
        <p:nvSpPr>
          <p:cNvPr id="556" name="CalcV"/>
          <p:cNvSpPr/>
          <p:nvPr/>
        </p:nvSpPr>
        <p:spPr>
          <a:xfrm>
            <a:off x="5143500" y="5130800"/>
            <a:ext cx="101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b="1" dirty="0">
                <a:solidFill>
                  <a:srgbClr val="7AB648"/>
                </a:solidFill>
                <a:latin typeface="Consolas"/>
              </a:rPr>
              <a:t>8.19</a:t>
            </a:r>
          </a:p>
        </p:txBody>
      </p:sp>
      <p:sp>
        <p:nvSpPr>
          <p:cNvPr id="557" name="Tag"/>
          <p:cNvSpPr/>
          <p:nvPr/>
        </p:nvSpPr>
        <p:spPr>
          <a:xfrm>
            <a:off x="6286500" y="5219700"/>
            <a:ext cx="812800" cy="38100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0" tIns="0" rIns="0" bIns="0" anchor="ctr" anchorCtr="0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</a:rPr>
              <a:t>2nd</a:t>
            </a:r>
            <a:endParaRPr lang="en-US"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tep2Hdr"/>
          <p:cNvSpPr/>
          <p:nvPr/>
        </p:nvSpPr>
        <p:spPr>
          <a:xfrm>
            <a:off x="7620000" y="1193800"/>
            <a:ext cx="406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b="1" dirty="0">
                <a:solidFill>
                  <a:srgbClr val="4B2E83"/>
                </a:solidFill>
                <a:latin typeface="Arial"/>
              </a:rPr>
              <a:t>Step 2 — 3-NN majority vote</a:t>
            </a:r>
          </a:p>
        </p:txBody>
      </p:sp>
      <p:sp>
        <p:nvSpPr>
          <p:cNvPr id="559" name="VoteBox"/>
          <p:cNvSpPr/>
          <p:nvPr/>
        </p:nvSpPr>
        <p:spPr>
          <a:xfrm>
            <a:off x="7620000" y="1879600"/>
            <a:ext cx="4064000" cy="32766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0" name="VoteLine1"/>
          <p:cNvSpPr/>
          <p:nvPr/>
        </p:nvSpPr>
        <p:spPr>
          <a:xfrm>
            <a:off x="7899400" y="22860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sz="1700">
                <a:solidFill>
                  <a:srgbClr val="333333"/>
                </a:solidFill>
                <a:latin typeface="Consolas"/>
              </a:rPr>
              <a:t>1st: x₃·B at 8.06     2nd: x₅·B at 8.19</a:t>
            </a:r>
            <a:endParaRPr lang="en-US" sz="1700" dirty="0">
              <a:solidFill>
                <a:srgbClr val="333333"/>
              </a:solidFill>
              <a:latin typeface="Consolas"/>
            </a:endParaRPr>
          </a:p>
        </p:txBody>
      </p:sp>
      <p:sp>
        <p:nvSpPr>
          <p:cNvPr id="561" name="VoteLine2"/>
          <p:cNvSpPr/>
          <p:nvPr/>
        </p:nvSpPr>
        <p:spPr>
          <a:xfrm>
            <a:off x="7899400" y="31242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sz="1700" b="1">
                <a:solidFill>
                  <a:srgbClr val="333333"/>
                </a:solidFill>
                <a:latin typeface="Consolas"/>
              </a:rPr>
              <a:t>3rd: x₁·A at 8.25  (just 0.12 from 4th)</a:t>
            </a:r>
            <a:endParaRPr lang="en-US" sz="1700" b="1" dirty="0">
              <a:solidFill>
                <a:srgbClr val="333333"/>
              </a:solidFill>
              <a:latin typeface="Consolas"/>
            </a:endParaRPr>
          </a:p>
        </p:txBody>
      </p:sp>
      <p:sp>
        <p:nvSpPr>
          <p:cNvPr id="562" name="VoteLine3"/>
          <p:cNvSpPr/>
          <p:nvPr/>
        </p:nvSpPr>
        <p:spPr>
          <a:xfrm>
            <a:off x="7899400" y="3962400"/>
            <a:ext cx="3505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 anchorCtr="0"/>
          <a:lstStyle/>
          <a:p>
            <a:pPr algn="l"/>
            <a:r>
              <a:rPr lang="en-US" sz="2000" b="1">
                <a:solidFill>
                  <a:srgbClr val="7AB648"/>
                </a:solidFill>
                <a:latin typeface="Arial"/>
              </a:rPr>
              <a:t>Vote → B (2 of 3) — but the margin is tiny</a:t>
            </a:r>
            <a:endParaRPr lang="en-US" sz="2000" b="1" dirty="0">
              <a:solidFill>
                <a:srgbClr val="7AB648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040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" grpId="0"/>
      <p:bldP spid="545" grpId="0"/>
      <p:bldP spid="546" grpId="0"/>
      <p:bldP spid="547" grpId="0"/>
      <p:bldP spid="548" grpId="0"/>
      <p:bldP spid="549" grpId="0"/>
      <p:bldP spid="550" grpId="0"/>
      <p:bldP spid="551" grpId="0" animBg="1"/>
      <p:bldP spid="552" grpId="0"/>
      <p:bldP spid="553" grpId="0"/>
      <p:bldP spid="554" grpId="0" animBg="1"/>
      <p:bldP spid="555" grpId="0"/>
      <p:bldP spid="556" grpId="0"/>
      <p:bldP spid="557" grpId="0" animBg="1"/>
      <p:bldP spid="558" grpId="0"/>
      <p:bldP spid="559" grpId="0" animBg="1"/>
      <p:bldP spid="560" grpId="0"/>
      <p:bldP spid="561" grpId="0"/>
      <p:bldP spid="56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DR_ZBand">
            <a:extLst>
              <a:ext uri="{FF2B5EF4-FFF2-40B4-BE49-F238E27FC236}">
                <a16:creationId xmlns:a16="http://schemas.microsoft.com/office/drawing/2014/main" id="{5E3C042E-0285-1041-9F36-998D20060D60}"/>
              </a:ext>
            </a:extLst>
          </p:cNvPr>
          <p:cNvSpPr/>
          <p:nvPr/>
        </p:nvSpPr>
        <p:spPr>
          <a:xfrm>
            <a:off x="4455160" y="2489200"/>
            <a:ext cx="6443979" cy="457200"/>
          </a:xfrm>
          <a:prstGeom prst="rect">
            <a:avLst/>
          </a:prstGeom>
          <a:solidFill>
            <a:srgbClr val="F8DDE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1" name="TitleBar"/>
          <p:cNvSpPr/>
          <p:nvPr/>
        </p:nvSpPr>
        <p:spPr>
          <a:xfrm>
            <a:off x="292100" y="228600"/>
            <a:ext cx="11607800" cy="3810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Stage 3 — d=10 (ten features)</a:t>
            </a:r>
          </a:p>
        </p:txBody>
      </p:sp>
      <p:sp>
        <p:nvSpPr>
          <p:cNvPr id="563" name="RatHdr"/>
          <p:cNvSpPr/>
          <p:nvPr/>
        </p:nvSpPr>
        <p:spPr>
          <a:xfrm>
            <a:off x="292100" y="3886200"/>
            <a:ext cx="11506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Arial"/>
              </a:rPr>
              <a:t>Distance diagnostic — ratio of farthest to nearest neighbor</a:t>
            </a:r>
          </a:p>
        </p:txBody>
      </p:sp>
      <p:sp>
        <p:nvSpPr>
          <p:cNvPr id="564" name="RatBox"/>
          <p:cNvSpPr/>
          <p:nvPr/>
        </p:nvSpPr>
        <p:spPr>
          <a:xfrm>
            <a:off x="279400" y="4191000"/>
            <a:ext cx="11506200" cy="1143000"/>
          </a:xfrm>
          <a:prstGeom prst="roundRect">
            <a:avLst/>
          </a:prstGeom>
          <a:solidFill>
            <a:srgbClr val="F5F0EB"/>
          </a:solidFill>
          <a:ln w="63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5" name="R1"/>
          <p:cNvSpPr/>
          <p:nvPr/>
        </p:nvSpPr>
        <p:spPr>
          <a:xfrm>
            <a:off x="508000" y="43942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600" b="1" dirty="0">
                <a:solidFill>
                  <a:srgbClr val="333333"/>
                </a:solidFill>
                <a:latin typeface="Consolas"/>
              </a:rPr>
              <a:t>max distance = 8.49       min distance = 8.06</a:t>
            </a:r>
          </a:p>
        </p:txBody>
      </p:sp>
      <p:sp>
        <p:nvSpPr>
          <p:cNvPr id="566" name="R2"/>
          <p:cNvSpPr/>
          <p:nvPr/>
        </p:nvSpPr>
        <p:spPr>
          <a:xfrm>
            <a:off x="508000" y="48260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9000" rIns="18000" bIns="9000" anchor="ctr"/>
          <a:lstStyle/>
          <a:p>
            <a:pPr algn="l"/>
            <a:r>
              <a:rPr lang="en-US" sz="1600" dirty="0">
                <a:solidFill>
                  <a:srgbClr val="333333"/>
                </a:solidFill>
                <a:latin typeface="Consolas"/>
              </a:rPr>
              <a:t>ratio = 8.49 / 8.06 = 1.05×  (everything looks equidistant — the signal is gone)</a:t>
            </a:r>
          </a:p>
        </p:txBody>
      </p:sp>
      <p:sp>
        <p:nvSpPr>
          <p:cNvPr id="567" name="TkBar"/>
          <p:cNvSpPr/>
          <p:nvPr/>
        </p:nvSpPr>
        <p:spPr>
          <a:xfrm>
            <a:off x="292100" y="5740400"/>
            <a:ext cx="11506200" cy="5080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</a:rPr>
              <a:t>In d=10, all five neighbors sit within about 5% of each other. The 'nearest neighbor' is nearly arbitrary — KNN's core assumption breaks.</a:t>
            </a:r>
          </a:p>
        </p:txBody>
      </p:sp>
      <p:sp>
        <p:nvSpPr>
          <p:cNvPr id="643" name="VizCap"/>
          <p:cNvSpPr/>
          <p:nvPr/>
        </p:nvSpPr>
        <p:spPr>
          <a:xfrm>
            <a:off x="292100" y="914400"/>
            <a:ext cx="11518900" cy="279400"/>
          </a:xfrm>
          <a:prstGeom prst="rect">
            <a:avLst/>
          </a:prstGeom>
          <a:noFill/>
          <a:ln>
            <a:noFill/>
          </a:ln>
        </p:spPr>
        <p:txBody>
          <a:bodyPr wrap="square" lIns="9000" tIns="3600" rIns="9000" bIns="3600" anchor="t"/>
          <a:lstStyle/>
          <a:p>
            <a:pPr algn="l"/>
            <a:r>
              <a:rPr lang="en-US" sz="1500" i="1">
                <a:solidFill>
                  <a:srgbClr val="333333"/>
                </a:solidFill>
              </a:rPr>
              <a:t>Distance now collapses — all 5 neighbors land in a tiny pink band, so 'nearest' barely beats 'farthest'</a:t>
            </a:r>
            <a:endParaRPr lang="en-US" sz="1500" i="1" dirty="0">
              <a:solidFill>
                <a:srgbClr val="333333"/>
              </a:solidFill>
            </a:endParaRPr>
          </a:p>
        </p:txBody>
      </p:sp>
      <p:sp>
        <p:nvSpPr>
          <p:cNvPr id="484" name="DR_CtxHdr">
            <a:extLst>
              <a:ext uri="{FF2B5EF4-FFF2-40B4-BE49-F238E27FC236}">
                <a16:creationId xmlns:a16="http://schemas.microsoft.com/office/drawing/2014/main" id="{F08AC666-9488-694C-B401-1D59A7A9CA19}"/>
              </a:ext>
            </a:extLst>
          </p:cNvPr>
          <p:cNvSpPr txBox="1"/>
          <p:nvPr/>
        </p:nvSpPr>
        <p:spPr>
          <a:xfrm>
            <a:off x="292100" y="19050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333333"/>
                </a:solidFill>
              </a:rPr>
              <a:t>Full scale (0–10)</a:t>
            </a:r>
          </a:p>
        </p:txBody>
      </p:sp>
      <p:sp>
        <p:nvSpPr>
          <p:cNvPr id="485" name="DR_CtxAxis">
            <a:extLst>
              <a:ext uri="{FF2B5EF4-FFF2-40B4-BE49-F238E27FC236}">
                <a16:creationId xmlns:a16="http://schemas.microsoft.com/office/drawing/2014/main" id="{33756A66-64A2-E647-8E66-6B134F7ED3A2}"/>
              </a:ext>
            </a:extLst>
          </p:cNvPr>
          <p:cNvSpPr/>
          <p:nvPr/>
        </p:nvSpPr>
        <p:spPr>
          <a:xfrm>
            <a:off x="444500" y="2717800"/>
            <a:ext cx="20955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6" name="DR_CtxTick">
            <a:extLst>
              <a:ext uri="{FF2B5EF4-FFF2-40B4-BE49-F238E27FC236}">
                <a16:creationId xmlns:a16="http://schemas.microsoft.com/office/drawing/2014/main" id="{8EB46F15-7665-F148-8150-89434FBBA02C}"/>
              </a:ext>
            </a:extLst>
          </p:cNvPr>
          <p:cNvSpPr/>
          <p:nvPr/>
        </p:nvSpPr>
        <p:spPr>
          <a:xfrm>
            <a:off x="444500" y="2717800"/>
            <a:ext cx="12700" cy="762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7" name="DR_CtxTickLbl">
            <a:extLst>
              <a:ext uri="{FF2B5EF4-FFF2-40B4-BE49-F238E27FC236}">
                <a16:creationId xmlns:a16="http://schemas.microsoft.com/office/drawing/2014/main" id="{F3882433-FEA7-F94A-BC46-0235F1F9A13C}"/>
              </a:ext>
            </a:extLst>
          </p:cNvPr>
          <p:cNvSpPr txBox="1"/>
          <p:nvPr/>
        </p:nvSpPr>
        <p:spPr>
          <a:xfrm>
            <a:off x="342900" y="28194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>
                <a:solidFill>
                  <a:srgbClr val="888888"/>
                </a:solidFill>
              </a:rPr>
              <a:t>0</a:t>
            </a:r>
          </a:p>
        </p:txBody>
      </p:sp>
      <p:sp>
        <p:nvSpPr>
          <p:cNvPr id="488" name="DR_CtxTick">
            <a:extLst>
              <a:ext uri="{FF2B5EF4-FFF2-40B4-BE49-F238E27FC236}">
                <a16:creationId xmlns:a16="http://schemas.microsoft.com/office/drawing/2014/main" id="{61DA1C6A-765B-6947-8964-56CB52FC250A}"/>
              </a:ext>
            </a:extLst>
          </p:cNvPr>
          <p:cNvSpPr/>
          <p:nvPr/>
        </p:nvSpPr>
        <p:spPr>
          <a:xfrm>
            <a:off x="1492250" y="2717800"/>
            <a:ext cx="12700" cy="381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9" name="DR_CtxTickLbl">
            <a:extLst>
              <a:ext uri="{FF2B5EF4-FFF2-40B4-BE49-F238E27FC236}">
                <a16:creationId xmlns:a16="http://schemas.microsoft.com/office/drawing/2014/main" id="{E84B099F-4FA2-3945-B055-E009B27B2BC2}"/>
              </a:ext>
            </a:extLst>
          </p:cNvPr>
          <p:cNvSpPr txBox="1"/>
          <p:nvPr/>
        </p:nvSpPr>
        <p:spPr>
          <a:xfrm>
            <a:off x="1390650" y="28194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490" name="DR_CtxTick">
            <a:extLst>
              <a:ext uri="{FF2B5EF4-FFF2-40B4-BE49-F238E27FC236}">
                <a16:creationId xmlns:a16="http://schemas.microsoft.com/office/drawing/2014/main" id="{675981EA-8583-F640-98E6-61D73A264F23}"/>
              </a:ext>
            </a:extLst>
          </p:cNvPr>
          <p:cNvSpPr/>
          <p:nvPr/>
        </p:nvSpPr>
        <p:spPr>
          <a:xfrm>
            <a:off x="2540000" y="2717800"/>
            <a:ext cx="12700" cy="381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1" name="DR_CtxTickLbl">
            <a:extLst>
              <a:ext uri="{FF2B5EF4-FFF2-40B4-BE49-F238E27FC236}">
                <a16:creationId xmlns:a16="http://schemas.microsoft.com/office/drawing/2014/main" id="{E968D1DE-B7DD-6940-8DC2-9E57454F6D22}"/>
              </a:ext>
            </a:extLst>
          </p:cNvPr>
          <p:cNvSpPr txBox="1"/>
          <p:nvPr/>
        </p:nvSpPr>
        <p:spPr>
          <a:xfrm>
            <a:off x="2438400" y="28194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492" name="DR_CtxBand">
            <a:extLst>
              <a:ext uri="{FF2B5EF4-FFF2-40B4-BE49-F238E27FC236}">
                <a16:creationId xmlns:a16="http://schemas.microsoft.com/office/drawing/2014/main" id="{C6D04322-D723-524D-B72E-45FDC9297C2B}"/>
              </a:ext>
            </a:extLst>
          </p:cNvPr>
          <p:cNvSpPr/>
          <p:nvPr/>
        </p:nvSpPr>
        <p:spPr>
          <a:xfrm>
            <a:off x="2120773" y="2654300"/>
            <a:ext cx="90106" cy="152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3" name="DR_CtxNote">
            <a:extLst>
              <a:ext uri="{FF2B5EF4-FFF2-40B4-BE49-F238E27FC236}">
                <a16:creationId xmlns:a16="http://schemas.microsoft.com/office/drawing/2014/main" id="{00A7FE79-B530-724F-9630-AD0EA0BA546C}"/>
              </a:ext>
            </a:extLst>
          </p:cNvPr>
          <p:cNvSpPr txBox="1"/>
          <p:nvPr/>
        </p:nvSpPr>
        <p:spPr>
          <a:xfrm>
            <a:off x="317500" y="2946400"/>
            <a:ext cx="2413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D1578A"/>
                </a:solidFill>
              </a:rPr>
              <a:t>← all 5 neighbors fit in this pink dot</a:t>
            </a:r>
          </a:p>
        </p:txBody>
      </p:sp>
      <p:sp>
        <p:nvSpPr>
          <p:cNvPr id="494" name="DR_ZHdr">
            <a:extLst>
              <a:ext uri="{FF2B5EF4-FFF2-40B4-BE49-F238E27FC236}">
                <a16:creationId xmlns:a16="http://schemas.microsoft.com/office/drawing/2014/main" id="{230D9A95-C234-B54F-9885-A7B81E5D6B82}"/>
              </a:ext>
            </a:extLst>
          </p:cNvPr>
          <p:cNvSpPr txBox="1"/>
          <p:nvPr/>
        </p:nvSpPr>
        <p:spPr>
          <a:xfrm>
            <a:off x="9271000" y="1574800"/>
            <a:ext cx="2159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333333"/>
                </a:solidFill>
              </a:rPr>
              <a:t>Zoomed view (8.0 – 8.5)</a:t>
            </a:r>
          </a:p>
        </p:txBody>
      </p:sp>
      <p:sp>
        <p:nvSpPr>
          <p:cNvPr id="496" name="DR_ZAxis">
            <a:extLst>
              <a:ext uri="{FF2B5EF4-FFF2-40B4-BE49-F238E27FC236}">
                <a16:creationId xmlns:a16="http://schemas.microsoft.com/office/drawing/2014/main" id="{5721351E-BC8F-844F-86A3-9504CD712927}"/>
              </a:ext>
            </a:extLst>
          </p:cNvPr>
          <p:cNvSpPr/>
          <p:nvPr/>
        </p:nvSpPr>
        <p:spPr>
          <a:xfrm>
            <a:off x="3556000" y="2717800"/>
            <a:ext cx="7493000" cy="127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7" name="DR_ZTick">
            <a:extLst>
              <a:ext uri="{FF2B5EF4-FFF2-40B4-BE49-F238E27FC236}">
                <a16:creationId xmlns:a16="http://schemas.microsoft.com/office/drawing/2014/main" id="{34EBB66D-925F-F541-84F4-BF95F650AF09}"/>
              </a:ext>
            </a:extLst>
          </p:cNvPr>
          <p:cNvSpPr/>
          <p:nvPr/>
        </p:nvSpPr>
        <p:spPr>
          <a:xfrm>
            <a:off x="3556000" y="2667000"/>
            <a:ext cx="12700" cy="1016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8" name="DR_ZTickLbl">
            <a:extLst>
              <a:ext uri="{FF2B5EF4-FFF2-40B4-BE49-F238E27FC236}">
                <a16:creationId xmlns:a16="http://schemas.microsoft.com/office/drawing/2014/main" id="{2912C975-8A3F-5B4B-B2E4-78C4EF4FC05B}"/>
              </a:ext>
            </a:extLst>
          </p:cNvPr>
          <p:cNvSpPr txBox="1"/>
          <p:nvPr/>
        </p:nvSpPr>
        <p:spPr>
          <a:xfrm>
            <a:off x="3378200" y="2844800"/>
            <a:ext cx="3556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888888"/>
                </a:solidFill>
              </a:rPr>
              <a:t>8.0</a:t>
            </a:r>
          </a:p>
        </p:txBody>
      </p:sp>
      <p:sp>
        <p:nvSpPr>
          <p:cNvPr id="499" name="DR_ZTick">
            <a:extLst>
              <a:ext uri="{FF2B5EF4-FFF2-40B4-BE49-F238E27FC236}">
                <a16:creationId xmlns:a16="http://schemas.microsoft.com/office/drawing/2014/main" id="{F85DA997-9B62-9E43-9495-77EF0E27CD57}"/>
              </a:ext>
            </a:extLst>
          </p:cNvPr>
          <p:cNvSpPr/>
          <p:nvPr/>
        </p:nvSpPr>
        <p:spPr>
          <a:xfrm>
            <a:off x="11049000" y="2667000"/>
            <a:ext cx="12700" cy="101600"/>
          </a:xfrm>
          <a:prstGeom prst="rect">
            <a:avLst/>
          </a:prstGeom>
          <a:solidFill>
            <a:srgbClr val="88888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0" name="DR_ZTickLbl">
            <a:extLst>
              <a:ext uri="{FF2B5EF4-FFF2-40B4-BE49-F238E27FC236}">
                <a16:creationId xmlns:a16="http://schemas.microsoft.com/office/drawing/2014/main" id="{F8DF5354-C622-CC41-A378-03FAD97EEF34}"/>
              </a:ext>
            </a:extLst>
          </p:cNvPr>
          <p:cNvSpPr txBox="1"/>
          <p:nvPr/>
        </p:nvSpPr>
        <p:spPr>
          <a:xfrm>
            <a:off x="10871200" y="2844800"/>
            <a:ext cx="355600" cy="13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>
                <a:solidFill>
                  <a:srgbClr val="888888"/>
                </a:solidFill>
              </a:rPr>
              <a:t>8.5</a:t>
            </a:r>
          </a:p>
        </p:txBody>
      </p:sp>
      <p:sp>
        <p:nvSpPr>
          <p:cNvPr id="508" name="DR_ZDot">
            <a:extLst>
              <a:ext uri="{FF2B5EF4-FFF2-40B4-BE49-F238E27FC236}">
                <a16:creationId xmlns:a16="http://schemas.microsoft.com/office/drawing/2014/main" id="{773AB9B4-6713-5F49-AC20-52FAEB693537}"/>
              </a:ext>
            </a:extLst>
          </p:cNvPr>
          <p:cNvSpPr/>
          <p:nvPr/>
        </p:nvSpPr>
        <p:spPr>
          <a:xfrm>
            <a:off x="4330700" y="2590800"/>
            <a:ext cx="254000" cy="2540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9" name="DR_ZLbl">
            <a:extLst>
              <a:ext uri="{FF2B5EF4-FFF2-40B4-BE49-F238E27FC236}">
                <a16:creationId xmlns:a16="http://schemas.microsoft.com/office/drawing/2014/main" id="{67F5A21C-4049-6244-A0AB-C266911A189A}"/>
              </a:ext>
            </a:extLst>
          </p:cNvPr>
          <p:cNvSpPr txBox="1"/>
          <p:nvPr/>
        </p:nvSpPr>
        <p:spPr>
          <a:xfrm>
            <a:off x="4175760" y="2006600"/>
            <a:ext cx="558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d₃
8.06</a:t>
            </a:r>
          </a:p>
        </p:txBody>
      </p:sp>
      <p:sp>
        <p:nvSpPr>
          <p:cNvPr id="510" name="DR_ZDot">
            <a:extLst>
              <a:ext uri="{FF2B5EF4-FFF2-40B4-BE49-F238E27FC236}">
                <a16:creationId xmlns:a16="http://schemas.microsoft.com/office/drawing/2014/main" id="{F54D3196-DE50-A242-98F2-99FDDFD68EAC}"/>
              </a:ext>
            </a:extLst>
          </p:cNvPr>
          <p:cNvSpPr/>
          <p:nvPr/>
        </p:nvSpPr>
        <p:spPr>
          <a:xfrm>
            <a:off x="6273800" y="2590800"/>
            <a:ext cx="254000" cy="2540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1" name="DR_ZLbl">
            <a:extLst>
              <a:ext uri="{FF2B5EF4-FFF2-40B4-BE49-F238E27FC236}">
                <a16:creationId xmlns:a16="http://schemas.microsoft.com/office/drawing/2014/main" id="{C892EB5B-8B30-8A41-B50B-14A643EC5275}"/>
              </a:ext>
            </a:extLst>
          </p:cNvPr>
          <p:cNvSpPr txBox="1"/>
          <p:nvPr/>
        </p:nvSpPr>
        <p:spPr>
          <a:xfrm>
            <a:off x="6123939" y="2006600"/>
            <a:ext cx="558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d₅
8.19</a:t>
            </a:r>
          </a:p>
        </p:txBody>
      </p:sp>
      <p:sp>
        <p:nvSpPr>
          <p:cNvPr id="512" name="DR_ZDot">
            <a:extLst>
              <a:ext uri="{FF2B5EF4-FFF2-40B4-BE49-F238E27FC236}">
                <a16:creationId xmlns:a16="http://schemas.microsoft.com/office/drawing/2014/main" id="{A0B92E4E-67D9-C641-9E90-81EA7739A81D}"/>
              </a:ext>
            </a:extLst>
          </p:cNvPr>
          <p:cNvSpPr/>
          <p:nvPr/>
        </p:nvSpPr>
        <p:spPr>
          <a:xfrm>
            <a:off x="7175500" y="2590800"/>
            <a:ext cx="254000" cy="2540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3" name="DR_ZLbl">
            <a:extLst>
              <a:ext uri="{FF2B5EF4-FFF2-40B4-BE49-F238E27FC236}">
                <a16:creationId xmlns:a16="http://schemas.microsoft.com/office/drawing/2014/main" id="{C5A28AA1-BC49-5040-8207-0CC7B6F2C4B3}"/>
              </a:ext>
            </a:extLst>
          </p:cNvPr>
          <p:cNvSpPr txBox="1"/>
          <p:nvPr/>
        </p:nvSpPr>
        <p:spPr>
          <a:xfrm>
            <a:off x="7023100" y="2006600"/>
            <a:ext cx="558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 b="1">
                <a:solidFill>
                  <a:srgbClr val="B7A57A"/>
                </a:solidFill>
              </a:rPr>
              <a:t>d₁
8.25</a:t>
            </a:r>
          </a:p>
        </p:txBody>
      </p:sp>
      <p:sp>
        <p:nvSpPr>
          <p:cNvPr id="514" name="DR_ZDot">
            <a:extLst>
              <a:ext uri="{FF2B5EF4-FFF2-40B4-BE49-F238E27FC236}">
                <a16:creationId xmlns:a16="http://schemas.microsoft.com/office/drawing/2014/main" id="{BD5F8093-2D94-1049-83D5-3AFF4B82BEFE}"/>
              </a:ext>
            </a:extLst>
          </p:cNvPr>
          <p:cNvSpPr/>
          <p:nvPr/>
        </p:nvSpPr>
        <p:spPr>
          <a:xfrm>
            <a:off x="8978900" y="2590800"/>
            <a:ext cx="254000" cy="254000"/>
          </a:xfrm>
          <a:prstGeom prst="ellipse">
            <a:avLst/>
          </a:prstGeom>
          <a:solidFill>
            <a:srgbClr val="B7A57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5" name="DR_ZLbl">
            <a:extLst>
              <a:ext uri="{FF2B5EF4-FFF2-40B4-BE49-F238E27FC236}">
                <a16:creationId xmlns:a16="http://schemas.microsoft.com/office/drawing/2014/main" id="{57A9C158-55F1-1F44-9D55-A6E10E2E0BBE}"/>
              </a:ext>
            </a:extLst>
          </p:cNvPr>
          <p:cNvSpPr txBox="1"/>
          <p:nvPr/>
        </p:nvSpPr>
        <p:spPr>
          <a:xfrm>
            <a:off x="8821419" y="2006600"/>
            <a:ext cx="558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 b="1">
                <a:solidFill>
                  <a:srgbClr val="B7A57A"/>
                </a:solidFill>
              </a:rPr>
              <a:t>d₂
8.37</a:t>
            </a:r>
          </a:p>
        </p:txBody>
      </p:sp>
      <p:sp>
        <p:nvSpPr>
          <p:cNvPr id="516" name="DR_ZDot">
            <a:extLst>
              <a:ext uri="{FF2B5EF4-FFF2-40B4-BE49-F238E27FC236}">
                <a16:creationId xmlns:a16="http://schemas.microsoft.com/office/drawing/2014/main" id="{D9A2A49D-BB7C-9E45-93D7-D7DCDC4F669E}"/>
              </a:ext>
            </a:extLst>
          </p:cNvPr>
          <p:cNvSpPr/>
          <p:nvPr/>
        </p:nvSpPr>
        <p:spPr>
          <a:xfrm>
            <a:off x="10769600" y="2590800"/>
            <a:ext cx="254000" cy="254000"/>
          </a:xfrm>
          <a:prstGeom prst="ellipse">
            <a:avLst/>
          </a:prstGeom>
          <a:solidFill>
            <a:srgbClr val="00A7B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7" name="DR_ZLbl">
            <a:extLst>
              <a:ext uri="{FF2B5EF4-FFF2-40B4-BE49-F238E27FC236}">
                <a16:creationId xmlns:a16="http://schemas.microsoft.com/office/drawing/2014/main" id="{4075B410-AC05-D344-8BA1-B6FBD3683BE4}"/>
              </a:ext>
            </a:extLst>
          </p:cNvPr>
          <p:cNvSpPr txBox="1"/>
          <p:nvPr/>
        </p:nvSpPr>
        <p:spPr>
          <a:xfrm>
            <a:off x="10619740" y="2006600"/>
            <a:ext cx="558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d₄
8.49</a:t>
            </a:r>
          </a:p>
        </p:txBody>
      </p:sp>
      <p:sp>
        <p:nvSpPr>
          <p:cNvPr id="518" name="DR_Anno">
            <a:extLst>
              <a:ext uri="{FF2B5EF4-FFF2-40B4-BE49-F238E27FC236}">
                <a16:creationId xmlns:a16="http://schemas.microsoft.com/office/drawing/2014/main" id="{5BAF80F8-2253-604A-AB1F-8B4F7C7A2250}"/>
              </a:ext>
            </a:extLst>
          </p:cNvPr>
          <p:cNvSpPr txBox="1"/>
          <p:nvPr/>
        </p:nvSpPr>
        <p:spPr>
          <a:xfrm>
            <a:off x="3556000" y="3175000"/>
            <a:ext cx="749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D1578A"/>
                </a:solidFill>
              </a:rPr>
              <a:t>Total spread: only 0.43 distance units (≈5%) — the signal is gone</a:t>
            </a:r>
          </a:p>
        </p:txBody>
      </p:sp>
    </p:spTree>
    <p:extLst>
      <p:ext uri="{BB962C8B-B14F-4D97-AF65-F5344CB8AC3E}">
        <p14:creationId xmlns:p14="http://schemas.microsoft.com/office/powerpoint/2010/main" val="173971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" grpId="0" animBg="1"/>
      <p:bldP spid="563" grpId="0"/>
      <p:bldP spid="564" grpId="0" animBg="1"/>
      <p:bldP spid="565" grpId="0"/>
      <p:bldP spid="566" grpId="0"/>
      <p:bldP spid="567" grpId="0" animBg="1"/>
      <p:bldP spid="643" grpId="0"/>
      <p:bldP spid="484" grpId="0"/>
      <p:bldP spid="485" grpId="0" animBg="1"/>
      <p:bldP spid="486" grpId="0" animBg="1"/>
      <p:bldP spid="487" grpId="0"/>
      <p:bldP spid="488" grpId="0" animBg="1"/>
      <p:bldP spid="489" grpId="0"/>
      <p:bldP spid="490" grpId="0" animBg="1"/>
      <p:bldP spid="491" grpId="0"/>
      <p:bldP spid="492" grpId="0" animBg="1"/>
      <p:bldP spid="493" grpId="0"/>
      <p:bldP spid="494" grpId="0"/>
      <p:bldP spid="496" grpId="0" animBg="1"/>
      <p:bldP spid="497" grpId="0" animBg="1"/>
      <p:bldP spid="498" grpId="0"/>
      <p:bldP spid="499" grpId="0" animBg="1"/>
      <p:bldP spid="500" grpId="0"/>
      <p:bldP spid="508" grpId="0" animBg="1"/>
      <p:bldP spid="509" grpId="0"/>
      <p:bldP spid="510" grpId="0" animBg="1"/>
      <p:bldP spid="511" grpId="0"/>
      <p:bldP spid="512" grpId="0" animBg="1"/>
      <p:bldP spid="513" grpId="0"/>
      <p:bldP spid="514" grpId="0" animBg="1"/>
      <p:bldP spid="515" grpId="0"/>
      <p:bldP spid="516" grpId="0" animBg="1"/>
      <p:bldP spid="517" grpId="0"/>
      <p:bldP spid="5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Exercise 1 — Find the 1-NN in 2D (k = 1)</a:t>
            </a:r>
          </a:p>
        </p:txBody>
      </p:sp>
      <p:sp>
        <p:nvSpPr>
          <p:cNvPr id="701" name="Ex1_TrainHdr"/>
          <p:cNvSpPr/>
          <p:nvPr/>
        </p:nvSpPr>
        <p:spPr>
          <a:xfrm>
            <a:off x="292100" y="6604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Training set — 2D points (x, y) with class</a:t>
            </a:r>
          </a:p>
        </p:txBody>
      </p:sp>
      <p:sp>
        <p:nvSpPr>
          <p:cNvPr id="702" name="Ex1_TrainBox"/>
          <p:cNvSpPr/>
          <p:nvPr/>
        </p:nvSpPr>
        <p:spPr>
          <a:xfrm>
            <a:off x="292100" y="863600"/>
            <a:ext cx="3810000" cy="2159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Ex1_TrainTbl"/>
          <p:cNvSpPr/>
          <p:nvPr/>
        </p:nvSpPr>
        <p:spPr>
          <a:xfrm>
            <a:off x="444500" y="990600"/>
            <a:ext cx="3505200" cy="19304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Point     x     y     Class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A         2     3  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B         5     4  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C         9     6  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         4     7  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E         8     1      ● Red</a:t>
            </a:r>
          </a:p>
        </p:txBody>
      </p:sp>
      <p:sp>
        <p:nvSpPr>
          <p:cNvPr id="704" name="Ex1_QHdr"/>
          <p:cNvSpPr/>
          <p:nvPr/>
        </p:nvSpPr>
        <p:spPr>
          <a:xfrm>
            <a:off x="292100" y="31496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Query point</a:t>
            </a:r>
          </a:p>
        </p:txBody>
      </p:sp>
      <p:sp>
        <p:nvSpPr>
          <p:cNvPr id="705" name="Ex1_QBox"/>
          <p:cNvSpPr/>
          <p:nvPr/>
        </p:nvSpPr>
        <p:spPr>
          <a:xfrm>
            <a:off x="292100" y="3352800"/>
            <a:ext cx="3810000" cy="660400"/>
          </a:xfrm>
          <a:prstGeom prst="rect">
            <a:avLst/>
          </a:prstGeom>
          <a:solidFill>
            <a:srgbClr val="F0F8FB"/>
          </a:solidFill>
          <a:ln w="127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6" name="Ex1_QTxt"/>
          <p:cNvSpPr/>
          <p:nvPr/>
        </p:nvSpPr>
        <p:spPr>
          <a:xfrm>
            <a:off x="444500" y="3505200"/>
            <a:ext cx="3505200" cy="381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 fontScale="92500" lnSpcReduction="10000"/>
          </a:bodyPr>
          <a:lstStyle/>
          <a:p>
            <a:pPr algn="l"/>
            <a:r>
              <a:rPr lang="en-US" sz="1400" b="1" dirty="0">
                <a:solidFill>
                  <a:srgbClr val="00A7B5"/>
                </a:solidFill>
                <a:latin typeface="Consolas"/>
              </a:rPr>
              <a:t>q* = (6, 5)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Which class does 1-NN assign?</a:t>
            </a:r>
          </a:p>
        </p:txBody>
      </p:sp>
      <p:sp>
        <p:nvSpPr>
          <p:cNvPr id="707" name="Ex1_TaskHdr"/>
          <p:cNvSpPr/>
          <p:nvPr/>
        </p:nvSpPr>
        <p:spPr>
          <a:xfrm>
            <a:off x="4318000" y="660400"/>
            <a:ext cx="747395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Your task</a:t>
            </a:r>
          </a:p>
        </p:txBody>
      </p:sp>
      <p:sp>
        <p:nvSpPr>
          <p:cNvPr id="708" name="Ex1_TaskBox"/>
          <p:cNvSpPr/>
          <p:nvPr/>
        </p:nvSpPr>
        <p:spPr>
          <a:xfrm>
            <a:off x="4318000" y="863600"/>
            <a:ext cx="7473950" cy="2159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9" name="Ex1_TaskTxt"/>
          <p:cNvSpPr/>
          <p:nvPr/>
        </p:nvSpPr>
        <p:spPr>
          <a:xfrm>
            <a:off x="4470400" y="990600"/>
            <a:ext cx="6876034" cy="19304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1.  Compute the Euclidean distance from q*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to each of the five training points.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2.  Identify the single nearest neighbour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(smallest distance).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3.  Assign q* that neighbour's class.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Consolas"/>
              </a:rPr>
              <a:t>Distance:  d = √( (xᵢ−x*)² + (yᵢ−y*)² )</a:t>
            </a:r>
          </a:p>
        </p:txBody>
      </p:sp>
      <p:sp>
        <p:nvSpPr>
          <p:cNvPr id="710" name="Ex1_HintHdr"/>
          <p:cNvSpPr/>
          <p:nvPr/>
        </p:nvSpPr>
        <p:spPr>
          <a:xfrm>
            <a:off x="4318000" y="3149600"/>
            <a:ext cx="747395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Hint</a:t>
            </a:r>
          </a:p>
        </p:txBody>
      </p:sp>
      <p:sp>
        <p:nvSpPr>
          <p:cNvPr id="711" name="Ex1_HintBox"/>
          <p:cNvSpPr/>
          <p:nvPr/>
        </p:nvSpPr>
        <p:spPr>
          <a:xfrm>
            <a:off x="4318000" y="3352800"/>
            <a:ext cx="7473950" cy="660400"/>
          </a:xfrm>
          <a:prstGeom prst="rect">
            <a:avLst/>
          </a:prstGeom>
          <a:solidFill>
            <a:srgbClr val="FBF3F7"/>
          </a:solidFill>
          <a:ln w="12700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Ex1_HintTxt"/>
          <p:cNvSpPr/>
          <p:nvPr/>
        </p:nvSpPr>
        <p:spPr>
          <a:xfrm>
            <a:off x="4470400" y="3454400"/>
            <a:ext cx="6876034" cy="4572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You can compare squared distances — no need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to take square roots to find the minimum.</a:t>
            </a:r>
          </a:p>
        </p:txBody>
      </p:sp>
      <p:sp>
        <p:nvSpPr>
          <p:cNvPr id="713" name="Ex1_SolHdr"/>
          <p:cNvSpPr/>
          <p:nvPr/>
        </p:nvSpPr>
        <p:spPr>
          <a:xfrm>
            <a:off x="292100" y="4140200"/>
            <a:ext cx="85725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</a:t>
            </a:r>
          </a:p>
        </p:txBody>
      </p:sp>
      <p:sp>
        <p:nvSpPr>
          <p:cNvPr id="714" name="Ex1_SolBox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Ex1_SolTxt"/>
          <p:cNvSpPr/>
          <p:nvPr/>
        </p:nvSpPr>
        <p:spPr>
          <a:xfrm>
            <a:off x="482600" y="4445000"/>
            <a:ext cx="11176000" cy="1143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d(q*,A)=√(16+4)=√20≈4.47    d(q*,B)=√(1+1)=√2≈1.41    d(q*,C)=√(9+1)=√10≈3.16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d(q*,D)=√(4+4)=√8≈2.83     d(q*,E)=√(4+16)=√20≈4.47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200" b="1" dirty="0">
                <a:solidFill>
                  <a:srgbClr val="5A8A2A"/>
                </a:solidFill>
                <a:latin typeface="Consolas"/>
              </a:rPr>
              <a:t>Nearest neighbour = B at distance ≈ 1.41  →  1-NN assigns q* the class ● Red</a:t>
            </a:r>
          </a:p>
        </p:txBody>
      </p:sp>
      <p:sp>
        <p:nvSpPr>
          <p:cNvPr id="720" name="Ex1_SolCover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Ex1_SolCoverTxt"/>
          <p:cNvSpPr/>
          <p:nvPr/>
        </p:nvSpPr>
        <p:spPr>
          <a:xfrm>
            <a:off x="292100" y="4343400"/>
            <a:ext cx="11506200" cy="1320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🔒  Solution hidden — work it out first, then remove this cover to reveal.</a:t>
            </a:r>
          </a:p>
        </p:txBody>
      </p:sp>
      <p:sp>
        <p:nvSpPr>
          <p:cNvPr id="730" name="Ex1_TkBar"/>
          <p:cNvSpPr/>
          <p:nvPr/>
        </p:nvSpPr>
        <p:spPr>
          <a:xfrm>
            <a:off x="292100" y="5753100"/>
            <a:ext cx="11506200" cy="3683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Ex1_TkTxt"/>
          <p:cNvSpPr/>
          <p:nvPr/>
        </p:nvSpPr>
        <p:spPr>
          <a:xfrm>
            <a:off x="419100" y="5753100"/>
            <a:ext cx="11252200" cy="3683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With k = 1 the decision is just the closest point — in low dimensions distances are well separated and the nearest neighbour is unambiguous.</a:t>
            </a:r>
          </a:p>
        </p:txBody>
      </p:sp>
    </p:spTree>
    <p:extLst>
      <p:ext uri="{BB962C8B-B14F-4D97-AF65-F5344CB8AC3E}">
        <p14:creationId xmlns:p14="http://schemas.microsoft.com/office/powerpoint/2010/main" val="970862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1 — Solution · Point A  (1-NN, k = 1)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54E797-58E1-724F-8D20-C2310C034274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Point 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BC659D3-BBDC-B148-A30A-5A5802CCE272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 = (  6,  5 )
A            = (  2,  3 )    ● Red
A − q*       = ( -4, -2 )
(A−q*)²      = ( 16,  4 )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 = 16 + 4 = 20
d(q*,A)      = √20 ≈ 4.47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EC58350-B60E-C341-ADAE-85C256AAC153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Rank 4 of 5
4th (tie)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47502C-B06D-134E-98F2-E1890B3CFB82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●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DD1B9-D954-5F49-B675-523EE020C468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Ranking by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(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squared distance) is identical to ranking by d, since √ is monotonic — the hint lets you skip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1897244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1 — Solution · Point B  (1-NN, k = 1)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11822-E7E0-B444-9098-F577D4C721D1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Point B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AA0332C-14DF-A947-B38D-455AABED4BC2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 = (  6,  5 )
B            = (  5,  4 )    ● Red
B − q*       = ( -1, -1 )
(B−q*)²      = (  1,  1 )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 = 1 + 1 = 2
d(q*,B)      = √2 ≈ 1.41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B6C762D-BA00-DA4B-B283-1A8B06CD1670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Rank 1 of 5
1st — nearest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6FF5962-ED36-B94C-AE2E-64916EAD219D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●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BE3D7-9FE7-0D47-A4C9-FC31BDCBC772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Ranking by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(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squared distance) is identical to ranking by d, since √ is monotonic — the hint lets you skip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1351381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1 — Solution · Point C  (1-NN, k = 1)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09FC5-F21B-644C-B8E5-B8DD4F0B6F22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Point 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5FB881-30F1-9643-AE0C-BF633507B177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 = (  6,  5 )
C            = (  9,  6 )    ▲ Blue
C − q*       = (  3,  1 )
(C−q*)²      = (  9,  1 )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 = 9 + 1 = 10
d(q*,C)      = √10 ≈ 3.16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819F74A-D4E8-EF4C-8C5C-D3C831ACD2DE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Rank 3 of 5
3rd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48A148-8D98-FB4D-BF27-5D9CF3A3FEDC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2C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▲ Blue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9B5A8-EB50-6941-8F44-FF6D50FED138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Ranking by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(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squared distance) is identical to ranking by d, since √ is monotonic — the hint lets you skip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2248723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1 — Solution · Point D  (1-NN, k = 1)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CD36DE-2908-1A46-9E62-97E3D6F5012F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Point 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A695C09-2C40-DF43-A882-0AFE35502BBC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 = (  6,  5 )
D            = (  4,  7 )    ▲ Blue
D − q*       = ( -2,  2 )
(D−q*)²      = (  4,  4 )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 = 4 + 4 = 8
d(q*,D)      = √8 ≈ 2.83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1DDB8E-D117-4F43-8605-6C8AB7AFA499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Rank 2 of 5
2nd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387075-9CB6-9644-B52F-07B9948C8BFA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2C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▲ Blue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7BCD9-D969-EB4C-90FF-7B83F133196B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Ranking by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(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squared distance) is identical to ranking by d, since √ is monotonic — the hint lets you skip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673287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1 — Solution · Point E  (1-NN, k = 1)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D11B0-1779-DA45-BCF9-891B8CB6966A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Point 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C698CF2-CCD2-5F47-B11E-2547B89328CE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 = (  6,  5 )
E            = (  8,  1 )    ● Red
E − q*       = (  2, -4 )
(E−q*)²      = (  4, 16 )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 = 4 + 16 = 20
d(q*,E)      = √20 ≈ 4.47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5A16D7-B770-5244-9ED9-B76748A3E2D5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Rank 4 of 5
4th (tie)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5B76E84-40F2-7B46-8F32-AC5383CAB977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●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71E339-E723-8245-8905-2FF4E7FE8E6E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Ranking by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(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squared distance) is identical to ranking by d, since √ is monotonic — the hint lets you skip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950559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1 — Solution · Answer  (1-NN, k = 1)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080F4-5F58-9846-A85E-B9E066E065DE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Rank the five distances and take the single nearest neighbour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DDDDFD8-256B-DC41-B792-41F72B38CCB7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100">
                <a:solidFill>
                  <a:srgbClr val="333333"/>
                </a:solidFill>
                <a:latin typeface="Consolas"/>
                <a:cs typeface="Consolas"/>
              </a:rPr>
              <a:t>1st   B   √2  ≈ 1.41    ● Red    ← nearest
2nd   D   √8  ≈ 2.83    ▲ Blue
3rd   C   √10 ≈ 3.16    ▲ Blue
4th   A   √20 ≈ 4.47    ● Red
4th   E   √20 ≈ 4.47    ● Red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9FC1EC-CEA5-C946-BC2E-B3F16977A214}"/>
              </a:ext>
            </a:extLst>
          </p:cNvPr>
          <p:cNvSpPr/>
          <p:nvPr/>
        </p:nvSpPr>
        <p:spPr>
          <a:xfrm>
            <a:off x="8534400" y="1397000"/>
            <a:ext cx="3149600" cy="3810000"/>
          </a:xfrm>
          <a:prstGeom prst="roundRect">
            <a:avLst/>
          </a:prstGeom>
          <a:solidFill>
            <a:srgbClr val="5A8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rial"/>
                <a:cs typeface="Arial"/>
              </a:rPr>
              <a:t>ANSWER
1-NN →
● 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205E9-00C4-3E41-9219-D553D2070D64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With k = 1 the decision is just the closest point (B). In 2D distances are well separated, so the nearest neighbour is unambiguous.</a:t>
            </a:r>
          </a:p>
        </p:txBody>
      </p:sp>
    </p:spTree>
    <p:extLst>
      <p:ext uri="{BB962C8B-B14F-4D97-AF65-F5344CB8AC3E}">
        <p14:creationId xmlns:p14="http://schemas.microsoft.com/office/powerpoint/2010/main" val="276127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</a:rPr>
              <a:t>Exercise 2 — Find the 3-NN in 3D (k = 3)</a:t>
            </a:r>
          </a:p>
        </p:txBody>
      </p:sp>
      <p:sp>
        <p:nvSpPr>
          <p:cNvPr id="701" name="Ex2_TrainHdr"/>
          <p:cNvSpPr/>
          <p:nvPr/>
        </p:nvSpPr>
        <p:spPr>
          <a:xfrm>
            <a:off x="292100" y="6604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Training set — 3D points (x, y, z) with class</a:t>
            </a:r>
          </a:p>
        </p:txBody>
      </p:sp>
      <p:sp>
        <p:nvSpPr>
          <p:cNvPr id="702" name="Ex2_TrainBox"/>
          <p:cNvSpPr/>
          <p:nvPr/>
        </p:nvSpPr>
        <p:spPr>
          <a:xfrm>
            <a:off x="292100" y="863600"/>
            <a:ext cx="3810000" cy="22606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Ex2_TrainTbl"/>
          <p:cNvSpPr/>
          <p:nvPr/>
        </p:nvSpPr>
        <p:spPr>
          <a:xfrm>
            <a:off x="444500" y="990600"/>
            <a:ext cx="3505200" cy="2032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Pt    x    y    z    Class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P1    1    2    1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P2    3    3    2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P3    6    5    5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P4    2    4    3    ● Red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P5    7    6    4    ▲ Blue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Consolas"/>
              </a:rPr>
              <a:t>P6    5    2    6    ▲ Blue</a:t>
            </a:r>
          </a:p>
        </p:txBody>
      </p:sp>
      <p:sp>
        <p:nvSpPr>
          <p:cNvPr id="704" name="Ex2_QHdr"/>
          <p:cNvSpPr/>
          <p:nvPr/>
        </p:nvSpPr>
        <p:spPr>
          <a:xfrm>
            <a:off x="292100" y="3225800"/>
            <a:ext cx="38100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Query point</a:t>
            </a:r>
          </a:p>
        </p:txBody>
      </p:sp>
      <p:sp>
        <p:nvSpPr>
          <p:cNvPr id="705" name="Ex2_QBox"/>
          <p:cNvSpPr/>
          <p:nvPr/>
        </p:nvSpPr>
        <p:spPr>
          <a:xfrm>
            <a:off x="292100" y="3429000"/>
            <a:ext cx="3810000" cy="660400"/>
          </a:xfrm>
          <a:prstGeom prst="rect">
            <a:avLst/>
          </a:prstGeom>
          <a:solidFill>
            <a:srgbClr val="F0F8FB"/>
          </a:solidFill>
          <a:ln w="127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6" name="Ex2_QTxt"/>
          <p:cNvSpPr/>
          <p:nvPr/>
        </p:nvSpPr>
        <p:spPr>
          <a:xfrm>
            <a:off x="444500" y="3581400"/>
            <a:ext cx="3505200" cy="381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 fontScale="92500" lnSpcReduction="10000"/>
          </a:bodyPr>
          <a:lstStyle/>
          <a:p>
            <a:pPr algn="l"/>
            <a:r>
              <a:rPr lang="en-US" sz="1400" b="1" dirty="0">
                <a:solidFill>
                  <a:srgbClr val="00A7B5"/>
                </a:solidFill>
                <a:latin typeface="Consolas"/>
              </a:rPr>
              <a:t>q* = (3, 4, 2)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Which class wins the 3-NN majority vote?</a:t>
            </a:r>
          </a:p>
        </p:txBody>
      </p:sp>
      <p:sp>
        <p:nvSpPr>
          <p:cNvPr id="707" name="Ex2_TaskHdr"/>
          <p:cNvSpPr/>
          <p:nvPr/>
        </p:nvSpPr>
        <p:spPr>
          <a:xfrm>
            <a:off x="4486164" y="660400"/>
            <a:ext cx="7261335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Your task</a:t>
            </a:r>
          </a:p>
        </p:txBody>
      </p:sp>
      <p:sp>
        <p:nvSpPr>
          <p:cNvPr id="708" name="Ex2_TaskBox"/>
          <p:cNvSpPr/>
          <p:nvPr/>
        </p:nvSpPr>
        <p:spPr>
          <a:xfrm>
            <a:off x="4486164" y="863600"/>
            <a:ext cx="7261335" cy="22606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9" name="Ex2_TaskTxt"/>
          <p:cNvSpPr/>
          <p:nvPr/>
        </p:nvSpPr>
        <p:spPr>
          <a:xfrm>
            <a:off x="4638565" y="990600"/>
            <a:ext cx="6680428" cy="2032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1.  Compute the Euclidean distance from q*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     to each of the six training points.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2.  Select the three nearest neighbours.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Arial"/>
              </a:rPr>
              <a:t>3.  Take the majority class among those 3.</a:t>
            </a:r>
          </a:p>
          <a:p>
            <a:pPr algn="l"/>
            <a:endParaRPr lang="en-US" sz="11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Distance:</a:t>
            </a:r>
          </a:p>
          <a:p>
            <a:pPr algn="l"/>
            <a:r>
              <a:rPr lang="en-US" sz="1100" b="1" dirty="0">
                <a:solidFill>
                  <a:srgbClr val="4B2E83"/>
                </a:solidFill>
                <a:latin typeface="Consolas"/>
              </a:rPr>
              <a:t>d = √( (xᵢ−x*)²+(yᵢ−y*)²+(zᵢ−z*)² )</a:t>
            </a:r>
          </a:p>
        </p:txBody>
      </p:sp>
      <p:sp>
        <p:nvSpPr>
          <p:cNvPr id="710" name="Ex2_HintHdr"/>
          <p:cNvSpPr/>
          <p:nvPr/>
        </p:nvSpPr>
        <p:spPr>
          <a:xfrm>
            <a:off x="4486164" y="3225800"/>
            <a:ext cx="7261335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4B2E83"/>
                </a:solidFill>
                <a:latin typeface="Arial"/>
              </a:rPr>
              <a:t>Hint</a:t>
            </a:r>
          </a:p>
        </p:txBody>
      </p:sp>
      <p:sp>
        <p:nvSpPr>
          <p:cNvPr id="711" name="Ex2_HintBox"/>
          <p:cNvSpPr/>
          <p:nvPr/>
        </p:nvSpPr>
        <p:spPr>
          <a:xfrm>
            <a:off x="4486164" y="3429000"/>
            <a:ext cx="7261335" cy="660400"/>
          </a:xfrm>
          <a:prstGeom prst="rect">
            <a:avLst/>
          </a:prstGeom>
          <a:solidFill>
            <a:srgbClr val="FBF3F7"/>
          </a:solidFill>
          <a:ln w="12700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Ex2_HintTxt"/>
          <p:cNvSpPr/>
          <p:nvPr/>
        </p:nvSpPr>
        <p:spPr>
          <a:xfrm>
            <a:off x="4638565" y="3530600"/>
            <a:ext cx="6680428" cy="4572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Compare squared distances to rank neighbours;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</a:rPr>
              <a:t>with k = 3, ties are broken by the closest point.</a:t>
            </a:r>
          </a:p>
        </p:txBody>
      </p:sp>
      <p:sp>
        <p:nvSpPr>
          <p:cNvPr id="713" name="Ex2_SolHdr"/>
          <p:cNvSpPr/>
          <p:nvPr/>
        </p:nvSpPr>
        <p:spPr>
          <a:xfrm>
            <a:off x="292100" y="4191000"/>
            <a:ext cx="8572500" cy="177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</a:t>
            </a:r>
          </a:p>
        </p:txBody>
      </p:sp>
      <p:sp>
        <p:nvSpPr>
          <p:cNvPr id="714" name="Ex2_SolBox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Ex2_SolTxt"/>
          <p:cNvSpPr/>
          <p:nvPr/>
        </p:nvSpPr>
        <p:spPr>
          <a:xfrm>
            <a:off x="482600" y="4483100"/>
            <a:ext cx="11176000" cy="1117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050" dirty="0">
                <a:solidFill>
                  <a:srgbClr val="333333"/>
                </a:solidFill>
                <a:latin typeface="Consolas"/>
              </a:rPr>
              <a:t>d²: P1=9  P2=1  P3=19  P4=2  P5=24  P6=24      →  d: P2=1.00  P4≈1.41  P1=3.00  P3≈4.36  P5≈4.90  P6≈4.90</a:t>
            </a:r>
          </a:p>
          <a:p>
            <a:pPr algn="l"/>
            <a:r>
              <a:rPr lang="en-US" sz="1100" b="1" dirty="0">
                <a:solidFill>
                  <a:srgbClr val="333333"/>
                </a:solidFill>
                <a:latin typeface="Consolas"/>
              </a:rPr>
              <a:t>3 nearest = P2 (●Red), P4 (●Red), P1 (●Red)</a:t>
            </a:r>
          </a:p>
          <a:p>
            <a:pPr algn="l"/>
            <a:endParaRPr lang="en-US" sz="1100" b="1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200" b="1" dirty="0">
                <a:solidFill>
                  <a:srgbClr val="5A8A2A"/>
                </a:solidFill>
                <a:latin typeface="Consolas"/>
              </a:rPr>
              <a:t>Majority vote = 3 of 3 Red  →  3-NN assigns q* the class ● Red</a:t>
            </a:r>
          </a:p>
        </p:txBody>
      </p:sp>
      <p:sp>
        <p:nvSpPr>
          <p:cNvPr id="720" name="Ex2_SolCover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Ex2_SolCoverTxt"/>
          <p:cNvSpPr/>
          <p:nvPr/>
        </p:nvSpPr>
        <p:spPr>
          <a:xfrm>
            <a:off x="292100" y="4394200"/>
            <a:ext cx="11506200" cy="12700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🔒  Solution hidden — work it out first, then remove this cover to reveal.</a:t>
            </a:r>
          </a:p>
        </p:txBody>
      </p:sp>
      <p:sp>
        <p:nvSpPr>
          <p:cNvPr id="730" name="Ex2_TkBar"/>
          <p:cNvSpPr/>
          <p:nvPr/>
        </p:nvSpPr>
        <p:spPr>
          <a:xfrm>
            <a:off x="292100" y="5753100"/>
            <a:ext cx="11506200" cy="3683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Ex2_TkTxt"/>
          <p:cNvSpPr/>
          <p:nvPr/>
        </p:nvSpPr>
        <p:spPr>
          <a:xfrm>
            <a:off x="419100" y="5753100"/>
            <a:ext cx="11252200" cy="3683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With k = 3 the vote smooths out single odd neighbours — but adding the z-dimension spreads points further apart, so distances must be recomputed in full 3D.</a:t>
            </a:r>
          </a:p>
        </p:txBody>
      </p:sp>
    </p:spTree>
    <p:extLst>
      <p:ext uri="{BB962C8B-B14F-4D97-AF65-F5344CB8AC3E}">
        <p14:creationId xmlns:p14="http://schemas.microsoft.com/office/powerpoint/2010/main" val="1874777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2 — Solution · P1  (3-NN, k = 3)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1E4D7-6D58-404E-A1C5-3EE0FDF12508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P1  in 3D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9A6EF1-BC9B-AC41-9D1F-BA3F7A3DE88F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= (  3,  4,  2 )
P1          = (  1,  2,  1 )    ● Red
P1 − q*     = ( -2, -2, -1 )
(P1−q*)²    = (  4,  4,  1 )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= 4 + 4 + 1 = 9
d(q*,P1)    = √9 = 3.00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C254DE-424F-F744-A922-B9E2C4DDE1C1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Rank 3 of 6
3rd — in 3-NN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719918-255C-4C48-8A2F-3984BDC974E2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●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6FD2B-832D-E645-99DB-E0EC17444EC0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Adding the z-dimension changes every distance — all three coordinates contribute to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before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1053407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2 — Solution · P2  (3-NN, k = 3)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3933AE-6584-2A4C-AD5A-27C14CEC3657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P2  in 3D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45E7E46-AAC9-E943-9F8E-A93FC972C71A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= (  3,  4,  2 )
P2          = (  3,  3,  2 )    ● Red
P2 − q*     = (  0, -1,  0 )
(P2−q*)²    = (  0,  1,  0 )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= 0 + 1 + 0 = 1
d(q*,P2)    = √1 = 1.00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2BE138-E6FD-AF49-B6CE-38C5A703D429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Rank 1 of 6
1st — nearest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043F64-212E-1B4F-8EDA-23B3D39AB00B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●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F594BA-28B0-C14A-BF9E-C8189961789D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Adding the z-dimension changes every distance — all three coordinates contribute to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before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3024248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2 — Solution · P3  (3-NN, k = 3)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6475C-F0F1-E749-9224-F852B46BC718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P3  in 3D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CCD8951-41F9-B34F-93ED-BBE97043C6A7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= (  3,  4,  2 )
P3          = (  6,  5,  5 )    ▲ Blue
P3 − q*     = (  3,  1,  3 )
(P3−q*)²    = (  9,  1,  9 )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= 9 + 1 + 9 = 19
d(q*,P3)    = √19 ≈ 4.36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7977CB-256C-6340-8E6A-F5D65312F440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Rank 4 of 6
4th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AE2EFB-6E54-7E42-ACF1-C6C264591D8C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2C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▲ Blue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66145-4A9D-2644-BF72-270081861D6D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Adding the z-dimension changes every distance — all three coordinates contribute to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before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3997414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2 — Solution · P4  (3-NN, k = 3)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9ADEE6-6C7F-8D47-9AA5-21FEBC059028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P4  in 3D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9748A6-1B2C-0848-B9DE-C709892DB5F7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= (  3,  4,  2 )
P4          = (  2,  4,  3 )    ● Red
P4 − q*     = ( -1,  0,  1 )
(P4−q*)²    = (  1,  0,  1 )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= 1 + 0 + 1 = 2
d(q*,P4)    = √2 ≈ 1.41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FBA620-C118-2E45-8C34-2C678D7CE611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Rank 2 of 6
2nd — in 3-NN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C8ABDB-8CB4-5F47-9713-2D7246DB8C13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●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FBCB6-F048-334C-83B4-6C10F2EFFAD9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Adding the z-dimension changes every distance — all three coordinates contribute to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before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1134560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2 — Solution · P5  (3-NN, k = 3)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C25BE-FD2B-3743-9C36-0FE36384E89D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P5  in 3D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5C5CC3-43D5-2847-8A90-2C6C16157916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= (  3,  4,  2 )
P5          = (  7,  6,  4 )    ▲ Blue
P5 − q*     = (  4,  2,  2 )
(P5−q*)²    = ( 16,  4,  4 )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= 16 + 4 + 4 = 24
d(q*,P5)    = √24 ≈ 4.90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1ADD8C6-50DF-784C-B9E8-E2193299E39C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Rank 5 of 6
5th (tie)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8641B4-950A-3F43-84E3-7AA9C03F9BB4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2C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▲ Blue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753E8-F297-8C4C-B937-68617FB95283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Adding the z-dimension changes every distance — all three coordinates contribute to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before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1101732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2 — Solution · P6  (3-NN, k = 3)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1568AD-7086-394E-807E-7ACEC93BC75D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Euclidean distance from query  q*  to  P6  in 3D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94EE140-2839-294B-8C11-70298143BE49}"/>
              </a:ext>
            </a:extLst>
          </p:cNvPr>
          <p:cNvSpPr/>
          <p:nvPr/>
        </p:nvSpPr>
        <p:spPr>
          <a:xfrm>
            <a:off x="508000" y="1397000"/>
            <a:ext cx="7747000" cy="3810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q*          = (  3,  4,  2 )
P6          = (  5,  2,  6 )    ▲ Blue
P6 − q*     = (  2, -2,  4 )
(P6−q*)²    = (  4,  4, 16 )
</a:t>
            </a:r>
            <a:r>
              <a:rPr lang="el-GR" sz="2000">
                <a:solidFill>
                  <a:srgbClr val="333333"/>
                </a:solidFill>
                <a:latin typeface="Consolas"/>
                <a:cs typeface="Consolas"/>
              </a:rPr>
              <a:t>Σ </a:t>
            </a:r>
            <a:r>
              <a:rPr lang="en-US" sz="2000">
                <a:solidFill>
                  <a:srgbClr val="333333"/>
                </a:solidFill>
                <a:latin typeface="Consolas"/>
                <a:cs typeface="Consolas"/>
              </a:rPr>
              <a:t>squares   = 4 + 4 + 16 = 24
d(q*,P6)    = √24 ≈ 4.90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59E975-3835-BA4B-9EDB-B12265B25126}"/>
              </a:ext>
            </a:extLst>
          </p:cNvPr>
          <p:cNvSpPr/>
          <p:nvPr/>
        </p:nvSpPr>
        <p:spPr>
          <a:xfrm>
            <a:off x="8534400" y="1397000"/>
            <a:ext cx="3149600" cy="1905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Rank 5 of 6
5th (tie)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DD935C-4D1C-444B-B3DA-9C4A19FC3869}"/>
              </a:ext>
            </a:extLst>
          </p:cNvPr>
          <p:cNvSpPr/>
          <p:nvPr/>
        </p:nvSpPr>
        <p:spPr>
          <a:xfrm>
            <a:off x="8534400" y="3556000"/>
            <a:ext cx="3149600" cy="1651000"/>
          </a:xfrm>
          <a:prstGeom prst="roundRect">
            <a:avLst/>
          </a:prstGeom>
          <a:solidFill>
            <a:srgbClr val="2C6F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Class
▲ Blue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7EC38-F80A-2A4A-8214-A1A22D069CEC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Adding the z-dimension changes every distance — all three coordinates contribute to </a:t>
            </a:r>
            <a:r>
              <a:rPr lang="el-GR" sz="1500" i="1">
                <a:solidFill>
                  <a:srgbClr val="666666"/>
                </a:solidFill>
                <a:latin typeface="Arial"/>
                <a:cs typeface="Arial"/>
              </a:rPr>
              <a:t>Σ </a:t>
            </a:r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before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1570292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itleBar"/>
          <p:cNvSpPr/>
          <p:nvPr/>
        </p:nvSpPr>
        <p:spPr>
          <a:xfrm>
            <a:off x="285750" y="228600"/>
            <a:ext cx="11506200" cy="28575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 wrap="square" lIns="108000" tIns="9000" rIns="18000" bIns="9000" anchor="ctr" anchorCtr="0"/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Exercise 2 — Solution · Answer  (3-NN, k = 3)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91641E-7767-2946-B52C-81ABA819742F}"/>
              </a:ext>
            </a:extLst>
          </p:cNvPr>
          <p:cNvSpPr txBox="1"/>
          <p:nvPr/>
        </p:nvSpPr>
        <p:spPr>
          <a:xfrm>
            <a:off x="508000" y="7620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4B2E83"/>
                </a:solidFill>
                <a:latin typeface="Arial"/>
                <a:cs typeface="Arial"/>
              </a:rPr>
              <a:t>Rank all six distances, then take the majority class of the three nearest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F9F4F5-4D4D-5F41-9D0A-1B90E06065A6}"/>
              </a:ext>
            </a:extLst>
          </p:cNvPr>
          <p:cNvSpPr/>
          <p:nvPr/>
        </p:nvSpPr>
        <p:spPr>
          <a:xfrm>
            <a:off x="508000" y="1397000"/>
            <a:ext cx="7747000" cy="323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>
                <a:solidFill>
                  <a:srgbClr val="333333"/>
                </a:solidFill>
                <a:latin typeface="Consolas"/>
                <a:cs typeface="Consolas"/>
              </a:rPr>
              <a:t>1st  P2   √1  = 1.00   ● Red    ← in 3-NN
2nd  P4   √2  ≈ 1.41   ● Red    ← in 3-NN
3rd  P1   √9  = 3.00   ● Red    ← in 3-NN
4th  P3   √19 ≈ 4.36   ▲ Blue   
5th  P5   √24 ≈ 4.90   ▲ Blue   
5th  P6   √24 ≈ 4.90   ▲ Blue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B8912-8762-D54A-987B-86F909C8982D}"/>
              </a:ext>
            </a:extLst>
          </p:cNvPr>
          <p:cNvSpPr txBox="1"/>
          <p:nvPr/>
        </p:nvSpPr>
        <p:spPr>
          <a:xfrm>
            <a:off x="508000" y="4800600"/>
            <a:ext cx="7747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900" b="1">
                <a:solidFill>
                  <a:srgbClr val="333333"/>
                </a:solidFill>
                <a:latin typeface="Consolas"/>
                <a:cs typeface="Consolas"/>
              </a:rPr>
              <a:t>3-NN set = { P2, P4, P1 }   →   Red, Red, Red   (3 of 3)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70CB8E-3C38-A948-A1B2-11315621337F}"/>
              </a:ext>
            </a:extLst>
          </p:cNvPr>
          <p:cNvSpPr/>
          <p:nvPr/>
        </p:nvSpPr>
        <p:spPr>
          <a:xfrm>
            <a:off x="8534400" y="1397000"/>
            <a:ext cx="3149600" cy="3835400"/>
          </a:xfrm>
          <a:prstGeom prst="roundRect">
            <a:avLst/>
          </a:prstGeom>
          <a:solidFill>
            <a:srgbClr val="5A8A2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ANSWER
3-NN majority vote
3 × ● Red
→  ●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58D2C-6140-8F41-B995-3C94017D5AAA}"/>
              </a:ext>
            </a:extLst>
          </p:cNvPr>
          <p:cNvSpPr txBox="1"/>
          <p:nvPr/>
        </p:nvSpPr>
        <p:spPr>
          <a:xfrm>
            <a:off x="508000" y="5461000"/>
            <a:ext cx="1117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666666"/>
                </a:solidFill>
                <a:latin typeface="Arial"/>
                <a:cs typeface="Arial"/>
              </a:rPr>
              <a:t>With k = 3 the vote is unanimous here, but in higher dimensions the three nearest distances bunch together — the same collapse shown in the main deck.</a:t>
            </a:r>
          </a:p>
        </p:txBody>
      </p:sp>
    </p:spTree>
    <p:extLst>
      <p:ext uri="{BB962C8B-B14F-4D97-AF65-F5344CB8AC3E}">
        <p14:creationId xmlns:p14="http://schemas.microsoft.com/office/powerpoint/2010/main" val="1739567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560320"/>
            <a:ext cx="929030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Linear Algebra</a:t>
            </a:r>
            <a:br>
              <a:rPr lang="en-US" sz="4400" b="1" dirty="0">
                <a:solidFill>
                  <a:srgbClr val="FFFFFF"/>
                </a:solidFill>
              </a:rPr>
            </a:br>
            <a:r>
              <a:rPr lang="en-US" sz="2400" b="0" dirty="0">
                <a:solidFill>
                  <a:srgbClr val="FFFFFF"/>
                </a:solidFill>
              </a:rPr>
              <a:t>The language of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236720"/>
            <a:ext cx="301752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16393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E751-6BD9-5057-E269-321D916CF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represent data as matrices and vectors?</a:t>
            </a:r>
          </a:p>
        </p:txBody>
      </p:sp>
      <p:sp>
        <p:nvSpPr>
          <p:cNvPr id="3" name="WhyCard">
            <a:extLst>
              <a:ext uri="{FF2B5EF4-FFF2-40B4-BE49-F238E27FC236}">
                <a16:creationId xmlns:a16="http://schemas.microsoft.com/office/drawing/2014/main" id="{18848BD1-44AA-494D-BFBD-CDD3671C722D}"/>
              </a:ext>
            </a:extLst>
          </p:cNvPr>
          <p:cNvSpPr/>
          <p:nvPr/>
        </p:nvSpPr>
        <p:spPr>
          <a:xfrm>
            <a:off x="50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WhyBar">
            <a:extLst>
              <a:ext uri="{FF2B5EF4-FFF2-40B4-BE49-F238E27FC236}">
                <a16:creationId xmlns:a16="http://schemas.microsoft.com/office/drawing/2014/main" id="{DB000923-7C33-B243-9473-34600502D381}"/>
              </a:ext>
            </a:extLst>
          </p:cNvPr>
          <p:cNvSpPr/>
          <p:nvPr/>
        </p:nvSpPr>
        <p:spPr>
          <a:xfrm>
            <a:off x="508000" y="2070786"/>
            <a:ext cx="3556000" cy="101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WhyNum">
            <a:extLst>
              <a:ext uri="{FF2B5EF4-FFF2-40B4-BE49-F238E27FC236}">
                <a16:creationId xmlns:a16="http://schemas.microsoft.com/office/drawing/2014/main" id="{8E032B3B-BBD8-BF4A-B2EF-7844C9FF5A6C}"/>
              </a:ext>
            </a:extLst>
          </p:cNvPr>
          <p:cNvSpPr/>
          <p:nvPr/>
        </p:nvSpPr>
        <p:spPr>
          <a:xfrm>
            <a:off x="1879600" y="2451100"/>
            <a:ext cx="812800" cy="812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WhyHdr">
            <a:extLst>
              <a:ext uri="{FF2B5EF4-FFF2-40B4-BE49-F238E27FC236}">
                <a16:creationId xmlns:a16="http://schemas.microsoft.com/office/drawing/2014/main" id="{19A9EA7E-3634-0041-B2A0-2FE3A003795B}"/>
              </a:ext>
            </a:extLst>
          </p:cNvPr>
          <p:cNvSpPr txBox="1"/>
          <p:nvPr/>
        </p:nvSpPr>
        <p:spPr>
          <a:xfrm>
            <a:off x="68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Compact notation</a:t>
            </a:r>
          </a:p>
        </p:txBody>
      </p:sp>
      <p:sp>
        <p:nvSpPr>
          <p:cNvPr id="7" name="WhyBody">
            <a:extLst>
              <a:ext uri="{FF2B5EF4-FFF2-40B4-BE49-F238E27FC236}">
                <a16:creationId xmlns:a16="http://schemas.microsoft.com/office/drawing/2014/main" id="{3041FFEA-70F1-2947-B9B5-22954EB11F25}"/>
              </a:ext>
            </a:extLst>
          </p:cNvPr>
          <p:cNvSpPr txBox="1"/>
          <p:nvPr/>
        </p:nvSpPr>
        <p:spPr>
          <a:xfrm>
            <a:off x="73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Instead of writing dozens of equations for each feature, one symbol stands for the whole dataset. Less ink, fewer mistakes, easier to reason about.</a:t>
            </a:r>
          </a:p>
        </p:txBody>
      </p:sp>
      <p:sp>
        <p:nvSpPr>
          <p:cNvPr id="8" name="WhyCard">
            <a:extLst>
              <a:ext uri="{FF2B5EF4-FFF2-40B4-BE49-F238E27FC236}">
                <a16:creationId xmlns:a16="http://schemas.microsoft.com/office/drawing/2014/main" id="{1B34B331-FC04-BD48-83C5-3D22C03233B0}"/>
              </a:ext>
            </a:extLst>
          </p:cNvPr>
          <p:cNvSpPr/>
          <p:nvPr/>
        </p:nvSpPr>
        <p:spPr>
          <a:xfrm>
            <a:off x="431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WhyBar">
            <a:extLst>
              <a:ext uri="{FF2B5EF4-FFF2-40B4-BE49-F238E27FC236}">
                <a16:creationId xmlns:a16="http://schemas.microsoft.com/office/drawing/2014/main" id="{94CCA739-F412-3840-BE3B-761BF58F074C}"/>
              </a:ext>
            </a:extLst>
          </p:cNvPr>
          <p:cNvSpPr/>
          <p:nvPr/>
        </p:nvSpPr>
        <p:spPr>
          <a:xfrm>
            <a:off x="4318000" y="2070786"/>
            <a:ext cx="3556000" cy="101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WhyNum">
            <a:extLst>
              <a:ext uri="{FF2B5EF4-FFF2-40B4-BE49-F238E27FC236}">
                <a16:creationId xmlns:a16="http://schemas.microsoft.com/office/drawing/2014/main" id="{74982DD7-02ED-3546-B895-9D1DD4391A74}"/>
              </a:ext>
            </a:extLst>
          </p:cNvPr>
          <p:cNvSpPr/>
          <p:nvPr/>
        </p:nvSpPr>
        <p:spPr>
          <a:xfrm>
            <a:off x="5689600" y="2451100"/>
            <a:ext cx="812800" cy="812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WhyHdr">
            <a:extLst>
              <a:ext uri="{FF2B5EF4-FFF2-40B4-BE49-F238E27FC236}">
                <a16:creationId xmlns:a16="http://schemas.microsoft.com/office/drawing/2014/main" id="{CD0E5C4E-AF05-EB4F-8F45-8CF652CFA54A}"/>
              </a:ext>
            </a:extLst>
          </p:cNvPr>
          <p:cNvSpPr txBox="1"/>
          <p:nvPr/>
        </p:nvSpPr>
        <p:spPr>
          <a:xfrm>
            <a:off x="449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0A7B5"/>
                </a:solidFill>
              </a:rPr>
              <a:t>Geometry unlocks meaning</a:t>
            </a:r>
          </a:p>
        </p:txBody>
      </p:sp>
      <p:sp>
        <p:nvSpPr>
          <p:cNvPr id="12" name="WhyBody">
            <a:extLst>
              <a:ext uri="{FF2B5EF4-FFF2-40B4-BE49-F238E27FC236}">
                <a16:creationId xmlns:a16="http://schemas.microsoft.com/office/drawing/2014/main" id="{115952D9-45A7-2541-841D-6725BC7BDAB3}"/>
              </a:ext>
            </a:extLst>
          </p:cNvPr>
          <p:cNvSpPr txBox="1"/>
          <p:nvPr/>
        </p:nvSpPr>
        <p:spPr>
          <a:xfrm>
            <a:off x="454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Vectors live in space. Distances, angles, and projections become natural — similarity, clustering, and rotations all become arithmetic.</a:t>
            </a:r>
          </a:p>
        </p:txBody>
      </p:sp>
      <p:sp>
        <p:nvSpPr>
          <p:cNvPr id="13" name="WhyCard">
            <a:extLst>
              <a:ext uri="{FF2B5EF4-FFF2-40B4-BE49-F238E27FC236}">
                <a16:creationId xmlns:a16="http://schemas.microsoft.com/office/drawing/2014/main" id="{6D445EF4-AC54-0C4E-9BA2-7A13BDECC168}"/>
              </a:ext>
            </a:extLst>
          </p:cNvPr>
          <p:cNvSpPr/>
          <p:nvPr/>
        </p:nvSpPr>
        <p:spPr>
          <a:xfrm>
            <a:off x="8128000" y="2095500"/>
            <a:ext cx="3556000" cy="3556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WhyBar">
            <a:extLst>
              <a:ext uri="{FF2B5EF4-FFF2-40B4-BE49-F238E27FC236}">
                <a16:creationId xmlns:a16="http://schemas.microsoft.com/office/drawing/2014/main" id="{D15466B9-72DE-1F4B-8900-C97135CD1DCF}"/>
              </a:ext>
            </a:extLst>
          </p:cNvPr>
          <p:cNvSpPr/>
          <p:nvPr/>
        </p:nvSpPr>
        <p:spPr>
          <a:xfrm>
            <a:off x="8128000" y="2070786"/>
            <a:ext cx="3556000" cy="101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WhyNum">
            <a:extLst>
              <a:ext uri="{FF2B5EF4-FFF2-40B4-BE49-F238E27FC236}">
                <a16:creationId xmlns:a16="http://schemas.microsoft.com/office/drawing/2014/main" id="{FD8B5103-76AA-8345-8E46-961DB36B574D}"/>
              </a:ext>
            </a:extLst>
          </p:cNvPr>
          <p:cNvSpPr/>
          <p:nvPr/>
        </p:nvSpPr>
        <p:spPr>
          <a:xfrm>
            <a:off x="9499600" y="2451100"/>
            <a:ext cx="812800" cy="812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WhyHdr">
            <a:extLst>
              <a:ext uri="{FF2B5EF4-FFF2-40B4-BE49-F238E27FC236}">
                <a16:creationId xmlns:a16="http://schemas.microsoft.com/office/drawing/2014/main" id="{6B955F82-BE95-884E-85F1-8D65EC635B34}"/>
              </a:ext>
            </a:extLst>
          </p:cNvPr>
          <p:cNvSpPr txBox="1"/>
          <p:nvPr/>
        </p:nvSpPr>
        <p:spPr>
          <a:xfrm>
            <a:off x="8305800" y="3467100"/>
            <a:ext cx="320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D1578A"/>
                </a:solidFill>
              </a:rPr>
              <a:t>Built for computation</a:t>
            </a:r>
          </a:p>
        </p:txBody>
      </p:sp>
      <p:sp>
        <p:nvSpPr>
          <p:cNvPr id="17" name="WhyBody">
            <a:extLst>
              <a:ext uri="{FF2B5EF4-FFF2-40B4-BE49-F238E27FC236}">
                <a16:creationId xmlns:a16="http://schemas.microsoft.com/office/drawing/2014/main" id="{E85D426F-46A9-C74D-8FD4-3B6D21E8715A}"/>
              </a:ext>
            </a:extLst>
          </p:cNvPr>
          <p:cNvSpPr txBox="1"/>
          <p:nvPr/>
        </p:nvSpPr>
        <p:spPr>
          <a:xfrm>
            <a:off x="8356600" y="3975100"/>
            <a:ext cx="3098800" cy="152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Matrix operations run on optimized linear algebra libraries (BLAS, GPUs). A single line of code processes millions of rows in parallel.</a:t>
            </a:r>
          </a:p>
        </p:txBody>
      </p:sp>
      <p:sp>
        <p:nvSpPr>
          <p:cNvPr id="18" name="WhyTk">
            <a:extLst>
              <a:ext uri="{FF2B5EF4-FFF2-40B4-BE49-F238E27FC236}">
                <a16:creationId xmlns:a16="http://schemas.microsoft.com/office/drawing/2014/main" id="{D338A279-C16D-CC4C-AC2F-82CD6972C069}"/>
              </a:ext>
            </a:extLst>
          </p:cNvPr>
          <p:cNvSpPr/>
          <p:nvPr/>
        </p:nvSpPr>
        <p:spPr>
          <a:xfrm>
            <a:off x="508000" y="5842000"/>
            <a:ext cx="11176000" cy="50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i="1" dirty="0">
                <a:solidFill>
                  <a:srgbClr val="FFFFFF"/>
                </a:solidFill>
              </a:rPr>
              <a:t>Vectors and matrices turn data into objects we can measure, transform, and compute with.</a:t>
            </a:r>
          </a:p>
        </p:txBody>
      </p:sp>
    </p:spTree>
    <p:extLst>
      <p:ext uri="{BB962C8B-B14F-4D97-AF65-F5344CB8AC3E}">
        <p14:creationId xmlns:p14="http://schemas.microsoft.com/office/powerpoint/2010/main" val="104277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/>
      <p:bldP spid="17" grpId="0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3A40-7C5D-99FF-82B9-6EF31B13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Vectors — Example 1: a student's exam scores</a:t>
            </a:r>
          </a:p>
        </p:txBody>
      </p:sp>
      <p:sp>
        <p:nvSpPr>
          <p:cNvPr id="3" name="VLbl">
            <a:extLst>
              <a:ext uri="{FF2B5EF4-FFF2-40B4-BE49-F238E27FC236}">
                <a16:creationId xmlns:a16="http://schemas.microsoft.com/office/drawing/2014/main" id="{19409F87-9F3D-7B47-A079-D0EBDDBB6BC7}"/>
              </a:ext>
            </a:extLst>
          </p:cNvPr>
          <p:cNvSpPr txBox="1"/>
          <p:nvPr/>
        </p:nvSpPr>
        <p:spPr>
          <a:xfrm>
            <a:off x="635000" y="16129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666666"/>
                </a:solidFill>
              </a:rPr>
              <a:t>The raw data</a:t>
            </a:r>
          </a:p>
        </p:txBody>
      </p:sp>
      <p:sp>
        <p:nvSpPr>
          <p:cNvPr id="4" name="VBan">
            <a:extLst>
              <a:ext uri="{FF2B5EF4-FFF2-40B4-BE49-F238E27FC236}">
                <a16:creationId xmlns:a16="http://schemas.microsoft.com/office/drawing/2014/main" id="{78AC1AA5-5F35-D44A-B18B-D92F0C2594CA}"/>
              </a:ext>
            </a:extLst>
          </p:cNvPr>
          <p:cNvSpPr/>
          <p:nvPr/>
        </p:nvSpPr>
        <p:spPr>
          <a:xfrm>
            <a:off x="635000" y="1968500"/>
            <a:ext cx="4826000" cy="457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Student: Alice Chen</a:t>
            </a:r>
          </a:p>
        </p:txBody>
      </p:sp>
      <p:sp>
        <p:nvSpPr>
          <p:cNvPr id="5" name="VRowBg">
            <a:extLst>
              <a:ext uri="{FF2B5EF4-FFF2-40B4-BE49-F238E27FC236}">
                <a16:creationId xmlns:a16="http://schemas.microsoft.com/office/drawing/2014/main" id="{CE0CC059-8064-4145-8714-8B697A84F6A5}"/>
              </a:ext>
            </a:extLst>
          </p:cNvPr>
          <p:cNvSpPr/>
          <p:nvPr/>
        </p:nvSpPr>
        <p:spPr>
          <a:xfrm>
            <a:off x="635000" y="2425700"/>
            <a:ext cx="4826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VRowL">
            <a:extLst>
              <a:ext uri="{FF2B5EF4-FFF2-40B4-BE49-F238E27FC236}">
                <a16:creationId xmlns:a16="http://schemas.microsoft.com/office/drawing/2014/main" id="{0F81D6CE-35FA-0F4C-BE9C-C43A40059BCB}"/>
              </a:ext>
            </a:extLst>
          </p:cNvPr>
          <p:cNvSpPr txBox="1"/>
          <p:nvPr/>
        </p:nvSpPr>
        <p:spPr>
          <a:xfrm>
            <a:off x="838200" y="25273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Math</a:t>
            </a:r>
          </a:p>
        </p:txBody>
      </p:sp>
      <p:sp>
        <p:nvSpPr>
          <p:cNvPr id="7" name="VRowV">
            <a:extLst>
              <a:ext uri="{FF2B5EF4-FFF2-40B4-BE49-F238E27FC236}">
                <a16:creationId xmlns:a16="http://schemas.microsoft.com/office/drawing/2014/main" id="{419E3D93-ACCE-CC48-9C3D-C5773110A262}"/>
              </a:ext>
            </a:extLst>
          </p:cNvPr>
          <p:cNvSpPr txBox="1"/>
          <p:nvPr/>
        </p:nvSpPr>
        <p:spPr>
          <a:xfrm>
            <a:off x="4191000" y="25273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85</a:t>
            </a:r>
          </a:p>
        </p:txBody>
      </p:sp>
      <p:sp>
        <p:nvSpPr>
          <p:cNvPr id="8" name="VRowBg">
            <a:extLst>
              <a:ext uri="{FF2B5EF4-FFF2-40B4-BE49-F238E27FC236}">
                <a16:creationId xmlns:a16="http://schemas.microsoft.com/office/drawing/2014/main" id="{A0EA04CF-7B79-1645-B73E-BB89D1078D19}"/>
              </a:ext>
            </a:extLst>
          </p:cNvPr>
          <p:cNvSpPr/>
          <p:nvPr/>
        </p:nvSpPr>
        <p:spPr>
          <a:xfrm>
            <a:off x="635000" y="2959100"/>
            <a:ext cx="4826000" cy="533400"/>
          </a:xfrm>
          <a:prstGeom prst="rect">
            <a:avLst/>
          </a:prstGeom>
          <a:solidFill>
            <a:srgbClr val="F5F0EB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VRowL">
            <a:extLst>
              <a:ext uri="{FF2B5EF4-FFF2-40B4-BE49-F238E27FC236}">
                <a16:creationId xmlns:a16="http://schemas.microsoft.com/office/drawing/2014/main" id="{255E2DD2-6B15-1749-9149-A66D642722F2}"/>
              </a:ext>
            </a:extLst>
          </p:cNvPr>
          <p:cNvSpPr txBox="1"/>
          <p:nvPr/>
        </p:nvSpPr>
        <p:spPr>
          <a:xfrm>
            <a:off x="838200" y="30607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Physics</a:t>
            </a:r>
          </a:p>
        </p:txBody>
      </p:sp>
      <p:sp>
        <p:nvSpPr>
          <p:cNvPr id="10" name="VRowV">
            <a:extLst>
              <a:ext uri="{FF2B5EF4-FFF2-40B4-BE49-F238E27FC236}">
                <a16:creationId xmlns:a16="http://schemas.microsoft.com/office/drawing/2014/main" id="{D566B9E9-49C5-1943-9C66-393F97C69242}"/>
              </a:ext>
            </a:extLst>
          </p:cNvPr>
          <p:cNvSpPr txBox="1"/>
          <p:nvPr/>
        </p:nvSpPr>
        <p:spPr>
          <a:xfrm>
            <a:off x="4191000" y="30607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92</a:t>
            </a:r>
          </a:p>
        </p:txBody>
      </p:sp>
      <p:sp>
        <p:nvSpPr>
          <p:cNvPr id="11" name="VRowBg">
            <a:extLst>
              <a:ext uri="{FF2B5EF4-FFF2-40B4-BE49-F238E27FC236}">
                <a16:creationId xmlns:a16="http://schemas.microsoft.com/office/drawing/2014/main" id="{AE005F7E-FC38-AD4F-9ED1-53A7390C173C}"/>
              </a:ext>
            </a:extLst>
          </p:cNvPr>
          <p:cNvSpPr/>
          <p:nvPr/>
        </p:nvSpPr>
        <p:spPr>
          <a:xfrm>
            <a:off x="635000" y="3492500"/>
            <a:ext cx="4826000" cy="5334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RowL">
            <a:extLst>
              <a:ext uri="{FF2B5EF4-FFF2-40B4-BE49-F238E27FC236}">
                <a16:creationId xmlns:a16="http://schemas.microsoft.com/office/drawing/2014/main" id="{15E93B09-09F3-B34D-9B96-EDD906BEEDC0}"/>
              </a:ext>
            </a:extLst>
          </p:cNvPr>
          <p:cNvSpPr txBox="1"/>
          <p:nvPr/>
        </p:nvSpPr>
        <p:spPr>
          <a:xfrm>
            <a:off x="838200" y="35941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Biology</a:t>
            </a:r>
          </a:p>
        </p:txBody>
      </p:sp>
      <p:sp>
        <p:nvSpPr>
          <p:cNvPr id="13" name="VRowV">
            <a:extLst>
              <a:ext uri="{FF2B5EF4-FFF2-40B4-BE49-F238E27FC236}">
                <a16:creationId xmlns:a16="http://schemas.microsoft.com/office/drawing/2014/main" id="{B7DDC4D3-0B86-9B41-B605-A7A11E8FE07B}"/>
              </a:ext>
            </a:extLst>
          </p:cNvPr>
          <p:cNvSpPr txBox="1"/>
          <p:nvPr/>
        </p:nvSpPr>
        <p:spPr>
          <a:xfrm>
            <a:off x="4191000" y="35941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78</a:t>
            </a:r>
          </a:p>
        </p:txBody>
      </p:sp>
      <p:sp>
        <p:nvSpPr>
          <p:cNvPr id="14" name="VRowBg">
            <a:extLst>
              <a:ext uri="{FF2B5EF4-FFF2-40B4-BE49-F238E27FC236}">
                <a16:creationId xmlns:a16="http://schemas.microsoft.com/office/drawing/2014/main" id="{CC81B5C2-D2D4-FA48-A635-C4BF3DBD99C2}"/>
              </a:ext>
            </a:extLst>
          </p:cNvPr>
          <p:cNvSpPr/>
          <p:nvPr/>
        </p:nvSpPr>
        <p:spPr>
          <a:xfrm>
            <a:off x="635000" y="4025900"/>
            <a:ext cx="4826000" cy="533400"/>
          </a:xfrm>
          <a:prstGeom prst="rect">
            <a:avLst/>
          </a:prstGeom>
          <a:solidFill>
            <a:srgbClr val="F5F0EB"/>
          </a:solidFill>
          <a:ln w="635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VRowL">
            <a:extLst>
              <a:ext uri="{FF2B5EF4-FFF2-40B4-BE49-F238E27FC236}">
                <a16:creationId xmlns:a16="http://schemas.microsoft.com/office/drawing/2014/main" id="{CC421B14-AD88-424A-A880-441B2D4F58A2}"/>
              </a:ext>
            </a:extLst>
          </p:cNvPr>
          <p:cNvSpPr txBox="1"/>
          <p:nvPr/>
        </p:nvSpPr>
        <p:spPr>
          <a:xfrm>
            <a:off x="838200" y="41275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History</a:t>
            </a:r>
          </a:p>
        </p:txBody>
      </p:sp>
      <p:sp>
        <p:nvSpPr>
          <p:cNvPr id="16" name="VRowV">
            <a:extLst>
              <a:ext uri="{FF2B5EF4-FFF2-40B4-BE49-F238E27FC236}">
                <a16:creationId xmlns:a16="http://schemas.microsoft.com/office/drawing/2014/main" id="{F9B19058-CFF5-E24B-9BA7-A868CDDE5DF8}"/>
              </a:ext>
            </a:extLst>
          </p:cNvPr>
          <p:cNvSpPr txBox="1"/>
          <p:nvPr/>
        </p:nvSpPr>
        <p:spPr>
          <a:xfrm>
            <a:off x="4191000" y="41275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</a:rPr>
              <a:t>88</a:t>
            </a:r>
          </a:p>
        </p:txBody>
      </p:sp>
      <p:sp>
        <p:nvSpPr>
          <p:cNvPr id="17" name="VArrow">
            <a:extLst>
              <a:ext uri="{FF2B5EF4-FFF2-40B4-BE49-F238E27FC236}">
                <a16:creationId xmlns:a16="http://schemas.microsoft.com/office/drawing/2014/main" id="{763C6C83-0DC3-4948-B02B-8C386B4AD0B8}"/>
              </a:ext>
            </a:extLst>
          </p:cNvPr>
          <p:cNvSpPr/>
          <p:nvPr/>
        </p:nvSpPr>
        <p:spPr>
          <a:xfrm>
            <a:off x="5715000" y="2984500"/>
            <a:ext cx="889000" cy="762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VArrL">
            <a:extLst>
              <a:ext uri="{FF2B5EF4-FFF2-40B4-BE49-F238E27FC236}">
                <a16:creationId xmlns:a16="http://schemas.microsoft.com/office/drawing/2014/main" id="{F8F26C34-7ED7-8844-8F7E-B8EE210A00DA}"/>
              </a:ext>
            </a:extLst>
          </p:cNvPr>
          <p:cNvSpPr txBox="1"/>
          <p:nvPr/>
        </p:nvSpPr>
        <p:spPr>
          <a:xfrm>
            <a:off x="5588000" y="27051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19" name="VLbl">
            <a:extLst>
              <a:ext uri="{FF2B5EF4-FFF2-40B4-BE49-F238E27FC236}">
                <a16:creationId xmlns:a16="http://schemas.microsoft.com/office/drawing/2014/main" id="{E4E1F1A8-810D-5848-84D7-CAD4549BEDB7}"/>
              </a:ext>
            </a:extLst>
          </p:cNvPr>
          <p:cNvSpPr txBox="1"/>
          <p:nvPr/>
        </p:nvSpPr>
        <p:spPr>
          <a:xfrm>
            <a:off x="6921500" y="16129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666666"/>
                </a:solidFill>
              </a:rPr>
              <a:t>As a vector</a:t>
            </a:r>
          </a:p>
        </p:txBody>
      </p:sp>
      <p:sp>
        <p:nvSpPr>
          <p:cNvPr id="28" name="VTk">
            <a:extLst>
              <a:ext uri="{FF2B5EF4-FFF2-40B4-BE49-F238E27FC236}">
                <a16:creationId xmlns:a16="http://schemas.microsoft.com/office/drawing/2014/main" id="{E4CCB6BA-D895-D14F-A235-9FB43509F64E}"/>
              </a:ext>
            </a:extLst>
          </p:cNvPr>
          <p:cNvSpPr/>
          <p:nvPr/>
        </p:nvSpPr>
        <p:spPr>
          <a:xfrm>
            <a:off x="464751" y="5448300"/>
            <a:ext cx="11176000" cy="50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One student becomes one 4-dimensional vector — one number per subject, in a fixed order.</a:t>
            </a:r>
          </a:p>
        </p:txBody>
      </p:sp>
      <p:sp>
        <p:nvSpPr>
          <p:cNvPr id="29" name="VEq">
            <a:extLst>
              <a:ext uri="{FF2B5EF4-FFF2-40B4-BE49-F238E27FC236}">
                <a16:creationId xmlns:a16="http://schemas.microsoft.com/office/drawing/2014/main" id="{A5E750C3-B18B-C94B-8DEC-3646A0316067}"/>
              </a:ext>
            </a:extLst>
          </p:cNvPr>
          <p:cNvSpPr txBox="1"/>
          <p:nvPr/>
        </p:nvSpPr>
        <p:spPr>
          <a:xfrm>
            <a:off x="7759700" y="2761049"/>
            <a:ext cx="635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3600" b="1" i="1" dirty="0">
                <a:solidFill>
                  <a:srgbClr val="4B2E83"/>
                </a:solidFill>
                <a:latin typeface="Cambria Math"/>
                <a:ea typeface="Cambria Math"/>
              </a:rPr>
              <a:t>v =</a:t>
            </a:r>
          </a:p>
        </p:txBody>
      </p:sp>
      <p:sp>
        <p:nvSpPr>
          <p:cNvPr id="30" name="VBr">
            <a:extLst>
              <a:ext uri="{FF2B5EF4-FFF2-40B4-BE49-F238E27FC236}">
                <a16:creationId xmlns:a16="http://schemas.microsoft.com/office/drawing/2014/main" id="{CC26326D-3F00-F04F-B797-E0910DF62DA9}"/>
              </a:ext>
            </a:extLst>
          </p:cNvPr>
          <p:cNvSpPr/>
          <p:nvPr/>
        </p:nvSpPr>
        <p:spPr>
          <a:xfrm>
            <a:off x="8763000" y="2120900"/>
            <a:ext cx="2032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VBr">
            <a:extLst>
              <a:ext uri="{FF2B5EF4-FFF2-40B4-BE49-F238E27FC236}">
                <a16:creationId xmlns:a16="http://schemas.microsoft.com/office/drawing/2014/main" id="{E8228F10-4C65-A54D-9D8C-D01A76E858CD}"/>
              </a:ext>
            </a:extLst>
          </p:cNvPr>
          <p:cNvSpPr/>
          <p:nvPr/>
        </p:nvSpPr>
        <p:spPr>
          <a:xfrm>
            <a:off x="9537700" y="2113005"/>
            <a:ext cx="2032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VVal">
            <a:extLst>
              <a:ext uri="{FF2B5EF4-FFF2-40B4-BE49-F238E27FC236}">
                <a16:creationId xmlns:a16="http://schemas.microsoft.com/office/drawing/2014/main" id="{26E97FD6-F82F-A94B-BE7B-602486E351F0}"/>
              </a:ext>
            </a:extLst>
          </p:cNvPr>
          <p:cNvSpPr txBox="1"/>
          <p:nvPr/>
        </p:nvSpPr>
        <p:spPr>
          <a:xfrm>
            <a:off x="8966200" y="2120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85</a:t>
            </a:r>
          </a:p>
        </p:txBody>
      </p:sp>
      <p:sp>
        <p:nvSpPr>
          <p:cNvPr id="33" name="VVal">
            <a:extLst>
              <a:ext uri="{FF2B5EF4-FFF2-40B4-BE49-F238E27FC236}">
                <a16:creationId xmlns:a16="http://schemas.microsoft.com/office/drawing/2014/main" id="{DBCF0D68-4A9F-654C-9B83-179964C45365}"/>
              </a:ext>
            </a:extLst>
          </p:cNvPr>
          <p:cNvSpPr txBox="1"/>
          <p:nvPr/>
        </p:nvSpPr>
        <p:spPr>
          <a:xfrm>
            <a:off x="8966200" y="2628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92</a:t>
            </a:r>
          </a:p>
        </p:txBody>
      </p:sp>
      <p:sp>
        <p:nvSpPr>
          <p:cNvPr id="34" name="VVal">
            <a:extLst>
              <a:ext uri="{FF2B5EF4-FFF2-40B4-BE49-F238E27FC236}">
                <a16:creationId xmlns:a16="http://schemas.microsoft.com/office/drawing/2014/main" id="{DDC7FDE8-F007-834E-9B77-C5991B5AA7D5}"/>
              </a:ext>
            </a:extLst>
          </p:cNvPr>
          <p:cNvSpPr txBox="1"/>
          <p:nvPr/>
        </p:nvSpPr>
        <p:spPr>
          <a:xfrm>
            <a:off x="8966200" y="3136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78</a:t>
            </a:r>
          </a:p>
        </p:txBody>
      </p:sp>
      <p:sp>
        <p:nvSpPr>
          <p:cNvPr id="35" name="VVal">
            <a:extLst>
              <a:ext uri="{FF2B5EF4-FFF2-40B4-BE49-F238E27FC236}">
                <a16:creationId xmlns:a16="http://schemas.microsoft.com/office/drawing/2014/main" id="{4A510B83-7350-3B48-A841-429D17B60C14}"/>
              </a:ext>
            </a:extLst>
          </p:cNvPr>
          <p:cNvSpPr txBox="1"/>
          <p:nvPr/>
        </p:nvSpPr>
        <p:spPr>
          <a:xfrm>
            <a:off x="8966200" y="36449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333333"/>
                </a:solidFill>
              </a:rPr>
              <a:t>88</a:t>
            </a:r>
          </a:p>
        </p:txBody>
      </p:sp>
      <p:sp>
        <p:nvSpPr>
          <p:cNvPr id="36" name="VDim">
            <a:extLst>
              <a:ext uri="{FF2B5EF4-FFF2-40B4-BE49-F238E27FC236}">
                <a16:creationId xmlns:a16="http://schemas.microsoft.com/office/drawing/2014/main" id="{8842D9B2-1422-6C48-8A5E-671261EE8504}"/>
              </a:ext>
            </a:extLst>
          </p:cNvPr>
          <p:cNvSpPr txBox="1"/>
          <p:nvPr/>
        </p:nvSpPr>
        <p:spPr>
          <a:xfrm>
            <a:off x="6921500" y="44069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i="1">
                <a:solidFill>
                  <a:srgbClr val="00A7B5"/>
                </a:solidFill>
              </a:rPr>
              <a:t>v ∈ ℝ⁴       dim(v) = 4</a:t>
            </a:r>
          </a:p>
        </p:txBody>
      </p:sp>
    </p:spTree>
    <p:extLst>
      <p:ext uri="{BB962C8B-B14F-4D97-AF65-F5344CB8AC3E}">
        <p14:creationId xmlns:p14="http://schemas.microsoft.com/office/powerpoint/2010/main" val="78918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8" grpId="0" animBg="1"/>
      <p:bldP spid="29" grpId="0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950E70F7-19ED-3C42-9FC2-A2E21A12202F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Txt">
            <a:extLst>
              <a:ext uri="{FF2B5EF4-FFF2-40B4-BE49-F238E27FC236}">
                <a16:creationId xmlns:a16="http://schemas.microsoft.com/office/drawing/2014/main" id="{4E505EA8-CCA5-A845-AA68-76D75A045E1B}"/>
              </a:ext>
            </a:extLst>
          </p:cNvPr>
          <p:cNvSpPr txBox="1"/>
          <p:nvPr/>
        </p:nvSpPr>
        <p:spPr>
          <a:xfrm>
            <a:off x="444500" y="3556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Vectors — Example 2: a single pixel in an image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1BDB2B2E-B5F8-6845-8DDA-18C51D8DA384}"/>
              </a:ext>
            </a:extLst>
          </p:cNvPr>
          <p:cNvSpPr txBox="1"/>
          <p:nvPr/>
        </p:nvSpPr>
        <p:spPr>
          <a:xfrm>
            <a:off x="444500" y="863600"/>
            <a:ext cx="1130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A pixel is just three numbers — that's already a 3-D vector</a:t>
            </a:r>
          </a:p>
        </p:txBody>
      </p:sp>
      <p:sp>
        <p:nvSpPr>
          <p:cNvPr id="23" name="LPanel">
            <a:extLst>
              <a:ext uri="{FF2B5EF4-FFF2-40B4-BE49-F238E27FC236}">
                <a16:creationId xmlns:a16="http://schemas.microsoft.com/office/drawing/2014/main" id="{C3284FC8-76BB-6B4C-9F8F-BF9C75EBB984}"/>
              </a:ext>
            </a:extLst>
          </p:cNvPr>
          <p:cNvSpPr/>
          <p:nvPr/>
        </p:nvSpPr>
        <p:spPr>
          <a:xfrm>
            <a:off x="381000" y="1333500"/>
            <a:ext cx="5080000" cy="4064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PixelSquare">
            <a:extLst>
              <a:ext uri="{FF2B5EF4-FFF2-40B4-BE49-F238E27FC236}">
                <a16:creationId xmlns:a16="http://schemas.microsoft.com/office/drawing/2014/main" id="{AAF5AE28-5BBD-9342-9224-D8D441C75C37}"/>
              </a:ext>
            </a:extLst>
          </p:cNvPr>
          <p:cNvSpPr/>
          <p:nvPr/>
        </p:nvSpPr>
        <p:spPr>
          <a:xfrm>
            <a:off x="762000" y="1651000"/>
            <a:ext cx="1651000" cy="1651000"/>
          </a:xfrm>
          <a:prstGeom prst="rect">
            <a:avLst/>
          </a:prstGeom>
          <a:solidFill>
            <a:srgbClr val="3399CC"/>
          </a:solidFill>
          <a:ln w="15875" cap="flat" cmpd="sng" algn="ctr">
            <a:solidFill>
              <a:srgbClr val="3333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PixelLbl">
            <a:extLst>
              <a:ext uri="{FF2B5EF4-FFF2-40B4-BE49-F238E27FC236}">
                <a16:creationId xmlns:a16="http://schemas.microsoft.com/office/drawing/2014/main" id="{3844C48F-3CD3-C64A-8845-FF2FBC1F8930}"/>
              </a:ext>
            </a:extLst>
          </p:cNvPr>
          <p:cNvSpPr txBox="1"/>
          <p:nvPr/>
        </p:nvSpPr>
        <p:spPr>
          <a:xfrm>
            <a:off x="762000" y="33401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the pixel</a:t>
            </a:r>
          </a:p>
        </p:txBody>
      </p:sp>
      <p:sp>
        <p:nvSpPr>
          <p:cNvPr id="26" name="ChR0">
            <a:extLst>
              <a:ext uri="{FF2B5EF4-FFF2-40B4-BE49-F238E27FC236}">
                <a16:creationId xmlns:a16="http://schemas.microsoft.com/office/drawing/2014/main" id="{B1E1DCFA-96FF-CC41-8D53-454ECD707EAC}"/>
              </a:ext>
            </a:extLst>
          </p:cNvPr>
          <p:cNvSpPr/>
          <p:nvPr/>
        </p:nvSpPr>
        <p:spPr>
          <a:xfrm>
            <a:off x="2730500" y="1612900"/>
            <a:ext cx="2476500" cy="406400"/>
          </a:xfrm>
          <a:prstGeom prst="rect">
            <a:avLst/>
          </a:prstGeom>
          <a:solidFill>
            <a:srgbClr val="F4B5B5"/>
          </a:solidFill>
          <a:ln w="15875" cap="flat" cmpd="sng" algn="ctr">
            <a:solidFill>
              <a:srgbClr val="C73F3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hLbl0">
            <a:extLst>
              <a:ext uri="{FF2B5EF4-FFF2-40B4-BE49-F238E27FC236}">
                <a16:creationId xmlns:a16="http://schemas.microsoft.com/office/drawing/2014/main" id="{FF6146EC-1AD5-1641-BB1F-B9DE639B9AD8}"/>
              </a:ext>
            </a:extLst>
          </p:cNvPr>
          <p:cNvSpPr txBox="1"/>
          <p:nvPr/>
        </p:nvSpPr>
        <p:spPr>
          <a:xfrm>
            <a:off x="2857500" y="1714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8C1A1A"/>
                </a:solidFill>
              </a:rPr>
              <a:t>Red</a:t>
            </a:r>
          </a:p>
        </p:txBody>
      </p:sp>
      <p:sp>
        <p:nvSpPr>
          <p:cNvPr id="37" name="ChVal0">
            <a:extLst>
              <a:ext uri="{FF2B5EF4-FFF2-40B4-BE49-F238E27FC236}">
                <a16:creationId xmlns:a16="http://schemas.microsoft.com/office/drawing/2014/main" id="{853C5FAF-531F-DF42-AEAC-CF89F77F3ACB}"/>
              </a:ext>
            </a:extLst>
          </p:cNvPr>
          <p:cNvSpPr txBox="1"/>
          <p:nvPr/>
        </p:nvSpPr>
        <p:spPr>
          <a:xfrm>
            <a:off x="4381500" y="17145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8C1A1A"/>
                </a:solidFill>
                <a:latin typeface="Cambria Math"/>
                <a:ea typeface="Cambria Math"/>
              </a:rPr>
              <a:t>51</a:t>
            </a:r>
          </a:p>
        </p:txBody>
      </p:sp>
      <p:sp>
        <p:nvSpPr>
          <p:cNvPr id="38" name="ChR1">
            <a:extLst>
              <a:ext uri="{FF2B5EF4-FFF2-40B4-BE49-F238E27FC236}">
                <a16:creationId xmlns:a16="http://schemas.microsoft.com/office/drawing/2014/main" id="{90937FDF-9544-C648-ACCE-B5E3237062CE}"/>
              </a:ext>
            </a:extLst>
          </p:cNvPr>
          <p:cNvSpPr/>
          <p:nvPr/>
        </p:nvSpPr>
        <p:spPr>
          <a:xfrm>
            <a:off x="2730500" y="2146300"/>
            <a:ext cx="2476500" cy="406400"/>
          </a:xfrm>
          <a:prstGeom prst="rect">
            <a:avLst/>
          </a:prstGeom>
          <a:solidFill>
            <a:srgbClr val="BFE4BF"/>
          </a:solidFill>
          <a:ln w="15875" cap="flat" cmpd="sng" algn="ctr">
            <a:solidFill>
              <a:srgbClr val="3E8E3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ChLbl1">
            <a:extLst>
              <a:ext uri="{FF2B5EF4-FFF2-40B4-BE49-F238E27FC236}">
                <a16:creationId xmlns:a16="http://schemas.microsoft.com/office/drawing/2014/main" id="{7F1F4EA3-8423-AD4B-A964-8ED5F43C78E8}"/>
              </a:ext>
            </a:extLst>
          </p:cNvPr>
          <p:cNvSpPr txBox="1"/>
          <p:nvPr/>
        </p:nvSpPr>
        <p:spPr>
          <a:xfrm>
            <a:off x="2857500" y="22479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E5A1E"/>
                </a:solidFill>
              </a:rPr>
              <a:t>Green</a:t>
            </a:r>
          </a:p>
        </p:txBody>
      </p:sp>
      <p:sp>
        <p:nvSpPr>
          <p:cNvPr id="40" name="ChVal1">
            <a:extLst>
              <a:ext uri="{FF2B5EF4-FFF2-40B4-BE49-F238E27FC236}">
                <a16:creationId xmlns:a16="http://schemas.microsoft.com/office/drawing/2014/main" id="{81CE3861-3F2B-964A-9C1B-C7B340F3C4E6}"/>
              </a:ext>
            </a:extLst>
          </p:cNvPr>
          <p:cNvSpPr txBox="1"/>
          <p:nvPr/>
        </p:nvSpPr>
        <p:spPr>
          <a:xfrm>
            <a:off x="4381500" y="22479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E5A1E"/>
                </a:solidFill>
                <a:latin typeface="Cambria Math"/>
                <a:ea typeface="Cambria Math"/>
              </a:rPr>
              <a:t>153</a:t>
            </a:r>
          </a:p>
        </p:txBody>
      </p:sp>
      <p:sp>
        <p:nvSpPr>
          <p:cNvPr id="41" name="ChR2">
            <a:extLst>
              <a:ext uri="{FF2B5EF4-FFF2-40B4-BE49-F238E27FC236}">
                <a16:creationId xmlns:a16="http://schemas.microsoft.com/office/drawing/2014/main" id="{F68941DF-EBD9-4C41-8221-95E156A03CD2}"/>
              </a:ext>
            </a:extLst>
          </p:cNvPr>
          <p:cNvSpPr/>
          <p:nvPr/>
        </p:nvSpPr>
        <p:spPr>
          <a:xfrm>
            <a:off x="2730500" y="2679700"/>
            <a:ext cx="2476500" cy="406400"/>
          </a:xfrm>
          <a:prstGeom prst="rect">
            <a:avLst/>
          </a:prstGeom>
          <a:solidFill>
            <a:srgbClr val="B5CFEC"/>
          </a:solidFill>
          <a:ln w="15875" cap="flat" cmpd="sng" algn="ctr">
            <a:solidFill>
              <a:srgbClr val="2E6F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hLbl2">
            <a:extLst>
              <a:ext uri="{FF2B5EF4-FFF2-40B4-BE49-F238E27FC236}">
                <a16:creationId xmlns:a16="http://schemas.microsoft.com/office/drawing/2014/main" id="{744AC8B0-9192-4845-A9E2-125D55272C44}"/>
              </a:ext>
            </a:extLst>
          </p:cNvPr>
          <p:cNvSpPr txBox="1"/>
          <p:nvPr/>
        </p:nvSpPr>
        <p:spPr>
          <a:xfrm>
            <a:off x="2857500" y="27813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1A3D74"/>
                </a:solidFill>
              </a:rPr>
              <a:t>Blue</a:t>
            </a:r>
          </a:p>
        </p:txBody>
      </p:sp>
      <p:sp>
        <p:nvSpPr>
          <p:cNvPr id="43" name="ChVal2">
            <a:extLst>
              <a:ext uri="{FF2B5EF4-FFF2-40B4-BE49-F238E27FC236}">
                <a16:creationId xmlns:a16="http://schemas.microsoft.com/office/drawing/2014/main" id="{F6A66D4A-82DF-DD4A-8963-C37BFBA1CFC4}"/>
              </a:ext>
            </a:extLst>
          </p:cNvPr>
          <p:cNvSpPr txBox="1"/>
          <p:nvPr/>
        </p:nvSpPr>
        <p:spPr>
          <a:xfrm>
            <a:off x="4381500" y="2781300"/>
            <a:ext cx="698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1A3D74"/>
                </a:solidFill>
                <a:latin typeface="Cambria Math"/>
                <a:ea typeface="Cambria Math"/>
              </a:rPr>
              <a:t>204</a:t>
            </a:r>
          </a:p>
        </p:txBody>
      </p:sp>
      <p:sp>
        <p:nvSpPr>
          <p:cNvPr id="44" name="BitNote">
            <a:extLst>
              <a:ext uri="{FF2B5EF4-FFF2-40B4-BE49-F238E27FC236}">
                <a16:creationId xmlns:a16="http://schemas.microsoft.com/office/drawing/2014/main" id="{A2643239-D5F7-D64C-A478-C51E913D0A12}"/>
              </a:ext>
            </a:extLst>
          </p:cNvPr>
          <p:cNvSpPr txBox="1"/>
          <p:nvPr/>
        </p:nvSpPr>
        <p:spPr>
          <a:xfrm>
            <a:off x="571500" y="4635500"/>
            <a:ext cx="469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Each channel: 8-bit integer in [0, 255]</a:t>
            </a:r>
          </a:p>
        </p:txBody>
      </p:sp>
      <p:sp>
        <p:nvSpPr>
          <p:cNvPr id="45" name="PixCount">
            <a:extLst>
              <a:ext uri="{FF2B5EF4-FFF2-40B4-BE49-F238E27FC236}">
                <a16:creationId xmlns:a16="http://schemas.microsoft.com/office/drawing/2014/main" id="{ECCB0346-0F1E-C74B-B234-5822DB500CF4}"/>
              </a:ext>
            </a:extLst>
          </p:cNvPr>
          <p:cNvSpPr txBox="1"/>
          <p:nvPr/>
        </p:nvSpPr>
        <p:spPr>
          <a:xfrm>
            <a:off x="571500" y="4953000"/>
            <a:ext cx="469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(a 4K image has 8.3 million such pixels — each a vector in ℝ³)</a:t>
            </a:r>
          </a:p>
        </p:txBody>
      </p:sp>
      <p:sp>
        <p:nvSpPr>
          <p:cNvPr id="46" name="EncArrow">
            <a:extLst>
              <a:ext uri="{FF2B5EF4-FFF2-40B4-BE49-F238E27FC236}">
                <a16:creationId xmlns:a16="http://schemas.microsoft.com/office/drawing/2014/main" id="{591B517E-60D1-9143-B942-582DE8418128}"/>
              </a:ext>
            </a:extLst>
          </p:cNvPr>
          <p:cNvSpPr/>
          <p:nvPr/>
        </p:nvSpPr>
        <p:spPr>
          <a:xfrm>
            <a:off x="5715000" y="2984500"/>
            <a:ext cx="1016000" cy="635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EncLbl">
            <a:extLst>
              <a:ext uri="{FF2B5EF4-FFF2-40B4-BE49-F238E27FC236}">
                <a16:creationId xmlns:a16="http://schemas.microsoft.com/office/drawing/2014/main" id="{41D4CFBA-DCB9-EF48-BA93-CCB6DDA0C39E}"/>
              </a:ext>
            </a:extLst>
          </p:cNvPr>
          <p:cNvSpPr txBox="1"/>
          <p:nvPr/>
        </p:nvSpPr>
        <p:spPr>
          <a:xfrm>
            <a:off x="5715000" y="2730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48" name="RPanel">
            <a:extLst>
              <a:ext uri="{FF2B5EF4-FFF2-40B4-BE49-F238E27FC236}">
                <a16:creationId xmlns:a16="http://schemas.microsoft.com/office/drawing/2014/main" id="{7398F4CF-640A-EA4B-B033-D29C5F27180C}"/>
              </a:ext>
            </a:extLst>
          </p:cNvPr>
          <p:cNvSpPr/>
          <p:nvPr/>
        </p:nvSpPr>
        <p:spPr>
          <a:xfrm>
            <a:off x="6921500" y="1333500"/>
            <a:ext cx="4978400" cy="40640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Eq">
            <a:extLst>
              <a:ext uri="{FF2B5EF4-FFF2-40B4-BE49-F238E27FC236}">
                <a16:creationId xmlns:a16="http://schemas.microsoft.com/office/drawing/2014/main" id="{BEDB6581-C5ED-B84F-A53C-A1A3ADCC5037}"/>
              </a:ext>
            </a:extLst>
          </p:cNvPr>
          <p:cNvSpPr txBox="1"/>
          <p:nvPr/>
        </p:nvSpPr>
        <p:spPr>
          <a:xfrm>
            <a:off x="7302500" y="2921000"/>
            <a:ext cx="101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i="1">
                <a:solidFill>
                  <a:srgbClr val="4B2E83"/>
                </a:solidFill>
                <a:latin typeface="Cambria Math"/>
                <a:ea typeface="Cambria Math"/>
              </a:rPr>
              <a:t>p =</a:t>
            </a:r>
          </a:p>
        </p:txBody>
      </p:sp>
      <p:sp>
        <p:nvSpPr>
          <p:cNvPr id="50" name="LBrak">
            <a:extLst>
              <a:ext uri="{FF2B5EF4-FFF2-40B4-BE49-F238E27FC236}">
                <a16:creationId xmlns:a16="http://schemas.microsoft.com/office/drawing/2014/main" id="{9E90C537-7C97-494C-803D-7D65B2E614BC}"/>
              </a:ext>
            </a:extLst>
          </p:cNvPr>
          <p:cNvSpPr/>
          <p:nvPr/>
        </p:nvSpPr>
        <p:spPr>
          <a:xfrm>
            <a:off x="8509000" y="2286000"/>
            <a:ext cx="2286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RBrak">
            <a:extLst>
              <a:ext uri="{FF2B5EF4-FFF2-40B4-BE49-F238E27FC236}">
                <a16:creationId xmlns:a16="http://schemas.microsoft.com/office/drawing/2014/main" id="{5943F84A-C9CA-8D49-9067-7753DC6D9409}"/>
              </a:ext>
            </a:extLst>
          </p:cNvPr>
          <p:cNvSpPr/>
          <p:nvPr/>
        </p:nvSpPr>
        <p:spPr>
          <a:xfrm>
            <a:off x="9436100" y="2286000"/>
            <a:ext cx="2286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al0">
            <a:extLst>
              <a:ext uri="{FF2B5EF4-FFF2-40B4-BE49-F238E27FC236}">
                <a16:creationId xmlns:a16="http://schemas.microsoft.com/office/drawing/2014/main" id="{D27B0E8A-85B1-ED40-B6B1-6CF8DC6037FC}"/>
              </a:ext>
            </a:extLst>
          </p:cNvPr>
          <p:cNvSpPr txBox="1"/>
          <p:nvPr/>
        </p:nvSpPr>
        <p:spPr>
          <a:xfrm>
            <a:off x="8737600" y="24765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8C1A1A"/>
                </a:solidFill>
                <a:latin typeface="Cambria Math"/>
                <a:ea typeface="Cambria Math"/>
              </a:rPr>
              <a:t>51</a:t>
            </a:r>
          </a:p>
        </p:txBody>
      </p:sp>
      <p:sp>
        <p:nvSpPr>
          <p:cNvPr id="53" name="Val1">
            <a:extLst>
              <a:ext uri="{FF2B5EF4-FFF2-40B4-BE49-F238E27FC236}">
                <a16:creationId xmlns:a16="http://schemas.microsoft.com/office/drawing/2014/main" id="{D8F609B7-75D8-D34D-B0A3-00393593769B}"/>
              </a:ext>
            </a:extLst>
          </p:cNvPr>
          <p:cNvSpPr txBox="1"/>
          <p:nvPr/>
        </p:nvSpPr>
        <p:spPr>
          <a:xfrm>
            <a:off x="8737600" y="29591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E5A1E"/>
                </a:solidFill>
                <a:latin typeface="Cambria Math"/>
                <a:ea typeface="Cambria Math"/>
              </a:rPr>
              <a:t>153</a:t>
            </a:r>
          </a:p>
        </p:txBody>
      </p:sp>
      <p:sp>
        <p:nvSpPr>
          <p:cNvPr id="54" name="Val2">
            <a:extLst>
              <a:ext uri="{FF2B5EF4-FFF2-40B4-BE49-F238E27FC236}">
                <a16:creationId xmlns:a16="http://schemas.microsoft.com/office/drawing/2014/main" id="{92B9EDB5-C3C1-A74D-A126-D35503364A8E}"/>
              </a:ext>
            </a:extLst>
          </p:cNvPr>
          <p:cNvSpPr txBox="1"/>
          <p:nvPr/>
        </p:nvSpPr>
        <p:spPr>
          <a:xfrm>
            <a:off x="8737600" y="34417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A3D74"/>
                </a:solidFill>
                <a:latin typeface="Cambria Math"/>
                <a:ea typeface="Cambria Math"/>
              </a:rPr>
              <a:t>204</a:t>
            </a:r>
          </a:p>
        </p:txBody>
      </p:sp>
      <p:sp>
        <p:nvSpPr>
          <p:cNvPr id="55" name="DimCap">
            <a:extLst>
              <a:ext uri="{FF2B5EF4-FFF2-40B4-BE49-F238E27FC236}">
                <a16:creationId xmlns:a16="http://schemas.microsoft.com/office/drawing/2014/main" id="{41430987-5A1C-5F49-A6B5-60C8BD25E0F5}"/>
              </a:ext>
            </a:extLst>
          </p:cNvPr>
          <p:cNvSpPr txBox="1"/>
          <p:nvPr/>
        </p:nvSpPr>
        <p:spPr>
          <a:xfrm>
            <a:off x="7302500" y="4572000"/>
            <a:ext cx="4216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00A7B5"/>
                </a:solidFill>
              </a:rPr>
              <a:t>p ∈ ℝ³     dim(p) = 3</a:t>
            </a:r>
          </a:p>
        </p:txBody>
      </p:sp>
      <p:sp>
        <p:nvSpPr>
          <p:cNvPr id="56" name="InterpCap">
            <a:extLst>
              <a:ext uri="{FF2B5EF4-FFF2-40B4-BE49-F238E27FC236}">
                <a16:creationId xmlns:a16="http://schemas.microsoft.com/office/drawing/2014/main" id="{3A3F98B7-8F65-FD4E-A545-B56B5D9C62AE}"/>
              </a:ext>
            </a:extLst>
          </p:cNvPr>
          <p:cNvSpPr txBox="1"/>
          <p:nvPr/>
        </p:nvSpPr>
        <p:spPr>
          <a:xfrm>
            <a:off x="7302500" y="4953000"/>
            <a:ext cx="421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(Red, Green, Blue intensities of one pixel)</a:t>
            </a:r>
          </a:p>
        </p:txBody>
      </p:sp>
      <p:sp>
        <p:nvSpPr>
          <p:cNvPr id="57" name="TkBar">
            <a:extLst>
              <a:ext uri="{FF2B5EF4-FFF2-40B4-BE49-F238E27FC236}">
                <a16:creationId xmlns:a16="http://schemas.microsoft.com/office/drawing/2014/main" id="{9E9F5574-FB99-C34A-B56B-86951E69CFDF}"/>
              </a:ext>
            </a:extLst>
          </p:cNvPr>
          <p:cNvSpPr/>
          <p:nvPr/>
        </p:nvSpPr>
        <p:spPr>
          <a:xfrm>
            <a:off x="292100" y="5613400"/>
            <a:ext cx="116078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kTxt">
            <a:extLst>
              <a:ext uri="{FF2B5EF4-FFF2-40B4-BE49-F238E27FC236}">
                <a16:creationId xmlns:a16="http://schemas.microsoft.com/office/drawing/2014/main" id="{1FBD78DA-A3B5-7A40-9348-362EB05BEF9E}"/>
              </a:ext>
            </a:extLst>
          </p:cNvPr>
          <p:cNvSpPr txBox="1"/>
          <p:nvPr/>
        </p:nvSpPr>
        <p:spPr>
          <a:xfrm>
            <a:off x="444500" y="5689600"/>
            <a:ext cx="11303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Any pixel — and therefore any image — lives in a high-dimensional vector space.</a:t>
            </a:r>
          </a:p>
        </p:txBody>
      </p:sp>
    </p:spTree>
    <p:extLst>
      <p:ext uri="{BB962C8B-B14F-4D97-AF65-F5344CB8AC3E}">
        <p14:creationId xmlns:p14="http://schemas.microsoft.com/office/powerpoint/2010/main" val="26776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/>
      <p:bldP spid="26" grpId="0" animBg="1"/>
      <p:bldP spid="27" grpId="0"/>
      <p:bldP spid="37" grpId="0"/>
      <p:bldP spid="38" grpId="0" animBg="1"/>
      <p:bldP spid="39" grpId="0"/>
      <p:bldP spid="40" grpId="0"/>
      <p:bldP spid="41" grpId="0" animBg="1"/>
      <p:bldP spid="42" grpId="0"/>
      <p:bldP spid="43" grpId="0"/>
      <p:bldP spid="44" grpId="0"/>
      <p:bldP spid="45" grpId="0"/>
      <p:bldP spid="46" grpId="0" animBg="1"/>
      <p:bldP spid="47" grpId="0"/>
      <p:bldP spid="48" grpId="0" animBg="1"/>
      <p:bldP spid="49" grpId="0"/>
      <p:bldP spid="50" grpId="0" animBg="1"/>
      <p:bldP spid="51" grpId="0" animBg="1"/>
      <p:bldP spid="52" grpId="0"/>
      <p:bldP spid="53" grpId="0"/>
      <p:bldP spid="54" grpId="0"/>
      <p:bldP spid="55" grpId="0"/>
      <p:bldP spid="56" grpId="0"/>
      <p:bldP spid="57" grpId="0" animBg="1"/>
      <p:bldP spid="5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0375481C-9C85-FB43-AD53-CF625903D96B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52DFAF-FF28-034C-AA3F-7EF440CA2E94}"/>
              </a:ext>
            </a:extLst>
          </p:cNvPr>
          <p:cNvSpPr txBox="1"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Vectors — Example 3: a temperature sensor's daily readings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F42484D-FF8A-BF4E-99C8-EBABF48A2984}"/>
              </a:ext>
            </a:extLst>
          </p:cNvPr>
          <p:cNvSpPr txBox="1"/>
          <p:nvPr/>
        </p:nvSpPr>
        <p:spPr>
          <a:xfrm>
            <a:off x="381000" y="8636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Same idea — order matters: each component is one moment in time.</a:t>
            </a:r>
          </a:p>
        </p:txBody>
      </p:sp>
      <p:sp>
        <p:nvSpPr>
          <p:cNvPr id="5" name="LBg">
            <a:extLst>
              <a:ext uri="{FF2B5EF4-FFF2-40B4-BE49-F238E27FC236}">
                <a16:creationId xmlns:a16="http://schemas.microsoft.com/office/drawing/2014/main" id="{9C30F0AD-D016-3048-9459-A92ACEACC56F}"/>
              </a:ext>
            </a:extLst>
          </p:cNvPr>
          <p:cNvSpPr/>
          <p:nvPr/>
        </p:nvSpPr>
        <p:spPr>
          <a:xfrm>
            <a:off x="381000" y="1270000"/>
            <a:ext cx="5080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LHdr">
            <a:extLst>
              <a:ext uri="{FF2B5EF4-FFF2-40B4-BE49-F238E27FC236}">
                <a16:creationId xmlns:a16="http://schemas.microsoft.com/office/drawing/2014/main" id="{07A75DBF-B686-C344-8D50-AA30984AD1BF}"/>
              </a:ext>
            </a:extLst>
          </p:cNvPr>
          <p:cNvSpPr txBox="1"/>
          <p:nvPr/>
        </p:nvSpPr>
        <p:spPr>
          <a:xfrm>
            <a:off x="508000" y="1371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Sensor: weather station #12 — hourly reading</a:t>
            </a:r>
          </a:p>
        </p:txBody>
      </p:sp>
      <p:sp>
        <p:nvSpPr>
          <p:cNvPr id="7" name="Axx">
            <a:extLst>
              <a:ext uri="{FF2B5EF4-FFF2-40B4-BE49-F238E27FC236}">
                <a16:creationId xmlns:a16="http://schemas.microsoft.com/office/drawing/2014/main" id="{7673578E-54F8-BE41-950B-175ADF3FD302}"/>
              </a:ext>
            </a:extLst>
          </p:cNvPr>
          <p:cNvSpPr/>
          <p:nvPr/>
        </p:nvSpPr>
        <p:spPr>
          <a:xfrm>
            <a:off x="889000" y="4191000"/>
            <a:ext cx="4191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Axy">
            <a:extLst>
              <a:ext uri="{FF2B5EF4-FFF2-40B4-BE49-F238E27FC236}">
                <a16:creationId xmlns:a16="http://schemas.microsoft.com/office/drawing/2014/main" id="{B88F9C2B-F7CA-3A48-BA27-7B93037D4144}"/>
              </a:ext>
            </a:extLst>
          </p:cNvPr>
          <p:cNvSpPr/>
          <p:nvPr/>
        </p:nvSpPr>
        <p:spPr>
          <a:xfrm>
            <a:off x="889000" y="1905000"/>
            <a:ext cx="12700" cy="2286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YLbl">
            <a:extLst>
              <a:ext uri="{FF2B5EF4-FFF2-40B4-BE49-F238E27FC236}">
                <a16:creationId xmlns:a16="http://schemas.microsoft.com/office/drawing/2014/main" id="{0404683E-22E1-454C-B255-2823963CD2CD}"/>
              </a:ext>
            </a:extLst>
          </p:cNvPr>
          <p:cNvSpPr txBox="1"/>
          <p:nvPr/>
        </p:nvSpPr>
        <p:spPr>
          <a:xfrm>
            <a:off x="482600" y="29464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°C</a:t>
            </a:r>
          </a:p>
        </p:txBody>
      </p:sp>
      <p:sp>
        <p:nvSpPr>
          <p:cNvPr id="10" name="XLbl">
            <a:extLst>
              <a:ext uri="{FF2B5EF4-FFF2-40B4-BE49-F238E27FC236}">
                <a16:creationId xmlns:a16="http://schemas.microsoft.com/office/drawing/2014/main" id="{32F3D8B5-90B7-CE4E-B343-4BD086FD2049}"/>
              </a:ext>
            </a:extLst>
          </p:cNvPr>
          <p:cNvSpPr txBox="1"/>
          <p:nvPr/>
        </p:nvSpPr>
        <p:spPr>
          <a:xfrm>
            <a:off x="4445000" y="4241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hour →</a:t>
            </a:r>
          </a:p>
        </p:txBody>
      </p:sp>
      <p:sp>
        <p:nvSpPr>
          <p:cNvPr id="11" name="LnSeg">
            <a:extLst>
              <a:ext uri="{FF2B5EF4-FFF2-40B4-BE49-F238E27FC236}">
                <a16:creationId xmlns:a16="http://schemas.microsoft.com/office/drawing/2014/main" id="{67F65C49-4706-FC41-8BFB-5F3FEDB363D8}"/>
              </a:ext>
            </a:extLst>
          </p:cNvPr>
          <p:cNvSpPr/>
          <p:nvPr/>
        </p:nvSpPr>
        <p:spPr>
          <a:xfrm rot="-1277184">
            <a:off x="858314" y="3688442"/>
            <a:ext cx="899571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LnSeg">
            <a:extLst>
              <a:ext uri="{FF2B5EF4-FFF2-40B4-BE49-F238E27FC236}">
                <a16:creationId xmlns:a16="http://schemas.microsoft.com/office/drawing/2014/main" id="{AD54E646-8C26-704A-80F9-6F7F15C45031}"/>
              </a:ext>
            </a:extLst>
          </p:cNvPr>
          <p:cNvSpPr/>
          <p:nvPr/>
        </p:nvSpPr>
        <p:spPr>
          <a:xfrm rot="-2275588">
            <a:off x="1614986" y="3198585"/>
            <a:ext cx="1062626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LnSeg">
            <a:extLst>
              <a:ext uri="{FF2B5EF4-FFF2-40B4-BE49-F238E27FC236}">
                <a16:creationId xmlns:a16="http://schemas.microsoft.com/office/drawing/2014/main" id="{0AA2D3C3-6B0E-3844-B5B4-0EF1B5BCC739}"/>
              </a:ext>
            </a:extLst>
          </p:cNvPr>
          <p:cNvSpPr/>
          <p:nvPr/>
        </p:nvSpPr>
        <p:spPr>
          <a:xfrm rot="-2275588">
            <a:off x="2453186" y="2545442"/>
            <a:ext cx="1062626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LnSeg">
            <a:extLst>
              <a:ext uri="{FF2B5EF4-FFF2-40B4-BE49-F238E27FC236}">
                <a16:creationId xmlns:a16="http://schemas.microsoft.com/office/drawing/2014/main" id="{CE969EC9-D6A3-0B46-944B-18DD92AF3DDC}"/>
              </a:ext>
            </a:extLst>
          </p:cNvPr>
          <p:cNvSpPr/>
          <p:nvPr/>
        </p:nvSpPr>
        <p:spPr>
          <a:xfrm rot="1818161">
            <a:off x="3337277" y="2463800"/>
            <a:ext cx="970844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LnSeg">
            <a:extLst>
              <a:ext uri="{FF2B5EF4-FFF2-40B4-BE49-F238E27FC236}">
                <a16:creationId xmlns:a16="http://schemas.microsoft.com/office/drawing/2014/main" id="{AD96F9C3-FBDF-3447-93B0-BC9BB51880A9}"/>
              </a:ext>
            </a:extLst>
          </p:cNvPr>
          <p:cNvSpPr/>
          <p:nvPr/>
        </p:nvSpPr>
        <p:spPr>
          <a:xfrm rot="2654769">
            <a:off x="4075849" y="3116942"/>
            <a:ext cx="1170100" cy="25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Pt">
            <a:extLst>
              <a:ext uri="{FF2B5EF4-FFF2-40B4-BE49-F238E27FC236}">
                <a16:creationId xmlns:a16="http://schemas.microsoft.com/office/drawing/2014/main" id="{A6E6E74C-CD3E-3646-A303-D4813895EA5A}"/>
              </a:ext>
            </a:extLst>
          </p:cNvPr>
          <p:cNvSpPr/>
          <p:nvPr/>
        </p:nvSpPr>
        <p:spPr>
          <a:xfrm>
            <a:off x="812800" y="3788228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PtL">
            <a:extLst>
              <a:ext uri="{FF2B5EF4-FFF2-40B4-BE49-F238E27FC236}">
                <a16:creationId xmlns:a16="http://schemas.microsoft.com/office/drawing/2014/main" id="{CC8859E2-FDD0-F24C-9A61-468F09B4CB85}"/>
              </a:ext>
            </a:extLst>
          </p:cNvPr>
          <p:cNvSpPr txBox="1"/>
          <p:nvPr/>
        </p:nvSpPr>
        <p:spPr>
          <a:xfrm>
            <a:off x="711200" y="3585028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12°</a:t>
            </a:r>
          </a:p>
        </p:txBody>
      </p:sp>
      <p:sp>
        <p:nvSpPr>
          <p:cNvPr id="18" name="HrL">
            <a:extLst>
              <a:ext uri="{FF2B5EF4-FFF2-40B4-BE49-F238E27FC236}">
                <a16:creationId xmlns:a16="http://schemas.microsoft.com/office/drawing/2014/main" id="{E6EDF79C-9201-8A44-91E4-5AF953949093}"/>
              </a:ext>
            </a:extLst>
          </p:cNvPr>
          <p:cNvSpPr txBox="1"/>
          <p:nvPr/>
        </p:nvSpPr>
        <p:spPr>
          <a:xfrm>
            <a:off x="7366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00h</a:t>
            </a:r>
          </a:p>
        </p:txBody>
      </p:sp>
      <p:sp>
        <p:nvSpPr>
          <p:cNvPr id="19" name="Pt">
            <a:extLst>
              <a:ext uri="{FF2B5EF4-FFF2-40B4-BE49-F238E27FC236}">
                <a16:creationId xmlns:a16="http://schemas.microsoft.com/office/drawing/2014/main" id="{25FEADF9-7468-F743-998D-6CA5A7CE93B4}"/>
              </a:ext>
            </a:extLst>
          </p:cNvPr>
          <p:cNvSpPr/>
          <p:nvPr/>
        </p:nvSpPr>
        <p:spPr>
          <a:xfrm>
            <a:off x="1651000" y="3461657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PtL">
            <a:extLst>
              <a:ext uri="{FF2B5EF4-FFF2-40B4-BE49-F238E27FC236}">
                <a16:creationId xmlns:a16="http://schemas.microsoft.com/office/drawing/2014/main" id="{96A3C040-0FED-E441-9219-3C77DB18946C}"/>
              </a:ext>
            </a:extLst>
          </p:cNvPr>
          <p:cNvSpPr txBox="1"/>
          <p:nvPr/>
        </p:nvSpPr>
        <p:spPr>
          <a:xfrm>
            <a:off x="1549400" y="3258457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14°</a:t>
            </a:r>
          </a:p>
        </p:txBody>
      </p:sp>
      <p:sp>
        <p:nvSpPr>
          <p:cNvPr id="29" name="HrL">
            <a:extLst>
              <a:ext uri="{FF2B5EF4-FFF2-40B4-BE49-F238E27FC236}">
                <a16:creationId xmlns:a16="http://schemas.microsoft.com/office/drawing/2014/main" id="{6D95B1F6-0AE0-5C4E-A1BA-D85EB4928E69}"/>
              </a:ext>
            </a:extLst>
          </p:cNvPr>
          <p:cNvSpPr txBox="1"/>
          <p:nvPr/>
        </p:nvSpPr>
        <p:spPr>
          <a:xfrm>
            <a:off x="15748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04h</a:t>
            </a:r>
          </a:p>
        </p:txBody>
      </p:sp>
      <p:sp>
        <p:nvSpPr>
          <p:cNvPr id="30" name="Pt">
            <a:extLst>
              <a:ext uri="{FF2B5EF4-FFF2-40B4-BE49-F238E27FC236}">
                <a16:creationId xmlns:a16="http://schemas.microsoft.com/office/drawing/2014/main" id="{6157834B-93C1-364D-96C4-BE1FF6A3ACCE}"/>
              </a:ext>
            </a:extLst>
          </p:cNvPr>
          <p:cNvSpPr/>
          <p:nvPr/>
        </p:nvSpPr>
        <p:spPr>
          <a:xfrm>
            <a:off x="2489200" y="2808514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PtL">
            <a:extLst>
              <a:ext uri="{FF2B5EF4-FFF2-40B4-BE49-F238E27FC236}">
                <a16:creationId xmlns:a16="http://schemas.microsoft.com/office/drawing/2014/main" id="{8C6D26CE-913B-3B48-87AA-86647D6F2D0E}"/>
              </a:ext>
            </a:extLst>
          </p:cNvPr>
          <p:cNvSpPr txBox="1"/>
          <p:nvPr/>
        </p:nvSpPr>
        <p:spPr>
          <a:xfrm>
            <a:off x="2387600" y="2605314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18°</a:t>
            </a:r>
          </a:p>
        </p:txBody>
      </p:sp>
      <p:sp>
        <p:nvSpPr>
          <p:cNvPr id="32" name="HrL">
            <a:extLst>
              <a:ext uri="{FF2B5EF4-FFF2-40B4-BE49-F238E27FC236}">
                <a16:creationId xmlns:a16="http://schemas.microsoft.com/office/drawing/2014/main" id="{4C44A9BC-F309-C444-812E-45D692BDEB6D}"/>
              </a:ext>
            </a:extLst>
          </p:cNvPr>
          <p:cNvSpPr txBox="1"/>
          <p:nvPr/>
        </p:nvSpPr>
        <p:spPr>
          <a:xfrm>
            <a:off x="24130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08h</a:t>
            </a:r>
          </a:p>
        </p:txBody>
      </p:sp>
      <p:sp>
        <p:nvSpPr>
          <p:cNvPr id="33" name="Pt">
            <a:extLst>
              <a:ext uri="{FF2B5EF4-FFF2-40B4-BE49-F238E27FC236}">
                <a16:creationId xmlns:a16="http://schemas.microsoft.com/office/drawing/2014/main" id="{E48E79D3-81BE-4B4D-B7A9-EB3B3E3E23D9}"/>
              </a:ext>
            </a:extLst>
          </p:cNvPr>
          <p:cNvSpPr/>
          <p:nvPr/>
        </p:nvSpPr>
        <p:spPr>
          <a:xfrm>
            <a:off x="3327400" y="2155371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tL">
            <a:extLst>
              <a:ext uri="{FF2B5EF4-FFF2-40B4-BE49-F238E27FC236}">
                <a16:creationId xmlns:a16="http://schemas.microsoft.com/office/drawing/2014/main" id="{EC626D9C-6ECA-4A47-9D56-0DF364280828}"/>
              </a:ext>
            </a:extLst>
          </p:cNvPr>
          <p:cNvSpPr txBox="1"/>
          <p:nvPr/>
        </p:nvSpPr>
        <p:spPr>
          <a:xfrm>
            <a:off x="3225800" y="1952171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22°</a:t>
            </a:r>
          </a:p>
        </p:txBody>
      </p:sp>
      <p:sp>
        <p:nvSpPr>
          <p:cNvPr id="35" name="HrL">
            <a:extLst>
              <a:ext uri="{FF2B5EF4-FFF2-40B4-BE49-F238E27FC236}">
                <a16:creationId xmlns:a16="http://schemas.microsoft.com/office/drawing/2014/main" id="{F6948F5B-F28B-CA49-A77D-09CF0B66F4D3}"/>
              </a:ext>
            </a:extLst>
          </p:cNvPr>
          <p:cNvSpPr txBox="1"/>
          <p:nvPr/>
        </p:nvSpPr>
        <p:spPr>
          <a:xfrm>
            <a:off x="32512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12h</a:t>
            </a:r>
          </a:p>
        </p:txBody>
      </p:sp>
      <p:sp>
        <p:nvSpPr>
          <p:cNvPr id="36" name="Pt">
            <a:extLst>
              <a:ext uri="{FF2B5EF4-FFF2-40B4-BE49-F238E27FC236}">
                <a16:creationId xmlns:a16="http://schemas.microsoft.com/office/drawing/2014/main" id="{DA415931-28E7-CB4E-AF32-CF8304E02147}"/>
              </a:ext>
            </a:extLst>
          </p:cNvPr>
          <p:cNvSpPr/>
          <p:nvPr/>
        </p:nvSpPr>
        <p:spPr>
          <a:xfrm>
            <a:off x="4165600" y="2645228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PtL">
            <a:extLst>
              <a:ext uri="{FF2B5EF4-FFF2-40B4-BE49-F238E27FC236}">
                <a16:creationId xmlns:a16="http://schemas.microsoft.com/office/drawing/2014/main" id="{C53E64E3-8BBE-E04C-BBC9-155000373F28}"/>
              </a:ext>
            </a:extLst>
          </p:cNvPr>
          <p:cNvSpPr txBox="1"/>
          <p:nvPr/>
        </p:nvSpPr>
        <p:spPr>
          <a:xfrm>
            <a:off x="4064000" y="2442028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19°</a:t>
            </a:r>
          </a:p>
        </p:txBody>
      </p:sp>
      <p:sp>
        <p:nvSpPr>
          <p:cNvPr id="60" name="HrL">
            <a:extLst>
              <a:ext uri="{FF2B5EF4-FFF2-40B4-BE49-F238E27FC236}">
                <a16:creationId xmlns:a16="http://schemas.microsoft.com/office/drawing/2014/main" id="{6F4011BE-84D4-CB48-B697-764EC345941D}"/>
              </a:ext>
            </a:extLst>
          </p:cNvPr>
          <p:cNvSpPr txBox="1"/>
          <p:nvPr/>
        </p:nvSpPr>
        <p:spPr>
          <a:xfrm>
            <a:off x="40894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16h</a:t>
            </a:r>
          </a:p>
        </p:txBody>
      </p:sp>
      <p:sp>
        <p:nvSpPr>
          <p:cNvPr id="61" name="Pt">
            <a:extLst>
              <a:ext uri="{FF2B5EF4-FFF2-40B4-BE49-F238E27FC236}">
                <a16:creationId xmlns:a16="http://schemas.microsoft.com/office/drawing/2014/main" id="{CB777E6D-1ED2-B248-ABAD-629074CCE41D}"/>
              </a:ext>
            </a:extLst>
          </p:cNvPr>
          <p:cNvSpPr/>
          <p:nvPr/>
        </p:nvSpPr>
        <p:spPr>
          <a:xfrm>
            <a:off x="5003800" y="3461657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PtL">
            <a:extLst>
              <a:ext uri="{FF2B5EF4-FFF2-40B4-BE49-F238E27FC236}">
                <a16:creationId xmlns:a16="http://schemas.microsoft.com/office/drawing/2014/main" id="{5573F9A4-C187-F642-AA8B-27F49E99263C}"/>
              </a:ext>
            </a:extLst>
          </p:cNvPr>
          <p:cNvSpPr txBox="1"/>
          <p:nvPr/>
        </p:nvSpPr>
        <p:spPr>
          <a:xfrm>
            <a:off x="4902200" y="3258457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14°</a:t>
            </a:r>
          </a:p>
        </p:txBody>
      </p:sp>
      <p:sp>
        <p:nvSpPr>
          <p:cNvPr id="63" name="HrL">
            <a:extLst>
              <a:ext uri="{FF2B5EF4-FFF2-40B4-BE49-F238E27FC236}">
                <a16:creationId xmlns:a16="http://schemas.microsoft.com/office/drawing/2014/main" id="{3150EADD-074B-B140-9BC7-CDF7244C0AB2}"/>
              </a:ext>
            </a:extLst>
          </p:cNvPr>
          <p:cNvSpPr txBox="1"/>
          <p:nvPr/>
        </p:nvSpPr>
        <p:spPr>
          <a:xfrm>
            <a:off x="4927600" y="4241800"/>
            <a:ext cx="304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</a:rPr>
              <a:t>20h</a:t>
            </a:r>
          </a:p>
        </p:txBody>
      </p:sp>
      <p:sp>
        <p:nvSpPr>
          <p:cNvPr id="64" name="LCap">
            <a:extLst>
              <a:ext uri="{FF2B5EF4-FFF2-40B4-BE49-F238E27FC236}">
                <a16:creationId xmlns:a16="http://schemas.microsoft.com/office/drawing/2014/main" id="{628C8C15-63D9-B74F-813D-92C4D63182AC}"/>
              </a:ext>
            </a:extLst>
          </p:cNvPr>
          <p:cNvSpPr txBox="1"/>
          <p:nvPr/>
        </p:nvSpPr>
        <p:spPr>
          <a:xfrm>
            <a:off x="508000" y="4495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</a:rPr>
              <a:t>6 readings over a day — every 4 hours</a:t>
            </a:r>
          </a:p>
        </p:txBody>
      </p:sp>
      <p:sp>
        <p:nvSpPr>
          <p:cNvPr id="65" name="Arr">
            <a:extLst>
              <a:ext uri="{FF2B5EF4-FFF2-40B4-BE49-F238E27FC236}">
                <a16:creationId xmlns:a16="http://schemas.microsoft.com/office/drawing/2014/main" id="{E60851DA-D64D-084E-A4DC-9C2BAE692B21}"/>
              </a:ext>
            </a:extLst>
          </p:cNvPr>
          <p:cNvSpPr/>
          <p:nvPr/>
        </p:nvSpPr>
        <p:spPr>
          <a:xfrm>
            <a:off x="5638800" y="2921000"/>
            <a:ext cx="762000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ArrLbl">
            <a:extLst>
              <a:ext uri="{FF2B5EF4-FFF2-40B4-BE49-F238E27FC236}">
                <a16:creationId xmlns:a16="http://schemas.microsoft.com/office/drawing/2014/main" id="{478DD27A-1639-F74C-9187-230140093A34}"/>
              </a:ext>
            </a:extLst>
          </p:cNvPr>
          <p:cNvSpPr txBox="1"/>
          <p:nvPr/>
        </p:nvSpPr>
        <p:spPr>
          <a:xfrm>
            <a:off x="5638800" y="3403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</a:rPr>
              <a:t>encode</a:t>
            </a:r>
          </a:p>
        </p:txBody>
      </p:sp>
      <p:sp>
        <p:nvSpPr>
          <p:cNvPr id="67" name="RBg">
            <a:extLst>
              <a:ext uri="{FF2B5EF4-FFF2-40B4-BE49-F238E27FC236}">
                <a16:creationId xmlns:a16="http://schemas.microsoft.com/office/drawing/2014/main" id="{037B6923-F1CA-A64C-8771-1B28C8A5F2BC}"/>
              </a:ext>
            </a:extLst>
          </p:cNvPr>
          <p:cNvSpPr/>
          <p:nvPr/>
        </p:nvSpPr>
        <p:spPr>
          <a:xfrm>
            <a:off x="6667500" y="1270000"/>
            <a:ext cx="5207000" cy="355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RHdr">
            <a:extLst>
              <a:ext uri="{FF2B5EF4-FFF2-40B4-BE49-F238E27FC236}">
                <a16:creationId xmlns:a16="http://schemas.microsoft.com/office/drawing/2014/main" id="{C5AB8CA5-0903-1648-86D5-FC69E14CD0DA}"/>
              </a:ext>
            </a:extLst>
          </p:cNvPr>
          <p:cNvSpPr txBox="1"/>
          <p:nvPr/>
        </p:nvSpPr>
        <p:spPr>
          <a:xfrm>
            <a:off x="6819900" y="13716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Vector form</a:t>
            </a:r>
          </a:p>
        </p:txBody>
      </p:sp>
      <p:sp>
        <p:nvSpPr>
          <p:cNvPr id="69" name="VLbl">
            <a:extLst>
              <a:ext uri="{FF2B5EF4-FFF2-40B4-BE49-F238E27FC236}">
                <a16:creationId xmlns:a16="http://schemas.microsoft.com/office/drawing/2014/main" id="{F64652DC-6948-B547-9228-2F6F1136965E}"/>
              </a:ext>
            </a:extLst>
          </p:cNvPr>
          <p:cNvSpPr txBox="1"/>
          <p:nvPr/>
        </p:nvSpPr>
        <p:spPr>
          <a:xfrm>
            <a:off x="7429500" y="2819400"/>
            <a:ext cx="14605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i="1" dirty="0">
                <a:solidFill>
                  <a:srgbClr val="4B2E83"/>
                </a:solidFill>
                <a:latin typeface="Cambria Math"/>
                <a:ea typeface="Cambria Math"/>
              </a:rPr>
              <a:t>t  =</a:t>
            </a:r>
          </a:p>
        </p:txBody>
      </p:sp>
      <p:sp>
        <p:nvSpPr>
          <p:cNvPr id="70" name="LB">
            <a:extLst>
              <a:ext uri="{FF2B5EF4-FFF2-40B4-BE49-F238E27FC236}">
                <a16:creationId xmlns:a16="http://schemas.microsoft.com/office/drawing/2014/main" id="{2AB4B3A9-084B-E049-B43A-85FC37FED5C1}"/>
              </a:ext>
            </a:extLst>
          </p:cNvPr>
          <p:cNvSpPr/>
          <p:nvPr/>
        </p:nvSpPr>
        <p:spPr>
          <a:xfrm>
            <a:off x="8382000" y="2159000"/>
            <a:ext cx="203200" cy="2032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RB">
            <a:extLst>
              <a:ext uri="{FF2B5EF4-FFF2-40B4-BE49-F238E27FC236}">
                <a16:creationId xmlns:a16="http://schemas.microsoft.com/office/drawing/2014/main" id="{F68B3FFC-001C-7C47-A0A2-1B1542A0534D}"/>
              </a:ext>
            </a:extLst>
          </p:cNvPr>
          <p:cNvSpPr/>
          <p:nvPr/>
        </p:nvSpPr>
        <p:spPr>
          <a:xfrm>
            <a:off x="9271000" y="2159000"/>
            <a:ext cx="203200" cy="2032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Vv0">
            <a:extLst>
              <a:ext uri="{FF2B5EF4-FFF2-40B4-BE49-F238E27FC236}">
                <a16:creationId xmlns:a16="http://schemas.microsoft.com/office/drawing/2014/main" id="{C2C18EAB-B277-1546-917B-BC1E5E350329}"/>
              </a:ext>
            </a:extLst>
          </p:cNvPr>
          <p:cNvSpPr txBox="1"/>
          <p:nvPr/>
        </p:nvSpPr>
        <p:spPr>
          <a:xfrm>
            <a:off x="8636000" y="2260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12</a:t>
            </a:r>
          </a:p>
        </p:txBody>
      </p:sp>
      <p:sp>
        <p:nvSpPr>
          <p:cNvPr id="73" name="Vv1">
            <a:extLst>
              <a:ext uri="{FF2B5EF4-FFF2-40B4-BE49-F238E27FC236}">
                <a16:creationId xmlns:a16="http://schemas.microsoft.com/office/drawing/2014/main" id="{631600ED-FED0-0E4C-BAF2-2F9EF169346E}"/>
              </a:ext>
            </a:extLst>
          </p:cNvPr>
          <p:cNvSpPr txBox="1"/>
          <p:nvPr/>
        </p:nvSpPr>
        <p:spPr>
          <a:xfrm>
            <a:off x="8636000" y="2565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14</a:t>
            </a:r>
          </a:p>
        </p:txBody>
      </p:sp>
      <p:sp>
        <p:nvSpPr>
          <p:cNvPr id="74" name="Vv2">
            <a:extLst>
              <a:ext uri="{FF2B5EF4-FFF2-40B4-BE49-F238E27FC236}">
                <a16:creationId xmlns:a16="http://schemas.microsoft.com/office/drawing/2014/main" id="{E64AEE56-D042-3449-8B8E-8517B92B4770}"/>
              </a:ext>
            </a:extLst>
          </p:cNvPr>
          <p:cNvSpPr txBox="1"/>
          <p:nvPr/>
        </p:nvSpPr>
        <p:spPr>
          <a:xfrm>
            <a:off x="8636000" y="2870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18</a:t>
            </a:r>
          </a:p>
        </p:txBody>
      </p:sp>
      <p:sp>
        <p:nvSpPr>
          <p:cNvPr id="75" name="Vv3">
            <a:extLst>
              <a:ext uri="{FF2B5EF4-FFF2-40B4-BE49-F238E27FC236}">
                <a16:creationId xmlns:a16="http://schemas.microsoft.com/office/drawing/2014/main" id="{89E73BC8-F1E7-5848-8DC3-25D2F62FB32E}"/>
              </a:ext>
            </a:extLst>
          </p:cNvPr>
          <p:cNvSpPr txBox="1"/>
          <p:nvPr/>
        </p:nvSpPr>
        <p:spPr>
          <a:xfrm>
            <a:off x="8636000" y="31750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22</a:t>
            </a:r>
          </a:p>
        </p:txBody>
      </p:sp>
      <p:sp>
        <p:nvSpPr>
          <p:cNvPr id="76" name="Vv4">
            <a:extLst>
              <a:ext uri="{FF2B5EF4-FFF2-40B4-BE49-F238E27FC236}">
                <a16:creationId xmlns:a16="http://schemas.microsoft.com/office/drawing/2014/main" id="{B3D0E008-608B-4A46-9691-99F2F39AC615}"/>
              </a:ext>
            </a:extLst>
          </p:cNvPr>
          <p:cNvSpPr txBox="1"/>
          <p:nvPr/>
        </p:nvSpPr>
        <p:spPr>
          <a:xfrm>
            <a:off x="8636000" y="34798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19</a:t>
            </a:r>
          </a:p>
        </p:txBody>
      </p:sp>
      <p:sp>
        <p:nvSpPr>
          <p:cNvPr id="77" name="Vv5">
            <a:extLst>
              <a:ext uri="{FF2B5EF4-FFF2-40B4-BE49-F238E27FC236}">
                <a16:creationId xmlns:a16="http://schemas.microsoft.com/office/drawing/2014/main" id="{9806B65D-4FD2-9D45-8289-1CA828BD3164}"/>
              </a:ext>
            </a:extLst>
          </p:cNvPr>
          <p:cNvSpPr txBox="1"/>
          <p:nvPr/>
        </p:nvSpPr>
        <p:spPr>
          <a:xfrm>
            <a:off x="8636000" y="3784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14</a:t>
            </a:r>
          </a:p>
        </p:txBody>
      </p:sp>
      <p:sp>
        <p:nvSpPr>
          <p:cNvPr id="78" name="DimCap">
            <a:extLst>
              <a:ext uri="{FF2B5EF4-FFF2-40B4-BE49-F238E27FC236}">
                <a16:creationId xmlns:a16="http://schemas.microsoft.com/office/drawing/2014/main" id="{5E2A8DBD-A8FF-C940-9C76-67245AD7A620}"/>
              </a:ext>
            </a:extLst>
          </p:cNvPr>
          <p:cNvSpPr txBox="1"/>
          <p:nvPr/>
        </p:nvSpPr>
        <p:spPr>
          <a:xfrm>
            <a:off x="7048500" y="42418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00A7B5"/>
                </a:solidFill>
                <a:latin typeface="Cambria Math"/>
                <a:ea typeface="Cambria Math"/>
              </a:rPr>
              <a:t>t ∈ ℝ⁶,   dim(t) = 6</a:t>
            </a:r>
          </a:p>
        </p:txBody>
      </p:sp>
      <p:sp>
        <p:nvSpPr>
          <p:cNvPr id="79" name="TkBar">
            <a:extLst>
              <a:ext uri="{FF2B5EF4-FFF2-40B4-BE49-F238E27FC236}">
                <a16:creationId xmlns:a16="http://schemas.microsoft.com/office/drawing/2014/main" id="{2E6CDC0D-5A1F-964E-82C1-3A0BF9708E12}"/>
              </a:ext>
            </a:extLst>
          </p:cNvPr>
          <p:cNvSpPr/>
          <p:nvPr/>
        </p:nvSpPr>
        <p:spPr>
          <a:xfrm>
            <a:off x="0" y="52832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TkText">
            <a:extLst>
              <a:ext uri="{FF2B5EF4-FFF2-40B4-BE49-F238E27FC236}">
                <a16:creationId xmlns:a16="http://schemas.microsoft.com/office/drawing/2014/main" id="{25D7792A-80A2-5745-A11B-B27AE8004CC2}"/>
              </a:ext>
            </a:extLst>
          </p:cNvPr>
          <p:cNvSpPr txBox="1"/>
          <p:nvPr/>
        </p:nvSpPr>
        <p:spPr>
          <a:xfrm>
            <a:off x="381000" y="52832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A vector can encode a sequence — its components are the values in order.</a:t>
            </a:r>
          </a:p>
        </p:txBody>
      </p:sp>
    </p:spTree>
    <p:extLst>
      <p:ext uri="{BB962C8B-B14F-4D97-AF65-F5344CB8AC3E}">
        <p14:creationId xmlns:p14="http://schemas.microsoft.com/office/powerpoint/2010/main" val="319055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 animBg="1"/>
      <p:bldP spid="59" grpId="0"/>
      <p:bldP spid="60" grpId="0"/>
      <p:bldP spid="61" grpId="0" animBg="1"/>
      <p:bldP spid="62" grpId="0"/>
      <p:bldP spid="63" grpId="0"/>
      <p:bldP spid="64" grpId="0"/>
      <p:bldP spid="65" grpId="0" animBg="1"/>
      <p:bldP spid="66" grpId="0"/>
      <p:bldP spid="67" grpId="0" animBg="1"/>
      <p:bldP spid="68" grpId="0"/>
      <p:bldP spid="69" grpId="0"/>
      <p:bldP spid="70" grpId="0" animBg="1"/>
      <p:bldP spid="71" grpId="0" animBg="1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 animBg="1"/>
      <p:bldP spid="8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9D5DEB80-2CA1-1540-A51C-4F238244EFF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Text">
            <a:extLst>
              <a:ext uri="{FF2B5EF4-FFF2-40B4-BE49-F238E27FC236}">
                <a16:creationId xmlns:a16="http://schemas.microsoft.com/office/drawing/2014/main" id="{C869C7BE-FCD3-8443-ADAD-E4A64C43152E}"/>
              </a:ext>
            </a:extLst>
          </p:cNvPr>
          <p:cNvSpPr txBox="1"/>
          <p:nvPr/>
        </p:nvSpPr>
        <p:spPr>
          <a:xfrm>
            <a:off x="3048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1: a class roster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C1AE3F3B-9CE3-564F-8BC4-7EA36730E87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Calibri"/>
                <a:cs typeface="Calibri"/>
              </a:rPr>
              <a:t>Each row = one student. Each column = one subject. The matrix holds everyone at once.</a:t>
            </a:r>
          </a:p>
        </p:txBody>
      </p:sp>
      <p:sp>
        <p:nvSpPr>
          <p:cNvPr id="23" name="LBox">
            <a:extLst>
              <a:ext uri="{FF2B5EF4-FFF2-40B4-BE49-F238E27FC236}">
                <a16:creationId xmlns:a16="http://schemas.microsoft.com/office/drawing/2014/main" id="{483D7735-5349-BF4B-BA7E-BD6160843228}"/>
              </a:ext>
            </a:extLst>
          </p:cNvPr>
          <p:cNvSpPr/>
          <p:nvPr/>
        </p:nvSpPr>
        <p:spPr>
          <a:xfrm>
            <a:off x="381000" y="1270000"/>
            <a:ext cx="55880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Hdr">
            <a:extLst>
              <a:ext uri="{FF2B5EF4-FFF2-40B4-BE49-F238E27FC236}">
                <a16:creationId xmlns:a16="http://schemas.microsoft.com/office/drawing/2014/main" id="{70E2358D-7D75-5E4D-8F17-28DF4EA036AC}"/>
              </a:ext>
            </a:extLst>
          </p:cNvPr>
          <p:cNvSpPr txBox="1"/>
          <p:nvPr/>
        </p:nvSpPr>
        <p:spPr>
          <a:xfrm>
            <a:off x="533400" y="1371600"/>
            <a:ext cx="5283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Class: STA 380 — final exam scores</a:t>
            </a:r>
          </a:p>
        </p:txBody>
      </p:sp>
      <p:sp>
        <p:nvSpPr>
          <p:cNvPr id="25" name="MH_0">
            <a:extLst>
              <a:ext uri="{FF2B5EF4-FFF2-40B4-BE49-F238E27FC236}">
                <a16:creationId xmlns:a16="http://schemas.microsoft.com/office/drawing/2014/main" id="{65839833-AD7B-224E-B879-AAE99AE55E63}"/>
              </a:ext>
            </a:extLst>
          </p:cNvPr>
          <p:cNvSpPr/>
          <p:nvPr/>
        </p:nvSpPr>
        <p:spPr>
          <a:xfrm>
            <a:off x="558800" y="1727200"/>
            <a:ext cx="1397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MHL_0">
            <a:extLst>
              <a:ext uri="{FF2B5EF4-FFF2-40B4-BE49-F238E27FC236}">
                <a16:creationId xmlns:a16="http://schemas.microsoft.com/office/drawing/2014/main" id="{9754B75F-BAA3-ED41-AB64-EFF89E14100D}"/>
              </a:ext>
            </a:extLst>
          </p:cNvPr>
          <p:cNvSpPr txBox="1"/>
          <p:nvPr/>
        </p:nvSpPr>
        <p:spPr>
          <a:xfrm>
            <a:off x="558800" y="17272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</a:p>
        </p:txBody>
      </p:sp>
      <p:sp>
        <p:nvSpPr>
          <p:cNvPr id="27" name="MH_1">
            <a:extLst>
              <a:ext uri="{FF2B5EF4-FFF2-40B4-BE49-F238E27FC236}">
                <a16:creationId xmlns:a16="http://schemas.microsoft.com/office/drawing/2014/main" id="{3A320FF8-E504-3745-A910-500410AA3430}"/>
              </a:ext>
            </a:extLst>
          </p:cNvPr>
          <p:cNvSpPr/>
          <p:nvPr/>
        </p:nvSpPr>
        <p:spPr>
          <a:xfrm>
            <a:off x="1955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MHL_1">
            <a:extLst>
              <a:ext uri="{FF2B5EF4-FFF2-40B4-BE49-F238E27FC236}">
                <a16:creationId xmlns:a16="http://schemas.microsoft.com/office/drawing/2014/main" id="{85F661C7-DD4F-184C-9405-CE15E9DBAEC6}"/>
              </a:ext>
            </a:extLst>
          </p:cNvPr>
          <p:cNvSpPr txBox="1"/>
          <p:nvPr/>
        </p:nvSpPr>
        <p:spPr>
          <a:xfrm>
            <a:off x="1955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Math</a:t>
            </a:r>
          </a:p>
        </p:txBody>
      </p:sp>
      <p:sp>
        <p:nvSpPr>
          <p:cNvPr id="38" name="MH_2">
            <a:extLst>
              <a:ext uri="{FF2B5EF4-FFF2-40B4-BE49-F238E27FC236}">
                <a16:creationId xmlns:a16="http://schemas.microsoft.com/office/drawing/2014/main" id="{C9396874-EE98-6A47-A31E-2F14DD706D8E}"/>
              </a:ext>
            </a:extLst>
          </p:cNvPr>
          <p:cNvSpPr/>
          <p:nvPr/>
        </p:nvSpPr>
        <p:spPr>
          <a:xfrm>
            <a:off x="2844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MHL_2">
            <a:extLst>
              <a:ext uri="{FF2B5EF4-FFF2-40B4-BE49-F238E27FC236}">
                <a16:creationId xmlns:a16="http://schemas.microsoft.com/office/drawing/2014/main" id="{4EE158CA-8D75-0A42-8542-D4BD2932B96E}"/>
              </a:ext>
            </a:extLst>
          </p:cNvPr>
          <p:cNvSpPr txBox="1"/>
          <p:nvPr/>
        </p:nvSpPr>
        <p:spPr>
          <a:xfrm>
            <a:off x="2844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Phys</a:t>
            </a:r>
          </a:p>
        </p:txBody>
      </p:sp>
      <p:sp>
        <p:nvSpPr>
          <p:cNvPr id="40" name="MH_3">
            <a:extLst>
              <a:ext uri="{FF2B5EF4-FFF2-40B4-BE49-F238E27FC236}">
                <a16:creationId xmlns:a16="http://schemas.microsoft.com/office/drawing/2014/main" id="{BBFA9528-E085-A246-95C1-D64EBFDD2C6A}"/>
              </a:ext>
            </a:extLst>
          </p:cNvPr>
          <p:cNvSpPr/>
          <p:nvPr/>
        </p:nvSpPr>
        <p:spPr>
          <a:xfrm>
            <a:off x="3733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MHL_3">
            <a:extLst>
              <a:ext uri="{FF2B5EF4-FFF2-40B4-BE49-F238E27FC236}">
                <a16:creationId xmlns:a16="http://schemas.microsoft.com/office/drawing/2014/main" id="{38AF65ED-78F8-E14F-AFF9-CC8E8ACDC56A}"/>
              </a:ext>
            </a:extLst>
          </p:cNvPr>
          <p:cNvSpPr txBox="1"/>
          <p:nvPr/>
        </p:nvSpPr>
        <p:spPr>
          <a:xfrm>
            <a:off x="3733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Bio</a:t>
            </a:r>
          </a:p>
        </p:txBody>
      </p:sp>
      <p:sp>
        <p:nvSpPr>
          <p:cNvPr id="42" name="MH_4">
            <a:extLst>
              <a:ext uri="{FF2B5EF4-FFF2-40B4-BE49-F238E27FC236}">
                <a16:creationId xmlns:a16="http://schemas.microsoft.com/office/drawing/2014/main" id="{A70BA28B-797C-6240-89EF-05050C393AEF}"/>
              </a:ext>
            </a:extLst>
          </p:cNvPr>
          <p:cNvSpPr/>
          <p:nvPr/>
        </p:nvSpPr>
        <p:spPr>
          <a:xfrm>
            <a:off x="4622800" y="1727200"/>
            <a:ext cx="889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MHL_4">
            <a:extLst>
              <a:ext uri="{FF2B5EF4-FFF2-40B4-BE49-F238E27FC236}">
                <a16:creationId xmlns:a16="http://schemas.microsoft.com/office/drawing/2014/main" id="{177392B9-60F5-FA4D-9644-31ECEBCE975D}"/>
              </a:ext>
            </a:extLst>
          </p:cNvPr>
          <p:cNvSpPr txBox="1"/>
          <p:nvPr/>
        </p:nvSpPr>
        <p:spPr>
          <a:xfrm>
            <a:off x="4622800" y="1727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Hist</a:t>
            </a:r>
          </a:p>
        </p:txBody>
      </p:sp>
      <p:sp>
        <p:nvSpPr>
          <p:cNvPr id="44" name="MC_0_0">
            <a:extLst>
              <a:ext uri="{FF2B5EF4-FFF2-40B4-BE49-F238E27FC236}">
                <a16:creationId xmlns:a16="http://schemas.microsoft.com/office/drawing/2014/main" id="{8373B0DF-9DFE-394A-A41E-452AC1DC2241}"/>
              </a:ext>
            </a:extLst>
          </p:cNvPr>
          <p:cNvSpPr/>
          <p:nvPr/>
        </p:nvSpPr>
        <p:spPr>
          <a:xfrm>
            <a:off x="558800" y="2108200"/>
            <a:ext cx="1397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MCL_0_0">
            <a:extLst>
              <a:ext uri="{FF2B5EF4-FFF2-40B4-BE49-F238E27FC236}">
                <a16:creationId xmlns:a16="http://schemas.microsoft.com/office/drawing/2014/main" id="{8D6B191E-B9BC-8C44-B814-14B706EA5DB7}"/>
              </a:ext>
            </a:extLst>
          </p:cNvPr>
          <p:cNvSpPr txBox="1"/>
          <p:nvPr/>
        </p:nvSpPr>
        <p:spPr>
          <a:xfrm>
            <a:off x="558800" y="21082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Alice</a:t>
            </a:r>
          </a:p>
        </p:txBody>
      </p:sp>
      <p:sp>
        <p:nvSpPr>
          <p:cNvPr id="46" name="MC_0_1">
            <a:extLst>
              <a:ext uri="{FF2B5EF4-FFF2-40B4-BE49-F238E27FC236}">
                <a16:creationId xmlns:a16="http://schemas.microsoft.com/office/drawing/2014/main" id="{084BAEA9-16E7-384A-B556-5F587F19AB45}"/>
              </a:ext>
            </a:extLst>
          </p:cNvPr>
          <p:cNvSpPr/>
          <p:nvPr/>
        </p:nvSpPr>
        <p:spPr>
          <a:xfrm>
            <a:off x="1955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MCL_0_1">
            <a:extLst>
              <a:ext uri="{FF2B5EF4-FFF2-40B4-BE49-F238E27FC236}">
                <a16:creationId xmlns:a16="http://schemas.microsoft.com/office/drawing/2014/main" id="{39BF5FAF-1665-FA43-B248-8815F24DA795}"/>
              </a:ext>
            </a:extLst>
          </p:cNvPr>
          <p:cNvSpPr txBox="1"/>
          <p:nvPr/>
        </p:nvSpPr>
        <p:spPr>
          <a:xfrm>
            <a:off x="1955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85</a:t>
            </a:r>
          </a:p>
        </p:txBody>
      </p:sp>
      <p:sp>
        <p:nvSpPr>
          <p:cNvPr id="48" name="MC_0_2">
            <a:extLst>
              <a:ext uri="{FF2B5EF4-FFF2-40B4-BE49-F238E27FC236}">
                <a16:creationId xmlns:a16="http://schemas.microsoft.com/office/drawing/2014/main" id="{AFCC6B81-ACC3-7443-B548-463FB20B0897}"/>
              </a:ext>
            </a:extLst>
          </p:cNvPr>
          <p:cNvSpPr/>
          <p:nvPr/>
        </p:nvSpPr>
        <p:spPr>
          <a:xfrm>
            <a:off x="2844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MCL_0_2">
            <a:extLst>
              <a:ext uri="{FF2B5EF4-FFF2-40B4-BE49-F238E27FC236}">
                <a16:creationId xmlns:a16="http://schemas.microsoft.com/office/drawing/2014/main" id="{042A4311-428C-8848-9EC9-DF1E11431A94}"/>
              </a:ext>
            </a:extLst>
          </p:cNvPr>
          <p:cNvSpPr txBox="1"/>
          <p:nvPr/>
        </p:nvSpPr>
        <p:spPr>
          <a:xfrm>
            <a:off x="2844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92</a:t>
            </a:r>
          </a:p>
        </p:txBody>
      </p:sp>
      <p:sp>
        <p:nvSpPr>
          <p:cNvPr id="50" name="MC_0_3">
            <a:extLst>
              <a:ext uri="{FF2B5EF4-FFF2-40B4-BE49-F238E27FC236}">
                <a16:creationId xmlns:a16="http://schemas.microsoft.com/office/drawing/2014/main" id="{03D4959A-43D8-1140-A3DD-060EAC528716}"/>
              </a:ext>
            </a:extLst>
          </p:cNvPr>
          <p:cNvSpPr/>
          <p:nvPr/>
        </p:nvSpPr>
        <p:spPr>
          <a:xfrm>
            <a:off x="3733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MCL_0_3">
            <a:extLst>
              <a:ext uri="{FF2B5EF4-FFF2-40B4-BE49-F238E27FC236}">
                <a16:creationId xmlns:a16="http://schemas.microsoft.com/office/drawing/2014/main" id="{2230FC13-28F8-FE47-8102-D3D12686335B}"/>
              </a:ext>
            </a:extLst>
          </p:cNvPr>
          <p:cNvSpPr txBox="1"/>
          <p:nvPr/>
        </p:nvSpPr>
        <p:spPr>
          <a:xfrm>
            <a:off x="3733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78</a:t>
            </a:r>
          </a:p>
        </p:txBody>
      </p:sp>
      <p:sp>
        <p:nvSpPr>
          <p:cNvPr id="52" name="MC_0_4">
            <a:extLst>
              <a:ext uri="{FF2B5EF4-FFF2-40B4-BE49-F238E27FC236}">
                <a16:creationId xmlns:a16="http://schemas.microsoft.com/office/drawing/2014/main" id="{96EBBC5E-58BD-F749-9E08-8091D1B3318A}"/>
              </a:ext>
            </a:extLst>
          </p:cNvPr>
          <p:cNvSpPr/>
          <p:nvPr/>
        </p:nvSpPr>
        <p:spPr>
          <a:xfrm>
            <a:off x="4622800" y="21082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MCL_0_4">
            <a:extLst>
              <a:ext uri="{FF2B5EF4-FFF2-40B4-BE49-F238E27FC236}">
                <a16:creationId xmlns:a16="http://schemas.microsoft.com/office/drawing/2014/main" id="{41B78B89-4388-9D41-8096-309A2E4574BF}"/>
              </a:ext>
            </a:extLst>
          </p:cNvPr>
          <p:cNvSpPr txBox="1"/>
          <p:nvPr/>
        </p:nvSpPr>
        <p:spPr>
          <a:xfrm>
            <a:off x="4622800" y="21082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88</a:t>
            </a:r>
          </a:p>
        </p:txBody>
      </p:sp>
      <p:sp>
        <p:nvSpPr>
          <p:cNvPr id="54" name="MC_1_0">
            <a:extLst>
              <a:ext uri="{FF2B5EF4-FFF2-40B4-BE49-F238E27FC236}">
                <a16:creationId xmlns:a16="http://schemas.microsoft.com/office/drawing/2014/main" id="{2358EF80-FB5B-054B-BB3F-483570B020F7}"/>
              </a:ext>
            </a:extLst>
          </p:cNvPr>
          <p:cNvSpPr/>
          <p:nvPr/>
        </p:nvSpPr>
        <p:spPr>
          <a:xfrm>
            <a:off x="558800" y="2565400"/>
            <a:ext cx="1397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MCL_1_0">
            <a:extLst>
              <a:ext uri="{FF2B5EF4-FFF2-40B4-BE49-F238E27FC236}">
                <a16:creationId xmlns:a16="http://schemas.microsoft.com/office/drawing/2014/main" id="{F94EB961-0226-6541-A496-2A2FB4279EA2}"/>
              </a:ext>
            </a:extLst>
          </p:cNvPr>
          <p:cNvSpPr txBox="1"/>
          <p:nvPr/>
        </p:nvSpPr>
        <p:spPr>
          <a:xfrm>
            <a:off x="558800" y="25654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Bob</a:t>
            </a:r>
          </a:p>
        </p:txBody>
      </p:sp>
      <p:sp>
        <p:nvSpPr>
          <p:cNvPr id="56" name="MC_1_1">
            <a:extLst>
              <a:ext uri="{FF2B5EF4-FFF2-40B4-BE49-F238E27FC236}">
                <a16:creationId xmlns:a16="http://schemas.microsoft.com/office/drawing/2014/main" id="{D91C3AE6-198C-1045-83E9-20D755A1DEA8}"/>
              </a:ext>
            </a:extLst>
          </p:cNvPr>
          <p:cNvSpPr/>
          <p:nvPr/>
        </p:nvSpPr>
        <p:spPr>
          <a:xfrm>
            <a:off x="1955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MCL_1_1">
            <a:extLst>
              <a:ext uri="{FF2B5EF4-FFF2-40B4-BE49-F238E27FC236}">
                <a16:creationId xmlns:a16="http://schemas.microsoft.com/office/drawing/2014/main" id="{9984FA6C-2F57-7C46-89ED-559C1179BAA3}"/>
              </a:ext>
            </a:extLst>
          </p:cNvPr>
          <p:cNvSpPr txBox="1"/>
          <p:nvPr/>
        </p:nvSpPr>
        <p:spPr>
          <a:xfrm>
            <a:off x="1955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76</a:t>
            </a:r>
          </a:p>
        </p:txBody>
      </p:sp>
      <p:sp>
        <p:nvSpPr>
          <p:cNvPr id="58" name="MC_1_2">
            <a:extLst>
              <a:ext uri="{FF2B5EF4-FFF2-40B4-BE49-F238E27FC236}">
                <a16:creationId xmlns:a16="http://schemas.microsoft.com/office/drawing/2014/main" id="{3DA6E1CB-0441-6744-A014-598A0B4EA415}"/>
              </a:ext>
            </a:extLst>
          </p:cNvPr>
          <p:cNvSpPr/>
          <p:nvPr/>
        </p:nvSpPr>
        <p:spPr>
          <a:xfrm>
            <a:off x="2844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MCL_1_2">
            <a:extLst>
              <a:ext uri="{FF2B5EF4-FFF2-40B4-BE49-F238E27FC236}">
                <a16:creationId xmlns:a16="http://schemas.microsoft.com/office/drawing/2014/main" id="{4CF1A7E3-B3EA-F947-997D-BAB60705C928}"/>
              </a:ext>
            </a:extLst>
          </p:cNvPr>
          <p:cNvSpPr txBox="1"/>
          <p:nvPr/>
        </p:nvSpPr>
        <p:spPr>
          <a:xfrm>
            <a:off x="2844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81</a:t>
            </a:r>
          </a:p>
        </p:txBody>
      </p:sp>
      <p:sp>
        <p:nvSpPr>
          <p:cNvPr id="82" name="MC_1_3">
            <a:extLst>
              <a:ext uri="{FF2B5EF4-FFF2-40B4-BE49-F238E27FC236}">
                <a16:creationId xmlns:a16="http://schemas.microsoft.com/office/drawing/2014/main" id="{E9478667-B56D-BE4E-ABC1-C8EEC8A5D778}"/>
              </a:ext>
            </a:extLst>
          </p:cNvPr>
          <p:cNvSpPr/>
          <p:nvPr/>
        </p:nvSpPr>
        <p:spPr>
          <a:xfrm>
            <a:off x="3733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3" name="MCL_1_3">
            <a:extLst>
              <a:ext uri="{FF2B5EF4-FFF2-40B4-BE49-F238E27FC236}">
                <a16:creationId xmlns:a16="http://schemas.microsoft.com/office/drawing/2014/main" id="{389F017E-A639-0744-8005-C4A1DB0590DB}"/>
              </a:ext>
            </a:extLst>
          </p:cNvPr>
          <p:cNvSpPr txBox="1"/>
          <p:nvPr/>
        </p:nvSpPr>
        <p:spPr>
          <a:xfrm>
            <a:off x="3733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85</a:t>
            </a:r>
          </a:p>
        </p:txBody>
      </p:sp>
      <p:sp>
        <p:nvSpPr>
          <p:cNvPr id="84" name="MC_1_4">
            <a:extLst>
              <a:ext uri="{FF2B5EF4-FFF2-40B4-BE49-F238E27FC236}">
                <a16:creationId xmlns:a16="http://schemas.microsoft.com/office/drawing/2014/main" id="{FAFE4085-8DD7-0B4B-88B3-7C1711E19F5D}"/>
              </a:ext>
            </a:extLst>
          </p:cNvPr>
          <p:cNvSpPr/>
          <p:nvPr/>
        </p:nvSpPr>
        <p:spPr>
          <a:xfrm>
            <a:off x="4622800" y="25654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5" name="MCL_1_4">
            <a:extLst>
              <a:ext uri="{FF2B5EF4-FFF2-40B4-BE49-F238E27FC236}">
                <a16:creationId xmlns:a16="http://schemas.microsoft.com/office/drawing/2014/main" id="{77A30C38-B96A-A64F-B342-14FC518F8C28}"/>
              </a:ext>
            </a:extLst>
          </p:cNvPr>
          <p:cNvSpPr txBox="1"/>
          <p:nvPr/>
        </p:nvSpPr>
        <p:spPr>
          <a:xfrm>
            <a:off x="4622800" y="25654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70</a:t>
            </a:r>
          </a:p>
        </p:txBody>
      </p:sp>
      <p:sp>
        <p:nvSpPr>
          <p:cNvPr id="86" name="MC_2_0">
            <a:extLst>
              <a:ext uri="{FF2B5EF4-FFF2-40B4-BE49-F238E27FC236}">
                <a16:creationId xmlns:a16="http://schemas.microsoft.com/office/drawing/2014/main" id="{FA4E1ADB-212B-8144-BC3C-74DABDC11F84}"/>
              </a:ext>
            </a:extLst>
          </p:cNvPr>
          <p:cNvSpPr/>
          <p:nvPr/>
        </p:nvSpPr>
        <p:spPr>
          <a:xfrm>
            <a:off x="558800" y="3022600"/>
            <a:ext cx="1397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MCL_2_0">
            <a:extLst>
              <a:ext uri="{FF2B5EF4-FFF2-40B4-BE49-F238E27FC236}">
                <a16:creationId xmlns:a16="http://schemas.microsoft.com/office/drawing/2014/main" id="{4D221D22-D6E2-3240-9F7F-1B2FDE346748}"/>
              </a:ext>
            </a:extLst>
          </p:cNvPr>
          <p:cNvSpPr txBox="1"/>
          <p:nvPr/>
        </p:nvSpPr>
        <p:spPr>
          <a:xfrm>
            <a:off x="558800" y="30226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Carol</a:t>
            </a:r>
          </a:p>
        </p:txBody>
      </p:sp>
      <p:sp>
        <p:nvSpPr>
          <p:cNvPr id="88" name="MC_2_1">
            <a:extLst>
              <a:ext uri="{FF2B5EF4-FFF2-40B4-BE49-F238E27FC236}">
                <a16:creationId xmlns:a16="http://schemas.microsoft.com/office/drawing/2014/main" id="{2F6BC8A9-28E7-DA4B-A9EE-3E322E9CFBB6}"/>
              </a:ext>
            </a:extLst>
          </p:cNvPr>
          <p:cNvSpPr/>
          <p:nvPr/>
        </p:nvSpPr>
        <p:spPr>
          <a:xfrm>
            <a:off x="1955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MCL_2_1">
            <a:extLst>
              <a:ext uri="{FF2B5EF4-FFF2-40B4-BE49-F238E27FC236}">
                <a16:creationId xmlns:a16="http://schemas.microsoft.com/office/drawing/2014/main" id="{C7780764-DE93-2A46-9217-E5D68B163369}"/>
              </a:ext>
            </a:extLst>
          </p:cNvPr>
          <p:cNvSpPr txBox="1"/>
          <p:nvPr/>
        </p:nvSpPr>
        <p:spPr>
          <a:xfrm>
            <a:off x="1955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92</a:t>
            </a:r>
          </a:p>
        </p:txBody>
      </p:sp>
      <p:sp>
        <p:nvSpPr>
          <p:cNvPr id="90" name="MC_2_2">
            <a:extLst>
              <a:ext uri="{FF2B5EF4-FFF2-40B4-BE49-F238E27FC236}">
                <a16:creationId xmlns:a16="http://schemas.microsoft.com/office/drawing/2014/main" id="{26D32D77-AC73-5D4C-AF45-0C0D9F9C45A2}"/>
              </a:ext>
            </a:extLst>
          </p:cNvPr>
          <p:cNvSpPr/>
          <p:nvPr/>
        </p:nvSpPr>
        <p:spPr>
          <a:xfrm>
            <a:off x="2844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MCL_2_2">
            <a:extLst>
              <a:ext uri="{FF2B5EF4-FFF2-40B4-BE49-F238E27FC236}">
                <a16:creationId xmlns:a16="http://schemas.microsoft.com/office/drawing/2014/main" id="{71E0BB21-1EEE-0140-AA87-4BE2570FD425}"/>
              </a:ext>
            </a:extLst>
          </p:cNvPr>
          <p:cNvSpPr txBox="1"/>
          <p:nvPr/>
        </p:nvSpPr>
        <p:spPr>
          <a:xfrm>
            <a:off x="2844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88</a:t>
            </a:r>
          </a:p>
        </p:txBody>
      </p:sp>
      <p:sp>
        <p:nvSpPr>
          <p:cNvPr id="92" name="MC_2_3">
            <a:extLst>
              <a:ext uri="{FF2B5EF4-FFF2-40B4-BE49-F238E27FC236}">
                <a16:creationId xmlns:a16="http://schemas.microsoft.com/office/drawing/2014/main" id="{F5269A11-96DF-C743-BEC0-D67CF9B639DA}"/>
              </a:ext>
            </a:extLst>
          </p:cNvPr>
          <p:cNvSpPr/>
          <p:nvPr/>
        </p:nvSpPr>
        <p:spPr>
          <a:xfrm>
            <a:off x="3733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MCL_2_3">
            <a:extLst>
              <a:ext uri="{FF2B5EF4-FFF2-40B4-BE49-F238E27FC236}">
                <a16:creationId xmlns:a16="http://schemas.microsoft.com/office/drawing/2014/main" id="{664EAE51-C8DF-1141-87DA-51580DD913D5}"/>
              </a:ext>
            </a:extLst>
          </p:cNvPr>
          <p:cNvSpPr txBox="1"/>
          <p:nvPr/>
        </p:nvSpPr>
        <p:spPr>
          <a:xfrm>
            <a:off x="3733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90</a:t>
            </a:r>
          </a:p>
        </p:txBody>
      </p:sp>
      <p:sp>
        <p:nvSpPr>
          <p:cNvPr id="94" name="MC_2_4">
            <a:extLst>
              <a:ext uri="{FF2B5EF4-FFF2-40B4-BE49-F238E27FC236}">
                <a16:creationId xmlns:a16="http://schemas.microsoft.com/office/drawing/2014/main" id="{DB1BD85A-B3FD-4747-A3DF-B2FDA8F6BB6D}"/>
              </a:ext>
            </a:extLst>
          </p:cNvPr>
          <p:cNvSpPr/>
          <p:nvPr/>
        </p:nvSpPr>
        <p:spPr>
          <a:xfrm>
            <a:off x="4622800" y="3022600"/>
            <a:ext cx="889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5" name="MCL_2_4">
            <a:extLst>
              <a:ext uri="{FF2B5EF4-FFF2-40B4-BE49-F238E27FC236}">
                <a16:creationId xmlns:a16="http://schemas.microsoft.com/office/drawing/2014/main" id="{388ADFCC-6DE8-BB47-ACF2-742495221DDD}"/>
              </a:ext>
            </a:extLst>
          </p:cNvPr>
          <p:cNvSpPr txBox="1"/>
          <p:nvPr/>
        </p:nvSpPr>
        <p:spPr>
          <a:xfrm>
            <a:off x="4622800" y="30226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94</a:t>
            </a:r>
          </a:p>
        </p:txBody>
      </p:sp>
      <p:sp>
        <p:nvSpPr>
          <p:cNvPr id="96" name="MC_3_0">
            <a:extLst>
              <a:ext uri="{FF2B5EF4-FFF2-40B4-BE49-F238E27FC236}">
                <a16:creationId xmlns:a16="http://schemas.microsoft.com/office/drawing/2014/main" id="{906F4811-6FC9-BE4A-8DB9-B19AC87625DE}"/>
              </a:ext>
            </a:extLst>
          </p:cNvPr>
          <p:cNvSpPr/>
          <p:nvPr/>
        </p:nvSpPr>
        <p:spPr>
          <a:xfrm>
            <a:off x="558800" y="3479800"/>
            <a:ext cx="1397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CL_3_0">
            <a:extLst>
              <a:ext uri="{FF2B5EF4-FFF2-40B4-BE49-F238E27FC236}">
                <a16:creationId xmlns:a16="http://schemas.microsoft.com/office/drawing/2014/main" id="{DFD2FF56-7021-9E44-83D6-81FD2500E4F6}"/>
              </a:ext>
            </a:extLst>
          </p:cNvPr>
          <p:cNvSpPr txBox="1"/>
          <p:nvPr/>
        </p:nvSpPr>
        <p:spPr>
          <a:xfrm>
            <a:off x="558800" y="34798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David</a:t>
            </a:r>
          </a:p>
        </p:txBody>
      </p:sp>
      <p:sp>
        <p:nvSpPr>
          <p:cNvPr id="98" name="MC_3_1">
            <a:extLst>
              <a:ext uri="{FF2B5EF4-FFF2-40B4-BE49-F238E27FC236}">
                <a16:creationId xmlns:a16="http://schemas.microsoft.com/office/drawing/2014/main" id="{4779A0A5-433E-5347-86B5-0BE749A9AB68}"/>
              </a:ext>
            </a:extLst>
          </p:cNvPr>
          <p:cNvSpPr/>
          <p:nvPr/>
        </p:nvSpPr>
        <p:spPr>
          <a:xfrm>
            <a:off x="1955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9" name="MCL_3_1">
            <a:extLst>
              <a:ext uri="{FF2B5EF4-FFF2-40B4-BE49-F238E27FC236}">
                <a16:creationId xmlns:a16="http://schemas.microsoft.com/office/drawing/2014/main" id="{0FE56E0D-9D55-5443-9600-D471FE840F2F}"/>
              </a:ext>
            </a:extLst>
          </p:cNvPr>
          <p:cNvSpPr txBox="1"/>
          <p:nvPr/>
        </p:nvSpPr>
        <p:spPr>
          <a:xfrm>
            <a:off x="1955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68</a:t>
            </a:r>
          </a:p>
        </p:txBody>
      </p:sp>
      <p:sp>
        <p:nvSpPr>
          <p:cNvPr id="100" name="MC_3_2">
            <a:extLst>
              <a:ext uri="{FF2B5EF4-FFF2-40B4-BE49-F238E27FC236}">
                <a16:creationId xmlns:a16="http://schemas.microsoft.com/office/drawing/2014/main" id="{0FBF0B9A-6085-FF49-91AA-55736FC24EBA}"/>
              </a:ext>
            </a:extLst>
          </p:cNvPr>
          <p:cNvSpPr/>
          <p:nvPr/>
        </p:nvSpPr>
        <p:spPr>
          <a:xfrm>
            <a:off x="2844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1" name="MCL_3_2">
            <a:extLst>
              <a:ext uri="{FF2B5EF4-FFF2-40B4-BE49-F238E27FC236}">
                <a16:creationId xmlns:a16="http://schemas.microsoft.com/office/drawing/2014/main" id="{03EC048D-2707-FD42-B53E-FC04E68BC683}"/>
              </a:ext>
            </a:extLst>
          </p:cNvPr>
          <p:cNvSpPr txBox="1"/>
          <p:nvPr/>
        </p:nvSpPr>
        <p:spPr>
          <a:xfrm>
            <a:off x="2844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74</a:t>
            </a:r>
          </a:p>
        </p:txBody>
      </p:sp>
      <p:sp>
        <p:nvSpPr>
          <p:cNvPr id="102" name="MC_3_3">
            <a:extLst>
              <a:ext uri="{FF2B5EF4-FFF2-40B4-BE49-F238E27FC236}">
                <a16:creationId xmlns:a16="http://schemas.microsoft.com/office/drawing/2014/main" id="{229561F7-4ADB-F348-9CD7-E9C6039DD99A}"/>
              </a:ext>
            </a:extLst>
          </p:cNvPr>
          <p:cNvSpPr/>
          <p:nvPr/>
        </p:nvSpPr>
        <p:spPr>
          <a:xfrm>
            <a:off x="3733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3" name="MCL_3_3">
            <a:extLst>
              <a:ext uri="{FF2B5EF4-FFF2-40B4-BE49-F238E27FC236}">
                <a16:creationId xmlns:a16="http://schemas.microsoft.com/office/drawing/2014/main" id="{4728675B-CA7A-3240-B539-03F22F073814}"/>
              </a:ext>
            </a:extLst>
          </p:cNvPr>
          <p:cNvSpPr txBox="1"/>
          <p:nvPr/>
        </p:nvSpPr>
        <p:spPr>
          <a:xfrm>
            <a:off x="3733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72</a:t>
            </a:r>
          </a:p>
        </p:txBody>
      </p:sp>
      <p:sp>
        <p:nvSpPr>
          <p:cNvPr id="104" name="MC_3_4">
            <a:extLst>
              <a:ext uri="{FF2B5EF4-FFF2-40B4-BE49-F238E27FC236}">
                <a16:creationId xmlns:a16="http://schemas.microsoft.com/office/drawing/2014/main" id="{8893EA0F-BB0A-0645-8DF9-2CA7AF5A99F3}"/>
              </a:ext>
            </a:extLst>
          </p:cNvPr>
          <p:cNvSpPr/>
          <p:nvPr/>
        </p:nvSpPr>
        <p:spPr>
          <a:xfrm>
            <a:off x="4622800" y="3479800"/>
            <a:ext cx="889000" cy="4572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MCL_3_4">
            <a:extLst>
              <a:ext uri="{FF2B5EF4-FFF2-40B4-BE49-F238E27FC236}">
                <a16:creationId xmlns:a16="http://schemas.microsoft.com/office/drawing/2014/main" id="{EC8B3057-1997-AD45-B818-99EB7F336BFD}"/>
              </a:ext>
            </a:extLst>
          </p:cNvPr>
          <p:cNvSpPr txBox="1"/>
          <p:nvPr/>
        </p:nvSpPr>
        <p:spPr>
          <a:xfrm>
            <a:off x="4622800" y="3479800"/>
            <a:ext cx="889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libri"/>
                <a:cs typeface="Calibri"/>
              </a:rPr>
              <a:t>80</a:t>
            </a:r>
          </a:p>
        </p:txBody>
      </p:sp>
      <p:sp>
        <p:nvSpPr>
          <p:cNvPr id="106" name="LCap">
            <a:extLst>
              <a:ext uri="{FF2B5EF4-FFF2-40B4-BE49-F238E27FC236}">
                <a16:creationId xmlns:a16="http://schemas.microsoft.com/office/drawing/2014/main" id="{166B5DE5-0018-E84C-A8D8-8A3D133DC791}"/>
              </a:ext>
            </a:extLst>
          </p:cNvPr>
          <p:cNvSpPr txBox="1"/>
          <p:nvPr/>
        </p:nvSpPr>
        <p:spPr>
          <a:xfrm>
            <a:off x="558800" y="4038600"/>
            <a:ext cx="523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4 students × 4 subjects = 16 numbers</a:t>
            </a:r>
          </a:p>
        </p:txBody>
      </p:sp>
      <p:sp>
        <p:nvSpPr>
          <p:cNvPr id="107" name="EncArrow">
            <a:extLst>
              <a:ext uri="{FF2B5EF4-FFF2-40B4-BE49-F238E27FC236}">
                <a16:creationId xmlns:a16="http://schemas.microsoft.com/office/drawing/2014/main" id="{651FA2A3-9C5F-2745-BE28-A2E7A238F229}"/>
              </a:ext>
            </a:extLst>
          </p:cNvPr>
          <p:cNvSpPr/>
          <p:nvPr/>
        </p:nvSpPr>
        <p:spPr>
          <a:xfrm>
            <a:off x="6070600" y="2984500"/>
            <a:ext cx="698500" cy="6350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8" name="EncLbl">
            <a:extLst>
              <a:ext uri="{FF2B5EF4-FFF2-40B4-BE49-F238E27FC236}">
                <a16:creationId xmlns:a16="http://schemas.microsoft.com/office/drawing/2014/main" id="{379C81B1-56DC-2E42-B5D9-93B626E5EE32}"/>
              </a:ext>
            </a:extLst>
          </p:cNvPr>
          <p:cNvSpPr txBox="1"/>
          <p:nvPr/>
        </p:nvSpPr>
        <p:spPr>
          <a:xfrm>
            <a:off x="6070600" y="3683000"/>
            <a:ext cx="698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109" name="RBox">
            <a:extLst>
              <a:ext uri="{FF2B5EF4-FFF2-40B4-BE49-F238E27FC236}">
                <a16:creationId xmlns:a16="http://schemas.microsoft.com/office/drawing/2014/main" id="{4B2AC2F6-18E2-784A-A8BF-44896155E28F}"/>
              </a:ext>
            </a:extLst>
          </p:cNvPr>
          <p:cNvSpPr/>
          <p:nvPr/>
        </p:nvSpPr>
        <p:spPr>
          <a:xfrm>
            <a:off x="6921500" y="1270000"/>
            <a:ext cx="49784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0" name="RHdr">
            <a:extLst>
              <a:ext uri="{FF2B5EF4-FFF2-40B4-BE49-F238E27FC236}">
                <a16:creationId xmlns:a16="http://schemas.microsoft.com/office/drawing/2014/main" id="{10F7603D-5F0C-8047-A49B-3CA90672FFC3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111" name="SEq">
            <a:extLst>
              <a:ext uri="{FF2B5EF4-FFF2-40B4-BE49-F238E27FC236}">
                <a16:creationId xmlns:a16="http://schemas.microsoft.com/office/drawing/2014/main" id="{F13E921B-1AF6-0942-B706-162A70B6BC75}"/>
              </a:ext>
            </a:extLst>
          </p:cNvPr>
          <p:cNvSpPr txBox="1"/>
          <p:nvPr/>
        </p:nvSpPr>
        <p:spPr>
          <a:xfrm>
            <a:off x="7150100" y="2667000"/>
            <a:ext cx="863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3600" b="1" i="1">
                <a:solidFill>
                  <a:srgbClr val="4B2E83"/>
                </a:solidFill>
                <a:latin typeface="Cambria Math"/>
                <a:ea typeface="Cambria Math"/>
              </a:rPr>
              <a:t>S =</a:t>
            </a:r>
          </a:p>
        </p:txBody>
      </p:sp>
      <p:sp>
        <p:nvSpPr>
          <p:cNvPr id="112" name="BrL">
            <a:extLst>
              <a:ext uri="{FF2B5EF4-FFF2-40B4-BE49-F238E27FC236}">
                <a16:creationId xmlns:a16="http://schemas.microsoft.com/office/drawing/2014/main" id="{6DFACD56-F2E2-B742-8752-B4123698A8E0}"/>
              </a:ext>
            </a:extLst>
          </p:cNvPr>
          <p:cNvSpPr/>
          <p:nvPr/>
        </p:nvSpPr>
        <p:spPr>
          <a:xfrm>
            <a:off x="8128000" y="2032000"/>
            <a:ext cx="228600" cy="2667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3" name="BrR">
            <a:extLst>
              <a:ext uri="{FF2B5EF4-FFF2-40B4-BE49-F238E27FC236}">
                <a16:creationId xmlns:a16="http://schemas.microsoft.com/office/drawing/2014/main" id="{BBF89AD9-F90A-1647-9BE8-6CF7A96E814F}"/>
              </a:ext>
            </a:extLst>
          </p:cNvPr>
          <p:cNvSpPr/>
          <p:nvPr/>
        </p:nvSpPr>
        <p:spPr>
          <a:xfrm>
            <a:off x="11544300" y="2032000"/>
            <a:ext cx="228600" cy="2667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4" name="ME_0_0">
            <a:extLst>
              <a:ext uri="{FF2B5EF4-FFF2-40B4-BE49-F238E27FC236}">
                <a16:creationId xmlns:a16="http://schemas.microsoft.com/office/drawing/2014/main" id="{730AF2D2-0B44-4346-A345-19412B03AF7C}"/>
              </a:ext>
            </a:extLst>
          </p:cNvPr>
          <p:cNvSpPr txBox="1"/>
          <p:nvPr/>
        </p:nvSpPr>
        <p:spPr>
          <a:xfrm>
            <a:off x="8407400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85</a:t>
            </a:r>
          </a:p>
        </p:txBody>
      </p:sp>
      <p:sp>
        <p:nvSpPr>
          <p:cNvPr id="115" name="ME_0_1">
            <a:extLst>
              <a:ext uri="{FF2B5EF4-FFF2-40B4-BE49-F238E27FC236}">
                <a16:creationId xmlns:a16="http://schemas.microsoft.com/office/drawing/2014/main" id="{A968204B-8599-0D44-AEC3-B340A87CC262}"/>
              </a:ext>
            </a:extLst>
          </p:cNvPr>
          <p:cNvSpPr txBox="1"/>
          <p:nvPr/>
        </p:nvSpPr>
        <p:spPr>
          <a:xfrm>
            <a:off x="9191625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92</a:t>
            </a:r>
          </a:p>
        </p:txBody>
      </p:sp>
      <p:sp>
        <p:nvSpPr>
          <p:cNvPr id="116" name="ME_0_2">
            <a:extLst>
              <a:ext uri="{FF2B5EF4-FFF2-40B4-BE49-F238E27FC236}">
                <a16:creationId xmlns:a16="http://schemas.microsoft.com/office/drawing/2014/main" id="{90A4AD50-C728-D14C-BB43-8D53BF805870}"/>
              </a:ext>
            </a:extLst>
          </p:cNvPr>
          <p:cNvSpPr txBox="1"/>
          <p:nvPr/>
        </p:nvSpPr>
        <p:spPr>
          <a:xfrm>
            <a:off x="9975850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78</a:t>
            </a:r>
          </a:p>
        </p:txBody>
      </p:sp>
      <p:sp>
        <p:nvSpPr>
          <p:cNvPr id="117" name="ME_0_3">
            <a:extLst>
              <a:ext uri="{FF2B5EF4-FFF2-40B4-BE49-F238E27FC236}">
                <a16:creationId xmlns:a16="http://schemas.microsoft.com/office/drawing/2014/main" id="{B9AA1EC1-3D85-D144-874D-0CB8B077A647}"/>
              </a:ext>
            </a:extLst>
          </p:cNvPr>
          <p:cNvSpPr txBox="1"/>
          <p:nvPr/>
        </p:nvSpPr>
        <p:spPr>
          <a:xfrm>
            <a:off x="10760075" y="226060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88</a:t>
            </a:r>
          </a:p>
        </p:txBody>
      </p:sp>
      <p:sp>
        <p:nvSpPr>
          <p:cNvPr id="118" name="ME_1_0">
            <a:extLst>
              <a:ext uri="{FF2B5EF4-FFF2-40B4-BE49-F238E27FC236}">
                <a16:creationId xmlns:a16="http://schemas.microsoft.com/office/drawing/2014/main" id="{74E53186-966C-2349-8E58-5ED2C9048A1F}"/>
              </a:ext>
            </a:extLst>
          </p:cNvPr>
          <p:cNvSpPr txBox="1"/>
          <p:nvPr/>
        </p:nvSpPr>
        <p:spPr>
          <a:xfrm>
            <a:off x="8407400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76</a:t>
            </a:r>
          </a:p>
        </p:txBody>
      </p:sp>
      <p:sp>
        <p:nvSpPr>
          <p:cNvPr id="119" name="ME_1_1">
            <a:extLst>
              <a:ext uri="{FF2B5EF4-FFF2-40B4-BE49-F238E27FC236}">
                <a16:creationId xmlns:a16="http://schemas.microsoft.com/office/drawing/2014/main" id="{9E9673BA-0AFB-E54A-9ECF-C9D630E2E40E}"/>
              </a:ext>
            </a:extLst>
          </p:cNvPr>
          <p:cNvSpPr txBox="1"/>
          <p:nvPr/>
        </p:nvSpPr>
        <p:spPr>
          <a:xfrm>
            <a:off x="9191625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81</a:t>
            </a:r>
          </a:p>
        </p:txBody>
      </p:sp>
      <p:sp>
        <p:nvSpPr>
          <p:cNvPr id="120" name="ME_1_2">
            <a:extLst>
              <a:ext uri="{FF2B5EF4-FFF2-40B4-BE49-F238E27FC236}">
                <a16:creationId xmlns:a16="http://schemas.microsoft.com/office/drawing/2014/main" id="{598BB2C2-0835-5842-83C1-2C7DF52D5D8D}"/>
              </a:ext>
            </a:extLst>
          </p:cNvPr>
          <p:cNvSpPr txBox="1"/>
          <p:nvPr/>
        </p:nvSpPr>
        <p:spPr>
          <a:xfrm>
            <a:off x="9975850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85</a:t>
            </a:r>
          </a:p>
        </p:txBody>
      </p:sp>
      <p:sp>
        <p:nvSpPr>
          <p:cNvPr id="121" name="ME_1_3">
            <a:extLst>
              <a:ext uri="{FF2B5EF4-FFF2-40B4-BE49-F238E27FC236}">
                <a16:creationId xmlns:a16="http://schemas.microsoft.com/office/drawing/2014/main" id="{ED795ACF-512B-1043-9CC2-E89063853FA5}"/>
              </a:ext>
            </a:extLst>
          </p:cNvPr>
          <p:cNvSpPr txBox="1"/>
          <p:nvPr/>
        </p:nvSpPr>
        <p:spPr>
          <a:xfrm>
            <a:off x="10760075" y="2924463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70</a:t>
            </a:r>
          </a:p>
        </p:txBody>
      </p:sp>
      <p:sp>
        <p:nvSpPr>
          <p:cNvPr id="122" name="ME_2_0">
            <a:extLst>
              <a:ext uri="{FF2B5EF4-FFF2-40B4-BE49-F238E27FC236}">
                <a16:creationId xmlns:a16="http://schemas.microsoft.com/office/drawing/2014/main" id="{5F7E8BE0-ECF1-834D-B076-4CD71CE2902C}"/>
              </a:ext>
            </a:extLst>
          </p:cNvPr>
          <p:cNvSpPr txBox="1"/>
          <p:nvPr/>
        </p:nvSpPr>
        <p:spPr>
          <a:xfrm>
            <a:off x="8407400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92</a:t>
            </a:r>
          </a:p>
        </p:txBody>
      </p:sp>
      <p:sp>
        <p:nvSpPr>
          <p:cNvPr id="123" name="ME_2_1">
            <a:extLst>
              <a:ext uri="{FF2B5EF4-FFF2-40B4-BE49-F238E27FC236}">
                <a16:creationId xmlns:a16="http://schemas.microsoft.com/office/drawing/2014/main" id="{A5EEFD21-6F34-CE43-BC0F-113E8D38707C}"/>
              </a:ext>
            </a:extLst>
          </p:cNvPr>
          <p:cNvSpPr txBox="1"/>
          <p:nvPr/>
        </p:nvSpPr>
        <p:spPr>
          <a:xfrm>
            <a:off x="9191625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88</a:t>
            </a:r>
          </a:p>
        </p:txBody>
      </p:sp>
      <p:sp>
        <p:nvSpPr>
          <p:cNvPr id="124" name="ME_2_2">
            <a:extLst>
              <a:ext uri="{FF2B5EF4-FFF2-40B4-BE49-F238E27FC236}">
                <a16:creationId xmlns:a16="http://schemas.microsoft.com/office/drawing/2014/main" id="{6896215B-C03F-744C-892C-89F0346DDC2E}"/>
              </a:ext>
            </a:extLst>
          </p:cNvPr>
          <p:cNvSpPr txBox="1"/>
          <p:nvPr/>
        </p:nvSpPr>
        <p:spPr>
          <a:xfrm>
            <a:off x="9975850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90</a:t>
            </a:r>
          </a:p>
        </p:txBody>
      </p:sp>
      <p:sp>
        <p:nvSpPr>
          <p:cNvPr id="125" name="ME_2_3">
            <a:extLst>
              <a:ext uri="{FF2B5EF4-FFF2-40B4-BE49-F238E27FC236}">
                <a16:creationId xmlns:a16="http://schemas.microsoft.com/office/drawing/2014/main" id="{1A23386D-C56B-264A-943C-40DEC87C4ADD}"/>
              </a:ext>
            </a:extLst>
          </p:cNvPr>
          <p:cNvSpPr txBox="1"/>
          <p:nvPr/>
        </p:nvSpPr>
        <p:spPr>
          <a:xfrm>
            <a:off x="10760075" y="3588327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94</a:t>
            </a:r>
          </a:p>
        </p:txBody>
      </p:sp>
      <p:sp>
        <p:nvSpPr>
          <p:cNvPr id="126" name="ME_3_0">
            <a:extLst>
              <a:ext uri="{FF2B5EF4-FFF2-40B4-BE49-F238E27FC236}">
                <a16:creationId xmlns:a16="http://schemas.microsoft.com/office/drawing/2014/main" id="{5191536F-4503-BA4A-953E-89930E4BFB64}"/>
              </a:ext>
            </a:extLst>
          </p:cNvPr>
          <p:cNvSpPr txBox="1"/>
          <p:nvPr/>
        </p:nvSpPr>
        <p:spPr>
          <a:xfrm>
            <a:off x="8407400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68</a:t>
            </a:r>
          </a:p>
        </p:txBody>
      </p:sp>
      <p:sp>
        <p:nvSpPr>
          <p:cNvPr id="127" name="ME_3_1">
            <a:extLst>
              <a:ext uri="{FF2B5EF4-FFF2-40B4-BE49-F238E27FC236}">
                <a16:creationId xmlns:a16="http://schemas.microsoft.com/office/drawing/2014/main" id="{D9E3B7D3-36C4-0C45-B796-11AFC128E283}"/>
              </a:ext>
            </a:extLst>
          </p:cNvPr>
          <p:cNvSpPr txBox="1"/>
          <p:nvPr/>
        </p:nvSpPr>
        <p:spPr>
          <a:xfrm>
            <a:off x="9191625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74</a:t>
            </a:r>
          </a:p>
        </p:txBody>
      </p:sp>
      <p:sp>
        <p:nvSpPr>
          <p:cNvPr id="128" name="ME_3_2">
            <a:extLst>
              <a:ext uri="{FF2B5EF4-FFF2-40B4-BE49-F238E27FC236}">
                <a16:creationId xmlns:a16="http://schemas.microsoft.com/office/drawing/2014/main" id="{DAEA94AF-D1B0-3748-BFFC-A346BC5AEA8A}"/>
              </a:ext>
            </a:extLst>
          </p:cNvPr>
          <p:cNvSpPr txBox="1"/>
          <p:nvPr/>
        </p:nvSpPr>
        <p:spPr>
          <a:xfrm>
            <a:off x="9975850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72</a:t>
            </a:r>
          </a:p>
        </p:txBody>
      </p:sp>
      <p:sp>
        <p:nvSpPr>
          <p:cNvPr id="129" name="ME_3_3">
            <a:extLst>
              <a:ext uri="{FF2B5EF4-FFF2-40B4-BE49-F238E27FC236}">
                <a16:creationId xmlns:a16="http://schemas.microsoft.com/office/drawing/2014/main" id="{D43956B0-CCED-304B-B14C-EB9A0BA531A0}"/>
              </a:ext>
            </a:extLst>
          </p:cNvPr>
          <p:cNvSpPr txBox="1"/>
          <p:nvPr/>
        </p:nvSpPr>
        <p:spPr>
          <a:xfrm>
            <a:off x="10760075" y="4252190"/>
            <a:ext cx="784225" cy="66386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80</a:t>
            </a:r>
          </a:p>
        </p:txBody>
      </p:sp>
      <p:sp>
        <p:nvSpPr>
          <p:cNvPr id="130" name="DimCap">
            <a:extLst>
              <a:ext uri="{FF2B5EF4-FFF2-40B4-BE49-F238E27FC236}">
                <a16:creationId xmlns:a16="http://schemas.microsoft.com/office/drawing/2014/main" id="{EE924246-DEB0-BD48-BFE1-C5CA7BAE6284}"/>
              </a:ext>
            </a:extLst>
          </p:cNvPr>
          <p:cNvSpPr txBox="1"/>
          <p:nvPr/>
        </p:nvSpPr>
        <p:spPr>
          <a:xfrm>
            <a:off x="7099300" y="4851400"/>
            <a:ext cx="4622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 i="1">
                <a:solidFill>
                  <a:srgbClr val="00A7B5"/>
                </a:solidFill>
                <a:latin typeface="Cambria Math"/>
                <a:ea typeface="Cambria Math"/>
              </a:rPr>
              <a:t>S ∈ ℝ⁴ˣ⁴   dim(S) = 4 × 4   (rows × cols)</a:t>
            </a:r>
          </a:p>
        </p:txBody>
      </p:sp>
      <p:sp>
        <p:nvSpPr>
          <p:cNvPr id="131" name="TkBar">
            <a:extLst>
              <a:ext uri="{FF2B5EF4-FFF2-40B4-BE49-F238E27FC236}">
                <a16:creationId xmlns:a16="http://schemas.microsoft.com/office/drawing/2014/main" id="{F1DFC84D-80C5-034B-818D-F26D2307583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2" name="TkText">
            <a:extLst>
              <a:ext uri="{FF2B5EF4-FFF2-40B4-BE49-F238E27FC236}">
                <a16:creationId xmlns:a16="http://schemas.microsoft.com/office/drawing/2014/main" id="{C1163522-55C0-D943-8B9B-0973CBF4CF72}"/>
              </a:ext>
            </a:extLst>
          </p:cNvPr>
          <p:cNvSpPr txBox="1"/>
          <p:nvPr/>
        </p:nvSpPr>
        <p:spPr>
          <a:xfrm>
            <a:off x="508000" y="5969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A matrix stacks vectors: each row is one student's profile, each column is one subject across the class.</a:t>
            </a:r>
          </a:p>
        </p:txBody>
      </p:sp>
    </p:spTree>
    <p:extLst>
      <p:ext uri="{BB962C8B-B14F-4D97-AF65-F5344CB8AC3E}">
        <p14:creationId xmlns:p14="http://schemas.microsoft.com/office/powerpoint/2010/main" val="23614451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3: a term-document matrix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Each row = one word. Each column = one document. Each cell = how often the word appears.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Corpus: 3 short documents</a:t>
            </a:r>
          </a:p>
        </p:txBody>
      </p:sp>
      <p:sp>
        <p:nvSpPr>
          <p:cNvPr id="25" name="DocBox">
            <a:extLst>
              <a:ext uri="{FF2B5EF4-FFF2-40B4-BE49-F238E27FC236}">
                <a16:creationId xmlns:a16="http://schemas.microsoft.com/office/drawing/2014/main" id="{4342DF31-CED6-0740-AEC5-FEB5F73844AB}"/>
              </a:ext>
            </a:extLst>
          </p:cNvPr>
          <p:cNvSpPr/>
          <p:nvPr/>
        </p:nvSpPr>
        <p:spPr>
          <a:xfrm>
            <a:off x="558800" y="17272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DocId">
            <a:extLst>
              <a:ext uri="{FF2B5EF4-FFF2-40B4-BE49-F238E27FC236}">
                <a16:creationId xmlns:a16="http://schemas.microsoft.com/office/drawing/2014/main" id="{082C06C7-798A-F447-B6C0-C5C5193F13DA}"/>
              </a:ext>
            </a:extLst>
          </p:cNvPr>
          <p:cNvSpPr txBox="1"/>
          <p:nvPr/>
        </p:nvSpPr>
        <p:spPr>
          <a:xfrm>
            <a:off x="660400" y="18288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27" name="DocTxt">
            <a:extLst>
              <a:ext uri="{FF2B5EF4-FFF2-40B4-BE49-F238E27FC236}">
                <a16:creationId xmlns:a16="http://schemas.microsoft.com/office/drawing/2014/main" id="{43A54500-D6C4-A849-A3F7-CB9291762237}"/>
              </a:ext>
            </a:extLst>
          </p:cNvPr>
          <p:cNvSpPr txBox="1"/>
          <p:nvPr/>
        </p:nvSpPr>
        <p:spPr>
          <a:xfrm>
            <a:off x="1143000" y="18288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"cat sat mat"</a:t>
            </a:r>
          </a:p>
        </p:txBody>
      </p:sp>
      <p:sp>
        <p:nvSpPr>
          <p:cNvPr id="37" name="DocBox">
            <a:extLst>
              <a:ext uri="{FF2B5EF4-FFF2-40B4-BE49-F238E27FC236}">
                <a16:creationId xmlns:a16="http://schemas.microsoft.com/office/drawing/2014/main" id="{C17BD9CF-8E57-A04D-B8D6-0D11CB050004}"/>
              </a:ext>
            </a:extLst>
          </p:cNvPr>
          <p:cNvSpPr/>
          <p:nvPr/>
        </p:nvSpPr>
        <p:spPr>
          <a:xfrm>
            <a:off x="558800" y="22606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DocId">
            <a:extLst>
              <a:ext uri="{FF2B5EF4-FFF2-40B4-BE49-F238E27FC236}">
                <a16:creationId xmlns:a16="http://schemas.microsoft.com/office/drawing/2014/main" id="{4F8BD640-D4AD-2F47-ACA3-1B4605C12EFF}"/>
              </a:ext>
            </a:extLst>
          </p:cNvPr>
          <p:cNvSpPr txBox="1"/>
          <p:nvPr/>
        </p:nvSpPr>
        <p:spPr>
          <a:xfrm>
            <a:off x="660400" y="2362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39" name="DocTxt">
            <a:extLst>
              <a:ext uri="{FF2B5EF4-FFF2-40B4-BE49-F238E27FC236}">
                <a16:creationId xmlns:a16="http://schemas.microsoft.com/office/drawing/2014/main" id="{C469C8C1-0C4A-664D-9500-12C8DB6F196A}"/>
              </a:ext>
            </a:extLst>
          </p:cNvPr>
          <p:cNvSpPr txBox="1"/>
          <p:nvPr/>
        </p:nvSpPr>
        <p:spPr>
          <a:xfrm>
            <a:off x="1143000" y="23622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"dog ran fast cat"</a:t>
            </a:r>
          </a:p>
        </p:txBody>
      </p:sp>
      <p:sp>
        <p:nvSpPr>
          <p:cNvPr id="40" name="DocBox">
            <a:extLst>
              <a:ext uri="{FF2B5EF4-FFF2-40B4-BE49-F238E27FC236}">
                <a16:creationId xmlns:a16="http://schemas.microsoft.com/office/drawing/2014/main" id="{7FC9D4AE-6727-E949-BB19-E54ACDFE46D3}"/>
              </a:ext>
            </a:extLst>
          </p:cNvPr>
          <p:cNvSpPr/>
          <p:nvPr/>
        </p:nvSpPr>
        <p:spPr>
          <a:xfrm>
            <a:off x="558800" y="2794000"/>
            <a:ext cx="48514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DocId">
            <a:extLst>
              <a:ext uri="{FF2B5EF4-FFF2-40B4-BE49-F238E27FC236}">
                <a16:creationId xmlns:a16="http://schemas.microsoft.com/office/drawing/2014/main" id="{2213798B-3586-D049-8E04-CD8B518D7B1C}"/>
              </a:ext>
            </a:extLst>
          </p:cNvPr>
          <p:cNvSpPr txBox="1"/>
          <p:nvPr/>
        </p:nvSpPr>
        <p:spPr>
          <a:xfrm>
            <a:off x="660400" y="28956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42" name="DocTxt">
            <a:extLst>
              <a:ext uri="{FF2B5EF4-FFF2-40B4-BE49-F238E27FC236}">
                <a16:creationId xmlns:a16="http://schemas.microsoft.com/office/drawing/2014/main" id="{074A539B-946C-6243-A5E9-2192A685D50D}"/>
              </a:ext>
            </a:extLst>
          </p:cNvPr>
          <p:cNvSpPr txBox="1"/>
          <p:nvPr/>
        </p:nvSpPr>
        <p:spPr>
          <a:xfrm>
            <a:off x="1143000" y="28956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"cat dog sat"</a:t>
            </a:r>
          </a:p>
        </p:txBody>
      </p:sp>
      <p:sp>
        <p:nvSpPr>
          <p:cNvPr id="43" name="HdrWord">
            <a:extLst>
              <a:ext uri="{FF2B5EF4-FFF2-40B4-BE49-F238E27FC236}">
                <a16:creationId xmlns:a16="http://schemas.microsoft.com/office/drawing/2014/main" id="{C4CAC0DF-4885-2849-898E-3BDF1F1D4026}"/>
              </a:ext>
            </a:extLst>
          </p:cNvPr>
          <p:cNvSpPr txBox="1"/>
          <p:nvPr/>
        </p:nvSpPr>
        <p:spPr>
          <a:xfrm>
            <a:off x="558800" y="345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libri"/>
                <a:cs typeface="Calibri"/>
              </a:rPr>
              <a:t>word</a:t>
            </a:r>
          </a:p>
        </p:txBody>
      </p:sp>
      <p:sp>
        <p:nvSpPr>
          <p:cNvPr id="44" name="HdrDoc">
            <a:extLst>
              <a:ext uri="{FF2B5EF4-FFF2-40B4-BE49-F238E27FC236}">
                <a16:creationId xmlns:a16="http://schemas.microsoft.com/office/drawing/2014/main" id="{563CCE0B-D929-A14D-9DEB-1FCB3F063ABD}"/>
              </a:ext>
            </a:extLst>
          </p:cNvPr>
          <p:cNvSpPr txBox="1"/>
          <p:nvPr/>
        </p:nvSpPr>
        <p:spPr>
          <a:xfrm>
            <a:off x="1574800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45" name="HdrDoc">
            <a:extLst>
              <a:ext uri="{FF2B5EF4-FFF2-40B4-BE49-F238E27FC236}">
                <a16:creationId xmlns:a16="http://schemas.microsoft.com/office/drawing/2014/main" id="{058A3122-0082-F54E-8698-07F5BF115B84}"/>
              </a:ext>
            </a:extLst>
          </p:cNvPr>
          <p:cNvSpPr txBox="1"/>
          <p:nvPr/>
        </p:nvSpPr>
        <p:spPr>
          <a:xfrm>
            <a:off x="2853266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46" name="HdrDoc">
            <a:extLst>
              <a:ext uri="{FF2B5EF4-FFF2-40B4-BE49-F238E27FC236}">
                <a16:creationId xmlns:a16="http://schemas.microsoft.com/office/drawing/2014/main" id="{A4E0D0B0-6180-C348-A9CB-B08244D0288A}"/>
              </a:ext>
            </a:extLst>
          </p:cNvPr>
          <p:cNvSpPr txBox="1"/>
          <p:nvPr/>
        </p:nvSpPr>
        <p:spPr>
          <a:xfrm>
            <a:off x="4131733" y="3454400"/>
            <a:ext cx="12784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47" name="WordLbl">
            <a:extLst>
              <a:ext uri="{FF2B5EF4-FFF2-40B4-BE49-F238E27FC236}">
                <a16:creationId xmlns:a16="http://schemas.microsoft.com/office/drawing/2014/main" id="{16F8F940-6EBF-904F-853A-78E874D1AD04}"/>
              </a:ext>
            </a:extLst>
          </p:cNvPr>
          <p:cNvSpPr txBox="1"/>
          <p:nvPr/>
        </p:nvSpPr>
        <p:spPr>
          <a:xfrm>
            <a:off x="558800" y="3733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cat</a:t>
            </a:r>
          </a:p>
        </p:txBody>
      </p:sp>
      <p:sp>
        <p:nvSpPr>
          <p:cNvPr id="48" name="CntCell">
            <a:extLst>
              <a:ext uri="{FF2B5EF4-FFF2-40B4-BE49-F238E27FC236}">
                <a16:creationId xmlns:a16="http://schemas.microsoft.com/office/drawing/2014/main" id="{598845F4-2BB4-0A41-8289-544148396550}"/>
              </a:ext>
            </a:extLst>
          </p:cNvPr>
          <p:cNvSpPr txBox="1"/>
          <p:nvPr/>
        </p:nvSpPr>
        <p:spPr>
          <a:xfrm>
            <a:off x="1574800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9" name="CntCell">
            <a:extLst>
              <a:ext uri="{FF2B5EF4-FFF2-40B4-BE49-F238E27FC236}">
                <a16:creationId xmlns:a16="http://schemas.microsoft.com/office/drawing/2014/main" id="{7D4565C2-0C8C-AA4F-AB66-0DFB145EEF84}"/>
              </a:ext>
            </a:extLst>
          </p:cNvPr>
          <p:cNvSpPr txBox="1"/>
          <p:nvPr/>
        </p:nvSpPr>
        <p:spPr>
          <a:xfrm>
            <a:off x="2853266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0" name="CntCell">
            <a:extLst>
              <a:ext uri="{FF2B5EF4-FFF2-40B4-BE49-F238E27FC236}">
                <a16:creationId xmlns:a16="http://schemas.microsoft.com/office/drawing/2014/main" id="{9E8DD1FC-8DB5-D04C-B758-BCF73561115E}"/>
              </a:ext>
            </a:extLst>
          </p:cNvPr>
          <p:cNvSpPr txBox="1"/>
          <p:nvPr/>
        </p:nvSpPr>
        <p:spPr>
          <a:xfrm>
            <a:off x="4131733" y="3733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1" name="WordLbl">
            <a:extLst>
              <a:ext uri="{FF2B5EF4-FFF2-40B4-BE49-F238E27FC236}">
                <a16:creationId xmlns:a16="http://schemas.microsoft.com/office/drawing/2014/main" id="{A17C3288-EAC1-344F-A486-87416B21B98A}"/>
              </a:ext>
            </a:extLst>
          </p:cNvPr>
          <p:cNvSpPr txBox="1"/>
          <p:nvPr/>
        </p:nvSpPr>
        <p:spPr>
          <a:xfrm>
            <a:off x="558800" y="3937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dog</a:t>
            </a:r>
          </a:p>
        </p:txBody>
      </p:sp>
      <p:sp>
        <p:nvSpPr>
          <p:cNvPr id="52" name="CntCell">
            <a:extLst>
              <a:ext uri="{FF2B5EF4-FFF2-40B4-BE49-F238E27FC236}">
                <a16:creationId xmlns:a16="http://schemas.microsoft.com/office/drawing/2014/main" id="{48C003B6-8B26-7340-ADA7-3FC64BFDF03D}"/>
              </a:ext>
            </a:extLst>
          </p:cNvPr>
          <p:cNvSpPr txBox="1"/>
          <p:nvPr/>
        </p:nvSpPr>
        <p:spPr>
          <a:xfrm>
            <a:off x="1574800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53" name="CntCell">
            <a:extLst>
              <a:ext uri="{FF2B5EF4-FFF2-40B4-BE49-F238E27FC236}">
                <a16:creationId xmlns:a16="http://schemas.microsoft.com/office/drawing/2014/main" id="{D343A877-5355-544D-BB0E-DA47D0EED626}"/>
              </a:ext>
            </a:extLst>
          </p:cNvPr>
          <p:cNvSpPr txBox="1"/>
          <p:nvPr/>
        </p:nvSpPr>
        <p:spPr>
          <a:xfrm>
            <a:off x="2853266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4" name="CntCell">
            <a:extLst>
              <a:ext uri="{FF2B5EF4-FFF2-40B4-BE49-F238E27FC236}">
                <a16:creationId xmlns:a16="http://schemas.microsoft.com/office/drawing/2014/main" id="{712A9647-943D-8C4E-9ABA-E81BE4EE72B3}"/>
              </a:ext>
            </a:extLst>
          </p:cNvPr>
          <p:cNvSpPr txBox="1"/>
          <p:nvPr/>
        </p:nvSpPr>
        <p:spPr>
          <a:xfrm>
            <a:off x="4131733" y="39370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5" name="WordLbl">
            <a:extLst>
              <a:ext uri="{FF2B5EF4-FFF2-40B4-BE49-F238E27FC236}">
                <a16:creationId xmlns:a16="http://schemas.microsoft.com/office/drawing/2014/main" id="{056FA463-195D-CF45-972D-73C264B6E2AC}"/>
              </a:ext>
            </a:extLst>
          </p:cNvPr>
          <p:cNvSpPr txBox="1"/>
          <p:nvPr/>
        </p:nvSpPr>
        <p:spPr>
          <a:xfrm>
            <a:off x="558800" y="41402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sat</a:t>
            </a:r>
          </a:p>
        </p:txBody>
      </p:sp>
      <p:sp>
        <p:nvSpPr>
          <p:cNvPr id="56" name="CntCell">
            <a:extLst>
              <a:ext uri="{FF2B5EF4-FFF2-40B4-BE49-F238E27FC236}">
                <a16:creationId xmlns:a16="http://schemas.microsoft.com/office/drawing/2014/main" id="{76347049-E45B-DA4D-A0C9-0D265E80F859}"/>
              </a:ext>
            </a:extLst>
          </p:cNvPr>
          <p:cNvSpPr txBox="1"/>
          <p:nvPr/>
        </p:nvSpPr>
        <p:spPr>
          <a:xfrm>
            <a:off x="1574800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7" name="CntCell">
            <a:extLst>
              <a:ext uri="{FF2B5EF4-FFF2-40B4-BE49-F238E27FC236}">
                <a16:creationId xmlns:a16="http://schemas.microsoft.com/office/drawing/2014/main" id="{FE23C10E-B69B-5140-891D-5EEA8AA6EF4D}"/>
              </a:ext>
            </a:extLst>
          </p:cNvPr>
          <p:cNvSpPr txBox="1"/>
          <p:nvPr/>
        </p:nvSpPr>
        <p:spPr>
          <a:xfrm>
            <a:off x="2853266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58" name="CntCell">
            <a:extLst>
              <a:ext uri="{FF2B5EF4-FFF2-40B4-BE49-F238E27FC236}">
                <a16:creationId xmlns:a16="http://schemas.microsoft.com/office/drawing/2014/main" id="{E7ACBB96-850E-F148-ACD7-F334EBE0246B}"/>
              </a:ext>
            </a:extLst>
          </p:cNvPr>
          <p:cNvSpPr txBox="1"/>
          <p:nvPr/>
        </p:nvSpPr>
        <p:spPr>
          <a:xfrm>
            <a:off x="4131733" y="41402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1" name="WordLbl">
            <a:extLst>
              <a:ext uri="{FF2B5EF4-FFF2-40B4-BE49-F238E27FC236}">
                <a16:creationId xmlns:a16="http://schemas.microsoft.com/office/drawing/2014/main" id="{CF99966A-9C15-4A45-91AE-DE26F8A37DD2}"/>
              </a:ext>
            </a:extLst>
          </p:cNvPr>
          <p:cNvSpPr txBox="1"/>
          <p:nvPr/>
        </p:nvSpPr>
        <p:spPr>
          <a:xfrm>
            <a:off x="558800" y="4343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mat</a:t>
            </a:r>
          </a:p>
        </p:txBody>
      </p:sp>
      <p:sp>
        <p:nvSpPr>
          <p:cNvPr id="82" name="CntCell">
            <a:extLst>
              <a:ext uri="{FF2B5EF4-FFF2-40B4-BE49-F238E27FC236}">
                <a16:creationId xmlns:a16="http://schemas.microsoft.com/office/drawing/2014/main" id="{B6205BC6-DBC7-ED4B-A9BC-521697383573}"/>
              </a:ext>
            </a:extLst>
          </p:cNvPr>
          <p:cNvSpPr txBox="1"/>
          <p:nvPr/>
        </p:nvSpPr>
        <p:spPr>
          <a:xfrm>
            <a:off x="1574800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3" name="CntCell">
            <a:extLst>
              <a:ext uri="{FF2B5EF4-FFF2-40B4-BE49-F238E27FC236}">
                <a16:creationId xmlns:a16="http://schemas.microsoft.com/office/drawing/2014/main" id="{C9460973-449B-A447-8C77-49A1EA2EF03E}"/>
              </a:ext>
            </a:extLst>
          </p:cNvPr>
          <p:cNvSpPr txBox="1"/>
          <p:nvPr/>
        </p:nvSpPr>
        <p:spPr>
          <a:xfrm>
            <a:off x="2853266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4" name="CntCell">
            <a:extLst>
              <a:ext uri="{FF2B5EF4-FFF2-40B4-BE49-F238E27FC236}">
                <a16:creationId xmlns:a16="http://schemas.microsoft.com/office/drawing/2014/main" id="{39E2AA0C-24FF-9A4F-8660-81B6687E5115}"/>
              </a:ext>
            </a:extLst>
          </p:cNvPr>
          <p:cNvSpPr txBox="1"/>
          <p:nvPr/>
        </p:nvSpPr>
        <p:spPr>
          <a:xfrm>
            <a:off x="4131733" y="43434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5" name="WordLbl">
            <a:extLst>
              <a:ext uri="{FF2B5EF4-FFF2-40B4-BE49-F238E27FC236}">
                <a16:creationId xmlns:a16="http://schemas.microsoft.com/office/drawing/2014/main" id="{B5704F7C-2CEF-E74F-9503-8733C73322B1}"/>
              </a:ext>
            </a:extLst>
          </p:cNvPr>
          <p:cNvSpPr txBox="1"/>
          <p:nvPr/>
        </p:nvSpPr>
        <p:spPr>
          <a:xfrm>
            <a:off x="558800" y="45466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ran</a:t>
            </a:r>
          </a:p>
        </p:txBody>
      </p:sp>
      <p:sp>
        <p:nvSpPr>
          <p:cNvPr id="86" name="CntCell">
            <a:extLst>
              <a:ext uri="{FF2B5EF4-FFF2-40B4-BE49-F238E27FC236}">
                <a16:creationId xmlns:a16="http://schemas.microsoft.com/office/drawing/2014/main" id="{09F7CE8D-3163-254E-9594-BA2435AAC4C8}"/>
              </a:ext>
            </a:extLst>
          </p:cNvPr>
          <p:cNvSpPr txBox="1"/>
          <p:nvPr/>
        </p:nvSpPr>
        <p:spPr>
          <a:xfrm>
            <a:off x="1574800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7" name="CntCell">
            <a:extLst>
              <a:ext uri="{FF2B5EF4-FFF2-40B4-BE49-F238E27FC236}">
                <a16:creationId xmlns:a16="http://schemas.microsoft.com/office/drawing/2014/main" id="{C97F068D-D24F-4244-80B7-21ACE746AD9A}"/>
              </a:ext>
            </a:extLst>
          </p:cNvPr>
          <p:cNvSpPr txBox="1"/>
          <p:nvPr/>
        </p:nvSpPr>
        <p:spPr>
          <a:xfrm>
            <a:off x="2853266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88" name="CntCell">
            <a:extLst>
              <a:ext uri="{FF2B5EF4-FFF2-40B4-BE49-F238E27FC236}">
                <a16:creationId xmlns:a16="http://schemas.microsoft.com/office/drawing/2014/main" id="{864A696F-A6FC-B94A-A80D-9C4591030A35}"/>
              </a:ext>
            </a:extLst>
          </p:cNvPr>
          <p:cNvSpPr txBox="1"/>
          <p:nvPr/>
        </p:nvSpPr>
        <p:spPr>
          <a:xfrm>
            <a:off x="4131733" y="45466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89" name="WordLbl">
            <a:extLst>
              <a:ext uri="{FF2B5EF4-FFF2-40B4-BE49-F238E27FC236}">
                <a16:creationId xmlns:a16="http://schemas.microsoft.com/office/drawing/2014/main" id="{FD969F15-2E9B-DA4A-BDF4-4167685B3493}"/>
              </a:ext>
            </a:extLst>
          </p:cNvPr>
          <p:cNvSpPr txBox="1"/>
          <p:nvPr/>
        </p:nvSpPr>
        <p:spPr>
          <a:xfrm>
            <a:off x="558800" y="47498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333333"/>
                </a:solidFill>
                <a:latin typeface="Calibri"/>
                <a:cs typeface="Calibri"/>
              </a:rPr>
              <a:t>fast</a:t>
            </a:r>
          </a:p>
        </p:txBody>
      </p:sp>
      <p:sp>
        <p:nvSpPr>
          <p:cNvPr id="90" name="CntCell">
            <a:extLst>
              <a:ext uri="{FF2B5EF4-FFF2-40B4-BE49-F238E27FC236}">
                <a16:creationId xmlns:a16="http://schemas.microsoft.com/office/drawing/2014/main" id="{D276A5B1-6005-E54D-8F9C-D33AE1239602}"/>
              </a:ext>
            </a:extLst>
          </p:cNvPr>
          <p:cNvSpPr txBox="1"/>
          <p:nvPr/>
        </p:nvSpPr>
        <p:spPr>
          <a:xfrm>
            <a:off x="1574800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91" name="CntCell">
            <a:extLst>
              <a:ext uri="{FF2B5EF4-FFF2-40B4-BE49-F238E27FC236}">
                <a16:creationId xmlns:a16="http://schemas.microsoft.com/office/drawing/2014/main" id="{52A7F2A3-C9BA-464A-9242-B997D86EDBF5}"/>
              </a:ext>
            </a:extLst>
          </p:cNvPr>
          <p:cNvSpPr txBox="1"/>
          <p:nvPr/>
        </p:nvSpPr>
        <p:spPr>
          <a:xfrm>
            <a:off x="2853266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92" name="CntCell">
            <a:extLst>
              <a:ext uri="{FF2B5EF4-FFF2-40B4-BE49-F238E27FC236}">
                <a16:creationId xmlns:a16="http://schemas.microsoft.com/office/drawing/2014/main" id="{78E4C320-03EF-964E-ADE1-52254037719F}"/>
              </a:ext>
            </a:extLst>
          </p:cNvPr>
          <p:cNvSpPr txBox="1"/>
          <p:nvPr/>
        </p:nvSpPr>
        <p:spPr>
          <a:xfrm>
            <a:off x="4131733" y="4749800"/>
            <a:ext cx="1278466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97" name="Mname">
            <a:extLst>
              <a:ext uri="{FF2B5EF4-FFF2-40B4-BE49-F238E27FC236}">
                <a16:creationId xmlns:a16="http://schemas.microsoft.com/office/drawing/2014/main" id="{FD4B0AD0-3E13-CD40-B9F4-57C82D580E93}"/>
              </a:ext>
            </a:extLst>
          </p:cNvPr>
          <p:cNvSpPr txBox="1"/>
          <p:nvPr/>
        </p:nvSpPr>
        <p:spPr>
          <a:xfrm>
            <a:off x="6858000" y="3429000"/>
            <a:ext cx="533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000" b="1" i="1" dirty="0">
                <a:solidFill>
                  <a:srgbClr val="4B2E83"/>
                </a:solidFill>
                <a:latin typeface="Cambria Math"/>
                <a:ea typeface="Cambria Math"/>
              </a:rPr>
              <a:t>M =</a:t>
            </a:r>
          </a:p>
        </p:txBody>
      </p:sp>
      <p:sp>
        <p:nvSpPr>
          <p:cNvPr id="98" name="LeftBracket">
            <a:extLst>
              <a:ext uri="{FF2B5EF4-FFF2-40B4-BE49-F238E27FC236}">
                <a16:creationId xmlns:a16="http://schemas.microsoft.com/office/drawing/2014/main" id="{947BCC6A-8259-D74E-B25E-8EDFF8B6F729}"/>
              </a:ext>
            </a:extLst>
          </p:cNvPr>
          <p:cNvSpPr/>
          <p:nvPr/>
        </p:nvSpPr>
        <p:spPr>
          <a:xfrm>
            <a:off x="8267700" y="2159000"/>
            <a:ext cx="203200" cy="2794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9" name="RightBracket">
            <a:extLst>
              <a:ext uri="{FF2B5EF4-FFF2-40B4-BE49-F238E27FC236}">
                <a16:creationId xmlns:a16="http://schemas.microsoft.com/office/drawing/2014/main" id="{9EF9AFFF-CC8F-1948-A60A-17163E6F2178}"/>
              </a:ext>
            </a:extLst>
          </p:cNvPr>
          <p:cNvSpPr/>
          <p:nvPr/>
        </p:nvSpPr>
        <p:spPr>
          <a:xfrm>
            <a:off x="11137900" y="2159000"/>
            <a:ext cx="203200" cy="2794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0" name="WordLbl2">
            <a:extLst>
              <a:ext uri="{FF2B5EF4-FFF2-40B4-BE49-F238E27FC236}">
                <a16:creationId xmlns:a16="http://schemas.microsoft.com/office/drawing/2014/main" id="{F4759493-D8BB-9D4E-B332-F73112F9B396}"/>
              </a:ext>
            </a:extLst>
          </p:cNvPr>
          <p:cNvSpPr txBox="1"/>
          <p:nvPr/>
        </p:nvSpPr>
        <p:spPr>
          <a:xfrm>
            <a:off x="7404100" y="2349500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cat</a:t>
            </a:r>
          </a:p>
        </p:txBody>
      </p:sp>
      <p:sp>
        <p:nvSpPr>
          <p:cNvPr id="101" name="Mval">
            <a:extLst>
              <a:ext uri="{FF2B5EF4-FFF2-40B4-BE49-F238E27FC236}">
                <a16:creationId xmlns:a16="http://schemas.microsoft.com/office/drawing/2014/main" id="{C3BBD91E-D10A-FD4F-B987-4E73941B92A4}"/>
              </a:ext>
            </a:extLst>
          </p:cNvPr>
          <p:cNvSpPr txBox="1"/>
          <p:nvPr/>
        </p:nvSpPr>
        <p:spPr>
          <a:xfrm>
            <a:off x="8496300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2" name="Mval">
            <a:extLst>
              <a:ext uri="{FF2B5EF4-FFF2-40B4-BE49-F238E27FC236}">
                <a16:creationId xmlns:a16="http://schemas.microsoft.com/office/drawing/2014/main" id="{EAFBB8B7-2B8D-FC4C-AA8C-E8289E9AFA4B}"/>
              </a:ext>
            </a:extLst>
          </p:cNvPr>
          <p:cNvSpPr txBox="1"/>
          <p:nvPr/>
        </p:nvSpPr>
        <p:spPr>
          <a:xfrm>
            <a:off x="9376833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3" name="Mval">
            <a:extLst>
              <a:ext uri="{FF2B5EF4-FFF2-40B4-BE49-F238E27FC236}">
                <a16:creationId xmlns:a16="http://schemas.microsoft.com/office/drawing/2014/main" id="{67B25117-4E6E-DC46-9FC2-544884809A61}"/>
              </a:ext>
            </a:extLst>
          </p:cNvPr>
          <p:cNvSpPr txBox="1"/>
          <p:nvPr/>
        </p:nvSpPr>
        <p:spPr>
          <a:xfrm>
            <a:off x="10257366" y="23495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4" name="WordLbl2">
            <a:extLst>
              <a:ext uri="{FF2B5EF4-FFF2-40B4-BE49-F238E27FC236}">
                <a16:creationId xmlns:a16="http://schemas.microsoft.com/office/drawing/2014/main" id="{4FFED0D9-F694-1648-AE91-11A26FACB54B}"/>
              </a:ext>
            </a:extLst>
          </p:cNvPr>
          <p:cNvSpPr txBox="1"/>
          <p:nvPr/>
        </p:nvSpPr>
        <p:spPr>
          <a:xfrm>
            <a:off x="7404100" y="2751666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dog</a:t>
            </a:r>
          </a:p>
        </p:txBody>
      </p:sp>
      <p:sp>
        <p:nvSpPr>
          <p:cNvPr id="105" name="Mval">
            <a:extLst>
              <a:ext uri="{FF2B5EF4-FFF2-40B4-BE49-F238E27FC236}">
                <a16:creationId xmlns:a16="http://schemas.microsoft.com/office/drawing/2014/main" id="{4DCEA596-F0C6-6047-B6B0-53BB4B73F331}"/>
              </a:ext>
            </a:extLst>
          </p:cNvPr>
          <p:cNvSpPr txBox="1"/>
          <p:nvPr/>
        </p:nvSpPr>
        <p:spPr>
          <a:xfrm>
            <a:off x="8496300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06" name="Mval">
            <a:extLst>
              <a:ext uri="{FF2B5EF4-FFF2-40B4-BE49-F238E27FC236}">
                <a16:creationId xmlns:a16="http://schemas.microsoft.com/office/drawing/2014/main" id="{575B8B83-D6EC-3647-B0D0-10384CD84236}"/>
              </a:ext>
            </a:extLst>
          </p:cNvPr>
          <p:cNvSpPr txBox="1"/>
          <p:nvPr/>
        </p:nvSpPr>
        <p:spPr>
          <a:xfrm>
            <a:off x="9376833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7" name="Mval">
            <a:extLst>
              <a:ext uri="{FF2B5EF4-FFF2-40B4-BE49-F238E27FC236}">
                <a16:creationId xmlns:a16="http://schemas.microsoft.com/office/drawing/2014/main" id="{1914026A-2802-A242-B697-DDF9EC772E8E}"/>
              </a:ext>
            </a:extLst>
          </p:cNvPr>
          <p:cNvSpPr txBox="1"/>
          <p:nvPr/>
        </p:nvSpPr>
        <p:spPr>
          <a:xfrm>
            <a:off x="10257366" y="27516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08" name="WordLbl2">
            <a:extLst>
              <a:ext uri="{FF2B5EF4-FFF2-40B4-BE49-F238E27FC236}">
                <a16:creationId xmlns:a16="http://schemas.microsoft.com/office/drawing/2014/main" id="{AEF067BA-F335-BD44-AB55-7423FB786B29}"/>
              </a:ext>
            </a:extLst>
          </p:cNvPr>
          <p:cNvSpPr txBox="1"/>
          <p:nvPr/>
        </p:nvSpPr>
        <p:spPr>
          <a:xfrm>
            <a:off x="7404100" y="3153833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sat</a:t>
            </a:r>
          </a:p>
        </p:txBody>
      </p:sp>
      <p:sp>
        <p:nvSpPr>
          <p:cNvPr id="109" name="Mval">
            <a:extLst>
              <a:ext uri="{FF2B5EF4-FFF2-40B4-BE49-F238E27FC236}">
                <a16:creationId xmlns:a16="http://schemas.microsoft.com/office/drawing/2014/main" id="{BFD02649-A732-BE44-9BAF-AF48BA891B32}"/>
              </a:ext>
            </a:extLst>
          </p:cNvPr>
          <p:cNvSpPr txBox="1"/>
          <p:nvPr/>
        </p:nvSpPr>
        <p:spPr>
          <a:xfrm>
            <a:off x="8496300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0" name="Mval">
            <a:extLst>
              <a:ext uri="{FF2B5EF4-FFF2-40B4-BE49-F238E27FC236}">
                <a16:creationId xmlns:a16="http://schemas.microsoft.com/office/drawing/2014/main" id="{9DF70E5E-8785-DB49-9017-32500EB14E45}"/>
              </a:ext>
            </a:extLst>
          </p:cNvPr>
          <p:cNvSpPr txBox="1"/>
          <p:nvPr/>
        </p:nvSpPr>
        <p:spPr>
          <a:xfrm>
            <a:off x="9376833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1" name="Mval">
            <a:extLst>
              <a:ext uri="{FF2B5EF4-FFF2-40B4-BE49-F238E27FC236}">
                <a16:creationId xmlns:a16="http://schemas.microsoft.com/office/drawing/2014/main" id="{89DD9F2E-9781-C446-AB33-3543B02A6419}"/>
              </a:ext>
            </a:extLst>
          </p:cNvPr>
          <p:cNvSpPr txBox="1"/>
          <p:nvPr/>
        </p:nvSpPr>
        <p:spPr>
          <a:xfrm>
            <a:off x="10257366" y="31538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2" name="WordLbl2">
            <a:extLst>
              <a:ext uri="{FF2B5EF4-FFF2-40B4-BE49-F238E27FC236}">
                <a16:creationId xmlns:a16="http://schemas.microsoft.com/office/drawing/2014/main" id="{B312F368-58E6-7C4C-B76C-0C6253A9FEE7}"/>
              </a:ext>
            </a:extLst>
          </p:cNvPr>
          <p:cNvSpPr txBox="1"/>
          <p:nvPr/>
        </p:nvSpPr>
        <p:spPr>
          <a:xfrm>
            <a:off x="7404100" y="3556000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mat</a:t>
            </a:r>
          </a:p>
        </p:txBody>
      </p:sp>
      <p:sp>
        <p:nvSpPr>
          <p:cNvPr id="113" name="Mval">
            <a:extLst>
              <a:ext uri="{FF2B5EF4-FFF2-40B4-BE49-F238E27FC236}">
                <a16:creationId xmlns:a16="http://schemas.microsoft.com/office/drawing/2014/main" id="{0F40868F-9E05-9644-ABBB-69CE57D614F8}"/>
              </a:ext>
            </a:extLst>
          </p:cNvPr>
          <p:cNvSpPr txBox="1"/>
          <p:nvPr/>
        </p:nvSpPr>
        <p:spPr>
          <a:xfrm>
            <a:off x="8496300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4" name="Mval">
            <a:extLst>
              <a:ext uri="{FF2B5EF4-FFF2-40B4-BE49-F238E27FC236}">
                <a16:creationId xmlns:a16="http://schemas.microsoft.com/office/drawing/2014/main" id="{5EB89E6D-AC26-6C41-93F8-7375ED61D8DC}"/>
              </a:ext>
            </a:extLst>
          </p:cNvPr>
          <p:cNvSpPr txBox="1"/>
          <p:nvPr/>
        </p:nvSpPr>
        <p:spPr>
          <a:xfrm>
            <a:off x="9376833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5" name="Mval">
            <a:extLst>
              <a:ext uri="{FF2B5EF4-FFF2-40B4-BE49-F238E27FC236}">
                <a16:creationId xmlns:a16="http://schemas.microsoft.com/office/drawing/2014/main" id="{DF377784-95C8-F14D-890C-F375E5C1C5BE}"/>
              </a:ext>
            </a:extLst>
          </p:cNvPr>
          <p:cNvSpPr txBox="1"/>
          <p:nvPr/>
        </p:nvSpPr>
        <p:spPr>
          <a:xfrm>
            <a:off x="10257366" y="3556000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6" name="WordLbl2">
            <a:extLst>
              <a:ext uri="{FF2B5EF4-FFF2-40B4-BE49-F238E27FC236}">
                <a16:creationId xmlns:a16="http://schemas.microsoft.com/office/drawing/2014/main" id="{CDD26442-089C-574D-96C7-B01C268D04A4}"/>
              </a:ext>
            </a:extLst>
          </p:cNvPr>
          <p:cNvSpPr txBox="1"/>
          <p:nvPr/>
        </p:nvSpPr>
        <p:spPr>
          <a:xfrm>
            <a:off x="7404100" y="3958166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ran</a:t>
            </a:r>
          </a:p>
        </p:txBody>
      </p:sp>
      <p:sp>
        <p:nvSpPr>
          <p:cNvPr id="117" name="Mval">
            <a:extLst>
              <a:ext uri="{FF2B5EF4-FFF2-40B4-BE49-F238E27FC236}">
                <a16:creationId xmlns:a16="http://schemas.microsoft.com/office/drawing/2014/main" id="{C027C50B-BA6D-C54F-997B-175C875C8CA9}"/>
              </a:ext>
            </a:extLst>
          </p:cNvPr>
          <p:cNvSpPr txBox="1"/>
          <p:nvPr/>
        </p:nvSpPr>
        <p:spPr>
          <a:xfrm>
            <a:off x="8496300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18" name="Mval">
            <a:extLst>
              <a:ext uri="{FF2B5EF4-FFF2-40B4-BE49-F238E27FC236}">
                <a16:creationId xmlns:a16="http://schemas.microsoft.com/office/drawing/2014/main" id="{FAEF12ED-1C22-9846-84B0-70158852600E}"/>
              </a:ext>
            </a:extLst>
          </p:cNvPr>
          <p:cNvSpPr txBox="1"/>
          <p:nvPr/>
        </p:nvSpPr>
        <p:spPr>
          <a:xfrm>
            <a:off x="9376833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19" name="Mval">
            <a:extLst>
              <a:ext uri="{FF2B5EF4-FFF2-40B4-BE49-F238E27FC236}">
                <a16:creationId xmlns:a16="http://schemas.microsoft.com/office/drawing/2014/main" id="{93FE4986-FB3C-8046-BE00-501D82474DCB}"/>
              </a:ext>
            </a:extLst>
          </p:cNvPr>
          <p:cNvSpPr txBox="1"/>
          <p:nvPr/>
        </p:nvSpPr>
        <p:spPr>
          <a:xfrm>
            <a:off x="10257366" y="3958166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0" name="WordLbl2">
            <a:extLst>
              <a:ext uri="{FF2B5EF4-FFF2-40B4-BE49-F238E27FC236}">
                <a16:creationId xmlns:a16="http://schemas.microsoft.com/office/drawing/2014/main" id="{16AE9C3F-4351-1348-84B4-9CBC170A734C}"/>
              </a:ext>
            </a:extLst>
          </p:cNvPr>
          <p:cNvSpPr txBox="1"/>
          <p:nvPr/>
        </p:nvSpPr>
        <p:spPr>
          <a:xfrm>
            <a:off x="7404100" y="4360333"/>
            <a:ext cx="889000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libri"/>
                <a:cs typeface="Calibri"/>
              </a:rPr>
              <a:t>fast</a:t>
            </a:r>
          </a:p>
        </p:txBody>
      </p:sp>
      <p:sp>
        <p:nvSpPr>
          <p:cNvPr id="121" name="Mval">
            <a:extLst>
              <a:ext uri="{FF2B5EF4-FFF2-40B4-BE49-F238E27FC236}">
                <a16:creationId xmlns:a16="http://schemas.microsoft.com/office/drawing/2014/main" id="{FF28CD41-8A9A-8245-92B9-88CD93CBB57F}"/>
              </a:ext>
            </a:extLst>
          </p:cNvPr>
          <p:cNvSpPr txBox="1"/>
          <p:nvPr/>
        </p:nvSpPr>
        <p:spPr>
          <a:xfrm>
            <a:off x="8496300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2" name="Mval">
            <a:extLst>
              <a:ext uri="{FF2B5EF4-FFF2-40B4-BE49-F238E27FC236}">
                <a16:creationId xmlns:a16="http://schemas.microsoft.com/office/drawing/2014/main" id="{8ED27523-0893-9446-B553-E21851061431}"/>
              </a:ext>
            </a:extLst>
          </p:cNvPr>
          <p:cNvSpPr txBox="1"/>
          <p:nvPr/>
        </p:nvSpPr>
        <p:spPr>
          <a:xfrm>
            <a:off x="9376833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123" name="Mval">
            <a:extLst>
              <a:ext uri="{FF2B5EF4-FFF2-40B4-BE49-F238E27FC236}">
                <a16:creationId xmlns:a16="http://schemas.microsoft.com/office/drawing/2014/main" id="{DB2FCEFD-B010-294F-9209-D4B2532E98FD}"/>
              </a:ext>
            </a:extLst>
          </p:cNvPr>
          <p:cNvSpPr txBox="1"/>
          <p:nvPr/>
        </p:nvSpPr>
        <p:spPr>
          <a:xfrm>
            <a:off x="10257366" y="4360333"/>
            <a:ext cx="880533" cy="402166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BBBBBB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124" name="DocHdr">
            <a:extLst>
              <a:ext uri="{FF2B5EF4-FFF2-40B4-BE49-F238E27FC236}">
                <a16:creationId xmlns:a16="http://schemas.microsoft.com/office/drawing/2014/main" id="{801844B6-3A9E-4C45-A90A-C7583A78EE11}"/>
              </a:ext>
            </a:extLst>
          </p:cNvPr>
          <p:cNvSpPr txBox="1"/>
          <p:nvPr/>
        </p:nvSpPr>
        <p:spPr>
          <a:xfrm>
            <a:off x="8496300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D₁</a:t>
            </a:r>
          </a:p>
        </p:txBody>
      </p:sp>
      <p:sp>
        <p:nvSpPr>
          <p:cNvPr id="125" name="DocHdr">
            <a:extLst>
              <a:ext uri="{FF2B5EF4-FFF2-40B4-BE49-F238E27FC236}">
                <a16:creationId xmlns:a16="http://schemas.microsoft.com/office/drawing/2014/main" id="{31DA8472-1C6B-754C-86A0-AD4E17D96384}"/>
              </a:ext>
            </a:extLst>
          </p:cNvPr>
          <p:cNvSpPr txBox="1"/>
          <p:nvPr/>
        </p:nvSpPr>
        <p:spPr>
          <a:xfrm>
            <a:off x="9376833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D₂</a:t>
            </a:r>
          </a:p>
        </p:txBody>
      </p:sp>
      <p:sp>
        <p:nvSpPr>
          <p:cNvPr id="126" name="DocHdr">
            <a:extLst>
              <a:ext uri="{FF2B5EF4-FFF2-40B4-BE49-F238E27FC236}">
                <a16:creationId xmlns:a16="http://schemas.microsoft.com/office/drawing/2014/main" id="{EDF2D684-21C5-DC45-9BB1-2F1027A086DE}"/>
              </a:ext>
            </a:extLst>
          </p:cNvPr>
          <p:cNvSpPr txBox="1"/>
          <p:nvPr/>
        </p:nvSpPr>
        <p:spPr>
          <a:xfrm>
            <a:off x="10257366" y="1955800"/>
            <a:ext cx="880533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i="1">
                <a:solidFill>
                  <a:srgbClr val="777777"/>
                </a:solidFill>
                <a:latin typeface="Cambria Math"/>
                <a:ea typeface="Cambria Math"/>
              </a:rPr>
              <a:t>D₃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M ∈ ℝ⁶ˣ³,   dim(M) = 6 × 3   (words × documents)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74933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0173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  <a:cs typeface="Calibri"/>
              </a:rPr>
              <a:t>Text becomes numbers: a corpus is a matrix, and similar documents become nearby columns.</a:t>
            </a:r>
          </a:p>
        </p:txBody>
      </p:sp>
    </p:spTree>
    <p:extLst>
      <p:ext uri="{BB962C8B-B14F-4D97-AF65-F5344CB8AC3E}">
        <p14:creationId xmlns:p14="http://schemas.microsoft.com/office/powerpoint/2010/main" val="303401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 animBg="1"/>
      <p:bldP spid="26" grpId="0"/>
      <p:bldP spid="27" grpId="0"/>
      <p:bldP spid="37" grpId="0" animBg="1"/>
      <p:bldP spid="38" grpId="0"/>
      <p:bldP spid="39" grpId="0"/>
      <p:bldP spid="40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 animBg="1"/>
      <p:bldP spid="94" grpId="0"/>
      <p:bldP spid="95" grpId="0" animBg="1"/>
      <p:bldP spid="96" grpId="0"/>
      <p:bldP spid="97" grpId="0"/>
      <p:bldP spid="98" grpId="0" animBg="1"/>
      <p:bldP spid="99" grpId="0" animBg="1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 animBg="1"/>
      <p:bldP spid="1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1 — Build a vector from real data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week of step counts as a single vector, then state its dimension.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daily step count — one week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vector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s ∈ ℝ⁷,   dim(s) = 7   (one component per day)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vector's length is its dimension — 7 ordered values give a vector in ℝ⁷.</a:t>
            </a:r>
          </a:p>
        </p:txBody>
      </p:sp>
      <p:sp>
        <p:nvSpPr>
          <p:cNvPr id="201" name="Ex1_DataBox"/>
          <p:cNvSpPr/>
          <p:nvPr/>
        </p:nvSpPr>
        <p:spPr>
          <a:xfrm>
            <a:off x="558800" y="1778000"/>
            <a:ext cx="4851400" cy="2540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1_DataHdr"/>
          <p:cNvSpPr/>
          <p:nvPr/>
        </p:nvSpPr>
        <p:spPr>
          <a:xfrm>
            <a:off x="736600" y="19050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Fitness tracker — steps walked each day</a:t>
            </a:r>
          </a:p>
        </p:txBody>
      </p:sp>
      <p:sp>
        <p:nvSpPr>
          <p:cNvPr id="203" name="Ex1_DataTbl"/>
          <p:cNvSpPr/>
          <p:nvPr/>
        </p:nvSpPr>
        <p:spPr>
          <a:xfrm>
            <a:off x="736600" y="2235200"/>
            <a:ext cx="4495800" cy="1905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Day        Steps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Mon         6 200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Tue         8 100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Wed         5 400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Thu         9 300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Fri        10 050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Sat        12 800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onsolas"/>
              </a:rPr>
              <a:t>Sun         7 600</a:t>
            </a:r>
          </a:p>
        </p:txBody>
      </p:sp>
      <p:sp>
        <p:nvSpPr>
          <p:cNvPr id="204" name="Ex1_DataNote"/>
          <p:cNvSpPr/>
          <p:nvPr/>
        </p:nvSpPr>
        <p:spPr>
          <a:xfrm>
            <a:off x="736600" y="4419600"/>
            <a:ext cx="4495800" cy="508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7 days, recorded in order Mon → Sun.</a:t>
            </a:r>
          </a:p>
        </p:txBody>
      </p:sp>
      <p:sp>
        <p:nvSpPr>
          <p:cNvPr id="210" name="Ex1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Stack the 7 daily values into one column.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Keep them in day order (Mon first).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s = (…) and state dim(s).</a:t>
            </a:r>
          </a:p>
        </p:txBody>
      </p:sp>
      <p:sp>
        <p:nvSpPr>
          <p:cNvPr id="220" name="Ex1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1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onsolas"/>
              </a:rPr>
              <a:t>s = ( 6200, 8100, 5400, 9300, 10050, 12800, 7600 )ᵀ</a:t>
            </a:r>
          </a:p>
          <a:p>
            <a:pPr algn="l"/>
            <a:endParaRPr lang="en-US" sz="1200" b="1" dirty="0">
              <a:solidFill>
                <a:srgbClr val="333333"/>
              </a:solidFill>
              <a:latin typeface="Consolas"/>
            </a:endParaRP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A 7-component column vector.</a:t>
            </a:r>
          </a:p>
          <a:p>
            <a:pPr algn="l"/>
            <a:r>
              <a:rPr lang="en-US" sz="1500" b="1" dirty="0">
                <a:solidFill>
                  <a:srgbClr val="5A8A2A"/>
                </a:solidFill>
                <a:latin typeface="Cambria Math"/>
                <a:ea typeface="Cambria Math"/>
              </a:rPr>
              <a:t>s ∈ ℝ⁷   →   dim(s) = 7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vector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72183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2 — Build a matrix from a data table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sales table as a matrix, then state its dimension (rows × cols).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weekly units sold — stores × products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matrix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A ∈ ℝ³ˣ⁴,   dim(A) = 3 × 4   (stores × products)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Rows × columns gives the shape — 3 stores by 4 products is a 3 × 4 matrix.</a:t>
            </a:r>
          </a:p>
        </p:txBody>
      </p:sp>
      <p:sp>
        <p:nvSpPr>
          <p:cNvPr id="201" name="Ex2_DataBox"/>
          <p:cNvSpPr/>
          <p:nvPr/>
        </p:nvSpPr>
        <p:spPr>
          <a:xfrm>
            <a:off x="558800" y="1778000"/>
            <a:ext cx="4851400" cy="2667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2_DataHdr"/>
          <p:cNvSpPr/>
          <p:nvPr/>
        </p:nvSpPr>
        <p:spPr>
          <a:xfrm>
            <a:off x="736600" y="18796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Retail chain — units sold last week</a:t>
            </a:r>
          </a:p>
        </p:txBody>
      </p:sp>
      <p:sp>
        <p:nvSpPr>
          <p:cNvPr id="203" name="Ex2_DataTbl"/>
          <p:cNvSpPr/>
          <p:nvPr/>
        </p:nvSpPr>
        <p:spPr>
          <a:xfrm>
            <a:off x="736600" y="2235200"/>
            <a:ext cx="4495800" cy="1905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Store     Soda  Chips  Candy  Water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North      120    90    60     150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East        80   140    70     110</a:t>
            </a:r>
          </a:p>
          <a:p>
            <a:pPr algn="l"/>
            <a:r>
              <a:rPr lang="en-US" sz="1250" dirty="0">
                <a:solidFill>
                  <a:srgbClr val="333333"/>
                </a:solidFill>
                <a:latin typeface="Consolas"/>
              </a:rPr>
              <a:t>West       100    75    95     130</a:t>
            </a:r>
          </a:p>
        </p:txBody>
      </p:sp>
      <p:sp>
        <p:nvSpPr>
          <p:cNvPr id="204" name="Ex2_DataNote"/>
          <p:cNvSpPr/>
          <p:nvPr/>
        </p:nvSpPr>
        <p:spPr>
          <a:xfrm>
            <a:off x="736600" y="4216400"/>
            <a:ext cx="4495800" cy="5588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3 stores (rows) and 4 products (columns).</a:t>
            </a:r>
          </a:p>
        </p:txBody>
      </p:sp>
      <p:sp>
        <p:nvSpPr>
          <p:cNvPr id="210" name="Ex2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Put each store on its own row.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Put each product in its own column.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A = […], state dim(A) = rows × cols.</a:t>
            </a:r>
          </a:p>
        </p:txBody>
      </p:sp>
      <p:sp>
        <p:nvSpPr>
          <p:cNvPr id="220" name="Ex2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2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      ⎡ 120   90   60  150 ⎤</a:t>
            </a:r>
          </a:p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A  =  ⎢  80  140   70  110 ⎥</a:t>
            </a:r>
          </a:p>
          <a:p>
            <a:pPr algn="l"/>
            <a:r>
              <a:rPr lang="en-US" sz="1250" b="1" dirty="0">
                <a:solidFill>
                  <a:srgbClr val="333333"/>
                </a:solidFill>
                <a:latin typeface="Consolas"/>
              </a:rPr>
              <a:t>      ⎣ 100   75   95  130 ⎦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3 rows × 4 columns = 12 entries</a:t>
            </a:r>
          </a:p>
          <a:p>
            <a:pPr algn="l"/>
            <a:r>
              <a:rPr lang="en-US" sz="1450" b="1" dirty="0">
                <a:solidFill>
                  <a:srgbClr val="5A8A2A"/>
                </a:solidFill>
                <a:latin typeface="Cambria Math"/>
                <a:ea typeface="Cambria Math"/>
              </a:rPr>
              <a:t>A ∈ ℝ³ˣ⁴   →   dim(A) = 3 × 4</a:t>
            </a:r>
          </a:p>
        </p:txBody>
      </p:sp>
      <p:sp>
        <p:nvSpPr>
          <p:cNvPr id="230" name="Ex2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2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matrix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93341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3 — Build a matrix from an image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Encode this 3×3 grayscale tile as a matrix of pixel values, then state its dimension.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Data: 3×3 grayscale tile (0 = black, 255 = white)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write the matrix form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G ∈ ℝ³ˣ³,   dim(G) = 3 × 3   (height × width)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Every image is a matrix of pixel intensities — a 3×3 tile is a 3 × 3 matrix.</a:t>
            </a:r>
          </a:p>
        </p:txBody>
      </p:sp>
      <p:sp>
        <p:nvSpPr>
          <p:cNvPr id="201" name="Ex3_DataBox"/>
          <p:cNvSpPr/>
          <p:nvPr/>
        </p:nvSpPr>
        <p:spPr>
          <a:xfrm>
            <a:off x="558800" y="1778000"/>
            <a:ext cx="4851400" cy="3175000"/>
          </a:xfrm>
          <a:prstGeom prst="rect">
            <a:avLst/>
          </a:prstGeom>
          <a:solidFill>
            <a:srgbClr val="F7F4FB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Ex3_DataHdr"/>
          <p:cNvSpPr/>
          <p:nvPr/>
        </p:nvSpPr>
        <p:spPr>
          <a:xfrm>
            <a:off x="736600" y="1879600"/>
            <a:ext cx="4495800" cy="2286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fontScale="92500" lnSpcReduction="10000"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  <a:cs typeface="Calibri"/>
              </a:rPr>
              <a:t>Pixel brightness grid</a:t>
            </a:r>
          </a:p>
        </p:txBody>
      </p:sp>
      <p:sp>
        <p:nvSpPr>
          <p:cNvPr id="300" name="Px"/>
          <p:cNvSpPr/>
          <p:nvPr/>
        </p:nvSpPr>
        <p:spPr>
          <a:xfrm>
            <a:off x="1524000" y="2311400"/>
            <a:ext cx="736600" cy="736600"/>
          </a:xfrm>
          <a:prstGeom prst="rect">
            <a:avLst/>
          </a:prstGeom>
          <a:solidFill>
            <a:srgbClr val="323232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</a:p>
        </p:txBody>
      </p:sp>
      <p:sp>
        <p:nvSpPr>
          <p:cNvPr id="301" name="Px"/>
          <p:cNvSpPr/>
          <p:nvPr/>
        </p:nvSpPr>
        <p:spPr>
          <a:xfrm>
            <a:off x="2260600" y="2311400"/>
            <a:ext cx="736600" cy="736600"/>
          </a:xfrm>
          <a:prstGeom prst="rect">
            <a:avLst/>
          </a:prstGeom>
          <a:solidFill>
            <a:srgbClr val="787878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120</a:t>
            </a:r>
          </a:p>
        </p:txBody>
      </p:sp>
      <p:sp>
        <p:nvSpPr>
          <p:cNvPr id="302" name="Px"/>
          <p:cNvSpPr/>
          <p:nvPr/>
        </p:nvSpPr>
        <p:spPr>
          <a:xfrm>
            <a:off x="2997200" y="2311400"/>
            <a:ext cx="736600" cy="736600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200</a:t>
            </a:r>
          </a:p>
        </p:txBody>
      </p:sp>
      <p:sp>
        <p:nvSpPr>
          <p:cNvPr id="303" name="Px"/>
          <p:cNvSpPr/>
          <p:nvPr/>
        </p:nvSpPr>
        <p:spPr>
          <a:xfrm>
            <a:off x="1524000" y="3048000"/>
            <a:ext cx="736600" cy="736600"/>
          </a:xfrm>
          <a:prstGeom prst="rect">
            <a:avLst/>
          </a:prstGeom>
          <a:solidFill>
            <a:srgbClr val="64646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</a:p>
        </p:txBody>
      </p:sp>
      <p:sp>
        <p:nvSpPr>
          <p:cNvPr id="304" name="Px"/>
          <p:cNvSpPr/>
          <p:nvPr/>
        </p:nvSpPr>
        <p:spPr>
          <a:xfrm>
            <a:off x="2260600" y="3048000"/>
            <a:ext cx="736600" cy="736600"/>
          </a:xfrm>
          <a:prstGeom prst="rect">
            <a:avLst/>
          </a:prstGeom>
          <a:solidFill>
            <a:srgbClr val="B4B4B4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180</a:t>
            </a:r>
          </a:p>
        </p:txBody>
      </p:sp>
      <p:sp>
        <p:nvSpPr>
          <p:cNvPr id="305" name="Px"/>
          <p:cNvSpPr/>
          <p:nvPr/>
        </p:nvSpPr>
        <p:spPr>
          <a:xfrm>
            <a:off x="2997200" y="3048000"/>
            <a:ext cx="736600" cy="736600"/>
          </a:xfrm>
          <a:prstGeom prst="rect">
            <a:avLst/>
          </a:prstGeom>
          <a:solidFill>
            <a:srgbClr val="DCDCDC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220</a:t>
            </a:r>
          </a:p>
        </p:txBody>
      </p:sp>
      <p:sp>
        <p:nvSpPr>
          <p:cNvPr id="306" name="Px"/>
          <p:cNvSpPr/>
          <p:nvPr/>
        </p:nvSpPr>
        <p:spPr>
          <a:xfrm>
            <a:off x="1524000" y="3784600"/>
            <a:ext cx="736600" cy="736600"/>
          </a:xfrm>
          <a:prstGeom prst="rect">
            <a:avLst/>
          </a:prstGeom>
          <a:solidFill>
            <a:srgbClr val="969696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150</a:t>
            </a:r>
          </a:p>
        </p:txBody>
      </p:sp>
      <p:sp>
        <p:nvSpPr>
          <p:cNvPr id="307" name="Px"/>
          <p:cNvSpPr/>
          <p:nvPr/>
        </p:nvSpPr>
        <p:spPr>
          <a:xfrm>
            <a:off x="2260600" y="3784600"/>
            <a:ext cx="736600" cy="736600"/>
          </a:xfrm>
          <a:prstGeom prst="rect">
            <a:avLst/>
          </a:prstGeom>
          <a:solidFill>
            <a:srgbClr val="D2D2D2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210</a:t>
            </a:r>
          </a:p>
        </p:txBody>
      </p:sp>
      <p:sp>
        <p:nvSpPr>
          <p:cNvPr id="308" name="Px"/>
          <p:cNvSpPr/>
          <p:nvPr/>
        </p:nvSpPr>
        <p:spPr>
          <a:xfrm>
            <a:off x="2997200" y="3784600"/>
            <a:ext cx="7366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333333"/>
                </a:solidFill>
                <a:latin typeface="Calibri"/>
                <a:cs typeface="Calibri"/>
              </a:rPr>
              <a:t>255</a:t>
            </a:r>
          </a:p>
        </p:txBody>
      </p:sp>
      <p:sp>
        <p:nvSpPr>
          <p:cNvPr id="204" name="Ex3_DataNote"/>
          <p:cNvSpPr/>
          <p:nvPr/>
        </p:nvSpPr>
        <p:spPr>
          <a:xfrm>
            <a:off x="736600" y="4648200"/>
            <a:ext cx="4495800" cy="25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 lnSpcReduction="10000"/>
          </a:bodyPr>
          <a:lstStyle/>
          <a:p>
            <a:pPr algn="l"/>
            <a:r>
              <a:rPr lang="en-US" sz="1200" i="1" dirty="0">
                <a:solidFill>
                  <a:srgbClr val="333333"/>
                </a:solidFill>
                <a:latin typeface="Calibri"/>
                <a:cs typeface="Calibri"/>
              </a:rPr>
              <a:t>9 pixels — each a brightness value in [0, 255].</a:t>
            </a:r>
          </a:p>
        </p:txBody>
      </p:sp>
      <p:sp>
        <p:nvSpPr>
          <p:cNvPr id="210" name="Ex3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1.  Row r, column c → pixel at (r, c).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2.  Copy each brightness into its cell.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  <a:latin typeface="Calibri"/>
                <a:cs typeface="Calibri"/>
              </a:rPr>
              <a:t>3.  Write G = […], state dim(G) = H × W.</a:t>
            </a:r>
          </a:p>
        </p:txBody>
      </p:sp>
      <p:sp>
        <p:nvSpPr>
          <p:cNvPr id="220" name="Ex3_SolBox"/>
          <p:cNvSpPr/>
          <p:nvPr/>
        </p:nvSpPr>
        <p:spPr>
          <a:xfrm>
            <a:off x="6858000" y="3378200"/>
            <a:ext cx="5041900" cy="18796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Ex3_SolTxt"/>
          <p:cNvSpPr/>
          <p:nvPr/>
        </p:nvSpPr>
        <p:spPr>
          <a:xfrm>
            <a:off x="7035800" y="3454400"/>
            <a:ext cx="4686300" cy="1727200"/>
          </a:xfrm>
          <a:prstGeom prst="rect">
            <a:avLst/>
          </a:prstGeom>
          <a:noFill/>
        </p:spPr>
        <p:txBody>
          <a:bodyPr wrap="square" lIns="50800" tIns="36000" rIns="50800" bIns="360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      ⎡  50  120  200 ⎤</a:t>
            </a: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G  =  ⎢ 100  180  220 ⎥</a:t>
            </a:r>
          </a:p>
          <a:p>
            <a:pPr algn="l"/>
            <a:r>
              <a:rPr lang="en-US" sz="1300" b="1" dirty="0">
                <a:solidFill>
                  <a:srgbClr val="333333"/>
                </a:solidFill>
                <a:latin typeface="Consolas"/>
              </a:rPr>
              <a:t>      ⎣ 150  210  255 ⎦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3 rows × 3 cols = 9 pixels</a:t>
            </a:r>
          </a:p>
          <a:p>
            <a:pPr algn="l"/>
            <a:r>
              <a:rPr lang="en-US" sz="1450" b="1" dirty="0">
                <a:solidFill>
                  <a:srgbClr val="5A8A2A"/>
                </a:solidFill>
                <a:latin typeface="Cambria Math"/>
                <a:ea typeface="Cambria Math"/>
              </a:rPr>
              <a:t>G ∈ ℝ³ˣ³   →   dim(G) = 3 × 3</a:t>
            </a:r>
          </a:p>
        </p:txBody>
      </p:sp>
      <p:sp>
        <p:nvSpPr>
          <p:cNvPr id="230" name="Ex3_SolCover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3_SolCoverTxt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noFill/>
        </p:spPr>
        <p:txBody>
          <a:bodyPr wrap="square" lIns="50800" tIns="36000" rIns="50800" bIns="3600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Calibri"/>
                <a:cs typeface="Calibri"/>
              </a:rPr>
              <a:t>🔒  Solution hidden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  <a:cs typeface="Calibri"/>
              </a:rPr>
              <a:t>Build the matrix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62310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4 — Plot four vectors in 2D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Plot each vector as a point (and arrow from the origin) on the grid, then check against the hidden solution.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Vectors to plot — and your blank grid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plot on the grid at left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1300" i="1">
              <a:solidFill>
                <a:srgbClr val="00A7B5"/>
              </a:solidFill>
              <a:latin typeface="Cambria Math"/>
              <a:ea typeface="Cambria Math"/>
            </a:endParaRP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2D vector is an ordered pair (x, y) — its head sits x across and y up from the origin.</a:t>
            </a:r>
          </a:p>
        </p:txBody>
      </p:sp>
      <p:sp>
        <p:nvSpPr>
          <p:cNvPr id="202" name="Ex4_DataHdr"/>
          <p:cNvSpPr/>
          <p:nvPr/>
        </p:nvSpPr>
        <p:spPr>
          <a:xfrm>
            <a:off x="558800" y="1752600"/>
            <a:ext cx="317500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Arial"/>
              </a:rPr>
              <a:t>Vectors to plot</a:t>
            </a:r>
          </a:p>
        </p:txBody>
      </p:sp>
      <p:sp>
        <p:nvSpPr>
          <p:cNvPr id="205" name="Ex4_VecBox"/>
          <p:cNvSpPr/>
          <p:nvPr/>
        </p:nvSpPr>
        <p:spPr>
          <a:xfrm>
            <a:off x="558800" y="2057400"/>
            <a:ext cx="19050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Ex4_VecList"/>
          <p:cNvSpPr/>
          <p:nvPr/>
        </p:nvSpPr>
        <p:spPr>
          <a:xfrm>
            <a:off x="685800" y="2159000"/>
            <a:ext cx="1651000" cy="1778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C0392B"/>
                </a:solidFill>
                <a:latin typeface="Consolas"/>
              </a:rPr>
              <a:t>a = ( 3,  1)</a:t>
            </a:r>
          </a:p>
          <a:p>
            <a:pPr algn="l"/>
            <a:r>
              <a:rPr lang="en-US" sz="1300" b="1" dirty="0">
                <a:solidFill>
                  <a:srgbClr val="1F77B4"/>
                </a:solidFill>
                <a:latin typeface="Consolas"/>
              </a:rPr>
              <a:t>b = (-2,  2)</a:t>
            </a:r>
          </a:p>
          <a:p>
            <a:pPr algn="l"/>
            <a:r>
              <a:rPr lang="en-US" sz="1300" b="1" dirty="0">
                <a:solidFill>
                  <a:srgbClr val="2CA02C"/>
                </a:solidFill>
                <a:latin typeface="Consolas"/>
              </a:rPr>
              <a:t>c = ( 1, -3)</a:t>
            </a:r>
          </a:p>
          <a:p>
            <a:pPr algn="l"/>
            <a:r>
              <a:rPr lang="en-US" sz="1300" b="1" dirty="0">
                <a:solidFill>
                  <a:srgbClr val="9467BD"/>
                </a:solidFill>
                <a:latin typeface="Consolas"/>
              </a:rPr>
              <a:t>d = (-1, -2)</a:t>
            </a:r>
          </a:p>
        </p:txBody>
      </p:sp>
      <p:sp>
        <p:nvSpPr>
          <p:cNvPr id="250" name="Ex4_GridBox"/>
          <p:cNvSpPr/>
          <p:nvPr/>
        </p:nvSpPr>
        <p:spPr>
          <a:xfrm>
            <a:off x="2514600" y="2006600"/>
            <a:ext cx="2641600" cy="264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400" name="Ex4b_gv"/>
          <p:cNvCxnSpPr/>
          <p:nvPr/>
        </p:nvCxnSpPr>
        <p:spPr>
          <a:xfrm>
            <a:off x="26670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1" name="Ex4b_gh"/>
          <p:cNvCxnSpPr/>
          <p:nvPr/>
        </p:nvCxnSpPr>
        <p:spPr>
          <a:xfrm>
            <a:off x="2667000" y="21590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2" name="Ex4b_gv"/>
          <p:cNvCxnSpPr/>
          <p:nvPr/>
        </p:nvCxnSpPr>
        <p:spPr>
          <a:xfrm>
            <a:off x="29591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3" name="Ex4b_gh"/>
          <p:cNvCxnSpPr/>
          <p:nvPr/>
        </p:nvCxnSpPr>
        <p:spPr>
          <a:xfrm>
            <a:off x="2667000" y="24511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4" name="Ex4b_gv"/>
          <p:cNvCxnSpPr/>
          <p:nvPr/>
        </p:nvCxnSpPr>
        <p:spPr>
          <a:xfrm>
            <a:off x="32512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5" name="Ex4b_gh"/>
          <p:cNvCxnSpPr/>
          <p:nvPr/>
        </p:nvCxnSpPr>
        <p:spPr>
          <a:xfrm>
            <a:off x="2667000" y="27432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6" name="Ex4b_gv"/>
          <p:cNvCxnSpPr/>
          <p:nvPr/>
        </p:nvCxnSpPr>
        <p:spPr>
          <a:xfrm>
            <a:off x="35433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7" name="Ex4b_gh"/>
          <p:cNvCxnSpPr/>
          <p:nvPr/>
        </p:nvCxnSpPr>
        <p:spPr>
          <a:xfrm>
            <a:off x="2667000" y="30353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08" name="Ex4b_gv"/>
          <p:cNvCxnSpPr/>
          <p:nvPr/>
        </p:nvCxnSpPr>
        <p:spPr>
          <a:xfrm>
            <a:off x="3835400" y="2159000"/>
            <a:ext cx="0" cy="23368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9" name="Ex4b_gh"/>
          <p:cNvCxnSpPr/>
          <p:nvPr/>
        </p:nvCxnSpPr>
        <p:spPr>
          <a:xfrm>
            <a:off x="2667000" y="3327400"/>
            <a:ext cx="2336800" cy="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10" name="Ex4b_gv"/>
          <p:cNvCxnSpPr/>
          <p:nvPr/>
        </p:nvCxnSpPr>
        <p:spPr>
          <a:xfrm>
            <a:off x="41275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1" name="Ex4b_gh"/>
          <p:cNvCxnSpPr/>
          <p:nvPr/>
        </p:nvCxnSpPr>
        <p:spPr>
          <a:xfrm>
            <a:off x="2667000" y="36195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2" name="Ex4b_gv"/>
          <p:cNvCxnSpPr/>
          <p:nvPr/>
        </p:nvCxnSpPr>
        <p:spPr>
          <a:xfrm>
            <a:off x="44196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3" name="Ex4b_gh"/>
          <p:cNvCxnSpPr/>
          <p:nvPr/>
        </p:nvCxnSpPr>
        <p:spPr>
          <a:xfrm>
            <a:off x="2667000" y="39116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4" name="Ex4b_gv"/>
          <p:cNvCxnSpPr/>
          <p:nvPr/>
        </p:nvCxnSpPr>
        <p:spPr>
          <a:xfrm>
            <a:off x="47117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5" name="Ex4b_gh"/>
          <p:cNvCxnSpPr/>
          <p:nvPr/>
        </p:nvCxnSpPr>
        <p:spPr>
          <a:xfrm>
            <a:off x="2667000" y="42037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6" name="Ex4b_gv"/>
          <p:cNvCxnSpPr/>
          <p:nvPr/>
        </p:nvCxnSpPr>
        <p:spPr>
          <a:xfrm>
            <a:off x="5003800" y="21590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417" name="Ex4b_gh"/>
          <p:cNvCxnSpPr/>
          <p:nvPr/>
        </p:nvCxnSpPr>
        <p:spPr>
          <a:xfrm>
            <a:off x="2667000" y="44958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sp>
        <p:nvSpPr>
          <p:cNvPr id="418" name="Ex4b_lx"/>
          <p:cNvSpPr/>
          <p:nvPr/>
        </p:nvSpPr>
        <p:spPr>
          <a:xfrm>
            <a:off x="4927600" y="33528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419" name="Ex4b_ly"/>
          <p:cNvSpPr/>
          <p:nvPr/>
        </p:nvSpPr>
        <p:spPr>
          <a:xfrm>
            <a:off x="3873500" y="21336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290" name="Ex4_GridCap"/>
          <p:cNvSpPr/>
          <p:nvPr/>
        </p:nvSpPr>
        <p:spPr>
          <a:xfrm>
            <a:off x="2514600" y="4673600"/>
            <a:ext cx="2641600" cy="177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Arial"/>
              </a:rPr>
              <a:t>Blank grid — plot a, b, c, d here.</a:t>
            </a:r>
          </a:p>
        </p:txBody>
      </p:sp>
      <p:sp>
        <p:nvSpPr>
          <p:cNvPr id="210" name="Ex4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1.  Plot each vector as a point (x, y).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2.  Draw an arrow from the origin to it.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</a:rPr>
              <a:t>3.  Note which quadrant each lands in.</a:t>
            </a:r>
          </a:p>
          <a:p>
            <a:pPr algn="l"/>
            <a:endParaRPr lang="en-US" sz="120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</a:rPr>
              <a:t>Then reveal the solution grid to check.</a:t>
            </a:r>
          </a:p>
        </p:txBody>
      </p:sp>
      <p:sp>
        <p:nvSpPr>
          <p:cNvPr id="220" name="Ex4_SolBox"/>
          <p:cNvSpPr/>
          <p:nvPr/>
        </p:nvSpPr>
        <p:spPr>
          <a:xfrm>
            <a:off x="6858000" y="3378200"/>
            <a:ext cx="5041900" cy="22098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500" name="Ex4s_gv"/>
          <p:cNvCxnSpPr/>
          <p:nvPr/>
        </p:nvCxnSpPr>
        <p:spPr>
          <a:xfrm>
            <a:off x="69596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1" name="Ex4s_gh"/>
          <p:cNvCxnSpPr/>
          <p:nvPr/>
        </p:nvCxnSpPr>
        <p:spPr>
          <a:xfrm>
            <a:off x="6959600" y="32258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2" name="Ex4s_gv"/>
          <p:cNvCxnSpPr/>
          <p:nvPr/>
        </p:nvCxnSpPr>
        <p:spPr>
          <a:xfrm>
            <a:off x="72517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3" name="Ex4s_gh"/>
          <p:cNvCxnSpPr/>
          <p:nvPr/>
        </p:nvCxnSpPr>
        <p:spPr>
          <a:xfrm>
            <a:off x="6959600" y="35179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4" name="Ex4s_gv"/>
          <p:cNvCxnSpPr/>
          <p:nvPr/>
        </p:nvCxnSpPr>
        <p:spPr>
          <a:xfrm>
            <a:off x="75438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5" name="Ex4s_gh"/>
          <p:cNvCxnSpPr/>
          <p:nvPr/>
        </p:nvCxnSpPr>
        <p:spPr>
          <a:xfrm>
            <a:off x="6959600" y="38100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6" name="Ex4s_gv"/>
          <p:cNvCxnSpPr/>
          <p:nvPr/>
        </p:nvCxnSpPr>
        <p:spPr>
          <a:xfrm>
            <a:off x="78359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7" name="Ex4s_gh"/>
          <p:cNvCxnSpPr/>
          <p:nvPr/>
        </p:nvCxnSpPr>
        <p:spPr>
          <a:xfrm>
            <a:off x="6959600" y="41021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08" name="Ex4s_gv"/>
          <p:cNvCxnSpPr/>
          <p:nvPr/>
        </p:nvCxnSpPr>
        <p:spPr>
          <a:xfrm>
            <a:off x="8128000" y="3225800"/>
            <a:ext cx="0" cy="23368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9" name="Ex4s_gh"/>
          <p:cNvCxnSpPr/>
          <p:nvPr/>
        </p:nvCxnSpPr>
        <p:spPr>
          <a:xfrm>
            <a:off x="6959600" y="4394200"/>
            <a:ext cx="2336800" cy="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10" name="Ex4s_gv"/>
          <p:cNvCxnSpPr/>
          <p:nvPr/>
        </p:nvCxnSpPr>
        <p:spPr>
          <a:xfrm>
            <a:off x="84201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1" name="Ex4s_gh"/>
          <p:cNvCxnSpPr/>
          <p:nvPr/>
        </p:nvCxnSpPr>
        <p:spPr>
          <a:xfrm>
            <a:off x="6959600" y="46863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2" name="Ex4s_gv"/>
          <p:cNvCxnSpPr/>
          <p:nvPr/>
        </p:nvCxnSpPr>
        <p:spPr>
          <a:xfrm>
            <a:off x="87122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3" name="Ex4s_gh"/>
          <p:cNvCxnSpPr/>
          <p:nvPr/>
        </p:nvCxnSpPr>
        <p:spPr>
          <a:xfrm>
            <a:off x="6959600" y="49784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4" name="Ex4s_gv"/>
          <p:cNvCxnSpPr/>
          <p:nvPr/>
        </p:nvCxnSpPr>
        <p:spPr>
          <a:xfrm>
            <a:off x="90043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5" name="Ex4s_gh"/>
          <p:cNvCxnSpPr/>
          <p:nvPr/>
        </p:nvCxnSpPr>
        <p:spPr>
          <a:xfrm>
            <a:off x="6959600" y="52705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6" name="Ex4s_gv"/>
          <p:cNvCxnSpPr/>
          <p:nvPr/>
        </p:nvCxnSpPr>
        <p:spPr>
          <a:xfrm>
            <a:off x="9296400" y="3225800"/>
            <a:ext cx="0" cy="233680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517" name="Ex4s_gh"/>
          <p:cNvCxnSpPr/>
          <p:nvPr/>
        </p:nvCxnSpPr>
        <p:spPr>
          <a:xfrm>
            <a:off x="6959600" y="5562600"/>
            <a:ext cx="2336800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sp>
        <p:nvSpPr>
          <p:cNvPr id="518" name="Ex4s_lx"/>
          <p:cNvSpPr/>
          <p:nvPr/>
        </p:nvSpPr>
        <p:spPr>
          <a:xfrm>
            <a:off x="9220200" y="44196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519" name="Ex4s_ly"/>
          <p:cNvSpPr/>
          <p:nvPr/>
        </p:nvSpPr>
        <p:spPr>
          <a:xfrm>
            <a:off x="8166100" y="3200400"/>
            <a:ext cx="3048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cxnSp>
        <p:nvCxnSpPr>
          <p:cNvPr id="520" name="Ex4s_arr"/>
          <p:cNvCxnSpPr/>
          <p:nvPr/>
        </p:nvCxnSpPr>
        <p:spPr>
          <a:xfrm flipV="1">
            <a:off x="8128000" y="4102100"/>
            <a:ext cx="876300" cy="292100"/>
          </a:xfrm>
          <a:prstGeom prst="line">
            <a:avLst/>
          </a:prstGeom>
          <a:ln w="19050">
            <a:solidFill>
              <a:srgbClr val="C0392B"/>
            </a:solidFill>
          </a:ln>
        </p:spPr>
      </p:cxnSp>
      <p:sp>
        <p:nvSpPr>
          <p:cNvPr id="521" name="Ex4s_dot"/>
          <p:cNvSpPr/>
          <p:nvPr/>
        </p:nvSpPr>
        <p:spPr>
          <a:xfrm>
            <a:off x="8959850" y="4057650"/>
            <a:ext cx="88900" cy="889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2" name="Ex4s_lbl"/>
          <p:cNvSpPr/>
          <p:nvPr/>
        </p:nvSpPr>
        <p:spPr>
          <a:xfrm>
            <a:off x="9042400" y="39370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C0392B"/>
                </a:solidFill>
                <a:latin typeface="Arial"/>
              </a:rPr>
              <a:t>a</a:t>
            </a:r>
          </a:p>
        </p:txBody>
      </p:sp>
      <p:cxnSp>
        <p:nvCxnSpPr>
          <p:cNvPr id="523" name="Ex4s_arr"/>
          <p:cNvCxnSpPr/>
          <p:nvPr/>
        </p:nvCxnSpPr>
        <p:spPr>
          <a:xfrm flipH="1" flipV="1">
            <a:off x="7543800" y="3810000"/>
            <a:ext cx="584200" cy="584200"/>
          </a:xfrm>
          <a:prstGeom prst="line">
            <a:avLst/>
          </a:prstGeom>
          <a:ln w="19050">
            <a:solidFill>
              <a:srgbClr val="1F77B4"/>
            </a:solidFill>
          </a:ln>
        </p:spPr>
      </p:cxnSp>
      <p:sp>
        <p:nvSpPr>
          <p:cNvPr id="524" name="Ex4s_dot"/>
          <p:cNvSpPr/>
          <p:nvPr/>
        </p:nvSpPr>
        <p:spPr>
          <a:xfrm>
            <a:off x="7499350" y="3765550"/>
            <a:ext cx="88900" cy="8890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5" name="Ex4s_lbl"/>
          <p:cNvSpPr/>
          <p:nvPr/>
        </p:nvSpPr>
        <p:spPr>
          <a:xfrm>
            <a:off x="7353300" y="36449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1F77B4"/>
                </a:solidFill>
                <a:latin typeface="Arial"/>
              </a:rPr>
              <a:t>b</a:t>
            </a:r>
          </a:p>
        </p:txBody>
      </p:sp>
      <p:cxnSp>
        <p:nvCxnSpPr>
          <p:cNvPr id="526" name="Ex4s_arr"/>
          <p:cNvCxnSpPr/>
          <p:nvPr/>
        </p:nvCxnSpPr>
        <p:spPr>
          <a:xfrm>
            <a:off x="8128000" y="4394200"/>
            <a:ext cx="292100" cy="876300"/>
          </a:xfrm>
          <a:prstGeom prst="line">
            <a:avLst/>
          </a:prstGeom>
          <a:ln w="19050">
            <a:solidFill>
              <a:srgbClr val="2CA02C"/>
            </a:solidFill>
          </a:ln>
        </p:spPr>
      </p:cxnSp>
      <p:sp>
        <p:nvSpPr>
          <p:cNvPr id="527" name="Ex4s_dot"/>
          <p:cNvSpPr/>
          <p:nvPr/>
        </p:nvSpPr>
        <p:spPr>
          <a:xfrm>
            <a:off x="8375650" y="5226050"/>
            <a:ext cx="88900" cy="88900"/>
          </a:xfrm>
          <a:prstGeom prst="ellipse">
            <a:avLst/>
          </a:prstGeom>
          <a:solidFill>
            <a:srgbClr val="2CA0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8" name="Ex4s_lbl"/>
          <p:cNvSpPr/>
          <p:nvPr/>
        </p:nvSpPr>
        <p:spPr>
          <a:xfrm>
            <a:off x="8458200" y="52832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2CA02C"/>
                </a:solidFill>
                <a:latin typeface="Arial"/>
              </a:rPr>
              <a:t>c</a:t>
            </a:r>
          </a:p>
        </p:txBody>
      </p:sp>
      <p:cxnSp>
        <p:nvCxnSpPr>
          <p:cNvPr id="529" name="Ex4s_arr"/>
          <p:cNvCxnSpPr/>
          <p:nvPr/>
        </p:nvCxnSpPr>
        <p:spPr>
          <a:xfrm flipH="1">
            <a:off x="7835900" y="4394200"/>
            <a:ext cx="292100" cy="584200"/>
          </a:xfrm>
          <a:prstGeom prst="line">
            <a:avLst/>
          </a:prstGeom>
          <a:ln w="19050">
            <a:solidFill>
              <a:srgbClr val="9467BD"/>
            </a:solidFill>
          </a:ln>
        </p:spPr>
      </p:cxnSp>
      <p:sp>
        <p:nvSpPr>
          <p:cNvPr id="530" name="Ex4s_dot"/>
          <p:cNvSpPr/>
          <p:nvPr/>
        </p:nvSpPr>
        <p:spPr>
          <a:xfrm>
            <a:off x="7791450" y="4933950"/>
            <a:ext cx="88900" cy="88900"/>
          </a:xfrm>
          <a:prstGeom prst="ellipse">
            <a:avLst/>
          </a:prstGeom>
          <a:solidFill>
            <a:srgbClr val="9467B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1" name="Ex4s_lbl"/>
          <p:cNvSpPr/>
          <p:nvPr/>
        </p:nvSpPr>
        <p:spPr>
          <a:xfrm>
            <a:off x="7645400" y="4991100"/>
            <a:ext cx="2032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7500" lnSpcReduction="20000"/>
          </a:bodyPr>
          <a:lstStyle/>
          <a:p>
            <a:pPr algn="l"/>
            <a:r>
              <a:rPr lang="en-US" sz="1000" b="1" dirty="0">
                <a:solidFill>
                  <a:srgbClr val="9467BD"/>
                </a:solidFill>
                <a:latin typeface="Arial"/>
              </a:rPr>
              <a:t>d</a:t>
            </a:r>
          </a:p>
        </p:txBody>
      </p:sp>
      <p:sp>
        <p:nvSpPr>
          <p:cNvPr id="225" name="Ex4_SolCap"/>
          <p:cNvSpPr/>
          <p:nvPr/>
        </p:nvSpPr>
        <p:spPr>
          <a:xfrm>
            <a:off x="9448800" y="3378200"/>
            <a:ext cx="1905000" cy="20320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l"/>
            <a:r>
              <a:rPr lang="en-US" sz="1200" b="1" dirty="0">
                <a:solidFill>
                  <a:srgbClr val="5A8A2A"/>
                </a:solidFill>
                <a:latin typeface="Arial"/>
              </a:rPr>
              <a:t>Solution</a:t>
            </a:r>
          </a:p>
          <a:p>
            <a:pPr algn="l"/>
            <a:r>
              <a:rPr lang="en-US" sz="1100" b="1" dirty="0">
                <a:solidFill>
                  <a:srgbClr val="C0392B"/>
                </a:solidFill>
                <a:latin typeface="Consolas"/>
              </a:rPr>
              <a:t>a → Q1</a:t>
            </a:r>
          </a:p>
          <a:p>
            <a:pPr algn="l"/>
            <a:r>
              <a:rPr lang="en-US" sz="1100" b="1" dirty="0">
                <a:solidFill>
                  <a:srgbClr val="1F77B4"/>
                </a:solidFill>
                <a:latin typeface="Consolas"/>
              </a:rPr>
              <a:t>b → Q2</a:t>
            </a:r>
          </a:p>
          <a:p>
            <a:pPr algn="l"/>
            <a:r>
              <a:rPr lang="en-US" sz="1100" b="1" dirty="0">
                <a:solidFill>
                  <a:srgbClr val="2CA02C"/>
                </a:solidFill>
                <a:latin typeface="Consolas"/>
              </a:rPr>
              <a:t>c → Q4</a:t>
            </a:r>
          </a:p>
          <a:p>
            <a:pPr algn="l"/>
            <a:r>
              <a:rPr lang="en-US" sz="1100" b="1" dirty="0">
                <a:solidFill>
                  <a:srgbClr val="9467BD"/>
                </a:solidFill>
                <a:latin typeface="Consolas"/>
              </a:rPr>
              <a:t>d → Q3</a:t>
            </a:r>
          </a:p>
        </p:txBody>
      </p:sp>
      <p:sp>
        <p:nvSpPr>
          <p:cNvPr id="230" name="Ex4_SolCover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4_SolCoverTxt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🔒  Solution hidden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Arial"/>
              </a:rPr>
              <a:t>Plot the four vectors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11100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Exercise 5 — Plot two vectors in 3D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Sketch each vector on the 3D axes (x, y, z), then check against the hidden solution.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Vectors to plot — and your blank 3D axes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Your task — sketch on the axes at left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1300" i="1">
              <a:solidFill>
                <a:srgbClr val="00A7B5"/>
              </a:solidFill>
              <a:latin typeface="Cambria Math"/>
              <a:ea typeface="Cambria Math"/>
            </a:endParaRP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 3D vector is an ordered triple (x, y, z) — three coordinates locate one point in space.</a:t>
            </a:r>
          </a:p>
        </p:txBody>
      </p:sp>
      <p:sp>
        <p:nvSpPr>
          <p:cNvPr id="202" name="Ex5_DataHdr"/>
          <p:cNvSpPr/>
          <p:nvPr/>
        </p:nvSpPr>
        <p:spPr>
          <a:xfrm>
            <a:off x="558800" y="1752600"/>
            <a:ext cx="317500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Arial"/>
              </a:rPr>
              <a:t>Vectors to plot</a:t>
            </a:r>
          </a:p>
        </p:txBody>
      </p:sp>
      <p:sp>
        <p:nvSpPr>
          <p:cNvPr id="205" name="Ex5_VecBox"/>
          <p:cNvSpPr/>
          <p:nvPr/>
        </p:nvSpPr>
        <p:spPr>
          <a:xfrm>
            <a:off x="558800" y="2082800"/>
            <a:ext cx="1905000" cy="11684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Ex5_VecList"/>
          <p:cNvSpPr/>
          <p:nvPr/>
        </p:nvSpPr>
        <p:spPr>
          <a:xfrm>
            <a:off x="685800" y="2184400"/>
            <a:ext cx="1651000" cy="1016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300" b="1" dirty="0">
                <a:solidFill>
                  <a:srgbClr val="C0392B"/>
                </a:solidFill>
                <a:latin typeface="Consolas"/>
              </a:rPr>
              <a:t>u = (2, 3, 1)</a:t>
            </a:r>
          </a:p>
          <a:p>
            <a:pPr algn="l"/>
            <a:endParaRPr lang="en-US" sz="1300" b="1" dirty="0">
              <a:solidFill>
                <a:srgbClr val="C0392B"/>
              </a:solidFill>
              <a:latin typeface="Consolas"/>
            </a:endParaRPr>
          </a:p>
          <a:p>
            <a:pPr algn="l"/>
            <a:r>
              <a:rPr lang="en-US" sz="1300" b="1" dirty="0">
                <a:solidFill>
                  <a:srgbClr val="1F77B4"/>
                </a:solidFill>
                <a:latin typeface="Consolas"/>
              </a:rPr>
              <a:t>v = (-2, 1, 2)</a:t>
            </a:r>
          </a:p>
        </p:txBody>
      </p:sp>
      <p:sp>
        <p:nvSpPr>
          <p:cNvPr id="250" name="Ex5_AxBox"/>
          <p:cNvSpPr/>
          <p:nvPr/>
        </p:nvSpPr>
        <p:spPr>
          <a:xfrm>
            <a:off x="2616200" y="2133600"/>
            <a:ext cx="2667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E0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400" name="Ex5b_xn"/>
          <p:cNvCxnSpPr/>
          <p:nvPr/>
        </p:nvCxnSpPr>
        <p:spPr>
          <a:xfrm flipV="1">
            <a:off x="3810000" y="4457700"/>
            <a:ext cx="190500" cy="1143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401" name="Ex5b_yn"/>
          <p:cNvCxnSpPr/>
          <p:nvPr/>
        </p:nvCxnSpPr>
        <p:spPr>
          <a:xfrm flipH="1">
            <a:off x="3505200" y="4572000"/>
            <a:ext cx="304800" cy="127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402" name="Ex5b_x"/>
          <p:cNvCxnSpPr/>
          <p:nvPr/>
        </p:nvCxnSpPr>
        <p:spPr>
          <a:xfrm flipH="1">
            <a:off x="3048000" y="4572000"/>
            <a:ext cx="762000" cy="4572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3" name="Ex5b_y"/>
          <p:cNvCxnSpPr/>
          <p:nvPr/>
        </p:nvCxnSpPr>
        <p:spPr>
          <a:xfrm>
            <a:off x="3810000" y="4572000"/>
            <a:ext cx="1219200" cy="127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404" name="Ex5b_z"/>
          <p:cNvCxnSpPr/>
          <p:nvPr/>
        </p:nvCxnSpPr>
        <p:spPr>
          <a:xfrm flipV="1">
            <a:off x="3810000" y="3454400"/>
            <a:ext cx="12700" cy="11176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sp>
        <p:nvSpPr>
          <p:cNvPr id="405" name="Ex5b_lx"/>
          <p:cNvSpPr/>
          <p:nvPr/>
        </p:nvSpPr>
        <p:spPr>
          <a:xfrm>
            <a:off x="2819400" y="50546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406" name="Ex5b_ly"/>
          <p:cNvSpPr/>
          <p:nvPr/>
        </p:nvSpPr>
        <p:spPr>
          <a:xfrm>
            <a:off x="5054600" y="4495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407" name="Ex5b_lz"/>
          <p:cNvSpPr/>
          <p:nvPr/>
        </p:nvSpPr>
        <p:spPr>
          <a:xfrm>
            <a:off x="3759200" y="32766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z</a:t>
            </a:r>
          </a:p>
        </p:txBody>
      </p:sp>
      <p:sp>
        <p:nvSpPr>
          <p:cNvPr id="408" name="Ex5b_tx"/>
          <p:cNvSpPr/>
          <p:nvPr/>
        </p:nvSpPr>
        <p:spPr>
          <a:xfrm>
            <a:off x="3600450" y="46672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9" name="Ex5b_ty"/>
          <p:cNvSpPr/>
          <p:nvPr/>
        </p:nvSpPr>
        <p:spPr>
          <a:xfrm>
            <a:off x="40957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Ex5b_tz"/>
          <p:cNvSpPr/>
          <p:nvPr/>
        </p:nvSpPr>
        <p:spPr>
          <a:xfrm>
            <a:off x="3790950" y="4273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Ex5b_tx"/>
          <p:cNvSpPr/>
          <p:nvPr/>
        </p:nvSpPr>
        <p:spPr>
          <a:xfrm>
            <a:off x="3409950" y="4781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2" name="Ex5b_ty"/>
          <p:cNvSpPr/>
          <p:nvPr/>
        </p:nvSpPr>
        <p:spPr>
          <a:xfrm>
            <a:off x="44005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3" name="Ex5b_tz"/>
          <p:cNvSpPr/>
          <p:nvPr/>
        </p:nvSpPr>
        <p:spPr>
          <a:xfrm>
            <a:off x="3790950" y="3994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4" name="Ex5b_tx"/>
          <p:cNvSpPr/>
          <p:nvPr/>
        </p:nvSpPr>
        <p:spPr>
          <a:xfrm>
            <a:off x="3219450" y="48958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5" name="Ex5b_ty"/>
          <p:cNvSpPr/>
          <p:nvPr/>
        </p:nvSpPr>
        <p:spPr>
          <a:xfrm>
            <a:off x="47053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6" name="Ex5b_tz"/>
          <p:cNvSpPr/>
          <p:nvPr/>
        </p:nvSpPr>
        <p:spPr>
          <a:xfrm>
            <a:off x="3790950" y="3714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7" name="Ex5b_tx"/>
          <p:cNvSpPr/>
          <p:nvPr/>
        </p:nvSpPr>
        <p:spPr>
          <a:xfrm>
            <a:off x="3028950" y="5010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8" name="Ex5b_ty"/>
          <p:cNvSpPr/>
          <p:nvPr/>
        </p:nvSpPr>
        <p:spPr>
          <a:xfrm>
            <a:off x="5010150" y="4552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9" name="Ex5b_tz"/>
          <p:cNvSpPr/>
          <p:nvPr/>
        </p:nvSpPr>
        <p:spPr>
          <a:xfrm>
            <a:off x="3790950" y="3435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0" name="Ex5_AxCap"/>
          <p:cNvSpPr/>
          <p:nvPr/>
        </p:nvSpPr>
        <p:spPr>
          <a:xfrm>
            <a:off x="2616200" y="5334000"/>
            <a:ext cx="2667000" cy="1778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92500" lnSpcReduction="10000"/>
          </a:bodyPr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Arial"/>
              </a:rPr>
              <a:t>Blank 3D axes — sketch u and v here.</a:t>
            </a:r>
          </a:p>
        </p:txBody>
      </p:sp>
      <p:sp>
        <p:nvSpPr>
          <p:cNvPr id="210" name="Ex5_TaskTxt"/>
          <p:cNvSpPr/>
          <p:nvPr/>
        </p:nvSpPr>
        <p:spPr>
          <a:xfrm>
            <a:off x="7099300" y="1778000"/>
            <a:ext cx="4622800" cy="1524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1.  For each vector, step x along x, y along y,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     then z up — mark the head point.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2.  Draw an arrow from the origin to it.</a:t>
            </a:r>
          </a:p>
          <a:p>
            <a:pPr algn="l"/>
            <a:r>
              <a:rPr lang="en-US" sz="1150" dirty="0">
                <a:solidFill>
                  <a:srgbClr val="333333"/>
                </a:solidFill>
                <a:latin typeface="Arial"/>
              </a:rPr>
              <a:t>3.  Use dashed guides to show the height.</a:t>
            </a:r>
          </a:p>
          <a:p>
            <a:pPr algn="l"/>
            <a:endParaRPr lang="en-US" sz="1150" dirty="0">
              <a:solidFill>
                <a:srgbClr val="333333"/>
              </a:solidFill>
              <a:latin typeface="Arial"/>
            </a:endParaRPr>
          </a:p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</a:rPr>
              <a:t>Then reveal the solution to check.</a:t>
            </a:r>
          </a:p>
        </p:txBody>
      </p:sp>
      <p:sp>
        <p:nvSpPr>
          <p:cNvPr id="220" name="Ex5_SolBox"/>
          <p:cNvSpPr/>
          <p:nvPr/>
        </p:nvSpPr>
        <p:spPr>
          <a:xfrm>
            <a:off x="6858000" y="3327400"/>
            <a:ext cx="5041900" cy="22860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500" name="Ex5s_xn"/>
          <p:cNvCxnSpPr/>
          <p:nvPr/>
        </p:nvCxnSpPr>
        <p:spPr>
          <a:xfrm flipV="1">
            <a:off x="8763000" y="4787900"/>
            <a:ext cx="190500" cy="1143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501" name="Ex5s_yn"/>
          <p:cNvCxnSpPr/>
          <p:nvPr/>
        </p:nvCxnSpPr>
        <p:spPr>
          <a:xfrm flipH="1">
            <a:off x="8458200" y="4902200"/>
            <a:ext cx="304800" cy="12700"/>
          </a:xfrm>
          <a:prstGeom prst="line">
            <a:avLst/>
          </a:prstGeom>
          <a:ln w="9525">
            <a:solidFill>
              <a:srgbClr val="CCCCCC"/>
            </a:solidFill>
          </a:ln>
        </p:spPr>
      </p:cxnSp>
      <p:cxnSp>
        <p:nvCxnSpPr>
          <p:cNvPr id="502" name="Ex5s_x"/>
          <p:cNvCxnSpPr/>
          <p:nvPr/>
        </p:nvCxnSpPr>
        <p:spPr>
          <a:xfrm flipH="1">
            <a:off x="8001000" y="4902200"/>
            <a:ext cx="762000" cy="4572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3" name="Ex5s_y"/>
          <p:cNvCxnSpPr/>
          <p:nvPr/>
        </p:nvCxnSpPr>
        <p:spPr>
          <a:xfrm>
            <a:off x="8763000" y="4902200"/>
            <a:ext cx="1219200" cy="127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cxnSp>
        <p:nvCxnSpPr>
          <p:cNvPr id="504" name="Ex5s_z"/>
          <p:cNvCxnSpPr/>
          <p:nvPr/>
        </p:nvCxnSpPr>
        <p:spPr>
          <a:xfrm flipV="1">
            <a:off x="8763000" y="3784600"/>
            <a:ext cx="12700" cy="1117600"/>
          </a:xfrm>
          <a:prstGeom prst="line">
            <a:avLst/>
          </a:prstGeom>
          <a:ln w="19050">
            <a:solidFill>
              <a:srgbClr val="888888"/>
            </a:solidFill>
          </a:ln>
        </p:spPr>
      </p:cxnSp>
      <p:sp>
        <p:nvSpPr>
          <p:cNvPr id="505" name="Ex5s_lx"/>
          <p:cNvSpPr/>
          <p:nvPr/>
        </p:nvSpPr>
        <p:spPr>
          <a:xfrm>
            <a:off x="7772400" y="5384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x</a:t>
            </a:r>
          </a:p>
        </p:txBody>
      </p:sp>
      <p:sp>
        <p:nvSpPr>
          <p:cNvPr id="506" name="Ex5s_ly"/>
          <p:cNvSpPr/>
          <p:nvPr/>
        </p:nvSpPr>
        <p:spPr>
          <a:xfrm>
            <a:off x="10007600" y="48260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y</a:t>
            </a:r>
          </a:p>
        </p:txBody>
      </p:sp>
      <p:sp>
        <p:nvSpPr>
          <p:cNvPr id="507" name="Ex5s_lz"/>
          <p:cNvSpPr/>
          <p:nvPr/>
        </p:nvSpPr>
        <p:spPr>
          <a:xfrm>
            <a:off x="8712200" y="3606800"/>
            <a:ext cx="2286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888888"/>
                </a:solidFill>
                <a:latin typeface="Arial"/>
              </a:rPr>
              <a:t>z</a:t>
            </a:r>
          </a:p>
        </p:txBody>
      </p:sp>
      <p:sp>
        <p:nvSpPr>
          <p:cNvPr id="508" name="Ex5s_tx"/>
          <p:cNvSpPr/>
          <p:nvPr/>
        </p:nvSpPr>
        <p:spPr>
          <a:xfrm>
            <a:off x="8553450" y="49974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9" name="Ex5s_ty"/>
          <p:cNvSpPr/>
          <p:nvPr/>
        </p:nvSpPr>
        <p:spPr>
          <a:xfrm>
            <a:off x="90487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Ex5s_tz"/>
          <p:cNvSpPr/>
          <p:nvPr/>
        </p:nvSpPr>
        <p:spPr>
          <a:xfrm>
            <a:off x="8743950" y="4603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Ex5s_tx"/>
          <p:cNvSpPr/>
          <p:nvPr/>
        </p:nvSpPr>
        <p:spPr>
          <a:xfrm>
            <a:off x="8362950" y="51117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2" name="Ex5s_ty"/>
          <p:cNvSpPr/>
          <p:nvPr/>
        </p:nvSpPr>
        <p:spPr>
          <a:xfrm>
            <a:off x="93535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Ex5s_tz"/>
          <p:cNvSpPr/>
          <p:nvPr/>
        </p:nvSpPr>
        <p:spPr>
          <a:xfrm>
            <a:off x="8743950" y="4324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4" name="Ex5s_tx"/>
          <p:cNvSpPr/>
          <p:nvPr/>
        </p:nvSpPr>
        <p:spPr>
          <a:xfrm>
            <a:off x="8172450" y="52260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Ex5s_ty"/>
          <p:cNvSpPr/>
          <p:nvPr/>
        </p:nvSpPr>
        <p:spPr>
          <a:xfrm>
            <a:off x="96583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6" name="Ex5s_tz"/>
          <p:cNvSpPr/>
          <p:nvPr/>
        </p:nvSpPr>
        <p:spPr>
          <a:xfrm>
            <a:off x="8743950" y="40449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7" name="Ex5s_tx"/>
          <p:cNvSpPr/>
          <p:nvPr/>
        </p:nvSpPr>
        <p:spPr>
          <a:xfrm>
            <a:off x="7981950" y="53403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8" name="Ex5s_ty"/>
          <p:cNvSpPr/>
          <p:nvPr/>
        </p:nvSpPr>
        <p:spPr>
          <a:xfrm>
            <a:off x="9963150" y="48831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9" name="Ex5s_tz"/>
          <p:cNvSpPr/>
          <p:nvPr/>
        </p:nvSpPr>
        <p:spPr>
          <a:xfrm>
            <a:off x="8743950" y="3765550"/>
            <a:ext cx="38100" cy="381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520" name="Ex5s_gf"/>
          <p:cNvCxnSpPr/>
          <p:nvPr/>
        </p:nvCxnSpPr>
        <p:spPr>
          <a:xfrm>
            <a:off x="8763000" y="4902200"/>
            <a:ext cx="533400" cy="228600"/>
          </a:xfrm>
          <a:prstGeom prst="line">
            <a:avLst/>
          </a:prstGeom>
          <a:ln w="9525">
            <a:solidFill>
              <a:srgbClr val="C0392B"/>
            </a:solidFill>
            <a:prstDash val="dash"/>
          </a:ln>
        </p:spPr>
      </p:cxnSp>
      <p:cxnSp>
        <p:nvCxnSpPr>
          <p:cNvPr id="521" name="Ex5s_gu"/>
          <p:cNvCxnSpPr/>
          <p:nvPr/>
        </p:nvCxnSpPr>
        <p:spPr>
          <a:xfrm flipV="1">
            <a:off x="9296400" y="4851400"/>
            <a:ext cx="12700" cy="279400"/>
          </a:xfrm>
          <a:prstGeom prst="line">
            <a:avLst/>
          </a:prstGeom>
          <a:ln w="9525">
            <a:solidFill>
              <a:srgbClr val="C0392B"/>
            </a:solidFill>
            <a:prstDash val="dash"/>
          </a:ln>
        </p:spPr>
      </p:cxnSp>
      <p:cxnSp>
        <p:nvCxnSpPr>
          <p:cNvPr id="522" name="Ex5s_arr"/>
          <p:cNvCxnSpPr/>
          <p:nvPr/>
        </p:nvCxnSpPr>
        <p:spPr>
          <a:xfrm flipV="1">
            <a:off x="8763000" y="4851400"/>
            <a:ext cx="533400" cy="50800"/>
          </a:xfrm>
          <a:prstGeom prst="line">
            <a:avLst/>
          </a:prstGeom>
          <a:ln w="28575">
            <a:solidFill>
              <a:srgbClr val="C0392B"/>
            </a:solidFill>
          </a:ln>
        </p:spPr>
      </p:cxnSp>
      <p:sp>
        <p:nvSpPr>
          <p:cNvPr id="523" name="Ex5s_dot"/>
          <p:cNvSpPr/>
          <p:nvPr/>
        </p:nvSpPr>
        <p:spPr>
          <a:xfrm>
            <a:off x="9251950" y="4806950"/>
            <a:ext cx="88900" cy="889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4" name="Ex5s_lbl"/>
          <p:cNvSpPr/>
          <p:nvPr/>
        </p:nvSpPr>
        <p:spPr>
          <a:xfrm>
            <a:off x="9347200" y="4699000"/>
            <a:ext cx="5080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200" b="1" dirty="0">
                <a:solidFill>
                  <a:srgbClr val="C0392B"/>
                </a:solidFill>
                <a:latin typeface="Arial"/>
              </a:rPr>
              <a:t>u</a:t>
            </a:r>
          </a:p>
        </p:txBody>
      </p:sp>
      <p:cxnSp>
        <p:nvCxnSpPr>
          <p:cNvPr id="525" name="Ex5s_gf"/>
          <p:cNvCxnSpPr/>
          <p:nvPr/>
        </p:nvCxnSpPr>
        <p:spPr>
          <a:xfrm flipV="1">
            <a:off x="8763000" y="4673600"/>
            <a:ext cx="685800" cy="228600"/>
          </a:xfrm>
          <a:prstGeom prst="line">
            <a:avLst/>
          </a:prstGeom>
          <a:ln w="9525">
            <a:solidFill>
              <a:srgbClr val="1F77B4"/>
            </a:solidFill>
            <a:prstDash val="dash"/>
          </a:ln>
        </p:spPr>
      </p:cxnSp>
      <p:cxnSp>
        <p:nvCxnSpPr>
          <p:cNvPr id="526" name="Ex5s_gu"/>
          <p:cNvCxnSpPr/>
          <p:nvPr/>
        </p:nvCxnSpPr>
        <p:spPr>
          <a:xfrm flipV="1">
            <a:off x="9448800" y="4114800"/>
            <a:ext cx="12700" cy="558800"/>
          </a:xfrm>
          <a:prstGeom prst="line">
            <a:avLst/>
          </a:prstGeom>
          <a:ln w="9525">
            <a:solidFill>
              <a:srgbClr val="1F77B4"/>
            </a:solidFill>
            <a:prstDash val="dash"/>
          </a:ln>
        </p:spPr>
      </p:cxnSp>
      <p:cxnSp>
        <p:nvCxnSpPr>
          <p:cNvPr id="527" name="Ex5s_arr"/>
          <p:cNvCxnSpPr/>
          <p:nvPr/>
        </p:nvCxnSpPr>
        <p:spPr>
          <a:xfrm flipV="1">
            <a:off x="8763000" y="4114800"/>
            <a:ext cx="685800" cy="787400"/>
          </a:xfrm>
          <a:prstGeom prst="line">
            <a:avLst/>
          </a:prstGeom>
          <a:ln w="28575">
            <a:solidFill>
              <a:srgbClr val="1F77B4"/>
            </a:solidFill>
          </a:ln>
        </p:spPr>
      </p:cxnSp>
      <p:sp>
        <p:nvSpPr>
          <p:cNvPr id="528" name="Ex5s_dot"/>
          <p:cNvSpPr/>
          <p:nvPr/>
        </p:nvSpPr>
        <p:spPr>
          <a:xfrm>
            <a:off x="9404350" y="4070350"/>
            <a:ext cx="88900" cy="8890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9" name="Ex5s_lbl"/>
          <p:cNvSpPr/>
          <p:nvPr/>
        </p:nvSpPr>
        <p:spPr>
          <a:xfrm>
            <a:off x="9499600" y="3962400"/>
            <a:ext cx="508000" cy="152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 fontScale="70000" lnSpcReduction="20000"/>
          </a:bodyPr>
          <a:lstStyle/>
          <a:p>
            <a:pPr algn="l"/>
            <a:r>
              <a:rPr lang="en-US" sz="1200" b="1" dirty="0">
                <a:solidFill>
                  <a:srgbClr val="1F77B4"/>
                </a:solidFill>
                <a:latin typeface="Arial"/>
              </a:rPr>
              <a:t>v</a:t>
            </a:r>
          </a:p>
        </p:txBody>
      </p:sp>
      <p:sp>
        <p:nvSpPr>
          <p:cNvPr id="225" name="Ex5_SolCap"/>
          <p:cNvSpPr/>
          <p:nvPr/>
        </p:nvSpPr>
        <p:spPr>
          <a:xfrm>
            <a:off x="6959600" y="3403600"/>
            <a:ext cx="2286000" cy="508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rmAutofit/>
          </a:bodyPr>
          <a:lstStyle/>
          <a:p>
            <a:pPr algn="l"/>
            <a:r>
              <a:rPr lang="en-US" sz="1100" b="1" dirty="0">
                <a:solidFill>
                  <a:srgbClr val="5A8A2A"/>
                </a:solidFill>
                <a:latin typeface="Arial"/>
              </a:rPr>
              <a:t>Solution — heads at:</a:t>
            </a:r>
          </a:p>
          <a:p>
            <a:pPr algn="l"/>
            <a:r>
              <a:rPr lang="en-US" sz="1050" b="1" dirty="0">
                <a:solidFill>
                  <a:srgbClr val="333333"/>
                </a:solidFill>
                <a:latin typeface="Consolas"/>
              </a:rPr>
              <a:t>u=(2,3,1)  v=(-2,1,2)</a:t>
            </a:r>
          </a:p>
        </p:txBody>
      </p:sp>
      <p:sp>
        <p:nvSpPr>
          <p:cNvPr id="230" name="Ex5_SolCover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5_SolCoverTxt"/>
          <p:cNvSpPr/>
          <p:nvPr/>
        </p:nvSpPr>
        <p:spPr>
          <a:xfrm>
            <a:off x="6858000" y="3149600"/>
            <a:ext cx="5041900" cy="2489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/>
              </a:rPr>
              <a:t>🔒  Solution hidden</a:t>
            </a:r>
          </a:p>
          <a:p>
            <a:pPr algn="ctr"/>
            <a:r>
              <a:rPr lang="en-US" sz="1100" dirty="0">
                <a:solidFill>
                  <a:srgbClr val="FFFFFF"/>
                </a:solidFill>
                <a:latin typeface="Arial"/>
              </a:rPr>
              <a:t>Sketch both vectors on the axes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88399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01DCDD78-BF3A-9F40-97F2-E58A0D5FA9B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A2E863-7308-5D49-9E5B-17E3FF58BF07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Matrices — Example 2: a grayscale image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65C98DF-E3C6-E043-BD61-103585B5FE4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Each row = pixel row. Each column = pixel column. Each cell = brightness (0=black, 255=white).</a:t>
            </a:r>
          </a:p>
        </p:txBody>
      </p:sp>
      <p:sp>
        <p:nvSpPr>
          <p:cNvPr id="5" name="LeftPanel">
            <a:extLst>
              <a:ext uri="{FF2B5EF4-FFF2-40B4-BE49-F238E27FC236}">
                <a16:creationId xmlns:a16="http://schemas.microsoft.com/office/drawing/2014/main" id="{1BAD9B53-E389-6946-91A8-4E749ADA093F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LeftHdr">
            <a:extLst>
              <a:ext uri="{FF2B5EF4-FFF2-40B4-BE49-F238E27FC236}">
                <a16:creationId xmlns:a16="http://schemas.microsoft.com/office/drawing/2014/main" id="{FFFD23BA-8A50-414E-B275-7B14BD08A322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Image: 4×4 grayscale tile</a:t>
            </a:r>
          </a:p>
        </p:txBody>
      </p:sp>
      <p:sp>
        <p:nvSpPr>
          <p:cNvPr id="7" name="Pixel">
            <a:extLst>
              <a:ext uri="{FF2B5EF4-FFF2-40B4-BE49-F238E27FC236}">
                <a16:creationId xmlns:a16="http://schemas.microsoft.com/office/drawing/2014/main" id="{024ED204-1AAC-2344-AD6F-8BF481326C6E}"/>
              </a:ext>
            </a:extLst>
          </p:cNvPr>
          <p:cNvSpPr/>
          <p:nvPr/>
        </p:nvSpPr>
        <p:spPr>
          <a:xfrm>
            <a:off x="1143000" y="1727200"/>
            <a:ext cx="711200" cy="711200"/>
          </a:xfrm>
          <a:prstGeom prst="rect">
            <a:avLst/>
          </a:prstGeom>
          <a:solidFill>
            <a:srgbClr val="1E1E1E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PxLbl">
            <a:extLst>
              <a:ext uri="{FF2B5EF4-FFF2-40B4-BE49-F238E27FC236}">
                <a16:creationId xmlns:a16="http://schemas.microsoft.com/office/drawing/2014/main" id="{EE4F0FF4-8B21-494B-B83B-23AF5E1E574C}"/>
              </a:ext>
            </a:extLst>
          </p:cNvPr>
          <p:cNvSpPr txBox="1"/>
          <p:nvPr/>
        </p:nvSpPr>
        <p:spPr>
          <a:xfrm>
            <a:off x="11430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9" name="Pixel">
            <a:extLst>
              <a:ext uri="{FF2B5EF4-FFF2-40B4-BE49-F238E27FC236}">
                <a16:creationId xmlns:a16="http://schemas.microsoft.com/office/drawing/2014/main" id="{C0691969-52CA-634A-B61F-8CCE1BEFABE0}"/>
              </a:ext>
            </a:extLst>
          </p:cNvPr>
          <p:cNvSpPr/>
          <p:nvPr/>
        </p:nvSpPr>
        <p:spPr>
          <a:xfrm>
            <a:off x="1854200" y="1727200"/>
            <a:ext cx="711200" cy="711200"/>
          </a:xfrm>
          <a:prstGeom prst="rect">
            <a:avLst/>
          </a:prstGeom>
          <a:solidFill>
            <a:srgbClr val="3C3C3C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PxLbl">
            <a:extLst>
              <a:ext uri="{FF2B5EF4-FFF2-40B4-BE49-F238E27FC236}">
                <a16:creationId xmlns:a16="http://schemas.microsoft.com/office/drawing/2014/main" id="{19F4D6BE-D5BD-D44D-B4BC-585DBD517181}"/>
              </a:ext>
            </a:extLst>
          </p:cNvPr>
          <p:cNvSpPr txBox="1"/>
          <p:nvPr/>
        </p:nvSpPr>
        <p:spPr>
          <a:xfrm>
            <a:off x="18542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11" name="Pixel">
            <a:extLst>
              <a:ext uri="{FF2B5EF4-FFF2-40B4-BE49-F238E27FC236}">
                <a16:creationId xmlns:a16="http://schemas.microsoft.com/office/drawing/2014/main" id="{65C114EC-353D-2B48-AFFB-606F080313A4}"/>
              </a:ext>
            </a:extLst>
          </p:cNvPr>
          <p:cNvSpPr/>
          <p:nvPr/>
        </p:nvSpPr>
        <p:spPr>
          <a:xfrm>
            <a:off x="2565400" y="17272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PxLbl">
            <a:extLst>
              <a:ext uri="{FF2B5EF4-FFF2-40B4-BE49-F238E27FC236}">
                <a16:creationId xmlns:a16="http://schemas.microsoft.com/office/drawing/2014/main" id="{C0425E46-C26F-DB40-9CCF-9F0B4478517A}"/>
              </a:ext>
            </a:extLst>
          </p:cNvPr>
          <p:cNvSpPr txBox="1"/>
          <p:nvPr/>
        </p:nvSpPr>
        <p:spPr>
          <a:xfrm>
            <a:off x="25654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3" name="Pixel">
            <a:extLst>
              <a:ext uri="{FF2B5EF4-FFF2-40B4-BE49-F238E27FC236}">
                <a16:creationId xmlns:a16="http://schemas.microsoft.com/office/drawing/2014/main" id="{0B3DF4F2-7047-B54A-ACBB-321621C97B9A}"/>
              </a:ext>
            </a:extLst>
          </p:cNvPr>
          <p:cNvSpPr/>
          <p:nvPr/>
        </p:nvSpPr>
        <p:spPr>
          <a:xfrm>
            <a:off x="3276600" y="17272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PxLbl">
            <a:extLst>
              <a:ext uri="{FF2B5EF4-FFF2-40B4-BE49-F238E27FC236}">
                <a16:creationId xmlns:a16="http://schemas.microsoft.com/office/drawing/2014/main" id="{544A07BA-FC4E-BD46-92B9-255E97812405}"/>
              </a:ext>
            </a:extLst>
          </p:cNvPr>
          <p:cNvSpPr txBox="1"/>
          <p:nvPr/>
        </p:nvSpPr>
        <p:spPr>
          <a:xfrm>
            <a:off x="3276600" y="1955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15" name="Pixel">
            <a:extLst>
              <a:ext uri="{FF2B5EF4-FFF2-40B4-BE49-F238E27FC236}">
                <a16:creationId xmlns:a16="http://schemas.microsoft.com/office/drawing/2014/main" id="{3C8113E3-C0F1-7D44-AF87-42360518F6DF}"/>
              </a:ext>
            </a:extLst>
          </p:cNvPr>
          <p:cNvSpPr/>
          <p:nvPr/>
        </p:nvSpPr>
        <p:spPr>
          <a:xfrm>
            <a:off x="1143000" y="2438400"/>
            <a:ext cx="711200" cy="711200"/>
          </a:xfrm>
          <a:prstGeom prst="rect">
            <a:avLst/>
          </a:prstGeom>
          <a:solidFill>
            <a:srgbClr val="3C3C3C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PxLbl">
            <a:extLst>
              <a:ext uri="{FF2B5EF4-FFF2-40B4-BE49-F238E27FC236}">
                <a16:creationId xmlns:a16="http://schemas.microsoft.com/office/drawing/2014/main" id="{C41C11FD-D229-C345-A1FF-1DFCFB7D2226}"/>
              </a:ext>
            </a:extLst>
          </p:cNvPr>
          <p:cNvSpPr txBox="1"/>
          <p:nvPr/>
        </p:nvSpPr>
        <p:spPr>
          <a:xfrm>
            <a:off x="11430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17" name="Pixel">
            <a:extLst>
              <a:ext uri="{FF2B5EF4-FFF2-40B4-BE49-F238E27FC236}">
                <a16:creationId xmlns:a16="http://schemas.microsoft.com/office/drawing/2014/main" id="{69EC5820-DD40-704B-985B-92813B704218}"/>
              </a:ext>
            </a:extLst>
          </p:cNvPr>
          <p:cNvSpPr/>
          <p:nvPr/>
        </p:nvSpPr>
        <p:spPr>
          <a:xfrm>
            <a:off x="1854200" y="24384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PxLbl">
            <a:extLst>
              <a:ext uri="{FF2B5EF4-FFF2-40B4-BE49-F238E27FC236}">
                <a16:creationId xmlns:a16="http://schemas.microsoft.com/office/drawing/2014/main" id="{C1488ABD-C0A3-554E-8A44-46A64D2ABBB6}"/>
              </a:ext>
            </a:extLst>
          </p:cNvPr>
          <p:cNvSpPr txBox="1"/>
          <p:nvPr/>
        </p:nvSpPr>
        <p:spPr>
          <a:xfrm>
            <a:off x="18542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9" name="Pixel">
            <a:extLst>
              <a:ext uri="{FF2B5EF4-FFF2-40B4-BE49-F238E27FC236}">
                <a16:creationId xmlns:a16="http://schemas.microsoft.com/office/drawing/2014/main" id="{BFDBF3F7-DB8B-2044-932D-97B116CBD4D2}"/>
              </a:ext>
            </a:extLst>
          </p:cNvPr>
          <p:cNvSpPr/>
          <p:nvPr/>
        </p:nvSpPr>
        <p:spPr>
          <a:xfrm>
            <a:off x="2565400" y="24384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PxLbl">
            <a:extLst>
              <a:ext uri="{FF2B5EF4-FFF2-40B4-BE49-F238E27FC236}">
                <a16:creationId xmlns:a16="http://schemas.microsoft.com/office/drawing/2014/main" id="{EBA3B4C9-7E7F-C943-AA3A-1F8F1F9F5A69}"/>
              </a:ext>
            </a:extLst>
          </p:cNvPr>
          <p:cNvSpPr txBox="1"/>
          <p:nvPr/>
        </p:nvSpPr>
        <p:spPr>
          <a:xfrm>
            <a:off x="25654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29" name="Pixel">
            <a:extLst>
              <a:ext uri="{FF2B5EF4-FFF2-40B4-BE49-F238E27FC236}">
                <a16:creationId xmlns:a16="http://schemas.microsoft.com/office/drawing/2014/main" id="{35640BD8-875E-6E43-9BA6-4E0DDCB5CA78}"/>
              </a:ext>
            </a:extLst>
          </p:cNvPr>
          <p:cNvSpPr/>
          <p:nvPr/>
        </p:nvSpPr>
        <p:spPr>
          <a:xfrm>
            <a:off x="3276600" y="24384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PxLbl">
            <a:extLst>
              <a:ext uri="{FF2B5EF4-FFF2-40B4-BE49-F238E27FC236}">
                <a16:creationId xmlns:a16="http://schemas.microsoft.com/office/drawing/2014/main" id="{A3FFF1E1-1B78-3F42-8C6A-8DFE44DFFA06}"/>
              </a:ext>
            </a:extLst>
          </p:cNvPr>
          <p:cNvSpPr txBox="1"/>
          <p:nvPr/>
        </p:nvSpPr>
        <p:spPr>
          <a:xfrm>
            <a:off x="3276600" y="2667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31" name="Pixel">
            <a:extLst>
              <a:ext uri="{FF2B5EF4-FFF2-40B4-BE49-F238E27FC236}">
                <a16:creationId xmlns:a16="http://schemas.microsoft.com/office/drawing/2014/main" id="{608AC2E1-8907-3243-9AD4-2A11E42B1F6C}"/>
              </a:ext>
            </a:extLst>
          </p:cNvPr>
          <p:cNvSpPr/>
          <p:nvPr/>
        </p:nvSpPr>
        <p:spPr>
          <a:xfrm>
            <a:off x="1143000" y="3149600"/>
            <a:ext cx="711200" cy="711200"/>
          </a:xfrm>
          <a:prstGeom prst="rect">
            <a:avLst/>
          </a:prstGeom>
          <a:solidFill>
            <a:srgbClr val="787878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PxLbl">
            <a:extLst>
              <a:ext uri="{FF2B5EF4-FFF2-40B4-BE49-F238E27FC236}">
                <a16:creationId xmlns:a16="http://schemas.microsoft.com/office/drawing/2014/main" id="{64D5712D-F0B8-7847-A5FB-1AB1FE136B9B}"/>
              </a:ext>
            </a:extLst>
          </p:cNvPr>
          <p:cNvSpPr txBox="1"/>
          <p:nvPr/>
        </p:nvSpPr>
        <p:spPr>
          <a:xfrm>
            <a:off x="11430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33" name="Pixel">
            <a:extLst>
              <a:ext uri="{FF2B5EF4-FFF2-40B4-BE49-F238E27FC236}">
                <a16:creationId xmlns:a16="http://schemas.microsoft.com/office/drawing/2014/main" id="{13BA719D-68DC-C949-BA5E-4FA4FDBAC3A9}"/>
              </a:ext>
            </a:extLst>
          </p:cNvPr>
          <p:cNvSpPr/>
          <p:nvPr/>
        </p:nvSpPr>
        <p:spPr>
          <a:xfrm>
            <a:off x="1854200" y="31496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xLbl">
            <a:extLst>
              <a:ext uri="{FF2B5EF4-FFF2-40B4-BE49-F238E27FC236}">
                <a16:creationId xmlns:a16="http://schemas.microsoft.com/office/drawing/2014/main" id="{B6D0850D-4042-124D-9E79-FF13464C2CC0}"/>
              </a:ext>
            </a:extLst>
          </p:cNvPr>
          <p:cNvSpPr txBox="1"/>
          <p:nvPr/>
        </p:nvSpPr>
        <p:spPr>
          <a:xfrm>
            <a:off x="18542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35" name="Pixel">
            <a:extLst>
              <a:ext uri="{FF2B5EF4-FFF2-40B4-BE49-F238E27FC236}">
                <a16:creationId xmlns:a16="http://schemas.microsoft.com/office/drawing/2014/main" id="{511D5ABE-4694-334A-B99D-6DCC421C3760}"/>
              </a:ext>
            </a:extLst>
          </p:cNvPr>
          <p:cNvSpPr/>
          <p:nvPr/>
        </p:nvSpPr>
        <p:spPr>
          <a:xfrm>
            <a:off x="2565400" y="31496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PxLbl">
            <a:extLst>
              <a:ext uri="{FF2B5EF4-FFF2-40B4-BE49-F238E27FC236}">
                <a16:creationId xmlns:a16="http://schemas.microsoft.com/office/drawing/2014/main" id="{2584AE8D-CECC-0340-9721-1EA6213E0641}"/>
              </a:ext>
            </a:extLst>
          </p:cNvPr>
          <p:cNvSpPr txBox="1"/>
          <p:nvPr/>
        </p:nvSpPr>
        <p:spPr>
          <a:xfrm>
            <a:off x="25654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59" name="Pixel">
            <a:extLst>
              <a:ext uri="{FF2B5EF4-FFF2-40B4-BE49-F238E27FC236}">
                <a16:creationId xmlns:a16="http://schemas.microsoft.com/office/drawing/2014/main" id="{DFE4969B-FAC6-2245-BFA7-7E69A94FB908}"/>
              </a:ext>
            </a:extLst>
          </p:cNvPr>
          <p:cNvSpPr/>
          <p:nvPr/>
        </p:nvSpPr>
        <p:spPr>
          <a:xfrm>
            <a:off x="3276600" y="3149600"/>
            <a:ext cx="711200" cy="7112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PxLbl">
            <a:extLst>
              <a:ext uri="{FF2B5EF4-FFF2-40B4-BE49-F238E27FC236}">
                <a16:creationId xmlns:a16="http://schemas.microsoft.com/office/drawing/2014/main" id="{8E80CD18-E5AE-B441-9ED5-98708E10EFE7}"/>
              </a:ext>
            </a:extLst>
          </p:cNvPr>
          <p:cNvSpPr txBox="1"/>
          <p:nvPr/>
        </p:nvSpPr>
        <p:spPr>
          <a:xfrm>
            <a:off x="3276600" y="3378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250</a:t>
            </a:r>
          </a:p>
        </p:txBody>
      </p:sp>
      <p:sp>
        <p:nvSpPr>
          <p:cNvPr id="61" name="Pixel">
            <a:extLst>
              <a:ext uri="{FF2B5EF4-FFF2-40B4-BE49-F238E27FC236}">
                <a16:creationId xmlns:a16="http://schemas.microsoft.com/office/drawing/2014/main" id="{C3C7156B-B5D9-C140-A634-3EE3C11ED0F4}"/>
              </a:ext>
            </a:extLst>
          </p:cNvPr>
          <p:cNvSpPr/>
          <p:nvPr/>
        </p:nvSpPr>
        <p:spPr>
          <a:xfrm>
            <a:off x="1143000" y="3860800"/>
            <a:ext cx="711200" cy="711200"/>
          </a:xfrm>
          <a:prstGeom prst="rect">
            <a:avLst/>
          </a:prstGeom>
          <a:solidFill>
            <a:srgbClr val="B4B4B4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PxLbl">
            <a:extLst>
              <a:ext uri="{FF2B5EF4-FFF2-40B4-BE49-F238E27FC236}">
                <a16:creationId xmlns:a16="http://schemas.microsoft.com/office/drawing/2014/main" id="{7215A3AE-0C37-4947-B313-B15B1F4267DF}"/>
              </a:ext>
            </a:extLst>
          </p:cNvPr>
          <p:cNvSpPr txBox="1"/>
          <p:nvPr/>
        </p:nvSpPr>
        <p:spPr>
          <a:xfrm>
            <a:off x="11430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180</a:t>
            </a:r>
          </a:p>
        </p:txBody>
      </p:sp>
      <p:sp>
        <p:nvSpPr>
          <p:cNvPr id="63" name="Pixel">
            <a:extLst>
              <a:ext uri="{FF2B5EF4-FFF2-40B4-BE49-F238E27FC236}">
                <a16:creationId xmlns:a16="http://schemas.microsoft.com/office/drawing/2014/main" id="{0B46A0E7-3674-5C40-8BBE-9C2152047D6F}"/>
              </a:ext>
            </a:extLst>
          </p:cNvPr>
          <p:cNvSpPr/>
          <p:nvPr/>
        </p:nvSpPr>
        <p:spPr>
          <a:xfrm>
            <a:off x="1854200" y="3860800"/>
            <a:ext cx="711200" cy="711200"/>
          </a:xfrm>
          <a:prstGeom prst="rect">
            <a:avLst/>
          </a:prstGeom>
          <a:solidFill>
            <a:srgbClr val="E6E6E6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PxLbl">
            <a:extLst>
              <a:ext uri="{FF2B5EF4-FFF2-40B4-BE49-F238E27FC236}">
                <a16:creationId xmlns:a16="http://schemas.microsoft.com/office/drawing/2014/main" id="{A65F658F-0433-3B49-B5F7-61F8123429F8}"/>
              </a:ext>
            </a:extLst>
          </p:cNvPr>
          <p:cNvSpPr txBox="1"/>
          <p:nvPr/>
        </p:nvSpPr>
        <p:spPr>
          <a:xfrm>
            <a:off x="18542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230</a:t>
            </a:r>
          </a:p>
        </p:txBody>
      </p:sp>
      <p:sp>
        <p:nvSpPr>
          <p:cNvPr id="65" name="Pixel">
            <a:extLst>
              <a:ext uri="{FF2B5EF4-FFF2-40B4-BE49-F238E27FC236}">
                <a16:creationId xmlns:a16="http://schemas.microsoft.com/office/drawing/2014/main" id="{4506CDC1-DE9C-A449-817E-40750F642D34}"/>
              </a:ext>
            </a:extLst>
          </p:cNvPr>
          <p:cNvSpPr/>
          <p:nvPr/>
        </p:nvSpPr>
        <p:spPr>
          <a:xfrm>
            <a:off x="2565400" y="3860800"/>
            <a:ext cx="711200" cy="71120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PxLbl">
            <a:extLst>
              <a:ext uri="{FF2B5EF4-FFF2-40B4-BE49-F238E27FC236}">
                <a16:creationId xmlns:a16="http://schemas.microsoft.com/office/drawing/2014/main" id="{EA9C7F20-8EFF-624F-87B3-F74D53473139}"/>
              </a:ext>
            </a:extLst>
          </p:cNvPr>
          <p:cNvSpPr txBox="1"/>
          <p:nvPr/>
        </p:nvSpPr>
        <p:spPr>
          <a:xfrm>
            <a:off x="25654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250</a:t>
            </a:r>
          </a:p>
        </p:txBody>
      </p:sp>
      <p:sp>
        <p:nvSpPr>
          <p:cNvPr id="67" name="Pixel">
            <a:extLst>
              <a:ext uri="{FF2B5EF4-FFF2-40B4-BE49-F238E27FC236}">
                <a16:creationId xmlns:a16="http://schemas.microsoft.com/office/drawing/2014/main" id="{2BEC8A51-9E61-954E-BAD7-378625B698A1}"/>
              </a:ext>
            </a:extLst>
          </p:cNvPr>
          <p:cNvSpPr/>
          <p:nvPr/>
        </p:nvSpPr>
        <p:spPr>
          <a:xfrm>
            <a:off x="3276600" y="3860800"/>
            <a:ext cx="711200" cy="7112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99999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PxLbl">
            <a:extLst>
              <a:ext uri="{FF2B5EF4-FFF2-40B4-BE49-F238E27FC236}">
                <a16:creationId xmlns:a16="http://schemas.microsoft.com/office/drawing/2014/main" id="{6736375A-1ECE-114E-B4BF-585E1102A746}"/>
              </a:ext>
            </a:extLst>
          </p:cNvPr>
          <p:cNvSpPr txBox="1"/>
          <p:nvPr/>
        </p:nvSpPr>
        <p:spPr>
          <a:xfrm>
            <a:off x="3276600" y="408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</a:rPr>
              <a:t>255</a:t>
            </a:r>
          </a:p>
        </p:txBody>
      </p:sp>
      <p:sp>
        <p:nvSpPr>
          <p:cNvPr id="69" name="ColIdx">
            <a:extLst>
              <a:ext uri="{FF2B5EF4-FFF2-40B4-BE49-F238E27FC236}">
                <a16:creationId xmlns:a16="http://schemas.microsoft.com/office/drawing/2014/main" id="{2ABDEEEC-C445-6C4D-A432-E778E323BE87}"/>
              </a:ext>
            </a:extLst>
          </p:cNvPr>
          <p:cNvSpPr txBox="1"/>
          <p:nvPr/>
        </p:nvSpPr>
        <p:spPr>
          <a:xfrm>
            <a:off x="11430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0" name="ColIdx">
            <a:extLst>
              <a:ext uri="{FF2B5EF4-FFF2-40B4-BE49-F238E27FC236}">
                <a16:creationId xmlns:a16="http://schemas.microsoft.com/office/drawing/2014/main" id="{98D4B928-DD02-1541-8E2E-B0686981989E}"/>
              </a:ext>
            </a:extLst>
          </p:cNvPr>
          <p:cNvSpPr txBox="1"/>
          <p:nvPr/>
        </p:nvSpPr>
        <p:spPr>
          <a:xfrm>
            <a:off x="18542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1" name="ColIdx">
            <a:extLst>
              <a:ext uri="{FF2B5EF4-FFF2-40B4-BE49-F238E27FC236}">
                <a16:creationId xmlns:a16="http://schemas.microsoft.com/office/drawing/2014/main" id="{A1044346-5628-0846-9C5A-BA248C79AD80}"/>
              </a:ext>
            </a:extLst>
          </p:cNvPr>
          <p:cNvSpPr txBox="1"/>
          <p:nvPr/>
        </p:nvSpPr>
        <p:spPr>
          <a:xfrm>
            <a:off x="25654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2" name="ColIdx">
            <a:extLst>
              <a:ext uri="{FF2B5EF4-FFF2-40B4-BE49-F238E27FC236}">
                <a16:creationId xmlns:a16="http://schemas.microsoft.com/office/drawing/2014/main" id="{DE7D8F5A-ED18-D94C-BEFA-EA7234D2E1DD}"/>
              </a:ext>
            </a:extLst>
          </p:cNvPr>
          <p:cNvSpPr txBox="1"/>
          <p:nvPr/>
        </p:nvSpPr>
        <p:spPr>
          <a:xfrm>
            <a:off x="3276600" y="1498600"/>
            <a:ext cx="711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3" name="RowIdx">
            <a:extLst>
              <a:ext uri="{FF2B5EF4-FFF2-40B4-BE49-F238E27FC236}">
                <a16:creationId xmlns:a16="http://schemas.microsoft.com/office/drawing/2014/main" id="{50D4BC6B-DB4B-C24A-8046-DDF4FADE4ED0}"/>
              </a:ext>
            </a:extLst>
          </p:cNvPr>
          <p:cNvSpPr txBox="1"/>
          <p:nvPr/>
        </p:nvSpPr>
        <p:spPr>
          <a:xfrm>
            <a:off x="863600" y="19939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4" name="RowIdx">
            <a:extLst>
              <a:ext uri="{FF2B5EF4-FFF2-40B4-BE49-F238E27FC236}">
                <a16:creationId xmlns:a16="http://schemas.microsoft.com/office/drawing/2014/main" id="{166E64C8-6482-FC4C-8C7C-152FEB720101}"/>
              </a:ext>
            </a:extLst>
          </p:cNvPr>
          <p:cNvSpPr txBox="1"/>
          <p:nvPr/>
        </p:nvSpPr>
        <p:spPr>
          <a:xfrm>
            <a:off x="863600" y="27051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5" name="RowIdx">
            <a:extLst>
              <a:ext uri="{FF2B5EF4-FFF2-40B4-BE49-F238E27FC236}">
                <a16:creationId xmlns:a16="http://schemas.microsoft.com/office/drawing/2014/main" id="{31522774-8BF9-EA4C-BC5E-45182FE56E27}"/>
              </a:ext>
            </a:extLst>
          </p:cNvPr>
          <p:cNvSpPr txBox="1"/>
          <p:nvPr/>
        </p:nvSpPr>
        <p:spPr>
          <a:xfrm>
            <a:off x="863600" y="34163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6" name="RowIdx">
            <a:extLst>
              <a:ext uri="{FF2B5EF4-FFF2-40B4-BE49-F238E27FC236}">
                <a16:creationId xmlns:a16="http://schemas.microsoft.com/office/drawing/2014/main" id="{CC20BB85-B523-0943-AD34-EADE1147C61C}"/>
              </a:ext>
            </a:extLst>
          </p:cNvPr>
          <p:cNvSpPr txBox="1"/>
          <p:nvPr/>
        </p:nvSpPr>
        <p:spPr>
          <a:xfrm>
            <a:off x="863600" y="41275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7" name="GridCap">
            <a:extLst>
              <a:ext uri="{FF2B5EF4-FFF2-40B4-BE49-F238E27FC236}">
                <a16:creationId xmlns:a16="http://schemas.microsoft.com/office/drawing/2014/main" id="{BC96EC8C-A2A4-8A4D-B76F-5CEB2A09A6E0}"/>
              </a:ext>
            </a:extLst>
          </p:cNvPr>
          <p:cNvSpPr txBox="1"/>
          <p:nvPr/>
        </p:nvSpPr>
        <p:spPr>
          <a:xfrm>
            <a:off x="558800" y="52832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16 pixels — each one a brightness value in [0, 255]</a:t>
            </a:r>
          </a:p>
        </p:txBody>
      </p:sp>
      <p:sp>
        <p:nvSpPr>
          <p:cNvPr id="78" name="EncodeArrow">
            <a:extLst>
              <a:ext uri="{FF2B5EF4-FFF2-40B4-BE49-F238E27FC236}">
                <a16:creationId xmlns:a16="http://schemas.microsoft.com/office/drawing/2014/main" id="{335FABD7-2911-F545-86B3-18CFA9F2EF28}"/>
              </a:ext>
            </a:extLst>
          </p:cNvPr>
          <p:cNvSpPr/>
          <p:nvPr/>
        </p:nvSpPr>
        <p:spPr>
          <a:xfrm>
            <a:off x="5715000" y="2984500"/>
            <a:ext cx="1016000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9" name="ArrowLbl">
            <a:extLst>
              <a:ext uri="{FF2B5EF4-FFF2-40B4-BE49-F238E27FC236}">
                <a16:creationId xmlns:a16="http://schemas.microsoft.com/office/drawing/2014/main" id="{DFC8017A-125F-EF4D-8EA6-A2E439B266EE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libri"/>
                <a:cs typeface="Calibri"/>
              </a:rPr>
              <a:t>encode</a:t>
            </a:r>
          </a:p>
        </p:txBody>
      </p:sp>
      <p:sp>
        <p:nvSpPr>
          <p:cNvPr id="80" name="RightPanel">
            <a:extLst>
              <a:ext uri="{FF2B5EF4-FFF2-40B4-BE49-F238E27FC236}">
                <a16:creationId xmlns:a16="http://schemas.microsoft.com/office/drawing/2014/main" id="{D3BA3FC4-3708-384E-8243-9CB54ADA24C0}"/>
              </a:ext>
            </a:extLst>
          </p:cNvPr>
          <p:cNvSpPr/>
          <p:nvPr/>
        </p:nvSpPr>
        <p:spPr>
          <a:xfrm>
            <a:off x="6921500" y="1270000"/>
            <a:ext cx="49784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3" name="RightHdr">
            <a:extLst>
              <a:ext uri="{FF2B5EF4-FFF2-40B4-BE49-F238E27FC236}">
                <a16:creationId xmlns:a16="http://schemas.microsoft.com/office/drawing/2014/main" id="{D8504769-A737-9346-80B9-5493F7D0B2E7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Calibri"/>
                <a:cs typeface="Calibri"/>
              </a:rPr>
              <a:t>Matrix form</a:t>
            </a:r>
          </a:p>
        </p:txBody>
      </p:sp>
      <p:sp>
        <p:nvSpPr>
          <p:cNvPr id="134" name="Gname">
            <a:extLst>
              <a:ext uri="{FF2B5EF4-FFF2-40B4-BE49-F238E27FC236}">
                <a16:creationId xmlns:a16="http://schemas.microsoft.com/office/drawing/2014/main" id="{2BA65315-A3C5-B44A-AEAD-593E8ACFC83A}"/>
              </a:ext>
            </a:extLst>
          </p:cNvPr>
          <p:cNvSpPr txBox="1"/>
          <p:nvPr/>
        </p:nvSpPr>
        <p:spPr>
          <a:xfrm>
            <a:off x="7150100" y="2667000"/>
            <a:ext cx="1016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i="1">
                <a:solidFill>
                  <a:srgbClr val="4B2E83"/>
                </a:solidFill>
                <a:latin typeface="Cambria Math"/>
                <a:ea typeface="Cambria Math"/>
              </a:rPr>
              <a:t>G =</a:t>
            </a:r>
          </a:p>
        </p:txBody>
      </p:sp>
      <p:sp>
        <p:nvSpPr>
          <p:cNvPr id="135" name="LeftBracket">
            <a:extLst>
              <a:ext uri="{FF2B5EF4-FFF2-40B4-BE49-F238E27FC236}">
                <a16:creationId xmlns:a16="http://schemas.microsoft.com/office/drawing/2014/main" id="{B8D3D65D-A54D-9045-806C-CAAA39E72596}"/>
              </a:ext>
            </a:extLst>
          </p:cNvPr>
          <p:cNvSpPr/>
          <p:nvPr/>
        </p:nvSpPr>
        <p:spPr>
          <a:xfrm>
            <a:off x="8318500" y="2159000"/>
            <a:ext cx="203200" cy="2540000"/>
          </a:xfrm>
          <a:prstGeom prst="lef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6" name="RightBracket">
            <a:extLst>
              <a:ext uri="{FF2B5EF4-FFF2-40B4-BE49-F238E27FC236}">
                <a16:creationId xmlns:a16="http://schemas.microsoft.com/office/drawing/2014/main" id="{FB8E815A-8F46-BC4E-B95E-E01098DD166D}"/>
              </a:ext>
            </a:extLst>
          </p:cNvPr>
          <p:cNvSpPr/>
          <p:nvPr/>
        </p:nvSpPr>
        <p:spPr>
          <a:xfrm>
            <a:off x="11417300" y="2159000"/>
            <a:ext cx="203200" cy="2540000"/>
          </a:xfrm>
          <a:prstGeom prst="rightBracket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7" name="Mval">
            <a:extLst>
              <a:ext uri="{FF2B5EF4-FFF2-40B4-BE49-F238E27FC236}">
                <a16:creationId xmlns:a16="http://schemas.microsoft.com/office/drawing/2014/main" id="{D7853FA0-84F3-5D4F-A1CD-575164270E1F}"/>
              </a:ext>
            </a:extLst>
          </p:cNvPr>
          <p:cNvSpPr txBox="1"/>
          <p:nvPr/>
        </p:nvSpPr>
        <p:spPr>
          <a:xfrm>
            <a:off x="85725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30</a:t>
            </a:r>
          </a:p>
        </p:txBody>
      </p:sp>
      <p:sp>
        <p:nvSpPr>
          <p:cNvPr id="138" name="Mval">
            <a:extLst>
              <a:ext uri="{FF2B5EF4-FFF2-40B4-BE49-F238E27FC236}">
                <a16:creationId xmlns:a16="http://schemas.microsoft.com/office/drawing/2014/main" id="{44840FE9-5F31-E246-AB47-7F38D4E41299}"/>
              </a:ext>
            </a:extLst>
          </p:cNvPr>
          <p:cNvSpPr txBox="1"/>
          <p:nvPr/>
        </p:nvSpPr>
        <p:spPr>
          <a:xfrm>
            <a:off x="92837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60</a:t>
            </a:r>
          </a:p>
        </p:txBody>
      </p:sp>
      <p:sp>
        <p:nvSpPr>
          <p:cNvPr id="139" name="Mval">
            <a:extLst>
              <a:ext uri="{FF2B5EF4-FFF2-40B4-BE49-F238E27FC236}">
                <a16:creationId xmlns:a16="http://schemas.microsoft.com/office/drawing/2014/main" id="{50C4103A-C5D6-AA4D-A077-A57B6B160377}"/>
              </a:ext>
            </a:extLst>
          </p:cNvPr>
          <p:cNvSpPr txBox="1"/>
          <p:nvPr/>
        </p:nvSpPr>
        <p:spPr>
          <a:xfrm>
            <a:off x="99949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0" name="Mval">
            <a:extLst>
              <a:ext uri="{FF2B5EF4-FFF2-40B4-BE49-F238E27FC236}">
                <a16:creationId xmlns:a16="http://schemas.microsoft.com/office/drawing/2014/main" id="{05B26381-1931-A14B-892B-9E21EAE4FB72}"/>
              </a:ext>
            </a:extLst>
          </p:cNvPr>
          <p:cNvSpPr txBox="1"/>
          <p:nvPr/>
        </p:nvSpPr>
        <p:spPr>
          <a:xfrm>
            <a:off x="10706100" y="23495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1" name="Mval">
            <a:extLst>
              <a:ext uri="{FF2B5EF4-FFF2-40B4-BE49-F238E27FC236}">
                <a16:creationId xmlns:a16="http://schemas.microsoft.com/office/drawing/2014/main" id="{D75CF460-D958-9644-A626-51222730F09E}"/>
              </a:ext>
            </a:extLst>
          </p:cNvPr>
          <p:cNvSpPr txBox="1"/>
          <p:nvPr/>
        </p:nvSpPr>
        <p:spPr>
          <a:xfrm>
            <a:off x="85725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60</a:t>
            </a:r>
          </a:p>
        </p:txBody>
      </p:sp>
      <p:sp>
        <p:nvSpPr>
          <p:cNvPr id="142" name="Mval">
            <a:extLst>
              <a:ext uri="{FF2B5EF4-FFF2-40B4-BE49-F238E27FC236}">
                <a16:creationId xmlns:a16="http://schemas.microsoft.com/office/drawing/2014/main" id="{0427AEFF-A807-D242-A0B1-C540EC975E7A}"/>
              </a:ext>
            </a:extLst>
          </p:cNvPr>
          <p:cNvSpPr txBox="1"/>
          <p:nvPr/>
        </p:nvSpPr>
        <p:spPr>
          <a:xfrm>
            <a:off x="92837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3" name="Mval">
            <a:extLst>
              <a:ext uri="{FF2B5EF4-FFF2-40B4-BE49-F238E27FC236}">
                <a16:creationId xmlns:a16="http://schemas.microsoft.com/office/drawing/2014/main" id="{3EC976DC-93C8-2C4B-BB30-4026B0A3980F}"/>
              </a:ext>
            </a:extLst>
          </p:cNvPr>
          <p:cNvSpPr txBox="1"/>
          <p:nvPr/>
        </p:nvSpPr>
        <p:spPr>
          <a:xfrm>
            <a:off x="99949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4" name="Mval">
            <a:extLst>
              <a:ext uri="{FF2B5EF4-FFF2-40B4-BE49-F238E27FC236}">
                <a16:creationId xmlns:a16="http://schemas.microsoft.com/office/drawing/2014/main" id="{9A904985-F1BE-BD47-B910-1B57C6D60C2F}"/>
              </a:ext>
            </a:extLst>
          </p:cNvPr>
          <p:cNvSpPr txBox="1"/>
          <p:nvPr/>
        </p:nvSpPr>
        <p:spPr>
          <a:xfrm>
            <a:off x="10706100" y="28892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45" name="Mval">
            <a:extLst>
              <a:ext uri="{FF2B5EF4-FFF2-40B4-BE49-F238E27FC236}">
                <a16:creationId xmlns:a16="http://schemas.microsoft.com/office/drawing/2014/main" id="{13EEF463-E912-634E-8239-028C7EC2E494}"/>
              </a:ext>
            </a:extLst>
          </p:cNvPr>
          <p:cNvSpPr txBox="1"/>
          <p:nvPr/>
        </p:nvSpPr>
        <p:spPr>
          <a:xfrm>
            <a:off x="85725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120</a:t>
            </a:r>
          </a:p>
        </p:txBody>
      </p:sp>
      <p:sp>
        <p:nvSpPr>
          <p:cNvPr id="146" name="Mval">
            <a:extLst>
              <a:ext uri="{FF2B5EF4-FFF2-40B4-BE49-F238E27FC236}">
                <a16:creationId xmlns:a16="http://schemas.microsoft.com/office/drawing/2014/main" id="{8A39B1F1-F352-3349-8F89-47106BD0E73C}"/>
              </a:ext>
            </a:extLst>
          </p:cNvPr>
          <p:cNvSpPr txBox="1"/>
          <p:nvPr/>
        </p:nvSpPr>
        <p:spPr>
          <a:xfrm>
            <a:off x="92837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47" name="Mval">
            <a:extLst>
              <a:ext uri="{FF2B5EF4-FFF2-40B4-BE49-F238E27FC236}">
                <a16:creationId xmlns:a16="http://schemas.microsoft.com/office/drawing/2014/main" id="{ED4C4D48-8C09-5442-AB0C-210866A91B94}"/>
              </a:ext>
            </a:extLst>
          </p:cNvPr>
          <p:cNvSpPr txBox="1"/>
          <p:nvPr/>
        </p:nvSpPr>
        <p:spPr>
          <a:xfrm>
            <a:off x="99949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48" name="Mval">
            <a:extLst>
              <a:ext uri="{FF2B5EF4-FFF2-40B4-BE49-F238E27FC236}">
                <a16:creationId xmlns:a16="http://schemas.microsoft.com/office/drawing/2014/main" id="{66355710-23BB-D944-9855-BA6AE317151A}"/>
              </a:ext>
            </a:extLst>
          </p:cNvPr>
          <p:cNvSpPr txBox="1"/>
          <p:nvPr/>
        </p:nvSpPr>
        <p:spPr>
          <a:xfrm>
            <a:off x="10706100" y="342900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250</a:t>
            </a:r>
          </a:p>
        </p:txBody>
      </p:sp>
      <p:sp>
        <p:nvSpPr>
          <p:cNvPr id="149" name="Mval">
            <a:extLst>
              <a:ext uri="{FF2B5EF4-FFF2-40B4-BE49-F238E27FC236}">
                <a16:creationId xmlns:a16="http://schemas.microsoft.com/office/drawing/2014/main" id="{32DED92E-A0F4-CB4C-BDB9-02724E649352}"/>
              </a:ext>
            </a:extLst>
          </p:cNvPr>
          <p:cNvSpPr txBox="1"/>
          <p:nvPr/>
        </p:nvSpPr>
        <p:spPr>
          <a:xfrm>
            <a:off x="85725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180</a:t>
            </a:r>
          </a:p>
        </p:txBody>
      </p:sp>
      <p:sp>
        <p:nvSpPr>
          <p:cNvPr id="150" name="Mval">
            <a:extLst>
              <a:ext uri="{FF2B5EF4-FFF2-40B4-BE49-F238E27FC236}">
                <a16:creationId xmlns:a16="http://schemas.microsoft.com/office/drawing/2014/main" id="{ECA8874B-ABF3-AE4A-BB31-5220699BCD5A}"/>
              </a:ext>
            </a:extLst>
          </p:cNvPr>
          <p:cNvSpPr txBox="1"/>
          <p:nvPr/>
        </p:nvSpPr>
        <p:spPr>
          <a:xfrm>
            <a:off x="92837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230</a:t>
            </a:r>
          </a:p>
        </p:txBody>
      </p:sp>
      <p:sp>
        <p:nvSpPr>
          <p:cNvPr id="151" name="Mval">
            <a:extLst>
              <a:ext uri="{FF2B5EF4-FFF2-40B4-BE49-F238E27FC236}">
                <a16:creationId xmlns:a16="http://schemas.microsoft.com/office/drawing/2014/main" id="{4C46E4C0-E058-8444-A6A6-F4D563370DFC}"/>
              </a:ext>
            </a:extLst>
          </p:cNvPr>
          <p:cNvSpPr txBox="1"/>
          <p:nvPr/>
        </p:nvSpPr>
        <p:spPr>
          <a:xfrm>
            <a:off x="99949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250</a:t>
            </a:r>
          </a:p>
        </p:txBody>
      </p:sp>
      <p:sp>
        <p:nvSpPr>
          <p:cNvPr id="152" name="Mval">
            <a:extLst>
              <a:ext uri="{FF2B5EF4-FFF2-40B4-BE49-F238E27FC236}">
                <a16:creationId xmlns:a16="http://schemas.microsoft.com/office/drawing/2014/main" id="{EF9CB73E-CB62-3B45-9BD7-FDD0B7FA87AE}"/>
              </a:ext>
            </a:extLst>
          </p:cNvPr>
          <p:cNvSpPr txBox="1"/>
          <p:nvPr/>
        </p:nvSpPr>
        <p:spPr>
          <a:xfrm>
            <a:off x="10706100" y="3968750"/>
            <a:ext cx="711200" cy="53975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255</a:t>
            </a:r>
          </a:p>
        </p:txBody>
      </p:sp>
      <p:sp>
        <p:nvSpPr>
          <p:cNvPr id="153" name="DimCap">
            <a:extLst>
              <a:ext uri="{FF2B5EF4-FFF2-40B4-BE49-F238E27FC236}">
                <a16:creationId xmlns:a16="http://schemas.microsoft.com/office/drawing/2014/main" id="{3C360AC8-6D3C-AD4D-932F-4A36B9E5FF7B}"/>
              </a:ext>
            </a:extLst>
          </p:cNvPr>
          <p:cNvSpPr txBox="1"/>
          <p:nvPr/>
        </p:nvSpPr>
        <p:spPr>
          <a:xfrm>
            <a:off x="7099300" y="50800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00A7B5"/>
                </a:solidFill>
                <a:latin typeface="Cambria Math"/>
                <a:ea typeface="Cambria Math"/>
              </a:rPr>
              <a:t>G ∈ ℝ⁴ˣ⁴,   dim(G) = 4 × 4   (height × width)</a:t>
            </a:r>
          </a:p>
        </p:txBody>
      </p:sp>
      <p:sp>
        <p:nvSpPr>
          <p:cNvPr id="154" name="Interp">
            <a:extLst>
              <a:ext uri="{FF2B5EF4-FFF2-40B4-BE49-F238E27FC236}">
                <a16:creationId xmlns:a16="http://schemas.microsoft.com/office/drawing/2014/main" id="{3FAC2293-04FE-2040-A057-6B34F9C57A1B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Row r, column c → brightness of pixel at (r, c)</a:t>
            </a:r>
          </a:p>
        </p:txBody>
      </p:sp>
      <p:sp>
        <p:nvSpPr>
          <p:cNvPr id="155" name="TkBar">
            <a:extLst>
              <a:ext uri="{FF2B5EF4-FFF2-40B4-BE49-F238E27FC236}">
                <a16:creationId xmlns:a16="http://schemas.microsoft.com/office/drawing/2014/main" id="{9B881893-7925-5244-93DA-8CAE5DEFAC99}"/>
              </a:ext>
            </a:extLst>
          </p:cNvPr>
          <p:cNvSpPr/>
          <p:nvPr/>
        </p:nvSpPr>
        <p:spPr>
          <a:xfrm>
            <a:off x="0" y="574933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6" name="TkText">
            <a:extLst>
              <a:ext uri="{FF2B5EF4-FFF2-40B4-BE49-F238E27FC236}">
                <a16:creationId xmlns:a16="http://schemas.microsoft.com/office/drawing/2014/main" id="{33B17D2F-B7B5-1040-AD78-D96304FA8C6E}"/>
              </a:ext>
            </a:extLst>
          </p:cNvPr>
          <p:cNvSpPr txBox="1"/>
          <p:nvPr/>
        </p:nvSpPr>
        <p:spPr>
          <a:xfrm>
            <a:off x="381000" y="590173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>
                <a:solidFill>
                  <a:srgbClr val="FFFFFF"/>
                </a:solidFill>
                <a:latin typeface="Calibri"/>
                <a:cs typeface="Calibri"/>
              </a:rPr>
              <a:t>An image is a matrix of pixel intensities — every digital photo, MRI scan or satellite tile is one of these.</a:t>
            </a:r>
          </a:p>
        </p:txBody>
      </p:sp>
    </p:spTree>
    <p:extLst>
      <p:ext uri="{BB962C8B-B14F-4D97-AF65-F5344CB8AC3E}">
        <p14:creationId xmlns:p14="http://schemas.microsoft.com/office/powerpoint/2010/main" val="281024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5" grpId="0" animBg="1"/>
      <p:bldP spid="66" grpId="0"/>
      <p:bldP spid="67" grpId="0" animBg="1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 animBg="1"/>
      <p:bldP spid="79" grpId="0"/>
      <p:bldP spid="80" grpId="0" animBg="1"/>
      <p:bldP spid="133" grpId="0"/>
      <p:bldP spid="134" grpId="0"/>
      <p:bldP spid="135" grpId="0" animBg="1"/>
      <p:bldP spid="136" grpId="0" animBg="1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 animBg="1"/>
      <p:bldP spid="15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0DB6C51-F151-9143-A79D-0AEBF4AE6C8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1618D6F-D5BD-D142-B2CD-14E2A134DCD1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Notation conventions — how we write vectors and matrices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66824262-C59A-DC4A-9D72-A8D5B47CE0B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Calibri"/>
                <a:cs typeface="Calibri"/>
              </a:rPr>
              <a:t>A small set of typographic habits that saves a lot of confusion later.</a:t>
            </a:r>
          </a:p>
        </p:txBody>
      </p:sp>
      <p:sp>
        <p:nvSpPr>
          <p:cNvPr id="5" name="ScalarCard">
            <a:extLst>
              <a:ext uri="{FF2B5EF4-FFF2-40B4-BE49-F238E27FC236}">
                <a16:creationId xmlns:a16="http://schemas.microsoft.com/office/drawing/2014/main" id="{94679332-3E5A-D940-AE6A-FE8872187A64}"/>
              </a:ext>
            </a:extLst>
          </p:cNvPr>
          <p:cNvSpPr/>
          <p:nvPr/>
        </p:nvSpPr>
        <p:spPr>
          <a:xfrm>
            <a:off x="3810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ScalarHdr">
            <a:extLst>
              <a:ext uri="{FF2B5EF4-FFF2-40B4-BE49-F238E27FC236}">
                <a16:creationId xmlns:a16="http://schemas.microsoft.com/office/drawing/2014/main" id="{95CB9452-8B84-1B48-A169-3372FBB63BBD}"/>
              </a:ext>
            </a:extLst>
          </p:cNvPr>
          <p:cNvSpPr/>
          <p:nvPr/>
        </p:nvSpPr>
        <p:spPr>
          <a:xfrm>
            <a:off x="381000" y="1270000"/>
            <a:ext cx="37465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ScalarHdrT">
            <a:extLst>
              <a:ext uri="{FF2B5EF4-FFF2-40B4-BE49-F238E27FC236}">
                <a16:creationId xmlns:a16="http://schemas.microsoft.com/office/drawing/2014/main" id="{34D6E679-EBB7-4F40-8EBE-EC0CED0025AC}"/>
              </a:ext>
            </a:extLst>
          </p:cNvPr>
          <p:cNvSpPr txBox="1"/>
          <p:nvPr/>
        </p:nvSpPr>
        <p:spPr>
          <a:xfrm>
            <a:off x="3810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Scalar</a:t>
            </a:r>
          </a:p>
        </p:txBody>
      </p:sp>
      <p:sp>
        <p:nvSpPr>
          <p:cNvPr id="8" name="ScalarSym">
            <a:extLst>
              <a:ext uri="{FF2B5EF4-FFF2-40B4-BE49-F238E27FC236}">
                <a16:creationId xmlns:a16="http://schemas.microsoft.com/office/drawing/2014/main" id="{803D0CF1-F00B-4B43-BA24-4AC92A449FEF}"/>
              </a:ext>
            </a:extLst>
          </p:cNvPr>
          <p:cNvSpPr txBox="1"/>
          <p:nvPr/>
        </p:nvSpPr>
        <p:spPr>
          <a:xfrm>
            <a:off x="381000" y="1905000"/>
            <a:ext cx="37465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i="1" dirty="0">
                <a:solidFill>
                  <a:srgbClr val="B7A57A"/>
                </a:solidFill>
                <a:latin typeface="Cambria Math"/>
                <a:ea typeface="Cambria Math"/>
              </a:rPr>
              <a:t>c</a:t>
            </a:r>
          </a:p>
        </p:txBody>
      </p:sp>
      <p:sp>
        <p:nvSpPr>
          <p:cNvPr id="9" name="ScalarRule">
            <a:extLst>
              <a:ext uri="{FF2B5EF4-FFF2-40B4-BE49-F238E27FC236}">
                <a16:creationId xmlns:a16="http://schemas.microsoft.com/office/drawing/2014/main" id="{3EC40318-FE1D-B34E-BBFC-F0E5BF25E792}"/>
              </a:ext>
            </a:extLst>
          </p:cNvPr>
          <p:cNvSpPr txBox="1"/>
          <p:nvPr/>
        </p:nvSpPr>
        <p:spPr>
          <a:xfrm>
            <a:off x="5588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lowercase italic</a:t>
            </a:r>
          </a:p>
        </p:txBody>
      </p:sp>
      <p:sp>
        <p:nvSpPr>
          <p:cNvPr id="10" name="ScalarEx1">
            <a:extLst>
              <a:ext uri="{FF2B5EF4-FFF2-40B4-BE49-F238E27FC236}">
                <a16:creationId xmlns:a16="http://schemas.microsoft.com/office/drawing/2014/main" id="{A1544D8E-22E0-2945-825B-83893FFF2195}"/>
              </a:ext>
            </a:extLst>
          </p:cNvPr>
          <p:cNvSpPr txBox="1"/>
          <p:nvPr/>
        </p:nvSpPr>
        <p:spPr>
          <a:xfrm>
            <a:off x="558800" y="3048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mbria Math"/>
                <a:ea typeface="Cambria Math"/>
              </a:rPr>
              <a:t>c= 3.14,  </a:t>
            </a:r>
            <a:r>
              <a:rPr lang="el-GR" sz="1300" i="1" dirty="0">
                <a:solidFill>
                  <a:srgbClr val="333333"/>
                </a:solidFill>
                <a:latin typeface="Cambria Math"/>
                <a:ea typeface="Cambria Math"/>
              </a:rPr>
              <a:t>α = 0.5,  </a:t>
            </a:r>
            <a:r>
              <a:rPr lang="en-US" sz="1300" i="1" dirty="0">
                <a:solidFill>
                  <a:srgbClr val="333333"/>
                </a:solidFill>
                <a:latin typeface="Cambria Math"/>
                <a:ea typeface="Cambria Math"/>
              </a:rPr>
              <a:t>n =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calarType">
                <a:extLst>
                  <a:ext uri="{FF2B5EF4-FFF2-40B4-BE49-F238E27FC236}">
                    <a16:creationId xmlns:a16="http://schemas.microsoft.com/office/drawing/2014/main" id="{BDEB7122-BA95-114D-A500-533239656CE5}"/>
                  </a:ext>
                </a:extLst>
              </p:cNvPr>
              <p:cNvSpPr txBox="1"/>
              <p:nvPr/>
            </p:nvSpPr>
            <p:spPr>
              <a:xfrm>
                <a:off x="5588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𝑐</m:t>
                      </m:r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∈</m:t>
                      </m:r>
                      <m:r>
                        <a:rPr lang="en-US">
                          <a:solidFill>
                            <a:srgbClr val="B7A57A"/>
                          </a:solidFill>
                          <a:latin typeface="Cambria Math"/>
                        </a:rPr>
                        <m:t>ℝ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ScalarType">
                <a:extLst>
                  <a:ext uri="{FF2B5EF4-FFF2-40B4-BE49-F238E27FC236}">
                    <a16:creationId xmlns:a16="http://schemas.microsoft.com/office/drawing/2014/main" id="{BDEB7122-BA95-114D-A500-533239656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365500"/>
                <a:ext cx="3390900" cy="254000"/>
              </a:xfrm>
              <a:prstGeom prst="rect">
                <a:avLst/>
              </a:prstGeom>
              <a:blipFill>
                <a:blip r:embed="rId2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calarDim">
            <a:extLst>
              <a:ext uri="{FF2B5EF4-FFF2-40B4-BE49-F238E27FC236}">
                <a16:creationId xmlns:a16="http://schemas.microsoft.com/office/drawing/2014/main" id="{9F11B54D-06D5-2241-AFF1-FB409A42404C}"/>
              </a:ext>
            </a:extLst>
          </p:cNvPr>
          <p:cNvSpPr txBox="1"/>
          <p:nvPr/>
        </p:nvSpPr>
        <p:spPr>
          <a:xfrm>
            <a:off x="5588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dim(c) = 1   (one number)</a:t>
            </a:r>
          </a:p>
        </p:txBody>
      </p:sp>
      <p:sp>
        <p:nvSpPr>
          <p:cNvPr id="13" name="VecCard">
            <a:extLst>
              <a:ext uri="{FF2B5EF4-FFF2-40B4-BE49-F238E27FC236}">
                <a16:creationId xmlns:a16="http://schemas.microsoft.com/office/drawing/2014/main" id="{294E67EE-02CC-8C48-B2FB-CCB93D4AB93A}"/>
              </a:ext>
            </a:extLst>
          </p:cNvPr>
          <p:cNvSpPr/>
          <p:nvPr/>
        </p:nvSpPr>
        <p:spPr>
          <a:xfrm>
            <a:off x="42799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Hdr">
            <a:extLst>
              <a:ext uri="{FF2B5EF4-FFF2-40B4-BE49-F238E27FC236}">
                <a16:creationId xmlns:a16="http://schemas.microsoft.com/office/drawing/2014/main" id="{8A68B115-3401-854B-98BC-D80720074773}"/>
              </a:ext>
            </a:extLst>
          </p:cNvPr>
          <p:cNvSpPr/>
          <p:nvPr/>
        </p:nvSpPr>
        <p:spPr>
          <a:xfrm>
            <a:off x="4279900" y="1270000"/>
            <a:ext cx="37465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VecHdrT">
            <a:extLst>
              <a:ext uri="{FF2B5EF4-FFF2-40B4-BE49-F238E27FC236}">
                <a16:creationId xmlns:a16="http://schemas.microsoft.com/office/drawing/2014/main" id="{3DBE0741-99A7-0740-BDFC-D9262E796218}"/>
              </a:ext>
            </a:extLst>
          </p:cNvPr>
          <p:cNvSpPr txBox="1"/>
          <p:nvPr/>
        </p:nvSpPr>
        <p:spPr>
          <a:xfrm>
            <a:off x="42799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Vector</a:t>
            </a:r>
          </a:p>
        </p:txBody>
      </p:sp>
      <p:sp>
        <p:nvSpPr>
          <p:cNvPr id="16" name="VecSym">
            <a:extLst>
              <a:ext uri="{FF2B5EF4-FFF2-40B4-BE49-F238E27FC236}">
                <a16:creationId xmlns:a16="http://schemas.microsoft.com/office/drawing/2014/main" id="{EA8AEDFA-3B4D-D34D-9696-353698EFED87}"/>
              </a:ext>
            </a:extLst>
          </p:cNvPr>
          <p:cNvSpPr txBox="1"/>
          <p:nvPr/>
        </p:nvSpPr>
        <p:spPr>
          <a:xfrm>
            <a:off x="4279900" y="1854200"/>
            <a:ext cx="3746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b="1">
                <a:solidFill>
                  <a:srgbClr val="00A7B5"/>
                </a:solidFill>
                <a:latin typeface="Cambria Math"/>
                <a:ea typeface="Cambria Math"/>
              </a:rPr>
              <a:t>𝐯</a:t>
            </a:r>
          </a:p>
        </p:txBody>
      </p:sp>
      <p:sp>
        <p:nvSpPr>
          <p:cNvPr id="17" name="VecRule">
            <a:extLst>
              <a:ext uri="{FF2B5EF4-FFF2-40B4-BE49-F238E27FC236}">
                <a16:creationId xmlns:a16="http://schemas.microsoft.com/office/drawing/2014/main" id="{E8AB2F51-3228-FF40-8EEA-241882B640BE}"/>
              </a:ext>
            </a:extLst>
          </p:cNvPr>
          <p:cNvSpPr txBox="1"/>
          <p:nvPr/>
        </p:nvSpPr>
        <p:spPr>
          <a:xfrm>
            <a:off x="44577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bold lowercase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VecEx1">
                <a:extLst>
                  <a:ext uri="{FF2B5EF4-FFF2-40B4-BE49-F238E27FC236}">
                    <a16:creationId xmlns:a16="http://schemas.microsoft.com/office/drawing/2014/main" id="{3B564558-F176-CB41-8C29-3C278783345D}"/>
                  </a:ext>
                </a:extLst>
              </p:cNvPr>
              <p:cNvSpPr txBox="1"/>
              <p:nvPr/>
            </p:nvSpPr>
            <p:spPr>
              <a:xfrm>
                <a:off x="4457700" y="3048000"/>
                <a:ext cx="3390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=(3,−4),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𝒙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" name="VecEx1">
                <a:extLst>
                  <a:ext uri="{FF2B5EF4-FFF2-40B4-BE49-F238E27FC236}">
                    <a16:creationId xmlns:a16="http://schemas.microsoft.com/office/drawing/2014/main" id="{3B564558-F176-CB41-8C29-3C2787833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3048000"/>
                <a:ext cx="3390900" cy="228600"/>
              </a:xfrm>
              <a:prstGeom prst="rect">
                <a:avLst/>
              </a:prstGeom>
              <a:blipFill>
                <a:blip r:embed="rId3"/>
                <a:stretch>
                  <a:fillRect b="-7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VecType">
                <a:extLst>
                  <a:ext uri="{FF2B5EF4-FFF2-40B4-BE49-F238E27FC236}">
                    <a16:creationId xmlns:a16="http://schemas.microsoft.com/office/drawing/2014/main" id="{84A418E0-DECC-5643-B896-0112205DE470}"/>
                  </a:ext>
                </a:extLst>
              </p:cNvPr>
              <p:cNvSpPr txBox="1"/>
              <p:nvPr/>
            </p:nvSpPr>
            <p:spPr>
              <a:xfrm>
                <a:off x="44577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9" name="VecType">
                <a:extLst>
                  <a:ext uri="{FF2B5EF4-FFF2-40B4-BE49-F238E27FC236}">
                    <a16:creationId xmlns:a16="http://schemas.microsoft.com/office/drawing/2014/main" id="{84A418E0-DECC-5643-B896-0112205DE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3365500"/>
                <a:ext cx="3390900" cy="254000"/>
              </a:xfrm>
              <a:prstGeom prst="rect">
                <a:avLst/>
              </a:prstGeom>
              <a:blipFill>
                <a:blip r:embed="rId4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VecDim">
            <a:extLst>
              <a:ext uri="{FF2B5EF4-FFF2-40B4-BE49-F238E27FC236}">
                <a16:creationId xmlns:a16="http://schemas.microsoft.com/office/drawing/2014/main" id="{B9037F46-B578-E949-9EBC-0BBD1ACAA606}"/>
              </a:ext>
            </a:extLst>
          </p:cNvPr>
          <p:cNvSpPr txBox="1"/>
          <p:nvPr/>
        </p:nvSpPr>
        <p:spPr>
          <a:xfrm>
            <a:off x="44577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dim(𝐯) = n   (n numbers in order)</a:t>
            </a:r>
          </a:p>
        </p:txBody>
      </p:sp>
      <p:sp>
        <p:nvSpPr>
          <p:cNvPr id="29" name="MatCard">
            <a:extLst>
              <a:ext uri="{FF2B5EF4-FFF2-40B4-BE49-F238E27FC236}">
                <a16:creationId xmlns:a16="http://schemas.microsoft.com/office/drawing/2014/main" id="{CD3FC1A8-73B4-BD4D-8707-54BA474DBED8}"/>
              </a:ext>
            </a:extLst>
          </p:cNvPr>
          <p:cNvSpPr/>
          <p:nvPr/>
        </p:nvSpPr>
        <p:spPr>
          <a:xfrm>
            <a:off x="8178800" y="1270000"/>
            <a:ext cx="3746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MatHdr">
            <a:extLst>
              <a:ext uri="{FF2B5EF4-FFF2-40B4-BE49-F238E27FC236}">
                <a16:creationId xmlns:a16="http://schemas.microsoft.com/office/drawing/2014/main" id="{1224BEC4-BE06-1440-8205-37F909013A03}"/>
              </a:ext>
            </a:extLst>
          </p:cNvPr>
          <p:cNvSpPr/>
          <p:nvPr/>
        </p:nvSpPr>
        <p:spPr>
          <a:xfrm>
            <a:off x="8178800" y="1270000"/>
            <a:ext cx="37465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MatHdrT">
            <a:extLst>
              <a:ext uri="{FF2B5EF4-FFF2-40B4-BE49-F238E27FC236}">
                <a16:creationId xmlns:a16="http://schemas.microsoft.com/office/drawing/2014/main" id="{08C5B3DC-B19A-FC49-9FA2-C8D97A8F0E70}"/>
              </a:ext>
            </a:extLst>
          </p:cNvPr>
          <p:cNvSpPr txBox="1"/>
          <p:nvPr/>
        </p:nvSpPr>
        <p:spPr>
          <a:xfrm>
            <a:off x="8178800" y="1333500"/>
            <a:ext cx="3746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</a:p>
        </p:txBody>
      </p:sp>
      <p:sp>
        <p:nvSpPr>
          <p:cNvPr id="32" name="MatSym">
            <a:extLst>
              <a:ext uri="{FF2B5EF4-FFF2-40B4-BE49-F238E27FC236}">
                <a16:creationId xmlns:a16="http://schemas.microsoft.com/office/drawing/2014/main" id="{8A1E3985-28BD-754E-ADDB-3A7FFBA94F3E}"/>
              </a:ext>
            </a:extLst>
          </p:cNvPr>
          <p:cNvSpPr txBox="1"/>
          <p:nvPr/>
        </p:nvSpPr>
        <p:spPr>
          <a:xfrm>
            <a:off x="8178800" y="1854200"/>
            <a:ext cx="3746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5600" b="1">
                <a:solidFill>
                  <a:srgbClr val="4B2E83"/>
                </a:solidFill>
                <a:latin typeface="Cambria Math"/>
                <a:ea typeface="Cambria Math"/>
              </a:rPr>
              <a:t>𝐀</a:t>
            </a:r>
          </a:p>
        </p:txBody>
      </p:sp>
      <p:sp>
        <p:nvSpPr>
          <p:cNvPr id="33" name="MatRule">
            <a:extLst>
              <a:ext uri="{FF2B5EF4-FFF2-40B4-BE49-F238E27FC236}">
                <a16:creationId xmlns:a16="http://schemas.microsoft.com/office/drawing/2014/main" id="{A865EB41-01B5-0D42-9134-5A2A2605DF61}"/>
              </a:ext>
            </a:extLst>
          </p:cNvPr>
          <p:cNvSpPr txBox="1"/>
          <p:nvPr/>
        </p:nvSpPr>
        <p:spPr>
          <a:xfrm>
            <a:off x="8356600" y="27686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3333"/>
                </a:solidFill>
                <a:latin typeface="Calibri"/>
                <a:cs typeface="Calibri"/>
              </a:rPr>
              <a:t>bold uppercase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MatEx1">
                <a:extLst>
                  <a:ext uri="{FF2B5EF4-FFF2-40B4-BE49-F238E27FC236}">
                    <a16:creationId xmlns:a16="http://schemas.microsoft.com/office/drawing/2014/main" id="{FDB15DD8-5DCF-D547-B654-EBBB907AEC07}"/>
                  </a:ext>
                </a:extLst>
              </p:cNvPr>
              <p:cNvSpPr txBox="1"/>
              <p:nvPr/>
            </p:nvSpPr>
            <p:spPr>
              <a:xfrm>
                <a:off x="8356600" y="3048000"/>
                <a:ext cx="3390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),  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𝑿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𝑴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𝜮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4" name="MatEx1">
                <a:extLst>
                  <a:ext uri="{FF2B5EF4-FFF2-40B4-BE49-F238E27FC236}">
                    <a16:creationId xmlns:a16="http://schemas.microsoft.com/office/drawing/2014/main" id="{FDB15DD8-5DCF-D547-B654-EBBB907AE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3048000"/>
                <a:ext cx="3390900" cy="228600"/>
              </a:xfrm>
              <a:prstGeom prst="rect">
                <a:avLst/>
              </a:prstGeom>
              <a:blipFill>
                <a:blip r:embed="rId5"/>
                <a:stretch>
                  <a:fillRect b="-7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MatType">
                <a:extLst>
                  <a:ext uri="{FF2B5EF4-FFF2-40B4-BE49-F238E27FC236}">
                    <a16:creationId xmlns:a16="http://schemas.microsoft.com/office/drawing/2014/main" id="{9B5EE70D-4EF5-924A-A3BB-6674B8A92AEE}"/>
                  </a:ext>
                </a:extLst>
              </p:cNvPr>
              <p:cNvSpPr txBox="1"/>
              <p:nvPr/>
            </p:nvSpPr>
            <p:spPr>
              <a:xfrm>
                <a:off x="8356600" y="3365500"/>
                <a:ext cx="33909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𝑚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5" name="MatType">
                <a:extLst>
                  <a:ext uri="{FF2B5EF4-FFF2-40B4-BE49-F238E27FC236}">
                    <a16:creationId xmlns:a16="http://schemas.microsoft.com/office/drawing/2014/main" id="{9B5EE70D-4EF5-924A-A3BB-6674B8A92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3365500"/>
                <a:ext cx="3390900" cy="254000"/>
              </a:xfrm>
              <a:prstGeom prst="rect">
                <a:avLst/>
              </a:prstGeom>
              <a:blipFill>
                <a:blip r:embed="rId6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MatDim">
            <a:extLst>
              <a:ext uri="{FF2B5EF4-FFF2-40B4-BE49-F238E27FC236}">
                <a16:creationId xmlns:a16="http://schemas.microsoft.com/office/drawing/2014/main" id="{B66A76E1-D098-BF45-9FC0-1A8A8ED61A8C}"/>
              </a:ext>
            </a:extLst>
          </p:cNvPr>
          <p:cNvSpPr txBox="1"/>
          <p:nvPr/>
        </p:nvSpPr>
        <p:spPr>
          <a:xfrm>
            <a:off x="8356600" y="3683000"/>
            <a:ext cx="33909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Calibri"/>
                <a:cs typeface="Calibri"/>
              </a:rPr>
              <a:t>dim(𝐀) = m × n   (rows × cols)</a:t>
            </a:r>
          </a:p>
        </p:txBody>
      </p:sp>
      <p:sp>
        <p:nvSpPr>
          <p:cNvPr id="59" name="IdxBar">
            <a:extLst>
              <a:ext uri="{FF2B5EF4-FFF2-40B4-BE49-F238E27FC236}">
                <a16:creationId xmlns:a16="http://schemas.microsoft.com/office/drawing/2014/main" id="{9378AF76-676F-3448-B66E-42849DFDFEAF}"/>
              </a:ext>
            </a:extLst>
          </p:cNvPr>
          <p:cNvSpPr/>
          <p:nvPr/>
        </p:nvSpPr>
        <p:spPr>
          <a:xfrm>
            <a:off x="0" y="4191000"/>
            <a:ext cx="12192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IdxHdr">
            <a:extLst>
              <a:ext uri="{FF2B5EF4-FFF2-40B4-BE49-F238E27FC236}">
                <a16:creationId xmlns:a16="http://schemas.microsoft.com/office/drawing/2014/main" id="{14AEC263-5D18-3E49-8A20-1BA8F3B4BDFE}"/>
              </a:ext>
            </a:extLst>
          </p:cNvPr>
          <p:cNvSpPr txBox="1"/>
          <p:nvPr/>
        </p:nvSpPr>
        <p:spPr>
          <a:xfrm>
            <a:off x="381000" y="4254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Index conventions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Idx1L">
                <a:extLst>
                  <a:ext uri="{FF2B5EF4-FFF2-40B4-BE49-F238E27FC236}">
                    <a16:creationId xmlns:a16="http://schemas.microsoft.com/office/drawing/2014/main" id="{C8C86FD3-2D3D-D847-AAEE-D0DB215571F3}"/>
                  </a:ext>
                </a:extLst>
              </p:cNvPr>
              <p:cNvSpPr txBox="1"/>
              <p:nvPr/>
            </p:nvSpPr>
            <p:spPr>
              <a:xfrm>
                <a:off x="508000" y="4635500"/>
                <a:ext cx="762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1" name="Idx1L">
                <a:extLst>
                  <a:ext uri="{FF2B5EF4-FFF2-40B4-BE49-F238E27FC236}">
                    <a16:creationId xmlns:a16="http://schemas.microsoft.com/office/drawing/2014/main" id="{C8C86FD3-2D3D-D847-AAEE-D0DB21557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4635500"/>
                <a:ext cx="7620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Idx1R">
            <a:extLst>
              <a:ext uri="{FF2B5EF4-FFF2-40B4-BE49-F238E27FC236}">
                <a16:creationId xmlns:a16="http://schemas.microsoft.com/office/drawing/2014/main" id="{A261F3E5-BE1A-E04A-A809-769A7E4C8139}"/>
              </a:ext>
            </a:extLst>
          </p:cNvPr>
          <p:cNvSpPr txBox="1"/>
          <p:nvPr/>
        </p:nvSpPr>
        <p:spPr>
          <a:xfrm>
            <a:off x="1270000" y="4699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i-th component of vector 𝐯  (scalar)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Idx2L">
                <a:extLst>
                  <a:ext uri="{FF2B5EF4-FFF2-40B4-BE49-F238E27FC236}">
                    <a16:creationId xmlns:a16="http://schemas.microsoft.com/office/drawing/2014/main" id="{00E1A7A9-BFDE-E94B-ACCD-14C72E772897}"/>
                  </a:ext>
                </a:extLst>
              </p:cNvPr>
              <p:cNvSpPr txBox="1"/>
              <p:nvPr/>
            </p:nvSpPr>
            <p:spPr>
              <a:xfrm>
                <a:off x="4572000" y="4635500"/>
                <a:ext cx="762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3" name="Idx2L">
                <a:extLst>
                  <a:ext uri="{FF2B5EF4-FFF2-40B4-BE49-F238E27FC236}">
                    <a16:creationId xmlns:a16="http://schemas.microsoft.com/office/drawing/2014/main" id="{00E1A7A9-BFDE-E94B-ACCD-14C72E772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635500"/>
                <a:ext cx="7620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Idx2R">
            <a:extLst>
              <a:ext uri="{FF2B5EF4-FFF2-40B4-BE49-F238E27FC236}">
                <a16:creationId xmlns:a16="http://schemas.microsoft.com/office/drawing/2014/main" id="{EF17265A-C27E-5149-819D-0283BF5B16FA}"/>
              </a:ext>
            </a:extLst>
          </p:cNvPr>
          <p:cNvSpPr txBox="1"/>
          <p:nvPr/>
        </p:nvSpPr>
        <p:spPr>
          <a:xfrm>
            <a:off x="5334000" y="46990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entry at row </a:t>
            </a:r>
            <a:r>
              <a:rPr lang="en-US" sz="1200" dirty="0" err="1">
                <a:solidFill>
                  <a:srgbClr val="333333"/>
                </a:solidFill>
                <a:latin typeface="Calibri"/>
                <a:cs typeface="Calibri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, column j of 𝐀 (scalar)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Idx3L">
                <a:extLst>
                  <a:ext uri="{FF2B5EF4-FFF2-40B4-BE49-F238E27FC236}">
                    <a16:creationId xmlns:a16="http://schemas.microsoft.com/office/drawing/2014/main" id="{5392D303-BDFD-6940-947E-5477AA02EF23}"/>
                  </a:ext>
                </a:extLst>
              </p:cNvPr>
              <p:cNvSpPr txBox="1"/>
              <p:nvPr/>
            </p:nvSpPr>
            <p:spPr>
              <a:xfrm>
                <a:off x="8636000" y="4635500"/>
                <a:ext cx="635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5" name="Idx3L">
                <a:extLst>
                  <a:ext uri="{FF2B5EF4-FFF2-40B4-BE49-F238E27FC236}">
                    <a16:creationId xmlns:a16="http://schemas.microsoft.com/office/drawing/2014/main" id="{5392D303-BDFD-6940-947E-5477AA02E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4635500"/>
                <a:ext cx="6350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Idx3R">
            <a:extLst>
              <a:ext uri="{FF2B5EF4-FFF2-40B4-BE49-F238E27FC236}">
                <a16:creationId xmlns:a16="http://schemas.microsoft.com/office/drawing/2014/main" id="{BAD768AC-45E2-184F-AAB4-F64521074782}"/>
              </a:ext>
            </a:extLst>
          </p:cNvPr>
          <p:cNvSpPr txBox="1"/>
          <p:nvPr/>
        </p:nvSpPr>
        <p:spPr>
          <a:xfrm>
            <a:off x="9334500" y="4699000"/>
            <a:ext cx="2730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dirty="0" err="1">
                <a:solidFill>
                  <a:srgbClr val="333333"/>
                </a:solidFill>
                <a:latin typeface="Calibri"/>
                <a:cs typeface="Calibri"/>
              </a:rPr>
              <a:t>i-th</a:t>
            </a:r>
            <a:r>
              <a:rPr lang="en-US" sz="1200" dirty="0">
                <a:solidFill>
                  <a:srgbClr val="333333"/>
                </a:solidFill>
                <a:latin typeface="Calibri"/>
                <a:cs typeface="Calibri"/>
              </a:rPr>
              <a:t> row of 𝐀 (a vector)</a:t>
            </a:r>
          </a:p>
        </p:txBody>
      </p:sp>
      <p:sp>
        <p:nvSpPr>
          <p:cNvPr id="67" name="TestBar">
            <a:extLst>
              <a:ext uri="{FF2B5EF4-FFF2-40B4-BE49-F238E27FC236}">
                <a16:creationId xmlns:a16="http://schemas.microsoft.com/office/drawing/2014/main" id="{89B47C31-B33D-354E-BBAD-BCED4763C745}"/>
              </a:ext>
            </a:extLst>
          </p:cNvPr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stHdr">
            <a:extLst>
              <a:ext uri="{FF2B5EF4-FFF2-40B4-BE49-F238E27FC236}">
                <a16:creationId xmlns:a16="http://schemas.microsoft.com/office/drawing/2014/main" id="{DE4F2D14-7F0B-EF42-B5E6-D3D330F8A34A}"/>
              </a:ext>
            </a:extLst>
          </p:cNvPr>
          <p:cNvSpPr txBox="1"/>
          <p:nvPr/>
        </p:nvSpPr>
        <p:spPr>
          <a:xfrm>
            <a:off x="381000" y="5359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>
                <a:solidFill>
                  <a:srgbClr val="D1578A"/>
                </a:solidFill>
                <a:latin typeface="Calibri"/>
                <a:cs typeface="Calibri"/>
              </a:rPr>
              <a:t>Quick test —  spot the type: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stEx">
                <a:extLst>
                  <a:ext uri="{FF2B5EF4-FFF2-40B4-BE49-F238E27FC236}">
                    <a16:creationId xmlns:a16="http://schemas.microsoft.com/office/drawing/2014/main" id="{D7675A97-5B8E-5F48-B107-EF542942B3E3}"/>
                  </a:ext>
                </a:extLst>
              </p:cNvPr>
              <p:cNvSpPr txBox="1"/>
              <p:nvPr/>
            </p:nvSpPr>
            <p:spPr>
              <a:xfrm>
                <a:off x="3302000" y="5359400"/>
                <a:ext cx="850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𝜆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ℝ</m:t>
                    </m:r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(scalar) · 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𝒘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(vector, 5 entries) · 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𝑴</m:t>
                    </m:r>
                    <m:r>
                      <a:rPr lang="en-US">
                        <a:solidFill>
                          <a:srgbClr val="333333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/>
                          </a:rPr>
                          <m:t>3×7</m:t>
                        </m:r>
                      </m:sup>
                    </m:sSup>
                  </m:oMath>
                </a14:m>
                <a:r>
                  <a:rPr lang="en-US" sz="1200" i="1">
                    <a:solidFill>
                      <a:srgbClr val="333333"/>
                    </a:solidFill>
                    <a:latin typeface="Cambria Math"/>
                  </a:rPr>
                  <a:t>  (matrix, 3 rows × 7 cols, 21 entries)</a:t>
                </a:r>
              </a:p>
            </p:txBody>
          </p:sp>
        </mc:Choice>
        <mc:Fallback>
          <p:sp>
            <p:nvSpPr>
              <p:cNvPr id="69" name="TestEx">
                <a:extLst>
                  <a:ext uri="{FF2B5EF4-FFF2-40B4-BE49-F238E27FC236}">
                    <a16:creationId xmlns:a16="http://schemas.microsoft.com/office/drawing/2014/main" id="{D7675A97-5B8E-5F48-B107-EF542942B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0" y="5359400"/>
                <a:ext cx="8509000" cy="228600"/>
              </a:xfrm>
              <a:prstGeom prst="rect">
                <a:avLst/>
              </a:prstGeom>
              <a:blipFill>
                <a:blip r:embed="rId10"/>
                <a:stretch>
                  <a:fillRect b="-6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kBar">
            <a:extLst>
              <a:ext uri="{FF2B5EF4-FFF2-40B4-BE49-F238E27FC236}">
                <a16:creationId xmlns:a16="http://schemas.microsoft.com/office/drawing/2014/main" id="{D9EA5B58-9324-EA4B-82B5-6ECA18BAD0D2}"/>
              </a:ext>
            </a:extLst>
          </p:cNvPr>
          <p:cNvSpPr/>
          <p:nvPr/>
        </p:nvSpPr>
        <p:spPr>
          <a:xfrm>
            <a:off x="0" y="5798754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kText">
            <a:extLst>
              <a:ext uri="{FF2B5EF4-FFF2-40B4-BE49-F238E27FC236}">
                <a16:creationId xmlns:a16="http://schemas.microsoft.com/office/drawing/2014/main" id="{11FE417F-B69C-CB44-8941-A1E9692A1B9D}"/>
              </a:ext>
            </a:extLst>
          </p:cNvPr>
          <p:cNvSpPr txBox="1"/>
          <p:nvPr/>
        </p:nvSpPr>
        <p:spPr>
          <a:xfrm>
            <a:off x="381000" y="5951154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  <a:cs typeface="Calibri"/>
              </a:rPr>
              <a:t>Lowercase italic = scalar. Bold lowercase = vector. Bold uppercase = matrix. dim() tells you the shape.</a:t>
            </a:r>
          </a:p>
        </p:txBody>
      </p:sp>
    </p:spTree>
    <p:extLst>
      <p:ext uri="{BB962C8B-B14F-4D97-AF65-F5344CB8AC3E}">
        <p14:creationId xmlns:p14="http://schemas.microsoft.com/office/powerpoint/2010/main" val="43198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8" grpId="0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  <p:bldP spid="36" grpId="0"/>
      <p:bldP spid="59" grpId="0" animBg="1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 animBg="1"/>
      <p:bldP spid="68" grpId="0"/>
      <p:bldP spid="69" grpId="0"/>
      <p:bldP spid="70" grpId="0" animBg="1"/>
      <p:bldP spid="7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6 — Identify vector elements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Read off individual components of a vector using subscript notation.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vector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element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v ∈ ℝ⁶,   dim(v) = 6   (six components)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Subscript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selects the i-th component — counting starts at 1, so the first entry is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v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₁.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=(4, −2, 7, 0, 5, −1)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six-component vector. Index the entries left to right as </a:t>
            </a:r>
            <a:r>
              <a:rPr lang="en-US" sz="1200" i="1" dirty="0">
                <a:solidFill>
                  <a:srgbClr val="00A7B5"/>
                </a:solidFill>
                <a:latin typeface="Cambria Math"/>
              </a:rPr>
              <a:t>v</a:t>
            </a:r>
            <a:r>
              <a:rPr lang="en-US" sz="1100" i="1" dirty="0">
                <a:solidFill>
                  <a:srgbClr val="00A7B5"/>
                </a:solidFill>
                <a:latin typeface="Calibri"/>
              </a:rPr>
              <a:t>₁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through </a:t>
            </a:r>
            <a:r>
              <a:rPr lang="en-US" sz="1200" i="1" dirty="0">
                <a:solidFill>
                  <a:srgbClr val="00A7B5"/>
                </a:solidFill>
                <a:latin typeface="Cambria Math"/>
              </a:rPr>
              <a:t>v</a:t>
            </a:r>
            <a:r>
              <a:rPr lang="en-US" sz="1100" i="1" dirty="0">
                <a:solidFill>
                  <a:srgbClr val="00A7B5"/>
                </a:solidFill>
                <a:latin typeface="Calibri"/>
              </a:rPr>
              <a:t>₆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the value of each element: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b="1" dirty="0">
                    <a:solidFill>
                      <a:srgbClr val="5A8A2A"/>
                    </a:solidFill>
                    <a:latin typeface="Calibri"/>
                  </a:rPr>
                  <a:t>Solution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=4     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=7</m:t>
                      </m:r>
                    </m:oMath>
                  </m:oMathPara>
                </a14:m>
                <a:endParaRPr lang="en-US" sz="1200" b="1" dirty="0">
                  <a:solidFill>
                    <a:srgbClr val="5A8A2A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     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n-US" sz="1200" b="1" dirty="0">
                  <a:solidFill>
                    <a:srgbClr val="5A8A2A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0"/>
                </a:solidFill>
                <a:latin typeface="Calibri"/>
              </a:rPr>
              <a:t>Identify each element first, then remove this cover to reveal.</a:t>
            </a:r>
          </a:p>
        </p:txBody>
      </p:sp>
    </p:spTree>
    <p:extLst>
      <p:ext uri="{BB962C8B-B14F-4D97-AF65-F5344CB8AC3E}">
        <p14:creationId xmlns:p14="http://schemas.microsoft.com/office/powerpoint/2010/main" val="1010366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7 — Identify matrix elements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Locate individual entries of a matrix using double-subscript notation.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matrix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element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A ∈ ℝ³ˣ⁴,   dim(A) = 3 × 4   (3 rows × 4 columns)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Entry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a</a:t>
            </a:r>
            <a:r>
              <a:rPr lang="en-US" sz="1300" b="1" i="1" dirty="0">
                <a:solidFill>
                  <a:srgbClr val="FFFFFF"/>
                </a:solidFill>
                <a:latin typeface="Calibri"/>
              </a:rPr>
              <a:t>ᵢⱼ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sits in row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i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, column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j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— row index always comes first.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3 × 4 matrix: 3 rows, 4 columns. Read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a</a:t>
            </a:r>
            <a:r>
              <a:rPr lang="en-US" sz="1100" i="1" dirty="0">
                <a:solidFill>
                  <a:srgbClr val="4B2E83"/>
                </a:solidFill>
                <a:latin typeface="Calibri"/>
              </a:rPr>
              <a:t>ᵢⱼ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as (row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, column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j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the value of each entry: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14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23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=9  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  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34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Count down to the row first, then across to the column.</a:t>
                </a:r>
              </a:p>
            </p:txBody>
          </p:sp>
        </mc:Choice>
        <mc:Fallback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identify each entry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272099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Exercise 8 — Identify matrix rows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Use bold subscript notation to pull out an entire row vector of a matrix.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Given matrix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identify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 — identify each row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00A7B5"/>
                </a:solidFill>
                <a:latin typeface="Cambria Math"/>
                <a:ea typeface="Cambria Math"/>
              </a:rPr>
              <a:t>A ∈ ℝ³ˣ⁴,   dim(A) = 3 × 4   (3 rows × 4 columns)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Bold </a:t>
            </a:r>
            <a:r>
              <a:rPr lang="en-US" sz="1600" b="1" i="1" dirty="0">
                <a:solidFill>
                  <a:srgbClr val="FFFFFF"/>
                </a:solidFill>
                <a:latin typeface="Cambria Math"/>
              </a:rPr>
              <a:t>A</a:t>
            </a: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ᵢ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denotes the whole i-th row vector, while a</a:t>
            </a: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ᵢⱼ</a:t>
            </a:r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 is a single scalar entry.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3 × 4 matrix. Row </a:t>
            </a:r>
            <a:r>
              <a:rPr lang="en-US" sz="1200" i="1" dirty="0">
                <a:solidFill>
                  <a:srgbClr val="4B2E83"/>
                </a:solidFill>
                <a:latin typeface="Cambria Math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is written </a:t>
            </a:r>
            <a:r>
              <a:rPr lang="en-US" sz="1200" b="1" i="1" dirty="0">
                <a:solidFill>
                  <a:srgbClr val="4B2E83"/>
                </a:solidFill>
                <a:latin typeface="Cambria Math"/>
              </a:rPr>
              <a:t>A</a:t>
            </a:r>
            <a:r>
              <a:rPr lang="en-US" sz="1100" i="1" dirty="0">
                <a:solidFill>
                  <a:srgbClr val="4B2E83"/>
                </a:solidFill>
                <a:latin typeface="Calibri"/>
              </a:rPr>
              <a:t>ᵢ</a:t>
            </a:r>
            <a:r>
              <a:rPr lang="en-US" sz="1200" dirty="0">
                <a:solidFill>
                  <a:srgbClr val="333333"/>
                </a:solidFill>
                <a:latin typeface="Calibri"/>
              </a:rPr>
              <a:t> (bold).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Write out each row vector, then the element: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  </m:t>
                      </m:r>
                      <m:sSub>
                        <m:sSubPr>
                          <m:ctrlP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 8, 1, 6)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=(7, 0, 2, 1)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>
                              <a:solidFill>
                                <a:srgbClr val="5A8A2A"/>
                              </a:solidFill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identify each entry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241196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3D9AE5FB-1633-B24B-84D1-DF229822716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D2ABC624-139F-F645-81DF-3C2C8722F07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Multiplication of a Vector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D4CED5F5-7F69-2C46-8115-D520974F244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Scaling a vector — multiply every entry by the same number</a:t>
            </a:r>
          </a:p>
        </p:txBody>
      </p:sp>
      <p:sp>
        <p:nvSpPr>
          <p:cNvPr id="23" name="DefBox">
            <a:extLst>
              <a:ext uri="{FF2B5EF4-FFF2-40B4-BE49-F238E27FC236}">
                <a16:creationId xmlns:a16="http://schemas.microsoft.com/office/drawing/2014/main" id="{BE2C42CE-3F3B-1F47-A8E1-432F506CE61A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Lbl">
            <a:extLst>
              <a:ext uri="{FF2B5EF4-FFF2-40B4-BE49-F238E27FC236}">
                <a16:creationId xmlns:a16="http://schemas.microsoft.com/office/drawing/2014/main" id="{3D02A259-8AA6-4243-9CBA-3235CFBA4FA1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5" name="DefEq">
            <a:extLst>
              <a:ext uri="{FF2B5EF4-FFF2-40B4-BE49-F238E27FC236}">
                <a16:creationId xmlns:a16="http://schemas.microsoft.com/office/drawing/2014/main" id="{A2602BFC-8B29-6543-BD89-4644D9B2B19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  =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(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v₁, v₂, ..., vₙ)  =  (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v₁,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v₂, ...,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vₙ)</a:t>
            </a:r>
          </a:p>
        </p:txBody>
      </p:sp>
      <p:sp>
        <p:nvSpPr>
          <p:cNvPr id="26" name="DefNote">
            <a:extLst>
              <a:ext uri="{FF2B5EF4-FFF2-40B4-BE49-F238E27FC236}">
                <a16:creationId xmlns:a16="http://schemas.microsoft.com/office/drawing/2014/main" id="{BB0DCA07-6588-8C42-9B25-F6BC5A068ACE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200" i="1">
                <a:solidFill>
                  <a:srgbClr val="777777"/>
                </a:solidFill>
                <a:latin typeface="Arial"/>
                <a:cs typeface="Arial"/>
              </a:rPr>
              <a:t>α ∈ ℝ </a:t>
            </a:r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is a scalar;   v ∈ ℝⁿ is a vector;   result has the same dimension as v.</a:t>
            </a:r>
          </a:p>
        </p:txBody>
      </p:sp>
      <p:sp>
        <p:nvSpPr>
          <p:cNvPr id="27" name="Card30">
            <a:extLst>
              <a:ext uri="{FF2B5EF4-FFF2-40B4-BE49-F238E27FC236}">
                <a16:creationId xmlns:a16="http://schemas.microsoft.com/office/drawing/2014/main" id="{AED5A97F-556E-2C4D-8BB7-C4CA275D6503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CardHdr30">
            <a:extLst>
              <a:ext uri="{FF2B5EF4-FFF2-40B4-BE49-F238E27FC236}">
                <a16:creationId xmlns:a16="http://schemas.microsoft.com/office/drawing/2014/main" id="{53BE29B5-DBE0-D946-B86E-7744AF6A3E1C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Title30">
            <a:extLst>
              <a:ext uri="{FF2B5EF4-FFF2-40B4-BE49-F238E27FC236}">
                <a16:creationId xmlns:a16="http://schemas.microsoft.com/office/drawing/2014/main" id="{16EF275E-C15C-6142-AFC8-D5BFC63FE6A5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39" name="CardBody30">
            <a:extLst>
              <a:ext uri="{FF2B5EF4-FFF2-40B4-BE49-F238E27FC236}">
                <a16:creationId xmlns:a16="http://schemas.microsoft.com/office/drawing/2014/main" id="{48A4E44F-66A0-0645-AB51-08E18A48D08F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Stretches or shrinks the vector.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&gt; 1: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stretches (longer)
• 0 &lt;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&lt; 1: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shrinks (shorter)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=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collapses to origin
•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&lt;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flips direction</a:t>
            </a:r>
          </a:p>
        </p:txBody>
      </p:sp>
      <p:sp>
        <p:nvSpPr>
          <p:cNvPr id="40" name="Card335">
            <a:extLst>
              <a:ext uri="{FF2B5EF4-FFF2-40B4-BE49-F238E27FC236}">
                <a16:creationId xmlns:a16="http://schemas.microsoft.com/office/drawing/2014/main" id="{C697593B-7C08-B042-9A82-3586C52FB38D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CardHdr335">
            <a:extLst>
              <a:ext uri="{FF2B5EF4-FFF2-40B4-BE49-F238E27FC236}">
                <a16:creationId xmlns:a16="http://schemas.microsoft.com/office/drawing/2014/main" id="{013DA8D3-E087-5941-81A8-6C0AE6B5B9CB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ardTitle335">
            <a:extLst>
              <a:ext uri="{FF2B5EF4-FFF2-40B4-BE49-F238E27FC236}">
                <a16:creationId xmlns:a16="http://schemas.microsoft.com/office/drawing/2014/main" id="{7C5A7025-2B24-014D-815B-170D95ED1A39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43" name="CardBody335">
            <a:extLst>
              <a:ext uri="{FF2B5EF4-FFF2-40B4-BE49-F238E27FC236}">
                <a16:creationId xmlns:a16="http://schemas.microsoft.com/office/drawing/2014/main" id="{0D28F2B6-66FF-684E-AF45-20D0AFEDA4C0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Direction is preserved
(or reversed if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α&lt;0).
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Magnitude scales by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α|:
   ‖α·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 =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 · ‖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</a:t>
            </a:r>
          </a:p>
        </p:txBody>
      </p:sp>
      <p:sp>
        <p:nvSpPr>
          <p:cNvPr id="44" name="Card640">
            <a:extLst>
              <a:ext uri="{FF2B5EF4-FFF2-40B4-BE49-F238E27FC236}">
                <a16:creationId xmlns:a16="http://schemas.microsoft.com/office/drawing/2014/main" id="{0BA535BE-CFEC-D847-BAF3-EA9C8B5B51B0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CardHdr640">
            <a:extLst>
              <a:ext uri="{FF2B5EF4-FFF2-40B4-BE49-F238E27FC236}">
                <a16:creationId xmlns:a16="http://schemas.microsoft.com/office/drawing/2014/main" id="{B5C0D322-3364-E144-929F-C6E94B83C123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CardTitle640">
            <a:extLst>
              <a:ext uri="{FF2B5EF4-FFF2-40B4-BE49-F238E27FC236}">
                <a16:creationId xmlns:a16="http://schemas.microsoft.com/office/drawing/2014/main" id="{DC2A4F4D-8CD6-2D40-B0CB-6395DCF8F8D0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47" name="CardBody640">
            <a:extLst>
              <a:ext uri="{FF2B5EF4-FFF2-40B4-BE49-F238E27FC236}">
                <a16:creationId xmlns:a16="http://schemas.microsoft.com/office/drawing/2014/main" id="{6299879A-BC90-3A4B-90D7-F5287B7460CC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Building block for:
• Linear combinations
• Gradient updates: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 − η·∇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L
• Normalization: v / ‖v‖
• Rescaling features</a:t>
            </a:r>
          </a:p>
        </p:txBody>
      </p:sp>
      <p:sp>
        <p:nvSpPr>
          <p:cNvPr id="48" name="FormStrip">
            <a:extLst>
              <a:ext uri="{FF2B5EF4-FFF2-40B4-BE49-F238E27FC236}">
                <a16:creationId xmlns:a16="http://schemas.microsoft.com/office/drawing/2014/main" id="{D509D365-3C16-5C43-A415-E7667D715E5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FormStripT">
            <a:extLst>
              <a:ext uri="{FF2B5EF4-FFF2-40B4-BE49-F238E27FC236}">
                <a16:creationId xmlns:a16="http://schemas.microsoft.com/office/drawing/2014/main" id="{50DFAAC9-C49A-C74F-B1AD-6CD20F1C7EE1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Key property:   ‖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α · 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v‖ = |</a:t>
            </a:r>
            <a:r>
              <a:rPr lang="el-GR" sz="1400" b="1">
                <a:solidFill>
                  <a:srgbClr val="FFFFFF"/>
                </a:solidFill>
                <a:latin typeface="Cambria Math"/>
                <a:ea typeface="Cambria Math"/>
              </a:rPr>
              <a:t>α| · ‖</a:t>
            </a:r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v‖     —     scaling a vector scales its magnitude.</a:t>
            </a:r>
          </a:p>
        </p:txBody>
      </p:sp>
      <p:sp>
        <p:nvSpPr>
          <p:cNvPr id="50" name="TkBar">
            <a:extLst>
              <a:ext uri="{FF2B5EF4-FFF2-40B4-BE49-F238E27FC236}">
                <a16:creationId xmlns:a16="http://schemas.microsoft.com/office/drawing/2014/main" id="{E2FC7A64-D903-714A-BAE1-5DB76A9474EF}"/>
              </a:ext>
            </a:extLst>
          </p:cNvPr>
          <p:cNvSpPr/>
          <p:nvPr/>
        </p:nvSpPr>
        <p:spPr>
          <a:xfrm>
            <a:off x="0" y="5755507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kText">
            <a:extLst>
              <a:ext uri="{FF2B5EF4-FFF2-40B4-BE49-F238E27FC236}">
                <a16:creationId xmlns:a16="http://schemas.microsoft.com/office/drawing/2014/main" id="{97244AA7-FF58-CB4F-BD90-90F762727264}"/>
              </a:ext>
            </a:extLst>
          </p:cNvPr>
          <p:cNvSpPr txBox="1"/>
          <p:nvPr/>
        </p:nvSpPr>
        <p:spPr>
          <a:xfrm>
            <a:off x="381000" y="5819007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Scalar multiplication = uniform stretch/shrink/flip applied to every coordinate</a:t>
            </a:r>
          </a:p>
        </p:txBody>
      </p:sp>
    </p:spTree>
    <p:extLst>
      <p:ext uri="{BB962C8B-B14F-4D97-AF65-F5344CB8AC3E}">
        <p14:creationId xmlns:p14="http://schemas.microsoft.com/office/powerpoint/2010/main" val="140281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/>
      <p:bldP spid="26" grpId="0"/>
      <p:bldP spid="27" grpId="0" animBg="1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  <p:bldP spid="47" grpId="0"/>
      <p:bldP spid="48" grpId="0" animBg="1"/>
      <p:bldP spid="49" grpId="0"/>
      <p:bldP spid="50" grpId="0" animBg="1"/>
      <p:bldP spid="5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7 — Scale a vector: miles to kilometres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Multiply a real-data vector by a single scalar to convert every entry.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weekly run (miles per day)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scale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Scaling by a positive constant stretches the whole vector uniformly — every day's distance grows by the same factor.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A runner logs distance each weekday: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𝒎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=(3, 5, 4, 8, 6)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Units: miles.  Convert to kilometres using 1 mile = 1.609 km.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converted vector: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𝒌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=1.609·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𝒎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Distribute the scalar over every entry; round to 1 decimal.</a:t>
                </a: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𝒌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=1.609·(3, 5, 4, 8, 6)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=(4.8, 8.0, 6.4, 12.9, 9.7)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Same dimension as m; every distance scaled by 1.609.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18084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8 — Scale a vector: 20% markdown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discount applies the same factor to every price — a scalar multiply.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store prices ($)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scale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0 &lt; α &lt; 1 shrinks the vector — every price drops by the same proportion while their ratios stay fixed.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Four catalogue prices, in dollars: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𝒑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=(25, 40, 15, 60)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A storewide sale takes 20% off, so each price is multiplied by 0.8.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sale-price vector: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𝒔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=0.8·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Apply the scalar 0.8 to every component.</a:t>
                </a:r>
              </a:p>
            </p:txBody>
          </p:sp>
        </mc:Choice>
        <mc:Fallback xmlns=""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𝒔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=0.8·(25, 40, 15, 60)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=(20, 32, 12, 48)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Each price falls 20%; the vector keeps its ℝ⁴ shape.</a:t>
                </a:r>
              </a:p>
            </p:txBody>
          </p:sp>
        </mc:Choice>
        <mc:Fallback xmlns=""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364745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libri"/>
              </a:rPr>
              <a:t>Example 9 — Scale a vector: one gradient-descent step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negative scalar flips direction and shrinks — the core of a gradient update.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2700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Real data — loss gradient at current weights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i="1" dirty="0">
                <a:solidFill>
                  <a:srgbClr val="00A7B5"/>
                </a:solidFill>
                <a:latin typeface="Calibri"/>
              </a:rPr>
              <a:t>step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54573" y="12700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Calibri"/>
              </a:rPr>
              <a:t>Your task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latin typeface="Calibri"/>
              </a:rPr>
              <a:t>The negative scalar −η flips the gradient and shrinks it — direction reverses, length scales by η.</a:t>
            </a:r>
          </a:p>
        </p:txBody>
      </p:sp>
      <p:sp>
        <p:nvSpPr>
          <p:cNvPr id="201" name="ExA_DataBox"/>
          <p:cNvSpPr/>
          <p:nvPr/>
        </p:nvSpPr>
        <p:spPr>
          <a:xfrm>
            <a:off x="558800" y="1778000"/>
            <a:ext cx="4851400" cy="1905000"/>
          </a:xfrm>
          <a:prstGeom prst="rect">
            <a:avLst/>
          </a:prstGeom>
          <a:solidFill>
            <a:srgbClr val="FAF7FC"/>
          </a:solidFill>
          <a:ln w="12700">
            <a:solidFill>
              <a:srgbClr val="C9B8E0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ExA_VecEq"/>
              <p:cNvSpPr/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dirty="0">
                    <a:solidFill>
                      <a:srgbClr val="333333"/>
                    </a:solidFill>
                    <a:latin typeface="Calibri"/>
                  </a:rPr>
                  <a:t>Back-prop returns the loss gradient: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=(20, −50, 30, −10)</m:t>
                      </m:r>
                    </m:oMath>
                  </m:oMathPara>
                </a14:m>
                <a:endParaRPr lang="en-US" sz="12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202" name="ExA_Ve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905000"/>
                <a:ext cx="4495800" cy="889000"/>
              </a:xfrm>
              <a:prstGeom prst="rect">
                <a:avLst/>
              </a:prstGeom>
              <a:blipFill>
                <a:blip r:embed="rId2"/>
                <a:stretch>
                  <a:fillRect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ExA_DataNote"/>
          <p:cNvSpPr/>
          <p:nvPr/>
        </p:nvSpPr>
        <p:spPr>
          <a:xfrm>
            <a:off x="736600" y="2819400"/>
            <a:ext cx="4495800" cy="78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"/>
              </a:rPr>
              <a:t>Learning rate η = 0.1.  The weight update subtracts a scaled gradient.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ExA_TaskTxt"/>
              <p:cNvSpPr/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300" b="1" dirty="0">
                    <a:solidFill>
                      <a:srgbClr val="333333"/>
                    </a:solidFill>
                    <a:latin typeface="Calibri"/>
                  </a:rPr>
                  <a:t>Compute the update step: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𝜟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𝒘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=−0.1·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𝒈</m:t>
                      </m:r>
                    </m:oMath>
                  </m:oMathPara>
                </a14:m>
                <a:endParaRPr lang="en-US" sz="13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r>
                  <a:rPr lang="en-US" sz="1100" i="1" dirty="0">
                    <a:solidFill>
                      <a:srgbClr val="333333"/>
                    </a:solidFill>
                    <a:latin typeface="Calibri"/>
                  </a:rPr>
                  <a:t>Distribute −0.1 over every entry; note the sign flips.</a:t>
                </a:r>
              </a:p>
            </p:txBody>
          </p:sp>
        </mc:Choice>
        <mc:Fallback>
          <p:sp>
            <p:nvSpPr>
              <p:cNvPr id="210" name="ExA_Task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300" y="1778000"/>
                <a:ext cx="4622800" cy="1460500"/>
              </a:xfrm>
              <a:prstGeom prst="rect">
                <a:avLst/>
              </a:prstGeom>
              <a:blipFill>
                <a:blip r:embed="rId3"/>
                <a:stretch>
                  <a:fillRect l="-548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ExA_SolBox"/>
          <p:cNvSpPr/>
          <p:nvPr/>
        </p:nvSpPr>
        <p:spPr>
          <a:xfrm>
            <a:off x="6858000" y="3327400"/>
            <a:ext cx="5041900" cy="19304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ExA_SolTxt"/>
              <p:cNvSpPr/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𝜟</m:t>
                      </m:r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𝒘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=−0.1·(20, −50, 30, −10)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=(−</m:t>
                      </m:r>
                      <m:r>
                        <a:rPr lang="en-US">
                          <a:solidFill>
                            <a:srgbClr val="5A8A2A"/>
                          </a:solidFill>
                          <a:latin typeface="Cambria Math"/>
                        </a:rPr>
                        <m:t>2, 5, −3, 1)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Direction reversed (signs flip), magnitude shrunk 10×; same dimension as g.</a:t>
                </a:r>
              </a:p>
            </p:txBody>
          </p:sp>
        </mc:Choice>
        <mc:Fallback>
          <p:sp>
            <p:nvSpPr>
              <p:cNvPr id="221" name="ExA_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800" y="3403600"/>
                <a:ext cx="4686300" cy="177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A_SolCover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endParaRPr/>
          </a:p>
        </p:txBody>
      </p:sp>
      <p:sp>
        <p:nvSpPr>
          <p:cNvPr id="231" name="ExA_SolCoverTxt"/>
          <p:cNvSpPr/>
          <p:nvPr/>
        </p:nvSpPr>
        <p:spPr>
          <a:xfrm>
            <a:off x="6858000" y="3327400"/>
            <a:ext cx="5041900" cy="2260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 — work it out first, then remove this cover.</a:t>
            </a:r>
          </a:p>
        </p:txBody>
      </p:sp>
    </p:spTree>
    <p:extLst>
      <p:ext uri="{BB962C8B-B14F-4D97-AF65-F5344CB8AC3E}">
        <p14:creationId xmlns:p14="http://schemas.microsoft.com/office/powerpoint/2010/main" val="193181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C0FDB392-0728-5E49-AAF5-FA73AD91BDB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4DD2665-427C-4448-BE4C-D4972726145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Visual — Scalar Multiplication in 2D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17D16113-5C77-FA46-A122-D66AB65415C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300" i="1">
                <a:solidFill>
                  <a:srgbClr val="777777"/>
                </a:solidFill>
                <a:latin typeface="Arial"/>
                <a:cs typeface="Arial"/>
              </a:rPr>
              <a:t>α·</a:t>
            </a:r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v stretches, shrinks, or flips a vector — direction is preserved (or reversed)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AB7CA7C3-CAC7-E442-8733-2FD8DC91CEC6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XAxis">
            <a:extLst>
              <a:ext uri="{FF2B5EF4-FFF2-40B4-BE49-F238E27FC236}">
                <a16:creationId xmlns:a16="http://schemas.microsoft.com/office/drawing/2014/main" id="{32A243D6-A2BD-2D4D-9D8E-A7B509F02662}"/>
              </a:ext>
            </a:extLst>
          </p:cNvPr>
          <p:cNvSpPr/>
          <p:nvPr/>
        </p:nvSpPr>
        <p:spPr>
          <a:xfrm>
            <a:off x="762000" y="3429000"/>
            <a:ext cx="7112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YAxis">
            <a:extLst>
              <a:ext uri="{FF2B5EF4-FFF2-40B4-BE49-F238E27FC236}">
                <a16:creationId xmlns:a16="http://schemas.microsoft.com/office/drawing/2014/main" id="{B3DE9E4F-48C1-F141-95B6-A6B5CB9A5B16}"/>
              </a:ext>
            </a:extLst>
          </p:cNvPr>
          <p:cNvSpPr/>
          <p:nvPr/>
        </p:nvSpPr>
        <p:spPr>
          <a:xfrm>
            <a:off x="4318000" y="1270000"/>
            <a:ext cx="12700" cy="4318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rigin">
            <a:extLst>
              <a:ext uri="{FF2B5EF4-FFF2-40B4-BE49-F238E27FC236}">
                <a16:creationId xmlns:a16="http://schemas.microsoft.com/office/drawing/2014/main" id="{55182B88-5D86-0149-8802-22BC4052600A}"/>
              </a:ext>
            </a:extLst>
          </p:cNvPr>
          <p:cNvSpPr txBox="1"/>
          <p:nvPr/>
        </p:nvSpPr>
        <p:spPr>
          <a:xfrm>
            <a:off x="4368800" y="34544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" name="XLab">
            <a:extLst>
              <a:ext uri="{FF2B5EF4-FFF2-40B4-BE49-F238E27FC236}">
                <a16:creationId xmlns:a16="http://schemas.microsoft.com/office/drawing/2014/main" id="{5DB54522-E541-9340-822B-FD6DB85D6EBB}"/>
              </a:ext>
            </a:extLst>
          </p:cNvPr>
          <p:cNvSpPr txBox="1"/>
          <p:nvPr/>
        </p:nvSpPr>
        <p:spPr>
          <a:xfrm>
            <a:off x="7721600" y="3479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10" name="YLab">
            <a:extLst>
              <a:ext uri="{FF2B5EF4-FFF2-40B4-BE49-F238E27FC236}">
                <a16:creationId xmlns:a16="http://schemas.microsoft.com/office/drawing/2014/main" id="{9125EA7C-50D6-6944-B68D-7EEE9AC24378}"/>
              </a:ext>
            </a:extLst>
          </p:cNvPr>
          <p:cNvSpPr txBox="1"/>
          <p:nvPr/>
        </p:nvSpPr>
        <p:spPr>
          <a:xfrm>
            <a:off x="4368800" y="12954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11" name="Vec_v">
            <a:extLst>
              <a:ext uri="{FF2B5EF4-FFF2-40B4-BE49-F238E27FC236}">
                <a16:creationId xmlns:a16="http://schemas.microsoft.com/office/drawing/2014/main" id="{1E6A4FEA-4C83-8B42-A9BE-0FE4B80F0BFF}"/>
              </a:ext>
            </a:extLst>
          </p:cNvPr>
          <p:cNvSpPr/>
          <p:nvPr/>
        </p:nvSpPr>
        <p:spPr>
          <a:xfrm rot="-1593903">
            <a:off x="4250543" y="3117850"/>
            <a:ext cx="1277912" cy="508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ec_vLbl">
            <a:extLst>
              <a:ext uri="{FF2B5EF4-FFF2-40B4-BE49-F238E27FC236}">
                <a16:creationId xmlns:a16="http://schemas.microsoft.com/office/drawing/2014/main" id="{BE737962-D636-7647-8C24-A8230CEDB6E7}"/>
              </a:ext>
            </a:extLst>
          </p:cNvPr>
          <p:cNvSpPr txBox="1"/>
          <p:nvPr/>
        </p:nvSpPr>
        <p:spPr>
          <a:xfrm>
            <a:off x="5283200" y="30353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13" name="Vec_2v">
            <a:extLst>
              <a:ext uri="{FF2B5EF4-FFF2-40B4-BE49-F238E27FC236}">
                <a16:creationId xmlns:a16="http://schemas.microsoft.com/office/drawing/2014/main" id="{637FFFA6-1774-E64C-A9C8-62EEBEFA74D6}"/>
              </a:ext>
            </a:extLst>
          </p:cNvPr>
          <p:cNvSpPr/>
          <p:nvPr/>
        </p:nvSpPr>
        <p:spPr>
          <a:xfrm rot="-1593903">
            <a:off x="4183087" y="2825750"/>
            <a:ext cx="2555825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_2vLbl">
            <a:extLst>
              <a:ext uri="{FF2B5EF4-FFF2-40B4-BE49-F238E27FC236}">
                <a16:creationId xmlns:a16="http://schemas.microsoft.com/office/drawing/2014/main" id="{61CAA43D-E4E3-0240-A7C0-1922A267EBC5}"/>
              </a:ext>
            </a:extLst>
          </p:cNvPr>
          <p:cNvSpPr txBox="1"/>
          <p:nvPr/>
        </p:nvSpPr>
        <p:spPr>
          <a:xfrm>
            <a:off x="6680200" y="20574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2·v = (4, 2)</a:t>
            </a:r>
          </a:p>
        </p:txBody>
      </p:sp>
      <p:sp>
        <p:nvSpPr>
          <p:cNvPr id="15" name="Vec_05v">
            <a:extLst>
              <a:ext uri="{FF2B5EF4-FFF2-40B4-BE49-F238E27FC236}">
                <a16:creationId xmlns:a16="http://schemas.microsoft.com/office/drawing/2014/main" id="{9907ADB5-3B5C-2B4B-B15E-131DAA76F170}"/>
              </a:ext>
            </a:extLst>
          </p:cNvPr>
          <p:cNvSpPr/>
          <p:nvPr/>
        </p:nvSpPr>
        <p:spPr>
          <a:xfrm rot="-1593903">
            <a:off x="4284271" y="3260725"/>
            <a:ext cx="638956" cy="50800"/>
          </a:xfrm>
          <a:prstGeom prst="rightArrow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c_05vLbl">
            <a:extLst>
              <a:ext uri="{FF2B5EF4-FFF2-40B4-BE49-F238E27FC236}">
                <a16:creationId xmlns:a16="http://schemas.microsoft.com/office/drawing/2014/main" id="{DAA5263B-6102-7E47-8652-DE29A6210DD8}"/>
              </a:ext>
            </a:extLst>
          </p:cNvPr>
          <p:cNvSpPr txBox="1"/>
          <p:nvPr/>
        </p:nvSpPr>
        <p:spPr>
          <a:xfrm>
            <a:off x="4965700" y="319405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½·v = (1, 0.5)</a:t>
            </a:r>
          </a:p>
        </p:txBody>
      </p:sp>
      <p:sp>
        <p:nvSpPr>
          <p:cNvPr id="17" name="Vec_negv">
            <a:extLst>
              <a:ext uri="{FF2B5EF4-FFF2-40B4-BE49-F238E27FC236}">
                <a16:creationId xmlns:a16="http://schemas.microsoft.com/office/drawing/2014/main" id="{E49C3749-1E16-0045-BA25-D1586E17310C}"/>
              </a:ext>
            </a:extLst>
          </p:cNvPr>
          <p:cNvSpPr/>
          <p:nvPr/>
        </p:nvSpPr>
        <p:spPr>
          <a:xfrm rot="9206097">
            <a:off x="3107543" y="3689350"/>
            <a:ext cx="1277912" cy="508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Vec_negvLbl">
            <a:extLst>
              <a:ext uri="{FF2B5EF4-FFF2-40B4-BE49-F238E27FC236}">
                <a16:creationId xmlns:a16="http://schemas.microsoft.com/office/drawing/2014/main" id="{F1AB0E08-3D5D-444D-B7BD-5A77EB6DDE9C}"/>
              </a:ext>
            </a:extLst>
          </p:cNvPr>
          <p:cNvSpPr txBox="1"/>
          <p:nvPr/>
        </p:nvSpPr>
        <p:spPr>
          <a:xfrm>
            <a:off x="1905000" y="40513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Arial"/>
                <a:cs typeface="Arial"/>
              </a:rPr>
              <a:t>−v = (−2, −1)</a:t>
            </a:r>
          </a:p>
        </p:txBody>
      </p:sp>
      <p:sp>
        <p:nvSpPr>
          <p:cNvPr id="19" name="LegCard">
            <a:extLst>
              <a:ext uri="{FF2B5EF4-FFF2-40B4-BE49-F238E27FC236}">
                <a16:creationId xmlns:a16="http://schemas.microsoft.com/office/drawing/2014/main" id="{F0171DA4-5B84-5F44-B54E-7093C71A9115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LegHdr">
            <a:extLst>
              <a:ext uri="{FF2B5EF4-FFF2-40B4-BE49-F238E27FC236}">
                <a16:creationId xmlns:a16="http://schemas.microsoft.com/office/drawing/2014/main" id="{28F79A1B-2655-1345-ACF4-EE76AB4AA76A}"/>
              </a:ext>
            </a:extLst>
          </p:cNvPr>
          <p:cNvSpPr txBox="1"/>
          <p:nvPr/>
        </p:nvSpPr>
        <p:spPr>
          <a:xfrm>
            <a:off x="8280400" y="13970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What's happening</a:t>
            </a:r>
          </a:p>
        </p:txBody>
      </p:sp>
      <p:sp>
        <p:nvSpPr>
          <p:cNvPr id="29" name="Leg1">
            <a:extLst>
              <a:ext uri="{FF2B5EF4-FFF2-40B4-BE49-F238E27FC236}">
                <a16:creationId xmlns:a16="http://schemas.microsoft.com/office/drawing/2014/main" id="{01D5BF96-3840-8744-AE88-57E56500B7F5}"/>
              </a:ext>
            </a:extLst>
          </p:cNvPr>
          <p:cNvSpPr txBox="1"/>
          <p:nvPr/>
        </p:nvSpPr>
        <p:spPr>
          <a:xfrm>
            <a:off x="8305800" y="1778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Cambria Math"/>
                <a:ea typeface="Cambria Math"/>
              </a:rPr>
              <a:t>Base:  v = (2, 1)</a:t>
            </a:r>
          </a:p>
        </p:txBody>
      </p:sp>
      <p:sp>
        <p:nvSpPr>
          <p:cNvPr id="30" name="Leg1n">
            <a:extLst>
              <a:ext uri="{FF2B5EF4-FFF2-40B4-BE49-F238E27FC236}">
                <a16:creationId xmlns:a16="http://schemas.microsoft.com/office/drawing/2014/main" id="{D89966CC-DCFB-B74D-95E0-B80F871C21C5}"/>
              </a:ext>
            </a:extLst>
          </p:cNvPr>
          <p:cNvSpPr txBox="1"/>
          <p:nvPr/>
        </p:nvSpPr>
        <p:spPr>
          <a:xfrm>
            <a:off x="8305800" y="2006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the reference vector</a:t>
            </a:r>
          </a:p>
        </p:txBody>
      </p:sp>
      <p:sp>
        <p:nvSpPr>
          <p:cNvPr id="31" name="Leg2">
            <a:extLst>
              <a:ext uri="{FF2B5EF4-FFF2-40B4-BE49-F238E27FC236}">
                <a16:creationId xmlns:a16="http://schemas.microsoft.com/office/drawing/2014/main" id="{2B2DDC62-9ECA-4F42-A9C3-1C811BCB41E0}"/>
              </a:ext>
            </a:extLst>
          </p:cNvPr>
          <p:cNvSpPr txBox="1"/>
          <p:nvPr/>
        </p:nvSpPr>
        <p:spPr>
          <a:xfrm>
            <a:off x="8305800" y="2286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Cambria Math"/>
                <a:ea typeface="Cambria Math"/>
              </a:rPr>
              <a:t>2·v = (4, 2)</a:t>
            </a:r>
          </a:p>
        </p:txBody>
      </p:sp>
      <p:sp>
        <p:nvSpPr>
          <p:cNvPr id="32" name="Leg2n">
            <a:extLst>
              <a:ext uri="{FF2B5EF4-FFF2-40B4-BE49-F238E27FC236}">
                <a16:creationId xmlns:a16="http://schemas.microsoft.com/office/drawing/2014/main" id="{29927CF5-163B-A748-B443-3C4BFEC19642}"/>
              </a:ext>
            </a:extLst>
          </p:cNvPr>
          <p:cNvSpPr txBox="1"/>
          <p:nvPr/>
        </p:nvSpPr>
        <p:spPr>
          <a:xfrm>
            <a:off x="8305800" y="2514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stretched 2× — same direction</a:t>
            </a:r>
          </a:p>
        </p:txBody>
      </p:sp>
      <p:sp>
        <p:nvSpPr>
          <p:cNvPr id="33" name="Leg3">
            <a:extLst>
              <a:ext uri="{FF2B5EF4-FFF2-40B4-BE49-F238E27FC236}">
                <a16:creationId xmlns:a16="http://schemas.microsoft.com/office/drawing/2014/main" id="{7E1C6883-5B32-884F-AF91-C8BF0FB6D273}"/>
              </a:ext>
            </a:extLst>
          </p:cNvPr>
          <p:cNvSpPr txBox="1"/>
          <p:nvPr/>
        </p:nvSpPr>
        <p:spPr>
          <a:xfrm>
            <a:off x="8305800" y="2794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  <a:latin typeface="Cambria Math"/>
                <a:ea typeface="Cambria Math"/>
              </a:rPr>
              <a:t>½·v = (1, 0.5)</a:t>
            </a:r>
          </a:p>
        </p:txBody>
      </p:sp>
      <p:sp>
        <p:nvSpPr>
          <p:cNvPr id="34" name="Leg3n">
            <a:extLst>
              <a:ext uri="{FF2B5EF4-FFF2-40B4-BE49-F238E27FC236}">
                <a16:creationId xmlns:a16="http://schemas.microsoft.com/office/drawing/2014/main" id="{C0C4ABA2-0760-0B44-AE94-478DACE491CD}"/>
              </a:ext>
            </a:extLst>
          </p:cNvPr>
          <p:cNvSpPr txBox="1"/>
          <p:nvPr/>
        </p:nvSpPr>
        <p:spPr>
          <a:xfrm>
            <a:off x="8305800" y="3022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shrunk to half length</a:t>
            </a:r>
          </a:p>
        </p:txBody>
      </p:sp>
      <p:sp>
        <p:nvSpPr>
          <p:cNvPr id="35" name="Leg4">
            <a:extLst>
              <a:ext uri="{FF2B5EF4-FFF2-40B4-BE49-F238E27FC236}">
                <a16:creationId xmlns:a16="http://schemas.microsoft.com/office/drawing/2014/main" id="{E1176C62-61F8-D643-814A-1FF9C2B583B6}"/>
              </a:ext>
            </a:extLst>
          </p:cNvPr>
          <p:cNvSpPr txBox="1"/>
          <p:nvPr/>
        </p:nvSpPr>
        <p:spPr>
          <a:xfrm>
            <a:off x="8305800" y="3302000"/>
            <a:ext cx="3327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Cambria Math"/>
                <a:ea typeface="Cambria Math"/>
              </a:rPr>
              <a:t>−v = (−2, −1)</a:t>
            </a:r>
          </a:p>
        </p:txBody>
      </p:sp>
      <p:sp>
        <p:nvSpPr>
          <p:cNvPr id="36" name="Leg4n">
            <a:extLst>
              <a:ext uri="{FF2B5EF4-FFF2-40B4-BE49-F238E27FC236}">
                <a16:creationId xmlns:a16="http://schemas.microsoft.com/office/drawing/2014/main" id="{3E836E0E-7668-B44C-A81C-4CBF8F15E2A2}"/>
              </a:ext>
            </a:extLst>
          </p:cNvPr>
          <p:cNvSpPr txBox="1"/>
          <p:nvPr/>
        </p:nvSpPr>
        <p:spPr>
          <a:xfrm>
            <a:off x="8305800" y="35306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flipped 180° — opposite direction</a:t>
            </a:r>
          </a:p>
        </p:txBody>
      </p:sp>
      <p:sp>
        <p:nvSpPr>
          <p:cNvPr id="52" name="LegRule">
            <a:extLst>
              <a:ext uri="{FF2B5EF4-FFF2-40B4-BE49-F238E27FC236}">
                <a16:creationId xmlns:a16="http://schemas.microsoft.com/office/drawing/2014/main" id="{45190E47-1811-2E44-8C82-F07E8E1D2952}"/>
              </a:ext>
            </a:extLst>
          </p:cNvPr>
          <p:cNvSpPr txBox="1"/>
          <p:nvPr/>
        </p:nvSpPr>
        <p:spPr>
          <a:xfrm>
            <a:off x="8305800" y="4000500"/>
            <a:ext cx="3327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Rule:   ‖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α·</a:t>
            </a:r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v‖ = |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α|·‖</a:t>
            </a:r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v‖</a:t>
            </a:r>
          </a:p>
        </p:txBody>
      </p:sp>
      <p:sp>
        <p:nvSpPr>
          <p:cNvPr id="53" name="LegRuleN">
            <a:extLst>
              <a:ext uri="{FF2B5EF4-FFF2-40B4-BE49-F238E27FC236}">
                <a16:creationId xmlns:a16="http://schemas.microsoft.com/office/drawing/2014/main" id="{CCED3700-FD23-8A4D-B74C-865C7518ED60}"/>
              </a:ext>
            </a:extLst>
          </p:cNvPr>
          <p:cNvSpPr txBox="1"/>
          <p:nvPr/>
        </p:nvSpPr>
        <p:spPr>
          <a:xfrm>
            <a:off x="8305800" y="4318000"/>
            <a:ext cx="33274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magnitude scales by |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α|; </a:t>
            </a:r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sign of 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α </a:t>
            </a:r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controls direction.</a:t>
            </a:r>
          </a:p>
        </p:txBody>
      </p:sp>
      <p:sp>
        <p:nvSpPr>
          <p:cNvPr id="54" name="LegPin">
            <a:extLst>
              <a:ext uri="{FF2B5EF4-FFF2-40B4-BE49-F238E27FC236}">
                <a16:creationId xmlns:a16="http://schemas.microsoft.com/office/drawing/2014/main" id="{9E40D28E-0716-534F-8EFB-545EFD40D24A}"/>
              </a:ext>
            </a:extLst>
          </p:cNvPr>
          <p:cNvSpPr txBox="1"/>
          <p:nvPr/>
        </p:nvSpPr>
        <p:spPr>
          <a:xfrm>
            <a:off x="8305800" y="5016500"/>
            <a:ext cx="3327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4B2E83"/>
                </a:solidFill>
                <a:latin typeface="Arial"/>
                <a:cs typeface="Arial"/>
              </a:rPr>
              <a:t>All scaled vectors lie on the same line through the origin.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24528A34-FE17-CB4A-A930-89E87EFDF59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04387395-368C-F94D-86AA-AE3208782E3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Scalar multiplication = uniform stretch / shrink / flip along the vector's direction</a:t>
            </a:r>
          </a:p>
        </p:txBody>
      </p:sp>
    </p:spTree>
    <p:extLst>
      <p:ext uri="{BB962C8B-B14F-4D97-AF65-F5344CB8AC3E}">
        <p14:creationId xmlns:p14="http://schemas.microsoft.com/office/powerpoint/2010/main" val="98531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A7D357B-0A18-9440-A945-ACE8A08478B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0D75A9C-81FA-384A-8340-1176567C4E0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Multiplication — Example 1 of 3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57684AD-6EAB-394C-891B-D34062EA24E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Compute the result of scaling a 3-dimensional vector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8C8B8B4-9A5D-3F42-B32F-5D84370C85E4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2BB79C53-95F3-2049-B524-12E972F6B15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7363A83A-C6D7-FC47-8AD3-2702D15CABBA}"/>
              </a:ext>
            </a:extLst>
          </p:cNvPr>
          <p:cNvSpPr txBox="1"/>
          <p:nvPr/>
        </p:nvSpPr>
        <p:spPr>
          <a:xfrm>
            <a:off x="558800" y="13335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8482B3EA-034D-274E-A2DB-7462BCCB7E18}"/>
              </a:ext>
            </a:extLst>
          </p:cNvPr>
          <p:cNvSpPr txBox="1"/>
          <p:nvPr/>
        </p:nvSpPr>
        <p:spPr>
          <a:xfrm>
            <a:off x="635000" y="1778000"/>
            <a:ext cx="11176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3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and  v = (2, −1, 4).
Compute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F55DC78C-695D-FB4A-8EFF-DA5B81D70AC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6722F0FC-8B15-FE42-92C2-CD719A1DF251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87BBF16-9BC6-204B-8AE6-3FA58C93E062}"/>
              </a:ext>
            </a:extLst>
          </p:cNvPr>
          <p:cNvSpPr txBox="1"/>
          <p:nvPr/>
        </p:nvSpPr>
        <p:spPr>
          <a:xfrm>
            <a:off x="558800" y="3175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FFFFFF"/>
                </a:solidFill>
                <a:latin typeface="Arial"/>
                <a:cs typeface="Arial"/>
              </a:rPr>
              <a:t>Solution  (hidden — click or reveal in presentation mode)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292B912F-5983-0948-87C4-13A8CCA8F878}"/>
              </a:ext>
            </a:extLst>
          </p:cNvPr>
          <p:cNvSpPr txBox="1"/>
          <p:nvPr/>
        </p:nvSpPr>
        <p:spPr>
          <a:xfrm>
            <a:off x="635000" y="3556000"/>
            <a:ext cx="11176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Apply the scalar to each component: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B2F8B061-A9A7-BD40-A83C-A22B9D5E70E8}"/>
              </a:ext>
            </a:extLst>
          </p:cNvPr>
          <p:cNvSpPr txBox="1"/>
          <p:nvPr/>
        </p:nvSpPr>
        <p:spPr>
          <a:xfrm>
            <a:off x="635000" y="3873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B0B0B0"/>
                </a:solidFill>
                <a:latin typeface="Cambria Math"/>
                <a:ea typeface="Cambria Math"/>
              </a:rPr>
              <a:t>3 · (2, −1, 4)  =  (3·2,  3·(−1),  3·4)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668F35CE-3957-D043-99F5-E2152A6606DF}"/>
              </a:ext>
            </a:extLst>
          </p:cNvPr>
          <p:cNvSpPr txBox="1"/>
          <p:nvPr/>
        </p:nvSpPr>
        <p:spPr>
          <a:xfrm>
            <a:off x="635000" y="4254500"/>
            <a:ext cx="1117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B0B0B0"/>
                </a:solidFill>
                <a:latin typeface="Cambria Math"/>
                <a:ea typeface="Cambria Math"/>
              </a:rPr>
              <a:t>                  =  (6,  −3,  12)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595FB724-FDC3-314A-A699-2C454497198C}"/>
              </a:ext>
            </a:extLst>
          </p:cNvPr>
          <p:cNvSpPr txBox="1"/>
          <p:nvPr/>
        </p:nvSpPr>
        <p:spPr>
          <a:xfrm>
            <a:off x="635000" y="4699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Check magnitude:   ‖v‖ = √(4+1+16) = √21   →   ‖3v‖ = 3√21 = √189 ✓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D27087B9-432B-CB44-B0F1-153136DD726F}"/>
              </a:ext>
            </a:extLst>
          </p:cNvPr>
          <p:cNvSpPr txBox="1"/>
          <p:nvPr/>
        </p:nvSpPr>
        <p:spPr>
          <a:xfrm>
            <a:off x="635000" y="49784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777777"/>
                </a:solidFill>
                <a:latin typeface="Arial"/>
                <a:cs typeface="Arial"/>
              </a:rPr>
              <a:t>Answer:   </a:t>
            </a:r>
            <a:r>
              <a:rPr lang="el-GR" sz="1300" b="1">
                <a:solidFill>
                  <a:srgbClr val="777777"/>
                </a:solidFill>
                <a:latin typeface="Arial"/>
                <a:cs typeface="Arial"/>
              </a:rPr>
              <a:t>α · </a:t>
            </a:r>
            <a:r>
              <a:rPr lang="en-US" sz="1300" b="1">
                <a:solidFill>
                  <a:srgbClr val="777777"/>
                </a:solidFill>
                <a:latin typeface="Arial"/>
                <a:cs typeface="Arial"/>
              </a:rPr>
              <a:t>v = (6, −3, 12)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B870DB80-2487-6F4C-AA89-CF92A07BFC6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D2ACBE7E-D5C1-8D43-846A-C34E650362E5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Each entry multiplied by </a:t>
            </a:r>
            <a:r>
              <a:rPr lang="el-GR" sz="1400" b="1" i="1">
                <a:solidFill>
                  <a:srgbClr val="FFFFFF"/>
                </a:solidFill>
                <a:latin typeface="Arial"/>
                <a:cs typeface="Arial"/>
              </a:rPr>
              <a:t>α = 3 — </a:t>
            </a:r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direction unchanged, length tripled</a:t>
            </a:r>
          </a:p>
        </p:txBody>
      </p:sp>
    </p:spTree>
    <p:extLst>
      <p:ext uri="{BB962C8B-B14F-4D97-AF65-F5344CB8AC3E}">
        <p14:creationId xmlns:p14="http://schemas.microsoft.com/office/powerpoint/2010/main" val="213267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4A177C16-FFCF-0F44-8E29-60231FCD06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2AEA8CA7-E994-F345-A9AE-3B7962335A6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Scalar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003AA85B-1149-BF4E-9BCA-3C74D684584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Scaling a probability-like vector by ½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7B409B7C-F0B1-A34C-A7A8-BC7233592E3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CB4884A3-78C4-884F-ACA1-53169E6FB3F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6A89AC9B-4591-B64C-BDC4-498E7940CCF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A53B9F14-745D-AD43-B3BD-EF49C70445B1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·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v   where 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½ 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and   v = (0.6, 0.8, 0.4)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6226148A-681A-F442-AB1C-DE0411AB6C3D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301271F3-D298-854F-B624-A73370B8350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515F3CBF-7ECD-CA49-A667-73137FFF90C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Step1">
            <a:extLst>
              <a:ext uri="{FF2B5EF4-FFF2-40B4-BE49-F238E27FC236}">
                <a16:creationId xmlns:a16="http://schemas.microsoft.com/office/drawing/2014/main" id="{7CE262B3-1F51-184F-B7A3-BE6D01447D93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Apply the scalar to each component:</a:t>
            </a:r>
          </a:p>
        </p:txBody>
      </p:sp>
      <p:sp>
        <p:nvSpPr>
          <p:cNvPr id="30" name="SStep2">
            <a:extLst>
              <a:ext uri="{FF2B5EF4-FFF2-40B4-BE49-F238E27FC236}">
                <a16:creationId xmlns:a16="http://schemas.microsoft.com/office/drawing/2014/main" id="{0F2634F9-0B54-F64A-8828-12958AD308DC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α · </a:t>
            </a:r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v  =  ½ · (0.6, 0.8, 0.4)  =  (½·0.6,  ½·0.8,  ½·0.4)</a:t>
            </a:r>
          </a:p>
        </p:txBody>
      </p:sp>
      <p:sp>
        <p:nvSpPr>
          <p:cNvPr id="31" name="SStep3">
            <a:extLst>
              <a:ext uri="{FF2B5EF4-FFF2-40B4-BE49-F238E27FC236}">
                <a16:creationId xmlns:a16="http://schemas.microsoft.com/office/drawing/2014/main" id="{E7F3934F-659F-2741-B1FA-194935DCDE38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=  (0.3, 0.4, 0.2)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1CD13A9F-D6F8-FE4D-9ABC-2EE72CE3C561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magnitude:   ‖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α·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v‖ = |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α|·‖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v‖ = ½·√(0.36+0.64+0.16) = ½·√1.16 ≈ 0.539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F5070D4F-C6C8-0A4B-BBAA-B8930D066FC2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· </a:t>
            </a:r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v = (0.3, 0.4, 0.2)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F7C2F1F6-1675-EB46-8874-5EB2A0D3E80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0BB35AA-01AE-994B-9CD8-18287ED6275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Halving every entry halves the vector's magnitude — direction preserved</a:t>
            </a:r>
          </a:p>
        </p:txBody>
      </p:sp>
    </p:spTree>
    <p:extLst>
      <p:ext uri="{BB962C8B-B14F-4D97-AF65-F5344CB8AC3E}">
        <p14:creationId xmlns:p14="http://schemas.microsoft.com/office/powerpoint/2010/main" val="269794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4A547F9-733D-6E4D-A3CC-4796DF2D0CC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24E654A-D476-8544-A912-D1927B02D20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Scalar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C863FBA-A592-F64D-BDFB-EA4579449F8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Negative scalar — flipping direction in a gradient-descent step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C6867DA7-EDBD-804C-A75E-74F2128C874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FCCF202B-16B9-604C-94AC-3F3243F0A74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E93FEA9-DC7A-9B4E-A57D-F57551A1E8DF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DA8AAB4-9AF1-704D-8BB6-E7D28D181E05}"/>
              </a:ext>
            </a:extLst>
          </p:cNvPr>
          <p:cNvSpPr txBox="1"/>
          <p:nvPr/>
        </p:nvSpPr>
        <p:spPr>
          <a:xfrm>
            <a:off x="558800" y="17526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 gradient step uses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= −0.1 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and  ∇L = (5, −2, 3, 1).
Compute the update vector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α · ∇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L  (i.e.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θ_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new −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θ_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old).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17809978-A3A8-F942-B9C7-F0982170BF1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B7A207DD-7166-9B44-B70F-591F0540C74F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418155AC-5020-1843-92D1-E3429F97F4E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BECF18E2-1D6E-C340-BE93-36032C27218A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each component by −0.1: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20FCACA5-5FBD-3F43-BDEA-4D40C5B3E956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−0.1 · (5, −2, 3, 1)  =  (−0.1·5,  −0.1·(−2),  −0.1·3,  −0.1·1)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5B2F0945-2E07-FD43-AB7F-B4A508510C0E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=  (−0.5,  0.2,  −0.3,  −0.1)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A45AEA0E-1CB2-3D4A-B2DB-4B12C67B1678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note: the negative sign flips the gradient direction — we step downhill.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24E6956-5989-534F-8BB1-A605708679FB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· ∇</a:t>
            </a:r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L = (−0.5, 0.2, −0.3, −0.1)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FFB43F27-37BD-934E-A15A-B9A85F616C1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6FD30F82-E816-6049-A51E-3C6006137AB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Negative scalars reverse direction — this is exactly how gradient descent moves opposite the gradient</a:t>
            </a:r>
          </a:p>
        </p:txBody>
      </p:sp>
    </p:spTree>
    <p:extLst>
      <p:ext uri="{BB962C8B-B14F-4D97-AF65-F5344CB8AC3E}">
        <p14:creationId xmlns:p14="http://schemas.microsoft.com/office/powerpoint/2010/main" val="267840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C8C0B8B-F474-1B43-98F2-EF4DCDCF6EE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35056D96-89A8-F240-9542-233000D7713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Addition / Subtraction with a Vector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0E9D19C0-91AD-614D-86AC-06FFCDBB3C1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Broadcasting — add (or subtract) the same number to every entry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3F31A55B-9FCA-0845-BFD9-6B4333231413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570A7A50-9BD8-EC42-B47C-3D34CDB57845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(broadcasted operation)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BA9AD71-1A6C-804E-8E48-E8CCB72AE905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  =  (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v₁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v₂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...,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vₙ +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α)        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  =  (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v₁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v₂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α, ..., 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vₙ −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α)</a:t>
            </a:r>
            <a:endParaRPr lang="en-US" sz="16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FD2D7A37-7A15-4D4F-941D-554FC20E0889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Strictly, this is broadcasting — not a textbook vector-space op. NumPy/PyTorch/TensorFlow all support it.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8F200A55-F7EB-CA4D-98A5-C541513786B7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6F4CE84E-DE0C-EB4D-8005-E663120E56D1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92BEAB9F-3B24-2943-8E0E-7072A6CC0D9E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221D16A8-BE38-F34C-A425-B3ADFA99E516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Adds (or subtracts) the same constant to every component.
Result dimension = same as v.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EDAF93BE-601F-C94E-9668-51E157E707B7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CA6307AE-B7F6-8F41-8E53-633FF6D56ED9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CDEDF238-AF6C-4340-96E2-FB5EBACF07EB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87D234EF-9011-844C-9CDF-67B2757F5A04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Translates the vector by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along the all-ones direction (1,1,...,1).
Direction and magnitude both change.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2F00FC4D-2F15-C142-8812-094CE1EBFE57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768BF404-7F4B-E648-9424-F3E261663AF3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56CE6469-C530-C448-9529-E52786C0E718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AFB65F2C-0828-8642-9035-36D971E4BF0F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Used for:
• Mean-centering: x −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μ
•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Bias addition in neural nets
• Image brightness shift
• Affine transformations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17A095CB-9960-9E44-B7B1-9FC7B090572F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827AFCB5-450A-5F46-B48A-BF21A390B0F9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Key idea:   v ±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α  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shifts every coordinate by the same amount — it's a translation, not a scaling.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7199379A-B9C4-3C4F-80A5-36A4EFF0287C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B6B8EC56-2FBF-7E40-A848-99ED1B19E32A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Adding a scalar = uniform shift on every entry (broadcasting)</a:t>
            </a:r>
          </a:p>
        </p:txBody>
      </p:sp>
    </p:spTree>
    <p:extLst>
      <p:ext uri="{BB962C8B-B14F-4D97-AF65-F5344CB8AC3E}">
        <p14:creationId xmlns:p14="http://schemas.microsoft.com/office/powerpoint/2010/main" val="11180063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C674A34D-32B1-484C-AC8D-B22F6397348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9358FEF-2394-684F-A0E0-75A2000421F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Scalar Addition / Subtraction — 2D Visual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E45E11F-8BFB-2843-942B-BBBC96C74C3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Adding a scalar to a vector shifts every coordinate equally — a uniform translation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08A4EA67-F880-8F46-8D92-8A60B48B88CF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BA3BCEB7-90FF-CC47-81B3-1E4B59CDADA1}"/>
              </a:ext>
            </a:extLst>
          </p:cNvPr>
          <p:cNvSpPr/>
          <p:nvPr/>
        </p:nvSpPr>
        <p:spPr>
          <a:xfrm>
            <a:off x="825500" y="3429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4725D937-933B-2048-AC7C-98AAF74AE90E}"/>
              </a:ext>
            </a:extLst>
          </p:cNvPr>
          <p:cNvSpPr/>
          <p:nvPr/>
        </p:nvSpPr>
        <p:spPr>
          <a:xfrm>
            <a:off x="431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-5">
            <a:extLst>
              <a:ext uri="{FF2B5EF4-FFF2-40B4-BE49-F238E27FC236}">
                <a16:creationId xmlns:a16="http://schemas.microsoft.com/office/drawing/2014/main" id="{B1F997B9-8F4A-0546-944B-C6F781824315}"/>
              </a:ext>
            </a:extLst>
          </p:cNvPr>
          <p:cNvSpPr/>
          <p:nvPr/>
        </p:nvSpPr>
        <p:spPr>
          <a:xfrm>
            <a:off x="1460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-4">
            <a:extLst>
              <a:ext uri="{FF2B5EF4-FFF2-40B4-BE49-F238E27FC236}">
                <a16:creationId xmlns:a16="http://schemas.microsoft.com/office/drawing/2014/main" id="{A706AED7-841F-D843-81F6-12E0A516CFEC}"/>
              </a:ext>
            </a:extLst>
          </p:cNvPr>
          <p:cNvSpPr/>
          <p:nvPr/>
        </p:nvSpPr>
        <p:spPr>
          <a:xfrm>
            <a:off x="203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-3">
            <a:extLst>
              <a:ext uri="{FF2B5EF4-FFF2-40B4-BE49-F238E27FC236}">
                <a16:creationId xmlns:a16="http://schemas.microsoft.com/office/drawing/2014/main" id="{0141F719-1C11-5D41-8801-6C27FB3DE127}"/>
              </a:ext>
            </a:extLst>
          </p:cNvPr>
          <p:cNvSpPr/>
          <p:nvPr/>
        </p:nvSpPr>
        <p:spPr>
          <a:xfrm>
            <a:off x="2603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Y-3">
            <a:extLst>
              <a:ext uri="{FF2B5EF4-FFF2-40B4-BE49-F238E27FC236}">
                <a16:creationId xmlns:a16="http://schemas.microsoft.com/office/drawing/2014/main" id="{F177CCFC-1775-864D-A65C-5D04B2C6FD47}"/>
              </a:ext>
            </a:extLst>
          </p:cNvPr>
          <p:cNvSpPr/>
          <p:nvPr/>
        </p:nvSpPr>
        <p:spPr>
          <a:xfrm>
            <a:off x="4279900" y="5143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-2">
            <a:extLst>
              <a:ext uri="{FF2B5EF4-FFF2-40B4-BE49-F238E27FC236}">
                <a16:creationId xmlns:a16="http://schemas.microsoft.com/office/drawing/2014/main" id="{C22F5FEF-9221-954A-B3B6-F603DB7F6E50}"/>
              </a:ext>
            </a:extLst>
          </p:cNvPr>
          <p:cNvSpPr/>
          <p:nvPr/>
        </p:nvSpPr>
        <p:spPr>
          <a:xfrm>
            <a:off x="3175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Y-2">
            <a:extLst>
              <a:ext uri="{FF2B5EF4-FFF2-40B4-BE49-F238E27FC236}">
                <a16:creationId xmlns:a16="http://schemas.microsoft.com/office/drawing/2014/main" id="{58749CE3-7E85-E248-B6E8-59333EC1A355}"/>
              </a:ext>
            </a:extLst>
          </p:cNvPr>
          <p:cNvSpPr/>
          <p:nvPr/>
        </p:nvSpPr>
        <p:spPr>
          <a:xfrm>
            <a:off x="4279900" y="4572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-1">
            <a:extLst>
              <a:ext uri="{FF2B5EF4-FFF2-40B4-BE49-F238E27FC236}">
                <a16:creationId xmlns:a16="http://schemas.microsoft.com/office/drawing/2014/main" id="{FDAE2319-5C30-994C-B5A3-F6D487CB5C79}"/>
              </a:ext>
            </a:extLst>
          </p:cNvPr>
          <p:cNvSpPr/>
          <p:nvPr/>
        </p:nvSpPr>
        <p:spPr>
          <a:xfrm>
            <a:off x="3746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Y-1">
            <a:extLst>
              <a:ext uri="{FF2B5EF4-FFF2-40B4-BE49-F238E27FC236}">
                <a16:creationId xmlns:a16="http://schemas.microsoft.com/office/drawing/2014/main" id="{92880C77-3ED3-AE48-8BC2-A6ABBA7B3B1A}"/>
              </a:ext>
            </a:extLst>
          </p:cNvPr>
          <p:cNvSpPr/>
          <p:nvPr/>
        </p:nvSpPr>
        <p:spPr>
          <a:xfrm>
            <a:off x="4279900" y="4000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X1">
            <a:extLst>
              <a:ext uri="{FF2B5EF4-FFF2-40B4-BE49-F238E27FC236}">
                <a16:creationId xmlns:a16="http://schemas.microsoft.com/office/drawing/2014/main" id="{89F5B06E-A57C-A348-9F0A-9323AA3B6CCD}"/>
              </a:ext>
            </a:extLst>
          </p:cNvPr>
          <p:cNvSpPr/>
          <p:nvPr/>
        </p:nvSpPr>
        <p:spPr>
          <a:xfrm>
            <a:off x="4889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1">
            <a:extLst>
              <a:ext uri="{FF2B5EF4-FFF2-40B4-BE49-F238E27FC236}">
                <a16:creationId xmlns:a16="http://schemas.microsoft.com/office/drawing/2014/main" id="{B309B559-6719-454B-A0C4-7E894A6251E8}"/>
              </a:ext>
            </a:extLst>
          </p:cNvPr>
          <p:cNvSpPr/>
          <p:nvPr/>
        </p:nvSpPr>
        <p:spPr>
          <a:xfrm>
            <a:off x="4279900" y="2857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X2">
            <a:extLst>
              <a:ext uri="{FF2B5EF4-FFF2-40B4-BE49-F238E27FC236}">
                <a16:creationId xmlns:a16="http://schemas.microsoft.com/office/drawing/2014/main" id="{9D2A2532-7688-1349-9C86-7580E8A46151}"/>
              </a:ext>
            </a:extLst>
          </p:cNvPr>
          <p:cNvSpPr/>
          <p:nvPr/>
        </p:nvSpPr>
        <p:spPr>
          <a:xfrm>
            <a:off x="5461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2">
            <a:extLst>
              <a:ext uri="{FF2B5EF4-FFF2-40B4-BE49-F238E27FC236}">
                <a16:creationId xmlns:a16="http://schemas.microsoft.com/office/drawing/2014/main" id="{08ED1143-80E9-6D48-A2E4-A4E22DCF96D5}"/>
              </a:ext>
            </a:extLst>
          </p:cNvPr>
          <p:cNvSpPr/>
          <p:nvPr/>
        </p:nvSpPr>
        <p:spPr>
          <a:xfrm>
            <a:off x="4279900" y="228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X3">
            <a:extLst>
              <a:ext uri="{FF2B5EF4-FFF2-40B4-BE49-F238E27FC236}">
                <a16:creationId xmlns:a16="http://schemas.microsoft.com/office/drawing/2014/main" id="{4CCEF1D6-5ED7-0A4C-B80E-DF83F9EEA919}"/>
              </a:ext>
            </a:extLst>
          </p:cNvPr>
          <p:cNvSpPr/>
          <p:nvPr/>
        </p:nvSpPr>
        <p:spPr>
          <a:xfrm>
            <a:off x="6032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kY3">
            <a:extLst>
              <a:ext uri="{FF2B5EF4-FFF2-40B4-BE49-F238E27FC236}">
                <a16:creationId xmlns:a16="http://schemas.microsoft.com/office/drawing/2014/main" id="{D7188986-079B-9C42-9FA8-505C7777DA69}"/>
              </a:ext>
            </a:extLst>
          </p:cNvPr>
          <p:cNvSpPr/>
          <p:nvPr/>
        </p:nvSpPr>
        <p:spPr>
          <a:xfrm>
            <a:off x="4279900" y="17145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kX4">
            <a:extLst>
              <a:ext uri="{FF2B5EF4-FFF2-40B4-BE49-F238E27FC236}">
                <a16:creationId xmlns:a16="http://schemas.microsoft.com/office/drawing/2014/main" id="{CBAEF0CF-54F7-6D44-8EEC-CB86FCA991B4}"/>
              </a:ext>
            </a:extLst>
          </p:cNvPr>
          <p:cNvSpPr/>
          <p:nvPr/>
        </p:nvSpPr>
        <p:spPr>
          <a:xfrm>
            <a:off x="660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kX5">
            <a:extLst>
              <a:ext uri="{FF2B5EF4-FFF2-40B4-BE49-F238E27FC236}">
                <a16:creationId xmlns:a16="http://schemas.microsoft.com/office/drawing/2014/main" id="{A61D0B23-A396-BE45-AFC0-393C8EAFEC71}"/>
              </a:ext>
            </a:extLst>
          </p:cNvPr>
          <p:cNvSpPr/>
          <p:nvPr/>
        </p:nvSpPr>
        <p:spPr>
          <a:xfrm>
            <a:off x="71755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Vec_v">
            <a:extLst>
              <a:ext uri="{FF2B5EF4-FFF2-40B4-BE49-F238E27FC236}">
                <a16:creationId xmlns:a16="http://schemas.microsoft.com/office/drawing/2014/main" id="{5EB265E4-32FB-0B4E-9816-F20E5936AAA3}"/>
              </a:ext>
            </a:extLst>
          </p:cNvPr>
          <p:cNvSpPr/>
          <p:nvPr/>
        </p:nvSpPr>
        <p:spPr>
          <a:xfrm rot="-1593903">
            <a:off x="4250543" y="3111500"/>
            <a:ext cx="1277912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ec_vLbl">
            <a:extLst>
              <a:ext uri="{FF2B5EF4-FFF2-40B4-BE49-F238E27FC236}">
                <a16:creationId xmlns:a16="http://schemas.microsoft.com/office/drawing/2014/main" id="{4F44E105-6D5F-0946-8C00-D0579DBB7E2F}"/>
              </a:ext>
            </a:extLst>
          </p:cNvPr>
          <p:cNvSpPr txBox="1"/>
          <p:nvPr/>
        </p:nvSpPr>
        <p:spPr>
          <a:xfrm>
            <a:off x="5562600" y="27559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49" name="Vec_va">
            <a:extLst>
              <a:ext uri="{FF2B5EF4-FFF2-40B4-BE49-F238E27FC236}">
                <a16:creationId xmlns:a16="http://schemas.microsoft.com/office/drawing/2014/main" id="{CB8D0F1B-4B54-B04E-A712-E1883B8CC8A4}"/>
              </a:ext>
            </a:extLst>
          </p:cNvPr>
          <p:cNvSpPr/>
          <p:nvPr/>
        </p:nvSpPr>
        <p:spPr>
          <a:xfrm rot="-2212194">
            <a:off x="4032250" y="2540000"/>
            <a:ext cx="2857500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Vec_vaLbl">
            <a:extLst>
              <a:ext uri="{FF2B5EF4-FFF2-40B4-BE49-F238E27FC236}">
                <a16:creationId xmlns:a16="http://schemas.microsoft.com/office/drawing/2014/main" id="{E85FBC36-1428-534A-8931-859F39E69F13}"/>
              </a:ext>
            </a:extLst>
          </p:cNvPr>
          <p:cNvSpPr txBox="1"/>
          <p:nvPr/>
        </p:nvSpPr>
        <p:spPr>
          <a:xfrm>
            <a:off x="6705600" y="16129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+ 2 = (4, 3)</a:t>
            </a:r>
          </a:p>
        </p:txBody>
      </p:sp>
      <p:sp>
        <p:nvSpPr>
          <p:cNvPr id="51" name="Vec_vs">
            <a:extLst>
              <a:ext uri="{FF2B5EF4-FFF2-40B4-BE49-F238E27FC236}">
                <a16:creationId xmlns:a16="http://schemas.microsoft.com/office/drawing/2014/main" id="{16ED1DCE-EB64-8543-878E-0C60AA01725A}"/>
              </a:ext>
            </a:extLst>
          </p:cNvPr>
          <p:cNvSpPr/>
          <p:nvPr/>
        </p:nvSpPr>
        <p:spPr>
          <a:xfrm rot="5400000">
            <a:off x="4032250" y="3683000"/>
            <a:ext cx="571500" cy="635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ec_vsLbl">
            <a:extLst>
              <a:ext uri="{FF2B5EF4-FFF2-40B4-BE49-F238E27FC236}">
                <a16:creationId xmlns:a16="http://schemas.microsoft.com/office/drawing/2014/main" id="{54264C11-0BB0-3543-91F1-7403279EF40C}"/>
              </a:ext>
            </a:extLst>
          </p:cNvPr>
          <p:cNvSpPr txBox="1"/>
          <p:nvPr/>
        </p:nvSpPr>
        <p:spPr>
          <a:xfrm>
            <a:off x="4419600" y="4051300"/>
            <a:ext cx="1397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Arial"/>
                <a:cs typeface="Arial"/>
              </a:rPr>
              <a:t>v − 2 = (0, −1)</a:t>
            </a:r>
          </a:p>
        </p:txBody>
      </p:sp>
      <p:sp>
        <p:nvSpPr>
          <p:cNvPr id="53" name="DashH">
            <a:extLst>
              <a:ext uri="{FF2B5EF4-FFF2-40B4-BE49-F238E27FC236}">
                <a16:creationId xmlns:a16="http://schemas.microsoft.com/office/drawing/2014/main" id="{16255824-2859-7744-A717-F75EA232BE99}"/>
              </a:ext>
            </a:extLst>
          </p:cNvPr>
          <p:cNvSpPr/>
          <p:nvPr/>
        </p:nvSpPr>
        <p:spPr>
          <a:xfrm>
            <a:off x="5461000" y="2844800"/>
            <a:ext cx="1143000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DashV">
            <a:extLst>
              <a:ext uri="{FF2B5EF4-FFF2-40B4-BE49-F238E27FC236}">
                <a16:creationId xmlns:a16="http://schemas.microsoft.com/office/drawing/2014/main" id="{01696E2A-EE87-D747-9919-7C8E17320609}"/>
              </a:ext>
            </a:extLst>
          </p:cNvPr>
          <p:cNvSpPr/>
          <p:nvPr/>
        </p:nvSpPr>
        <p:spPr>
          <a:xfrm>
            <a:off x="6591300" y="1714500"/>
            <a:ext cx="25400" cy="1143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ShiftLbl">
            <a:extLst>
              <a:ext uri="{FF2B5EF4-FFF2-40B4-BE49-F238E27FC236}">
                <a16:creationId xmlns:a16="http://schemas.microsoft.com/office/drawing/2014/main" id="{B714E2DF-3B19-0F4F-9592-19F7577D1365}"/>
              </a:ext>
            </a:extLst>
          </p:cNvPr>
          <p:cNvSpPr txBox="1"/>
          <p:nvPr/>
        </p:nvSpPr>
        <p:spPr>
          <a:xfrm>
            <a:off x="5588000" y="29083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000" i="1">
                <a:solidFill>
                  <a:srgbClr val="B7A57A"/>
                </a:solidFill>
                <a:latin typeface="Arial"/>
                <a:cs typeface="Arial"/>
              </a:rPr>
              <a:t>+α </a:t>
            </a:r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in x</a:t>
            </a:r>
          </a:p>
        </p:txBody>
      </p:sp>
      <p:sp>
        <p:nvSpPr>
          <p:cNvPr id="56" name="ShiftLbl2">
            <a:extLst>
              <a:ext uri="{FF2B5EF4-FFF2-40B4-BE49-F238E27FC236}">
                <a16:creationId xmlns:a16="http://schemas.microsoft.com/office/drawing/2014/main" id="{FD4AA341-C6FF-B946-8D05-644FA0BFC183}"/>
              </a:ext>
            </a:extLst>
          </p:cNvPr>
          <p:cNvSpPr txBox="1"/>
          <p:nvPr/>
        </p:nvSpPr>
        <p:spPr>
          <a:xfrm>
            <a:off x="6654800" y="22860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000" i="1">
                <a:solidFill>
                  <a:srgbClr val="B7A57A"/>
                </a:solidFill>
                <a:latin typeface="Arial"/>
                <a:cs typeface="Arial"/>
              </a:rPr>
              <a:t>+α </a:t>
            </a:r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in y</a:t>
            </a:r>
          </a:p>
        </p:txBody>
      </p:sp>
      <p:sp>
        <p:nvSpPr>
          <p:cNvPr id="57" name="LegCard">
            <a:extLst>
              <a:ext uri="{FF2B5EF4-FFF2-40B4-BE49-F238E27FC236}">
                <a16:creationId xmlns:a16="http://schemas.microsoft.com/office/drawing/2014/main" id="{018E3B1E-7C9E-D643-8F4A-9763FE1721C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LegHdr">
            <a:extLst>
              <a:ext uri="{FF2B5EF4-FFF2-40B4-BE49-F238E27FC236}">
                <a16:creationId xmlns:a16="http://schemas.microsoft.com/office/drawing/2014/main" id="{3E64A284-092A-4349-8983-8B9AE9A89E2D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LegHdrT">
            <a:extLst>
              <a:ext uri="{FF2B5EF4-FFF2-40B4-BE49-F238E27FC236}">
                <a16:creationId xmlns:a16="http://schemas.microsoft.com/office/drawing/2014/main" id="{081E9A60-A931-0C4C-8746-87C5AE03F28C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Geometry of v ± </a:t>
            </a:r>
            <a:r>
              <a:rPr lang="el-GR" sz="1300" b="1">
                <a:solidFill>
                  <a:srgbClr val="FFFFFF"/>
                </a:solidFill>
                <a:latin typeface="Arial"/>
                <a:cs typeface="Arial"/>
              </a:rPr>
              <a:t>α</a:t>
            </a:r>
            <a:endParaRPr 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0" name="Leg1">
            <a:extLst>
              <a:ext uri="{FF2B5EF4-FFF2-40B4-BE49-F238E27FC236}">
                <a16:creationId xmlns:a16="http://schemas.microsoft.com/office/drawing/2014/main" id="{4213BD51-6F6A-2A44-BFBD-659E1AF0AAD1}"/>
              </a:ext>
            </a:extLst>
          </p:cNvPr>
          <p:cNvSpPr txBox="1"/>
          <p:nvPr/>
        </p:nvSpPr>
        <p:spPr>
          <a:xfrm>
            <a:off x="8382000" y="184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Original vector</a:t>
            </a:r>
          </a:p>
        </p:txBody>
      </p:sp>
      <p:sp>
        <p:nvSpPr>
          <p:cNvPr id="61" name="Leg1V">
            <a:extLst>
              <a:ext uri="{FF2B5EF4-FFF2-40B4-BE49-F238E27FC236}">
                <a16:creationId xmlns:a16="http://schemas.microsoft.com/office/drawing/2014/main" id="{22377EB8-DAD3-2148-83EA-432EAA7135CC}"/>
              </a:ext>
            </a:extLst>
          </p:cNvPr>
          <p:cNvSpPr txBox="1"/>
          <p:nvPr/>
        </p:nvSpPr>
        <p:spPr>
          <a:xfrm>
            <a:off x="8382000" y="205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Arial"/>
                <a:cs typeface="Arial"/>
              </a:rPr>
              <a:t>v = (2, 1)</a:t>
            </a:r>
          </a:p>
        </p:txBody>
      </p:sp>
      <p:sp>
        <p:nvSpPr>
          <p:cNvPr id="62" name="Leg2">
            <a:extLst>
              <a:ext uri="{FF2B5EF4-FFF2-40B4-BE49-F238E27FC236}">
                <a16:creationId xmlns:a16="http://schemas.microsoft.com/office/drawing/2014/main" id="{CC31884D-A9D0-3A49-9982-689BB70A25FD}"/>
              </a:ext>
            </a:extLst>
          </p:cNvPr>
          <p:cNvSpPr txBox="1"/>
          <p:nvPr/>
        </p:nvSpPr>
        <p:spPr>
          <a:xfrm>
            <a:off x="8382000" y="2476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Add scalar </a:t>
            </a:r>
            <a:r>
              <a:rPr lang="el-GR" sz="1100">
                <a:solidFill>
                  <a:srgbClr val="777777"/>
                </a:solidFill>
                <a:latin typeface="Arial"/>
                <a:cs typeface="Arial"/>
              </a:rPr>
              <a:t>α = 2</a:t>
            </a:r>
            <a:endParaRPr lang="en-US" sz="1100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63" name="Leg2V">
            <a:extLst>
              <a:ext uri="{FF2B5EF4-FFF2-40B4-BE49-F238E27FC236}">
                <a16:creationId xmlns:a16="http://schemas.microsoft.com/office/drawing/2014/main" id="{F047017E-FCDD-9E42-B71D-389387D48A04}"/>
              </a:ext>
            </a:extLst>
          </p:cNvPr>
          <p:cNvSpPr txBox="1"/>
          <p:nvPr/>
        </p:nvSpPr>
        <p:spPr>
          <a:xfrm>
            <a:off x="8382000" y="2692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Arial"/>
                <a:cs typeface="Arial"/>
              </a:rPr>
              <a:t>v + 2 = (4, 3)</a:t>
            </a:r>
          </a:p>
        </p:txBody>
      </p:sp>
      <p:sp>
        <p:nvSpPr>
          <p:cNvPr id="64" name="Leg3">
            <a:extLst>
              <a:ext uri="{FF2B5EF4-FFF2-40B4-BE49-F238E27FC236}">
                <a16:creationId xmlns:a16="http://schemas.microsoft.com/office/drawing/2014/main" id="{3D065642-F79F-F84E-84C3-8C592B135DE6}"/>
              </a:ext>
            </a:extLst>
          </p:cNvPr>
          <p:cNvSpPr txBox="1"/>
          <p:nvPr/>
        </p:nvSpPr>
        <p:spPr>
          <a:xfrm>
            <a:off x="8382000" y="311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Subtract scalar </a:t>
            </a:r>
            <a:r>
              <a:rPr lang="el-GR" sz="1100">
                <a:solidFill>
                  <a:srgbClr val="777777"/>
                </a:solidFill>
                <a:latin typeface="Arial"/>
                <a:cs typeface="Arial"/>
              </a:rPr>
              <a:t>α = 2</a:t>
            </a:r>
            <a:endParaRPr lang="en-US" sz="1100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65" name="Leg3V">
            <a:extLst>
              <a:ext uri="{FF2B5EF4-FFF2-40B4-BE49-F238E27FC236}">
                <a16:creationId xmlns:a16="http://schemas.microsoft.com/office/drawing/2014/main" id="{8392C318-CCB6-2D4B-9475-8DED6A851A0B}"/>
              </a:ext>
            </a:extLst>
          </p:cNvPr>
          <p:cNvSpPr txBox="1"/>
          <p:nvPr/>
        </p:nvSpPr>
        <p:spPr>
          <a:xfrm>
            <a:off x="8382000" y="332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v − 2 = (0, −1)</a:t>
            </a:r>
          </a:p>
        </p:txBody>
      </p:sp>
      <p:sp>
        <p:nvSpPr>
          <p:cNvPr id="66" name="LegRuleBox">
            <a:extLst>
              <a:ext uri="{FF2B5EF4-FFF2-40B4-BE49-F238E27FC236}">
                <a16:creationId xmlns:a16="http://schemas.microsoft.com/office/drawing/2014/main" id="{F24686C5-384F-E64F-8C26-7294104E3097}"/>
              </a:ext>
            </a:extLst>
          </p:cNvPr>
          <p:cNvSpPr/>
          <p:nvPr/>
        </p:nvSpPr>
        <p:spPr>
          <a:xfrm>
            <a:off x="8382000" y="3746500"/>
            <a:ext cx="3175000" cy="16764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LegRule">
            <a:extLst>
              <a:ext uri="{FF2B5EF4-FFF2-40B4-BE49-F238E27FC236}">
                <a16:creationId xmlns:a16="http://schemas.microsoft.com/office/drawing/2014/main" id="{F51BECDC-273F-7540-938F-0BBEF010C476}"/>
              </a:ext>
            </a:extLst>
          </p:cNvPr>
          <p:cNvSpPr txBox="1"/>
          <p:nvPr/>
        </p:nvSpPr>
        <p:spPr>
          <a:xfrm>
            <a:off x="8483600" y="3810000"/>
            <a:ext cx="2971800" cy="154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Broadcasting:
</a:t>
            </a:r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is added to every component
of v — neither direction nor
shape is preserved, the entire
vector shifts uniformly
along (1, 1, …, 1).</a:t>
            </a:r>
          </a:p>
        </p:txBody>
      </p:sp>
      <p:sp>
        <p:nvSpPr>
          <p:cNvPr id="68" name="TkBar">
            <a:extLst>
              <a:ext uri="{FF2B5EF4-FFF2-40B4-BE49-F238E27FC236}">
                <a16:creationId xmlns:a16="http://schemas.microsoft.com/office/drawing/2014/main" id="{62083F41-455D-6E4E-AE2C-8E4B9F05B62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kText">
            <a:extLst>
              <a:ext uri="{FF2B5EF4-FFF2-40B4-BE49-F238E27FC236}">
                <a16:creationId xmlns:a16="http://schemas.microsoft.com/office/drawing/2014/main" id="{8972F856-CD01-3647-85A5-D2E731F1F27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v ± </a:t>
            </a:r>
            <a:r>
              <a:rPr lang="el-GR" sz="1400" b="1" i="1">
                <a:solidFill>
                  <a:srgbClr val="FFFFFF"/>
                </a:solidFill>
                <a:latin typeface="Arial"/>
                <a:cs typeface="Arial"/>
              </a:rPr>
              <a:t>α = </a:t>
            </a:r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uniform translation along the diagonal — every coordinate moves by the same amount</a:t>
            </a:r>
          </a:p>
        </p:txBody>
      </p:sp>
    </p:spTree>
    <p:extLst>
      <p:ext uri="{BB962C8B-B14F-4D97-AF65-F5344CB8AC3E}">
        <p14:creationId xmlns:p14="http://schemas.microsoft.com/office/powerpoint/2010/main" val="266567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AD9DA24-478A-2B4C-994A-2BDD4A99DF8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87E5A7D-5D12-6F45-AAE8-2928BF91CB0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Scalar Addition to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4D7CCA3-2BEE-624D-8AD5-940C9CCD7F05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Centering by adding a scalar to every coordinate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76DF9FD-02FA-9141-8E69-4931A58288E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55891C80-FCC7-334B-990A-68459AD9FFED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5368CA7-46C9-2F4C-BFE6-765587F0B5A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CBA0995-9863-DE46-AED7-6E0B27415D7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v +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  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where   v = (3, 7, 1, 5)   and   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α = -4</a:t>
            </a:r>
            <a:endParaRPr lang="en-US" sz="20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86AA489-B532-EE48-A27B-52D6F91784D7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B4B7FE1-2DDF-BB44-A2A5-961E3A4ADC8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3458EFC-EEC5-9B43-B38D-46AC14BE7F6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C4499D75-C2C9-0649-A8AA-8E2B1D4D9A5D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Add the scalar (-4) to each component (broadcasting):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59D04A1C-E877-CA4F-BCB6-14543D2C53F8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v + </a:t>
            </a:r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α  =  (3 + (-4),  7 + (-4),  1 + (-4),  5 + (-4))</a:t>
            </a:r>
            <a:endParaRPr lang="en-US" sz="1600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97F38F93-F3F0-6A43-9C32-727C171812E1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=  (-1, 3, -3, 1)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9D7E0A79-5C5D-4044-8D6C-CC140D78C96E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reading: every entry shifted left by 4 — same vector translated, magnitude changes.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1B22D8D-09DA-4B4C-9F5D-7BF4200BDF02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v +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α = (-1, 3, -3, 1)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2654407E-8E0A-5444-AD63-A25A31D52F6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1806F0F-AF3A-EB4C-9774-79A82038296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Adding a scalar = uniform shift along every dimension</a:t>
            </a:r>
          </a:p>
        </p:txBody>
      </p:sp>
    </p:spTree>
    <p:extLst>
      <p:ext uri="{BB962C8B-B14F-4D97-AF65-F5344CB8AC3E}">
        <p14:creationId xmlns:p14="http://schemas.microsoft.com/office/powerpoint/2010/main" val="412505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3BCEB65-2137-2E44-8716-8C7988EB6D1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6E7A4AF-3118-6741-B6E6-CD8EFB27F34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Scalar Add/Sub with a Vector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814EB7C-00A9-9645-8EA7-090E975680BD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Mean-centering: subtract the mean from every entry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25B5DE3B-1EDF-5345-B532-7F4AD789E75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F987E94C-5DBF-0542-B233-CBF4DD7D9517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A8C600F5-F67C-D045-8D1C-EA94FB09287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7DC0EDA9-D1FC-2E45-AD47-2E34FA524407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Center the score vector  s = (8, 6, 10, 4)  by subtracting its mean.
Compute  s −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μ 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where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μ = 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mean(s).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2FB9671C-5A37-CD48-868E-F2359D478EB9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AD80D77D-23F6-3045-8180-CA252ED51EE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B0AE6141-7363-2E47-B0EB-97EDD28ABC8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2032CCC5-17A3-D746-AE74-2FA2A9ED5469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Mean:  </a:t>
            </a:r>
            <a:r>
              <a:rPr lang="el-GR" sz="1300" i="1">
                <a:solidFill>
                  <a:srgbClr val="B0B0B0"/>
                </a:solidFill>
                <a:latin typeface="Cambria Math"/>
                <a:ea typeface="Cambria Math"/>
              </a:rPr>
              <a:t>μ = (8+6+10+4)/4  =  28/4  =  7.</a:t>
            </a:r>
            <a:endParaRPr lang="en-US" sz="1300" i="1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4F465C0A-5843-8440-892F-1C24CCC28C7A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Subtract </a:t>
            </a:r>
            <a:r>
              <a:rPr lang="el-GR" sz="1200" i="1">
                <a:solidFill>
                  <a:srgbClr val="B0B0B0"/>
                </a:solidFill>
                <a:latin typeface="Arial"/>
                <a:cs typeface="Arial"/>
              </a:rPr>
              <a:t>μ </a:t>
            </a:r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from each entry: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BD24D784-0623-9F43-8941-6ED5E4A249CD}"/>
              </a:ext>
            </a:extLst>
          </p:cNvPr>
          <p:cNvSpPr txBox="1"/>
          <p:nvPr/>
        </p:nvSpPr>
        <p:spPr>
          <a:xfrm>
            <a:off x="558800" y="4089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 − </a:t>
            </a:r>
            <a:r>
              <a:rPr lang="el-GR" sz="1600">
                <a:solidFill>
                  <a:srgbClr val="B0B0B0"/>
                </a:solidFill>
                <a:latin typeface="Cambria Math"/>
                <a:ea typeface="Cambria Math"/>
              </a:rPr>
              <a:t>μ  =  (8−7, 6−7, 10−7, 4−7)  =  (1, −1, 3, −3)</a:t>
            </a:r>
            <a:endParaRPr lang="en-US" sz="1600">
              <a:solidFill>
                <a:srgbClr val="B0B0B0"/>
              </a:solidFill>
              <a:latin typeface="Cambria Math"/>
              <a:ea typeface="Cambria Math"/>
            </a:endParaRP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D07E4F62-4DEF-744D-AFBE-8B6B13953A38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Check:  the entries of the centered vector sum to 0  (1 − 1 + 3 − 3 = 0). ✓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7942AB4F-A94C-334B-8384-289EC98E6979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s − </a:t>
            </a:r>
            <a:r>
              <a:rPr lang="el-GR" sz="1600" b="1">
                <a:solidFill>
                  <a:srgbClr val="4B2E83"/>
                </a:solidFill>
                <a:latin typeface="Cambria Math"/>
                <a:ea typeface="Cambria Math"/>
              </a:rPr>
              <a:t>μ = (1, −1, 3, −3)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9C1F7092-895B-A545-B98F-747F24B764C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5F0E3E78-9C2C-9346-B8EA-70BCF7EC4A7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Subtracting the mean shifts a feature so it's centered at zero — a standard preprocessing step</a:t>
            </a:r>
          </a:p>
        </p:txBody>
      </p:sp>
    </p:spTree>
    <p:extLst>
      <p:ext uri="{BB962C8B-B14F-4D97-AF65-F5344CB8AC3E}">
        <p14:creationId xmlns:p14="http://schemas.microsoft.com/office/powerpoint/2010/main" val="101294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E10E14B-4474-0949-9D4F-E84714AA898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AA5015F-E308-E54D-9C26-BE8865FA990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Scalar Add/Sub with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C1FAEE68-20C4-A145-82B7-059C16B1221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Shifting temperature data: the +32 offset in the °C → °F conversion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8A38F65-FF1A-9448-BF00-923F059ED48A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696CCF9-4BCD-6B49-AF20-4F0696D1337E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0223E030-CD18-A340-9A1C-69D6F6ED58EC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0BB6597B-6A8F-4544-83C8-4318A797B8A3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Daily highs (°C):  t = (18, 21, 19, 22, 20).  Add 32 to every entry (the offset step of F = 1.8C + 32).
Compute  t + 32.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51A0553-8C5D-6F42-9490-F4697196F75E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D082627-82B2-1749-AC4B-678722DD5D5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0E1DA0F-4678-164D-812C-24EB2CEA6DA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0ACB102-1AAA-6248-AC1C-B62AD90D054E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Broadcast the scalar to a vector of equal length: 32 → (32, 32, 32, 32, 32).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C34EBE73-C216-084C-85C6-42A5E69E2B09}"/>
              </a:ext>
            </a:extLst>
          </p:cNvPr>
          <p:cNvSpPr txBox="1"/>
          <p:nvPr/>
        </p:nvSpPr>
        <p:spPr>
          <a:xfrm>
            <a:off x="558800" y="3835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element-wise: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B5D4A938-E91E-544C-A5F3-DDC5203E7737}"/>
              </a:ext>
            </a:extLst>
          </p:cNvPr>
          <p:cNvSpPr txBox="1"/>
          <p:nvPr/>
        </p:nvSpPr>
        <p:spPr>
          <a:xfrm>
            <a:off x="558800" y="4064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t + 32  =  (18+32, 21+32, 19+32, 22+32, 20+32)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6CD81871-0698-4040-808C-D36E2B6B7D58}"/>
              </a:ext>
            </a:extLst>
          </p:cNvPr>
          <p:cNvSpPr txBox="1"/>
          <p:nvPr/>
        </p:nvSpPr>
        <p:spPr>
          <a:xfrm>
            <a:off x="558800" y="4368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          =  (50, 53, 51, 54, 52)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CFEBC5AE-71CA-9642-883D-F00BDA5FAC7E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t + 32 = (50, 53, 51, 54, 52)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4E65EE38-CDE5-F546-83A6-C029BA6F94F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F9B116CD-289F-BA47-8F92-E70459B608F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FFFFFF"/>
                </a:solidFill>
                <a:latin typeface="Arial"/>
                <a:cs typeface="Arial"/>
              </a:rPr>
              <a:t>Adding a scalar shifts every entry by the same amount — differences between entries are preserved, the level moves</a:t>
            </a:r>
          </a:p>
        </p:txBody>
      </p:sp>
    </p:spTree>
    <p:extLst>
      <p:ext uri="{BB962C8B-B14F-4D97-AF65-F5344CB8AC3E}">
        <p14:creationId xmlns:p14="http://schemas.microsoft.com/office/powerpoint/2010/main" val="374328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Exercise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Broadcasting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plot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b="-9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the three original vectors on the BEFORE grid, then plot each shifted vector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518150" y="349099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150" y="349099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6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Adding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scalar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shifts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every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point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diagonally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by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(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, 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)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up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and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right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—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keeping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the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cloud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′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shape</m:t>
                      </m:r>
                      <m:r>
                        <a:rPr lang="en-US">
                          <a:solidFill>
                            <a:srgbClr val="FFFFFF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4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C0392B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=(1, 2)   </m:t>
                      </m:r>
                      <m:r>
                        <a:rPr lang="en-US">
                          <a:solidFill>
                            <a:srgbClr val="2E5FB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=(2, 1)   </m:t>
                      </m:r>
                      <m:r>
                        <a:rPr lang="en-US">
                          <a:solidFill>
                            <a:srgbClr val="C77E0A"/>
                          </a:solidFill>
                          <a:latin typeface="Cambria Math"/>
                        </a:rPr>
                        <m:t>𝒄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=(0, 3)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5"/>
                <a:stretch>
                  <a:fillRect t="-4348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Ex1_Alpha"/>
              <p:cNvSpPr/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0" name="Ex1_Alph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𝛼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for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each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on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AFTER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grid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7"/>
                <a:stretch>
                  <a:fillRect l="-238" t="-4348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you plot a, b, c here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00A7B5"/>
                </a:solidFill>
                <a:latin typeface="Calibri"/>
              </a:rPr>
              <a:t>AFTER — solution: a+α, b+α, c+α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700" name="SolDot"/>
          <p:cNvSpPr/>
          <p:nvPr/>
        </p:nvSpPr>
        <p:spPr>
          <a:xfrm>
            <a:off x="8667750" y="3092450"/>
            <a:ext cx="165100" cy="1651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1" name="SolDotLbl"/>
          <p:cNvSpPr/>
          <p:nvPr/>
        </p:nvSpPr>
        <p:spPr>
          <a:xfrm>
            <a:off x="8851900" y="29591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C0392B"/>
                </a:solidFill>
                <a:latin typeface="Calibri"/>
              </a:rPr>
              <a:t>a+α</a:t>
            </a:r>
          </a:p>
        </p:txBody>
      </p:sp>
      <p:sp>
        <p:nvSpPr>
          <p:cNvPr id="702" name="SolDot"/>
          <p:cNvSpPr/>
          <p:nvPr/>
        </p:nvSpPr>
        <p:spPr>
          <a:xfrm>
            <a:off x="9150350" y="3575050"/>
            <a:ext cx="165100" cy="165100"/>
          </a:xfrm>
          <a:prstGeom prst="ellipse">
            <a:avLst/>
          </a:prstGeom>
          <a:solidFill>
            <a:srgbClr val="2E5FB0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SolDotLbl"/>
          <p:cNvSpPr/>
          <p:nvPr/>
        </p:nvSpPr>
        <p:spPr>
          <a:xfrm>
            <a:off x="9334500" y="34417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2E5FB0"/>
                </a:solidFill>
                <a:latin typeface="Calibri"/>
              </a:rPr>
              <a:t>b+α</a:t>
            </a:r>
          </a:p>
        </p:txBody>
      </p:sp>
      <p:sp>
        <p:nvSpPr>
          <p:cNvPr id="704" name="SolDot"/>
          <p:cNvSpPr/>
          <p:nvPr/>
        </p:nvSpPr>
        <p:spPr>
          <a:xfrm>
            <a:off x="8185150" y="26098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5" name="SolDotLbl"/>
          <p:cNvSpPr/>
          <p:nvPr/>
        </p:nvSpPr>
        <p:spPr>
          <a:xfrm>
            <a:off x="8369300" y="2476500"/>
            <a:ext cx="5842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000" b="1" dirty="0">
                <a:solidFill>
                  <a:srgbClr val="C77E0A"/>
                </a:solidFill>
                <a:latin typeface="Calibri"/>
              </a:rPr>
              <a:t>c+α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  <p:sp>
        <p:nvSpPr>
          <p:cNvPr id="2" name="BeforeDot_a">
            <a:extLst>
              <a:ext uri="{FF2B5EF4-FFF2-40B4-BE49-F238E27FC236}">
                <a16:creationId xmlns:a16="http://schemas.microsoft.com/office/drawing/2014/main" id="{EBBBED9C-952C-B346-B794-A168AB0A6673}"/>
              </a:ext>
            </a:extLst>
          </p:cNvPr>
          <p:cNvSpPr/>
          <p:nvPr/>
        </p:nvSpPr>
        <p:spPr>
          <a:xfrm>
            <a:off x="1606550" y="4057650"/>
            <a:ext cx="165100" cy="165100"/>
          </a:xfrm>
          <a:prstGeom prst="ellipse">
            <a:avLst/>
          </a:prstGeom>
          <a:solidFill>
            <a:srgbClr val="C0392B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BeforeLbl_a">
            <a:extLst>
              <a:ext uri="{FF2B5EF4-FFF2-40B4-BE49-F238E27FC236}">
                <a16:creationId xmlns:a16="http://schemas.microsoft.com/office/drawing/2014/main" id="{E084C0F9-8AFB-FB4B-9E43-72B0A48126B5}"/>
              </a:ext>
            </a:extLst>
          </p:cNvPr>
          <p:cNvSpPr txBox="1"/>
          <p:nvPr/>
        </p:nvSpPr>
        <p:spPr>
          <a:xfrm>
            <a:off x="1784350" y="391795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C0392B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4" name="BeforeDot_b">
            <a:extLst>
              <a:ext uri="{FF2B5EF4-FFF2-40B4-BE49-F238E27FC236}">
                <a16:creationId xmlns:a16="http://schemas.microsoft.com/office/drawing/2014/main" id="{0A7BCAA9-B5B7-564F-A65F-D13CED9983F7}"/>
              </a:ext>
            </a:extLst>
          </p:cNvPr>
          <p:cNvSpPr/>
          <p:nvPr/>
        </p:nvSpPr>
        <p:spPr>
          <a:xfrm>
            <a:off x="2089150" y="4540250"/>
            <a:ext cx="165100" cy="165100"/>
          </a:xfrm>
          <a:prstGeom prst="ellipse">
            <a:avLst/>
          </a:prstGeom>
          <a:solidFill>
            <a:srgbClr val="2E5FB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eforeLbl_b">
            <a:extLst>
              <a:ext uri="{FF2B5EF4-FFF2-40B4-BE49-F238E27FC236}">
                <a16:creationId xmlns:a16="http://schemas.microsoft.com/office/drawing/2014/main" id="{CB05F524-EC8D-C740-818B-263EC8F0EB5C}"/>
              </a:ext>
            </a:extLst>
          </p:cNvPr>
          <p:cNvSpPr txBox="1"/>
          <p:nvPr/>
        </p:nvSpPr>
        <p:spPr>
          <a:xfrm>
            <a:off x="2266950" y="440055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2E5FB0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6" name="BeforeDot_c">
            <a:extLst>
              <a:ext uri="{FF2B5EF4-FFF2-40B4-BE49-F238E27FC236}">
                <a16:creationId xmlns:a16="http://schemas.microsoft.com/office/drawing/2014/main" id="{67BAAFED-E0A0-E141-827A-F1469B58E0AE}"/>
              </a:ext>
            </a:extLst>
          </p:cNvPr>
          <p:cNvSpPr/>
          <p:nvPr/>
        </p:nvSpPr>
        <p:spPr>
          <a:xfrm>
            <a:off x="1123950" y="3575050"/>
            <a:ext cx="165100" cy="165100"/>
          </a:xfrm>
          <a:prstGeom prst="ellipse">
            <a:avLst/>
          </a:prstGeom>
          <a:solidFill>
            <a:srgbClr val="C77E0A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BeforeLbl_c">
            <a:extLst>
              <a:ext uri="{FF2B5EF4-FFF2-40B4-BE49-F238E27FC236}">
                <a16:creationId xmlns:a16="http://schemas.microsoft.com/office/drawing/2014/main" id="{BC63E707-8D10-3944-B454-A4B7422832B2}"/>
              </a:ext>
            </a:extLst>
          </p:cNvPr>
          <p:cNvSpPr txBox="1"/>
          <p:nvPr/>
        </p:nvSpPr>
        <p:spPr>
          <a:xfrm>
            <a:off x="1301750" y="343535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C77E0A"/>
                </a:solidFill>
                <a:latin typeface="Calibri"/>
                <a:cs typeface="Calibri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8671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Broadcasting: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−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𝜶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the three original vectors on the BEFORE grid, then plot each shifted vector v − α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524672" y="34798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672" y="34798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18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Subtracting a scalar from every component shifts the whole point diagonally by (−α, −α) — here down-and-left — preserving the shape of the cloud.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4)   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3)   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5)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" name="Ex1_Alpha"/>
              <p:cNvSpPr/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𝛼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0" name="Ex1_Alph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270000"/>
                <a:ext cx="1143000" cy="279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𝜶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for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each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shifted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points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plot a, b, c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00A7B5"/>
                </a:solidFill>
                <a:latin typeface="Calibri"/>
              </a:rPr>
              <a:t>AFTER — plot a−α, b−α, c−α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700" name="SolDot"/>
          <p:cNvSpPr/>
          <p:nvPr/>
        </p:nvSpPr>
        <p:spPr>
          <a:xfrm>
            <a:off x="7702550" y="4057650"/>
            <a:ext cx="165100" cy="1651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1" name="SolDotLbl"/>
              <p:cNvSpPr/>
              <p:nvPr/>
            </p:nvSpPr>
            <p:spPr>
              <a:xfrm>
                <a:off x="7880350" y="39179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C0392B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1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350" y="3917950"/>
                <a:ext cx="5842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2" name="SolDot"/>
          <p:cNvSpPr/>
          <p:nvPr/>
        </p:nvSpPr>
        <p:spPr>
          <a:xfrm>
            <a:off x="8185150" y="4540250"/>
            <a:ext cx="165100" cy="165100"/>
          </a:xfrm>
          <a:prstGeom prst="ellipse">
            <a:avLst/>
          </a:prstGeom>
          <a:solidFill>
            <a:srgbClr val="2E5FB0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3" name="SolDotLbl"/>
              <p:cNvSpPr/>
              <p:nvPr/>
            </p:nvSpPr>
            <p:spPr>
              <a:xfrm>
                <a:off x="8362950" y="44005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2E5FB0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3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4400550"/>
                <a:ext cx="5842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4" name="SolDot"/>
          <p:cNvSpPr/>
          <p:nvPr/>
        </p:nvSpPr>
        <p:spPr>
          <a:xfrm>
            <a:off x="7219950" y="35750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7397750" y="34353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𝒄</m:t>
                      </m:r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>
                          <a:solidFill>
                            <a:srgbClr val="C77E0A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750" y="3435350"/>
                <a:ext cx="584200" cy="203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  <p:sp>
        <p:nvSpPr>
          <p:cNvPr id="2" name="BeforeDot_a">
            <a:extLst>
              <a:ext uri="{FF2B5EF4-FFF2-40B4-BE49-F238E27FC236}">
                <a16:creationId xmlns:a16="http://schemas.microsoft.com/office/drawing/2014/main" id="{033FEB8B-4001-4F46-AD19-9EF204A44C42}"/>
              </a:ext>
            </a:extLst>
          </p:cNvPr>
          <p:cNvSpPr/>
          <p:nvPr/>
        </p:nvSpPr>
        <p:spPr>
          <a:xfrm>
            <a:off x="2571750" y="3092450"/>
            <a:ext cx="165100" cy="165100"/>
          </a:xfrm>
          <a:prstGeom prst="ellipse">
            <a:avLst/>
          </a:prstGeom>
          <a:solidFill>
            <a:srgbClr val="C0392B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BeforeLbl_a">
            <a:extLst>
              <a:ext uri="{FF2B5EF4-FFF2-40B4-BE49-F238E27FC236}">
                <a16:creationId xmlns:a16="http://schemas.microsoft.com/office/drawing/2014/main" id="{1229F662-FC9B-0F4A-A408-9F793350BDAF}"/>
              </a:ext>
            </a:extLst>
          </p:cNvPr>
          <p:cNvSpPr txBox="1"/>
          <p:nvPr/>
        </p:nvSpPr>
        <p:spPr>
          <a:xfrm>
            <a:off x="2749550" y="295275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C0392B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4" name="BeforeDot_b">
            <a:extLst>
              <a:ext uri="{FF2B5EF4-FFF2-40B4-BE49-F238E27FC236}">
                <a16:creationId xmlns:a16="http://schemas.microsoft.com/office/drawing/2014/main" id="{FC7215C4-CF7B-AC40-B66B-5EDB899DCCF8}"/>
              </a:ext>
            </a:extLst>
          </p:cNvPr>
          <p:cNvSpPr/>
          <p:nvPr/>
        </p:nvSpPr>
        <p:spPr>
          <a:xfrm>
            <a:off x="3054350" y="3575050"/>
            <a:ext cx="165100" cy="165100"/>
          </a:xfrm>
          <a:prstGeom prst="ellipse">
            <a:avLst/>
          </a:prstGeom>
          <a:solidFill>
            <a:srgbClr val="2E5FB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eforeLbl_b">
            <a:extLst>
              <a:ext uri="{FF2B5EF4-FFF2-40B4-BE49-F238E27FC236}">
                <a16:creationId xmlns:a16="http://schemas.microsoft.com/office/drawing/2014/main" id="{FB453053-DDB9-0F47-87AC-37B73F64FF35}"/>
              </a:ext>
            </a:extLst>
          </p:cNvPr>
          <p:cNvSpPr txBox="1"/>
          <p:nvPr/>
        </p:nvSpPr>
        <p:spPr>
          <a:xfrm>
            <a:off x="3232150" y="343535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2E5FB0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6" name="BeforeDot_c">
            <a:extLst>
              <a:ext uri="{FF2B5EF4-FFF2-40B4-BE49-F238E27FC236}">
                <a16:creationId xmlns:a16="http://schemas.microsoft.com/office/drawing/2014/main" id="{8436FD5D-30B7-4B4A-9719-F87378F74683}"/>
              </a:ext>
            </a:extLst>
          </p:cNvPr>
          <p:cNvSpPr/>
          <p:nvPr/>
        </p:nvSpPr>
        <p:spPr>
          <a:xfrm>
            <a:off x="2089150" y="2609850"/>
            <a:ext cx="165100" cy="165100"/>
          </a:xfrm>
          <a:prstGeom prst="ellipse">
            <a:avLst/>
          </a:prstGeom>
          <a:solidFill>
            <a:srgbClr val="C77E0A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BeforeLbl_c">
            <a:extLst>
              <a:ext uri="{FF2B5EF4-FFF2-40B4-BE49-F238E27FC236}">
                <a16:creationId xmlns:a16="http://schemas.microsoft.com/office/drawing/2014/main" id="{C70F89EE-6028-8140-8509-349E9C3D138C}"/>
              </a:ext>
            </a:extLst>
          </p:cNvPr>
          <p:cNvSpPr txBox="1"/>
          <p:nvPr/>
        </p:nvSpPr>
        <p:spPr>
          <a:xfrm>
            <a:off x="2266950" y="2470150"/>
            <a:ext cx="2794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 b="1">
                <a:solidFill>
                  <a:srgbClr val="C77E0A"/>
                </a:solidFill>
                <a:latin typeface="Calibri"/>
                <a:cs typeface="Calibri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69969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E255D3C-F388-E541-83BF-2E61D43AE5F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432EB1F-7DB1-F64F-8955-4F29AADF060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Vector Addition &amp; Subtraction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D71FDC7-F06A-2740-BCA4-89CAF25152F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 dirty="0">
                <a:solidFill>
                  <a:srgbClr val="777777"/>
                </a:solidFill>
                <a:latin typeface="Arial"/>
                <a:cs typeface="Arial"/>
              </a:rPr>
              <a:t>Combining two vectors entry-by-entry — only defined when dimensions match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3B0A236B-663D-6E48-9AB7-4BB2BEBAAD40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E7C8E37D-AC87-E14F-BEE2-8712E513EEB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7626C3D-F242-9B4A-B5D0-74C64EB0A566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+ v  =  (u₁+v₁, u₂+v₂, ..., uₙ+vₙ)     u, v ∈ ℝⁿ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A5B8620B-3208-0340-9FF2-799E3AD1358B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Same shape in → same shape out.  Subtraction is u − v = u + (−1)·v.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DB2E8C5D-A843-0246-A204-B411C97222DB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4226C9AA-E3FF-B14E-9754-DF3CE1AA7917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54CBE192-C33E-D947-91A9-15FD077664FE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411F40DC-3FD3-3749-AE73-591BC482C738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 two vectors component-by-component.
• Add: element-wise sum
• Subtract: element-wise difference
Result lives in the same ℝⁿ.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F442E0D5-FE53-7740-9AD1-ECD6153FD73C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C39EB0D6-DC76-B044-B9CF-657AEFD048B9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23E10120-D821-3D40-9888-105377C60E1A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0BAF3E81-7E56-524A-B4B0-59E457BFAE58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Parallelogram rule:
 place v at the tip of u
 — resulting tip is u + v.
u − v points from v's tip
to u's tip.
Commutative: u + v = v + u.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6CB24F0-05F3-C045-A3FE-12B0D60D416F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3B696AAE-B2EC-8C43-A778-BADEF941EE50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45AF9253-D564-8A4F-90E1-5E7CEAD32C2F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73BD100D-5F1B-004D-900A-8DC38642F6D8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Building block for:
• Mean &amp; sum of vectors
• Differences between
  observations
• Translating embeddings
• Residuals: y − ŷ
• Gradient + parameter update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A5ED3B2B-96A1-6C4E-86DC-97FE29F2101E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1909B131-F619-6F4B-AF78-9CB0C9B6A64F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Constraint:   u and v must have the same dimension n.   Result ∈ ℝⁿ.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B4B885A1-B906-A24A-849B-1A3215932AB9}"/>
              </a:ext>
            </a:extLst>
          </p:cNvPr>
          <p:cNvSpPr/>
          <p:nvPr/>
        </p:nvSpPr>
        <p:spPr>
          <a:xfrm>
            <a:off x="0" y="5780218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D46A78DC-1650-2347-AF84-8C4BA2763032}"/>
              </a:ext>
            </a:extLst>
          </p:cNvPr>
          <p:cNvSpPr txBox="1"/>
          <p:nvPr/>
        </p:nvSpPr>
        <p:spPr>
          <a:xfrm>
            <a:off x="381000" y="584371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Vector addition is the engine of every linear combination</a:t>
            </a:r>
          </a:p>
        </p:txBody>
      </p:sp>
    </p:spTree>
    <p:extLst>
      <p:ext uri="{BB962C8B-B14F-4D97-AF65-F5344CB8AC3E}">
        <p14:creationId xmlns:p14="http://schemas.microsoft.com/office/powerpoint/2010/main" val="212041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/>
      <p:bldP spid="40" grpId="0" animBg="1"/>
      <p:bldP spid="4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074B585-9F4A-A541-8480-C972B2DE148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11C99CB-F75E-3446-A46A-41D41CFA762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Vector Addition — Parallelogram Rule (2D)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E1ED503-605D-2C44-8A81-86F484EBACA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+ v completes the parallelogram with u and v as two sides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205E2C2-DAFC-E64C-9E0D-5A64FEB0D781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69818881-A6E0-864A-8137-CAEBEB0F6437}"/>
              </a:ext>
            </a:extLst>
          </p:cNvPr>
          <p:cNvSpPr/>
          <p:nvPr/>
        </p:nvSpPr>
        <p:spPr>
          <a:xfrm>
            <a:off x="825500" y="3429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1D593E52-AADF-3043-9F73-A0A492F90254}"/>
              </a:ext>
            </a:extLst>
          </p:cNvPr>
          <p:cNvSpPr/>
          <p:nvPr/>
        </p:nvSpPr>
        <p:spPr>
          <a:xfrm>
            <a:off x="431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-6">
            <a:extLst>
              <a:ext uri="{FF2B5EF4-FFF2-40B4-BE49-F238E27FC236}">
                <a16:creationId xmlns:a16="http://schemas.microsoft.com/office/drawing/2014/main" id="{03333C3E-FB1D-CB42-8502-4B27594F65D6}"/>
              </a:ext>
            </a:extLst>
          </p:cNvPr>
          <p:cNvSpPr/>
          <p:nvPr/>
        </p:nvSpPr>
        <p:spPr>
          <a:xfrm>
            <a:off x="127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-5">
            <a:extLst>
              <a:ext uri="{FF2B5EF4-FFF2-40B4-BE49-F238E27FC236}">
                <a16:creationId xmlns:a16="http://schemas.microsoft.com/office/drawing/2014/main" id="{01C55A50-9640-7043-AFAF-8F6FD884BC27}"/>
              </a:ext>
            </a:extLst>
          </p:cNvPr>
          <p:cNvSpPr/>
          <p:nvPr/>
        </p:nvSpPr>
        <p:spPr>
          <a:xfrm>
            <a:off x="1778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-4">
            <a:extLst>
              <a:ext uri="{FF2B5EF4-FFF2-40B4-BE49-F238E27FC236}">
                <a16:creationId xmlns:a16="http://schemas.microsoft.com/office/drawing/2014/main" id="{1107E133-1901-C94A-AF4A-DCFA9F62401A}"/>
              </a:ext>
            </a:extLst>
          </p:cNvPr>
          <p:cNvSpPr/>
          <p:nvPr/>
        </p:nvSpPr>
        <p:spPr>
          <a:xfrm>
            <a:off x="228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-3">
            <a:extLst>
              <a:ext uri="{FF2B5EF4-FFF2-40B4-BE49-F238E27FC236}">
                <a16:creationId xmlns:a16="http://schemas.microsoft.com/office/drawing/2014/main" id="{08595112-372D-3F44-8D30-1DF8AC2269B0}"/>
              </a:ext>
            </a:extLst>
          </p:cNvPr>
          <p:cNvSpPr/>
          <p:nvPr/>
        </p:nvSpPr>
        <p:spPr>
          <a:xfrm>
            <a:off x="279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Y-3">
            <a:extLst>
              <a:ext uri="{FF2B5EF4-FFF2-40B4-BE49-F238E27FC236}">
                <a16:creationId xmlns:a16="http://schemas.microsoft.com/office/drawing/2014/main" id="{79E778B5-81CA-C746-86B7-D4E02D8FBE3C}"/>
              </a:ext>
            </a:extLst>
          </p:cNvPr>
          <p:cNvSpPr/>
          <p:nvPr/>
        </p:nvSpPr>
        <p:spPr>
          <a:xfrm>
            <a:off x="4279900" y="495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-2">
            <a:extLst>
              <a:ext uri="{FF2B5EF4-FFF2-40B4-BE49-F238E27FC236}">
                <a16:creationId xmlns:a16="http://schemas.microsoft.com/office/drawing/2014/main" id="{275BA4A6-78AC-964B-A55F-2139855099F3}"/>
              </a:ext>
            </a:extLst>
          </p:cNvPr>
          <p:cNvSpPr/>
          <p:nvPr/>
        </p:nvSpPr>
        <p:spPr>
          <a:xfrm>
            <a:off x="330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Y-2">
            <a:extLst>
              <a:ext uri="{FF2B5EF4-FFF2-40B4-BE49-F238E27FC236}">
                <a16:creationId xmlns:a16="http://schemas.microsoft.com/office/drawing/2014/main" id="{223B7429-2275-C24D-9929-913A668DB6F2}"/>
              </a:ext>
            </a:extLst>
          </p:cNvPr>
          <p:cNvSpPr/>
          <p:nvPr/>
        </p:nvSpPr>
        <p:spPr>
          <a:xfrm>
            <a:off x="4279900" y="4445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X-1">
            <a:extLst>
              <a:ext uri="{FF2B5EF4-FFF2-40B4-BE49-F238E27FC236}">
                <a16:creationId xmlns:a16="http://schemas.microsoft.com/office/drawing/2014/main" id="{F2C0805F-8472-FC4B-94B1-FC9778F7A0D5}"/>
              </a:ext>
            </a:extLst>
          </p:cNvPr>
          <p:cNvSpPr/>
          <p:nvPr/>
        </p:nvSpPr>
        <p:spPr>
          <a:xfrm>
            <a:off x="381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-1">
            <a:extLst>
              <a:ext uri="{FF2B5EF4-FFF2-40B4-BE49-F238E27FC236}">
                <a16:creationId xmlns:a16="http://schemas.microsoft.com/office/drawing/2014/main" id="{CAE7B590-FBD2-2345-9B64-C771B07ABDB3}"/>
              </a:ext>
            </a:extLst>
          </p:cNvPr>
          <p:cNvSpPr/>
          <p:nvPr/>
        </p:nvSpPr>
        <p:spPr>
          <a:xfrm>
            <a:off x="4279900" y="3937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X1">
            <a:extLst>
              <a:ext uri="{FF2B5EF4-FFF2-40B4-BE49-F238E27FC236}">
                <a16:creationId xmlns:a16="http://schemas.microsoft.com/office/drawing/2014/main" id="{BFA0CD33-14D6-2848-A25F-72C6D45C60DB}"/>
              </a:ext>
            </a:extLst>
          </p:cNvPr>
          <p:cNvSpPr/>
          <p:nvPr/>
        </p:nvSpPr>
        <p:spPr>
          <a:xfrm>
            <a:off x="482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1">
            <a:extLst>
              <a:ext uri="{FF2B5EF4-FFF2-40B4-BE49-F238E27FC236}">
                <a16:creationId xmlns:a16="http://schemas.microsoft.com/office/drawing/2014/main" id="{E7D9165D-7006-BE4F-9373-83F227D3B9F7}"/>
              </a:ext>
            </a:extLst>
          </p:cNvPr>
          <p:cNvSpPr/>
          <p:nvPr/>
        </p:nvSpPr>
        <p:spPr>
          <a:xfrm>
            <a:off x="4279900" y="292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X2">
            <a:extLst>
              <a:ext uri="{FF2B5EF4-FFF2-40B4-BE49-F238E27FC236}">
                <a16:creationId xmlns:a16="http://schemas.microsoft.com/office/drawing/2014/main" id="{563E8B07-3BF4-F742-805B-A456871A4756}"/>
              </a:ext>
            </a:extLst>
          </p:cNvPr>
          <p:cNvSpPr/>
          <p:nvPr/>
        </p:nvSpPr>
        <p:spPr>
          <a:xfrm>
            <a:off x="5334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Y2">
            <a:extLst>
              <a:ext uri="{FF2B5EF4-FFF2-40B4-BE49-F238E27FC236}">
                <a16:creationId xmlns:a16="http://schemas.microsoft.com/office/drawing/2014/main" id="{BC730889-BCFB-D84C-8B31-89153477088C}"/>
              </a:ext>
            </a:extLst>
          </p:cNvPr>
          <p:cNvSpPr/>
          <p:nvPr/>
        </p:nvSpPr>
        <p:spPr>
          <a:xfrm>
            <a:off x="4279900" y="241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kX3">
            <a:extLst>
              <a:ext uri="{FF2B5EF4-FFF2-40B4-BE49-F238E27FC236}">
                <a16:creationId xmlns:a16="http://schemas.microsoft.com/office/drawing/2014/main" id="{202021F3-514F-9B49-8B43-E0251D7E11B2}"/>
              </a:ext>
            </a:extLst>
          </p:cNvPr>
          <p:cNvSpPr/>
          <p:nvPr/>
        </p:nvSpPr>
        <p:spPr>
          <a:xfrm>
            <a:off x="5842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kY3">
            <a:extLst>
              <a:ext uri="{FF2B5EF4-FFF2-40B4-BE49-F238E27FC236}">
                <a16:creationId xmlns:a16="http://schemas.microsoft.com/office/drawing/2014/main" id="{F9799D3D-A318-B545-90D4-2CA5D593907A}"/>
              </a:ext>
            </a:extLst>
          </p:cNvPr>
          <p:cNvSpPr/>
          <p:nvPr/>
        </p:nvSpPr>
        <p:spPr>
          <a:xfrm>
            <a:off x="4279900" y="1905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kX4">
            <a:extLst>
              <a:ext uri="{FF2B5EF4-FFF2-40B4-BE49-F238E27FC236}">
                <a16:creationId xmlns:a16="http://schemas.microsoft.com/office/drawing/2014/main" id="{B5891B64-D40E-EF48-898D-BEB2F3569367}"/>
              </a:ext>
            </a:extLst>
          </p:cNvPr>
          <p:cNvSpPr/>
          <p:nvPr/>
        </p:nvSpPr>
        <p:spPr>
          <a:xfrm>
            <a:off x="6350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kX5">
            <a:extLst>
              <a:ext uri="{FF2B5EF4-FFF2-40B4-BE49-F238E27FC236}">
                <a16:creationId xmlns:a16="http://schemas.microsoft.com/office/drawing/2014/main" id="{CAAC8C3F-BE8D-5748-9FB6-42046B7E8A40}"/>
              </a:ext>
            </a:extLst>
          </p:cNvPr>
          <p:cNvSpPr/>
          <p:nvPr/>
        </p:nvSpPr>
        <p:spPr>
          <a:xfrm>
            <a:off x="6858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kX6">
            <a:extLst>
              <a:ext uri="{FF2B5EF4-FFF2-40B4-BE49-F238E27FC236}">
                <a16:creationId xmlns:a16="http://schemas.microsoft.com/office/drawing/2014/main" id="{EF5E3855-58A7-3E4A-9A58-66B593E66BC6}"/>
              </a:ext>
            </a:extLst>
          </p:cNvPr>
          <p:cNvSpPr/>
          <p:nvPr/>
        </p:nvSpPr>
        <p:spPr>
          <a:xfrm>
            <a:off x="7366000" y="3390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Vec_u">
            <a:extLst>
              <a:ext uri="{FF2B5EF4-FFF2-40B4-BE49-F238E27FC236}">
                <a16:creationId xmlns:a16="http://schemas.microsoft.com/office/drawing/2014/main" id="{B1B0DCA2-2545-624B-BD86-DA20A1D8C98B}"/>
              </a:ext>
            </a:extLst>
          </p:cNvPr>
          <p:cNvSpPr/>
          <p:nvPr/>
        </p:nvSpPr>
        <p:spPr>
          <a:xfrm rot="-1106097">
            <a:off x="4276781" y="3143250"/>
            <a:ext cx="1606437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Vec_uLbl">
            <a:extLst>
              <a:ext uri="{FF2B5EF4-FFF2-40B4-BE49-F238E27FC236}">
                <a16:creationId xmlns:a16="http://schemas.microsoft.com/office/drawing/2014/main" id="{0232BFD7-A315-4D47-89D1-13173444D79A}"/>
              </a:ext>
            </a:extLst>
          </p:cNvPr>
          <p:cNvSpPr txBox="1"/>
          <p:nvPr/>
        </p:nvSpPr>
        <p:spPr>
          <a:xfrm>
            <a:off x="4699000" y="3251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u = (3, 1)</a:t>
            </a:r>
          </a:p>
        </p:txBody>
      </p:sp>
      <p:sp>
        <p:nvSpPr>
          <p:cNvPr id="51" name="Vec_v">
            <a:extLst>
              <a:ext uri="{FF2B5EF4-FFF2-40B4-BE49-F238E27FC236}">
                <a16:creationId xmlns:a16="http://schemas.microsoft.com/office/drawing/2014/main" id="{5B5AA585-07B1-7F47-8113-F6AF985AD262}"/>
              </a:ext>
            </a:extLst>
          </p:cNvPr>
          <p:cNvSpPr/>
          <p:nvPr/>
        </p:nvSpPr>
        <p:spPr>
          <a:xfrm rot="-4293903">
            <a:off x="3768781" y="2635250"/>
            <a:ext cx="1606437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Vec_vLbl">
            <a:extLst>
              <a:ext uri="{FF2B5EF4-FFF2-40B4-BE49-F238E27FC236}">
                <a16:creationId xmlns:a16="http://schemas.microsoft.com/office/drawing/2014/main" id="{6CE3A61E-731E-C145-902D-D21FC82BDBF7}"/>
              </a:ext>
            </a:extLst>
          </p:cNvPr>
          <p:cNvSpPr txBox="1"/>
          <p:nvPr/>
        </p:nvSpPr>
        <p:spPr>
          <a:xfrm>
            <a:off x="3683000" y="25908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= (1, 3)</a:t>
            </a:r>
          </a:p>
        </p:txBody>
      </p:sp>
      <p:sp>
        <p:nvSpPr>
          <p:cNvPr id="53" name="Vec_v2">
            <a:extLst>
              <a:ext uri="{FF2B5EF4-FFF2-40B4-BE49-F238E27FC236}">
                <a16:creationId xmlns:a16="http://schemas.microsoft.com/office/drawing/2014/main" id="{573F07FC-D301-694B-87ED-6A4E7DA5CEEA}"/>
              </a:ext>
            </a:extLst>
          </p:cNvPr>
          <p:cNvSpPr/>
          <p:nvPr/>
        </p:nvSpPr>
        <p:spPr>
          <a:xfrm rot="-4293903">
            <a:off x="5292781" y="2139950"/>
            <a:ext cx="1606437" cy="381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Vec_v2Lbl">
            <a:extLst>
              <a:ext uri="{FF2B5EF4-FFF2-40B4-BE49-F238E27FC236}">
                <a16:creationId xmlns:a16="http://schemas.microsoft.com/office/drawing/2014/main" id="{D206A20E-01BD-8649-AE3B-2E4D3D9B30CC}"/>
              </a:ext>
            </a:extLst>
          </p:cNvPr>
          <p:cNvSpPr txBox="1"/>
          <p:nvPr/>
        </p:nvSpPr>
        <p:spPr>
          <a:xfrm>
            <a:off x="5994400" y="2057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4B2E83"/>
                </a:solidFill>
                <a:latin typeface="Arial"/>
                <a:cs typeface="Arial"/>
              </a:rPr>
              <a:t>v (shifted)</a:t>
            </a:r>
          </a:p>
        </p:txBody>
      </p:sp>
      <p:sp>
        <p:nvSpPr>
          <p:cNvPr id="55" name="Vec_u2">
            <a:extLst>
              <a:ext uri="{FF2B5EF4-FFF2-40B4-BE49-F238E27FC236}">
                <a16:creationId xmlns:a16="http://schemas.microsoft.com/office/drawing/2014/main" id="{CA365EA5-6210-1948-8C8B-8D8E41909ECB}"/>
              </a:ext>
            </a:extLst>
          </p:cNvPr>
          <p:cNvSpPr/>
          <p:nvPr/>
        </p:nvSpPr>
        <p:spPr>
          <a:xfrm rot="-1106097">
            <a:off x="4784781" y="1631950"/>
            <a:ext cx="1606437" cy="381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Vec_u2Lbl">
            <a:extLst>
              <a:ext uri="{FF2B5EF4-FFF2-40B4-BE49-F238E27FC236}">
                <a16:creationId xmlns:a16="http://schemas.microsoft.com/office/drawing/2014/main" id="{3D6BEACF-0626-2D48-8F9C-20D968FA875B}"/>
              </a:ext>
            </a:extLst>
          </p:cNvPr>
          <p:cNvSpPr txBox="1"/>
          <p:nvPr/>
        </p:nvSpPr>
        <p:spPr>
          <a:xfrm>
            <a:off x="5080000" y="16764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00A7B5"/>
                </a:solidFill>
                <a:latin typeface="Arial"/>
                <a:cs typeface="Arial"/>
              </a:rPr>
              <a:t>u (shifted)</a:t>
            </a:r>
          </a:p>
        </p:txBody>
      </p:sp>
      <p:sp>
        <p:nvSpPr>
          <p:cNvPr id="57" name="Vec_sum">
            <a:extLst>
              <a:ext uri="{FF2B5EF4-FFF2-40B4-BE49-F238E27FC236}">
                <a16:creationId xmlns:a16="http://schemas.microsoft.com/office/drawing/2014/main" id="{B3EF9FCB-A489-C54E-A1C8-8F538F44BEFC}"/>
              </a:ext>
            </a:extLst>
          </p:cNvPr>
          <p:cNvSpPr/>
          <p:nvPr/>
        </p:nvSpPr>
        <p:spPr>
          <a:xfrm rot="-2700000">
            <a:off x="3897159" y="2374900"/>
            <a:ext cx="2873681" cy="762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Vec_sumLbl">
            <a:extLst>
              <a:ext uri="{FF2B5EF4-FFF2-40B4-BE49-F238E27FC236}">
                <a16:creationId xmlns:a16="http://schemas.microsoft.com/office/drawing/2014/main" id="{B09260BD-E17D-DF4F-B1AA-E1FF51EBE8EE}"/>
              </a:ext>
            </a:extLst>
          </p:cNvPr>
          <p:cNvSpPr txBox="1"/>
          <p:nvPr/>
        </p:nvSpPr>
        <p:spPr>
          <a:xfrm>
            <a:off x="6451600" y="1270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u + v = (4, 4)</a:t>
            </a:r>
          </a:p>
        </p:txBody>
      </p:sp>
      <p:sp>
        <p:nvSpPr>
          <p:cNvPr id="59" name="OriginDot">
            <a:extLst>
              <a:ext uri="{FF2B5EF4-FFF2-40B4-BE49-F238E27FC236}">
                <a16:creationId xmlns:a16="http://schemas.microsoft.com/office/drawing/2014/main" id="{A4FA5B0F-63F3-FB48-A63C-1B7589CC377D}"/>
              </a:ext>
            </a:extLst>
          </p:cNvPr>
          <p:cNvSpPr/>
          <p:nvPr/>
        </p:nvSpPr>
        <p:spPr>
          <a:xfrm>
            <a:off x="4267200" y="3378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riginLbl">
            <a:extLst>
              <a:ext uri="{FF2B5EF4-FFF2-40B4-BE49-F238E27FC236}">
                <a16:creationId xmlns:a16="http://schemas.microsoft.com/office/drawing/2014/main" id="{2383C2C8-DC89-7548-BC6A-5BA6DAE0574F}"/>
              </a:ext>
            </a:extLst>
          </p:cNvPr>
          <p:cNvSpPr txBox="1"/>
          <p:nvPr/>
        </p:nvSpPr>
        <p:spPr>
          <a:xfrm>
            <a:off x="4127500" y="3479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61" name="LegCard">
            <a:extLst>
              <a:ext uri="{FF2B5EF4-FFF2-40B4-BE49-F238E27FC236}">
                <a16:creationId xmlns:a16="http://schemas.microsoft.com/office/drawing/2014/main" id="{1CC03E9A-775F-8946-A257-6F005B64BBEE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LegHdr">
            <a:extLst>
              <a:ext uri="{FF2B5EF4-FFF2-40B4-BE49-F238E27FC236}">
                <a16:creationId xmlns:a16="http://schemas.microsoft.com/office/drawing/2014/main" id="{0CED9F8D-8562-C347-8263-E665E7EAA860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LegHdrT">
            <a:extLst>
              <a:ext uri="{FF2B5EF4-FFF2-40B4-BE49-F238E27FC236}">
                <a16:creationId xmlns:a16="http://schemas.microsoft.com/office/drawing/2014/main" id="{FF1B0A5B-63E5-A74A-A99E-4C8FB19603C7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Parallelogram rule</a:t>
            </a:r>
          </a:p>
        </p:txBody>
      </p:sp>
      <p:sp>
        <p:nvSpPr>
          <p:cNvPr id="64" name="R1">
            <a:extLst>
              <a:ext uri="{FF2B5EF4-FFF2-40B4-BE49-F238E27FC236}">
                <a16:creationId xmlns:a16="http://schemas.microsoft.com/office/drawing/2014/main" id="{58E20F1E-02EA-1E42-BD2D-99D32BD01CD4}"/>
              </a:ext>
            </a:extLst>
          </p:cNvPr>
          <p:cNvSpPr txBox="1"/>
          <p:nvPr/>
        </p:nvSpPr>
        <p:spPr>
          <a:xfrm>
            <a:off x="8356600" y="1841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1.  Draw both vectors from origin O.</a:t>
            </a:r>
          </a:p>
        </p:txBody>
      </p:sp>
      <p:sp>
        <p:nvSpPr>
          <p:cNvPr id="65" name="R2">
            <a:extLst>
              <a:ext uri="{FF2B5EF4-FFF2-40B4-BE49-F238E27FC236}">
                <a16:creationId xmlns:a16="http://schemas.microsoft.com/office/drawing/2014/main" id="{43D2B188-4A83-534C-AA71-1772B55AD4AB}"/>
              </a:ext>
            </a:extLst>
          </p:cNvPr>
          <p:cNvSpPr txBox="1"/>
          <p:nvPr/>
        </p:nvSpPr>
        <p:spPr>
          <a:xfrm>
            <a:off x="8356600" y="21336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2.  Translate v to start at tip of u
            (or u to tip of v).</a:t>
            </a:r>
          </a:p>
        </p:txBody>
      </p:sp>
      <p:sp>
        <p:nvSpPr>
          <p:cNvPr id="66" name="R3">
            <a:extLst>
              <a:ext uri="{FF2B5EF4-FFF2-40B4-BE49-F238E27FC236}">
                <a16:creationId xmlns:a16="http://schemas.microsoft.com/office/drawing/2014/main" id="{99D0F661-FB50-E44A-86D8-FC762C599C97}"/>
              </a:ext>
            </a:extLst>
          </p:cNvPr>
          <p:cNvSpPr txBox="1"/>
          <p:nvPr/>
        </p:nvSpPr>
        <p:spPr>
          <a:xfrm>
            <a:off x="8356600" y="26289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Step 3.  The sum u + v points from O to
            the far corner of the parallelogram.</a:t>
            </a:r>
          </a:p>
        </p:txBody>
      </p:sp>
      <p:sp>
        <p:nvSpPr>
          <p:cNvPr id="67" name="FormBox">
            <a:extLst>
              <a:ext uri="{FF2B5EF4-FFF2-40B4-BE49-F238E27FC236}">
                <a16:creationId xmlns:a16="http://schemas.microsoft.com/office/drawing/2014/main" id="{AD22F3DA-A86A-A441-9DD5-80AB4875F6EF}"/>
              </a:ext>
            </a:extLst>
          </p:cNvPr>
          <p:cNvSpPr/>
          <p:nvPr/>
        </p:nvSpPr>
        <p:spPr>
          <a:xfrm>
            <a:off x="8356600" y="3200400"/>
            <a:ext cx="3225800" cy="635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FormT">
            <a:extLst>
              <a:ext uri="{FF2B5EF4-FFF2-40B4-BE49-F238E27FC236}">
                <a16:creationId xmlns:a16="http://schemas.microsoft.com/office/drawing/2014/main" id="{685A8C22-D9AB-5F4F-96F5-E3AD05A84C9A}"/>
              </a:ext>
            </a:extLst>
          </p:cNvPr>
          <p:cNvSpPr txBox="1"/>
          <p:nvPr/>
        </p:nvSpPr>
        <p:spPr>
          <a:xfrm>
            <a:off x="8432800" y="3263900"/>
            <a:ext cx="3098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Cambria Math"/>
                <a:ea typeface="Cambria Math"/>
              </a:rPr>
              <a:t>Algebraically:
(u₁+v₁, u₂+v₂) = (3+1, 1+3) = (4, 4)</a:t>
            </a:r>
          </a:p>
        </p:txBody>
      </p:sp>
      <p:sp>
        <p:nvSpPr>
          <p:cNvPr id="69" name="Note">
            <a:extLst>
              <a:ext uri="{FF2B5EF4-FFF2-40B4-BE49-F238E27FC236}">
                <a16:creationId xmlns:a16="http://schemas.microsoft.com/office/drawing/2014/main" id="{DEDACDA2-0318-6C4A-9F40-BB59F2764D53}"/>
              </a:ext>
            </a:extLst>
          </p:cNvPr>
          <p:cNvSpPr txBox="1"/>
          <p:nvPr/>
        </p:nvSpPr>
        <p:spPr>
          <a:xfrm>
            <a:off x="8356600" y="3962400"/>
            <a:ext cx="34290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Subtraction u − v works the same way
but translates −v instead of v.
Commutative: u + v = v + u
Associative: (u+v)+w = u+(v+w)</a:t>
            </a:r>
          </a:p>
        </p:txBody>
      </p:sp>
      <p:sp>
        <p:nvSpPr>
          <p:cNvPr id="70" name="TkBar">
            <a:extLst>
              <a:ext uri="{FF2B5EF4-FFF2-40B4-BE49-F238E27FC236}">
                <a16:creationId xmlns:a16="http://schemas.microsoft.com/office/drawing/2014/main" id="{B465ED55-A646-7E44-B3B7-4B78A2327F02}"/>
              </a:ext>
            </a:extLst>
          </p:cNvPr>
          <p:cNvSpPr/>
          <p:nvPr/>
        </p:nvSpPr>
        <p:spPr>
          <a:xfrm>
            <a:off x="0" y="57023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kText">
            <a:extLst>
              <a:ext uri="{FF2B5EF4-FFF2-40B4-BE49-F238E27FC236}">
                <a16:creationId xmlns:a16="http://schemas.microsoft.com/office/drawing/2014/main" id="{49402AF3-72FF-284C-A203-33880128D67A}"/>
              </a:ext>
            </a:extLst>
          </p:cNvPr>
          <p:cNvSpPr txBox="1"/>
          <p:nvPr/>
        </p:nvSpPr>
        <p:spPr>
          <a:xfrm>
            <a:off x="381000" y="57658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Vector addition = tip-to-tail translation — the sum closes the parallelogram</a:t>
            </a:r>
          </a:p>
        </p:txBody>
      </p:sp>
    </p:spTree>
    <p:extLst>
      <p:ext uri="{BB962C8B-B14F-4D97-AF65-F5344CB8AC3E}">
        <p14:creationId xmlns:p14="http://schemas.microsoft.com/office/powerpoint/2010/main" val="34037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E0DF9BB2-AF2B-F549-A6EB-A030D4A983C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53D2C76-054A-2E46-BF7C-6FE3FA5F21A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Vector Addition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202102D4-64BC-7C4F-84CA-7A4F6500153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Adding two 3-dimensional vectors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AAD54D3-1CF8-6342-B485-5443BE905841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9E647815-7DBF-EC41-8741-B7371E22B08F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004835A-158F-2E4C-A5D9-9BC3D2C3F74F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5DE8E2E6-0CC7-1444-B9F8-1DEF9B636B49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u = (2, 5, −1)  and  v = (4, −3, 7).
Compute  u + 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0F471C5-D233-F748-B77B-72F16245100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1DE26B8-27EB-1447-BF72-7CA36159BF4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63FA5C36-31DB-1649-A33E-BCC8ED4C6EA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5597BFCA-2C27-3D49-A5FF-4B14D2E4CB2E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Check dimensions:  dim(u) = dim(v) = 3.  ✓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ED5251B7-0E4A-2442-9890-FCEC88B423F1}"/>
              </a:ext>
            </a:extLst>
          </p:cNvPr>
          <p:cNvSpPr txBox="1"/>
          <p:nvPr/>
        </p:nvSpPr>
        <p:spPr>
          <a:xfrm>
            <a:off x="558800" y="3835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entry-by-entry: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23D6E6D5-9FC1-804E-8266-E977D6616482}"/>
              </a:ext>
            </a:extLst>
          </p:cNvPr>
          <p:cNvSpPr txBox="1"/>
          <p:nvPr/>
        </p:nvSpPr>
        <p:spPr>
          <a:xfrm>
            <a:off x="558800" y="4089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u + v  =  (2+4,  5+(−3),  −1+7)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5D444A8-7878-C24F-AE3D-A6430E6A595D}"/>
              </a:ext>
            </a:extLst>
          </p:cNvPr>
          <p:cNvSpPr txBox="1"/>
          <p:nvPr/>
        </p:nvSpPr>
        <p:spPr>
          <a:xfrm>
            <a:off x="558800" y="4394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=  (6, 2, 6)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782ABF31-01EC-0141-9430-2A6CF8EB3079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+ v = (6, 2, 6)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092B251-A1F1-AA44-965C-8CBA2631B86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F3F32CF-C20E-A24A-9523-C45D8BF5870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Same dimension in, same dimension out — combine coordinates entry-by-entry</a:t>
            </a:r>
          </a:p>
        </p:txBody>
      </p:sp>
    </p:spTree>
    <p:extLst>
      <p:ext uri="{BB962C8B-B14F-4D97-AF65-F5344CB8AC3E}">
        <p14:creationId xmlns:p14="http://schemas.microsoft.com/office/powerpoint/2010/main" val="191995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9C91D86-02AD-8B46-B671-76014919E17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22B8131-8FDC-A344-A41E-D37F69F2A98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Vector Subtraction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FB3B15E-839A-5E4F-8F65-C6D0175CC784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Residuals — predicted vs. actual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EAE4FC94-FFF7-9445-8312-0FBDAF9184F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EDE03BCE-8953-4242-8576-78E234046A5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B783448D-A17C-E44E-B138-7175B995DAF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04675A21-8DA3-6846-B28E-DEACEB0BFC21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>
                <a:solidFill>
                  <a:srgbClr val="333333"/>
                </a:solidFill>
                <a:latin typeface="Cambria Math"/>
                <a:ea typeface="Cambria Math"/>
              </a:rPr>
              <a:t>True labels:  y = (3.0, 5.5, 2.0, 4.5).   Predictions:  ŷ = (2.8, 5.0, 2.3, 4.6).
Compute the residual vector  r = y − ŷ.</a:t>
            </a:r>
            <a:endParaRPr lang="en-US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AD25C16D-86FA-0840-9AA8-554A99D318B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27E115D0-8CB0-C847-8275-B552F15B303D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683D8A6F-5EC2-CC4F-B681-1F0C5EA61B0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6F0143AB-29C7-AA4A-85A4-05B22242BC62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Both vectors are in ℝ⁴ — subtraction is well-defined.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0A94EDA0-8D3E-F94B-8A4A-D248294A4269}"/>
              </a:ext>
            </a:extLst>
          </p:cNvPr>
          <p:cNvSpPr txBox="1"/>
          <p:nvPr/>
        </p:nvSpPr>
        <p:spPr>
          <a:xfrm>
            <a:off x="558800" y="38100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Subtract entry-by-entry: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80E7614D-663F-EE4A-9436-3BAF682AFCEC}"/>
              </a:ext>
            </a:extLst>
          </p:cNvPr>
          <p:cNvSpPr txBox="1"/>
          <p:nvPr/>
        </p:nvSpPr>
        <p:spPr>
          <a:xfrm>
            <a:off x="558800" y="4038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r  =  (3.0−2.8, 5.5−5.0, 2.0−2.3, 4.5−4.6)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1F6B0793-A420-5A4E-99A2-6B0D1F8673A6}"/>
              </a:ext>
            </a:extLst>
          </p:cNvPr>
          <p:cNvSpPr txBox="1"/>
          <p:nvPr/>
        </p:nvSpPr>
        <p:spPr>
          <a:xfrm>
            <a:off x="558800" y="4343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   =  (0.2, 0.5, −0.3, −0.1)</a:t>
            </a:r>
          </a:p>
        </p:txBody>
      </p:sp>
      <p:sp>
        <p:nvSpPr>
          <p:cNvPr id="33" name="SCheck">
            <a:extLst>
              <a:ext uri="{FF2B5EF4-FFF2-40B4-BE49-F238E27FC236}">
                <a16:creationId xmlns:a16="http://schemas.microsoft.com/office/drawing/2014/main" id="{FE5AFE19-7947-D042-95DB-12C2F5663C5A}"/>
              </a:ext>
            </a:extLst>
          </p:cNvPr>
          <p:cNvSpPr txBox="1"/>
          <p:nvPr/>
        </p:nvSpPr>
        <p:spPr>
          <a:xfrm>
            <a:off x="558800" y="4648200"/>
            <a:ext cx="11049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positive r means prediction was too low; negative means too high.</a:t>
            </a:r>
          </a:p>
        </p:txBody>
      </p:sp>
      <p:sp>
        <p:nvSpPr>
          <p:cNvPr id="34" name="SAns">
            <a:extLst>
              <a:ext uri="{FF2B5EF4-FFF2-40B4-BE49-F238E27FC236}">
                <a16:creationId xmlns:a16="http://schemas.microsoft.com/office/drawing/2014/main" id="{D892E0D8-A110-3B49-BE05-51FD9356A710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cy-GB" sz="1600" b="1">
                <a:solidFill>
                  <a:srgbClr val="4B2E83"/>
                </a:solidFill>
                <a:latin typeface="Cambria Math"/>
                <a:ea typeface="Cambria Math"/>
              </a:rPr>
              <a:t>Answer:   r = y − ŷ = (0.2, 0.5, −0.3, −0.1)</a:t>
            </a:r>
            <a:endParaRPr lang="en-US" sz="1600" b="1">
              <a:solidFill>
                <a:srgbClr val="4B2E83"/>
              </a:solidFill>
              <a:latin typeface="Cambria Math"/>
              <a:ea typeface="Cambria Math"/>
            </a:endParaRPr>
          </a:p>
        </p:txBody>
      </p:sp>
      <p:sp>
        <p:nvSpPr>
          <p:cNvPr id="35" name="TkBar">
            <a:extLst>
              <a:ext uri="{FF2B5EF4-FFF2-40B4-BE49-F238E27FC236}">
                <a16:creationId xmlns:a16="http://schemas.microsoft.com/office/drawing/2014/main" id="{91B270E3-9FCA-4D48-A6A3-1A790CE40361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703D1D2A-BF4C-574D-AFA6-EA1E9AE8BB1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i="1">
                <a:solidFill>
                  <a:srgbClr val="FFFFFF"/>
                </a:solidFill>
                <a:latin typeface="Arial"/>
                <a:cs typeface="Arial"/>
              </a:rPr>
              <a:t>Vector subtraction gives the residual — exactly what regression and gradient descent operate on</a:t>
            </a:r>
          </a:p>
        </p:txBody>
      </p:sp>
    </p:spTree>
    <p:extLst>
      <p:ext uri="{BB962C8B-B14F-4D97-AF65-F5344CB8AC3E}">
        <p14:creationId xmlns:p14="http://schemas.microsoft.com/office/powerpoint/2010/main" val="73356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4187AD8-710B-4B48-BA56-D0F42D72149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D0979E4-4721-BB4D-B8AE-0C268F326DA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Linear Combination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8A0E419-24E5-E04E-AFE0-7A93F7E7B96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Scalar multiplication + addition working together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6F5068B5-5E42-984B-A5CD-AF3B254C910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3EECA4E2-C0E9-C64E-84F7-289556B33D4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5695D692-6760-6541-A963-810D8B2A584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CA160A8C-0164-1A4F-876B-3E38A3AB3F52}"/>
              </a:ext>
            </a:extLst>
          </p:cNvPr>
          <p:cNvSpPr txBox="1"/>
          <p:nvPr/>
        </p:nvSpPr>
        <p:spPr>
          <a:xfrm>
            <a:off x="558800" y="1778000"/>
            <a:ext cx="11049000" cy="1041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Let  u = (1, 2),  v = (3, −1).   Compute the linear combination
2·u + 3·v.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670B048-CA42-0346-908E-1BE17465330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F4FF5FF-42C1-844A-9F36-F0AA64E88E0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F4B8614-DAB9-1146-B1DA-C47764B9287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134BE722-25F3-6341-884F-C93122360953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Scale each vector first: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37B5D9F-B06A-D943-A675-7296C6127202}"/>
              </a:ext>
            </a:extLst>
          </p:cNvPr>
          <p:cNvSpPr txBox="1"/>
          <p:nvPr/>
        </p:nvSpPr>
        <p:spPr>
          <a:xfrm>
            <a:off x="558800" y="3810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2·u = 2·(1, 2) = (2, 4)            3·v = 3·(3, −1) = (9, −3)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48D9DB10-CC40-C945-A6DE-2133A2FC2906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Add the scaled vectors: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4863BE22-7ABB-9843-8DFB-619DB9067C19}"/>
              </a:ext>
            </a:extLst>
          </p:cNvPr>
          <p:cNvSpPr txBox="1"/>
          <p:nvPr/>
        </p:nvSpPr>
        <p:spPr>
          <a:xfrm>
            <a:off x="558800" y="4368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B0B0B0"/>
                </a:solidFill>
                <a:latin typeface="Cambria Math"/>
                <a:ea typeface="Cambria Math"/>
              </a:rPr>
              <a:t>2·u + 3·v  =  (2+9, 4+(−3))  =  (11, 1)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88A87D2E-E814-384D-8BD9-D9E3DFCF02AC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2·u + 3·v = (11, 1)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1CE43688-BFCE-3B48-ABFF-92DAA2C1439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6AB2632F-E319-7F4C-89AF-40D694E4E74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Every linear model output is a linear combination of input feature vectors</a:t>
            </a:r>
          </a:p>
        </p:txBody>
      </p:sp>
    </p:spTree>
    <p:extLst>
      <p:ext uri="{BB962C8B-B14F-4D97-AF65-F5344CB8AC3E}">
        <p14:creationId xmlns:p14="http://schemas.microsoft.com/office/powerpoint/2010/main" val="87774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Vector addition: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+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u and v from the origin on the GIVEN grid, then add them tip-to-tail and plot u + v on the SUM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Tip-to-tail: slide v so its tail sits on u's tip — the arrow from the origin to that new tip is u + v, the diagonal of the parallelogram.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GIVEN — plot u, v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SUM — draw u + v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657600"/>
            <a:ext cx="482600" cy="1447800"/>
          </a:xfrm>
          <a:prstGeom prst="line">
            <a:avLst/>
          </a:prstGeom>
          <a:ln w="31750" cap="rnd">
            <a:solidFill>
              <a:srgbClr val="4B2E83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1" name="SolArr801"/>
          <p:cNvCxnSpPr/>
          <p:nvPr/>
        </p:nvCxnSpPr>
        <p:spPr>
          <a:xfrm flipV="1">
            <a:off x="7302500" y="4622800"/>
            <a:ext cx="1930400" cy="482600"/>
          </a:xfrm>
          <a:prstGeom prst="line">
            <a:avLst/>
          </a:prstGeom>
          <a:ln w="31750" cap="rnd">
            <a:solidFill>
              <a:srgbClr val="00A7B5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2" name="SolArr802"/>
          <p:cNvCxnSpPr/>
          <p:nvPr/>
        </p:nvCxnSpPr>
        <p:spPr>
          <a:xfrm flipV="1">
            <a:off x="7785100" y="3175000"/>
            <a:ext cx="1930400" cy="482600"/>
          </a:xfrm>
          <a:prstGeom prst="line">
            <a:avLst/>
          </a:prstGeom>
          <a:ln w="22225" cap="rnd">
            <a:solidFill>
              <a:srgbClr val="00A7B5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3" name="SolArr803"/>
          <p:cNvCxnSpPr/>
          <p:nvPr/>
        </p:nvCxnSpPr>
        <p:spPr>
          <a:xfrm flipV="1">
            <a:off x="9232900" y="3175000"/>
            <a:ext cx="482600" cy="1447800"/>
          </a:xfrm>
          <a:prstGeom prst="line">
            <a:avLst/>
          </a:prstGeom>
          <a:ln w="22225" cap="rnd">
            <a:solidFill>
              <a:srgbClr val="4B2E83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4" name="SolArr804"/>
          <p:cNvCxnSpPr/>
          <p:nvPr/>
        </p:nvCxnSpPr>
        <p:spPr>
          <a:xfrm flipV="1">
            <a:off x="7302500" y="3175000"/>
            <a:ext cx="2413000" cy="19304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9632950" y="30924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9810750" y="29400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750" y="2940050"/>
                <a:ext cx="5842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22410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Vector addition: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+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Plot u and v from the origin on the GIVEN grid, then add them tip-to-tail and plot u + v on the SUM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Tip-to-tail: slide v so its tail sits on u's tip — the arrow from the origin to that new tip is u + v, the diagonal of the parallelogram.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1)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₂+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GIVEN — plot u, v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SUM — draw u + v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4622800"/>
            <a:ext cx="965200" cy="482600"/>
          </a:xfrm>
          <a:prstGeom prst="line">
            <a:avLst/>
          </a:prstGeom>
          <a:ln w="31750" cap="rnd">
            <a:solidFill>
              <a:srgbClr val="4B2E83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1" name="SolArr801"/>
          <p:cNvCxnSpPr/>
          <p:nvPr/>
        </p:nvCxnSpPr>
        <p:spPr>
          <a:xfrm flipV="1">
            <a:off x="7302500" y="3175000"/>
            <a:ext cx="482600" cy="1930400"/>
          </a:xfrm>
          <a:prstGeom prst="line">
            <a:avLst/>
          </a:prstGeom>
          <a:ln w="31750" cap="rnd">
            <a:solidFill>
              <a:srgbClr val="00A7B5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2" name="SolArr802"/>
          <p:cNvCxnSpPr/>
          <p:nvPr/>
        </p:nvCxnSpPr>
        <p:spPr>
          <a:xfrm flipV="1">
            <a:off x="8267700" y="2692400"/>
            <a:ext cx="482600" cy="1930400"/>
          </a:xfrm>
          <a:prstGeom prst="line">
            <a:avLst/>
          </a:prstGeom>
          <a:ln w="22225" cap="rnd">
            <a:solidFill>
              <a:srgbClr val="00A7B5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3" name="SolArr803"/>
          <p:cNvCxnSpPr/>
          <p:nvPr/>
        </p:nvCxnSpPr>
        <p:spPr>
          <a:xfrm flipV="1">
            <a:off x="7785100" y="2692400"/>
            <a:ext cx="965200" cy="482600"/>
          </a:xfrm>
          <a:prstGeom prst="line">
            <a:avLst/>
          </a:prstGeom>
          <a:ln w="22225" cap="rnd">
            <a:solidFill>
              <a:srgbClr val="4B2E83"/>
            </a:solidFill>
            <a:prstDash val="dash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cxnSp>
        <p:nvCxnSpPr>
          <p:cNvPr id="804" name="SolArr804"/>
          <p:cNvCxnSpPr/>
          <p:nvPr/>
        </p:nvCxnSpPr>
        <p:spPr>
          <a:xfrm flipV="1">
            <a:off x="7302500" y="2692400"/>
            <a:ext cx="1447800" cy="24130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8667750" y="2609850"/>
            <a:ext cx="165100" cy="165100"/>
          </a:xfrm>
          <a:prstGeom prst="ellipse">
            <a:avLst/>
          </a:prstGeom>
          <a:solidFill>
            <a:srgbClr val="C77E0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8845550" y="2457450"/>
                <a:ext cx="5842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550" y="2457450"/>
                <a:ext cx="5842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dirty="0">
                <a:solidFill>
                  <a:srgbClr val="E8E0F2"/>
                </a:solidFill>
                <a:latin typeface="Calibri"/>
              </a:rPr>
              <a:t>Plot the shifted points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05752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E028062B-E029-C347-8C88-CDBC6896804E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D1F56F55-2DB4-D341-944C-55BE5C77D744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Dot Product  (Inner Product)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4D0D8D42-91B0-1B44-9E35-AD5BF6B42DC0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Multiplying two vectors to get one number — the most-used operation in ML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DD4E72F3-41C9-3245-9BD3-CF67B1C99B9D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7F629244-F285-C340-AE69-8EE5B35D97C6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46ACB5C8-7426-2D4D-88B2-806E83AC541C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· v  =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ᵢ uᵢ vᵢ  =  u₁v₁ + u₂v₂ + ... + uₙvₙ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40F7FDA0-9915-7A44-98D3-B78D18B81221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u, v ∈ ℝⁿ (same dimension);   result is a scalar in ℝ;   geometrically:  u·v = ‖u‖·‖v‖·cos</a:t>
            </a:r>
            <a:r>
              <a:rPr lang="el-GR" sz="1100" i="1">
                <a:solidFill>
                  <a:srgbClr val="777777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777777"/>
              </a:solidFill>
              <a:latin typeface="Arial"/>
              <a:cs typeface="Arial"/>
            </a:endParaRP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6E598654-27B0-0148-8A43-309F8938E388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9FDE846E-1DD3-3744-8875-DA1F74523814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00613C28-72E1-FC41-8125-A1CCC7DD8C69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84003926-0F76-EE48-ADAB-AE3CC433A0ED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Combines two vectors into a single scalar.
• Pairs entries by index
• Multiplies pairs
• Sums them all up
Measures alignment.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EB0267F2-F269-4843-B33D-46B1457F3A20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BED24C73-F9CA-DA49-B1E9-9CA0C4C69CA6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41C658E0-2D7E-2240-96A5-AFB9F58FEC4B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F6E72C1B-5C1B-4247-B683-263B42E7252B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 · v = ‖u‖·‖v‖·cos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
• &gt; 0: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vectors point similar way
• = 0: vectors orthogonal (90°)
• &lt; 0: point opposite ways
Projection of u onto v.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A6B72B5-DF76-704C-8B09-1546CECB1A65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F7284172-3D0A-BB47-8A3B-17720CA84C75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0C40535A-1C79-B241-A6E4-AF35833A2A81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08274C8E-F4CA-584D-89F0-87928EE228D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Used in:
• Cosine similarity (recsys, NLP)
• Neural net weighted sums
• Loss functions (MSE expands)
• Projections, attention scores
• Linear regression: ŷ = x ·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6ABC3355-6E4B-8B46-9A2A-9A239131DD33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09806655-8AC6-D24C-AEEC-A85A8030F4EA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400" b="1" dirty="0">
                <a:solidFill>
                  <a:srgbClr val="FFFFFF"/>
                </a:solidFill>
                <a:latin typeface="Cambria Math"/>
                <a:ea typeface="Cambria Math"/>
              </a:rPr>
              <a:t>θ = (</a:t>
            </a:r>
            <a:r>
              <a:rPr lang="en-US" sz="1400" b="1" dirty="0">
                <a:solidFill>
                  <a:srgbClr val="FFFFFF"/>
                </a:solidFill>
                <a:latin typeface="Cambria Math"/>
                <a:ea typeface="Cambria Math"/>
              </a:rPr>
              <a:t>u · v) / (‖u‖ · ‖v‖)   —   normalized dot product gives cosine similarity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99F5FF50-00D1-A242-A430-94F2242FFE29}"/>
              </a:ext>
            </a:extLst>
          </p:cNvPr>
          <p:cNvSpPr/>
          <p:nvPr/>
        </p:nvSpPr>
        <p:spPr>
          <a:xfrm>
            <a:off x="0" y="5780218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33DA7840-1505-EA4A-86A6-BCE902EDDF6D}"/>
              </a:ext>
            </a:extLst>
          </p:cNvPr>
          <p:cNvSpPr txBox="1"/>
          <p:nvPr/>
        </p:nvSpPr>
        <p:spPr>
          <a:xfrm>
            <a:off x="381000" y="584371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The dot product converts a pair of vectors into a single number that measures their alignment</a:t>
            </a:r>
          </a:p>
        </p:txBody>
      </p:sp>
    </p:spTree>
    <p:extLst>
      <p:ext uri="{BB962C8B-B14F-4D97-AF65-F5344CB8AC3E}">
        <p14:creationId xmlns:p14="http://schemas.microsoft.com/office/powerpoint/2010/main" val="111816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/>
      <p:bldP spid="40" grpId="0" animBg="1"/>
      <p:bldP spid="4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69021F2-4638-574D-A83B-9C02347078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440B62E-679D-AE4B-90CD-74EB439D713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Dot Product — Projection View (2D)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F9F6FC5-7EB9-0147-9A1C-23E5242C1DE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· v = ‖u‖·‖v‖·cos </a:t>
            </a:r>
            <a:r>
              <a:rPr lang="el-GR" sz="1300" i="1">
                <a:solidFill>
                  <a:srgbClr val="777777"/>
                </a:solidFill>
                <a:latin typeface="Arial"/>
                <a:cs typeface="Arial"/>
              </a:rPr>
              <a:t>θ — </a:t>
            </a:r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geometrically, projection of one vector onto the other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9A7C3FB-5871-F448-96D2-552731A90FFE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F2361E90-D4E2-304F-BD25-0340C47B1A0F}"/>
              </a:ext>
            </a:extLst>
          </p:cNvPr>
          <p:cNvSpPr/>
          <p:nvPr/>
        </p:nvSpPr>
        <p:spPr>
          <a:xfrm>
            <a:off x="825500" y="4826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3CBEC1B7-F4D4-974B-81A6-7B66A83286FB}"/>
              </a:ext>
            </a:extLst>
          </p:cNvPr>
          <p:cNvSpPr/>
          <p:nvPr/>
        </p:nvSpPr>
        <p:spPr>
          <a:xfrm>
            <a:off x="2032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1">
            <a:extLst>
              <a:ext uri="{FF2B5EF4-FFF2-40B4-BE49-F238E27FC236}">
                <a16:creationId xmlns:a16="http://schemas.microsoft.com/office/drawing/2014/main" id="{B67FB590-1BCC-9043-BC9D-85D4EEF5A77A}"/>
              </a:ext>
            </a:extLst>
          </p:cNvPr>
          <p:cNvSpPr/>
          <p:nvPr/>
        </p:nvSpPr>
        <p:spPr>
          <a:xfrm>
            <a:off x="266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2">
            <a:extLst>
              <a:ext uri="{FF2B5EF4-FFF2-40B4-BE49-F238E27FC236}">
                <a16:creationId xmlns:a16="http://schemas.microsoft.com/office/drawing/2014/main" id="{04ED93BC-369B-9241-BD2A-E91DCA5A5A99}"/>
              </a:ext>
            </a:extLst>
          </p:cNvPr>
          <p:cNvSpPr/>
          <p:nvPr/>
        </p:nvSpPr>
        <p:spPr>
          <a:xfrm>
            <a:off x="330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3">
            <a:extLst>
              <a:ext uri="{FF2B5EF4-FFF2-40B4-BE49-F238E27FC236}">
                <a16:creationId xmlns:a16="http://schemas.microsoft.com/office/drawing/2014/main" id="{BBF8DBEE-AE6D-5F45-9972-FB907EE5C502}"/>
              </a:ext>
            </a:extLst>
          </p:cNvPr>
          <p:cNvSpPr/>
          <p:nvPr/>
        </p:nvSpPr>
        <p:spPr>
          <a:xfrm>
            <a:off x="393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4">
            <a:extLst>
              <a:ext uri="{FF2B5EF4-FFF2-40B4-BE49-F238E27FC236}">
                <a16:creationId xmlns:a16="http://schemas.microsoft.com/office/drawing/2014/main" id="{5BD805E0-D09B-D448-963C-DC2C74845A95}"/>
              </a:ext>
            </a:extLst>
          </p:cNvPr>
          <p:cNvSpPr/>
          <p:nvPr/>
        </p:nvSpPr>
        <p:spPr>
          <a:xfrm>
            <a:off x="457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5">
            <a:extLst>
              <a:ext uri="{FF2B5EF4-FFF2-40B4-BE49-F238E27FC236}">
                <a16:creationId xmlns:a16="http://schemas.microsoft.com/office/drawing/2014/main" id="{E4B65A0E-CE53-5C4C-B22D-737F20C3F3D0}"/>
              </a:ext>
            </a:extLst>
          </p:cNvPr>
          <p:cNvSpPr/>
          <p:nvPr/>
        </p:nvSpPr>
        <p:spPr>
          <a:xfrm>
            <a:off x="520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6">
            <a:extLst>
              <a:ext uri="{FF2B5EF4-FFF2-40B4-BE49-F238E27FC236}">
                <a16:creationId xmlns:a16="http://schemas.microsoft.com/office/drawing/2014/main" id="{F46F2B50-E7B2-7E46-8088-5A790945883C}"/>
              </a:ext>
            </a:extLst>
          </p:cNvPr>
          <p:cNvSpPr/>
          <p:nvPr/>
        </p:nvSpPr>
        <p:spPr>
          <a:xfrm>
            <a:off x="5842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7">
            <a:extLst>
              <a:ext uri="{FF2B5EF4-FFF2-40B4-BE49-F238E27FC236}">
                <a16:creationId xmlns:a16="http://schemas.microsoft.com/office/drawing/2014/main" id="{6CC03F8A-25DB-FA43-8614-BED298AF60C2}"/>
              </a:ext>
            </a:extLst>
          </p:cNvPr>
          <p:cNvSpPr/>
          <p:nvPr/>
        </p:nvSpPr>
        <p:spPr>
          <a:xfrm>
            <a:off x="6477000" y="4787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Y1">
            <a:extLst>
              <a:ext uri="{FF2B5EF4-FFF2-40B4-BE49-F238E27FC236}">
                <a16:creationId xmlns:a16="http://schemas.microsoft.com/office/drawing/2014/main" id="{CA4C6B2E-B27E-3D4F-B0B1-41B005E8762A}"/>
              </a:ext>
            </a:extLst>
          </p:cNvPr>
          <p:cNvSpPr/>
          <p:nvPr/>
        </p:nvSpPr>
        <p:spPr>
          <a:xfrm>
            <a:off x="1993900" y="419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2">
            <a:extLst>
              <a:ext uri="{FF2B5EF4-FFF2-40B4-BE49-F238E27FC236}">
                <a16:creationId xmlns:a16="http://schemas.microsoft.com/office/drawing/2014/main" id="{7DA4A493-3090-5146-BEC9-327AE47F9D11}"/>
              </a:ext>
            </a:extLst>
          </p:cNvPr>
          <p:cNvSpPr/>
          <p:nvPr/>
        </p:nvSpPr>
        <p:spPr>
          <a:xfrm>
            <a:off x="1993900" y="355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3">
            <a:extLst>
              <a:ext uri="{FF2B5EF4-FFF2-40B4-BE49-F238E27FC236}">
                <a16:creationId xmlns:a16="http://schemas.microsoft.com/office/drawing/2014/main" id="{490B733E-5957-BD42-A1A5-CC093E92197A}"/>
              </a:ext>
            </a:extLst>
          </p:cNvPr>
          <p:cNvSpPr/>
          <p:nvPr/>
        </p:nvSpPr>
        <p:spPr>
          <a:xfrm>
            <a:off x="1993900" y="292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4">
            <a:extLst>
              <a:ext uri="{FF2B5EF4-FFF2-40B4-BE49-F238E27FC236}">
                <a16:creationId xmlns:a16="http://schemas.microsoft.com/office/drawing/2014/main" id="{31943E7D-4936-6C48-B2A7-6C167AAFFDAD}"/>
              </a:ext>
            </a:extLst>
          </p:cNvPr>
          <p:cNvSpPr/>
          <p:nvPr/>
        </p:nvSpPr>
        <p:spPr>
          <a:xfrm>
            <a:off x="1993900" y="2286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5">
            <a:extLst>
              <a:ext uri="{FF2B5EF4-FFF2-40B4-BE49-F238E27FC236}">
                <a16:creationId xmlns:a16="http://schemas.microsoft.com/office/drawing/2014/main" id="{F811496C-D831-CF4F-BBDB-4A1CFEB2A63C}"/>
              </a:ext>
            </a:extLst>
          </p:cNvPr>
          <p:cNvSpPr/>
          <p:nvPr/>
        </p:nvSpPr>
        <p:spPr>
          <a:xfrm>
            <a:off x="1993900" y="1651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Vec_u">
            <a:extLst>
              <a:ext uri="{FF2B5EF4-FFF2-40B4-BE49-F238E27FC236}">
                <a16:creationId xmlns:a16="http://schemas.microsoft.com/office/drawing/2014/main" id="{8C5CD2BB-EEAD-6842-8C8C-26E0D7AEE1A9}"/>
              </a:ext>
            </a:extLst>
          </p:cNvPr>
          <p:cNvSpPr/>
          <p:nvPr/>
        </p:nvSpPr>
        <p:spPr>
          <a:xfrm rot="-2212194">
            <a:off x="1714500" y="3835400"/>
            <a:ext cx="3175000" cy="76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ec_uLbl">
            <a:extLst>
              <a:ext uri="{FF2B5EF4-FFF2-40B4-BE49-F238E27FC236}">
                <a16:creationId xmlns:a16="http://schemas.microsoft.com/office/drawing/2014/main" id="{BFD56AA4-1F1F-4B40-A8BD-2A203929C48E}"/>
              </a:ext>
            </a:extLst>
          </p:cNvPr>
          <p:cNvSpPr txBox="1"/>
          <p:nvPr/>
        </p:nvSpPr>
        <p:spPr>
          <a:xfrm>
            <a:off x="4673600" y="2768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  <a:latin typeface="Arial"/>
                <a:cs typeface="Arial"/>
              </a:rPr>
              <a:t>u = (4, 3)</a:t>
            </a:r>
          </a:p>
        </p:txBody>
      </p:sp>
      <p:sp>
        <p:nvSpPr>
          <p:cNvPr id="45" name="Vec_v">
            <a:extLst>
              <a:ext uri="{FF2B5EF4-FFF2-40B4-BE49-F238E27FC236}">
                <a16:creationId xmlns:a16="http://schemas.microsoft.com/office/drawing/2014/main" id="{991BE025-F39C-9B47-9801-D3ACDC1933EE}"/>
              </a:ext>
            </a:extLst>
          </p:cNvPr>
          <p:cNvSpPr/>
          <p:nvPr/>
        </p:nvSpPr>
        <p:spPr>
          <a:xfrm rot="-678596">
            <a:off x="2000561" y="4470400"/>
            <a:ext cx="3237877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Vec_vLbl">
            <a:extLst>
              <a:ext uri="{FF2B5EF4-FFF2-40B4-BE49-F238E27FC236}">
                <a16:creationId xmlns:a16="http://schemas.microsoft.com/office/drawing/2014/main" id="{AA404BA1-2537-2740-ABEB-E997A38C433C}"/>
              </a:ext>
            </a:extLst>
          </p:cNvPr>
          <p:cNvSpPr txBox="1"/>
          <p:nvPr/>
        </p:nvSpPr>
        <p:spPr>
          <a:xfrm>
            <a:off x="4826000" y="4318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  <a:latin typeface="Arial"/>
                <a:cs typeface="Arial"/>
              </a:rPr>
              <a:t>v = (5, 1)</a:t>
            </a:r>
          </a:p>
        </p:txBody>
      </p:sp>
      <p:sp>
        <p:nvSpPr>
          <p:cNvPr id="47" name="Vec_proj">
            <a:extLst>
              <a:ext uri="{FF2B5EF4-FFF2-40B4-BE49-F238E27FC236}">
                <a16:creationId xmlns:a16="http://schemas.microsoft.com/office/drawing/2014/main" id="{889A34EA-04D3-4449-A711-8161E3A1192F}"/>
              </a:ext>
            </a:extLst>
          </p:cNvPr>
          <p:cNvSpPr/>
          <p:nvPr/>
        </p:nvSpPr>
        <p:spPr>
          <a:xfrm rot="-678596">
            <a:off x="2004188" y="4494334"/>
            <a:ext cx="2864276" cy="1016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ec_projLbl">
            <a:extLst>
              <a:ext uri="{FF2B5EF4-FFF2-40B4-BE49-F238E27FC236}">
                <a16:creationId xmlns:a16="http://schemas.microsoft.com/office/drawing/2014/main" id="{4BF14913-21B2-6B49-8158-03843622C463}"/>
              </a:ext>
            </a:extLst>
          </p:cNvPr>
          <p:cNvSpPr txBox="1"/>
          <p:nvPr/>
        </p:nvSpPr>
        <p:spPr>
          <a:xfrm>
            <a:off x="3182326" y="4697534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i="1">
                <a:solidFill>
                  <a:srgbClr val="D1578A"/>
                </a:solidFill>
                <a:latin typeface="Arial"/>
                <a:cs typeface="Arial"/>
              </a:rPr>
              <a:t>proj_v(u)</a:t>
            </a:r>
          </a:p>
        </p:txBody>
      </p:sp>
      <p:sp>
        <p:nvSpPr>
          <p:cNvPr id="49" name="PerpDash">
            <a:extLst>
              <a:ext uri="{FF2B5EF4-FFF2-40B4-BE49-F238E27FC236}">
                <a16:creationId xmlns:a16="http://schemas.microsoft.com/office/drawing/2014/main" id="{1633AF81-C269-9A41-A02A-908F6CB45ABC}"/>
              </a:ext>
            </a:extLst>
          </p:cNvPr>
          <p:cNvSpPr/>
          <p:nvPr/>
        </p:nvSpPr>
        <p:spPr>
          <a:xfrm rot="4721404">
            <a:off x="4021391" y="3579934"/>
            <a:ext cx="1369871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tAngleMk">
            <a:extLst>
              <a:ext uri="{FF2B5EF4-FFF2-40B4-BE49-F238E27FC236}">
                <a16:creationId xmlns:a16="http://schemas.microsoft.com/office/drawing/2014/main" id="{24ED4892-2D80-F347-8881-E1A218BD08E8}"/>
              </a:ext>
            </a:extLst>
          </p:cNvPr>
          <p:cNvSpPr/>
          <p:nvPr/>
        </p:nvSpPr>
        <p:spPr>
          <a:xfrm rot="-678596">
            <a:off x="4751753" y="4175369"/>
            <a:ext cx="127000" cy="127000"/>
          </a:xfrm>
          <a:prstGeom prst="rect">
            <a:avLst/>
          </a:prstGeom>
          <a:noFill/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riginDot">
            <a:extLst>
              <a:ext uri="{FF2B5EF4-FFF2-40B4-BE49-F238E27FC236}">
                <a16:creationId xmlns:a16="http://schemas.microsoft.com/office/drawing/2014/main" id="{1AD4D2C3-0657-5546-9D7C-81F29EF3E199}"/>
              </a:ext>
            </a:extLst>
          </p:cNvPr>
          <p:cNvSpPr/>
          <p:nvPr/>
        </p:nvSpPr>
        <p:spPr>
          <a:xfrm>
            <a:off x="1981200" y="4775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riginLbl">
            <a:extLst>
              <a:ext uri="{FF2B5EF4-FFF2-40B4-BE49-F238E27FC236}">
                <a16:creationId xmlns:a16="http://schemas.microsoft.com/office/drawing/2014/main" id="{E44E1F91-6CEE-F44C-A961-24634BB8B4AB}"/>
              </a:ext>
            </a:extLst>
          </p:cNvPr>
          <p:cNvSpPr txBox="1"/>
          <p:nvPr/>
        </p:nvSpPr>
        <p:spPr>
          <a:xfrm>
            <a:off x="1841500" y="485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53" name="ThetaLbl">
            <a:extLst>
              <a:ext uri="{FF2B5EF4-FFF2-40B4-BE49-F238E27FC236}">
                <a16:creationId xmlns:a16="http://schemas.microsoft.com/office/drawing/2014/main" id="{A82C0D78-FE0B-1F47-B201-57F4BE3622C4}"/>
              </a:ext>
            </a:extLst>
          </p:cNvPr>
          <p:cNvSpPr txBox="1"/>
          <p:nvPr/>
        </p:nvSpPr>
        <p:spPr>
          <a:xfrm>
            <a:off x="2185465" y="4483357"/>
            <a:ext cx="254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400" b="1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400" b="1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A77B711F-9414-574D-A4DF-E95DCE0A07F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F042D2FD-38D6-3845-B997-1F78E98134CF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FA34E61F-314B-BE49-9120-6A793677B293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Geometric meaning</a:t>
            </a:r>
          </a:p>
        </p:txBody>
      </p:sp>
      <p:sp>
        <p:nvSpPr>
          <p:cNvPr id="57" name="R1">
            <a:extLst>
              <a:ext uri="{FF2B5EF4-FFF2-40B4-BE49-F238E27FC236}">
                <a16:creationId xmlns:a16="http://schemas.microsoft.com/office/drawing/2014/main" id="{59880F07-1E4D-174B-96BC-BB4D2FEE3FA4}"/>
              </a:ext>
            </a:extLst>
          </p:cNvPr>
          <p:cNvSpPr txBox="1"/>
          <p:nvPr/>
        </p:nvSpPr>
        <p:spPr>
          <a:xfrm>
            <a:off x="8356600" y="1841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333333"/>
                </a:solidFill>
                <a:latin typeface="Cambria Math"/>
                <a:ea typeface="Cambria Math"/>
              </a:rPr>
              <a:t>u · v  =  ‖u‖ · ‖v‖ · cos </a:t>
            </a:r>
            <a:r>
              <a:rPr lang="el-GR" sz="1400" b="1">
                <a:solidFill>
                  <a:srgbClr val="333333"/>
                </a:solidFill>
                <a:latin typeface="Cambria Math"/>
                <a:ea typeface="Cambria Math"/>
              </a:rPr>
              <a:t>θ</a:t>
            </a:r>
            <a:endParaRPr lang="en-US" sz="1400" b="1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58" name="R1b">
            <a:extLst>
              <a:ext uri="{FF2B5EF4-FFF2-40B4-BE49-F238E27FC236}">
                <a16:creationId xmlns:a16="http://schemas.microsoft.com/office/drawing/2014/main" id="{A3777CB1-7B3E-014B-B7F1-79BB0A2DD82F}"/>
              </a:ext>
            </a:extLst>
          </p:cNvPr>
          <p:cNvSpPr txBox="1"/>
          <p:nvPr/>
        </p:nvSpPr>
        <p:spPr>
          <a:xfrm>
            <a:off x="8356600" y="21844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= length of u's shadow along v
   × length of v</a:t>
            </a:r>
          </a:p>
        </p:txBody>
      </p:sp>
      <p:sp>
        <p:nvSpPr>
          <p:cNvPr id="59" name="CalcBox">
            <a:extLst>
              <a:ext uri="{FF2B5EF4-FFF2-40B4-BE49-F238E27FC236}">
                <a16:creationId xmlns:a16="http://schemas.microsoft.com/office/drawing/2014/main" id="{BBE4EDCF-2FC9-6040-BB21-FD26A2765045}"/>
              </a:ext>
            </a:extLst>
          </p:cNvPr>
          <p:cNvSpPr/>
          <p:nvPr/>
        </p:nvSpPr>
        <p:spPr>
          <a:xfrm>
            <a:off x="8356600" y="2730500"/>
            <a:ext cx="3225800" cy="1397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CalcT">
            <a:extLst>
              <a:ext uri="{FF2B5EF4-FFF2-40B4-BE49-F238E27FC236}">
                <a16:creationId xmlns:a16="http://schemas.microsoft.com/office/drawing/2014/main" id="{0B97E347-9E2D-EE4D-B77C-B33ADC48E256}"/>
              </a:ext>
            </a:extLst>
          </p:cNvPr>
          <p:cNvSpPr txBox="1"/>
          <p:nvPr/>
        </p:nvSpPr>
        <p:spPr>
          <a:xfrm>
            <a:off x="8432800" y="2794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u=(4,3), v=(5,1):</a:t>
            </a:r>
          </a:p>
        </p:txBody>
      </p:sp>
      <p:sp>
        <p:nvSpPr>
          <p:cNvPr id="61" name="CalcEq1">
            <a:extLst>
              <a:ext uri="{FF2B5EF4-FFF2-40B4-BE49-F238E27FC236}">
                <a16:creationId xmlns:a16="http://schemas.microsoft.com/office/drawing/2014/main" id="{ECC67CED-C4DC-F246-8781-F96282C121F4}"/>
              </a:ext>
            </a:extLst>
          </p:cNvPr>
          <p:cNvSpPr txBox="1"/>
          <p:nvPr/>
        </p:nvSpPr>
        <p:spPr>
          <a:xfrm>
            <a:off x="8432800" y="30480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u · v = 4·5 + 3·1 = 23</a:t>
            </a:r>
          </a:p>
        </p:txBody>
      </p:sp>
      <p:sp>
        <p:nvSpPr>
          <p:cNvPr id="62" name="CalcEq2">
            <a:extLst>
              <a:ext uri="{FF2B5EF4-FFF2-40B4-BE49-F238E27FC236}">
                <a16:creationId xmlns:a16="http://schemas.microsoft.com/office/drawing/2014/main" id="{1F972A12-D056-2A4B-A27D-578381A2C437}"/>
              </a:ext>
            </a:extLst>
          </p:cNvPr>
          <p:cNvSpPr txBox="1"/>
          <p:nvPr/>
        </p:nvSpPr>
        <p:spPr>
          <a:xfrm>
            <a:off x="8432800" y="33274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‖u‖ = 5,  ‖v‖ ≈ 5.10</a:t>
            </a:r>
          </a:p>
        </p:txBody>
      </p:sp>
      <p:sp>
        <p:nvSpPr>
          <p:cNvPr id="63" name="CalcEq3">
            <a:extLst>
              <a:ext uri="{FF2B5EF4-FFF2-40B4-BE49-F238E27FC236}">
                <a16:creationId xmlns:a16="http://schemas.microsoft.com/office/drawing/2014/main" id="{91D63277-B01C-7448-BC6E-0614CCD47E08}"/>
              </a:ext>
            </a:extLst>
          </p:cNvPr>
          <p:cNvSpPr txBox="1"/>
          <p:nvPr/>
        </p:nvSpPr>
        <p:spPr>
          <a:xfrm>
            <a:off x="8432800" y="3606800"/>
            <a:ext cx="30988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cos </a:t>
            </a:r>
            <a:r>
              <a:rPr lang="el-GR" sz="1200">
                <a:solidFill>
                  <a:srgbClr val="333333"/>
                </a:solidFill>
                <a:latin typeface="Cambria Math"/>
                <a:ea typeface="Cambria Math"/>
              </a:rPr>
              <a:t>θ = 23/(5·5.10) ≈ 0.902
θ ≈ 25.6°</a:t>
            </a:r>
            <a:endParaRPr lang="en-US" sz="12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64" name="Sign">
            <a:extLst>
              <a:ext uri="{FF2B5EF4-FFF2-40B4-BE49-F238E27FC236}">
                <a16:creationId xmlns:a16="http://schemas.microsoft.com/office/drawing/2014/main" id="{3CE7E407-3790-D249-9FCD-5BA15BBF4B92}"/>
              </a:ext>
            </a:extLst>
          </p:cNvPr>
          <p:cNvSpPr txBox="1"/>
          <p:nvPr/>
        </p:nvSpPr>
        <p:spPr>
          <a:xfrm>
            <a:off x="8356600" y="4292600"/>
            <a:ext cx="34290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Sign tells us:
• u·v &gt; 0  →  acute (same side)
• u·v = 0  →  perpendicular
• u·v &lt; 0  →  obtuse (opposite)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C2789630-AC17-6B44-B4EC-C5B104E7946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12B4E87B-8C90-1547-B805-365AFCD32D6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Dot product = how much of u points in the direction of v, scaled by ‖v‖</a:t>
            </a:r>
          </a:p>
        </p:txBody>
      </p:sp>
    </p:spTree>
    <p:extLst>
      <p:ext uri="{BB962C8B-B14F-4D97-AF65-F5344CB8AC3E}">
        <p14:creationId xmlns:p14="http://schemas.microsoft.com/office/powerpoint/2010/main" val="25205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669021F2-4638-574D-A83B-9C02347078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">
                <a:extLst>
                  <a:ext uri="{FF2B5EF4-FFF2-40B4-BE49-F238E27FC236}">
                    <a16:creationId xmlns:a16="http://schemas.microsoft.com/office/drawing/2014/main" id="{7440B62E-679D-AE4B-90CD-74EB439D713C}"/>
                  </a:ext>
                </a:extLst>
              </p:cNvPr>
              <p:cNvSpPr txBox="1"/>
              <p:nvPr/>
            </p:nvSpPr>
            <p:spPr>
              <a:xfrm>
                <a:off x="381000" y="342900"/>
                <a:ext cx="11430000" cy="40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Arial"/>
                  </a:rPr>
                  <a:t>Proof: 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D1578A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D1578A"/>
                        </a:solidFill>
                        <a:latin typeface="Cambria Math"/>
                      </a:rPr>
                      <m:t>𝒃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  <m:r>
                      <a:rPr lang="en-US" sz="2200">
                        <a:solidFill>
                          <a:srgbClr val="333333"/>
                        </a:solidFill>
                        <a:latin typeface="Cambria Math"/>
                      </a:rPr>
                      <m:t>‖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cos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" name="Title">
                <a:extLst>
                  <a:ext uri="{FF2B5EF4-FFF2-40B4-BE49-F238E27FC236}">
                    <a16:creationId xmlns:a16="http://schemas.microsoft.com/office/drawing/2014/main" id="{7440B62E-679D-AE4B-90CD-74EB439D7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42900"/>
                <a:ext cx="11430000" cy="406400"/>
              </a:xfrm>
              <a:prstGeom prst="rect">
                <a:avLst/>
              </a:prstGeom>
              <a:blipFill>
                <a:blip r:embed="rId2"/>
                <a:stretch>
                  <a:fillRect l="-666" t="-8824" b="-29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">
            <a:extLst>
              <a:ext uri="{FF2B5EF4-FFF2-40B4-BE49-F238E27FC236}">
                <a16:creationId xmlns:a16="http://schemas.microsoft.com/office/drawing/2014/main" id="{DF9F6FC5-7EB9-0147-9A1C-23E5242C1DE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Arial"/>
              </a:rPr>
              <a:t>Two routes to the same scalar — the algebraic definition and the Law of Cosines must agree.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39A7C3FB-5871-F448-96D2-552731A90FFE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A77B711F-9414-574D-A4DF-E95DCE0A07F0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F042D2FD-38D6-3845-B997-1F78E98134CF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FA34E61F-314B-BE49-9120-6A793677B293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C2789630-AC17-6B44-B4EC-C5B104E7946F}"/>
              </a:ext>
            </a:extLst>
          </p:cNvPr>
          <p:cNvSpPr/>
          <p:nvPr/>
        </p:nvSpPr>
        <p:spPr>
          <a:xfrm>
            <a:off x="0" y="5761683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12B4E87B-8C90-1547-B805-365AFCD32D60}"/>
              </a:ext>
            </a:extLst>
          </p:cNvPr>
          <p:cNvSpPr txBox="1"/>
          <p:nvPr/>
        </p:nvSpPr>
        <p:spPr>
          <a:xfrm>
            <a:off x="381000" y="5825183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</a:rPr>
              <a:t>Computing the squared length of a − b two ways forces the algebraic and geometric dot products to coincide.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ProofSteps"/>
              <p:cNvSpPr/>
              <p:nvPr/>
            </p:nvSpPr>
            <p:spPr>
              <a:xfrm>
                <a:off x="762000" y="1371600"/>
                <a:ext cx="7112000" cy="4191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1.  Law of Cosines on the triangle with sides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a, b, a−b: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−2‖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US" sz="1600" b="1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2.  Expand the same length using the algebraic dot product: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)·(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𝒂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−2(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)+</m:t>
                      </m:r>
                      <m:sSup>
                        <m:sSupPr>
                          <m:ctrlP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𝒃</m:t>
                          </m:r>
                          <m:r>
                            <a:rPr lang="en-US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3.  Set the two expansions equal and cancel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‖a‖²</a:t>
                </a:r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 and </a:t>
                </a:r>
                <a:r>
                  <a:rPr lang="en-US" sz="1600" b="1" dirty="0">
                    <a:solidFill>
                      <a:srgbClr val="333333"/>
                    </a:solidFill>
                    <a:latin typeface="Calibri"/>
                  </a:rPr>
                  <a:t>‖b‖²</a:t>
                </a:r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−2(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)=−2‖</m:t>
                      </m:r>
                      <m:r>
                        <a:rPr lang="en-US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a:rPr lang="en-US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  <a:p>
                <a:pPr algn="l"/>
                <a:endParaRPr lang="en-US" sz="700" dirty="0"/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libri"/>
                  </a:rPr>
                  <a:t>4.  Divide by −2: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=‖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2000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20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cos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𝜃</m:t>
                      </m:r>
                      <m:r>
                        <a:rPr lang="en-US" sz="2000">
                          <a:solidFill>
                            <a:srgbClr val="5A8A2A"/>
                          </a:solidFill>
                          <a:latin typeface="Cambria Math"/>
                        </a:rPr>
                        <m:t>    ∎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00" name="ProofStep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371600"/>
                <a:ext cx="7112000" cy="4191000"/>
              </a:xfrm>
              <a:prstGeom prst="rect">
                <a:avLst/>
              </a:prstGeom>
              <a:blipFill>
                <a:blip r:embed="rId3"/>
                <a:stretch>
                  <a:fillRect l="-535" t="-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0" name="Side_ amb"/>
          <p:cNvCxnSpPr/>
          <p:nvPr/>
        </p:nvCxnSpPr>
        <p:spPr>
          <a:xfrm>
            <a:off x="10160000" y="2349500"/>
            <a:ext cx="1168400" cy="2222500"/>
          </a:xfrm>
          <a:prstGeom prst="line">
            <a:avLst/>
          </a:prstGeom>
          <a:ln w="317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Vec_a"/>
          <p:cNvCxnSpPr/>
          <p:nvPr/>
        </p:nvCxnSpPr>
        <p:spPr>
          <a:xfrm flipV="1">
            <a:off x="8890000" y="4572000"/>
            <a:ext cx="2438400" cy="444500"/>
          </a:xfrm>
          <a:prstGeom prst="line">
            <a:avLst/>
          </a:prstGeom>
          <a:ln w="3492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Vec_b"/>
          <p:cNvCxnSpPr/>
          <p:nvPr/>
        </p:nvCxnSpPr>
        <p:spPr>
          <a:xfrm flipV="1">
            <a:off x="8890000" y="2349500"/>
            <a:ext cx="1270000" cy="2667000"/>
          </a:xfrm>
          <a:prstGeom prst="line">
            <a:avLst/>
          </a:prstGeom>
          <a:ln w="3492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hetaArc"/>
          <p:cNvSpPr/>
          <p:nvPr/>
        </p:nvSpPr>
        <p:spPr>
          <a:xfrm rot="689481">
            <a:off x="8927660" y="4594334"/>
            <a:ext cx="584200" cy="584200"/>
          </a:xfrm>
          <a:prstGeom prst="arc">
            <a:avLst>
              <a:gd name="adj1" fmla="val 14000000"/>
              <a:gd name="adj2" fmla="val 21000000"/>
            </a:avLst>
          </a:prstGeom>
          <a:ln w="19050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4" name="Vtx"/>
          <p:cNvSpPr/>
          <p:nvPr/>
        </p:nvSpPr>
        <p:spPr>
          <a:xfrm>
            <a:off x="8845550" y="4972050"/>
            <a:ext cx="88900" cy="889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5" name="La"/>
              <p:cNvSpPr/>
              <p:nvPr/>
            </p:nvSpPr>
            <p:spPr>
              <a:xfrm>
                <a:off x="10769600" y="46482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5" name="L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9600" y="4648200"/>
                <a:ext cx="508000" cy="228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Lb"/>
              <p:cNvSpPr/>
              <p:nvPr/>
            </p:nvSpPr>
            <p:spPr>
              <a:xfrm>
                <a:off x="9779000" y="22733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6" name="L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0" y="2273300"/>
                <a:ext cx="508000" cy="228600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Lamb"/>
              <p:cNvSpPr/>
              <p:nvPr/>
            </p:nvSpPr>
            <p:spPr>
              <a:xfrm>
                <a:off x="10820400" y="313055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7" name="Lam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400" y="3130550"/>
                <a:ext cx="508000" cy="228600"/>
              </a:xfrm>
              <a:prstGeom prst="rect">
                <a:avLst/>
              </a:prstGeom>
              <a:blipFill>
                <a:blip r:embed="rId6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Ltheta"/>
              <p:cNvSpPr/>
              <p:nvPr/>
            </p:nvSpPr>
            <p:spPr>
              <a:xfrm>
                <a:off x="9093200" y="4635500"/>
                <a:ext cx="508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8" name="Lthet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200" y="4635500"/>
                <a:ext cx="508000" cy="228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LO"/>
          <p:cNvSpPr/>
          <p:nvPr/>
        </p:nvSpPr>
        <p:spPr>
          <a:xfrm>
            <a:off x="8686800" y="5067300"/>
            <a:ext cx="2286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200" b="1" dirty="0">
                <a:solidFill>
                  <a:srgbClr val="333333"/>
                </a:solidFill>
                <a:latin typeface="Calibri"/>
              </a:rPr>
              <a:t>O</a:t>
            </a:r>
          </a:p>
        </p:txBody>
      </p:sp>
      <p:sp>
        <p:nvSpPr>
          <p:cNvPr id="320" name="TriCap"/>
          <p:cNvSpPr/>
          <p:nvPr/>
        </p:nvSpPr>
        <p:spPr>
          <a:xfrm>
            <a:off x="8318500" y="52070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The third side is a−b; θ is the angle at O.</a:t>
            </a:r>
          </a:p>
        </p:txBody>
      </p:sp>
      <p:sp>
        <p:nvSpPr>
          <p:cNvPr id="329" name="WhyBox"/>
          <p:cNvSpPr/>
          <p:nvPr/>
        </p:nvSpPr>
        <p:spPr>
          <a:xfrm>
            <a:off x="965200" y="4394200"/>
            <a:ext cx="6705600" cy="1016000"/>
          </a:xfrm>
          <a:prstGeom prst="roundRect">
            <a:avLst>
              <a:gd name="adj" fmla="val 6000"/>
            </a:avLst>
          </a:prstGeom>
          <a:solidFill>
            <a:srgbClr val="F3F0F8"/>
          </a:solidFill>
          <a:ln w="12700">
            <a:solidFill>
              <a:srgbClr val="C9B8E0"/>
            </a:solidFill>
          </a:ln>
        </p:spPr>
        <p:txBody>
          <a:bodyPr wrap="square" lIns="109728" tIns="45720" rIns="109728" bIns="45720" anchor="ctr">
            <a:normAutofit/>
          </a:bodyPr>
          <a:lstStyle/>
          <a:p>
            <a:pPr algn="l"/>
            <a:r>
              <a:rPr lang="en-US" sz="1250" b="1" dirty="0">
                <a:solidFill>
                  <a:srgbClr val="4B2E83"/>
                </a:solidFill>
                <a:latin typeface="Calibri"/>
              </a:rPr>
              <a:t>Why this matters:  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the component formula </a:t>
            </a:r>
            <a:r>
              <a:rPr lang="en-US" sz="1250" b="1" dirty="0">
                <a:solidFill>
                  <a:srgbClr val="333333"/>
                </a:solidFill>
                <a:latin typeface="Calibri"/>
              </a:rPr>
              <a:t>a·b = a₁b₁ + a₂b₂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 and the geometric form </a:t>
            </a:r>
            <a:r>
              <a:rPr lang="en-US" sz="1250" b="1" dirty="0">
                <a:solidFill>
                  <a:srgbClr val="333333"/>
                </a:solidFill>
                <a:latin typeface="Calibri"/>
              </a:rPr>
              <a:t>‖a‖‖b‖cos θ</a:t>
            </a:r>
            <a:r>
              <a:rPr lang="en-US" sz="1250" dirty="0">
                <a:solidFill>
                  <a:srgbClr val="333333"/>
                </a:solidFill>
                <a:latin typeface="Calibri"/>
              </a:rPr>
              <a:t> are the SAME number — so the dot product measures both coordinates and angle at once.</a:t>
            </a:r>
          </a:p>
        </p:txBody>
      </p:sp>
    </p:spTree>
    <p:extLst>
      <p:ext uri="{BB962C8B-B14F-4D97-AF65-F5344CB8AC3E}">
        <p14:creationId xmlns:p14="http://schemas.microsoft.com/office/powerpoint/2010/main" val="94102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5DDEA07F-DDBE-5C48-9EDE-94750FD32BF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EF999C0-0221-2145-8CCC-FBD15FE642A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Dot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03DF1E6-F1F2-3043-8472-31838EC0246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Straight computation:  u · v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83DCFC72-AB8D-FE4F-BCAD-4075A58FC8B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79F21351-4711-C343-B471-9B999C28A7AE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CBF00C0-C249-DC47-8FC0-52668D0F430B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A328E16D-A4BB-5848-B18B-FF22E6036741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· v   where   u = (2, 3, -1)   and   v = (4, 0, 5)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BCB682C2-2882-4442-BDE8-2A543A2B49AE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F075EFC6-53D9-C747-AE4F-89B6CEFB7640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1CFC3A09-C9DB-EE47-8171-C2E41615BCD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34D1829A-66F3-8D40-BF0A-298D74CC95FF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paired entries:  (2·4), (3·0), (-1·5)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6C8155A8-F82C-6A49-85B2-BCC06055B050}"/>
              </a:ext>
            </a:extLst>
          </p:cNvPr>
          <p:cNvSpPr txBox="1"/>
          <p:nvPr/>
        </p:nvSpPr>
        <p:spPr>
          <a:xfrm>
            <a:off x="558800" y="3835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                              =     8,         0,         -5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00B0B021-89BB-EC43-96C5-3C2D385B2038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Sum the products:   8 + 0 + (-5)  =  3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93FA5F00-EC15-044E-BD81-D6FD89A3C3DC}"/>
              </a:ext>
            </a:extLst>
          </p:cNvPr>
          <p:cNvSpPr txBox="1"/>
          <p:nvPr/>
        </p:nvSpPr>
        <p:spPr>
          <a:xfrm>
            <a:off x="558800" y="45466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Sanity: ‖u‖ ≈ 3.74,  ‖v‖ ≈ 6.40,  so cos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θ = 3 / (3.74·6.40) ≈ 0.125 (</a:t>
            </a:r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mostly orthogonal).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152FD8B-9B11-054A-9F13-E9B6930F4EF2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 dirty="0">
                <a:solidFill>
                  <a:srgbClr val="4B2E83"/>
                </a:solidFill>
                <a:latin typeface="Cambria Math"/>
                <a:ea typeface="Cambria Math"/>
              </a:rPr>
              <a:t>Answer:   u · v  =  3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665CF376-55AD-2145-9EEC-B23A8C5F6343}"/>
              </a:ext>
            </a:extLst>
          </p:cNvPr>
          <p:cNvSpPr/>
          <p:nvPr/>
        </p:nvSpPr>
        <p:spPr>
          <a:xfrm>
            <a:off x="0" y="5631936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4EC4921D-76F3-DF4A-899C-C25D2A18BDB4}"/>
              </a:ext>
            </a:extLst>
          </p:cNvPr>
          <p:cNvSpPr txBox="1"/>
          <p:nvPr/>
        </p:nvSpPr>
        <p:spPr>
          <a:xfrm>
            <a:off x="381000" y="5695436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Dot product = pair-multiply, then sum — three multiplications and two additions for ℝ³</a:t>
            </a:r>
          </a:p>
        </p:txBody>
      </p:sp>
    </p:spTree>
    <p:extLst>
      <p:ext uri="{BB962C8B-B14F-4D97-AF65-F5344CB8AC3E}">
        <p14:creationId xmlns:p14="http://schemas.microsoft.com/office/powerpoint/2010/main" val="114491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11D16286-D5FF-834E-BF02-E8BDEB4C564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20243115-DF5C-4C43-A32C-9EFC77E4B73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Orthogonality Check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9BF75DC-8921-B742-BDE3-7B33DC458AF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Use the dot product to test if two vectors are perpendicular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F305FC8B-C049-2F4B-9E26-E45EEEEBBF5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63FD4FE5-A34D-1144-9226-2BD2DCC01C4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8EF3B00E-954A-7845-B6D1-7B7AE733BCB5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122F5195-EF6A-C846-ACDE-2B97D56E8053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Are  u = (1, 2, -2)  and  v = (4, -1, 1)  orthogonal?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DCA6153C-FA95-3548-8ECC-931C6C12C739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E1A7293F-6D60-4748-84D3-F933228A78A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0058D5F6-EA6D-3746-B1D5-37A42C2EBCD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Step1">
            <a:extLst>
              <a:ext uri="{FF2B5EF4-FFF2-40B4-BE49-F238E27FC236}">
                <a16:creationId xmlns:a16="http://schemas.microsoft.com/office/drawing/2014/main" id="{A8369A7A-7586-E24A-A274-911FF44B7C8E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Two vectors are orthogonal iff their dot product = 0.</a:t>
            </a:r>
          </a:p>
        </p:txBody>
      </p:sp>
      <p:sp>
        <p:nvSpPr>
          <p:cNvPr id="30" name="SStep2">
            <a:extLst>
              <a:ext uri="{FF2B5EF4-FFF2-40B4-BE49-F238E27FC236}">
                <a16:creationId xmlns:a16="http://schemas.microsoft.com/office/drawing/2014/main" id="{6D030CD7-BB9E-0B45-8B64-0EF2D755CAB6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u · v  =  (1)(4) + (2)(-1) + (-2)(1)  =  4 − 2 − 2  =  0</a:t>
            </a:r>
          </a:p>
        </p:txBody>
      </p:sp>
      <p:sp>
        <p:nvSpPr>
          <p:cNvPr id="31" name="SStep3">
            <a:extLst>
              <a:ext uri="{FF2B5EF4-FFF2-40B4-BE49-F238E27FC236}">
                <a16:creationId xmlns:a16="http://schemas.microsoft.com/office/drawing/2014/main" id="{C3ABE5F5-6526-624E-AF60-47502F4083BA}"/>
              </a:ext>
            </a:extLst>
          </p:cNvPr>
          <p:cNvSpPr txBox="1"/>
          <p:nvPr/>
        </p:nvSpPr>
        <p:spPr>
          <a:xfrm>
            <a:off x="558800" y="4241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2.  Conclusion: u · v = 0, so the vectors are orthogonal (perpendicular).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BFD1BC2B-1399-5F4D-93A1-68D23FC0DAB4}"/>
              </a:ext>
            </a:extLst>
          </p:cNvPr>
          <p:cNvSpPr txBox="1"/>
          <p:nvPr/>
        </p:nvSpPr>
        <p:spPr>
          <a:xfrm>
            <a:off x="558800" y="4622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meaning: the angle between them is exactly 90°.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CFA1C2C8-345A-D446-8F41-620CF8162AF7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Answer:   Yes — u ⊥ v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C2324813-FB06-4A45-8B17-FD9E7B0DC48E}"/>
              </a:ext>
            </a:extLst>
          </p:cNvPr>
          <p:cNvSpPr/>
          <p:nvPr/>
        </p:nvSpPr>
        <p:spPr>
          <a:xfrm>
            <a:off x="0" y="5619578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48E0AE6-10BF-C341-9D90-4D384E5BC710}"/>
              </a:ext>
            </a:extLst>
          </p:cNvPr>
          <p:cNvSpPr txBox="1"/>
          <p:nvPr/>
        </p:nvSpPr>
        <p:spPr>
          <a:xfrm>
            <a:off x="381000" y="568307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Orthogonality is decided by one scalar: if u · v = 0, the vectors meet at a right angle</a:t>
            </a:r>
          </a:p>
        </p:txBody>
      </p:sp>
    </p:spTree>
    <p:extLst>
      <p:ext uri="{BB962C8B-B14F-4D97-AF65-F5344CB8AC3E}">
        <p14:creationId xmlns:p14="http://schemas.microsoft.com/office/powerpoint/2010/main" val="64868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1)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2)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=(3)(1)+(1)(2)=5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705100" y="4546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45466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1739900" y="39370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39370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rojHdr"/>
          <p:cNvSpPr/>
          <p:nvPr/>
        </p:nvSpPr>
        <p:spPr>
          <a:xfrm>
            <a:off x="7175500" y="24892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4B2E83"/>
                </a:solidFill>
                <a:latin typeface="Calibri"/>
              </a:rPr>
              <a:t>Projection of v onto u</a:t>
            </a:r>
          </a:p>
        </p:txBody>
      </p:sp>
      <p:sp>
        <p:nvSpPr>
          <p:cNvPr id="910" name="PG"/>
          <p:cNvSpPr/>
          <p:nvPr/>
        </p:nvSpPr>
        <p:spPr>
          <a:xfrm>
            <a:off x="71755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G"/>
          <p:cNvSpPr/>
          <p:nvPr/>
        </p:nvSpPr>
        <p:spPr>
          <a:xfrm>
            <a:off x="75184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G"/>
          <p:cNvSpPr/>
          <p:nvPr/>
        </p:nvSpPr>
        <p:spPr>
          <a:xfrm>
            <a:off x="78613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G"/>
          <p:cNvSpPr/>
          <p:nvPr/>
        </p:nvSpPr>
        <p:spPr>
          <a:xfrm>
            <a:off x="82042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PG"/>
          <p:cNvSpPr/>
          <p:nvPr/>
        </p:nvSpPr>
        <p:spPr>
          <a:xfrm>
            <a:off x="85471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PG"/>
          <p:cNvSpPr/>
          <p:nvPr/>
        </p:nvSpPr>
        <p:spPr>
          <a:xfrm>
            <a:off x="88900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PG"/>
          <p:cNvSpPr/>
          <p:nvPr/>
        </p:nvSpPr>
        <p:spPr>
          <a:xfrm>
            <a:off x="7175500" y="51816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PG"/>
          <p:cNvSpPr/>
          <p:nvPr/>
        </p:nvSpPr>
        <p:spPr>
          <a:xfrm>
            <a:off x="7175500" y="48387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PG"/>
          <p:cNvSpPr/>
          <p:nvPr/>
        </p:nvSpPr>
        <p:spPr>
          <a:xfrm>
            <a:off x="7175500" y="44958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PG"/>
          <p:cNvSpPr/>
          <p:nvPr/>
        </p:nvSpPr>
        <p:spPr>
          <a:xfrm>
            <a:off x="7175500" y="41529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PG"/>
          <p:cNvSpPr/>
          <p:nvPr/>
        </p:nvSpPr>
        <p:spPr>
          <a:xfrm>
            <a:off x="7175500" y="38100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PG"/>
          <p:cNvSpPr/>
          <p:nvPr/>
        </p:nvSpPr>
        <p:spPr>
          <a:xfrm>
            <a:off x="7175500" y="34671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PAx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PAx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40" name="ProjSeg"/>
          <p:cNvCxnSpPr/>
          <p:nvPr/>
        </p:nvCxnSpPr>
        <p:spPr>
          <a:xfrm flipV="1">
            <a:off x="7175500" y="5010150"/>
            <a:ext cx="514350" cy="171450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uArr"/>
          <p:cNvCxnSpPr/>
          <p:nvPr/>
        </p:nvCxnSpPr>
        <p:spPr>
          <a:xfrm flipV="1">
            <a:off x="7175500" y="4838700"/>
            <a:ext cx="1028700" cy="3429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vArr"/>
          <p:cNvCxnSpPr/>
          <p:nvPr/>
        </p:nvCxnSpPr>
        <p:spPr>
          <a:xfrm flipV="1">
            <a:off x="7175500" y="4495800"/>
            <a:ext cx="342900" cy="6858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PerpDrop"/>
          <p:cNvCxnSpPr/>
          <p:nvPr/>
        </p:nvCxnSpPr>
        <p:spPr>
          <a:xfrm>
            <a:off x="7518400" y="4495800"/>
            <a:ext cx="171450" cy="514350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0" name="uLbl"/>
              <p:cNvSpPr/>
              <p:nvPr/>
            </p:nvSpPr>
            <p:spPr>
              <a:xfrm>
                <a:off x="8242300" y="4787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0" name="u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300" y="4787900"/>
                <a:ext cx="254000" cy="190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1" name="vLbl"/>
              <p:cNvSpPr/>
              <p:nvPr/>
            </p:nvSpPr>
            <p:spPr>
              <a:xfrm>
                <a:off x="7493000" y="4279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1" name="v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0" y="4279900"/>
                <a:ext cx="254000" cy="190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0" name="PCap1"/>
          <p:cNvSpPr/>
          <p:nvPr/>
        </p:nvSpPr>
        <p:spPr>
          <a:xfrm>
            <a:off x="8953500" y="31750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Magenta = proj of v onto u</a:t>
            </a:r>
          </a:p>
        </p:txBody>
      </p:sp>
      <p:sp>
        <p:nvSpPr>
          <p:cNvPr id="961" name="PCap2"/>
          <p:cNvSpPr/>
          <p:nvPr/>
        </p:nvSpPr>
        <p:spPr>
          <a:xfrm>
            <a:off x="8953500" y="34544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14328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=(2)(4)+(3)(1)=11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3657600"/>
            <a:ext cx="965200" cy="14478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622800"/>
            <a:ext cx="19304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222500" y="35814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35814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3187700" y="4419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44196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L"/>
          <p:cNvSpPr/>
          <p:nvPr/>
        </p:nvSpPr>
        <p:spPr>
          <a:xfrm>
            <a:off x="71755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PL"/>
          <p:cNvSpPr/>
          <p:nvPr/>
        </p:nvSpPr>
        <p:spPr>
          <a:xfrm>
            <a:off x="75184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PL"/>
          <p:cNvSpPr/>
          <p:nvPr/>
        </p:nvSpPr>
        <p:spPr>
          <a:xfrm>
            <a:off x="78613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PL"/>
          <p:cNvSpPr/>
          <p:nvPr/>
        </p:nvSpPr>
        <p:spPr>
          <a:xfrm>
            <a:off x="82042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" name="PL"/>
          <p:cNvSpPr/>
          <p:nvPr/>
        </p:nvSpPr>
        <p:spPr>
          <a:xfrm>
            <a:off x="85471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5" name="PL"/>
          <p:cNvSpPr/>
          <p:nvPr/>
        </p:nvSpPr>
        <p:spPr>
          <a:xfrm>
            <a:off x="8890000" y="3467100"/>
            <a:ext cx="762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6" name="PL"/>
          <p:cNvSpPr/>
          <p:nvPr/>
        </p:nvSpPr>
        <p:spPr>
          <a:xfrm>
            <a:off x="7175500" y="51816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7" name="PL"/>
          <p:cNvSpPr/>
          <p:nvPr/>
        </p:nvSpPr>
        <p:spPr>
          <a:xfrm>
            <a:off x="7175500" y="48387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8" name="PL"/>
          <p:cNvSpPr/>
          <p:nvPr/>
        </p:nvSpPr>
        <p:spPr>
          <a:xfrm>
            <a:off x="7175500" y="44958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9" name="PL"/>
          <p:cNvSpPr/>
          <p:nvPr/>
        </p:nvSpPr>
        <p:spPr>
          <a:xfrm>
            <a:off x="7175500" y="41529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" name="PL"/>
          <p:cNvSpPr/>
          <p:nvPr/>
        </p:nvSpPr>
        <p:spPr>
          <a:xfrm>
            <a:off x="7175500" y="38100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L"/>
          <p:cNvSpPr/>
          <p:nvPr/>
        </p:nvSpPr>
        <p:spPr>
          <a:xfrm>
            <a:off x="7175500" y="3467100"/>
            <a:ext cx="1714500" cy="762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L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L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14" name="ProjSeg"/>
          <p:cNvCxnSpPr/>
          <p:nvPr/>
        </p:nvCxnSpPr>
        <p:spPr>
          <a:xfrm flipV="1">
            <a:off x="7175500" y="4311148"/>
            <a:ext cx="580290" cy="870452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uArr"/>
          <p:cNvCxnSpPr/>
          <p:nvPr/>
        </p:nvCxnSpPr>
        <p:spPr>
          <a:xfrm flipV="1">
            <a:off x="7175500" y="4152900"/>
            <a:ext cx="685800" cy="10287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vArr"/>
          <p:cNvCxnSpPr/>
          <p:nvPr/>
        </p:nvCxnSpPr>
        <p:spPr>
          <a:xfrm flipV="1">
            <a:off x="7175500" y="4838700"/>
            <a:ext cx="1371600" cy="3429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PerpDrop"/>
          <p:cNvCxnSpPr/>
          <p:nvPr/>
        </p:nvCxnSpPr>
        <p:spPr>
          <a:xfrm flipH="1" flipV="1">
            <a:off x="7755790" y="4311148"/>
            <a:ext cx="791310" cy="527552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8" name="PLbl"/>
              <p:cNvSpPr/>
              <p:nvPr/>
            </p:nvSpPr>
            <p:spPr>
              <a:xfrm>
                <a:off x="7835900" y="3949700"/>
                <a:ext cx="5080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18" name="P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900" y="3949700"/>
                <a:ext cx="508000" cy="203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PLbl"/>
              <p:cNvSpPr/>
              <p:nvPr/>
            </p:nvSpPr>
            <p:spPr>
              <a:xfrm>
                <a:off x="8585200" y="4787900"/>
                <a:ext cx="5080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19" name="P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5200" y="4787900"/>
                <a:ext cx="508000" cy="203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0" name="PCap"/>
          <p:cNvSpPr/>
          <p:nvPr/>
        </p:nvSpPr>
        <p:spPr>
          <a:xfrm>
            <a:off x="8953500" y="3175000"/>
            <a:ext cx="27305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proj of v onto u (highlighted)</a:t>
            </a:r>
          </a:p>
        </p:txBody>
      </p:sp>
      <p:sp>
        <p:nvSpPr>
          <p:cNvPr id="921" name="PCap"/>
          <p:cNvSpPr/>
          <p:nvPr/>
        </p:nvSpPr>
        <p:spPr>
          <a:xfrm>
            <a:off x="8953500" y="3429000"/>
            <a:ext cx="27305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44304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Dot product: compute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two vectors are drawn from the origin on the grid. Compute their dot product.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·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₁+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 —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single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number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not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vector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 +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u, v drawn from the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20" name="DotSolBox"/>
          <p:cNvSpPr/>
          <p:nvPr/>
        </p:nvSpPr>
        <p:spPr>
          <a:xfrm>
            <a:off x="6604000" y="2057400"/>
            <a:ext cx="5080000" cy="3378200"/>
          </a:xfrm>
          <a:prstGeom prst="rect">
            <a:avLst/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DotSolTxt"/>
              <p:cNvSpPr/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400">
                          <a:solidFill>
                            <a:srgbClr val="5A8A2A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=(1)(2)+(4)(1)=6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1" name="Dot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00" y="2159000"/>
                <a:ext cx="4775200" cy="355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DotArr810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622800"/>
            <a:ext cx="9652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1739900" y="30988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30988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2222500" y="4419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4419600"/>
                <a:ext cx="279400" cy="203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0" name="ProjHdr"/>
          <p:cNvSpPr/>
          <p:nvPr/>
        </p:nvSpPr>
        <p:spPr>
          <a:xfrm>
            <a:off x="7175500" y="2489200"/>
            <a:ext cx="4191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4B2E83"/>
                </a:solidFill>
                <a:latin typeface="Calibri"/>
              </a:rPr>
              <a:t>Projection of v onto u</a:t>
            </a:r>
          </a:p>
        </p:txBody>
      </p:sp>
      <p:sp>
        <p:nvSpPr>
          <p:cNvPr id="910" name="PG"/>
          <p:cNvSpPr/>
          <p:nvPr/>
        </p:nvSpPr>
        <p:spPr>
          <a:xfrm>
            <a:off x="71755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" name="PG"/>
          <p:cNvSpPr/>
          <p:nvPr/>
        </p:nvSpPr>
        <p:spPr>
          <a:xfrm>
            <a:off x="75184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" name="PG"/>
          <p:cNvSpPr/>
          <p:nvPr/>
        </p:nvSpPr>
        <p:spPr>
          <a:xfrm>
            <a:off x="78613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3" name="PG"/>
          <p:cNvSpPr/>
          <p:nvPr/>
        </p:nvSpPr>
        <p:spPr>
          <a:xfrm>
            <a:off x="82042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PG"/>
          <p:cNvSpPr/>
          <p:nvPr/>
        </p:nvSpPr>
        <p:spPr>
          <a:xfrm>
            <a:off x="85471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5" name="PG"/>
          <p:cNvSpPr/>
          <p:nvPr/>
        </p:nvSpPr>
        <p:spPr>
          <a:xfrm>
            <a:off x="8890000" y="3467100"/>
            <a:ext cx="8890" cy="17145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PG"/>
          <p:cNvSpPr/>
          <p:nvPr/>
        </p:nvSpPr>
        <p:spPr>
          <a:xfrm>
            <a:off x="7175500" y="51816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7" name="PG"/>
          <p:cNvSpPr/>
          <p:nvPr/>
        </p:nvSpPr>
        <p:spPr>
          <a:xfrm>
            <a:off x="7175500" y="48387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PG"/>
          <p:cNvSpPr/>
          <p:nvPr/>
        </p:nvSpPr>
        <p:spPr>
          <a:xfrm>
            <a:off x="7175500" y="44958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PG"/>
          <p:cNvSpPr/>
          <p:nvPr/>
        </p:nvSpPr>
        <p:spPr>
          <a:xfrm>
            <a:off x="7175500" y="41529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PG"/>
          <p:cNvSpPr/>
          <p:nvPr/>
        </p:nvSpPr>
        <p:spPr>
          <a:xfrm>
            <a:off x="7175500" y="38100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PG"/>
          <p:cNvSpPr/>
          <p:nvPr/>
        </p:nvSpPr>
        <p:spPr>
          <a:xfrm>
            <a:off x="7175500" y="3467100"/>
            <a:ext cx="1714500" cy="889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PAx"/>
          <p:cNvSpPr/>
          <p:nvPr/>
        </p:nvSpPr>
        <p:spPr>
          <a:xfrm>
            <a:off x="7175500" y="5181600"/>
            <a:ext cx="1714500" cy="1651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PAx"/>
          <p:cNvSpPr/>
          <p:nvPr/>
        </p:nvSpPr>
        <p:spPr>
          <a:xfrm>
            <a:off x="7175500" y="3467100"/>
            <a:ext cx="16510" cy="17145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940" name="ProjSeg"/>
          <p:cNvCxnSpPr/>
          <p:nvPr/>
        </p:nvCxnSpPr>
        <p:spPr>
          <a:xfrm flipV="1">
            <a:off x="7175500" y="4697506"/>
            <a:ext cx="121024" cy="484094"/>
          </a:xfrm>
          <a:prstGeom prst="line">
            <a:avLst/>
          </a:prstGeom>
          <a:ln w="63500" cap="flat" cmpd="sng" algn="ctr">
            <a:solidFill>
              <a:srgbClr val="D1578A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uArr"/>
          <p:cNvCxnSpPr/>
          <p:nvPr/>
        </p:nvCxnSpPr>
        <p:spPr>
          <a:xfrm flipV="1">
            <a:off x="7175500" y="3810000"/>
            <a:ext cx="342900" cy="1371600"/>
          </a:xfrm>
          <a:prstGeom prst="line">
            <a:avLst/>
          </a:prstGeom>
          <a:ln w="2857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2" name="vArr"/>
          <p:cNvCxnSpPr/>
          <p:nvPr/>
        </p:nvCxnSpPr>
        <p:spPr>
          <a:xfrm flipV="1">
            <a:off x="7175500" y="4838700"/>
            <a:ext cx="685800" cy="342900"/>
          </a:xfrm>
          <a:prstGeom prst="line">
            <a:avLst/>
          </a:prstGeom>
          <a:ln w="2857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PerpDrop"/>
          <p:cNvCxnSpPr/>
          <p:nvPr/>
        </p:nvCxnSpPr>
        <p:spPr>
          <a:xfrm flipH="1" flipV="1">
            <a:off x="7296524" y="4697506"/>
            <a:ext cx="564776" cy="141194"/>
          </a:xfrm>
          <a:prstGeom prst="line">
            <a:avLst/>
          </a:prstGeom>
          <a:ln w="17780" cap="flat" cmpd="sng" algn="ctr">
            <a:solidFill>
              <a:srgbClr val="9A9A9A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0" name="uLbl"/>
              <p:cNvSpPr/>
              <p:nvPr/>
            </p:nvSpPr>
            <p:spPr>
              <a:xfrm>
                <a:off x="7581900" y="37846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2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0" name="u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00" y="3784600"/>
                <a:ext cx="254000" cy="190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1" name="vLbl"/>
              <p:cNvSpPr/>
              <p:nvPr/>
            </p:nvSpPr>
            <p:spPr>
              <a:xfrm>
                <a:off x="7912100" y="47879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2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51" name="v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00" y="4787900"/>
                <a:ext cx="254000" cy="190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0" name="PCap1"/>
          <p:cNvSpPr/>
          <p:nvPr/>
        </p:nvSpPr>
        <p:spPr>
          <a:xfrm>
            <a:off x="8953500" y="31750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D1578A"/>
                </a:solidFill>
                <a:latin typeface="Calibri"/>
              </a:rPr>
              <a:t>Magenta = proj of v onto u</a:t>
            </a:r>
          </a:p>
        </p:txBody>
      </p:sp>
      <p:sp>
        <p:nvSpPr>
          <p:cNvPr id="961" name="PCap2"/>
          <p:cNvSpPr/>
          <p:nvPr/>
        </p:nvSpPr>
        <p:spPr>
          <a:xfrm>
            <a:off x="8953500" y="3454400"/>
            <a:ext cx="2667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100" i="1" dirty="0">
                <a:solidFill>
                  <a:srgbClr val="333333"/>
                </a:solidFill>
                <a:latin typeface="Calibri"/>
              </a:rPr>
              <a:t>u·v = |u| × (length of projection)</a:t>
            </a:r>
          </a:p>
        </p:txBody>
      </p:sp>
      <p:sp>
        <p:nvSpPr>
          <p:cNvPr id="2" name="Ex1_SolCover">
            <a:extLst>
              <a:ext uri="{FF2B5EF4-FFF2-40B4-BE49-F238E27FC236}">
                <a16:creationId xmlns:a16="http://schemas.microsoft.com/office/drawing/2014/main" id="{F226DDAA-778F-F786-568C-D8CC28561A13}"/>
              </a:ext>
            </a:extLst>
          </p:cNvPr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endParaRPr lang="en-US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the dot product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79408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36B514B-F478-9F4D-A89B-AC170C0EA4F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155B8D3-8D32-6246-B337-7FC6A8083196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Norm of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3F90D59D-E723-A94E-8E76-775AB4FDB0D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Measuring the size or length of a vector</a:t>
            </a:r>
          </a:p>
        </p:txBody>
      </p:sp>
      <p:sp>
        <p:nvSpPr>
          <p:cNvPr id="5" name="DefBox">
            <a:extLst>
              <a:ext uri="{FF2B5EF4-FFF2-40B4-BE49-F238E27FC236}">
                <a16:creationId xmlns:a16="http://schemas.microsoft.com/office/drawing/2014/main" id="{21E45A18-19F8-7C49-895A-948CD59203D6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Lbl">
            <a:extLst>
              <a:ext uri="{FF2B5EF4-FFF2-40B4-BE49-F238E27FC236}">
                <a16:creationId xmlns:a16="http://schemas.microsoft.com/office/drawing/2014/main" id="{E9D9CC7E-A164-CD49-B71B-E2E439A9D796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(Euclidean / L² norm)</a:t>
            </a:r>
          </a:p>
        </p:txBody>
      </p:sp>
      <p:sp>
        <p:nvSpPr>
          <p:cNvPr id="7" name="DefEq">
            <a:extLst>
              <a:ext uri="{FF2B5EF4-FFF2-40B4-BE49-F238E27FC236}">
                <a16:creationId xmlns:a16="http://schemas.microsoft.com/office/drawing/2014/main" id="{F3DC4242-FC6A-4041-97B8-86778D33C43C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‖v‖  =  √(v₁² + v₂² + … + vₙ²)</a:t>
            </a:r>
          </a:p>
        </p:txBody>
      </p:sp>
      <p:sp>
        <p:nvSpPr>
          <p:cNvPr id="8" name="DefNote">
            <a:extLst>
              <a:ext uri="{FF2B5EF4-FFF2-40B4-BE49-F238E27FC236}">
                <a16:creationId xmlns:a16="http://schemas.microsoft.com/office/drawing/2014/main" id="{4E34752A-347C-C447-AF2E-DBF077C7F51D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A norm is a non-negative scalar that quantifies the magnitude of a vector — always ≥ 0, equals 0 only at the origin.</a:t>
            </a:r>
          </a:p>
        </p:txBody>
      </p:sp>
      <p:sp>
        <p:nvSpPr>
          <p:cNvPr id="9" name="Card30">
            <a:extLst>
              <a:ext uri="{FF2B5EF4-FFF2-40B4-BE49-F238E27FC236}">
                <a16:creationId xmlns:a16="http://schemas.microsoft.com/office/drawing/2014/main" id="{9CAB2447-E5A9-B742-9839-4C5A6C152BD0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Hdr30">
            <a:extLst>
              <a:ext uri="{FF2B5EF4-FFF2-40B4-BE49-F238E27FC236}">
                <a16:creationId xmlns:a16="http://schemas.microsoft.com/office/drawing/2014/main" id="{630475C2-AE1C-6A45-A52A-68A1CB1D3AEA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Title30">
            <a:extLst>
              <a:ext uri="{FF2B5EF4-FFF2-40B4-BE49-F238E27FC236}">
                <a16:creationId xmlns:a16="http://schemas.microsoft.com/office/drawing/2014/main" id="{82E73323-63E8-D644-B365-68FCCB3AF85E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measures</a:t>
            </a:r>
          </a:p>
        </p:txBody>
      </p:sp>
      <p:sp>
        <p:nvSpPr>
          <p:cNvPr id="12" name="CardBody30">
            <a:extLst>
              <a:ext uri="{FF2B5EF4-FFF2-40B4-BE49-F238E27FC236}">
                <a16:creationId xmlns:a16="http://schemas.microsoft.com/office/drawing/2014/main" id="{46024AB8-53ED-5E42-BA24-7C17562FE40A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The length (magnitude) of a
vector — how far it reaches
from the origin.
For v = (3, 4):
‖v‖ = √(9 + 16) = √25 = 5</a:t>
            </a:r>
          </a:p>
        </p:txBody>
      </p:sp>
      <p:sp>
        <p:nvSpPr>
          <p:cNvPr id="13" name="Card335">
            <a:extLst>
              <a:ext uri="{FF2B5EF4-FFF2-40B4-BE49-F238E27FC236}">
                <a16:creationId xmlns:a16="http://schemas.microsoft.com/office/drawing/2014/main" id="{4E020A3E-8E92-6C42-A7D9-EEC18CCE0188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ardHdr335">
            <a:extLst>
              <a:ext uri="{FF2B5EF4-FFF2-40B4-BE49-F238E27FC236}">
                <a16:creationId xmlns:a16="http://schemas.microsoft.com/office/drawing/2014/main" id="{41EF73F9-DFAF-8045-B984-D8CE917CEDAA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CardTitle335">
            <a:extLst>
              <a:ext uri="{FF2B5EF4-FFF2-40B4-BE49-F238E27FC236}">
                <a16:creationId xmlns:a16="http://schemas.microsoft.com/office/drawing/2014/main" id="{E3F38A79-B155-F449-B82C-9DFDFB34269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Three axioms</a:t>
            </a:r>
          </a:p>
        </p:txBody>
      </p:sp>
      <p:sp>
        <p:nvSpPr>
          <p:cNvPr id="16" name="CardBody335">
            <a:extLst>
              <a:ext uri="{FF2B5EF4-FFF2-40B4-BE49-F238E27FC236}">
                <a16:creationId xmlns:a16="http://schemas.microsoft.com/office/drawing/2014/main" id="{FE59A380-ACD9-0648-AE13-FC905B89BB8A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1. ‖v‖ ≥ 0;  ‖v‖=0 iff v=0
2. ‖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α·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 = |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α|·‖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v‖
     (absolute homogeneity)
3. ‖u + v‖ ≤ ‖u‖ + ‖v‖
     (triangle inequality)</a:t>
            </a:r>
          </a:p>
        </p:txBody>
      </p:sp>
      <p:sp>
        <p:nvSpPr>
          <p:cNvPr id="17" name="Card640">
            <a:extLst>
              <a:ext uri="{FF2B5EF4-FFF2-40B4-BE49-F238E27FC236}">
                <a16:creationId xmlns:a16="http://schemas.microsoft.com/office/drawing/2014/main" id="{3F19C14E-2A7F-9046-8F5B-CCC721682567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CardHdr640">
            <a:extLst>
              <a:ext uri="{FF2B5EF4-FFF2-40B4-BE49-F238E27FC236}">
                <a16:creationId xmlns:a16="http://schemas.microsoft.com/office/drawing/2014/main" id="{12458A67-07F4-4843-82EE-502F945C4F8C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6B7462B0-E15D-8341-8EF9-EDF9D4CCAA8F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30F73163-D3C8-8446-B53C-9CD8045A95C0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Distance: d(u,v) = ‖u − v‖
• Normalization: v̂ = v / ‖v‖
• Loss functions (MSE, L1)
• Regularization (ridge, lasso)
• Convergence criteria in ML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D702EE3D-EF8D-C047-98FC-EE7CCF711DD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B27843DF-4467-BA4E-845C-EDE8E086B801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Key insight:   ‖v‖² = v · v   —   the norm squared is the dot product of v with itself.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A4651B2F-D46E-A544-A554-FCADDEE76505}"/>
              </a:ext>
            </a:extLst>
          </p:cNvPr>
          <p:cNvSpPr/>
          <p:nvPr/>
        </p:nvSpPr>
        <p:spPr>
          <a:xfrm>
            <a:off x="0" y="5767861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077E258-AF72-6D45-98FE-09841E38CCDB}"/>
              </a:ext>
            </a:extLst>
          </p:cNvPr>
          <p:cNvSpPr txBox="1"/>
          <p:nvPr/>
        </p:nvSpPr>
        <p:spPr>
          <a:xfrm>
            <a:off x="381000" y="5831361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The norm turns a vector into a single number — its length — and underlies every notion of distance</a:t>
            </a:r>
          </a:p>
        </p:txBody>
      </p:sp>
    </p:spTree>
    <p:extLst>
      <p:ext uri="{BB962C8B-B14F-4D97-AF65-F5344CB8AC3E}">
        <p14:creationId xmlns:p14="http://schemas.microsoft.com/office/powerpoint/2010/main" val="26985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36" grpId="0"/>
      <p:bldP spid="37" grpId="0"/>
      <p:bldP spid="38" grpId="0" animBg="1"/>
      <p:bldP spid="39" grpId="0"/>
      <p:bldP spid="40" grpId="0" animBg="1"/>
      <p:bldP spid="4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D07D76FB-EE30-CD4B-95BA-B131425ECBE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2128440-74DF-C34A-ACE0-0EF4E983DAF2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Norm — 2D Visual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5CE26914-3B85-7443-87D3-484FBF9638F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The norm is the hypotenuse of a right triangle made of v's components</a:t>
            </a:r>
          </a:p>
        </p:txBody>
      </p:sp>
      <p:sp>
        <p:nvSpPr>
          <p:cNvPr id="22" name="PlotBg">
            <a:extLst>
              <a:ext uri="{FF2B5EF4-FFF2-40B4-BE49-F238E27FC236}">
                <a16:creationId xmlns:a16="http://schemas.microsoft.com/office/drawing/2014/main" id="{292174D3-EB31-DB4B-937C-2CB665D9E0E8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Ax">
            <a:extLst>
              <a:ext uri="{FF2B5EF4-FFF2-40B4-BE49-F238E27FC236}">
                <a16:creationId xmlns:a16="http://schemas.microsoft.com/office/drawing/2014/main" id="{A1949E99-B76D-4848-996E-EA59E3A56108}"/>
              </a:ext>
            </a:extLst>
          </p:cNvPr>
          <p:cNvSpPr/>
          <p:nvPr/>
        </p:nvSpPr>
        <p:spPr>
          <a:xfrm>
            <a:off x="825500" y="4953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Ay">
            <a:extLst>
              <a:ext uri="{FF2B5EF4-FFF2-40B4-BE49-F238E27FC236}">
                <a16:creationId xmlns:a16="http://schemas.microsoft.com/office/drawing/2014/main" id="{A8B9CE1D-E636-ED48-9A39-B57527EE821F}"/>
              </a:ext>
            </a:extLst>
          </p:cNvPr>
          <p:cNvSpPr/>
          <p:nvPr/>
        </p:nvSpPr>
        <p:spPr>
          <a:xfrm>
            <a:off x="177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X1">
            <a:extLst>
              <a:ext uri="{FF2B5EF4-FFF2-40B4-BE49-F238E27FC236}">
                <a16:creationId xmlns:a16="http://schemas.microsoft.com/office/drawing/2014/main" id="{96C4DD75-E907-734E-B716-C123F08BEDB9}"/>
              </a:ext>
            </a:extLst>
          </p:cNvPr>
          <p:cNvSpPr txBox="1"/>
          <p:nvPr/>
        </p:nvSpPr>
        <p:spPr>
          <a:xfrm>
            <a:off x="233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6" name="TY1">
            <a:extLst>
              <a:ext uri="{FF2B5EF4-FFF2-40B4-BE49-F238E27FC236}">
                <a16:creationId xmlns:a16="http://schemas.microsoft.com/office/drawing/2014/main" id="{81554119-9A6B-D644-BD0F-62A7B95565C2}"/>
              </a:ext>
            </a:extLst>
          </p:cNvPr>
          <p:cNvSpPr txBox="1"/>
          <p:nvPr/>
        </p:nvSpPr>
        <p:spPr>
          <a:xfrm>
            <a:off x="1574800" y="424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7" name="TX2">
            <a:extLst>
              <a:ext uri="{FF2B5EF4-FFF2-40B4-BE49-F238E27FC236}">
                <a16:creationId xmlns:a16="http://schemas.microsoft.com/office/drawing/2014/main" id="{A1FC99D2-1D88-DE45-A10F-342D3815AC1D}"/>
              </a:ext>
            </a:extLst>
          </p:cNvPr>
          <p:cNvSpPr txBox="1"/>
          <p:nvPr/>
        </p:nvSpPr>
        <p:spPr>
          <a:xfrm>
            <a:off x="2971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8" name="TY2">
            <a:extLst>
              <a:ext uri="{FF2B5EF4-FFF2-40B4-BE49-F238E27FC236}">
                <a16:creationId xmlns:a16="http://schemas.microsoft.com/office/drawing/2014/main" id="{6653CEF8-4D4B-7E4C-B693-BFA4EA354B7A}"/>
              </a:ext>
            </a:extLst>
          </p:cNvPr>
          <p:cNvSpPr txBox="1"/>
          <p:nvPr/>
        </p:nvSpPr>
        <p:spPr>
          <a:xfrm>
            <a:off x="1574800" y="3606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9" name="TX3">
            <a:extLst>
              <a:ext uri="{FF2B5EF4-FFF2-40B4-BE49-F238E27FC236}">
                <a16:creationId xmlns:a16="http://schemas.microsoft.com/office/drawing/2014/main" id="{9576EA1F-3CA3-E340-A167-715E384D5CF9}"/>
              </a:ext>
            </a:extLst>
          </p:cNvPr>
          <p:cNvSpPr txBox="1"/>
          <p:nvPr/>
        </p:nvSpPr>
        <p:spPr>
          <a:xfrm>
            <a:off x="360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0" name="TY3">
            <a:extLst>
              <a:ext uri="{FF2B5EF4-FFF2-40B4-BE49-F238E27FC236}">
                <a16:creationId xmlns:a16="http://schemas.microsoft.com/office/drawing/2014/main" id="{6D018560-2836-2443-9803-195DD91FD7FF}"/>
              </a:ext>
            </a:extLst>
          </p:cNvPr>
          <p:cNvSpPr txBox="1"/>
          <p:nvPr/>
        </p:nvSpPr>
        <p:spPr>
          <a:xfrm>
            <a:off x="1574800" y="297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31" name="TX4">
            <a:extLst>
              <a:ext uri="{FF2B5EF4-FFF2-40B4-BE49-F238E27FC236}">
                <a16:creationId xmlns:a16="http://schemas.microsoft.com/office/drawing/2014/main" id="{B16D4C9F-0AEB-944A-B620-5FA47EA6D0F1}"/>
              </a:ext>
            </a:extLst>
          </p:cNvPr>
          <p:cNvSpPr txBox="1"/>
          <p:nvPr/>
        </p:nvSpPr>
        <p:spPr>
          <a:xfrm>
            <a:off x="4241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TY4">
            <a:extLst>
              <a:ext uri="{FF2B5EF4-FFF2-40B4-BE49-F238E27FC236}">
                <a16:creationId xmlns:a16="http://schemas.microsoft.com/office/drawing/2014/main" id="{76E84613-5857-7840-81FC-C692256BC036}"/>
              </a:ext>
            </a:extLst>
          </p:cNvPr>
          <p:cNvSpPr txBox="1"/>
          <p:nvPr/>
        </p:nvSpPr>
        <p:spPr>
          <a:xfrm>
            <a:off x="1574800" y="2336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TX5">
            <a:extLst>
              <a:ext uri="{FF2B5EF4-FFF2-40B4-BE49-F238E27FC236}">
                <a16:creationId xmlns:a16="http://schemas.microsoft.com/office/drawing/2014/main" id="{0573F80E-F3EE-A14B-AED3-125904AFEA6A}"/>
              </a:ext>
            </a:extLst>
          </p:cNvPr>
          <p:cNvSpPr txBox="1"/>
          <p:nvPr/>
        </p:nvSpPr>
        <p:spPr>
          <a:xfrm>
            <a:off x="4876800" y="5003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4" name="TY5">
            <a:extLst>
              <a:ext uri="{FF2B5EF4-FFF2-40B4-BE49-F238E27FC236}">
                <a16:creationId xmlns:a16="http://schemas.microsoft.com/office/drawing/2014/main" id="{0B7390C8-E3D1-8C42-A208-D340F1B24EA0}"/>
              </a:ext>
            </a:extLst>
          </p:cNvPr>
          <p:cNvSpPr txBox="1"/>
          <p:nvPr/>
        </p:nvSpPr>
        <p:spPr>
          <a:xfrm>
            <a:off x="1574800" y="17018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777777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35" name="XL">
            <a:extLst>
              <a:ext uri="{FF2B5EF4-FFF2-40B4-BE49-F238E27FC236}">
                <a16:creationId xmlns:a16="http://schemas.microsoft.com/office/drawing/2014/main" id="{E32C1BFB-2EAD-6449-BCB8-C375D9B2EFD1}"/>
              </a:ext>
            </a:extLst>
          </p:cNvPr>
          <p:cNvSpPr txBox="1"/>
          <p:nvPr/>
        </p:nvSpPr>
        <p:spPr>
          <a:xfrm>
            <a:off x="7645400" y="4724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42" name="YL">
            <a:extLst>
              <a:ext uri="{FF2B5EF4-FFF2-40B4-BE49-F238E27FC236}">
                <a16:creationId xmlns:a16="http://schemas.microsoft.com/office/drawing/2014/main" id="{3768B647-4660-D44C-8869-D0A2B1DC1AC8}"/>
              </a:ext>
            </a:extLst>
          </p:cNvPr>
          <p:cNvSpPr txBox="1"/>
          <p:nvPr/>
        </p:nvSpPr>
        <p:spPr>
          <a:xfrm>
            <a:off x="1854200" y="13208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43" name="HLeg">
            <a:extLst>
              <a:ext uri="{FF2B5EF4-FFF2-40B4-BE49-F238E27FC236}">
                <a16:creationId xmlns:a16="http://schemas.microsoft.com/office/drawing/2014/main" id="{4E240A40-6822-AC4C-8AFE-A069A3C06150}"/>
              </a:ext>
            </a:extLst>
          </p:cNvPr>
          <p:cNvSpPr/>
          <p:nvPr/>
        </p:nvSpPr>
        <p:spPr>
          <a:xfrm>
            <a:off x="1778000" y="4940300"/>
            <a:ext cx="1905000" cy="25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HLegLbl">
            <a:extLst>
              <a:ext uri="{FF2B5EF4-FFF2-40B4-BE49-F238E27FC236}">
                <a16:creationId xmlns:a16="http://schemas.microsoft.com/office/drawing/2014/main" id="{6F5F82CB-C5A7-134C-8C33-F759A38CEE35}"/>
              </a:ext>
            </a:extLst>
          </p:cNvPr>
          <p:cNvSpPr txBox="1"/>
          <p:nvPr/>
        </p:nvSpPr>
        <p:spPr>
          <a:xfrm>
            <a:off x="2908300" y="50546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v₁ = 3</a:t>
            </a:r>
          </a:p>
        </p:txBody>
      </p:sp>
      <p:sp>
        <p:nvSpPr>
          <p:cNvPr id="45" name="VLeg">
            <a:extLst>
              <a:ext uri="{FF2B5EF4-FFF2-40B4-BE49-F238E27FC236}">
                <a16:creationId xmlns:a16="http://schemas.microsoft.com/office/drawing/2014/main" id="{AE16ED4F-56A4-8A43-820E-9C001578598A}"/>
              </a:ext>
            </a:extLst>
          </p:cNvPr>
          <p:cNvSpPr/>
          <p:nvPr/>
        </p:nvSpPr>
        <p:spPr>
          <a:xfrm>
            <a:off x="3670300" y="2413000"/>
            <a:ext cx="25400" cy="2540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VLegLbl">
            <a:extLst>
              <a:ext uri="{FF2B5EF4-FFF2-40B4-BE49-F238E27FC236}">
                <a16:creationId xmlns:a16="http://schemas.microsoft.com/office/drawing/2014/main" id="{AB6F2F32-9EFF-CE46-B5FC-905CD595CE76}"/>
              </a:ext>
            </a:extLst>
          </p:cNvPr>
          <p:cNvSpPr txBox="1"/>
          <p:nvPr/>
        </p:nvSpPr>
        <p:spPr>
          <a:xfrm>
            <a:off x="3784600" y="35814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v₂ = 4</a:t>
            </a:r>
          </a:p>
        </p:txBody>
      </p:sp>
      <p:sp>
        <p:nvSpPr>
          <p:cNvPr id="47" name="VecV">
            <a:extLst>
              <a:ext uri="{FF2B5EF4-FFF2-40B4-BE49-F238E27FC236}">
                <a16:creationId xmlns:a16="http://schemas.microsoft.com/office/drawing/2014/main" id="{DC0D8B0D-0377-C443-8782-247C4D9EE79D}"/>
              </a:ext>
            </a:extLst>
          </p:cNvPr>
          <p:cNvSpPr/>
          <p:nvPr/>
        </p:nvSpPr>
        <p:spPr>
          <a:xfrm rot="-3187806">
            <a:off x="1143000" y="3644900"/>
            <a:ext cx="3175000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VLbl">
            <a:extLst>
              <a:ext uri="{FF2B5EF4-FFF2-40B4-BE49-F238E27FC236}">
                <a16:creationId xmlns:a16="http://schemas.microsoft.com/office/drawing/2014/main" id="{4F2953FA-51DA-2740-8BCD-CA2710B23A8D}"/>
              </a:ext>
            </a:extLst>
          </p:cNvPr>
          <p:cNvSpPr txBox="1"/>
          <p:nvPr/>
        </p:nvSpPr>
        <p:spPr>
          <a:xfrm>
            <a:off x="1206500" y="3302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‖v‖ = 5</a:t>
            </a:r>
          </a:p>
        </p:txBody>
      </p:sp>
      <p:sp>
        <p:nvSpPr>
          <p:cNvPr id="49" name="RAngle1">
            <a:extLst>
              <a:ext uri="{FF2B5EF4-FFF2-40B4-BE49-F238E27FC236}">
                <a16:creationId xmlns:a16="http://schemas.microsoft.com/office/drawing/2014/main" id="{FCD2C2FD-A246-6146-B457-BB71C757F054}"/>
              </a:ext>
            </a:extLst>
          </p:cNvPr>
          <p:cNvSpPr/>
          <p:nvPr/>
        </p:nvSpPr>
        <p:spPr>
          <a:xfrm>
            <a:off x="3530600" y="4800600"/>
            <a:ext cx="1524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Angle2">
            <a:extLst>
              <a:ext uri="{FF2B5EF4-FFF2-40B4-BE49-F238E27FC236}">
                <a16:creationId xmlns:a16="http://schemas.microsoft.com/office/drawing/2014/main" id="{5A437FCA-4A3D-9B4D-8FAE-40164CE2E883}"/>
              </a:ext>
            </a:extLst>
          </p:cNvPr>
          <p:cNvSpPr/>
          <p:nvPr/>
        </p:nvSpPr>
        <p:spPr>
          <a:xfrm>
            <a:off x="3530600" y="4800600"/>
            <a:ext cx="12700" cy="1524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rigLbl">
            <a:extLst>
              <a:ext uri="{FF2B5EF4-FFF2-40B4-BE49-F238E27FC236}">
                <a16:creationId xmlns:a16="http://schemas.microsoft.com/office/drawing/2014/main" id="{EDF04951-7CA9-C642-AE29-AEE5BAF3325E}"/>
              </a:ext>
            </a:extLst>
          </p:cNvPr>
          <p:cNvSpPr txBox="1"/>
          <p:nvPr/>
        </p:nvSpPr>
        <p:spPr>
          <a:xfrm>
            <a:off x="1625600" y="5003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2" name="ECard">
            <a:extLst>
              <a:ext uri="{FF2B5EF4-FFF2-40B4-BE49-F238E27FC236}">
                <a16:creationId xmlns:a16="http://schemas.microsoft.com/office/drawing/2014/main" id="{AA5AC864-15CF-F24A-A099-147E121EEBF9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EHdr">
            <a:extLst>
              <a:ext uri="{FF2B5EF4-FFF2-40B4-BE49-F238E27FC236}">
                <a16:creationId xmlns:a16="http://schemas.microsoft.com/office/drawing/2014/main" id="{845FF739-0B23-C145-ACFB-43B8C8705B03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EHdrT">
            <a:extLst>
              <a:ext uri="{FF2B5EF4-FFF2-40B4-BE49-F238E27FC236}">
                <a16:creationId xmlns:a16="http://schemas.microsoft.com/office/drawing/2014/main" id="{081F79F4-B76B-284E-B776-0204B6F18426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Geometry of the norm</a:t>
            </a:r>
          </a:p>
        </p:txBody>
      </p:sp>
      <p:sp>
        <p:nvSpPr>
          <p:cNvPr id="55" name="E1">
            <a:extLst>
              <a:ext uri="{FF2B5EF4-FFF2-40B4-BE49-F238E27FC236}">
                <a16:creationId xmlns:a16="http://schemas.microsoft.com/office/drawing/2014/main" id="{DCD67B5C-3A36-6E44-BB2D-B223242A55D6}"/>
              </a:ext>
            </a:extLst>
          </p:cNvPr>
          <p:cNvSpPr txBox="1"/>
          <p:nvPr/>
        </p:nvSpPr>
        <p:spPr>
          <a:xfrm>
            <a:off x="8382000" y="184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Vector</a:t>
            </a:r>
          </a:p>
        </p:txBody>
      </p:sp>
      <p:sp>
        <p:nvSpPr>
          <p:cNvPr id="56" name="E1V">
            <a:extLst>
              <a:ext uri="{FF2B5EF4-FFF2-40B4-BE49-F238E27FC236}">
                <a16:creationId xmlns:a16="http://schemas.microsoft.com/office/drawing/2014/main" id="{B4395B7B-AD78-6947-A7E2-392559DA2BAF}"/>
              </a:ext>
            </a:extLst>
          </p:cNvPr>
          <p:cNvSpPr txBox="1"/>
          <p:nvPr/>
        </p:nvSpPr>
        <p:spPr>
          <a:xfrm>
            <a:off x="8382000" y="205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v = (3, 4)</a:t>
            </a:r>
          </a:p>
        </p:txBody>
      </p:sp>
      <p:sp>
        <p:nvSpPr>
          <p:cNvPr id="57" name="E2">
            <a:extLst>
              <a:ext uri="{FF2B5EF4-FFF2-40B4-BE49-F238E27FC236}">
                <a16:creationId xmlns:a16="http://schemas.microsoft.com/office/drawing/2014/main" id="{82F929FA-83AD-204D-8080-1623ABAA7720}"/>
              </a:ext>
            </a:extLst>
          </p:cNvPr>
          <p:cNvSpPr txBox="1"/>
          <p:nvPr/>
        </p:nvSpPr>
        <p:spPr>
          <a:xfrm>
            <a:off x="8382000" y="24765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Components form the legs</a:t>
            </a:r>
          </a:p>
        </p:txBody>
      </p:sp>
      <p:sp>
        <p:nvSpPr>
          <p:cNvPr id="58" name="E2V">
            <a:extLst>
              <a:ext uri="{FF2B5EF4-FFF2-40B4-BE49-F238E27FC236}">
                <a16:creationId xmlns:a16="http://schemas.microsoft.com/office/drawing/2014/main" id="{C76322F2-CE6A-D948-91F0-88E1AB386267}"/>
              </a:ext>
            </a:extLst>
          </p:cNvPr>
          <p:cNvSpPr txBox="1"/>
          <p:nvPr/>
        </p:nvSpPr>
        <p:spPr>
          <a:xfrm>
            <a:off x="8382000" y="2692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  <a:latin typeface="Arial"/>
                <a:cs typeface="Arial"/>
              </a:rPr>
              <a:t>v₁ = 3,  v₂ = 4</a:t>
            </a:r>
          </a:p>
        </p:txBody>
      </p:sp>
      <p:sp>
        <p:nvSpPr>
          <p:cNvPr id="59" name="E3">
            <a:extLst>
              <a:ext uri="{FF2B5EF4-FFF2-40B4-BE49-F238E27FC236}">
                <a16:creationId xmlns:a16="http://schemas.microsoft.com/office/drawing/2014/main" id="{4EBFB7CE-BA3B-0D45-A167-2110622B6CE8}"/>
              </a:ext>
            </a:extLst>
          </p:cNvPr>
          <p:cNvSpPr txBox="1"/>
          <p:nvPr/>
        </p:nvSpPr>
        <p:spPr>
          <a:xfrm>
            <a:off x="8382000" y="3111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777777"/>
                </a:solidFill>
                <a:latin typeface="Arial"/>
                <a:cs typeface="Arial"/>
              </a:rPr>
              <a:t>Apply Pythagoras</a:t>
            </a:r>
          </a:p>
        </p:txBody>
      </p:sp>
      <p:sp>
        <p:nvSpPr>
          <p:cNvPr id="60" name="E3V">
            <a:extLst>
              <a:ext uri="{FF2B5EF4-FFF2-40B4-BE49-F238E27FC236}">
                <a16:creationId xmlns:a16="http://schemas.microsoft.com/office/drawing/2014/main" id="{BC6BC213-8850-5A4B-917B-B3E49EA72EE5}"/>
              </a:ext>
            </a:extLst>
          </p:cNvPr>
          <p:cNvSpPr txBox="1"/>
          <p:nvPr/>
        </p:nvSpPr>
        <p:spPr>
          <a:xfrm>
            <a:off x="8382000" y="3327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‖v‖² = 3² + 4²</a:t>
            </a:r>
          </a:p>
        </p:txBody>
      </p:sp>
      <p:sp>
        <p:nvSpPr>
          <p:cNvPr id="61" name="E3W">
            <a:extLst>
              <a:ext uri="{FF2B5EF4-FFF2-40B4-BE49-F238E27FC236}">
                <a16:creationId xmlns:a16="http://schemas.microsoft.com/office/drawing/2014/main" id="{EABD64CA-56B0-024B-9340-F9A87E4BEDD5}"/>
              </a:ext>
            </a:extLst>
          </p:cNvPr>
          <p:cNvSpPr txBox="1"/>
          <p:nvPr/>
        </p:nvSpPr>
        <p:spPr>
          <a:xfrm>
            <a:off x="8382000" y="3581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 = √25 = 5</a:t>
            </a:r>
          </a:p>
        </p:txBody>
      </p:sp>
      <p:sp>
        <p:nvSpPr>
          <p:cNvPr id="62" name="EInsight">
            <a:extLst>
              <a:ext uri="{FF2B5EF4-FFF2-40B4-BE49-F238E27FC236}">
                <a16:creationId xmlns:a16="http://schemas.microsoft.com/office/drawing/2014/main" id="{07E4A93B-C390-5C4B-8BEB-68F1558C8D56}"/>
              </a:ext>
            </a:extLst>
          </p:cNvPr>
          <p:cNvSpPr/>
          <p:nvPr/>
        </p:nvSpPr>
        <p:spPr>
          <a:xfrm>
            <a:off x="8382000" y="3962400"/>
            <a:ext cx="3175000" cy="1460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EInsightT">
            <a:extLst>
              <a:ext uri="{FF2B5EF4-FFF2-40B4-BE49-F238E27FC236}">
                <a16:creationId xmlns:a16="http://schemas.microsoft.com/office/drawing/2014/main" id="{B0DEFA95-EECE-9C4A-AE05-3BA9BC71C157}"/>
              </a:ext>
            </a:extLst>
          </p:cNvPr>
          <p:cNvSpPr txBox="1"/>
          <p:nvPr/>
        </p:nvSpPr>
        <p:spPr>
          <a:xfrm>
            <a:off x="8509000" y="4038600"/>
            <a:ext cx="2971800" cy="1333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  <a:latin typeface="Arial"/>
                <a:cs typeface="Arial"/>
              </a:rPr>
              <a:t>Key intuition
The norm IS the hypotenuse —
the straight-line length from the
origin to the tip of v.
In ℝⁿ: same idea, more legs.</a:t>
            </a:r>
          </a:p>
        </p:txBody>
      </p:sp>
      <p:sp>
        <p:nvSpPr>
          <p:cNvPr id="64" name="TkBar">
            <a:extLst>
              <a:ext uri="{FF2B5EF4-FFF2-40B4-BE49-F238E27FC236}">
                <a16:creationId xmlns:a16="http://schemas.microsoft.com/office/drawing/2014/main" id="{6F3EE6A4-6ABC-5F4A-BC34-085350FAB29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kText">
            <a:extLst>
              <a:ext uri="{FF2B5EF4-FFF2-40B4-BE49-F238E27FC236}">
                <a16:creationId xmlns:a16="http://schemas.microsoft.com/office/drawing/2014/main" id="{AB38077D-000F-364D-B4B6-0C09959147D8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‖v‖ = √(v₁² + v₂²) — the Pythagorean theorem applied to a vector's coordinates</a:t>
            </a:r>
          </a:p>
        </p:txBody>
      </p:sp>
    </p:spTree>
    <p:extLst>
      <p:ext uri="{BB962C8B-B14F-4D97-AF65-F5344CB8AC3E}">
        <p14:creationId xmlns:p14="http://schemas.microsoft.com/office/powerpoint/2010/main" val="251898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8CFA86AC-1E69-0647-8389-67C65B3ACA7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9B1290-571A-6F46-9945-0FDFDE05B43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Compute the Norm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C5EB7AE-4718-1D47-B33E-0E76BB846A3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 simple 2-vector — verify by Pythagoras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49E6BBD-6275-6C4C-8938-2DA79273454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F76E4A6-258D-EC42-9FA6-64EAD4B5FBB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DDFD01A0-1B27-4342-9913-01A6441C80C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D144A5E0-4E05-9B4E-AB8B-FE124C9C45ED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>
                <a:solidFill>
                  <a:srgbClr val="333333"/>
                </a:solidFill>
                <a:latin typeface="Cambria Math"/>
                <a:ea typeface="Cambria Math"/>
              </a:rPr>
              <a:t>Compute  ‖v‖   for   v = (5, 12)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07C80572-B2DF-D74C-9AA3-B3E5C9060A95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D2261A87-D806-CD4B-988D-78F97A27B1D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7AD023F1-00BA-B14D-98B5-63EADA48CE5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4D6D35D2-0BF8-F941-88BB-86F25BBAB82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1.  Square each component:   5² = 25,   12² = 144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274316AD-82FF-644C-AFF1-89FEA3377C7C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Sum:   25 + 144 = 169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0750A34-2357-7C42-A2EC-C8B897885A91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Take the square root:   ‖v‖ = √169 = 13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17DF0EC7-D187-BF45-9852-FC9BA64310C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check:  (5, 12, 13) is a classic Pythagorean triple.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3E2BAE80-ECC0-E946-A8E1-601879573503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‖v‖ = 13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80954925-1DC7-7944-9635-591E4D1707E0}"/>
              </a:ext>
            </a:extLst>
          </p:cNvPr>
          <p:cNvSpPr/>
          <p:nvPr/>
        </p:nvSpPr>
        <p:spPr>
          <a:xfrm>
            <a:off x="0" y="5588686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36F6752-3CC7-B241-922C-90602D6E36D8}"/>
              </a:ext>
            </a:extLst>
          </p:cNvPr>
          <p:cNvSpPr txBox="1"/>
          <p:nvPr/>
        </p:nvSpPr>
        <p:spPr>
          <a:xfrm>
            <a:off x="381000" y="5652186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Square, sum, root — the L² norm in three steps</a:t>
            </a:r>
          </a:p>
        </p:txBody>
      </p:sp>
    </p:spTree>
    <p:extLst>
      <p:ext uri="{BB962C8B-B14F-4D97-AF65-F5344CB8AC3E}">
        <p14:creationId xmlns:p14="http://schemas.microsoft.com/office/powerpoint/2010/main" val="405114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B6427D20-873F-9A44-9FF6-1189B9B86B9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947D6F66-FC0F-8C4F-9BFA-769535F8F7F7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Compute the Norm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5FE90836-B2F7-9945-BF71-B00E12790B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Same recipe in higher dimensions — and normalize to a unit vector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05D7F9B7-226F-DD41-9D5C-5B98AA4BD571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77377127-4E50-2946-BE9F-BDEA2A923FF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13FA5010-ABE1-F349-BA7C-6F610463DC47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8E452BD4-29B2-5041-8F89-22C31AE3549A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‖u‖  and the unit vector  û = u / ‖u‖   for   u = (2, −2, 1)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A379BAAE-6304-BB4B-A2C1-E601BF452FDB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7B9CF388-B598-6F41-8C74-C261DA18C7F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9D71E8E3-90A0-D744-8E16-1495522A167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4CD1F519-90FC-E84F-9AF7-F2A2D33A7BB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1.  Square components:   2² = 4,   (−2)² = 4,   1² = 1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2B69C2DF-74F3-AB45-9B72-914538D5E776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Sum and root:   ‖u‖ = √(4 + 4 + 1) = √9 = 3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F92742EA-8F72-134C-968A-8C4B07123C66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Divide each component by ‖u‖:   û = (2/3, −2/3, 1/3)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36A2803C-1BB2-4343-986B-5562AD5B31B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Check:  ‖û‖ = √(4/9 + 4/9 + 1/9) = √1 = 1  ✓  (unit length, as required)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91DE197B-3BF9-E641-98BC-7C6C38E2868A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  <a:latin typeface="Cambria Math"/>
                <a:ea typeface="Cambria Math"/>
              </a:rPr>
              <a:t>Answer:   ‖u‖ = 3,   û = (2/3, −2/3, 1/3)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79478BF8-CDBB-8842-9D87-8D190DB189E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873261F0-14B9-FF41-9EF7-7F5F23F6550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Dividing by ‖v‖ produces a unit vector — same direction, length 1</a:t>
            </a:r>
          </a:p>
        </p:txBody>
      </p:sp>
    </p:spTree>
    <p:extLst>
      <p:ext uri="{BB962C8B-B14F-4D97-AF65-F5344CB8AC3E}">
        <p14:creationId xmlns:p14="http://schemas.microsoft.com/office/powerpoint/2010/main" val="170039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C174CD9-9CE7-6544-A714-7B506FD408D5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C0C6336-20C2-4C49-B701-060CDD8037E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Norm as Distance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7537893-4D74-7240-9336-9C9DA553B38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Use the norm of a difference to measure the distance between two points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E3D79DA-D074-1D4F-9AE2-E48BAFF69A2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8B556B4-41EB-BA4F-84E8-4413A5A7930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6CD07F74-8CDF-174B-9B9C-4FAF1FC77D9D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ECFE7AF6-934E-704E-9A1F-A0768B75527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the distance  d(p, q) = ‖p − q‖   for   p = (1, 7, 3, 2)   and   q = (4, 3, 0, 4)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A1A0F87-5B0A-0C41-BAA2-9422B5B326B4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8C3FD87A-6048-5C41-95FC-98849986E13F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DB23EFF-55F9-A543-AC66-91949636929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BBC27940-FC49-974C-8550-3E010E9C9F1F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1.  Subtract componentwise:   p − q = (1−4, 7−3, 3−0, 2−4) = (−3, 4, 3, −2)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B308A530-6124-6D45-96F0-DC9DE7249AF4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Square each:   (−3)² = 9,   4² = 16,   3² = 9,   (−2)² = 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203636E5-FC72-4B4F-8BE3-49CC5598DC05}"/>
              </a:ext>
            </a:extLst>
          </p:cNvPr>
          <p:cNvSpPr txBox="1"/>
          <p:nvPr/>
        </p:nvSpPr>
        <p:spPr>
          <a:xfrm>
            <a:off x="558800" y="4191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3.  Sum and root:   ‖p − q‖ = √(9 + 16 + 9 + 4) = √38 ≈ 6.16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01C6BE67-F5CC-1D40-8281-66887221CA5F}"/>
              </a:ext>
            </a:extLst>
          </p:cNvPr>
          <p:cNvSpPr txBox="1"/>
          <p:nvPr/>
        </p:nvSpPr>
        <p:spPr>
          <a:xfrm>
            <a:off x="558800" y="449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Note:  the result is symmetric — ‖p − q‖ = ‖q − p‖, since squaring kills the sign.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DCF9F97-F23F-C245-BAFD-E4B5DDA6BB6F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d(p, q) = √38 ≈ 6.16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46E05C6-049C-7746-85E9-2A760905E36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CCD6D63B-5DEB-7A44-82CF-0674A7AB066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d(p, q) = ‖p − q‖  —  the norm of the difference IS the Euclidean distance</a:t>
            </a:r>
          </a:p>
        </p:txBody>
      </p:sp>
    </p:spTree>
    <p:extLst>
      <p:ext uri="{BB962C8B-B14F-4D97-AF65-F5344CB8AC3E}">
        <p14:creationId xmlns:p14="http://schemas.microsoft.com/office/powerpoint/2010/main" val="330411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341C490-AD07-0A4A-A1A2-DC90D316E11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3951139-1D44-614E-A9E1-CDCF201F9D4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Cosine Similarity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7ED4DBF-972C-EB40-AC19-E076C9D408D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Measuring similarity by direction, not magnitude — the workhorse of NLP and recommendation systems</a:t>
            </a:r>
          </a:p>
        </p:txBody>
      </p:sp>
      <p:sp>
        <p:nvSpPr>
          <p:cNvPr id="5" name="DefBox">
            <a:extLst>
              <a:ext uri="{FF2B5EF4-FFF2-40B4-BE49-F238E27FC236}">
                <a16:creationId xmlns:a16="http://schemas.microsoft.com/office/drawing/2014/main" id="{A8389C4D-E98C-6043-AFB4-24B704F92373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Lbl">
            <a:extLst>
              <a:ext uri="{FF2B5EF4-FFF2-40B4-BE49-F238E27FC236}">
                <a16:creationId xmlns:a16="http://schemas.microsoft.com/office/drawing/2014/main" id="{58AB15DA-7E51-A14B-A572-FD0D8FCD093E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7" name="DefEq">
            <a:extLst>
              <a:ext uri="{FF2B5EF4-FFF2-40B4-BE49-F238E27FC236}">
                <a16:creationId xmlns:a16="http://schemas.microsoft.com/office/drawing/2014/main" id="{18C390A3-0FCB-B245-B641-669F13807124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cos(</a:t>
            </a:r>
            <a:r>
              <a:rPr lang="el-GR" sz="2000">
                <a:solidFill>
                  <a:srgbClr val="333333"/>
                </a:solidFill>
                <a:latin typeface="Cambria Math"/>
                <a:ea typeface="Cambria Math"/>
              </a:rPr>
              <a:t>θ)  =  (</a:t>
            </a:r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u · v) / (‖u‖ · ‖v‖)</a:t>
            </a:r>
          </a:p>
        </p:txBody>
      </p:sp>
      <p:sp>
        <p:nvSpPr>
          <p:cNvPr id="8" name="DefNote">
            <a:extLst>
              <a:ext uri="{FF2B5EF4-FFF2-40B4-BE49-F238E27FC236}">
                <a16:creationId xmlns:a16="http://schemas.microsoft.com/office/drawing/2014/main" id="{B5230F30-AE92-8345-8F32-7CA70641BC0F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Take the dot product, divide by the product of magnitudes. Result lives in [−1, 1].</a:t>
            </a:r>
          </a:p>
        </p:txBody>
      </p:sp>
      <p:sp>
        <p:nvSpPr>
          <p:cNvPr id="9" name="Card30">
            <a:extLst>
              <a:ext uri="{FF2B5EF4-FFF2-40B4-BE49-F238E27FC236}">
                <a16:creationId xmlns:a16="http://schemas.microsoft.com/office/drawing/2014/main" id="{F295CED4-5B47-E04C-B2C2-E620283D70B7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Hdr30">
            <a:extLst>
              <a:ext uri="{FF2B5EF4-FFF2-40B4-BE49-F238E27FC236}">
                <a16:creationId xmlns:a16="http://schemas.microsoft.com/office/drawing/2014/main" id="{E20E10CA-89FE-BA49-A98B-4FA69EFB5324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Title30">
            <a:extLst>
              <a:ext uri="{FF2B5EF4-FFF2-40B4-BE49-F238E27FC236}">
                <a16:creationId xmlns:a16="http://schemas.microsoft.com/office/drawing/2014/main" id="{9C14B82C-51FC-C24B-9BC0-2CC0B56ECB18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captures</a:t>
            </a:r>
          </a:p>
        </p:txBody>
      </p:sp>
      <p:sp>
        <p:nvSpPr>
          <p:cNvPr id="12" name="CardBody30">
            <a:extLst>
              <a:ext uri="{FF2B5EF4-FFF2-40B4-BE49-F238E27FC236}">
                <a16:creationId xmlns:a16="http://schemas.microsoft.com/office/drawing/2014/main" id="{71CBF220-156F-E449-A17B-E1F322B6D51E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The cosine of the angle between
two vectors.
• +1 → same direction
• 0 → perpendicular (unrelated)
• −1 → opposite direction
Magnitude is normalized away.</a:t>
            </a:r>
          </a:p>
        </p:txBody>
      </p:sp>
      <p:sp>
        <p:nvSpPr>
          <p:cNvPr id="13" name="Card335">
            <a:extLst>
              <a:ext uri="{FF2B5EF4-FFF2-40B4-BE49-F238E27FC236}">
                <a16:creationId xmlns:a16="http://schemas.microsoft.com/office/drawing/2014/main" id="{CA37452D-C04B-5341-BFDE-068298D10AC7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CardHdr335">
            <a:extLst>
              <a:ext uri="{FF2B5EF4-FFF2-40B4-BE49-F238E27FC236}">
                <a16:creationId xmlns:a16="http://schemas.microsoft.com/office/drawing/2014/main" id="{5E3ED804-32FB-9647-BF3D-3C84BCF8BBDA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CardTitle335">
            <a:extLst>
              <a:ext uri="{FF2B5EF4-FFF2-40B4-BE49-F238E27FC236}">
                <a16:creationId xmlns:a16="http://schemas.microsoft.com/office/drawing/2014/main" id="{CBDBC158-0B1D-A540-A3EB-0B8638DA221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16" name="CardBody335">
            <a:extLst>
              <a:ext uri="{FF2B5EF4-FFF2-40B4-BE49-F238E27FC236}">
                <a16:creationId xmlns:a16="http://schemas.microsoft.com/office/drawing/2014/main" id="{0C4DFDC9-34E4-134C-9312-5DDC22734D09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Project u onto v and measure
how much they align.
Long &amp; short vectors with the
same direction get score 1 —
only angle matters, not length.
Scale-invariant similarity.</a:t>
            </a:r>
          </a:p>
        </p:txBody>
      </p:sp>
      <p:sp>
        <p:nvSpPr>
          <p:cNvPr id="17" name="Card640">
            <a:extLst>
              <a:ext uri="{FF2B5EF4-FFF2-40B4-BE49-F238E27FC236}">
                <a16:creationId xmlns:a16="http://schemas.microsoft.com/office/drawing/2014/main" id="{B62F9409-3938-BD48-9944-A23A3C8ECBE9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CardHdr640">
            <a:extLst>
              <a:ext uri="{FF2B5EF4-FFF2-40B4-BE49-F238E27FC236}">
                <a16:creationId xmlns:a16="http://schemas.microsoft.com/office/drawing/2014/main" id="{F31C3F2C-816B-ED41-8532-61E294A0EF51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A0F02849-C765-EA4D-9E7D-6B9AEF8B07AC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18DD293E-246B-5E4F-B0DA-201409951F2D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Used everywhere similarity
matters but length doesn't:
• Document similarity (TF-IDF)
• Word &amp; sentence embeddings
• Recommender systems
• Face/image retrieval
• Nearest-neighbor in ML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A9F40E6A-A2CE-CE49-8010-E30D433AEEE6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B99FADAB-61DA-1D47-B9D8-887EB97F7295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mbria Math"/>
                <a:ea typeface="Cambria Math"/>
              </a:rPr>
              <a:t>Key insight:   cos(</a:t>
            </a:r>
            <a:r>
              <a:rPr lang="el-GR" sz="1300" b="1" dirty="0">
                <a:solidFill>
                  <a:srgbClr val="FFFFFF"/>
                </a:solidFill>
                <a:latin typeface="Cambria Math"/>
                <a:ea typeface="Cambria Math"/>
              </a:rPr>
              <a:t>θ) </a:t>
            </a:r>
            <a:r>
              <a:rPr lang="en-US" sz="1300" b="1" dirty="0">
                <a:solidFill>
                  <a:srgbClr val="FFFFFF"/>
                </a:solidFill>
                <a:latin typeface="Cambria Math"/>
                <a:ea typeface="Cambria Math"/>
              </a:rPr>
              <a:t>ignores ‖u‖ and ‖v‖ — only the angle between u and v decides similarity.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1021AFA2-11A8-E945-B24D-F964B8038E7A}"/>
              </a:ext>
            </a:extLst>
          </p:cNvPr>
          <p:cNvSpPr/>
          <p:nvPr/>
        </p:nvSpPr>
        <p:spPr>
          <a:xfrm>
            <a:off x="0" y="5767863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09D41E2F-C17C-F241-BEC2-8BCD65FF46C0}"/>
              </a:ext>
            </a:extLst>
          </p:cNvPr>
          <p:cNvSpPr txBox="1"/>
          <p:nvPr/>
        </p:nvSpPr>
        <p:spPr>
          <a:xfrm>
            <a:off x="381000" y="5831363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Cosine similarity = angle-based similarity, scale-invariant, bounded in [−1, 1]</a:t>
            </a:r>
          </a:p>
        </p:txBody>
      </p:sp>
    </p:spTree>
    <p:extLst>
      <p:ext uri="{BB962C8B-B14F-4D97-AF65-F5344CB8AC3E}">
        <p14:creationId xmlns:p14="http://schemas.microsoft.com/office/powerpoint/2010/main" val="408607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36" grpId="0"/>
      <p:bldP spid="37" grpId="0"/>
      <p:bldP spid="38" grpId="0" animBg="1"/>
      <p:bldP spid="39" grpId="0"/>
      <p:bldP spid="40" grpId="0" animBg="1"/>
      <p:bldP spid="4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8E12361-CE42-354A-B987-1CB8620075C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1B2F753-997B-5240-BAC6-F9820089085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Cosine Similarity — 2D Geometric Intuition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EEC257F0-B3DE-8F43-BF75-0F85C7D1EA2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Three pairs of vectors at different angles → three similarity scores</a:t>
            </a:r>
          </a:p>
        </p:txBody>
      </p:sp>
      <p:sp>
        <p:nvSpPr>
          <p:cNvPr id="22" name="Plot30">
            <a:extLst>
              <a:ext uri="{FF2B5EF4-FFF2-40B4-BE49-F238E27FC236}">
                <a16:creationId xmlns:a16="http://schemas.microsoft.com/office/drawing/2014/main" id="{0F6382D0-ACBB-E941-A774-A01B41FDBEF7}"/>
              </a:ext>
            </a:extLst>
          </p:cNvPr>
          <p:cNvSpPr/>
          <p:nvPr/>
        </p:nvSpPr>
        <p:spPr>
          <a:xfrm>
            <a:off x="38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PlotTitle30">
            <a:extLst>
              <a:ext uri="{FF2B5EF4-FFF2-40B4-BE49-F238E27FC236}">
                <a16:creationId xmlns:a16="http://schemas.microsoft.com/office/drawing/2014/main" id="{C961529E-92FA-CF40-85A3-79D0AF82941A}"/>
              </a:ext>
            </a:extLst>
          </p:cNvPr>
          <p:cNvSpPr txBox="1"/>
          <p:nvPr/>
        </p:nvSpPr>
        <p:spPr>
          <a:xfrm>
            <a:off x="38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Aligned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≈ 25°)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24" name="Ax30">
            <a:extLst>
              <a:ext uri="{FF2B5EF4-FFF2-40B4-BE49-F238E27FC236}">
                <a16:creationId xmlns:a16="http://schemas.microsoft.com/office/drawing/2014/main" id="{5C035EE0-E30E-E842-9901-6A487712A673}"/>
              </a:ext>
            </a:extLst>
          </p:cNvPr>
          <p:cNvSpPr/>
          <p:nvPr/>
        </p:nvSpPr>
        <p:spPr>
          <a:xfrm>
            <a:off x="50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Ay30">
            <a:extLst>
              <a:ext uri="{FF2B5EF4-FFF2-40B4-BE49-F238E27FC236}">
                <a16:creationId xmlns:a16="http://schemas.microsoft.com/office/drawing/2014/main" id="{555A5C98-2474-9C40-A20D-CB92CB9D8443}"/>
              </a:ext>
            </a:extLst>
          </p:cNvPr>
          <p:cNvSpPr/>
          <p:nvPr/>
        </p:nvSpPr>
        <p:spPr>
          <a:xfrm>
            <a:off x="228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U30">
            <a:extLst>
              <a:ext uri="{FF2B5EF4-FFF2-40B4-BE49-F238E27FC236}">
                <a16:creationId xmlns:a16="http://schemas.microsoft.com/office/drawing/2014/main" id="{1389F91B-71B6-4341-9658-60C46F89A9B4}"/>
              </a:ext>
            </a:extLst>
          </p:cNvPr>
          <p:cNvSpPr/>
          <p:nvPr/>
        </p:nvSpPr>
        <p:spPr>
          <a:xfrm rot="-1800000">
            <a:off x="2217940" y="2635250"/>
            <a:ext cx="1016000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V30">
            <a:extLst>
              <a:ext uri="{FF2B5EF4-FFF2-40B4-BE49-F238E27FC236}">
                <a16:creationId xmlns:a16="http://schemas.microsoft.com/office/drawing/2014/main" id="{F1C3D72A-D41A-424A-8B90-02F7E3480E35}"/>
              </a:ext>
            </a:extLst>
          </p:cNvPr>
          <p:cNvSpPr/>
          <p:nvPr/>
        </p:nvSpPr>
        <p:spPr>
          <a:xfrm rot="-3300000">
            <a:off x="2069376" y="2473120"/>
            <a:ext cx="1016000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Ulbl30">
            <a:extLst>
              <a:ext uri="{FF2B5EF4-FFF2-40B4-BE49-F238E27FC236}">
                <a16:creationId xmlns:a16="http://schemas.microsoft.com/office/drawing/2014/main" id="{0AEE3890-2C91-3942-925E-1901E930F9B2}"/>
              </a:ext>
            </a:extLst>
          </p:cNvPr>
          <p:cNvSpPr txBox="1"/>
          <p:nvPr/>
        </p:nvSpPr>
        <p:spPr>
          <a:xfrm>
            <a:off x="321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29" name="Vlbl30">
            <a:extLst>
              <a:ext uri="{FF2B5EF4-FFF2-40B4-BE49-F238E27FC236}">
                <a16:creationId xmlns:a16="http://schemas.microsoft.com/office/drawing/2014/main" id="{7D4863EB-29FA-0743-A052-8072D926EA82}"/>
              </a:ext>
            </a:extLst>
          </p:cNvPr>
          <p:cNvSpPr txBox="1"/>
          <p:nvPr/>
        </p:nvSpPr>
        <p:spPr>
          <a:xfrm>
            <a:off x="2919553" y="1987141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30" name="Tlbl30">
            <a:extLst>
              <a:ext uri="{FF2B5EF4-FFF2-40B4-BE49-F238E27FC236}">
                <a16:creationId xmlns:a16="http://schemas.microsoft.com/office/drawing/2014/main" id="{875BB65F-8108-084E-A8D4-E70074E2AF89}"/>
              </a:ext>
            </a:extLst>
          </p:cNvPr>
          <p:cNvSpPr txBox="1"/>
          <p:nvPr/>
        </p:nvSpPr>
        <p:spPr>
          <a:xfrm>
            <a:off x="238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1" name="Sbar30">
            <a:extLst>
              <a:ext uri="{FF2B5EF4-FFF2-40B4-BE49-F238E27FC236}">
                <a16:creationId xmlns:a16="http://schemas.microsoft.com/office/drawing/2014/main" id="{407FB93E-BA1A-5B40-9F87-B15BE13AD328}"/>
              </a:ext>
            </a:extLst>
          </p:cNvPr>
          <p:cNvSpPr/>
          <p:nvPr/>
        </p:nvSpPr>
        <p:spPr>
          <a:xfrm>
            <a:off x="381000" y="3784600"/>
            <a:ext cx="3810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Slbl30">
            <a:extLst>
              <a:ext uri="{FF2B5EF4-FFF2-40B4-BE49-F238E27FC236}">
                <a16:creationId xmlns:a16="http://schemas.microsoft.com/office/drawing/2014/main" id="{322356B7-9729-8342-ADDD-E69D1C9A963B}"/>
              </a:ext>
            </a:extLst>
          </p:cNvPr>
          <p:cNvSpPr txBox="1"/>
          <p:nvPr/>
        </p:nvSpPr>
        <p:spPr>
          <a:xfrm>
            <a:off x="38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≈ 0.91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33" name="Plot330">
            <a:extLst>
              <a:ext uri="{FF2B5EF4-FFF2-40B4-BE49-F238E27FC236}">
                <a16:creationId xmlns:a16="http://schemas.microsoft.com/office/drawing/2014/main" id="{2E29681F-F737-E749-8D76-2E55899C340B}"/>
              </a:ext>
            </a:extLst>
          </p:cNvPr>
          <p:cNvSpPr/>
          <p:nvPr/>
        </p:nvSpPr>
        <p:spPr>
          <a:xfrm>
            <a:off x="419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PlotTitle330">
            <a:extLst>
              <a:ext uri="{FF2B5EF4-FFF2-40B4-BE49-F238E27FC236}">
                <a16:creationId xmlns:a16="http://schemas.microsoft.com/office/drawing/2014/main" id="{1290AC0A-EF63-814E-B01D-237F4696475E}"/>
              </a:ext>
            </a:extLst>
          </p:cNvPr>
          <p:cNvSpPr txBox="1"/>
          <p:nvPr/>
        </p:nvSpPr>
        <p:spPr>
          <a:xfrm>
            <a:off x="419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Orthogonal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= 90°)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5" name="Ax330">
            <a:extLst>
              <a:ext uri="{FF2B5EF4-FFF2-40B4-BE49-F238E27FC236}">
                <a16:creationId xmlns:a16="http://schemas.microsoft.com/office/drawing/2014/main" id="{0D0F47A5-7F69-9247-966F-853651077330}"/>
              </a:ext>
            </a:extLst>
          </p:cNvPr>
          <p:cNvSpPr/>
          <p:nvPr/>
        </p:nvSpPr>
        <p:spPr>
          <a:xfrm>
            <a:off x="431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Ay330">
            <a:extLst>
              <a:ext uri="{FF2B5EF4-FFF2-40B4-BE49-F238E27FC236}">
                <a16:creationId xmlns:a16="http://schemas.microsoft.com/office/drawing/2014/main" id="{5E71E820-50DE-F74B-B992-1EF561A631A5}"/>
              </a:ext>
            </a:extLst>
          </p:cNvPr>
          <p:cNvSpPr/>
          <p:nvPr/>
        </p:nvSpPr>
        <p:spPr>
          <a:xfrm>
            <a:off x="609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U330">
            <a:extLst>
              <a:ext uri="{FF2B5EF4-FFF2-40B4-BE49-F238E27FC236}">
                <a16:creationId xmlns:a16="http://schemas.microsoft.com/office/drawing/2014/main" id="{21B1E03F-4F21-344C-BAB2-60BABD8DA9D8}"/>
              </a:ext>
            </a:extLst>
          </p:cNvPr>
          <p:cNvSpPr/>
          <p:nvPr/>
        </p:nvSpPr>
        <p:spPr>
          <a:xfrm rot="-1800000">
            <a:off x="6027940" y="2635250"/>
            <a:ext cx="1015999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330">
            <a:extLst>
              <a:ext uri="{FF2B5EF4-FFF2-40B4-BE49-F238E27FC236}">
                <a16:creationId xmlns:a16="http://schemas.microsoft.com/office/drawing/2014/main" id="{775D5D23-1F2F-CB41-9025-F6F2C33704DD}"/>
              </a:ext>
            </a:extLst>
          </p:cNvPr>
          <p:cNvSpPr/>
          <p:nvPr/>
        </p:nvSpPr>
        <p:spPr>
          <a:xfrm rot="-7200000">
            <a:off x="5334000" y="2449309"/>
            <a:ext cx="1016000" cy="63500"/>
          </a:xfrm>
          <a:prstGeom prst="rightArrow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Ulbl330">
            <a:extLst>
              <a:ext uri="{FF2B5EF4-FFF2-40B4-BE49-F238E27FC236}">
                <a16:creationId xmlns:a16="http://schemas.microsoft.com/office/drawing/2014/main" id="{8B76B8BF-04CB-DC44-8160-84D7407E84FE}"/>
              </a:ext>
            </a:extLst>
          </p:cNvPr>
          <p:cNvSpPr txBox="1"/>
          <p:nvPr/>
        </p:nvSpPr>
        <p:spPr>
          <a:xfrm>
            <a:off x="702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46" name="Vlbl330">
            <a:extLst>
              <a:ext uri="{FF2B5EF4-FFF2-40B4-BE49-F238E27FC236}">
                <a16:creationId xmlns:a16="http://schemas.microsoft.com/office/drawing/2014/main" id="{9CDCEF98-5C94-674B-A817-E50AB80CED2D}"/>
              </a:ext>
            </a:extLst>
          </p:cNvPr>
          <p:cNvSpPr txBox="1"/>
          <p:nvPr/>
        </p:nvSpPr>
        <p:spPr>
          <a:xfrm>
            <a:off x="5638800" y="1939518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47" name="Tlbl330">
            <a:extLst>
              <a:ext uri="{FF2B5EF4-FFF2-40B4-BE49-F238E27FC236}">
                <a16:creationId xmlns:a16="http://schemas.microsoft.com/office/drawing/2014/main" id="{55A9DB4D-2182-5C40-8674-4DB2790E2811}"/>
              </a:ext>
            </a:extLst>
          </p:cNvPr>
          <p:cNvSpPr txBox="1"/>
          <p:nvPr/>
        </p:nvSpPr>
        <p:spPr>
          <a:xfrm>
            <a:off x="619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48" name="Sbar330">
            <a:extLst>
              <a:ext uri="{FF2B5EF4-FFF2-40B4-BE49-F238E27FC236}">
                <a16:creationId xmlns:a16="http://schemas.microsoft.com/office/drawing/2014/main" id="{03579FD0-6BFB-914D-8FA3-9D07B6D084D3}"/>
              </a:ext>
            </a:extLst>
          </p:cNvPr>
          <p:cNvSpPr/>
          <p:nvPr/>
        </p:nvSpPr>
        <p:spPr>
          <a:xfrm>
            <a:off x="4191000" y="3784600"/>
            <a:ext cx="3810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Slbl330">
            <a:extLst>
              <a:ext uri="{FF2B5EF4-FFF2-40B4-BE49-F238E27FC236}">
                <a16:creationId xmlns:a16="http://schemas.microsoft.com/office/drawing/2014/main" id="{C4D3F594-48D2-924A-870F-408A27AC6132}"/>
              </a:ext>
            </a:extLst>
          </p:cNvPr>
          <p:cNvSpPr txBox="1"/>
          <p:nvPr/>
        </p:nvSpPr>
        <p:spPr>
          <a:xfrm>
            <a:off x="419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= 0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50" name="Plot630">
            <a:extLst>
              <a:ext uri="{FF2B5EF4-FFF2-40B4-BE49-F238E27FC236}">
                <a16:creationId xmlns:a16="http://schemas.microsoft.com/office/drawing/2014/main" id="{32C18911-BF10-CE4D-A352-D40CC4C9E61B}"/>
              </a:ext>
            </a:extLst>
          </p:cNvPr>
          <p:cNvSpPr/>
          <p:nvPr/>
        </p:nvSpPr>
        <p:spPr>
          <a:xfrm>
            <a:off x="8001000" y="1270000"/>
            <a:ext cx="3810000" cy="2921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PlotTitle630">
            <a:extLst>
              <a:ext uri="{FF2B5EF4-FFF2-40B4-BE49-F238E27FC236}">
                <a16:creationId xmlns:a16="http://schemas.microsoft.com/office/drawing/2014/main" id="{9DF98ED4-799D-F342-AB87-3BB7FC04C38D}"/>
              </a:ext>
            </a:extLst>
          </p:cNvPr>
          <p:cNvSpPr txBox="1"/>
          <p:nvPr/>
        </p:nvSpPr>
        <p:spPr>
          <a:xfrm>
            <a:off x="8001000" y="137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Opposite (</a:t>
            </a:r>
            <a:r>
              <a:rPr lang="el-GR" sz="1200" b="1">
                <a:solidFill>
                  <a:srgbClr val="333333"/>
                </a:solidFill>
                <a:latin typeface="Arial"/>
                <a:cs typeface="Arial"/>
              </a:rPr>
              <a:t>θ ≈ 155°)</a:t>
            </a:r>
            <a:endParaRPr lang="en-US" sz="1200" b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2" name="Ax630">
            <a:extLst>
              <a:ext uri="{FF2B5EF4-FFF2-40B4-BE49-F238E27FC236}">
                <a16:creationId xmlns:a16="http://schemas.microsoft.com/office/drawing/2014/main" id="{E4C74467-9578-B44A-B601-F94E7C44A86E}"/>
              </a:ext>
            </a:extLst>
          </p:cNvPr>
          <p:cNvSpPr/>
          <p:nvPr/>
        </p:nvSpPr>
        <p:spPr>
          <a:xfrm>
            <a:off x="8128000" y="2921000"/>
            <a:ext cx="3556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Ay630">
            <a:extLst>
              <a:ext uri="{FF2B5EF4-FFF2-40B4-BE49-F238E27FC236}">
                <a16:creationId xmlns:a16="http://schemas.microsoft.com/office/drawing/2014/main" id="{601E0A08-79F2-DF41-B255-51AB8BC8BFF5}"/>
              </a:ext>
            </a:extLst>
          </p:cNvPr>
          <p:cNvSpPr/>
          <p:nvPr/>
        </p:nvSpPr>
        <p:spPr>
          <a:xfrm>
            <a:off x="9906000" y="1714500"/>
            <a:ext cx="12700" cy="2286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U630">
            <a:extLst>
              <a:ext uri="{FF2B5EF4-FFF2-40B4-BE49-F238E27FC236}">
                <a16:creationId xmlns:a16="http://schemas.microsoft.com/office/drawing/2014/main" id="{3BCED691-C5E1-6740-AAB9-A0BDACF2051D}"/>
              </a:ext>
            </a:extLst>
          </p:cNvPr>
          <p:cNvSpPr/>
          <p:nvPr/>
        </p:nvSpPr>
        <p:spPr>
          <a:xfrm rot="-1800000">
            <a:off x="9837940" y="2635250"/>
            <a:ext cx="1015999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V630">
            <a:extLst>
              <a:ext uri="{FF2B5EF4-FFF2-40B4-BE49-F238E27FC236}">
                <a16:creationId xmlns:a16="http://schemas.microsoft.com/office/drawing/2014/main" id="{0CF03C3A-4F2B-D14C-8C4D-1095ECFEB9AA}"/>
              </a:ext>
            </a:extLst>
          </p:cNvPr>
          <p:cNvSpPr/>
          <p:nvPr/>
        </p:nvSpPr>
        <p:spPr>
          <a:xfrm rot="10500000">
            <a:off x="8891933" y="2933525"/>
            <a:ext cx="1016000" cy="635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Ulbl630">
            <a:extLst>
              <a:ext uri="{FF2B5EF4-FFF2-40B4-BE49-F238E27FC236}">
                <a16:creationId xmlns:a16="http://schemas.microsoft.com/office/drawing/2014/main" id="{57C9E39E-365E-4D46-B5D4-DA9AAC6B94DB}"/>
              </a:ext>
            </a:extLst>
          </p:cNvPr>
          <p:cNvSpPr txBox="1"/>
          <p:nvPr/>
        </p:nvSpPr>
        <p:spPr>
          <a:xfrm>
            <a:off x="10836681" y="2311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57" name="Vlbl630">
            <a:extLst>
              <a:ext uri="{FF2B5EF4-FFF2-40B4-BE49-F238E27FC236}">
                <a16:creationId xmlns:a16="http://schemas.microsoft.com/office/drawing/2014/main" id="{25F791EF-43E4-0C41-982C-6294369CB671}"/>
              </a:ext>
            </a:extLst>
          </p:cNvPr>
          <p:cNvSpPr txBox="1"/>
          <p:nvPr/>
        </p:nvSpPr>
        <p:spPr>
          <a:xfrm>
            <a:off x="8944666" y="290795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58" name="Tlbl630">
            <a:extLst>
              <a:ext uri="{FF2B5EF4-FFF2-40B4-BE49-F238E27FC236}">
                <a16:creationId xmlns:a16="http://schemas.microsoft.com/office/drawing/2014/main" id="{798FA7EF-B5EB-9D4F-B7D6-D8BD2E4C9B45}"/>
              </a:ext>
            </a:extLst>
          </p:cNvPr>
          <p:cNvSpPr txBox="1"/>
          <p:nvPr/>
        </p:nvSpPr>
        <p:spPr>
          <a:xfrm>
            <a:off x="10007600" y="25654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100" i="1">
                <a:solidFill>
                  <a:srgbClr val="333333"/>
                </a:solidFill>
                <a:latin typeface="Arial"/>
                <a:cs typeface="Arial"/>
              </a:rPr>
              <a:t>θ</a:t>
            </a:r>
            <a:endParaRPr lang="en-US" sz="1100" i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59" name="Sbar630">
            <a:extLst>
              <a:ext uri="{FF2B5EF4-FFF2-40B4-BE49-F238E27FC236}">
                <a16:creationId xmlns:a16="http://schemas.microsoft.com/office/drawing/2014/main" id="{1BB2A23D-AAFB-E54E-A004-A867CDCB4BF3}"/>
              </a:ext>
            </a:extLst>
          </p:cNvPr>
          <p:cNvSpPr/>
          <p:nvPr/>
        </p:nvSpPr>
        <p:spPr>
          <a:xfrm>
            <a:off x="8001000" y="3784600"/>
            <a:ext cx="3810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Slbl630">
            <a:extLst>
              <a:ext uri="{FF2B5EF4-FFF2-40B4-BE49-F238E27FC236}">
                <a16:creationId xmlns:a16="http://schemas.microsoft.com/office/drawing/2014/main" id="{0FB67740-6E37-0943-94DA-97994F177D95}"/>
              </a:ext>
            </a:extLst>
          </p:cNvPr>
          <p:cNvSpPr txBox="1"/>
          <p:nvPr/>
        </p:nvSpPr>
        <p:spPr>
          <a:xfrm>
            <a:off x="8001000" y="3835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cos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θ ≈ −0.91</a:t>
            </a:r>
            <a:endParaRPr lang="en-US" sz="1300" b="1">
              <a:solidFill>
                <a:srgbClr val="FFFFFF"/>
              </a:solidFill>
              <a:latin typeface="Cambria Math"/>
              <a:ea typeface="Cambria Math"/>
            </a:endParaRPr>
          </a:p>
        </p:txBody>
      </p:sp>
      <p:sp>
        <p:nvSpPr>
          <p:cNvPr id="61" name="Insight">
            <a:extLst>
              <a:ext uri="{FF2B5EF4-FFF2-40B4-BE49-F238E27FC236}">
                <a16:creationId xmlns:a16="http://schemas.microsoft.com/office/drawing/2014/main" id="{B667AFE5-C8BA-8040-9C08-5C3E6AF6BF49}"/>
              </a:ext>
            </a:extLst>
          </p:cNvPr>
          <p:cNvSpPr/>
          <p:nvPr/>
        </p:nvSpPr>
        <p:spPr>
          <a:xfrm>
            <a:off x="381000" y="4419600"/>
            <a:ext cx="11430000" cy="825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InsightHdr">
            <a:extLst>
              <a:ext uri="{FF2B5EF4-FFF2-40B4-BE49-F238E27FC236}">
                <a16:creationId xmlns:a16="http://schemas.microsoft.com/office/drawing/2014/main" id="{AA5DE811-58C0-DC48-A123-697BA1ADDE7D}"/>
              </a:ext>
            </a:extLst>
          </p:cNvPr>
          <p:cNvSpPr txBox="1"/>
          <p:nvPr/>
        </p:nvSpPr>
        <p:spPr>
          <a:xfrm>
            <a:off x="558800" y="4495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  <a:latin typeface="Arial"/>
                <a:cs typeface="Arial"/>
              </a:rPr>
              <a:t>Read the picture:</a:t>
            </a:r>
          </a:p>
        </p:txBody>
      </p:sp>
      <p:sp>
        <p:nvSpPr>
          <p:cNvPr id="63" name="InsightBody">
            <a:extLst>
              <a:ext uri="{FF2B5EF4-FFF2-40B4-BE49-F238E27FC236}">
                <a16:creationId xmlns:a16="http://schemas.microsoft.com/office/drawing/2014/main" id="{FD55CDA3-47B6-DA45-A5B1-8C52B94F83C5}"/>
              </a:ext>
            </a:extLst>
          </p:cNvPr>
          <p:cNvSpPr txBox="1"/>
          <p:nvPr/>
        </p:nvSpPr>
        <p:spPr>
          <a:xfrm>
            <a:off x="558800" y="47244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 i="1">
                <a:solidFill>
                  <a:srgbClr val="333333"/>
                </a:solidFill>
                <a:latin typeface="Arial"/>
                <a:cs typeface="Arial"/>
              </a:rPr>
              <a:t>Vectors u and v have the same length in all three plots — only the angle changes. Cosine similarity tracks that angle alone:  small angle ⇒ high score, perpendicular ⇒ zero, pointing apart ⇒ negative. Lengths could be 1 or 100 — the score stays the same.</a:t>
            </a:r>
          </a:p>
        </p:txBody>
      </p:sp>
      <p:sp>
        <p:nvSpPr>
          <p:cNvPr id="64" name="TkBar">
            <a:extLst>
              <a:ext uri="{FF2B5EF4-FFF2-40B4-BE49-F238E27FC236}">
                <a16:creationId xmlns:a16="http://schemas.microsoft.com/office/drawing/2014/main" id="{BA4FF9C3-F43A-6E4C-B026-236F4D7AE8B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kText">
            <a:extLst>
              <a:ext uri="{FF2B5EF4-FFF2-40B4-BE49-F238E27FC236}">
                <a16:creationId xmlns:a16="http://schemas.microsoft.com/office/drawing/2014/main" id="{3C9AC6AA-69FC-6E47-8AD4-1FF6E22EF68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Same angle, same cosine similarity — magnitudes cancel out of the formula</a:t>
            </a:r>
          </a:p>
        </p:txBody>
      </p:sp>
    </p:spTree>
    <p:extLst>
      <p:ext uri="{BB962C8B-B14F-4D97-AF65-F5344CB8AC3E}">
        <p14:creationId xmlns:p14="http://schemas.microsoft.com/office/powerpoint/2010/main" val="28218737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41F37F9-E491-2F47-BB40-99689BCF6C09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E4D85B-74DD-1C45-B40D-BD71489A888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Cosine Similarity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E375792D-53FE-494C-B51E-59708EA0D7ED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Two document term-count vectors — how similar are they?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835F771B-3013-8F41-9ABB-9732A1C8E43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B8A7B6DF-4651-9641-88AF-A277127CAB6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F60533C2-AB41-2C48-93D5-EA90AFFFEAA7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82299A7-6FB4-F44E-B259-F179699B087F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cosine similarity between  u = (3, 4)  and  v = (4, 3).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2908ABA-7B07-A44E-B8AF-66F2C99973E3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3E14B10D-0735-C647-A233-21F4FB071C8C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795B19E-E11F-AF45-996A-D153A366647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C5B316F4-BB36-A14A-8311-B963C1F59351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1.  Dot product:   u · v = (3)(4) + (4)(3) = 12 + 12 = 24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CBEB428A-7CC3-2544-AB79-931F61426334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Norms:   ‖u‖ = √(9+16) = 5     ‖v‖ = √(16+9) = 5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7609B09E-5A2F-7E4C-9D36-CE4972C15EE5}"/>
              </a:ext>
            </a:extLst>
          </p:cNvPr>
          <p:cNvSpPr txBox="1"/>
          <p:nvPr/>
        </p:nvSpPr>
        <p:spPr>
          <a:xfrm>
            <a:off x="558800" y="4216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cos</a:t>
            </a:r>
            <a:r>
              <a:rPr lang="el-GR" sz="1400">
                <a:solidFill>
                  <a:srgbClr val="B0B0B0"/>
                </a:solidFill>
                <a:latin typeface="Cambria Math"/>
                <a:ea typeface="Cambria Math"/>
              </a:rPr>
              <a:t>θ = (</a:t>
            </a:r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u · v) / (‖u‖·‖v‖)  =  24 / (5·5)  =  24/25  =  0.96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74D99AA7-764A-604D-8B67-16179C31D034}"/>
              </a:ext>
            </a:extLst>
          </p:cNvPr>
          <p:cNvSpPr txBox="1"/>
          <p:nvPr/>
        </p:nvSpPr>
        <p:spPr>
          <a:xfrm>
            <a:off x="558800" y="4597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0.96 is very close to 1 → vectors point in nearly the same direction (</a:t>
            </a:r>
            <a:r>
              <a:rPr lang="el-GR" sz="1100" i="1">
                <a:solidFill>
                  <a:srgbClr val="B0B0B0"/>
                </a:solidFill>
                <a:latin typeface="Arial"/>
                <a:cs typeface="Arial"/>
              </a:rPr>
              <a:t>θ ≈ 16°).</a:t>
            </a:r>
            <a:endParaRPr lang="en-US" sz="1100" i="1">
              <a:solidFill>
                <a:srgbClr val="B0B0B0"/>
              </a:solidFill>
              <a:latin typeface="Arial"/>
              <a:cs typeface="Arial"/>
            </a:endParaRP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44021A4-FAA3-BB44-8EE7-3F33112F81C9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Answer:   cos </a:t>
            </a:r>
            <a:r>
              <a:rPr lang="el-GR" b="1">
                <a:solidFill>
                  <a:srgbClr val="4B2E83"/>
                </a:solidFill>
                <a:latin typeface="Cambria Math"/>
                <a:ea typeface="Cambria Math"/>
              </a:rPr>
              <a:t>θ  ≈  0.96    (</a:t>
            </a:r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highly similar)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3A17542D-5E70-D647-A80F-B7612740BD4D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AE8F31F8-EB59-4443-B6CA-29515A563ACA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Cosine similarity = normalized dot product — the workhorse metric for text, embeddings, and recs</a:t>
            </a:r>
          </a:p>
        </p:txBody>
      </p:sp>
    </p:spTree>
    <p:extLst>
      <p:ext uri="{BB962C8B-B14F-4D97-AF65-F5344CB8AC3E}">
        <p14:creationId xmlns:p14="http://schemas.microsoft.com/office/powerpoint/2010/main" val="89299321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3975611B-FD13-0A49-8803-14AEC1B482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17FFC3FD-E245-7A41-BAD1-FC7D09FFF418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Hadamard (Element-wise) Product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9F1BAA7D-8C11-E548-90BC-85251729F51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Multiply vectors entry-by-entry — same dimension, same shape result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1457E427-5375-DC4F-A829-CF08F0FE3601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7E246124-2F50-6C48-9026-901C950AB79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123D3213-315D-A941-9568-E874AC56E07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u ⊙ v  =  (u₁·v₁,  u₂·v₂,  ...,  uₙ·vₙ)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604D6162-0C28-7E4A-8925-502681E1D2D3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u, v ∈ ℝⁿ — result is a vector in ℝⁿ (not a scalar like the dot product).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6B4893D2-C2BF-B344-941A-AABB4BD75338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380F42F5-1EC9-1346-A6EA-F6CC302A2138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B0AE5A7B-B6BD-DF47-92F5-EB1747C1612C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925F767E-1B1F-DD4E-9315-BFE2D6846A6F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Independent gating per dimension.
• Each entry scaled separately
• Result stays in ℝⁿ
• Dimensions must match
• Commutes: u ⊙ v = v ⊙ u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771ED4AA-5F8F-5748-B524-0AE0730894FA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23E05DF1-1C3E-8C40-A2FB-C1153116395D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BD844ED1-B191-854D-B606-48A599038A15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vs. Dot product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83F658A7-FD4D-A74B-8CF6-F6221F81E1C9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Dot: scalar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Σ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uᵢvᵢ
Hadamard: vector (uᵢvᵢ)
Dot collapses; Hadamard keeps structure.
Notation: u ⊙ v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40DAEE10-90B3-5F43-932E-13BB3A64AE75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73FE518-35A0-9149-9302-261A40050526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28F764B4-6207-F74A-BA71-D5B3EB5942A9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D97B3663-F310-D24C-B1CF-609557E6B35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Neural networks:
• Element-wise activations
• Gating in LSTM/GRU/GLU
• Masked attention
• Dropout masks
• Feature-wise modulation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792EA097-A3F9-864D-8E5A-C682867A4EA5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F92C1B22-83A2-BD4A-86C5-865A9A4D10FB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Key idea:   element-wise — no sum, no projection, just pairwise products.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DEDADD26-8310-EB42-9E7A-6FAC2C812910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E7791C19-5D6F-7345-815B-B4D07FD7BF0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product = a vector where each entry multiplies its counterpart</a:t>
            </a:r>
          </a:p>
        </p:txBody>
      </p:sp>
    </p:spTree>
    <p:extLst>
      <p:ext uri="{BB962C8B-B14F-4D97-AF65-F5344CB8AC3E}">
        <p14:creationId xmlns:p14="http://schemas.microsoft.com/office/powerpoint/2010/main" val="28322114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C7DD207-0ADA-F948-A39E-303C512A503A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B0A66DD-7288-EF4D-9039-1FAEFC93BDF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Hadamard (Element-wise) Product — 2D Visual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E0DBDF80-465C-094F-B2BB-C122E6FB19F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⊙ v multiplies coordinates one-by-one — anisotropic scaling along each axis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58BDA777-CDEC-DE44-87F0-49206BD88A43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Ax">
            <a:extLst>
              <a:ext uri="{FF2B5EF4-FFF2-40B4-BE49-F238E27FC236}">
                <a16:creationId xmlns:a16="http://schemas.microsoft.com/office/drawing/2014/main" id="{CD72D05C-EEB0-4B4B-BE9D-47DB3615DCEB}"/>
              </a:ext>
            </a:extLst>
          </p:cNvPr>
          <p:cNvSpPr/>
          <p:nvPr/>
        </p:nvSpPr>
        <p:spPr>
          <a:xfrm>
            <a:off x="825500" y="4953000"/>
            <a:ext cx="698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y">
            <a:extLst>
              <a:ext uri="{FF2B5EF4-FFF2-40B4-BE49-F238E27FC236}">
                <a16:creationId xmlns:a16="http://schemas.microsoft.com/office/drawing/2014/main" id="{C4C4F7EE-6A4F-5346-AD61-D53F990F2AF4}"/>
              </a:ext>
            </a:extLst>
          </p:cNvPr>
          <p:cNvSpPr/>
          <p:nvPr/>
        </p:nvSpPr>
        <p:spPr>
          <a:xfrm>
            <a:off x="1778000" y="1333500"/>
            <a:ext cx="12700" cy="419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kX1">
            <a:extLst>
              <a:ext uri="{FF2B5EF4-FFF2-40B4-BE49-F238E27FC236}">
                <a16:creationId xmlns:a16="http://schemas.microsoft.com/office/drawing/2014/main" id="{C5E1E3F3-F593-454D-BF42-FC112C2B719A}"/>
              </a:ext>
            </a:extLst>
          </p:cNvPr>
          <p:cNvSpPr/>
          <p:nvPr/>
        </p:nvSpPr>
        <p:spPr>
          <a:xfrm>
            <a:off x="241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kX2">
            <a:extLst>
              <a:ext uri="{FF2B5EF4-FFF2-40B4-BE49-F238E27FC236}">
                <a16:creationId xmlns:a16="http://schemas.microsoft.com/office/drawing/2014/main" id="{02FF76F6-2422-5542-B56B-5308C5591C48}"/>
              </a:ext>
            </a:extLst>
          </p:cNvPr>
          <p:cNvSpPr/>
          <p:nvPr/>
        </p:nvSpPr>
        <p:spPr>
          <a:xfrm>
            <a:off x="304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kX3">
            <a:extLst>
              <a:ext uri="{FF2B5EF4-FFF2-40B4-BE49-F238E27FC236}">
                <a16:creationId xmlns:a16="http://schemas.microsoft.com/office/drawing/2014/main" id="{83216E52-71CE-564C-908C-EAABF554F623}"/>
              </a:ext>
            </a:extLst>
          </p:cNvPr>
          <p:cNvSpPr/>
          <p:nvPr/>
        </p:nvSpPr>
        <p:spPr>
          <a:xfrm>
            <a:off x="368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kX4">
            <a:extLst>
              <a:ext uri="{FF2B5EF4-FFF2-40B4-BE49-F238E27FC236}">
                <a16:creationId xmlns:a16="http://schemas.microsoft.com/office/drawing/2014/main" id="{93E6B132-2D72-FA46-9CDF-675614404CE4}"/>
              </a:ext>
            </a:extLst>
          </p:cNvPr>
          <p:cNvSpPr/>
          <p:nvPr/>
        </p:nvSpPr>
        <p:spPr>
          <a:xfrm>
            <a:off x="431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kX5">
            <a:extLst>
              <a:ext uri="{FF2B5EF4-FFF2-40B4-BE49-F238E27FC236}">
                <a16:creationId xmlns:a16="http://schemas.microsoft.com/office/drawing/2014/main" id="{4B267F4F-00CB-7D4B-9712-E4F8396206FA}"/>
              </a:ext>
            </a:extLst>
          </p:cNvPr>
          <p:cNvSpPr/>
          <p:nvPr/>
        </p:nvSpPr>
        <p:spPr>
          <a:xfrm>
            <a:off x="495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kX6">
            <a:extLst>
              <a:ext uri="{FF2B5EF4-FFF2-40B4-BE49-F238E27FC236}">
                <a16:creationId xmlns:a16="http://schemas.microsoft.com/office/drawing/2014/main" id="{89DC2CCC-4D9C-8F46-A6BF-5DE2C4668E64}"/>
              </a:ext>
            </a:extLst>
          </p:cNvPr>
          <p:cNvSpPr/>
          <p:nvPr/>
        </p:nvSpPr>
        <p:spPr>
          <a:xfrm>
            <a:off x="558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kX7">
            <a:extLst>
              <a:ext uri="{FF2B5EF4-FFF2-40B4-BE49-F238E27FC236}">
                <a16:creationId xmlns:a16="http://schemas.microsoft.com/office/drawing/2014/main" id="{EABF796F-1E16-EE4D-B158-EF84E7A2534D}"/>
              </a:ext>
            </a:extLst>
          </p:cNvPr>
          <p:cNvSpPr/>
          <p:nvPr/>
        </p:nvSpPr>
        <p:spPr>
          <a:xfrm>
            <a:off x="6223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kX8">
            <a:extLst>
              <a:ext uri="{FF2B5EF4-FFF2-40B4-BE49-F238E27FC236}">
                <a16:creationId xmlns:a16="http://schemas.microsoft.com/office/drawing/2014/main" id="{F672CDEE-0A57-3E43-9B73-ABB44694560F}"/>
              </a:ext>
            </a:extLst>
          </p:cNvPr>
          <p:cNvSpPr/>
          <p:nvPr/>
        </p:nvSpPr>
        <p:spPr>
          <a:xfrm>
            <a:off x="6858000" y="4914900"/>
            <a:ext cx="12700" cy="762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kY1">
            <a:extLst>
              <a:ext uri="{FF2B5EF4-FFF2-40B4-BE49-F238E27FC236}">
                <a16:creationId xmlns:a16="http://schemas.microsoft.com/office/drawing/2014/main" id="{17AE4642-FCB8-7845-81E3-DCADCF9FFA3F}"/>
              </a:ext>
            </a:extLst>
          </p:cNvPr>
          <p:cNvSpPr/>
          <p:nvPr/>
        </p:nvSpPr>
        <p:spPr>
          <a:xfrm>
            <a:off x="1739900" y="431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kY2">
            <a:extLst>
              <a:ext uri="{FF2B5EF4-FFF2-40B4-BE49-F238E27FC236}">
                <a16:creationId xmlns:a16="http://schemas.microsoft.com/office/drawing/2014/main" id="{D7EC4178-6A8E-0841-AF2B-8FC3D670D3EB}"/>
              </a:ext>
            </a:extLst>
          </p:cNvPr>
          <p:cNvSpPr/>
          <p:nvPr/>
        </p:nvSpPr>
        <p:spPr>
          <a:xfrm>
            <a:off x="1739900" y="368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Y3">
            <a:extLst>
              <a:ext uri="{FF2B5EF4-FFF2-40B4-BE49-F238E27FC236}">
                <a16:creationId xmlns:a16="http://schemas.microsoft.com/office/drawing/2014/main" id="{59C5C9D8-0C81-B34C-87DA-4DC92713840E}"/>
              </a:ext>
            </a:extLst>
          </p:cNvPr>
          <p:cNvSpPr/>
          <p:nvPr/>
        </p:nvSpPr>
        <p:spPr>
          <a:xfrm>
            <a:off x="1739900" y="304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Y4">
            <a:extLst>
              <a:ext uri="{FF2B5EF4-FFF2-40B4-BE49-F238E27FC236}">
                <a16:creationId xmlns:a16="http://schemas.microsoft.com/office/drawing/2014/main" id="{E424D0AE-1C0F-5B42-94FA-2B01A3752975}"/>
              </a:ext>
            </a:extLst>
          </p:cNvPr>
          <p:cNvSpPr/>
          <p:nvPr/>
        </p:nvSpPr>
        <p:spPr>
          <a:xfrm>
            <a:off x="1739900" y="2413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Y5">
            <a:extLst>
              <a:ext uri="{FF2B5EF4-FFF2-40B4-BE49-F238E27FC236}">
                <a16:creationId xmlns:a16="http://schemas.microsoft.com/office/drawing/2014/main" id="{55955475-82B0-5B46-AB1E-C6023038DC8D}"/>
              </a:ext>
            </a:extLst>
          </p:cNvPr>
          <p:cNvSpPr/>
          <p:nvPr/>
        </p:nvSpPr>
        <p:spPr>
          <a:xfrm>
            <a:off x="1739900" y="1778000"/>
            <a:ext cx="76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Vec_u">
            <a:extLst>
              <a:ext uri="{FF2B5EF4-FFF2-40B4-BE49-F238E27FC236}">
                <a16:creationId xmlns:a16="http://schemas.microsoft.com/office/drawing/2014/main" id="{D44FE87F-06C2-0C44-9166-B635826EAE2A}"/>
              </a:ext>
            </a:extLst>
          </p:cNvPr>
          <p:cNvSpPr/>
          <p:nvPr/>
        </p:nvSpPr>
        <p:spPr>
          <a:xfrm rot="-3378596">
            <a:off x="1268237" y="3968750"/>
            <a:ext cx="2289525" cy="635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Vec_uLbl">
            <a:extLst>
              <a:ext uri="{FF2B5EF4-FFF2-40B4-BE49-F238E27FC236}">
                <a16:creationId xmlns:a16="http://schemas.microsoft.com/office/drawing/2014/main" id="{CB777887-74F6-DE45-B5D6-FBFE3C19306C}"/>
              </a:ext>
            </a:extLst>
          </p:cNvPr>
          <p:cNvSpPr txBox="1"/>
          <p:nvPr/>
        </p:nvSpPr>
        <p:spPr>
          <a:xfrm>
            <a:off x="21590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  <a:latin typeface="Arial"/>
                <a:cs typeface="Arial"/>
              </a:rPr>
              <a:t>u = (2, 3)</a:t>
            </a:r>
          </a:p>
        </p:txBody>
      </p:sp>
      <p:sp>
        <p:nvSpPr>
          <p:cNvPr id="46" name="Vec_v">
            <a:extLst>
              <a:ext uri="{FF2B5EF4-FFF2-40B4-BE49-F238E27FC236}">
                <a16:creationId xmlns:a16="http://schemas.microsoft.com/office/drawing/2014/main" id="{3DA939DD-A2AB-1E45-B6DF-522389A96C42}"/>
              </a:ext>
            </a:extLst>
          </p:cNvPr>
          <p:cNvSpPr/>
          <p:nvPr/>
        </p:nvSpPr>
        <p:spPr>
          <a:xfrm rot="-1106097">
            <a:off x="1726476" y="4603750"/>
            <a:ext cx="2008046" cy="635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Vec_vLbl">
            <a:extLst>
              <a:ext uri="{FF2B5EF4-FFF2-40B4-BE49-F238E27FC236}">
                <a16:creationId xmlns:a16="http://schemas.microsoft.com/office/drawing/2014/main" id="{A5B5FD1C-461B-5444-9E17-F3596EAF539A}"/>
              </a:ext>
            </a:extLst>
          </p:cNvPr>
          <p:cNvSpPr txBox="1"/>
          <p:nvPr/>
        </p:nvSpPr>
        <p:spPr>
          <a:xfrm>
            <a:off x="3784600" y="43688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v = (3, 1)</a:t>
            </a:r>
          </a:p>
        </p:txBody>
      </p:sp>
      <p:sp>
        <p:nvSpPr>
          <p:cNvPr id="48" name="Vec_h">
            <a:extLst>
              <a:ext uri="{FF2B5EF4-FFF2-40B4-BE49-F238E27FC236}">
                <a16:creationId xmlns:a16="http://schemas.microsoft.com/office/drawing/2014/main" id="{7A74A876-A74A-7D49-9F92-AE27DD923E91}"/>
              </a:ext>
            </a:extLst>
          </p:cNvPr>
          <p:cNvSpPr/>
          <p:nvPr/>
        </p:nvSpPr>
        <p:spPr>
          <a:xfrm rot="-1593903">
            <a:off x="1553145" y="3962400"/>
            <a:ext cx="4259709" cy="762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Vec_hLbl">
            <a:extLst>
              <a:ext uri="{FF2B5EF4-FFF2-40B4-BE49-F238E27FC236}">
                <a16:creationId xmlns:a16="http://schemas.microsoft.com/office/drawing/2014/main" id="{106949E8-607F-1A4D-B9B6-2BDA411EA854}"/>
              </a:ext>
            </a:extLst>
          </p:cNvPr>
          <p:cNvSpPr txBox="1"/>
          <p:nvPr/>
        </p:nvSpPr>
        <p:spPr>
          <a:xfrm>
            <a:off x="5689600" y="29210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  <a:latin typeface="Arial"/>
                <a:cs typeface="Arial"/>
              </a:rPr>
              <a:t>u ⊙ v = (6, 3)</a:t>
            </a:r>
          </a:p>
        </p:txBody>
      </p:sp>
      <p:sp>
        <p:nvSpPr>
          <p:cNvPr id="50" name="XScale">
            <a:extLst>
              <a:ext uri="{FF2B5EF4-FFF2-40B4-BE49-F238E27FC236}">
                <a16:creationId xmlns:a16="http://schemas.microsoft.com/office/drawing/2014/main" id="{4CE36F21-8CE7-3744-903C-4E3508424F00}"/>
              </a:ext>
            </a:extLst>
          </p:cNvPr>
          <p:cNvSpPr txBox="1"/>
          <p:nvPr/>
        </p:nvSpPr>
        <p:spPr>
          <a:xfrm>
            <a:off x="3048000" y="51435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x:  2 × 3 = 6</a:t>
            </a:r>
          </a:p>
        </p:txBody>
      </p:sp>
      <p:sp>
        <p:nvSpPr>
          <p:cNvPr id="51" name="YScale">
            <a:extLst>
              <a:ext uri="{FF2B5EF4-FFF2-40B4-BE49-F238E27FC236}">
                <a16:creationId xmlns:a16="http://schemas.microsoft.com/office/drawing/2014/main" id="{FA372C78-0D25-0846-99CE-8913831CE611}"/>
              </a:ext>
            </a:extLst>
          </p:cNvPr>
          <p:cNvSpPr txBox="1"/>
          <p:nvPr/>
        </p:nvSpPr>
        <p:spPr>
          <a:xfrm>
            <a:off x="508000" y="30480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B7A57A"/>
                </a:solidFill>
                <a:latin typeface="Arial"/>
                <a:cs typeface="Arial"/>
              </a:rPr>
              <a:t>y:  3 × 1 = 3</a:t>
            </a:r>
          </a:p>
        </p:txBody>
      </p:sp>
      <p:sp>
        <p:nvSpPr>
          <p:cNvPr id="52" name="OriginDot">
            <a:extLst>
              <a:ext uri="{FF2B5EF4-FFF2-40B4-BE49-F238E27FC236}">
                <a16:creationId xmlns:a16="http://schemas.microsoft.com/office/drawing/2014/main" id="{F4AED083-A61B-364F-B6C1-3F62B0B1FBA6}"/>
              </a:ext>
            </a:extLst>
          </p:cNvPr>
          <p:cNvSpPr/>
          <p:nvPr/>
        </p:nvSpPr>
        <p:spPr>
          <a:xfrm>
            <a:off x="1727200" y="4902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riginLbl">
            <a:extLst>
              <a:ext uri="{FF2B5EF4-FFF2-40B4-BE49-F238E27FC236}">
                <a16:creationId xmlns:a16="http://schemas.microsoft.com/office/drawing/2014/main" id="{45330945-CB62-2D42-80B5-1E75A32233C9}"/>
              </a:ext>
            </a:extLst>
          </p:cNvPr>
          <p:cNvSpPr txBox="1"/>
          <p:nvPr/>
        </p:nvSpPr>
        <p:spPr>
          <a:xfrm>
            <a:off x="1587500" y="49784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333333"/>
                </a:solidFill>
                <a:latin typeface="Arial"/>
                <a:cs typeface="Arial"/>
              </a:rPr>
              <a:t>O</a:t>
            </a:r>
          </a:p>
        </p:txBody>
      </p:sp>
      <p:sp>
        <p:nvSpPr>
          <p:cNvPr id="54" name="LegCard">
            <a:extLst>
              <a:ext uri="{FF2B5EF4-FFF2-40B4-BE49-F238E27FC236}">
                <a16:creationId xmlns:a16="http://schemas.microsoft.com/office/drawing/2014/main" id="{97882DCE-054D-D643-867A-05FDE9AC9289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LegHdr">
            <a:extLst>
              <a:ext uri="{FF2B5EF4-FFF2-40B4-BE49-F238E27FC236}">
                <a16:creationId xmlns:a16="http://schemas.microsoft.com/office/drawing/2014/main" id="{95CFA7D5-E8F7-8B4F-822C-C5826F367673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LegHdrT">
            <a:extLst>
              <a:ext uri="{FF2B5EF4-FFF2-40B4-BE49-F238E27FC236}">
                <a16:creationId xmlns:a16="http://schemas.microsoft.com/office/drawing/2014/main" id="{8F674023-5C10-FB43-B77D-FFEB8519ED8F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Element-by-element</a:t>
            </a:r>
          </a:p>
        </p:txBody>
      </p:sp>
      <p:sp>
        <p:nvSpPr>
          <p:cNvPr id="57" name="R1">
            <a:extLst>
              <a:ext uri="{FF2B5EF4-FFF2-40B4-BE49-F238E27FC236}">
                <a16:creationId xmlns:a16="http://schemas.microsoft.com/office/drawing/2014/main" id="{09136B9B-13E2-2D49-A3B0-A5E3D83E0C5F}"/>
              </a:ext>
            </a:extLst>
          </p:cNvPr>
          <p:cNvSpPr txBox="1"/>
          <p:nvPr/>
        </p:nvSpPr>
        <p:spPr>
          <a:xfrm>
            <a:off x="8356600" y="1841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333333"/>
                </a:solidFill>
                <a:latin typeface="Cambria Math"/>
                <a:ea typeface="Cambria Math"/>
              </a:rPr>
              <a:t>(u ⊙ v)ᵢ  =  uᵢ · vᵢ</a:t>
            </a:r>
          </a:p>
        </p:txBody>
      </p:sp>
      <p:sp>
        <p:nvSpPr>
          <p:cNvPr id="58" name="R1b">
            <a:extLst>
              <a:ext uri="{FF2B5EF4-FFF2-40B4-BE49-F238E27FC236}">
                <a16:creationId xmlns:a16="http://schemas.microsoft.com/office/drawing/2014/main" id="{763063C2-263B-AB4D-B2F2-468A6EFF45FB}"/>
              </a:ext>
            </a:extLst>
          </p:cNvPr>
          <p:cNvSpPr txBox="1"/>
          <p:nvPr/>
        </p:nvSpPr>
        <p:spPr>
          <a:xfrm>
            <a:off x="8356600" y="21844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Multiply coordinate-by-coordinate.
Result has same dimension as inputs.</a:t>
            </a:r>
          </a:p>
        </p:txBody>
      </p:sp>
      <p:sp>
        <p:nvSpPr>
          <p:cNvPr id="59" name="CalcBox">
            <a:extLst>
              <a:ext uri="{FF2B5EF4-FFF2-40B4-BE49-F238E27FC236}">
                <a16:creationId xmlns:a16="http://schemas.microsoft.com/office/drawing/2014/main" id="{4D174B3A-9128-4645-AA1C-F993487A1CB5}"/>
              </a:ext>
            </a:extLst>
          </p:cNvPr>
          <p:cNvSpPr/>
          <p:nvPr/>
        </p:nvSpPr>
        <p:spPr>
          <a:xfrm>
            <a:off x="8356600" y="2730500"/>
            <a:ext cx="3225800" cy="1397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CalcT">
            <a:extLst>
              <a:ext uri="{FF2B5EF4-FFF2-40B4-BE49-F238E27FC236}">
                <a16:creationId xmlns:a16="http://schemas.microsoft.com/office/drawing/2014/main" id="{8F3C87BF-FC8F-7B43-ABDB-8BDB2041D66E}"/>
              </a:ext>
            </a:extLst>
          </p:cNvPr>
          <p:cNvSpPr txBox="1"/>
          <p:nvPr/>
        </p:nvSpPr>
        <p:spPr>
          <a:xfrm>
            <a:off x="8432800" y="2794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u=(2,3), v=(3,1):</a:t>
            </a:r>
          </a:p>
        </p:txBody>
      </p:sp>
      <p:sp>
        <p:nvSpPr>
          <p:cNvPr id="61" name="CalcEq1">
            <a:extLst>
              <a:ext uri="{FF2B5EF4-FFF2-40B4-BE49-F238E27FC236}">
                <a16:creationId xmlns:a16="http://schemas.microsoft.com/office/drawing/2014/main" id="{D8B9C81E-BEB8-C14B-A7BA-235877804B6D}"/>
              </a:ext>
            </a:extLst>
          </p:cNvPr>
          <p:cNvSpPr txBox="1"/>
          <p:nvPr/>
        </p:nvSpPr>
        <p:spPr>
          <a:xfrm>
            <a:off x="8432800" y="30480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(u ⊙ v)₁ = 2 · 3 = 6</a:t>
            </a:r>
          </a:p>
        </p:txBody>
      </p:sp>
      <p:sp>
        <p:nvSpPr>
          <p:cNvPr id="62" name="CalcEq2">
            <a:extLst>
              <a:ext uri="{FF2B5EF4-FFF2-40B4-BE49-F238E27FC236}">
                <a16:creationId xmlns:a16="http://schemas.microsoft.com/office/drawing/2014/main" id="{1BC08CB5-B90C-0A4A-870B-38C6A3142727}"/>
              </a:ext>
            </a:extLst>
          </p:cNvPr>
          <p:cNvSpPr txBox="1"/>
          <p:nvPr/>
        </p:nvSpPr>
        <p:spPr>
          <a:xfrm>
            <a:off x="8432800" y="33274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mbria Math"/>
                <a:ea typeface="Cambria Math"/>
              </a:rPr>
              <a:t>(u ⊙ v)₂ = 3 · 1 = 3</a:t>
            </a:r>
          </a:p>
        </p:txBody>
      </p:sp>
      <p:sp>
        <p:nvSpPr>
          <p:cNvPr id="63" name="CalcEq3">
            <a:extLst>
              <a:ext uri="{FF2B5EF4-FFF2-40B4-BE49-F238E27FC236}">
                <a16:creationId xmlns:a16="http://schemas.microsoft.com/office/drawing/2014/main" id="{66010957-2F92-6B41-A20A-88671DB93E84}"/>
              </a:ext>
            </a:extLst>
          </p:cNvPr>
          <p:cNvSpPr txBox="1"/>
          <p:nvPr/>
        </p:nvSpPr>
        <p:spPr>
          <a:xfrm>
            <a:off x="8432800" y="3683000"/>
            <a:ext cx="3098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  <a:latin typeface="Cambria Math"/>
                <a:ea typeface="Cambria Math"/>
              </a:rPr>
              <a:t>u ⊙ v = (6, 3)</a:t>
            </a:r>
          </a:p>
        </p:txBody>
      </p:sp>
      <p:sp>
        <p:nvSpPr>
          <p:cNvPr id="64" name="Note">
            <a:extLst>
              <a:ext uri="{FF2B5EF4-FFF2-40B4-BE49-F238E27FC236}">
                <a16:creationId xmlns:a16="http://schemas.microsoft.com/office/drawing/2014/main" id="{7EF16EFB-7B17-AA4D-A2E0-DA5FA2C3D140}"/>
              </a:ext>
            </a:extLst>
          </p:cNvPr>
          <p:cNvSpPr txBox="1"/>
          <p:nvPr/>
        </p:nvSpPr>
        <p:spPr>
          <a:xfrm>
            <a:off x="8356600" y="4191000"/>
            <a:ext cx="3429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Geometry: v acts as a per-axis
scaling factor on u.
• x-axis stretched by vₓ = 3
• y-axis stretched by v</a:t>
            </a:r>
            <a:r>
              <a:rPr lang="el-GR" sz="1000" i="1">
                <a:solidFill>
                  <a:srgbClr val="777777"/>
                </a:solidFill>
                <a:latin typeface="Arial"/>
                <a:cs typeface="Arial"/>
              </a:rPr>
              <a:t>ᵧ = 1
</a:t>
            </a:r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Not the same as dot product —
result is a vector, not a scalar.</a:t>
            </a:r>
          </a:p>
        </p:txBody>
      </p:sp>
      <p:sp>
        <p:nvSpPr>
          <p:cNvPr id="65" name="TkBar">
            <a:extLst>
              <a:ext uri="{FF2B5EF4-FFF2-40B4-BE49-F238E27FC236}">
                <a16:creationId xmlns:a16="http://schemas.microsoft.com/office/drawing/2014/main" id="{A043B180-605B-804F-873A-F715EB1B5A31}"/>
              </a:ext>
            </a:extLst>
          </p:cNvPr>
          <p:cNvSpPr/>
          <p:nvPr/>
        </p:nvSpPr>
        <p:spPr>
          <a:xfrm>
            <a:off x="0" y="5749326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TkText">
            <a:extLst>
              <a:ext uri="{FF2B5EF4-FFF2-40B4-BE49-F238E27FC236}">
                <a16:creationId xmlns:a16="http://schemas.microsoft.com/office/drawing/2014/main" id="{CDE0B475-8DF2-3441-9315-353FBD319BCF}"/>
              </a:ext>
            </a:extLst>
          </p:cNvPr>
          <p:cNvSpPr txBox="1"/>
          <p:nvPr/>
        </p:nvSpPr>
        <p:spPr>
          <a:xfrm>
            <a:off x="381000" y="5812826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Hadamard = independent scaling on each axis — the diagonal version of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8481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398EBF6D-895B-9B4D-A483-11D7D33974E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022DDDB-4D16-C548-8544-883DF8C0E17D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Hadamard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C4593AA-D7A3-E249-85D8-0642BBE411F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Basic element-wise multiplication of two 3-D vectors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E7D6C0C0-FA5E-3A4C-97FD-AAADC9BFDD8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6EAB43DE-9AC4-F945-A03F-2F166DB6FA70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1A5E6292-E014-BF48-B594-ED482A2BF06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1A766135-4092-F847-91AD-039264A8CFEF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⊙ v   where   u = (2, 5, -1)   and   v = (3, 4, 6)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D3A1446A-E970-624C-85BC-F2D58BE5028F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2619BDAF-E8A1-A447-9B90-F136F8E7B6E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2E8FFB3-CAAB-AD41-9BF7-CFCADF3137F9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1D4B1D21-A3F8-6240-83E5-31A6D33D6BC2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Pair entries by index:   (u₁,v₁), (u₂,v₂), (u₃,v₃) = (2,3), (5,4), (-1,6)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062BC118-6C19-8846-8434-B8ACEE2824F1}"/>
              </a:ext>
            </a:extLst>
          </p:cNvPr>
          <p:cNvSpPr txBox="1"/>
          <p:nvPr/>
        </p:nvSpPr>
        <p:spPr>
          <a:xfrm>
            <a:off x="558800" y="3860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2.  Multiply each pair:   2·3 = 6,    5·4 = 20,    (-1)·6 = -6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4ED4B6EC-289C-444F-ACD4-092F1AD5B067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Assemble as a vector:   u ⊙ v  =  (6, 20, -6)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323F815B-874F-E04D-BE78-EEEA53703C03}"/>
              </a:ext>
            </a:extLst>
          </p:cNvPr>
          <p:cNvSpPr txBox="1"/>
          <p:nvPr/>
        </p:nvSpPr>
        <p:spPr>
          <a:xfrm>
            <a:off x="558800" y="4495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shape: u, v ∈ ℝ³  →  u ⊙ v ∈ ℝ³.  ✓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E2088D00-C5CD-C843-81A6-537310704A70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⊙ v = (6, 20, -6)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0A3F8CAC-0EC8-E747-AC63-76054EFA94E7}"/>
              </a:ext>
            </a:extLst>
          </p:cNvPr>
          <p:cNvSpPr/>
          <p:nvPr/>
        </p:nvSpPr>
        <p:spPr>
          <a:xfrm>
            <a:off x="0" y="5582508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544646A2-18EB-4C41-9D07-FB003AA39945}"/>
              </a:ext>
            </a:extLst>
          </p:cNvPr>
          <p:cNvSpPr txBox="1"/>
          <p:nvPr/>
        </p:nvSpPr>
        <p:spPr>
          <a:xfrm>
            <a:off x="381000" y="564600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Hadamard: pair, multiply, assemble — same dimension out</a:t>
            </a:r>
          </a:p>
        </p:txBody>
      </p:sp>
    </p:spTree>
    <p:extLst>
      <p:ext uri="{BB962C8B-B14F-4D97-AF65-F5344CB8AC3E}">
        <p14:creationId xmlns:p14="http://schemas.microsoft.com/office/powerpoint/2010/main" val="17841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EC43A861-D69B-3645-A88D-5F20474A1AF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681DE74-8E58-0046-9377-A51A962660D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Hadamard Product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C05A15F7-61AD-A94E-9F47-9648EE2453E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Applying a dropout mask — gating an activation vector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607B9BB1-294E-9841-9F88-4A0A79CB6F3C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8C91EF36-2A30-CF43-87A1-41A4C0D7FF5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4E53F011-6B43-D14D-A97F-F30D7999E9E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D2CF0F25-5FD1-9047-A1FA-64C1FA84E679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Apply mask  m = (1, 0, 1, 1, 0)  to activations  a = (0.8, 0.4, 0.9, 0.2, 0.7).   Compute a ⊙ m.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B89BC3E6-5419-454E-BABB-F7E34624C7D4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0648F19A-092D-ED47-8FBC-DE776BFA7087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B2CC9588-BED5-6744-974C-672C88F06E8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59D648DA-BA50-4E49-B39F-1EDF5C18897B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entry-by-entry — entries where mᵢ = 0 are killed: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B6A53C03-3F16-1543-8062-A734C1FE6324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0.8·1 = 0.8,    0.4·0 = 0,    0.9·1 = 0.9,    0.2·1 = 0.2,    0.7·0 = 0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4FC36593-D926-E240-9F6D-8A3EC8A4B2C0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Assemble:   a ⊙ m  =  (0.8, 0, 0.9, 0.2, 0)</a:t>
            </a:r>
          </a:p>
        </p:txBody>
      </p:sp>
      <p:sp>
        <p:nvSpPr>
          <p:cNvPr id="32" name="SCheck">
            <a:extLst>
              <a:ext uri="{FF2B5EF4-FFF2-40B4-BE49-F238E27FC236}">
                <a16:creationId xmlns:a16="http://schemas.microsoft.com/office/drawing/2014/main" id="{D82B7C0B-A9ED-5347-9620-0A03A5585C92}"/>
              </a:ext>
            </a:extLst>
          </p:cNvPr>
          <p:cNvSpPr txBox="1"/>
          <p:nvPr/>
        </p:nvSpPr>
        <p:spPr>
          <a:xfrm>
            <a:off x="558800" y="4521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positions 2 and 5 were 'dropped' — the rest pass through unchanged.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951B6E4D-BF0E-B548-BE84-261F61723B67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 ⊙ m = (0.8, 0, 0.9, 0.2, 0)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6A5BCDCE-F125-A64F-A58B-BCF55C4021E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8AE219F6-9088-AE4C-8DC0-6AE68681540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with a 0/1 mask = gating: keep or kill each coordinate</a:t>
            </a:r>
          </a:p>
        </p:txBody>
      </p:sp>
    </p:spTree>
    <p:extLst>
      <p:ext uri="{BB962C8B-B14F-4D97-AF65-F5344CB8AC3E}">
        <p14:creationId xmlns:p14="http://schemas.microsoft.com/office/powerpoint/2010/main" val="423530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4043AA06-AC73-0E44-8C15-C12D47C9E0C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37E3BA-24FD-6946-B7B9-CAE98E7B742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Hadamard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102FC884-E01D-8A46-9B64-0FACC0A6E71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Per-feature scaling — different gain per dimension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2FC7AB0-685F-3B4B-AF57-ECAAC977C786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806529F-36A4-BA4F-828B-DA795E98B043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925D610C-B963-7F46-9432-359C3472DDF9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113CB21F-B75E-DE4C-AB09-F00520FD2F4D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Scale features  x = (10, 5, 2, 8)  by per-feature gains  g = (0.1, 2, 5, 0.5).   Compute x ⊙ g.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E3634C91-1B48-924A-B4CB-B6BCBE86E4C2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FBE33837-DFA2-264A-B1AE-9D6DF6A46465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D188C38C-5BFB-764F-B7EE-E37BAF473FC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3420374D-A2C5-534E-A01A-653191771824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Multiply entry-by-entry — each feature gets its own scale: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0394DAE8-80E2-1A4E-B726-AB04EB8A1267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10·0.1 = 1,    5·2 = 10,    2·5 = 10,    8·0.5 = 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A77E042A-8F6C-7C47-A289-EC2690A18C3D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Assemble:   x ⊙ g  =  (1, 10, 10, 4)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126455C1-7E7E-2B49-B328-0426AAA01FFD}"/>
              </a:ext>
            </a:extLst>
          </p:cNvPr>
          <p:cNvSpPr txBox="1"/>
          <p:nvPr/>
        </p:nvSpPr>
        <p:spPr>
          <a:xfrm>
            <a:off x="558800" y="4521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Note: feature 1 was shrunk 10×, features 2 and 3 amplified, feature 4 halved — independent per dim.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5527357A-BA62-A647-91DD-0908D96D6066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x ⊙ g = (1, 10, 10, 4)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DDF2505A-F759-0A41-BCC8-8A9132BB801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AD99C8B5-6D26-4148-B9C8-DA4E4DE405A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Hadamard lets each coordinate carry its own multiplier — perfect for feature-wise gain</a:t>
            </a:r>
          </a:p>
        </p:txBody>
      </p:sp>
    </p:spTree>
    <p:extLst>
      <p:ext uri="{BB962C8B-B14F-4D97-AF65-F5344CB8AC3E}">
        <p14:creationId xmlns:p14="http://schemas.microsoft.com/office/powerpoint/2010/main" val="59527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Hadamard product: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⊙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and b are drawn on the BEFORE grid. Multiply them element-by-element and plot the result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506136" y="34925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136" y="34925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The Hadamard product multiplies matching components: each axis is scaled independently — it is NOT the dot product and stays a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=(2, 3)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a, b drawn from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AFTER — plot a ⊙ b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657600"/>
            <a:ext cx="2895600" cy="14478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10115550" y="3575050"/>
            <a:ext cx="165100" cy="165100"/>
          </a:xfrm>
          <a:prstGeom prst="ellipse">
            <a:avLst/>
          </a:prstGeom>
          <a:solidFill>
            <a:srgbClr val="D1578A"/>
          </a:solidFill>
          <a:ln w="158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10274300" y="3403600"/>
                <a:ext cx="762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300" y="3403600"/>
                <a:ext cx="762000" cy="228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aArr"/>
          <p:cNvCxnSpPr/>
          <p:nvPr/>
        </p:nvCxnSpPr>
        <p:spPr>
          <a:xfrm flipV="1">
            <a:off x="1206500" y="3657600"/>
            <a:ext cx="965200" cy="14478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bArr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aLbl"/>
              <p:cNvSpPr/>
              <p:nvPr/>
            </p:nvSpPr>
            <p:spPr>
              <a:xfrm>
                <a:off x="2222500" y="34544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a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3454400"/>
                <a:ext cx="254000" cy="190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bLbl"/>
              <p:cNvSpPr/>
              <p:nvPr/>
            </p:nvSpPr>
            <p:spPr>
              <a:xfrm>
                <a:off x="2705100" y="45466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b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4546600"/>
                <a:ext cx="254000" cy="19050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a ⊙ b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26173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200" b="1" dirty="0">
                    <a:solidFill>
                      <a:srgbClr val="FFFFFF"/>
                    </a:solidFill>
                    <a:latin typeface="Calibri"/>
                  </a:rPr>
                  <a:t>Exercise — Hadamard product: plot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𝒂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⊙</m:t>
                    </m:r>
                    <m:r>
                      <a:rPr lang="en-US" sz="2200">
                        <a:solidFill>
                          <a:srgbClr val="FFFFFF"/>
                        </a:solidFill>
                        <a:latin typeface="Cambria Math"/>
                      </a:rPr>
                      <m:t>𝒃</m:t>
                    </m:r>
                  </m:oMath>
                </a14:m>
                <a:endParaRPr lang="en-US" sz="22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9375" b="-40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a and b are drawn on the BEFORE grid. Multiply them element-by-element and plot the result on the AFTER grid.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/>
              <p:nvPr/>
            </p:nvSpPr>
            <p:spPr>
              <a:xfrm>
                <a:off x="5513286" y="3505200"/>
                <a:ext cx="1016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4" name="ArrowLbl">
                <a:extLst>
                  <a:ext uri="{FF2B5EF4-FFF2-40B4-BE49-F238E27FC236}">
                    <a16:creationId xmlns:a16="http://schemas.microsoft.com/office/drawing/2014/main" id="{E4C968E1-91A8-6247-8934-64EB175C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286" y="3505200"/>
                <a:ext cx="1016000" cy="203200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  <a:latin typeface="Calibri"/>
              </a:rPr>
              <a:t>The Hadamard product multiplies matching components: each axis is scaled independently — it is NOT the dot product and stays a vector.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4)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Compute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₁,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𝒃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₂),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then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plot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it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BEFORE — a, b drawn from origin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391" name="GLbl"/>
          <p:cNvSpPr/>
          <p:nvPr/>
        </p:nvSpPr>
        <p:spPr>
          <a:xfrm>
            <a:off x="6604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D1578A"/>
                </a:solidFill>
                <a:latin typeface="Calibri"/>
              </a:rPr>
              <a:t>AFTER — plot a ⊙ b</a:t>
            </a:r>
          </a:p>
        </p:txBody>
      </p:sp>
      <p:sp>
        <p:nvSpPr>
          <p:cNvPr id="631" name="GL"/>
          <p:cNvSpPr/>
          <p:nvPr/>
        </p:nvSpPr>
        <p:spPr>
          <a:xfrm>
            <a:off x="7302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GL"/>
          <p:cNvSpPr/>
          <p:nvPr/>
        </p:nvSpPr>
        <p:spPr>
          <a:xfrm>
            <a:off x="7785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3" name="GL"/>
          <p:cNvSpPr/>
          <p:nvPr/>
        </p:nvSpPr>
        <p:spPr>
          <a:xfrm>
            <a:off x="8267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4" name="GL"/>
          <p:cNvSpPr/>
          <p:nvPr/>
        </p:nvSpPr>
        <p:spPr>
          <a:xfrm>
            <a:off x="8750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5" name="GL"/>
          <p:cNvSpPr/>
          <p:nvPr/>
        </p:nvSpPr>
        <p:spPr>
          <a:xfrm>
            <a:off x="9232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6" name="GL"/>
          <p:cNvSpPr/>
          <p:nvPr/>
        </p:nvSpPr>
        <p:spPr>
          <a:xfrm>
            <a:off x="9715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7" name="GL"/>
          <p:cNvSpPr/>
          <p:nvPr/>
        </p:nvSpPr>
        <p:spPr>
          <a:xfrm>
            <a:off x="10198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8" name="GL"/>
          <p:cNvSpPr/>
          <p:nvPr/>
        </p:nvSpPr>
        <p:spPr>
          <a:xfrm>
            <a:off x="7302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9" name="GL"/>
          <p:cNvSpPr/>
          <p:nvPr/>
        </p:nvSpPr>
        <p:spPr>
          <a:xfrm>
            <a:off x="7302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0" name="GL"/>
          <p:cNvSpPr/>
          <p:nvPr/>
        </p:nvSpPr>
        <p:spPr>
          <a:xfrm>
            <a:off x="7302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1" name="GL"/>
          <p:cNvSpPr/>
          <p:nvPr/>
        </p:nvSpPr>
        <p:spPr>
          <a:xfrm>
            <a:off x="7302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2" name="GL"/>
          <p:cNvSpPr/>
          <p:nvPr/>
        </p:nvSpPr>
        <p:spPr>
          <a:xfrm>
            <a:off x="7302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3" name="GL"/>
          <p:cNvSpPr/>
          <p:nvPr/>
        </p:nvSpPr>
        <p:spPr>
          <a:xfrm>
            <a:off x="7302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4" name="GL"/>
          <p:cNvSpPr/>
          <p:nvPr/>
        </p:nvSpPr>
        <p:spPr>
          <a:xfrm>
            <a:off x="7302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5" name="GL"/>
          <p:cNvSpPr/>
          <p:nvPr/>
        </p:nvSpPr>
        <p:spPr>
          <a:xfrm>
            <a:off x="7302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6" name="GL"/>
          <p:cNvSpPr/>
          <p:nvPr/>
        </p:nvSpPr>
        <p:spPr>
          <a:xfrm>
            <a:off x="7302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7" name="GLbl"/>
          <p:cNvSpPr/>
          <p:nvPr/>
        </p:nvSpPr>
        <p:spPr>
          <a:xfrm>
            <a:off x="7200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48" name="GLbl"/>
          <p:cNvSpPr/>
          <p:nvPr/>
        </p:nvSpPr>
        <p:spPr>
          <a:xfrm>
            <a:off x="7683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49" name="GLbl"/>
          <p:cNvSpPr/>
          <p:nvPr/>
        </p:nvSpPr>
        <p:spPr>
          <a:xfrm>
            <a:off x="8166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0" name="GLbl"/>
          <p:cNvSpPr/>
          <p:nvPr/>
        </p:nvSpPr>
        <p:spPr>
          <a:xfrm>
            <a:off x="8648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1" name="GLbl"/>
          <p:cNvSpPr/>
          <p:nvPr/>
        </p:nvSpPr>
        <p:spPr>
          <a:xfrm>
            <a:off x="9131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2" name="GLbl"/>
          <p:cNvSpPr/>
          <p:nvPr/>
        </p:nvSpPr>
        <p:spPr>
          <a:xfrm>
            <a:off x="9613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3" name="GLbl"/>
          <p:cNvSpPr/>
          <p:nvPr/>
        </p:nvSpPr>
        <p:spPr>
          <a:xfrm>
            <a:off x="10096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54" name="GLbl"/>
          <p:cNvSpPr/>
          <p:nvPr/>
        </p:nvSpPr>
        <p:spPr>
          <a:xfrm>
            <a:off x="7073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55" name="GLbl"/>
          <p:cNvSpPr/>
          <p:nvPr/>
        </p:nvSpPr>
        <p:spPr>
          <a:xfrm>
            <a:off x="7073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56" name="GLbl"/>
          <p:cNvSpPr/>
          <p:nvPr/>
        </p:nvSpPr>
        <p:spPr>
          <a:xfrm>
            <a:off x="7073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57" name="GLbl"/>
          <p:cNvSpPr/>
          <p:nvPr/>
        </p:nvSpPr>
        <p:spPr>
          <a:xfrm>
            <a:off x="7073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58" name="GLbl"/>
          <p:cNvSpPr/>
          <p:nvPr/>
        </p:nvSpPr>
        <p:spPr>
          <a:xfrm>
            <a:off x="7073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59" name="GLbl"/>
          <p:cNvSpPr/>
          <p:nvPr/>
        </p:nvSpPr>
        <p:spPr>
          <a:xfrm>
            <a:off x="7073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60" name="GLbl"/>
          <p:cNvSpPr/>
          <p:nvPr/>
        </p:nvSpPr>
        <p:spPr>
          <a:xfrm>
            <a:off x="10274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61" name="GLbl"/>
          <p:cNvSpPr/>
          <p:nvPr/>
        </p:nvSpPr>
        <p:spPr>
          <a:xfrm>
            <a:off x="7200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00" name="SolArr800"/>
          <p:cNvCxnSpPr/>
          <p:nvPr/>
        </p:nvCxnSpPr>
        <p:spPr>
          <a:xfrm flipV="1">
            <a:off x="7302500" y="3175000"/>
            <a:ext cx="1930400" cy="1930400"/>
          </a:xfrm>
          <a:prstGeom prst="line">
            <a:avLst/>
          </a:prstGeom>
          <a:ln w="38100" cap="rnd">
            <a:solidFill>
              <a:srgbClr val="D1578A"/>
            </a:solidFill>
            <a:prstDash val="soli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  <p:sp>
        <p:nvSpPr>
          <p:cNvPr id="704" name="SolDot"/>
          <p:cNvSpPr/>
          <p:nvPr/>
        </p:nvSpPr>
        <p:spPr>
          <a:xfrm>
            <a:off x="9150350" y="3092450"/>
            <a:ext cx="165100" cy="165100"/>
          </a:xfrm>
          <a:prstGeom prst="ellipse">
            <a:avLst/>
          </a:prstGeom>
          <a:solidFill>
            <a:srgbClr val="D1578A"/>
          </a:solidFill>
          <a:ln w="158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5" name="SolDotLbl"/>
              <p:cNvSpPr/>
              <p:nvPr/>
            </p:nvSpPr>
            <p:spPr>
              <a:xfrm>
                <a:off x="9328150" y="2914650"/>
                <a:ext cx="762000" cy="2286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⊙</m:t>
                      </m:r>
                      <m:r>
                        <a:rPr lang="en-US" sz="1100">
                          <a:solidFill>
                            <a:srgbClr val="D1578A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05" name="SolDot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150" y="2914650"/>
                <a:ext cx="762000" cy="228600"/>
              </a:xfrm>
              <a:prstGeom prst="rect">
                <a:avLst/>
              </a:prstGeom>
              <a:blipFill>
                <a:blip r:embed="rId6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0" name="aArr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1750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bArr"/>
          <p:cNvCxnSpPr/>
          <p:nvPr/>
        </p:nvCxnSpPr>
        <p:spPr>
          <a:xfrm flipV="1">
            <a:off x="1206500" y="4622800"/>
            <a:ext cx="1930400" cy="482600"/>
          </a:xfrm>
          <a:prstGeom prst="line">
            <a:avLst/>
          </a:prstGeom>
          <a:ln w="31750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aLbl"/>
              <p:cNvSpPr/>
              <p:nvPr/>
            </p:nvSpPr>
            <p:spPr>
              <a:xfrm>
                <a:off x="1739900" y="29718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a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2971800"/>
                <a:ext cx="254000" cy="190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bLbl"/>
              <p:cNvSpPr/>
              <p:nvPr/>
            </p:nvSpPr>
            <p:spPr>
              <a:xfrm>
                <a:off x="3187700" y="4572000"/>
                <a:ext cx="254000" cy="1905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bLb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4572000"/>
                <a:ext cx="254000" cy="190500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/>
              </a:rPr>
              <a:t>Compute a ⊙ b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8204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AF84FD1-0BDA-E74B-A89B-6E01406095A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FE886FB-8984-6548-A87F-7482F2296F2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Cross Product (3D only)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92C8C71A-8FC7-FA48-811D-DA476AA029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Two 3D vectors → a third vector perpendicular to both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79F791DD-0620-DA4F-B32F-1562CA1F5FEC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59DDEC7E-D472-A548-B4E1-5C8365C59BAA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FC24BA15-E3B1-BB49-B72E-1D0386170AC6}"/>
              </a:ext>
            </a:extLst>
          </p:cNvPr>
          <p:cNvSpPr txBox="1"/>
          <p:nvPr/>
        </p:nvSpPr>
        <p:spPr>
          <a:xfrm>
            <a:off x="558800" y="1625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u × v  =  (u₂v₃ − u₃v₂,   u₃v₁ − u₁v₃,   u₁v₂ − u₂v₁)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14F90EB5-C665-4E43-AF9A-A53250455C7C}"/>
              </a:ext>
            </a:extLst>
          </p:cNvPr>
          <p:cNvSpPr txBox="1"/>
          <p:nvPr/>
        </p:nvSpPr>
        <p:spPr>
          <a:xfrm>
            <a:off x="558800" y="19558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Defined only for u, v ∈ ℝ³.   Result is a vector (unlike the dot product, which is a scalar).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E4925864-A921-8349-BF80-6EFB6C6CF5DE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A66200F9-33CF-9942-9539-D86B78181C7D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F42A2087-6347-8E49-9FD4-8B5739D4C8AD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6735B67A-B155-9342-A261-237850A077C1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Produces a vector u × v that is
perpendicular to both u and v.
‖u × v‖ = ‖u‖·‖v‖·|sin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θ|
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Magnitude = area of the
parallelogram formed by u and v.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7B1159CD-CCD7-594B-BE41-07D556C483A3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4282A0C1-C352-B741-91CE-FD7019CBC8A2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13D7EC48-4B6C-624F-A201-ADF4BA2CB752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Direction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A97B7F7C-BC16-4045-BDA9-AFD392DBE65E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Right-hand rule.
u × v = −(v × u)
(it is anti-commutative).
u × u = 0
u × v = 0  ⇔  u ∥ v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6FDABDA1-3545-9248-BFF9-CB1136720147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5CD65C6-87C7-0340-A693-E721BF61CBFD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9E027BD3-A82F-7C45-8677-03AD2F36A8E5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02B456B2-36B8-534E-9880-BC2183871CD0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Surface normals in 3D graphics
• Torque 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τ = 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 × F
• Angular momentum L = r × p
• Plane orientation in geometry
• Building orthonormal frames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623DAC3D-D694-8442-BC77-EEAC3C4B79B6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85C135A2-2742-A041-8F49-E5B0D1A95A8C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mbria Math"/>
                <a:ea typeface="Cambria Math"/>
              </a:rPr>
              <a:t>‖u × v‖ = ‖u‖·‖v‖·sin </a:t>
            </a:r>
            <a:r>
              <a:rPr lang="el-GR" sz="1400" b="1" dirty="0">
                <a:solidFill>
                  <a:srgbClr val="FFFFFF"/>
                </a:solidFill>
                <a:latin typeface="Cambria Math"/>
                <a:ea typeface="Cambria Math"/>
              </a:rPr>
              <a:t>θ     —     </a:t>
            </a:r>
            <a:r>
              <a:rPr lang="en-US" sz="1400" b="1" dirty="0">
                <a:solidFill>
                  <a:srgbClr val="FFFFFF"/>
                </a:solidFill>
                <a:latin typeface="Cambria Math"/>
                <a:ea typeface="Cambria Math"/>
              </a:rPr>
              <a:t>measures how 'non-parallel' two vectors are.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B56B2AD8-7F5A-5941-8F60-437FC3F15872}"/>
              </a:ext>
            </a:extLst>
          </p:cNvPr>
          <p:cNvSpPr/>
          <p:nvPr/>
        </p:nvSpPr>
        <p:spPr>
          <a:xfrm>
            <a:off x="0" y="5786395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7CDD434-1B3C-4741-935F-CA9B00C389B7}"/>
              </a:ext>
            </a:extLst>
          </p:cNvPr>
          <p:cNvSpPr txBox="1"/>
          <p:nvPr/>
        </p:nvSpPr>
        <p:spPr>
          <a:xfrm>
            <a:off x="381000" y="5849895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Cross product = perpendicular vector whose length = parallelogram area</a:t>
            </a:r>
          </a:p>
        </p:txBody>
      </p:sp>
    </p:spTree>
    <p:extLst>
      <p:ext uri="{BB962C8B-B14F-4D97-AF65-F5344CB8AC3E}">
        <p14:creationId xmlns:p14="http://schemas.microsoft.com/office/powerpoint/2010/main" val="92389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/>
      <p:bldP spid="40" grpId="0" animBg="1"/>
      <p:bldP spid="4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559BB29-1B85-C34C-8FA0-B224E6C3725E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38144E5-49ED-2240-8323-1EE14F8507E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Cross Product — Right-Hand Rule (pseudo-3D)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7751A07-0F3C-6041-AB2F-9BB3BD5F297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u × v produces a vector perpendicular to both — pointing out of the (u, v) plane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599AFEEA-D3A8-1342-86C4-97A2A8EF1776}"/>
              </a:ext>
            </a:extLst>
          </p:cNvPr>
          <p:cNvSpPr/>
          <p:nvPr/>
        </p:nvSpPr>
        <p:spPr>
          <a:xfrm>
            <a:off x="762000" y="1270000"/>
            <a:ext cx="7112000" cy="431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Edge1">
            <a:extLst>
              <a:ext uri="{FF2B5EF4-FFF2-40B4-BE49-F238E27FC236}">
                <a16:creationId xmlns:a16="http://schemas.microsoft.com/office/drawing/2014/main" id="{D109B9FC-2AA0-DF49-8085-15D0DA5E66F8}"/>
              </a:ext>
            </a:extLst>
          </p:cNvPr>
          <p:cNvSpPr/>
          <p:nvPr/>
        </p:nvSpPr>
        <p:spPr>
          <a:xfrm>
            <a:off x="3683000" y="3800475"/>
            <a:ext cx="1524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Edge2">
            <a:extLst>
              <a:ext uri="{FF2B5EF4-FFF2-40B4-BE49-F238E27FC236}">
                <a16:creationId xmlns:a16="http://schemas.microsoft.com/office/drawing/2014/main" id="{E8D6C26E-EF9F-0C46-8663-58986F046581}"/>
              </a:ext>
            </a:extLst>
          </p:cNvPr>
          <p:cNvSpPr/>
          <p:nvPr/>
        </p:nvSpPr>
        <p:spPr>
          <a:xfrm rot="-1800000">
            <a:off x="5130433" y="3514725"/>
            <a:ext cx="1143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Edge3">
            <a:extLst>
              <a:ext uri="{FF2B5EF4-FFF2-40B4-BE49-F238E27FC236}">
                <a16:creationId xmlns:a16="http://schemas.microsoft.com/office/drawing/2014/main" id="{11CC9F94-1357-DB41-A66F-5E5EC7BD4A34}"/>
              </a:ext>
            </a:extLst>
          </p:cNvPr>
          <p:cNvSpPr/>
          <p:nvPr/>
        </p:nvSpPr>
        <p:spPr>
          <a:xfrm rot="10800000">
            <a:off x="4672867" y="3228975"/>
            <a:ext cx="1524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Edge4">
            <a:extLst>
              <a:ext uri="{FF2B5EF4-FFF2-40B4-BE49-F238E27FC236}">
                <a16:creationId xmlns:a16="http://schemas.microsoft.com/office/drawing/2014/main" id="{FF1198B4-BBA7-3946-9F0F-87928397DE8F}"/>
              </a:ext>
            </a:extLst>
          </p:cNvPr>
          <p:cNvSpPr/>
          <p:nvPr/>
        </p:nvSpPr>
        <p:spPr>
          <a:xfrm rot="9000000">
            <a:off x="3606433" y="3514725"/>
            <a:ext cx="1143000" cy="1905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PlaneLbl">
            <a:extLst>
              <a:ext uri="{FF2B5EF4-FFF2-40B4-BE49-F238E27FC236}">
                <a16:creationId xmlns:a16="http://schemas.microsoft.com/office/drawing/2014/main" id="{14815408-B9C3-024B-BDD5-210A460CFFAA}"/>
              </a:ext>
            </a:extLst>
          </p:cNvPr>
          <p:cNvSpPr txBox="1"/>
          <p:nvPr/>
        </p:nvSpPr>
        <p:spPr>
          <a:xfrm>
            <a:off x="4127500" y="3556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(u, v) plane</a:t>
            </a:r>
          </a:p>
        </p:txBody>
      </p:sp>
      <p:sp>
        <p:nvSpPr>
          <p:cNvPr id="11" name="Vec_u">
            <a:extLst>
              <a:ext uri="{FF2B5EF4-FFF2-40B4-BE49-F238E27FC236}">
                <a16:creationId xmlns:a16="http://schemas.microsoft.com/office/drawing/2014/main" id="{66B5D9CE-38A2-8647-B569-B6654A14E4D3}"/>
              </a:ext>
            </a:extLst>
          </p:cNvPr>
          <p:cNvSpPr/>
          <p:nvPr/>
        </p:nvSpPr>
        <p:spPr>
          <a:xfrm>
            <a:off x="3683000" y="3771900"/>
            <a:ext cx="1524000" cy="76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Vec_uLbl">
            <a:extLst>
              <a:ext uri="{FF2B5EF4-FFF2-40B4-BE49-F238E27FC236}">
                <a16:creationId xmlns:a16="http://schemas.microsoft.com/office/drawing/2014/main" id="{42D2B584-06C3-7747-BFB5-B71D036C674F}"/>
              </a:ext>
            </a:extLst>
          </p:cNvPr>
          <p:cNvSpPr txBox="1"/>
          <p:nvPr/>
        </p:nvSpPr>
        <p:spPr>
          <a:xfrm>
            <a:off x="5308600" y="36830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00A7B5"/>
                </a:solidFill>
                <a:latin typeface="Arial"/>
                <a:cs typeface="Arial"/>
              </a:rPr>
              <a:t>u</a:t>
            </a:r>
          </a:p>
        </p:txBody>
      </p:sp>
      <p:sp>
        <p:nvSpPr>
          <p:cNvPr id="13" name="Vec_v">
            <a:extLst>
              <a:ext uri="{FF2B5EF4-FFF2-40B4-BE49-F238E27FC236}">
                <a16:creationId xmlns:a16="http://schemas.microsoft.com/office/drawing/2014/main" id="{BB19F7AC-EA49-BD4A-B67B-D005FE7B75B6}"/>
              </a:ext>
            </a:extLst>
          </p:cNvPr>
          <p:cNvSpPr/>
          <p:nvPr/>
        </p:nvSpPr>
        <p:spPr>
          <a:xfrm rot="-1800000">
            <a:off x="3606433" y="3486150"/>
            <a:ext cx="1143000" cy="76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Vec_vLbl">
            <a:extLst>
              <a:ext uri="{FF2B5EF4-FFF2-40B4-BE49-F238E27FC236}">
                <a16:creationId xmlns:a16="http://schemas.microsoft.com/office/drawing/2014/main" id="{855835BB-8845-9D48-8EF3-A160C88BD782}"/>
              </a:ext>
            </a:extLst>
          </p:cNvPr>
          <p:cNvSpPr txBox="1"/>
          <p:nvPr/>
        </p:nvSpPr>
        <p:spPr>
          <a:xfrm>
            <a:off x="4393467" y="32893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4B2E83"/>
                </a:solidFill>
                <a:latin typeface="Arial"/>
                <a:cs typeface="Arial"/>
              </a:rPr>
              <a:t>v</a:t>
            </a:r>
          </a:p>
        </p:txBody>
      </p:sp>
      <p:sp>
        <p:nvSpPr>
          <p:cNvPr id="15" name="Vec_uv">
            <a:extLst>
              <a:ext uri="{FF2B5EF4-FFF2-40B4-BE49-F238E27FC236}">
                <a16:creationId xmlns:a16="http://schemas.microsoft.com/office/drawing/2014/main" id="{CBF2F71E-820E-FD4F-B448-33201E7B3822}"/>
              </a:ext>
            </a:extLst>
          </p:cNvPr>
          <p:cNvSpPr/>
          <p:nvPr/>
        </p:nvSpPr>
        <p:spPr>
          <a:xfrm rot="-5400000">
            <a:off x="2857500" y="2940050"/>
            <a:ext cx="1651000" cy="889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c_uvLbl">
            <a:extLst>
              <a:ext uri="{FF2B5EF4-FFF2-40B4-BE49-F238E27FC236}">
                <a16:creationId xmlns:a16="http://schemas.microsoft.com/office/drawing/2014/main" id="{EC148424-6B42-8F46-9D59-B4949B233EB4}"/>
              </a:ext>
            </a:extLst>
          </p:cNvPr>
          <p:cNvSpPr txBox="1"/>
          <p:nvPr/>
        </p:nvSpPr>
        <p:spPr>
          <a:xfrm>
            <a:off x="3746500" y="1968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i="1">
                <a:solidFill>
                  <a:srgbClr val="D1578A"/>
                </a:solidFill>
                <a:latin typeface="Arial"/>
                <a:cs typeface="Arial"/>
              </a:rPr>
              <a:t>u × v</a:t>
            </a:r>
          </a:p>
        </p:txBody>
      </p:sp>
      <p:sp>
        <p:nvSpPr>
          <p:cNvPr id="17" name="OriginDot">
            <a:extLst>
              <a:ext uri="{FF2B5EF4-FFF2-40B4-BE49-F238E27FC236}">
                <a16:creationId xmlns:a16="http://schemas.microsoft.com/office/drawing/2014/main" id="{EB5994C5-119A-A94D-8D3B-D5C95E44F880}"/>
              </a:ext>
            </a:extLst>
          </p:cNvPr>
          <p:cNvSpPr/>
          <p:nvPr/>
        </p:nvSpPr>
        <p:spPr>
          <a:xfrm>
            <a:off x="3619500" y="37465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LegCard">
            <a:extLst>
              <a:ext uri="{FF2B5EF4-FFF2-40B4-BE49-F238E27FC236}">
                <a16:creationId xmlns:a16="http://schemas.microsoft.com/office/drawing/2014/main" id="{FC7E1F2F-6050-A243-82F3-0278D1367BCB}"/>
              </a:ext>
            </a:extLst>
          </p:cNvPr>
          <p:cNvSpPr/>
          <p:nvPr/>
        </p:nvSpPr>
        <p:spPr>
          <a:xfrm>
            <a:off x="8128000" y="1270000"/>
            <a:ext cx="3683000" cy="431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LegHdr">
            <a:extLst>
              <a:ext uri="{FF2B5EF4-FFF2-40B4-BE49-F238E27FC236}">
                <a16:creationId xmlns:a16="http://schemas.microsoft.com/office/drawing/2014/main" id="{941F1C97-CE13-9E47-BA21-97461C620D01}"/>
              </a:ext>
            </a:extLst>
          </p:cNvPr>
          <p:cNvSpPr/>
          <p:nvPr/>
        </p:nvSpPr>
        <p:spPr>
          <a:xfrm>
            <a:off x="8128000" y="127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LegHdrT">
            <a:extLst>
              <a:ext uri="{FF2B5EF4-FFF2-40B4-BE49-F238E27FC236}">
                <a16:creationId xmlns:a16="http://schemas.microsoft.com/office/drawing/2014/main" id="{46C67F55-9F0F-E848-86B6-E780BE31CEAB}"/>
              </a:ext>
            </a:extLst>
          </p:cNvPr>
          <p:cNvSpPr txBox="1"/>
          <p:nvPr/>
        </p:nvSpPr>
        <p:spPr>
          <a:xfrm>
            <a:off x="8305800" y="133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Right-hand rule</a:t>
            </a:r>
          </a:p>
        </p:txBody>
      </p:sp>
      <p:sp>
        <p:nvSpPr>
          <p:cNvPr id="44" name="R1">
            <a:extLst>
              <a:ext uri="{FF2B5EF4-FFF2-40B4-BE49-F238E27FC236}">
                <a16:creationId xmlns:a16="http://schemas.microsoft.com/office/drawing/2014/main" id="{6443C810-E9B7-3A4F-B67D-C2CB0696779A}"/>
              </a:ext>
            </a:extLst>
          </p:cNvPr>
          <p:cNvSpPr txBox="1"/>
          <p:nvPr/>
        </p:nvSpPr>
        <p:spPr>
          <a:xfrm>
            <a:off x="8356600" y="1841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Direction:</a:t>
            </a:r>
          </a:p>
        </p:txBody>
      </p:sp>
      <p:sp>
        <p:nvSpPr>
          <p:cNvPr id="45" name="R1b">
            <a:extLst>
              <a:ext uri="{FF2B5EF4-FFF2-40B4-BE49-F238E27FC236}">
                <a16:creationId xmlns:a16="http://schemas.microsoft.com/office/drawing/2014/main" id="{A4EF1D8B-FB6C-2143-9314-F8774B4E212A}"/>
              </a:ext>
            </a:extLst>
          </p:cNvPr>
          <p:cNvSpPr txBox="1"/>
          <p:nvPr/>
        </p:nvSpPr>
        <p:spPr>
          <a:xfrm>
            <a:off x="8356600" y="20701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Curl right-hand fingers from u
toward v — thumb points along u×v.</a:t>
            </a:r>
          </a:p>
        </p:txBody>
      </p:sp>
      <p:sp>
        <p:nvSpPr>
          <p:cNvPr id="46" name="R2">
            <a:extLst>
              <a:ext uri="{FF2B5EF4-FFF2-40B4-BE49-F238E27FC236}">
                <a16:creationId xmlns:a16="http://schemas.microsoft.com/office/drawing/2014/main" id="{887E1938-F444-534C-82B8-1D86DF27271B}"/>
              </a:ext>
            </a:extLst>
          </p:cNvPr>
          <p:cNvSpPr txBox="1"/>
          <p:nvPr/>
        </p:nvSpPr>
        <p:spPr>
          <a:xfrm>
            <a:off x="8356600" y="2603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  <a:latin typeface="Arial"/>
                <a:cs typeface="Arial"/>
              </a:rPr>
              <a:t>Magnitude:</a:t>
            </a:r>
          </a:p>
        </p:txBody>
      </p:sp>
      <p:sp>
        <p:nvSpPr>
          <p:cNvPr id="47" name="R2b">
            <a:extLst>
              <a:ext uri="{FF2B5EF4-FFF2-40B4-BE49-F238E27FC236}">
                <a16:creationId xmlns:a16="http://schemas.microsoft.com/office/drawing/2014/main" id="{25F9ABA0-0020-3B4B-AE81-D5405D51B797}"/>
              </a:ext>
            </a:extLst>
          </p:cNvPr>
          <p:cNvSpPr txBox="1"/>
          <p:nvPr/>
        </p:nvSpPr>
        <p:spPr>
          <a:xfrm>
            <a:off x="8356600" y="2832100"/>
            <a:ext cx="3429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777777"/>
                </a:solidFill>
                <a:latin typeface="Cambria Math"/>
                <a:ea typeface="Cambria Math"/>
              </a:rPr>
              <a:t>‖u × v‖ = ‖u‖ · ‖v‖ · sin </a:t>
            </a:r>
            <a:r>
              <a:rPr lang="el-GR" sz="1200">
                <a:solidFill>
                  <a:srgbClr val="777777"/>
                </a:solidFill>
                <a:latin typeface="Cambria Math"/>
                <a:ea typeface="Cambria Math"/>
              </a:rPr>
              <a:t>θ
= </a:t>
            </a:r>
            <a:r>
              <a:rPr lang="en-US" sz="1200">
                <a:solidFill>
                  <a:srgbClr val="777777"/>
                </a:solidFill>
                <a:latin typeface="Cambria Math"/>
                <a:ea typeface="Cambria Math"/>
              </a:rPr>
              <a:t>area of the parallelogram</a:t>
            </a:r>
          </a:p>
        </p:txBody>
      </p:sp>
      <p:sp>
        <p:nvSpPr>
          <p:cNvPr id="48" name="PropBox">
            <a:extLst>
              <a:ext uri="{FF2B5EF4-FFF2-40B4-BE49-F238E27FC236}">
                <a16:creationId xmlns:a16="http://schemas.microsoft.com/office/drawing/2014/main" id="{E98A0C52-83D0-9545-872C-BDF1F9A0490A}"/>
              </a:ext>
            </a:extLst>
          </p:cNvPr>
          <p:cNvSpPr/>
          <p:nvPr/>
        </p:nvSpPr>
        <p:spPr>
          <a:xfrm>
            <a:off x="8356600" y="3365500"/>
            <a:ext cx="3225800" cy="1270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ropT">
            <a:extLst>
              <a:ext uri="{FF2B5EF4-FFF2-40B4-BE49-F238E27FC236}">
                <a16:creationId xmlns:a16="http://schemas.microsoft.com/office/drawing/2014/main" id="{8D551A16-09C8-4A48-8179-0EB22D34B879}"/>
              </a:ext>
            </a:extLst>
          </p:cNvPr>
          <p:cNvSpPr txBox="1"/>
          <p:nvPr/>
        </p:nvSpPr>
        <p:spPr>
          <a:xfrm>
            <a:off x="8432800" y="3429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333333"/>
                </a:solidFill>
                <a:latin typeface="Arial"/>
                <a:cs typeface="Arial"/>
              </a:rPr>
              <a:t>Key properties:</a:t>
            </a:r>
          </a:p>
        </p:txBody>
      </p:sp>
      <p:sp>
        <p:nvSpPr>
          <p:cNvPr id="50" name="PropL1">
            <a:extLst>
              <a:ext uri="{FF2B5EF4-FFF2-40B4-BE49-F238E27FC236}">
                <a16:creationId xmlns:a16="http://schemas.microsoft.com/office/drawing/2014/main" id="{16AE0521-2D71-E149-A239-4327CE92E556}"/>
              </a:ext>
            </a:extLst>
          </p:cNvPr>
          <p:cNvSpPr txBox="1"/>
          <p:nvPr/>
        </p:nvSpPr>
        <p:spPr>
          <a:xfrm>
            <a:off x="8432800" y="36830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u × v = − (v × u)   (anti-commutative)</a:t>
            </a:r>
          </a:p>
        </p:txBody>
      </p:sp>
      <p:sp>
        <p:nvSpPr>
          <p:cNvPr id="51" name="PropL2">
            <a:extLst>
              <a:ext uri="{FF2B5EF4-FFF2-40B4-BE49-F238E27FC236}">
                <a16:creationId xmlns:a16="http://schemas.microsoft.com/office/drawing/2014/main" id="{AC8B47BF-8809-6C4C-B029-E4BB4F54CC9F}"/>
              </a:ext>
            </a:extLst>
          </p:cNvPr>
          <p:cNvSpPr txBox="1"/>
          <p:nvPr/>
        </p:nvSpPr>
        <p:spPr>
          <a:xfrm>
            <a:off x="8432800" y="39116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u × u = 0   (parallel → zero)</a:t>
            </a:r>
          </a:p>
        </p:txBody>
      </p:sp>
      <p:sp>
        <p:nvSpPr>
          <p:cNvPr id="52" name="PropL3">
            <a:extLst>
              <a:ext uri="{FF2B5EF4-FFF2-40B4-BE49-F238E27FC236}">
                <a16:creationId xmlns:a16="http://schemas.microsoft.com/office/drawing/2014/main" id="{BBCD8F45-6500-4842-9595-E586BB54F4F6}"/>
              </a:ext>
            </a:extLst>
          </p:cNvPr>
          <p:cNvSpPr txBox="1"/>
          <p:nvPr/>
        </p:nvSpPr>
        <p:spPr>
          <a:xfrm>
            <a:off x="8432800" y="41402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Only defined in 3D (and 7D)</a:t>
            </a:r>
          </a:p>
        </p:txBody>
      </p:sp>
      <p:sp>
        <p:nvSpPr>
          <p:cNvPr id="53" name="PropL4">
            <a:extLst>
              <a:ext uri="{FF2B5EF4-FFF2-40B4-BE49-F238E27FC236}">
                <a16:creationId xmlns:a16="http://schemas.microsoft.com/office/drawing/2014/main" id="{331065A5-B2DE-5743-9E6D-FD9EFE4B5F18}"/>
              </a:ext>
            </a:extLst>
          </p:cNvPr>
          <p:cNvSpPr txBox="1"/>
          <p:nvPr/>
        </p:nvSpPr>
        <p:spPr>
          <a:xfrm>
            <a:off x="8432800" y="4368800"/>
            <a:ext cx="3098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  <a:latin typeface="Arial"/>
                <a:cs typeface="Arial"/>
              </a:rPr>
              <a:t>• Distributive: u × (v + w) = u×v + u×w</a:t>
            </a:r>
          </a:p>
        </p:txBody>
      </p:sp>
      <p:sp>
        <p:nvSpPr>
          <p:cNvPr id="54" name="Use">
            <a:extLst>
              <a:ext uri="{FF2B5EF4-FFF2-40B4-BE49-F238E27FC236}">
                <a16:creationId xmlns:a16="http://schemas.microsoft.com/office/drawing/2014/main" id="{B25E6ABF-81BE-8B4C-9149-77A732379CC9}"/>
              </a:ext>
            </a:extLst>
          </p:cNvPr>
          <p:cNvSpPr txBox="1"/>
          <p:nvPr/>
        </p:nvSpPr>
        <p:spPr>
          <a:xfrm>
            <a:off x="8356600" y="4826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  <a:latin typeface="Arial"/>
                <a:cs typeface="Arial"/>
              </a:rPr>
              <a:t>Uses: torque, angular momentum,
normals to surfaces, 3D rotation axes.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E91F45DF-FA76-2641-AC47-DA3B5705BA0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50CBC923-652C-154F-8F2C-92C479C5583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Cross product = vector perpendicular to both inputs, with magnitude = parallelogram area</a:t>
            </a:r>
          </a:p>
        </p:txBody>
      </p:sp>
    </p:spTree>
    <p:extLst>
      <p:ext uri="{BB962C8B-B14F-4D97-AF65-F5344CB8AC3E}">
        <p14:creationId xmlns:p14="http://schemas.microsoft.com/office/powerpoint/2010/main" val="331548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DCDB6ECB-6660-D944-B515-E656DD89534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7B55653-B299-B84E-A83F-748A900672BC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Cross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E7997A6-6A69-4043-BDA7-D00FE36F726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General vectors in 3D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46FBBF04-6642-5943-8F5E-2C2AE4273E2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0D2F1EA0-6E3D-274F-8962-F1694290BF95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CFCCA8E0-DD15-584D-9014-C62E71AC5425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C836D473-9F23-BD41-8C3C-335DFD048EB0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 u × v   where   u = (1, 2, 3)   and   v = (4, 5, 6)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68BD5F89-0BA7-0348-9CBE-0BE5EF48EF2F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C5B78FD-7280-254A-8864-CFF46A06C5E4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9E1DBAA0-69FE-7F4F-BE52-AE254BCC60A8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D67F1E7-E1CC-9645-A5B9-B4917907A637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Apply the formula  u × v = (u₂v₃−u₃v₂, u₃v₁−u₁v₃, u₁v₂−u₂v₁)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67F1821-8B9B-0E41-91A9-CF02C94E46AD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v)₁ = 2·6 − 3·5 = 12 − 15 = −3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7187640-98E4-5B42-A38E-4BBA7EB98404}"/>
              </a:ext>
            </a:extLst>
          </p:cNvPr>
          <p:cNvSpPr txBox="1"/>
          <p:nvPr/>
        </p:nvSpPr>
        <p:spPr>
          <a:xfrm>
            <a:off x="558800" y="4089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v)₂ = 3·4 − 1·6 = 12 − 6 = 6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61D3EE5-ABA2-2D45-994F-C701F252B9BF}"/>
              </a:ext>
            </a:extLst>
          </p:cNvPr>
          <p:cNvSpPr txBox="1"/>
          <p:nvPr/>
        </p:nvSpPr>
        <p:spPr>
          <a:xfrm>
            <a:off x="558800" y="4343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(u × v)₃ = 1·5 − 2·4 = 5 − 8 = −3</a:t>
            </a:r>
          </a:p>
        </p:txBody>
      </p:sp>
      <p:sp>
        <p:nvSpPr>
          <p:cNvPr id="16" name="SCheck">
            <a:extLst>
              <a:ext uri="{FF2B5EF4-FFF2-40B4-BE49-F238E27FC236}">
                <a16:creationId xmlns:a16="http://schemas.microsoft.com/office/drawing/2014/main" id="{21C8B6C5-FF34-4B4B-AEDA-B8FAD270FA27}"/>
              </a:ext>
            </a:extLst>
          </p:cNvPr>
          <p:cNvSpPr txBox="1"/>
          <p:nvPr/>
        </p:nvSpPr>
        <p:spPr>
          <a:xfrm>
            <a:off x="558800" y="4622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Check perpendicularity:  u·(u×v) = 1(−3)+2(6)+3(−3) = 0   ✓</a:t>
            </a:r>
          </a:p>
        </p:txBody>
      </p:sp>
      <p:sp>
        <p:nvSpPr>
          <p:cNvPr id="17" name="SAns">
            <a:extLst>
              <a:ext uri="{FF2B5EF4-FFF2-40B4-BE49-F238E27FC236}">
                <a16:creationId xmlns:a16="http://schemas.microsoft.com/office/drawing/2014/main" id="{BE2C7230-584E-0243-A1E0-3609DBA1F3DB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u × v = (−3, 6, −3)</a:t>
            </a:r>
          </a:p>
        </p:txBody>
      </p:sp>
      <p:sp>
        <p:nvSpPr>
          <p:cNvPr id="18" name="TkBar">
            <a:extLst>
              <a:ext uri="{FF2B5EF4-FFF2-40B4-BE49-F238E27FC236}">
                <a16:creationId xmlns:a16="http://schemas.microsoft.com/office/drawing/2014/main" id="{CCE67EBC-5FF3-954F-A726-81E9B086EE10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Text">
            <a:extLst>
              <a:ext uri="{FF2B5EF4-FFF2-40B4-BE49-F238E27FC236}">
                <a16:creationId xmlns:a16="http://schemas.microsoft.com/office/drawing/2014/main" id="{BE1CA40F-8A81-214F-A03E-936EB22BDA6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Result is perpendicular to both inputs — verified by dot products being 0</a:t>
            </a:r>
          </a:p>
        </p:txBody>
      </p:sp>
    </p:spTree>
    <p:extLst>
      <p:ext uri="{BB962C8B-B14F-4D97-AF65-F5344CB8AC3E}">
        <p14:creationId xmlns:p14="http://schemas.microsoft.com/office/powerpoint/2010/main" val="244645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42B40E9C-B917-6A42-8771-4A891DA08E54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69C6F2EE-97A7-604E-AF62-65FB67513CA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Cross Product (Standard Basis)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7CC64BC6-159B-0F46-A384-13C6E8BCB2B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i × j: foundation of the right-hand rule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39CA5250-C205-9644-B539-1A245CBACC67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4DA1F7E1-1C3E-674D-B277-67A83A1586F2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02C93A05-08A9-304F-9A22-5F4F3DD3FF66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B457D6C4-0CAB-5C4F-8CE5-824B1759C96C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i × j   where   i = (1, 0, 0)   and   j = (0, 1, 0).   What about j × i?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1C8FA933-3D9C-E34C-A231-2C70C1864847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1392DEB8-670E-F040-A6D1-3A29D2BE030B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05C3F59B-93D8-5640-9DCD-FB969B375C24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3F7BDF9D-1DB7-C542-AF59-1DEF12EB2799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Components of i × j: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C400598F-716D-5D4B-B5DB-C179BCC0445B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(i × j)₁ = 0·0 − 0·1 = 0     (i × j)₂ = 0·0 − 1·0 = 0     (i × j)₃ = 1·1 − 0·0 = 1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0400E946-5269-AA4F-B7F6-8D24D9FD6E8F}"/>
              </a:ext>
            </a:extLst>
          </p:cNvPr>
          <p:cNvSpPr txBox="1"/>
          <p:nvPr/>
        </p:nvSpPr>
        <p:spPr>
          <a:xfrm>
            <a:off x="558800" y="4140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So  i × j = (0, 0, 1) = k   — the third standard basis vector (z-axis).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4BA60F52-D4CC-1D49-9360-FEAD7EA93C41}"/>
              </a:ext>
            </a:extLst>
          </p:cNvPr>
          <p:cNvSpPr txBox="1"/>
          <p:nvPr/>
        </p:nvSpPr>
        <p:spPr>
          <a:xfrm>
            <a:off x="558800" y="4445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By anti-commutativity:  j × i = −(i × j) = (0, 0, −1) = −k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3589F256-B0B9-3044-B26C-9FDF29CD62DA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i × j = k     and     j × i = −k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09388969-E2BB-4143-B668-19C7A6238CA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3293BA96-40C5-CF42-A0AF-69D26E80090B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Swapping the order of a cross product flips its direction</a:t>
            </a:r>
          </a:p>
        </p:txBody>
      </p:sp>
    </p:spTree>
    <p:extLst>
      <p:ext uri="{BB962C8B-B14F-4D97-AF65-F5344CB8AC3E}">
        <p14:creationId xmlns:p14="http://schemas.microsoft.com/office/powerpoint/2010/main" val="334852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B4DE717-F6C6-B14C-8255-58023632C67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688F3B-509E-EE43-80B4-D623FBC52A4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Parallelogram Area via Cross Product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64C255C9-343D-B34A-85F5-5F6D8EB5C32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 interpretation of ‖u × v‖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F991570-AE69-D34C-A561-6439529A78B5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B3DEDA31-4382-FC4E-863C-F7F27DEACF8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E4AC903D-C076-E342-AE6E-F5B9A8A3380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0704A9C9-BC4A-2147-837A-283793125A5C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dirty="0">
                <a:solidFill>
                  <a:srgbClr val="333333"/>
                </a:solidFill>
                <a:latin typeface="Cambria Math"/>
                <a:ea typeface="Cambria Math"/>
              </a:rPr>
              <a:t>Find the area of the parallelogram spanned by u = (2, 0, 0) and v = (0, 3, 4).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B6389C84-15BD-7B45-8AB6-2360B8E3EC5C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7C43C351-8897-8449-BDF5-D8163065EEE1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8806F6A-D6D0-4343-806B-B373C0559DFE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218DB3B3-0D94-2545-A489-686F7C309142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Compute u × v.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B4B3A4B8-E753-1444-993F-108577E445F1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u × v = (0·4 − 0·3,   0·0 − 2·4,   2·3 − 0·0)  =  (0, −8, 6)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ACF85B5E-22B1-4A4D-B695-5BECC0719103}"/>
              </a:ext>
            </a:extLst>
          </p:cNvPr>
          <p:cNvSpPr txBox="1"/>
          <p:nvPr/>
        </p:nvSpPr>
        <p:spPr>
          <a:xfrm>
            <a:off x="558800" y="4140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2.  Area = ‖u × v‖ = √(0² + 64 + 36) = √100 = 10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B5832EF3-4A6A-E445-B30F-C37A79482741}"/>
              </a:ext>
            </a:extLst>
          </p:cNvPr>
          <p:cNvSpPr txBox="1"/>
          <p:nvPr/>
        </p:nvSpPr>
        <p:spPr>
          <a:xfrm>
            <a:off x="558800" y="4445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Cross-check:  ‖u‖·‖v‖·sin </a:t>
            </a:r>
            <a:r>
              <a:rPr lang="el-GR" sz="1300" i="1">
                <a:solidFill>
                  <a:srgbClr val="B0B0B0"/>
                </a:solidFill>
                <a:latin typeface="Arial"/>
                <a:cs typeface="Arial"/>
              </a:rPr>
              <a:t>θ = 2·5·1 = 10  (</a:t>
            </a:r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since u ⊥ v, sin </a:t>
            </a:r>
            <a:r>
              <a:rPr lang="el-GR" sz="1300" i="1">
                <a:solidFill>
                  <a:srgbClr val="B0B0B0"/>
                </a:solidFill>
                <a:latin typeface="Arial"/>
                <a:cs typeface="Arial"/>
              </a:rPr>
              <a:t>θ = 1).</a:t>
            </a:r>
            <a:endParaRPr lang="en-US" sz="1300" i="1">
              <a:solidFill>
                <a:srgbClr val="B0B0B0"/>
              </a:solidFill>
              <a:latin typeface="Arial"/>
              <a:cs typeface="Arial"/>
            </a:endParaRP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7CB0364D-6D58-2F44-B642-5286289330F1}"/>
              </a:ext>
            </a:extLst>
          </p:cNvPr>
          <p:cNvSpPr txBox="1"/>
          <p:nvPr/>
        </p:nvSpPr>
        <p:spPr>
          <a:xfrm>
            <a:off x="558800" y="4902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Area = 10 square units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6ACC36EF-0501-2D4E-AB95-BF37D4D171B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FECAEB8F-DBD3-2243-95C7-B73716E4B33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‖u × v‖ literally equals the area of the parallelogram formed by u and v</a:t>
            </a:r>
          </a:p>
        </p:txBody>
      </p:sp>
    </p:spTree>
    <p:extLst>
      <p:ext uri="{BB962C8B-B14F-4D97-AF65-F5344CB8AC3E}">
        <p14:creationId xmlns:p14="http://schemas.microsoft.com/office/powerpoint/2010/main" val="391700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101"/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102"/>
          <p:cNvSpPr txBox="1"/>
          <p:nvPr/>
        </p:nvSpPr>
        <p:spPr>
          <a:xfrm>
            <a:off x="381000" y="355600"/>
            <a:ext cx="96520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Visualizing the Parallelogram Spanned by u and v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i="1" dirty="0">
                <a:solidFill>
                  <a:srgbClr val="4B2E83"/>
                </a:solidFill>
                <a:latin typeface="Arial"/>
                <a:cs typeface="Arial"/>
              </a:rPr>
              <a:t>Geometric view of u = (2, 0, 0) and v = (0, 3, 4) — the area equals ‖u × v‖</a:t>
            </a:r>
          </a:p>
        </p:txBody>
      </p:sp>
      <p:cxnSp>
        <p:nvCxnSpPr>
          <p:cNvPr id="104" name="ln104"/>
          <p:cNvCxnSpPr/>
          <p:nvPr/>
        </p:nvCxnSpPr>
        <p:spPr>
          <a:xfrm>
            <a:off x="3810000" y="4635500"/>
            <a:ext cx="1986280" cy="112268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cxnSp>
        <p:nvCxnSpPr>
          <p:cNvPr id="105" name="ln105"/>
          <p:cNvCxnSpPr/>
          <p:nvPr/>
        </p:nvCxnSpPr>
        <p:spPr>
          <a:xfrm>
            <a:off x="3810000" y="4635500"/>
            <a:ext cx="3464560" cy="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cxnSp>
        <p:nvCxnSpPr>
          <p:cNvPr id="106" name="ln106"/>
          <p:cNvCxnSpPr/>
          <p:nvPr/>
        </p:nvCxnSpPr>
        <p:spPr>
          <a:xfrm flipV="1">
            <a:off x="3810000" y="1422400"/>
            <a:ext cx="0" cy="3213100"/>
          </a:xfrm>
          <a:prstGeom prst="line">
            <a:avLst/>
          </a:prstGeom>
          <a:ln w="15875" cap="rnd">
            <a:solidFill>
              <a:srgbClr val="B0A8C4"/>
            </a:solidFill>
            <a:tailEnd type="triangle" w="med" len="med"/>
          </a:ln>
        </p:spPr>
      </p:cxnSp>
      <p:sp>
        <p:nvSpPr>
          <p:cNvPr id="107" name="t107"/>
          <p:cNvSpPr txBox="1"/>
          <p:nvPr/>
        </p:nvSpPr>
        <p:spPr>
          <a:xfrm>
            <a:off x="5847080" y="583438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x</a:t>
            </a:r>
          </a:p>
        </p:txBody>
      </p:sp>
      <p:sp>
        <p:nvSpPr>
          <p:cNvPr id="108" name="t108"/>
          <p:cNvSpPr txBox="1"/>
          <p:nvPr/>
        </p:nvSpPr>
        <p:spPr>
          <a:xfrm>
            <a:off x="7350760" y="45847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y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3530600" y="12192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8A82A0"/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110" name="poly110"/>
          <p:cNvSpPr/>
          <p:nvPr/>
        </p:nvSpPr>
        <p:spPr>
          <a:xfrm>
            <a:off x="3810000" y="1993900"/>
            <a:ext cx="3530600" cy="3302000"/>
          </a:xfrm>
          <a:custGeom>
            <a:avLst/>
            <a:gdLst/>
            <a:ahLst/>
            <a:cxnLst/>
            <a:rect l="0" t="0" r="0" b="0"/>
            <a:pathLst>
              <a:path w="3530600" h="3302000">
                <a:moveTo>
                  <a:pt x="0" y="2641600"/>
                </a:moveTo>
                <a:lnTo>
                  <a:pt x="1168400" y="3302000"/>
                </a:lnTo>
                <a:lnTo>
                  <a:pt x="3530600" y="660400"/>
                </a:lnTo>
                <a:lnTo>
                  <a:pt x="2362200" y="0"/>
                </a:lnTo>
                <a:close/>
              </a:path>
            </a:pathLst>
          </a:custGeom>
          <a:solidFill>
            <a:srgbClr val="00A7B5">
              <a:alpha val="28000"/>
            </a:srgbClr>
          </a:solidFill>
          <a:ln w="2540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11" name="ln111"/>
          <p:cNvCxnSpPr/>
          <p:nvPr/>
        </p:nvCxnSpPr>
        <p:spPr>
          <a:xfrm>
            <a:off x="3810000" y="4635500"/>
            <a:ext cx="1168400" cy="660400"/>
          </a:xfrm>
          <a:prstGeom prst="line">
            <a:avLst/>
          </a:prstGeom>
          <a:ln w="38100" cap="rnd">
            <a:solidFill>
              <a:srgbClr val="D1578A"/>
            </a:solidFill>
            <a:tailEnd type="triangle" w="med" len="med"/>
          </a:ln>
        </p:spPr>
      </p:cxnSp>
      <p:cxnSp>
        <p:nvCxnSpPr>
          <p:cNvPr id="112" name="ln112"/>
          <p:cNvCxnSpPr/>
          <p:nvPr/>
        </p:nvCxnSpPr>
        <p:spPr>
          <a:xfrm flipV="1">
            <a:off x="3810000" y="1993900"/>
            <a:ext cx="2362200" cy="26416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113" name="ln113"/>
          <p:cNvCxnSpPr/>
          <p:nvPr/>
        </p:nvCxnSpPr>
        <p:spPr>
          <a:xfrm flipH="1" flipV="1">
            <a:off x="2550160" y="3843020"/>
            <a:ext cx="1259840" cy="79248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114" name="r114"/>
          <p:cNvSpPr/>
          <p:nvPr/>
        </p:nvSpPr>
        <p:spPr>
          <a:xfrm>
            <a:off x="3771900" y="4597400"/>
            <a:ext cx="76200" cy="76200"/>
          </a:xfrm>
          <a:prstGeom prst="ellipse">
            <a:avLst/>
          </a:prstGeom>
          <a:solidFill>
            <a:srgbClr val="33333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t115"/>
          <p:cNvSpPr txBox="1"/>
          <p:nvPr/>
        </p:nvSpPr>
        <p:spPr>
          <a:xfrm>
            <a:off x="4445000" y="5359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  <a:latin typeface="Arial"/>
                <a:cs typeface="Arial"/>
              </a:rPr>
              <a:t>u = (2, 0, 0)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6273800" y="19177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  <a:latin typeface="Arial"/>
                <a:cs typeface="Arial"/>
              </a:rPr>
              <a:t>v = (0, 3, 4)</a:t>
            </a:r>
          </a:p>
        </p:txBody>
      </p:sp>
      <p:sp>
        <p:nvSpPr>
          <p:cNvPr id="117" name="t117"/>
          <p:cNvSpPr txBox="1"/>
          <p:nvPr/>
        </p:nvSpPr>
        <p:spPr>
          <a:xfrm>
            <a:off x="1051560" y="376682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b="1" dirty="0">
                <a:solidFill>
                  <a:srgbClr val="5E8E38"/>
                </a:solidFill>
                <a:latin typeface="Arial"/>
                <a:cs typeface="Arial"/>
              </a:rPr>
              <a:t>u × v = (0, –8, 6)</a:t>
            </a:r>
          </a:p>
        </p:txBody>
      </p:sp>
      <p:sp>
        <p:nvSpPr>
          <p:cNvPr id="118" name="r118"/>
          <p:cNvSpPr/>
          <p:nvPr/>
        </p:nvSpPr>
        <p:spPr>
          <a:xfrm>
            <a:off x="8382000" y="1905000"/>
            <a:ext cx="3454400" cy="3175000"/>
          </a:xfrm>
          <a:prstGeom prst="rect">
            <a:avLst/>
          </a:prstGeom>
          <a:solidFill>
            <a:srgbClr val="F5F0EB">
              <a:alpha val="100000"/>
            </a:srgbClr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r119"/>
          <p:cNvSpPr/>
          <p:nvPr/>
        </p:nvSpPr>
        <p:spPr>
          <a:xfrm>
            <a:off x="8382000" y="1905000"/>
            <a:ext cx="3454400" cy="431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120"/>
          <p:cNvSpPr txBox="1"/>
          <p:nvPr/>
        </p:nvSpPr>
        <p:spPr>
          <a:xfrm>
            <a:off x="8585200" y="19939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Area = ‖u × v‖</a:t>
            </a:r>
          </a:p>
        </p:txBody>
      </p:sp>
      <p:sp>
        <p:nvSpPr>
          <p:cNvPr id="121" name="t121"/>
          <p:cNvSpPr txBox="1"/>
          <p:nvPr/>
        </p:nvSpPr>
        <p:spPr>
          <a:xfrm>
            <a:off x="8585200" y="2514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u × v = (0, –8, 6)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8585200" y="2895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‖u × v‖ = √(0² + 8² + 6²)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8585200" y="327660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Cambria Math"/>
                <a:cs typeface="Cambria Math"/>
              </a:rPr>
              <a:t>= √(64 + 36) = √100</a:t>
            </a:r>
          </a:p>
        </p:txBody>
      </p:sp>
      <p:sp>
        <p:nvSpPr>
          <p:cNvPr id="124" name="r124"/>
          <p:cNvSpPr/>
          <p:nvPr/>
        </p:nvSpPr>
        <p:spPr>
          <a:xfrm>
            <a:off x="8585200" y="3708400"/>
            <a:ext cx="3048000" cy="12700"/>
          </a:xfrm>
          <a:prstGeom prst="rect">
            <a:avLst/>
          </a:prstGeom>
          <a:solidFill>
            <a:srgbClr val="B7A57A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t125"/>
          <p:cNvSpPr txBox="1"/>
          <p:nvPr/>
        </p:nvSpPr>
        <p:spPr>
          <a:xfrm>
            <a:off x="8585200" y="38608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  <a:latin typeface="Cambria Math"/>
                <a:cs typeface="Cambria Math"/>
              </a:rPr>
              <a:t>Area = 10 square units</a:t>
            </a:r>
          </a:p>
        </p:txBody>
      </p:sp>
      <p:sp>
        <p:nvSpPr>
          <p:cNvPr id="126" name="r126"/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t127"/>
          <p:cNvSpPr txBox="1"/>
          <p:nvPr/>
        </p:nvSpPr>
        <p:spPr>
          <a:xfrm>
            <a:off x="381000" y="5969000"/>
            <a:ext cx="1143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The magnitude of the cross product ‖u × v‖ IS the area of the parallelogram the two vectors span.</a:t>
            </a:r>
          </a:p>
        </p:txBody>
      </p:sp>
    </p:spTree>
    <p:extLst>
      <p:ext uri="{BB962C8B-B14F-4D97-AF65-F5344CB8AC3E}">
        <p14:creationId xmlns:p14="http://schemas.microsoft.com/office/powerpoint/2010/main" val="398798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 dirty="0">
                    <a:solidFill>
                      <a:srgbClr val="FFFFFF"/>
                    </a:solidFill>
                    <a:latin typeface="Calibri"/>
                  </a:rPr>
                  <a:t>Exercise — Area of the parallelogram spanned by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6250"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parallelogram spanned by u and v is shaded on the grid. Find its area.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In 2D the area equals the absolute value of the 2×2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Area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=|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₂−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₁|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=(3, 0)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2)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area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of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shaded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parallelogram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Parallelogram spanned by u, v</a:t>
            </a:r>
          </a:p>
        </p:txBody>
      </p:sp>
      <p:sp>
        <p:nvSpPr>
          <p:cNvPr id="700" name="SpanFill"/>
          <p:cNvSpPr/>
          <p:nvPr/>
        </p:nvSpPr>
        <p:spPr>
          <a:xfrm>
            <a:off x="1206500" y="4140200"/>
            <a:ext cx="1930400" cy="9652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100000"/>
                </a:moveTo>
                <a:lnTo>
                  <a:pt x="75000" y="100000"/>
                </a:lnTo>
                <a:lnTo>
                  <a:pt x="100000" y="0"/>
                </a:lnTo>
                <a:lnTo>
                  <a:pt x="25000" y="0"/>
                </a:lnTo>
                <a:close/>
              </a:path>
            </a:pathLst>
          </a:custGeom>
          <a:solidFill>
            <a:srgbClr val="4B2E83">
              <a:alpha val="18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820" name="EdgeTop"/>
          <p:cNvCxnSpPr/>
          <p:nvPr/>
        </p:nvCxnSpPr>
        <p:spPr>
          <a:xfrm>
            <a:off x="1689100" y="4140200"/>
            <a:ext cx="1447800" cy="12700"/>
          </a:xfrm>
          <a:prstGeom prst="line">
            <a:avLst/>
          </a:prstGeom>
          <a:ln w="19050">
            <a:solidFill>
              <a:srgbClr val="4B2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EdgeRight"/>
          <p:cNvCxnSpPr/>
          <p:nvPr/>
        </p:nvCxnSpPr>
        <p:spPr>
          <a:xfrm flipV="1">
            <a:off x="2654300" y="4140200"/>
            <a:ext cx="482600" cy="965200"/>
          </a:xfrm>
          <a:prstGeom prst="line">
            <a:avLst/>
          </a:prstGeom>
          <a:ln w="19050">
            <a:solidFill>
              <a:srgbClr val="00A7B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10" name="DotArr810"/>
          <p:cNvCxnSpPr/>
          <p:nvPr/>
        </p:nvCxnSpPr>
        <p:spPr>
          <a:xfrm flipV="1">
            <a:off x="1206500" y="5105400"/>
            <a:ext cx="1447800" cy="12700"/>
          </a:xfrm>
          <a:prstGeom prst="line">
            <a:avLst/>
          </a:prstGeom>
          <a:ln w="3492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492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2628900" y="5181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5181600"/>
                <a:ext cx="2794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1435100" y="4038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" y="40386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AreaSolBox"/>
          <p:cNvSpPr/>
          <p:nvPr/>
        </p:nvSpPr>
        <p:spPr>
          <a:xfrm>
            <a:off x="6667500" y="2235200"/>
            <a:ext cx="4953000" cy="2997200"/>
          </a:xfrm>
          <a:prstGeom prst="roundRect">
            <a:avLst>
              <a:gd name="adj" fmla="val 5000"/>
            </a:avLst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AreaSolTxt"/>
              <p:cNvSpPr/>
              <p:nvPr/>
            </p:nvSpPr>
            <p:spPr>
              <a:xfrm>
                <a:off x="6832600" y="2362200"/>
                <a:ext cx="4648200" cy="2794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:r>
                  <a:rPr lang="en-US" sz="1200" b="1" dirty="0">
                    <a:solidFill>
                      <a:srgbClr val="4B2E83"/>
                    </a:solidFill>
                    <a:latin typeface="Calibri"/>
                  </a:rPr>
                  <a:t>Use the 2×2 determinant: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Area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</m:t>
                      </m:r>
                      <m:r>
                        <a:rPr lang="en-US" sz="14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₂−</m:t>
                      </m:r>
                      <m:r>
                        <a:rPr lang="en-US" sz="14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₁|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=|(3)(2)−(0)(1)|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=|6−0|</m:t>
                      </m:r>
                    </m:oMath>
                  </m:oMathPara>
                </a14:m>
                <a:endParaRPr lang="en-US" sz="1200" b="1" dirty="0">
                  <a:solidFill>
                    <a:srgbClr val="4B2E83"/>
                  </a:solidFill>
                  <a:latin typeface="Calibri"/>
                </a:endParaRPr>
              </a:p>
              <a:p>
                <a:pPr algn="l"/>
                <a:endParaRPr lang="en-US" sz="30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𝑨𝒓𝒆𝒂</m:t>
                      </m:r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sz="300"/>
              </a:p>
              <a:p>
                <a:pPr algn="l"/>
                <a:r>
                  <a:rPr lang="en-US" sz="1100" i="1" dirty="0">
                    <a:solidFill>
                      <a:srgbClr val="5A8A2A"/>
                    </a:solidFill>
                    <a:latin typeface="Calibri"/>
                  </a:rPr>
                  <a:t>square units (base 3 × height 2).</a:t>
                </a:r>
              </a:p>
            </p:txBody>
          </p:sp>
        </mc:Choice>
        <mc:Fallback xmlns="">
          <p:sp>
            <p:nvSpPr>
              <p:cNvPr id="221" name="Area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362200"/>
                <a:ext cx="4648200" cy="2794000"/>
              </a:xfrm>
              <a:prstGeom prst="rect">
                <a:avLst/>
              </a:prstGeom>
              <a:blipFill>
                <a:blip r:embed="rId8"/>
                <a:stretch>
                  <a:fillRect t="-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  <a:latin typeface="Calibri"/>
              </a:rPr>
              <a:t>Compute the area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84945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/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2000" b="1" dirty="0">
                    <a:solidFill>
                      <a:srgbClr val="FFFFFF"/>
                    </a:solidFill>
                    <a:latin typeface="Calibri"/>
                  </a:rPr>
                  <a:t>Exercise — Area of the parallelogram spanned by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b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itle">
                <a:extLst>
                  <a:ext uri="{FF2B5EF4-FFF2-40B4-BE49-F238E27FC236}">
                    <a16:creationId xmlns:a16="http://schemas.microsoft.com/office/drawing/2014/main" id="{E995356B-8915-DE46-8A8C-4E7DA082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5600"/>
                <a:ext cx="11430000" cy="381000"/>
              </a:xfrm>
              <a:prstGeom prst="rect">
                <a:avLst/>
              </a:prstGeom>
              <a:blipFill>
                <a:blip r:embed="rId2"/>
                <a:stretch>
                  <a:fillRect l="-666" t="-6250"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Calibri"/>
              </a:rPr>
              <a:t>The parallelogram spanned by u and v is shaded on the grid. Find its area.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333333"/>
                </a:solidFill>
                <a:latin typeface="Calibri"/>
              </a:rPr>
              <a:t> 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/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noAutofit/>
              </a:bodyPr>
              <a:lstStyle/>
              <a:p>
                <a:pPr algn="l"/>
                <a:r>
                  <a:rPr lang="en-US" sz="1500" b="1" i="1" dirty="0">
                    <a:solidFill>
                      <a:srgbClr val="FFFFFF"/>
                    </a:solidFill>
                    <a:latin typeface="Calibri"/>
                  </a:rPr>
                  <a:t>In 2D the area equals the absolute value of the 2×2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Area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=|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₂−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𝒖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₂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𝒗</m:t>
                    </m:r>
                    <m:r>
                      <a:rPr lang="en-US" sz="1500">
                        <a:solidFill>
                          <a:srgbClr val="FFFFFF"/>
                        </a:solidFill>
                        <a:latin typeface="Cambria Math"/>
                      </a:rPr>
                      <m:t>₁|</m:t>
                    </m:r>
                  </m:oMath>
                </a14:m>
                <a:endParaRPr lang="en-US" sz="1500" b="1" i="1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29" name="TkText">
                <a:extLst>
                  <a:ext uri="{FF2B5EF4-FFF2-40B4-BE49-F238E27FC236}">
                    <a16:creationId xmlns:a16="http://schemas.microsoft.com/office/drawing/2014/main" id="{2ABA622B-1D49-EB49-B6ED-7D415B38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94400"/>
                <a:ext cx="11430000" cy="330200"/>
              </a:xfrm>
              <a:prstGeom prst="rect">
                <a:avLst/>
              </a:prstGeom>
              <a:blipFill>
                <a:blip r:embed="rId3"/>
                <a:stretch>
                  <a:fillRect l="-333" t="-3571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Ex1_Vecs"/>
              <p:cNvSpPr/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=(4, 1)        </m:t>
                      </m:r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=(1, 3)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0" name="Ex1_Vec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70000"/>
                <a:ext cx="4191000" cy="279400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Ex1_Task"/>
              <p:cNvSpPr/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Find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area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of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the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shaded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parallelogram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0" name="Ex1_Tas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1270000"/>
                <a:ext cx="5334000" cy="279400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  <a:latin typeface="Calibri"/>
              </a:rPr>
              <a:t>Parallelogram spanned by u, v</a:t>
            </a:r>
          </a:p>
        </p:txBody>
      </p:sp>
      <p:sp>
        <p:nvSpPr>
          <p:cNvPr id="700" name="SpanFill"/>
          <p:cNvSpPr/>
          <p:nvPr/>
        </p:nvSpPr>
        <p:spPr>
          <a:xfrm>
            <a:off x="1206500" y="3175000"/>
            <a:ext cx="2413000" cy="19304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100000"/>
                </a:moveTo>
                <a:lnTo>
                  <a:pt x="80000" y="75000"/>
                </a:lnTo>
                <a:lnTo>
                  <a:pt x="100000" y="0"/>
                </a:lnTo>
                <a:lnTo>
                  <a:pt x="20000" y="25000"/>
                </a:lnTo>
                <a:close/>
              </a:path>
            </a:pathLst>
          </a:custGeom>
          <a:solidFill>
            <a:srgbClr val="4B2E83">
              <a:alpha val="18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820" name="EdgeTop"/>
          <p:cNvCxnSpPr/>
          <p:nvPr/>
        </p:nvCxnSpPr>
        <p:spPr>
          <a:xfrm flipV="1">
            <a:off x="1689100" y="3175000"/>
            <a:ext cx="1930400" cy="482600"/>
          </a:xfrm>
          <a:prstGeom prst="line">
            <a:avLst/>
          </a:prstGeom>
          <a:ln w="19050">
            <a:solidFill>
              <a:srgbClr val="4B2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EdgeRight"/>
          <p:cNvCxnSpPr/>
          <p:nvPr/>
        </p:nvCxnSpPr>
        <p:spPr>
          <a:xfrm flipV="1">
            <a:off x="3136900" y="3175000"/>
            <a:ext cx="482600" cy="1447800"/>
          </a:xfrm>
          <a:prstGeom prst="line">
            <a:avLst/>
          </a:prstGeom>
          <a:ln w="19050">
            <a:solidFill>
              <a:srgbClr val="00A7B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810" name="DotArr810"/>
          <p:cNvCxnSpPr/>
          <p:nvPr/>
        </p:nvCxnSpPr>
        <p:spPr>
          <a:xfrm flipV="1">
            <a:off x="1206500" y="4622800"/>
            <a:ext cx="1930400" cy="482600"/>
          </a:xfrm>
          <a:prstGeom prst="line">
            <a:avLst/>
          </a:prstGeom>
          <a:ln w="34925" cap="flat" cmpd="sng" algn="ctr">
            <a:solidFill>
              <a:srgbClr val="4B2E83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DotArr811"/>
          <p:cNvCxnSpPr/>
          <p:nvPr/>
        </p:nvCxnSpPr>
        <p:spPr>
          <a:xfrm flipV="1">
            <a:off x="1206500" y="3657600"/>
            <a:ext cx="482600" cy="1447800"/>
          </a:xfrm>
          <a:prstGeom prst="line">
            <a:avLst/>
          </a:prstGeom>
          <a:ln w="34925" cap="flat" cmpd="sng" algn="ctr">
            <a:solidFill>
              <a:srgbClr val="00A7B5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VLbl812"/>
              <p:cNvSpPr/>
              <p:nvPr/>
            </p:nvSpPr>
            <p:spPr>
              <a:xfrm>
                <a:off x="3187700" y="45466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2" name="VLbl8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4546600"/>
                <a:ext cx="279400" cy="203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VLbl813"/>
              <p:cNvSpPr/>
              <p:nvPr/>
            </p:nvSpPr>
            <p:spPr>
              <a:xfrm>
                <a:off x="1663700" y="3429000"/>
                <a:ext cx="279400" cy="203200"/>
              </a:xfrm>
              <a:prstGeom prst="rect">
                <a:avLst/>
              </a:prstGeom>
              <a:noFill/>
            </p:spPr>
            <p:txBody>
              <a:bodyPr wrap="none" lIns="0" tIns="0" rIns="0" bIns="0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3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13" name="VLbl8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3429000"/>
                <a:ext cx="279400" cy="203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AreaSolBox"/>
          <p:cNvSpPr/>
          <p:nvPr/>
        </p:nvSpPr>
        <p:spPr>
          <a:xfrm>
            <a:off x="6667500" y="2235200"/>
            <a:ext cx="4953000" cy="2997200"/>
          </a:xfrm>
          <a:prstGeom prst="roundRect">
            <a:avLst>
              <a:gd name="adj" fmla="val 5000"/>
            </a:avLst>
          </a:prstGeom>
          <a:solidFill>
            <a:srgbClr val="F4FAEF"/>
          </a:solidFill>
          <a:ln w="12700">
            <a:solidFill>
              <a:srgbClr val="7AB648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AreaSolTxt"/>
              <p:cNvSpPr/>
              <p:nvPr/>
            </p:nvSpPr>
            <p:spPr>
              <a:xfrm>
                <a:off x="6832600" y="2362200"/>
                <a:ext cx="4648200" cy="27940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Area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</m:t>
                      </m:r>
                      <m:r>
                        <a:rPr lang="en-US" sz="14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₁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₂−</m:t>
                      </m:r>
                      <m:r>
                        <a:rPr lang="en-US" sz="14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₂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₁|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=|(4)(3)−(1)(1)|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=|12−1|</m:t>
                      </m:r>
                    </m:oMath>
                  </m:oMathPara>
                </a14:m>
                <a:endParaRPr/>
              </a:p>
              <a:p>
                <a:pPr algn="l"/>
                <a:endParaRPr lang="en-US" sz="30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𝑨𝒓𝒆𝒂</m:t>
                      </m:r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>
                          <a:solidFill>
                            <a:srgbClr val="5A8A2A"/>
                          </a:solidFill>
                          <a:latin typeface="Cambria Math"/>
                        </a:rPr>
                        <m:t>𝟏𝟏</m:t>
                      </m:r>
                    </m:oMath>
                  </m:oMathPara>
                </a14:m>
                <a:endParaRPr lang="en-US" sz="300"/>
              </a:p>
              <a:p>
                <a:pPr algn="l"/>
                <a:r>
                  <a:rPr lang="en-US" sz="1200" i="1" dirty="0">
                    <a:solidFill>
                      <a:srgbClr val="5A8A2A"/>
                    </a:solidFill>
                    <a:latin typeface="Calibri"/>
                  </a:rPr>
                  <a:t>square units</a:t>
                </a:r>
              </a:p>
            </p:txBody>
          </p:sp>
        </mc:Choice>
        <mc:Fallback xmlns="">
          <p:sp>
            <p:nvSpPr>
              <p:cNvPr id="221" name="AreaSolT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600" y="2362200"/>
                <a:ext cx="4648200" cy="2794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/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  <a:latin typeface="Calibri"/>
              </a:rPr>
              <a:t>Compute the area yourself,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62710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9C01E-9AF5-A246-972D-B6F12846D509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>
                <a:solidFill>
                  <a:srgbClr val="B7A57A"/>
                </a:solidFill>
              </a:rPr>
              <a:t>DATA AS VECTORS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E7FC7-635F-B644-A810-502B5AE8B65C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Matrix Definition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BF769-A120-AA4A-8AA9-9F68767A4BCF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>
                <a:solidFill>
                  <a:srgbClr val="EDE7F5"/>
                </a:solidFill>
              </a:rPr>
              <a:t>Reading a data matrix as a collection of vectors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855145-CB61-834F-A334-A56A2549BBBE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C1D55-465E-DD4D-B1EA-325018913BFF}"/>
              </a:ext>
            </a:extLst>
          </p:cNvPr>
          <p:cNvSpPr/>
          <p:nvPr/>
        </p:nvSpPr>
        <p:spPr>
          <a:xfrm>
            <a:off x="52070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408C8-C72C-DF4E-8B20-9B86628BCF24}"/>
              </a:ext>
            </a:extLst>
          </p:cNvPr>
          <p:cNvSpPr/>
          <p:nvPr/>
        </p:nvSpPr>
        <p:spPr>
          <a:xfrm>
            <a:off x="52070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9077C-D70E-9E45-819B-4085FDAC2264}"/>
              </a:ext>
            </a:extLst>
          </p:cNvPr>
          <p:cNvSpPr/>
          <p:nvPr/>
        </p:nvSpPr>
        <p:spPr>
          <a:xfrm>
            <a:off x="52070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A0C8B-B035-C04B-8982-2452373F3C61}"/>
              </a:ext>
            </a:extLst>
          </p:cNvPr>
          <p:cNvSpPr/>
          <p:nvPr/>
        </p:nvSpPr>
        <p:spPr>
          <a:xfrm>
            <a:off x="69342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344BAA-2B8A-2749-9814-9CCB1E51DECF}"/>
              </a:ext>
            </a:extLst>
          </p:cNvPr>
          <p:cNvSpPr/>
          <p:nvPr/>
        </p:nvSpPr>
        <p:spPr>
          <a:xfrm>
            <a:off x="67818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834F4-1032-BC4B-938B-68855366A108}"/>
              </a:ext>
            </a:extLst>
          </p:cNvPr>
          <p:cNvSpPr/>
          <p:nvPr/>
        </p:nvSpPr>
        <p:spPr>
          <a:xfrm>
            <a:off x="67818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71438A-46A8-D34E-BCCD-33DD02895FE1}"/>
              </a:ext>
            </a:extLst>
          </p:cNvPr>
          <p:cNvSpPr/>
          <p:nvPr/>
        </p:nvSpPr>
        <p:spPr>
          <a:xfrm>
            <a:off x="5549900" y="19050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1B521E-3A53-FD4D-A360-EDFA92F0C53F}"/>
              </a:ext>
            </a:extLst>
          </p:cNvPr>
          <p:cNvSpPr/>
          <p:nvPr/>
        </p:nvSpPr>
        <p:spPr>
          <a:xfrm>
            <a:off x="5549900" y="23114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105533-7E46-F54C-B7F0-A5C4BF90B270}"/>
              </a:ext>
            </a:extLst>
          </p:cNvPr>
          <p:cNvSpPr/>
          <p:nvPr/>
        </p:nvSpPr>
        <p:spPr>
          <a:xfrm>
            <a:off x="6019800" y="1905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8A2382-AFD6-8B4E-9500-94549F56EBA2}"/>
              </a:ext>
            </a:extLst>
          </p:cNvPr>
          <p:cNvSpPr/>
          <p:nvPr/>
        </p:nvSpPr>
        <p:spPr>
          <a:xfrm>
            <a:off x="6019800" y="2311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D90891-2F60-094B-9807-6AD9C525CAB4}"/>
              </a:ext>
            </a:extLst>
          </p:cNvPr>
          <p:cNvSpPr/>
          <p:nvPr/>
        </p:nvSpPr>
        <p:spPr>
          <a:xfrm>
            <a:off x="6489700" y="1905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9A0BF1-4C24-4D41-8A55-67C8B883E36C}"/>
              </a:ext>
            </a:extLst>
          </p:cNvPr>
          <p:cNvSpPr/>
          <p:nvPr/>
        </p:nvSpPr>
        <p:spPr>
          <a:xfrm>
            <a:off x="6489700" y="2311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188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Reading a Matrix as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 data matrix has two readings: rows are individuals, columns are features.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Same numbers, two views — rows describe individuals, columns describe features.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X   ·   3 individuals × 2 features</a:t>
            </a:r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B   ·   columns of a 2×3 matrix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Rows = individual vectors  (feature space)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2000" name="Arrow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01" name="Arrow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02" name="Arrow"/>
          <p:cNvCxnSpPr/>
          <p:nvPr/>
        </p:nvCxnSpPr>
        <p:spPr>
          <a:xfrm flipV="1">
            <a:off x="1206500" y="3657600"/>
            <a:ext cx="24130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03" name="VL"/>
          <p:cNvSpPr txBox="1"/>
          <p:nvPr/>
        </p:nvSpPr>
        <p:spPr>
          <a:xfrm>
            <a:off x="27051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r₁=(3,1)</a:t>
            </a:r>
          </a:p>
        </p:txBody>
      </p:sp>
      <p:sp>
        <p:nvSpPr>
          <p:cNvPr id="2004" name="VL"/>
          <p:cNvSpPr txBox="1"/>
          <p:nvPr/>
        </p:nvSpPr>
        <p:spPr>
          <a:xfrm>
            <a:off x="17399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r₂=(1,4)</a:t>
            </a:r>
          </a:p>
        </p:txBody>
      </p:sp>
      <p:sp>
        <p:nvSpPr>
          <p:cNvPr id="2005" name="VL"/>
          <p:cNvSpPr txBox="1"/>
          <p:nvPr/>
        </p:nvSpPr>
        <p:spPr>
          <a:xfrm>
            <a:off x="36703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r₃=(5,3)</a:t>
            </a:r>
          </a:p>
        </p:txBody>
      </p:sp>
      <p:sp>
        <p:nvSpPr>
          <p:cNvPr id="2006" name="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7" name="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8" name="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9" name="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0" name="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1" name="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2" name="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23" name="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30" name="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31" name="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32" name="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33" name="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34" name="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35" name="PTitle"/>
          <p:cNvSpPr txBox="1"/>
          <p:nvPr/>
        </p:nvSpPr>
        <p:spPr>
          <a:xfrm>
            <a:off x="7620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Columns = feature vectors  (observation space)</a:t>
            </a:r>
          </a:p>
        </p:txBody>
      </p:sp>
      <p:cxnSp>
        <p:nvCxnSpPr>
          <p:cNvPr id="2036" name="Arrow"/>
          <p:cNvCxnSpPr/>
          <p:nvPr/>
        </p:nvCxnSpPr>
        <p:spPr>
          <a:xfrm flipV="1">
            <a:off x="7620000" y="3175000"/>
            <a:ext cx="965200" cy="19304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7" name="Arrow"/>
          <p:cNvCxnSpPr/>
          <p:nvPr/>
        </p:nvCxnSpPr>
        <p:spPr>
          <a:xfrm flipV="1">
            <a:off x="7620000" y="4140200"/>
            <a:ext cx="2413000" cy="9652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8" name="Arrow"/>
          <p:cNvCxnSpPr/>
          <p:nvPr/>
        </p:nvCxnSpPr>
        <p:spPr>
          <a:xfrm flipV="1">
            <a:off x="7620000" y="3657600"/>
            <a:ext cx="4826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9" name="VL"/>
          <p:cNvSpPr txBox="1"/>
          <p:nvPr/>
        </p:nvSpPr>
        <p:spPr>
          <a:xfrm>
            <a:off x="86360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c₁=(2,4)</a:t>
            </a:r>
          </a:p>
        </p:txBody>
      </p:sp>
      <p:sp>
        <p:nvSpPr>
          <p:cNvPr id="2040" name="VL"/>
          <p:cNvSpPr txBox="1"/>
          <p:nvPr/>
        </p:nvSpPr>
        <p:spPr>
          <a:xfrm>
            <a:off x="100838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c₂=(5,2)</a:t>
            </a:r>
          </a:p>
        </p:txBody>
      </p:sp>
      <p:sp>
        <p:nvSpPr>
          <p:cNvPr id="2041" name="VL"/>
          <p:cNvSpPr txBox="1"/>
          <p:nvPr/>
        </p:nvSpPr>
        <p:spPr>
          <a:xfrm>
            <a:off x="7188200" y="3810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c₃=(1,3)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1" name="EqMatrixX"/>
              <p:cNvSpPr/>
              <p:nvPr/>
            </p:nvSpPr>
            <p:spPr>
              <a:xfrm>
                <a:off x="3098800" y="2235200"/>
                <a:ext cx="1524000" cy="990600"/>
              </a:xfrm>
              <a:prstGeom prst="roundRect">
                <a:avLst/>
              </a:prstGeom>
              <a:solidFill>
                <a:srgbClr val="FFFFFF"/>
              </a:solidFill>
              <a:ln w="9525">
                <a:solidFill>
                  <a:srgbClr val="4B2E83"/>
                </a:solidFill>
              </a:ln>
            </p:spPr>
            <p:txBody>
              <a:bodyPr lIns="45720" tIns="18288" rIns="45720" bIns="18288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01" name="EqMatrixX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0" y="2235200"/>
                <a:ext cx="1524000" cy="990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2" name="EqMatrixB"/>
              <p:cNvSpPr/>
              <p:nvPr/>
            </p:nvSpPr>
            <p:spPr>
              <a:xfrm>
                <a:off x="9474200" y="2362200"/>
                <a:ext cx="1574800" cy="812800"/>
              </a:xfrm>
              <a:prstGeom prst="roundRect">
                <a:avLst/>
              </a:prstGeom>
              <a:solidFill>
                <a:srgbClr val="FFFFFF"/>
              </a:solidFill>
              <a:ln w="9525">
                <a:solidFill>
                  <a:srgbClr val="4B2E83"/>
                </a:solidFill>
              </a:ln>
            </p:spPr>
            <p:txBody>
              <a:bodyPr lIns="45720" tIns="18288" rIns="45720" bIns="18288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02" name="EqMatrix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200" y="2362200"/>
                <a:ext cx="1574800" cy="812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31584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1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  ·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3657600"/>
            <a:ext cx="965200" cy="14478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4622800"/>
            <a:ext cx="2413000" cy="4826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3175000"/>
            <a:ext cx="482600" cy="19304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86360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r₁=(2,3)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100838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r₂=(5,1)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81534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r₃=(1,4)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1" name="EqMatrixM"/>
              <p:cNvSpPr/>
              <p:nvPr/>
            </p:nvSpPr>
            <p:spPr>
              <a:xfrm>
                <a:off x="3098800" y="2235200"/>
                <a:ext cx="1524000" cy="990600"/>
              </a:xfrm>
              <a:prstGeom prst="roundRect">
                <a:avLst/>
              </a:prstGeom>
              <a:solidFill>
                <a:srgbClr val="FFFFFF"/>
              </a:solidFill>
              <a:ln w="9525">
                <a:solidFill>
                  <a:srgbClr val="4B2E83"/>
                </a:solidFill>
              </a:ln>
            </p:spPr>
            <p:txBody>
              <a:bodyPr lIns="45720" tIns="18288" rIns="45720" bIns="18288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01" name="EqMatrix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0" y="2235200"/>
                <a:ext cx="1524000" cy="990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46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2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  ·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4622800"/>
            <a:ext cx="1930400" cy="4826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2692400"/>
            <a:ext cx="965200" cy="24130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3657600"/>
            <a:ext cx="14478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96012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r₁=(4,1)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8636000" y="24638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r₂=(2,5)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91186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r₃=(3,3)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1" name="EqMatrixM"/>
              <p:cNvSpPr/>
              <p:nvPr/>
            </p:nvSpPr>
            <p:spPr>
              <a:xfrm>
                <a:off x="3098800" y="2235200"/>
                <a:ext cx="1524000" cy="990600"/>
              </a:xfrm>
              <a:prstGeom prst="roundRect">
                <a:avLst/>
              </a:prstGeom>
              <a:solidFill>
                <a:srgbClr val="FFFFFF"/>
              </a:solidFill>
              <a:ln w="9525">
                <a:solidFill>
                  <a:srgbClr val="4B2E83"/>
                </a:solidFill>
              </a:ln>
            </p:spPr>
            <p:txBody>
              <a:bodyPr lIns="45720" tIns="18288" rIns="45720" bIns="18288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01" name="EqMatrix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0" y="2235200"/>
                <a:ext cx="1524000" cy="990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06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3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  ·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4140200"/>
            <a:ext cx="482600" cy="9652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3175000"/>
            <a:ext cx="1930400" cy="1930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4140200"/>
            <a:ext cx="2413000" cy="9652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81534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r₁=(1,2)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96012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r₂=(4,4)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100838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r₃=(5,2)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01" name="EqMatrixM"/>
              <p:cNvSpPr/>
              <p:nvPr/>
            </p:nvSpPr>
            <p:spPr>
              <a:xfrm>
                <a:off x="3098800" y="2235200"/>
                <a:ext cx="1524000" cy="990600"/>
              </a:xfrm>
              <a:prstGeom prst="roundRect">
                <a:avLst/>
              </a:prstGeom>
              <a:solidFill>
                <a:srgbClr val="FFFFFF"/>
              </a:solidFill>
              <a:ln w="9525">
                <a:solidFill>
                  <a:srgbClr val="4B2E83"/>
                </a:solidFill>
              </a:ln>
            </p:spPr>
            <p:txBody>
              <a:bodyPr lIns="45720" tIns="18288" rIns="45720" bIns="18288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01" name="EqMatrix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0" y="2235200"/>
                <a:ext cx="1524000" cy="990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4B2E8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0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9E858B19-1443-E34B-96C5-37D7E44595E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3D68AF39-A313-E346-AE6D-A739C1CC144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Matrix–Vector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617BC793-45F3-6844-A4F1-4EA2D88AC99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Apply a linear transformation to a vector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9CD6B47C-6BF6-7B4E-B2D5-4F9375EDDBFD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984A3972-E6D7-5348-AF1D-FE33DB7C8348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D7BD81B-5020-3941-849E-C059E1AE7BB8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dirty="0">
                <a:solidFill>
                  <a:srgbClr val="333333"/>
                </a:solidFill>
                <a:latin typeface="Cambria Math"/>
                <a:ea typeface="Cambria Math"/>
              </a:rPr>
              <a:t>(</a:t>
            </a:r>
            <a:r>
              <a:rPr lang="en-US" dirty="0" err="1">
                <a:solidFill>
                  <a:srgbClr val="333333"/>
                </a:solidFill>
                <a:latin typeface="Cambria Math"/>
                <a:ea typeface="Cambria Math"/>
              </a:rPr>
              <a:t>A·x</a:t>
            </a:r>
            <a:r>
              <a:rPr lang="en-US" dirty="0">
                <a:solidFill>
                  <a:srgbClr val="333333"/>
                </a:solidFill>
                <a:latin typeface="Cambria Math"/>
                <a:ea typeface="Cambria Math"/>
              </a:rPr>
              <a:t>)ᵢ  =  </a:t>
            </a:r>
            <a:r>
              <a:rPr lang="el-GR" dirty="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dirty="0">
                <a:solidFill>
                  <a:srgbClr val="333333"/>
                </a:solidFill>
                <a:latin typeface="Cambria Math"/>
                <a:ea typeface="Cambria Math"/>
              </a:rPr>
              <a:t>ⱼ Aᵢⱼ · xⱼ      Aₘₓₙ · xₙₓ₁  =  yₘₓ₁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448B1238-3432-9E41-B89E-C582F0D03A55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Each output entry is the dot product of a row of A with x. Inner dimensions must match.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A2DD097E-936F-D34C-86D1-6C2656C8B9FF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2E12DA08-9952-0E49-A9FB-BD11DCCC7A1F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30">
            <a:extLst>
              <a:ext uri="{FF2B5EF4-FFF2-40B4-BE49-F238E27FC236}">
                <a16:creationId xmlns:a16="http://schemas.microsoft.com/office/drawing/2014/main" id="{7581F6BA-78A5-BC41-B24B-DC10AB499B03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30">
            <a:extLst>
              <a:ext uri="{FF2B5EF4-FFF2-40B4-BE49-F238E27FC236}">
                <a16:creationId xmlns:a16="http://schemas.microsoft.com/office/drawing/2014/main" id="{BE974498-8779-E744-86DB-8C520A5B9219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Combines rows of A with x via dot product.
Result y has one entry per row of A.
Dimensions:
   (m×n)·(n×1) = (m×1)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CFF32EE7-00CC-5D42-BC0D-3C71386EF736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A52F2029-9A74-0C4A-9786-DBFB6C12AF27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335">
            <a:extLst>
              <a:ext uri="{FF2B5EF4-FFF2-40B4-BE49-F238E27FC236}">
                <a16:creationId xmlns:a16="http://schemas.microsoft.com/office/drawing/2014/main" id="{846AE8CE-D769-B74B-8719-C7577F75DE56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Geometric view</a:t>
            </a:r>
          </a:p>
        </p:txBody>
      </p:sp>
      <p:sp>
        <p:nvSpPr>
          <p:cNvPr id="33" name="CardB335">
            <a:extLst>
              <a:ext uri="{FF2B5EF4-FFF2-40B4-BE49-F238E27FC236}">
                <a16:creationId xmlns:a16="http://schemas.microsoft.com/office/drawing/2014/main" id="{42F819F9-0E19-904D-9C35-2CDEDFC9FE4B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A is a linear map </a:t>
            </a:r>
            <a:r>
              <a:rPr lang="en-US" sz="1200" dirty="0" err="1">
                <a:solidFill>
                  <a:srgbClr val="333333"/>
                </a:solidFill>
                <a:latin typeface="Arial"/>
                <a:cs typeface="Arial"/>
              </a:rPr>
              <a:t>ℝ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ⁿ → </a:t>
            </a:r>
            <a:r>
              <a:rPr lang="en-US" sz="1200" dirty="0" err="1">
                <a:solidFill>
                  <a:srgbClr val="333333"/>
                </a:solidFill>
                <a:latin typeface="Arial"/>
                <a:cs typeface="Arial"/>
              </a:rPr>
              <a:t>ℝ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ᵐ.
Multiplying by A:
• rotates
• scales
• shears
• projects
the vector x.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8C90CC09-0DAF-5644-84E4-37BB3923C79C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875F96AF-9A17-8742-A3DC-FD5E5E721E77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640">
            <a:extLst>
              <a:ext uri="{FF2B5EF4-FFF2-40B4-BE49-F238E27FC236}">
                <a16:creationId xmlns:a16="http://schemas.microsoft.com/office/drawing/2014/main" id="{EFA054AD-1849-664F-BCAA-F905958D4EE2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640">
            <a:extLst>
              <a:ext uri="{FF2B5EF4-FFF2-40B4-BE49-F238E27FC236}">
                <a16:creationId xmlns:a16="http://schemas.microsoft.com/office/drawing/2014/main" id="{E9BF711F-5B53-BB48-9185-2298858F5E80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Heart of ML:
• Neural layer: y = Wx + b
• Linear regression: ŷ = X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
• </a:t>
            </a:r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PCA projection: z = Wx
• Coordinate transform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80D61BCC-689B-714E-ACCF-22A7953C9A7F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5E38A0B1-513B-E444-A14B-DC32EA701F89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mbria Math"/>
                <a:ea typeface="Cambria Math"/>
              </a:rPr>
              <a:t>Two equivalent views:  </a:t>
            </a:r>
            <a:r>
              <a:rPr lang="el-GR" sz="1300" b="1" dirty="0">
                <a:solidFill>
                  <a:srgbClr val="FFFFFF"/>
                </a:solidFill>
                <a:latin typeface="Cambria Math"/>
                <a:ea typeface="Cambria Math"/>
              </a:rPr>
              <a:t>Σ-</a:t>
            </a:r>
            <a:r>
              <a:rPr lang="en-US" sz="1300" b="1" dirty="0">
                <a:solidFill>
                  <a:srgbClr val="FFFFFF"/>
                </a:solidFill>
                <a:latin typeface="Cambria Math"/>
                <a:ea typeface="Cambria Math"/>
              </a:rPr>
              <a:t>of-dot-products (row view)   ≡   </a:t>
            </a:r>
            <a:r>
              <a:rPr lang="el-GR" sz="1300" b="1" dirty="0">
                <a:solidFill>
                  <a:srgbClr val="FFFFFF"/>
                </a:solidFill>
                <a:latin typeface="Cambria Math"/>
                <a:ea typeface="Cambria Math"/>
              </a:rPr>
              <a:t>Σ-</a:t>
            </a:r>
            <a:r>
              <a:rPr lang="en-US" sz="1300" b="1" dirty="0">
                <a:solidFill>
                  <a:srgbClr val="FFFFFF"/>
                </a:solidFill>
                <a:latin typeface="Cambria Math"/>
                <a:ea typeface="Cambria Math"/>
              </a:rPr>
              <a:t>of-columns-scaled-by-xⱼ (column view)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4ED947C8-22C2-A543-86E7-3577594E65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070E9E9C-F75C-5843-897E-4F9EF84958C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A·x = the linear transformation A applied to vector x</a:t>
            </a:r>
          </a:p>
        </p:txBody>
      </p:sp>
    </p:spTree>
    <p:extLst>
      <p:ext uri="{BB962C8B-B14F-4D97-AF65-F5344CB8AC3E}">
        <p14:creationId xmlns:p14="http://schemas.microsoft.com/office/powerpoint/2010/main" val="146146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/>
      <p:bldP spid="40" grpId="0" animBg="1"/>
      <p:bldP spid="4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Multiplying by A Transforms x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same vector x under four different matrices A — rotate, scale, shear, project.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 matrix is a geometric action: each A reshapes space — turning, stretching, slanting, or flattening x.</a:t>
            </a:r>
          </a:p>
        </p:txBody>
      </p:sp>
      <p:sp>
        <p:nvSpPr>
          <p:cNvPr id="3000" name="panel"/>
          <p:cNvSpPr/>
          <p:nvPr/>
        </p:nvSpPr>
        <p:spPr>
          <a:xfrm>
            <a:off x="304800" y="12192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01" name="r"/>
          <p:cNvSpPr/>
          <p:nvPr/>
        </p:nvSpPr>
        <p:spPr>
          <a:xfrm>
            <a:off x="312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2" name="r"/>
          <p:cNvSpPr/>
          <p:nvPr/>
        </p:nvSpPr>
        <p:spPr>
          <a:xfrm>
            <a:off x="337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3" name="r"/>
          <p:cNvSpPr/>
          <p:nvPr/>
        </p:nvSpPr>
        <p:spPr>
          <a:xfrm>
            <a:off x="363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4" name="r"/>
          <p:cNvSpPr/>
          <p:nvPr/>
        </p:nvSpPr>
        <p:spPr>
          <a:xfrm>
            <a:off x="388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5" name="r"/>
          <p:cNvSpPr/>
          <p:nvPr/>
        </p:nvSpPr>
        <p:spPr>
          <a:xfrm>
            <a:off x="414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6" name="r"/>
          <p:cNvSpPr/>
          <p:nvPr/>
        </p:nvSpPr>
        <p:spPr>
          <a:xfrm>
            <a:off x="439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7" name="r"/>
          <p:cNvSpPr/>
          <p:nvPr/>
        </p:nvSpPr>
        <p:spPr>
          <a:xfrm>
            <a:off x="464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8" name="r"/>
          <p:cNvSpPr/>
          <p:nvPr/>
        </p:nvSpPr>
        <p:spPr>
          <a:xfrm>
            <a:off x="490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9" name="r"/>
          <p:cNvSpPr/>
          <p:nvPr/>
        </p:nvSpPr>
        <p:spPr>
          <a:xfrm>
            <a:off x="515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0" name="r"/>
          <p:cNvSpPr/>
          <p:nvPr/>
        </p:nvSpPr>
        <p:spPr>
          <a:xfrm>
            <a:off x="541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1" name="r"/>
          <p:cNvSpPr/>
          <p:nvPr/>
        </p:nvSpPr>
        <p:spPr>
          <a:xfrm>
            <a:off x="566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2" name="r"/>
          <p:cNvSpPr/>
          <p:nvPr/>
        </p:nvSpPr>
        <p:spPr>
          <a:xfrm>
            <a:off x="2971800" y="309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3" name="r"/>
          <p:cNvSpPr/>
          <p:nvPr/>
        </p:nvSpPr>
        <p:spPr>
          <a:xfrm>
            <a:off x="2971800" y="284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4" name="r"/>
          <p:cNvSpPr/>
          <p:nvPr/>
        </p:nvSpPr>
        <p:spPr>
          <a:xfrm>
            <a:off x="2971800" y="2590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5" name="r"/>
          <p:cNvSpPr/>
          <p:nvPr/>
        </p:nvSpPr>
        <p:spPr>
          <a:xfrm>
            <a:off x="2971800" y="2336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6" name="r"/>
          <p:cNvSpPr/>
          <p:nvPr/>
        </p:nvSpPr>
        <p:spPr>
          <a:xfrm>
            <a:off x="2971800" y="2082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7" name="r"/>
          <p:cNvSpPr/>
          <p:nvPr/>
        </p:nvSpPr>
        <p:spPr>
          <a:xfrm>
            <a:off x="2971800" y="182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8" name="r"/>
          <p:cNvSpPr/>
          <p:nvPr/>
        </p:nvSpPr>
        <p:spPr>
          <a:xfrm>
            <a:off x="2971800" y="157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9" name="r"/>
          <p:cNvSpPr/>
          <p:nvPr/>
        </p:nvSpPr>
        <p:spPr>
          <a:xfrm>
            <a:off x="2971800" y="23279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0" name="r"/>
          <p:cNvSpPr/>
          <p:nvPr/>
        </p:nvSpPr>
        <p:spPr>
          <a:xfrm>
            <a:off x="4385310" y="14478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21" name="vec"/>
          <p:cNvCxnSpPr/>
          <p:nvPr/>
        </p:nvCxnSpPr>
        <p:spPr>
          <a:xfrm flipV="1">
            <a:off x="4394200" y="20828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22" name="vec"/>
          <p:cNvCxnSpPr/>
          <p:nvPr/>
        </p:nvCxnSpPr>
        <p:spPr>
          <a:xfrm flipH="1" flipV="1">
            <a:off x="4140200" y="1828800"/>
            <a:ext cx="254000" cy="5080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sp>
        <p:nvSpPr>
          <p:cNvPr id="3023" name="tb"/>
          <p:cNvSpPr txBox="1"/>
          <p:nvPr/>
        </p:nvSpPr>
        <p:spPr>
          <a:xfrm>
            <a:off x="4953000" y="18796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24" name="tb"/>
          <p:cNvSpPr txBox="1"/>
          <p:nvPr/>
        </p:nvSpPr>
        <p:spPr>
          <a:xfrm>
            <a:off x="3759200" y="16129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Ax</a:t>
            </a:r>
          </a:p>
        </p:txBody>
      </p:sp>
      <p:sp>
        <p:nvSpPr>
          <p:cNvPr id="3025" name="tb"/>
          <p:cNvSpPr txBox="1"/>
          <p:nvPr/>
        </p:nvSpPr>
        <p:spPr>
          <a:xfrm>
            <a:off x="533400" y="13970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Rotate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26" name="tb"/>
              <p:cNvSpPr txBox="1"/>
              <p:nvPr/>
            </p:nvSpPr>
            <p:spPr>
              <a:xfrm>
                <a:off x="533400" y="1727200"/>
                <a:ext cx="2349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2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727200"/>
                <a:ext cx="2349500" cy="508000"/>
              </a:xfrm>
              <a:prstGeom prst="rect">
                <a:avLst/>
              </a:prstGeom>
              <a:blipFill>
                <a:blip r:embed="rId2"/>
                <a:stretch>
                  <a:fillRect l="-268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27" name="tb"/>
          <p:cNvSpPr txBox="1"/>
          <p:nvPr/>
        </p:nvSpPr>
        <p:spPr>
          <a:xfrm>
            <a:off x="533400" y="2794000"/>
            <a:ext cx="2286000" cy="609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Spins x around the origin; its length is unchanged.</a:t>
            </a:r>
          </a:p>
        </p:txBody>
      </p:sp>
      <p:sp>
        <p:nvSpPr>
          <p:cNvPr id="3028" name="panel"/>
          <p:cNvSpPr/>
          <p:nvPr/>
        </p:nvSpPr>
        <p:spPr>
          <a:xfrm>
            <a:off x="6146800" y="12192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9" name="r"/>
          <p:cNvSpPr/>
          <p:nvPr/>
        </p:nvSpPr>
        <p:spPr>
          <a:xfrm>
            <a:off x="896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0" name="r"/>
          <p:cNvSpPr/>
          <p:nvPr/>
        </p:nvSpPr>
        <p:spPr>
          <a:xfrm>
            <a:off x="922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1" name="r"/>
          <p:cNvSpPr/>
          <p:nvPr/>
        </p:nvSpPr>
        <p:spPr>
          <a:xfrm>
            <a:off x="947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2" name="r"/>
          <p:cNvSpPr/>
          <p:nvPr/>
        </p:nvSpPr>
        <p:spPr>
          <a:xfrm>
            <a:off x="972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3" name="r"/>
          <p:cNvSpPr/>
          <p:nvPr/>
        </p:nvSpPr>
        <p:spPr>
          <a:xfrm>
            <a:off x="998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4" name="r"/>
          <p:cNvSpPr/>
          <p:nvPr/>
        </p:nvSpPr>
        <p:spPr>
          <a:xfrm>
            <a:off x="1023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5" name="r"/>
          <p:cNvSpPr/>
          <p:nvPr/>
        </p:nvSpPr>
        <p:spPr>
          <a:xfrm>
            <a:off x="1049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6" name="r"/>
          <p:cNvSpPr/>
          <p:nvPr/>
        </p:nvSpPr>
        <p:spPr>
          <a:xfrm>
            <a:off x="1074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7" name="r"/>
          <p:cNvSpPr/>
          <p:nvPr/>
        </p:nvSpPr>
        <p:spPr>
          <a:xfrm>
            <a:off x="1099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8" name="r"/>
          <p:cNvSpPr/>
          <p:nvPr/>
        </p:nvSpPr>
        <p:spPr>
          <a:xfrm>
            <a:off x="1125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9" name="r"/>
          <p:cNvSpPr/>
          <p:nvPr/>
        </p:nvSpPr>
        <p:spPr>
          <a:xfrm>
            <a:off x="1150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0" name="r"/>
          <p:cNvSpPr/>
          <p:nvPr/>
        </p:nvSpPr>
        <p:spPr>
          <a:xfrm>
            <a:off x="8813800" y="309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1" name="r"/>
          <p:cNvSpPr/>
          <p:nvPr/>
        </p:nvSpPr>
        <p:spPr>
          <a:xfrm>
            <a:off x="8813800" y="284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2" name="r"/>
          <p:cNvSpPr/>
          <p:nvPr/>
        </p:nvSpPr>
        <p:spPr>
          <a:xfrm>
            <a:off x="8813800" y="2590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3" name="r"/>
          <p:cNvSpPr/>
          <p:nvPr/>
        </p:nvSpPr>
        <p:spPr>
          <a:xfrm>
            <a:off x="8813800" y="2336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4" name="r"/>
          <p:cNvSpPr/>
          <p:nvPr/>
        </p:nvSpPr>
        <p:spPr>
          <a:xfrm>
            <a:off x="8813800" y="2082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5" name="r"/>
          <p:cNvSpPr/>
          <p:nvPr/>
        </p:nvSpPr>
        <p:spPr>
          <a:xfrm>
            <a:off x="8813800" y="182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6" name="r"/>
          <p:cNvSpPr/>
          <p:nvPr/>
        </p:nvSpPr>
        <p:spPr>
          <a:xfrm>
            <a:off x="8813800" y="157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7" name="r"/>
          <p:cNvSpPr/>
          <p:nvPr/>
        </p:nvSpPr>
        <p:spPr>
          <a:xfrm>
            <a:off x="8813800" y="23279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8" name="r"/>
          <p:cNvSpPr/>
          <p:nvPr/>
        </p:nvSpPr>
        <p:spPr>
          <a:xfrm>
            <a:off x="10227310" y="14478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49" name="vec"/>
          <p:cNvCxnSpPr/>
          <p:nvPr/>
        </p:nvCxnSpPr>
        <p:spPr>
          <a:xfrm flipV="1">
            <a:off x="10236200" y="20828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50" name="vec"/>
          <p:cNvCxnSpPr/>
          <p:nvPr/>
        </p:nvCxnSpPr>
        <p:spPr>
          <a:xfrm flipV="1">
            <a:off x="10236200" y="1955800"/>
            <a:ext cx="762000" cy="3810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sp>
        <p:nvSpPr>
          <p:cNvPr id="3051" name="tb"/>
          <p:cNvSpPr txBox="1"/>
          <p:nvPr/>
        </p:nvSpPr>
        <p:spPr>
          <a:xfrm>
            <a:off x="10795000" y="18796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52" name="tb"/>
          <p:cNvSpPr txBox="1"/>
          <p:nvPr/>
        </p:nvSpPr>
        <p:spPr>
          <a:xfrm>
            <a:off x="11061700" y="17399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Ax</a:t>
            </a:r>
          </a:p>
        </p:txBody>
      </p:sp>
      <p:sp>
        <p:nvSpPr>
          <p:cNvPr id="3053" name="tb"/>
          <p:cNvSpPr txBox="1"/>
          <p:nvPr/>
        </p:nvSpPr>
        <p:spPr>
          <a:xfrm>
            <a:off x="6375400" y="13970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54" name="tb"/>
              <p:cNvSpPr txBox="1"/>
              <p:nvPr/>
            </p:nvSpPr>
            <p:spPr>
              <a:xfrm>
                <a:off x="6375400" y="1727200"/>
                <a:ext cx="2349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5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00" y="1727200"/>
                <a:ext cx="2349500" cy="508000"/>
              </a:xfrm>
              <a:prstGeom prst="rect">
                <a:avLst/>
              </a:prstGeom>
              <a:blipFill>
                <a:blip r:embed="rId3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55" name="tb"/>
          <p:cNvSpPr txBox="1"/>
          <p:nvPr/>
        </p:nvSpPr>
        <p:spPr>
          <a:xfrm>
            <a:off x="6375400" y="2794000"/>
            <a:ext cx="2286000" cy="609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Stretches x by 1.5×; its direction is unchanged.</a:t>
            </a:r>
          </a:p>
        </p:txBody>
      </p:sp>
      <p:sp>
        <p:nvSpPr>
          <p:cNvPr id="3056" name="panel"/>
          <p:cNvSpPr/>
          <p:nvPr/>
        </p:nvSpPr>
        <p:spPr>
          <a:xfrm>
            <a:off x="304800" y="35560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7" name="r"/>
          <p:cNvSpPr/>
          <p:nvPr/>
        </p:nvSpPr>
        <p:spPr>
          <a:xfrm>
            <a:off x="312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8" name="r"/>
          <p:cNvSpPr/>
          <p:nvPr/>
        </p:nvSpPr>
        <p:spPr>
          <a:xfrm>
            <a:off x="337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9" name="r"/>
          <p:cNvSpPr/>
          <p:nvPr/>
        </p:nvSpPr>
        <p:spPr>
          <a:xfrm>
            <a:off x="363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0" name="r"/>
          <p:cNvSpPr/>
          <p:nvPr/>
        </p:nvSpPr>
        <p:spPr>
          <a:xfrm>
            <a:off x="388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1" name="r"/>
          <p:cNvSpPr/>
          <p:nvPr/>
        </p:nvSpPr>
        <p:spPr>
          <a:xfrm>
            <a:off x="414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2" name="r"/>
          <p:cNvSpPr/>
          <p:nvPr/>
        </p:nvSpPr>
        <p:spPr>
          <a:xfrm>
            <a:off x="439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3" name="r"/>
          <p:cNvSpPr/>
          <p:nvPr/>
        </p:nvSpPr>
        <p:spPr>
          <a:xfrm>
            <a:off x="464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4" name="r"/>
          <p:cNvSpPr/>
          <p:nvPr/>
        </p:nvSpPr>
        <p:spPr>
          <a:xfrm>
            <a:off x="490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5" name="r"/>
          <p:cNvSpPr/>
          <p:nvPr/>
        </p:nvSpPr>
        <p:spPr>
          <a:xfrm>
            <a:off x="515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6" name="r"/>
          <p:cNvSpPr/>
          <p:nvPr/>
        </p:nvSpPr>
        <p:spPr>
          <a:xfrm>
            <a:off x="541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7" name="r"/>
          <p:cNvSpPr/>
          <p:nvPr/>
        </p:nvSpPr>
        <p:spPr>
          <a:xfrm>
            <a:off x="566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8" name="r"/>
          <p:cNvSpPr/>
          <p:nvPr/>
        </p:nvSpPr>
        <p:spPr>
          <a:xfrm>
            <a:off x="2971800" y="543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9" name="r"/>
          <p:cNvSpPr/>
          <p:nvPr/>
        </p:nvSpPr>
        <p:spPr>
          <a:xfrm>
            <a:off x="2971800" y="518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0" name="r"/>
          <p:cNvSpPr/>
          <p:nvPr/>
        </p:nvSpPr>
        <p:spPr>
          <a:xfrm>
            <a:off x="2971800" y="4927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1" name="r"/>
          <p:cNvSpPr/>
          <p:nvPr/>
        </p:nvSpPr>
        <p:spPr>
          <a:xfrm>
            <a:off x="2971800" y="4673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2" name="r"/>
          <p:cNvSpPr/>
          <p:nvPr/>
        </p:nvSpPr>
        <p:spPr>
          <a:xfrm>
            <a:off x="2971800" y="4419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3" name="r"/>
          <p:cNvSpPr/>
          <p:nvPr/>
        </p:nvSpPr>
        <p:spPr>
          <a:xfrm>
            <a:off x="2971800" y="416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4" name="r"/>
          <p:cNvSpPr/>
          <p:nvPr/>
        </p:nvSpPr>
        <p:spPr>
          <a:xfrm>
            <a:off x="2971800" y="391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5" name="r"/>
          <p:cNvSpPr/>
          <p:nvPr/>
        </p:nvSpPr>
        <p:spPr>
          <a:xfrm>
            <a:off x="2971800" y="46647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6" name="r"/>
          <p:cNvSpPr/>
          <p:nvPr/>
        </p:nvSpPr>
        <p:spPr>
          <a:xfrm>
            <a:off x="4385310" y="37846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77" name="vec"/>
          <p:cNvCxnSpPr/>
          <p:nvPr/>
        </p:nvCxnSpPr>
        <p:spPr>
          <a:xfrm flipV="1">
            <a:off x="4394200" y="44196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78" name="vec"/>
          <p:cNvCxnSpPr/>
          <p:nvPr/>
        </p:nvCxnSpPr>
        <p:spPr>
          <a:xfrm flipV="1">
            <a:off x="4394200" y="4419600"/>
            <a:ext cx="889000" cy="254000"/>
          </a:xfrm>
          <a:prstGeom prst="line">
            <a:avLst/>
          </a:prstGeom>
          <a:ln w="38100" cap="rnd">
            <a:solidFill>
              <a:srgbClr val="7AB648"/>
            </a:solidFill>
            <a:tailEnd type="triangle" w="med" len="med"/>
          </a:ln>
        </p:spPr>
      </p:cxnSp>
      <p:sp>
        <p:nvSpPr>
          <p:cNvPr id="3079" name="tb"/>
          <p:cNvSpPr txBox="1"/>
          <p:nvPr/>
        </p:nvSpPr>
        <p:spPr>
          <a:xfrm>
            <a:off x="4953000" y="42164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80" name="tb"/>
          <p:cNvSpPr txBox="1"/>
          <p:nvPr/>
        </p:nvSpPr>
        <p:spPr>
          <a:xfrm>
            <a:off x="5346700" y="42037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7AB648"/>
                </a:solidFill>
              </a:rPr>
              <a:t>Ax</a:t>
            </a:r>
          </a:p>
        </p:txBody>
      </p:sp>
      <p:sp>
        <p:nvSpPr>
          <p:cNvPr id="3081" name="tb"/>
          <p:cNvSpPr txBox="1"/>
          <p:nvPr/>
        </p:nvSpPr>
        <p:spPr>
          <a:xfrm>
            <a:off x="533400" y="37338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Shear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2" name="tb"/>
              <p:cNvSpPr txBox="1"/>
              <p:nvPr/>
            </p:nvSpPr>
            <p:spPr>
              <a:xfrm>
                <a:off x="533400" y="4064000"/>
                <a:ext cx="2349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8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064000"/>
                <a:ext cx="2349500" cy="508000"/>
              </a:xfrm>
              <a:prstGeom prst="rect">
                <a:avLst/>
              </a:prstGeom>
              <a:blipFill>
                <a:blip r:embed="rId4"/>
                <a:stretch>
                  <a:fillRect l="-2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3" name="tb"/>
          <p:cNvSpPr txBox="1"/>
          <p:nvPr/>
        </p:nvSpPr>
        <p:spPr>
          <a:xfrm>
            <a:off x="533400" y="5130800"/>
            <a:ext cx="2286000" cy="609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Slides x sideways in proportion to its height.</a:t>
            </a:r>
          </a:p>
        </p:txBody>
      </p:sp>
      <p:sp>
        <p:nvSpPr>
          <p:cNvPr id="3084" name="panel"/>
          <p:cNvSpPr/>
          <p:nvPr/>
        </p:nvSpPr>
        <p:spPr>
          <a:xfrm>
            <a:off x="6146800" y="35560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5" name="r"/>
          <p:cNvSpPr/>
          <p:nvPr/>
        </p:nvSpPr>
        <p:spPr>
          <a:xfrm>
            <a:off x="896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6" name="r"/>
          <p:cNvSpPr/>
          <p:nvPr/>
        </p:nvSpPr>
        <p:spPr>
          <a:xfrm>
            <a:off x="922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7" name="r"/>
          <p:cNvSpPr/>
          <p:nvPr/>
        </p:nvSpPr>
        <p:spPr>
          <a:xfrm>
            <a:off x="947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8" name="r"/>
          <p:cNvSpPr/>
          <p:nvPr/>
        </p:nvSpPr>
        <p:spPr>
          <a:xfrm>
            <a:off x="972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9" name="r"/>
          <p:cNvSpPr/>
          <p:nvPr/>
        </p:nvSpPr>
        <p:spPr>
          <a:xfrm>
            <a:off x="998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0" name="r"/>
          <p:cNvSpPr/>
          <p:nvPr/>
        </p:nvSpPr>
        <p:spPr>
          <a:xfrm>
            <a:off x="1023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1" name="r"/>
          <p:cNvSpPr/>
          <p:nvPr/>
        </p:nvSpPr>
        <p:spPr>
          <a:xfrm>
            <a:off x="1049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2" name="r"/>
          <p:cNvSpPr/>
          <p:nvPr/>
        </p:nvSpPr>
        <p:spPr>
          <a:xfrm>
            <a:off x="1074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3" name="r"/>
          <p:cNvSpPr/>
          <p:nvPr/>
        </p:nvSpPr>
        <p:spPr>
          <a:xfrm>
            <a:off x="1099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4" name="r"/>
          <p:cNvSpPr/>
          <p:nvPr/>
        </p:nvSpPr>
        <p:spPr>
          <a:xfrm>
            <a:off x="1125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5" name="r"/>
          <p:cNvSpPr/>
          <p:nvPr/>
        </p:nvSpPr>
        <p:spPr>
          <a:xfrm>
            <a:off x="1150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6" name="r"/>
          <p:cNvSpPr/>
          <p:nvPr/>
        </p:nvSpPr>
        <p:spPr>
          <a:xfrm>
            <a:off x="8813800" y="543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7" name="r"/>
          <p:cNvSpPr/>
          <p:nvPr/>
        </p:nvSpPr>
        <p:spPr>
          <a:xfrm>
            <a:off x="8813800" y="518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8" name="r"/>
          <p:cNvSpPr/>
          <p:nvPr/>
        </p:nvSpPr>
        <p:spPr>
          <a:xfrm>
            <a:off x="8813800" y="4927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9" name="r"/>
          <p:cNvSpPr/>
          <p:nvPr/>
        </p:nvSpPr>
        <p:spPr>
          <a:xfrm>
            <a:off x="8813800" y="4673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0" name="r"/>
          <p:cNvSpPr/>
          <p:nvPr/>
        </p:nvSpPr>
        <p:spPr>
          <a:xfrm>
            <a:off x="8813800" y="4419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1" name="r"/>
          <p:cNvSpPr/>
          <p:nvPr/>
        </p:nvSpPr>
        <p:spPr>
          <a:xfrm>
            <a:off x="8813800" y="416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2" name="r"/>
          <p:cNvSpPr/>
          <p:nvPr/>
        </p:nvSpPr>
        <p:spPr>
          <a:xfrm>
            <a:off x="8813800" y="391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3" name="r"/>
          <p:cNvSpPr/>
          <p:nvPr/>
        </p:nvSpPr>
        <p:spPr>
          <a:xfrm>
            <a:off x="8813800" y="46647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4" name="r"/>
          <p:cNvSpPr/>
          <p:nvPr/>
        </p:nvSpPr>
        <p:spPr>
          <a:xfrm>
            <a:off x="10227310" y="37846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105" name="vec"/>
          <p:cNvCxnSpPr/>
          <p:nvPr/>
        </p:nvCxnSpPr>
        <p:spPr>
          <a:xfrm flipV="1">
            <a:off x="10236200" y="44196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106" name="vec"/>
          <p:cNvCxnSpPr/>
          <p:nvPr/>
        </p:nvCxnSpPr>
        <p:spPr>
          <a:xfrm>
            <a:off x="10236200" y="4673600"/>
            <a:ext cx="508000" cy="0"/>
          </a:xfrm>
          <a:prstGeom prst="line">
            <a:avLst/>
          </a:prstGeom>
          <a:ln w="38100" cap="rnd">
            <a:solidFill>
              <a:srgbClr val="D1578A"/>
            </a:solidFill>
            <a:tailEnd type="triangle" w="med" len="med"/>
          </a:ln>
        </p:spPr>
      </p:cxnSp>
      <p:sp>
        <p:nvSpPr>
          <p:cNvPr id="3107" name="tb"/>
          <p:cNvSpPr txBox="1"/>
          <p:nvPr/>
        </p:nvSpPr>
        <p:spPr>
          <a:xfrm>
            <a:off x="10795000" y="42164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108" name="tb"/>
          <p:cNvSpPr txBox="1"/>
          <p:nvPr/>
        </p:nvSpPr>
        <p:spPr>
          <a:xfrm>
            <a:off x="10807700" y="44577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D1578A"/>
                </a:solidFill>
              </a:rPr>
              <a:t>Ax</a:t>
            </a:r>
          </a:p>
        </p:txBody>
      </p:sp>
      <p:sp>
        <p:nvSpPr>
          <p:cNvPr id="3109" name="tb"/>
          <p:cNvSpPr txBox="1"/>
          <p:nvPr/>
        </p:nvSpPr>
        <p:spPr>
          <a:xfrm>
            <a:off x="6375400" y="37338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10" name="tb"/>
              <p:cNvSpPr txBox="1"/>
              <p:nvPr/>
            </p:nvSpPr>
            <p:spPr>
              <a:xfrm>
                <a:off x="6375400" y="4064000"/>
                <a:ext cx="23495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1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00" y="4064000"/>
                <a:ext cx="2349500" cy="508000"/>
              </a:xfrm>
              <a:prstGeom prst="rect">
                <a:avLst/>
              </a:prstGeom>
              <a:blipFill>
                <a:blip r:embed="rId5"/>
                <a:stretch>
                  <a:fillRect l="-2703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1" name="tb"/>
          <p:cNvSpPr txBox="1"/>
          <p:nvPr/>
        </p:nvSpPr>
        <p:spPr>
          <a:xfrm>
            <a:off x="6375400" y="5130800"/>
            <a:ext cx="2286000" cy="609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Flattens x onto the x-axis; one dimension is lost.</a:t>
            </a:r>
          </a:p>
        </p:txBody>
      </p:sp>
      <p:sp>
        <p:nvSpPr>
          <p:cNvPr id="3200" name="xAx3200"/>
          <p:cNvSpPr/>
          <p:nvPr/>
        </p:nvSpPr>
        <p:spPr>
          <a:xfrm>
            <a:off x="533400" y="2260600"/>
            <a:ext cx="2667000" cy="5080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808080"/>
                </a:solidFill>
              </a:rPr>
              <a:t>x = (2, 1)  </a:t>
            </a:r>
            <a:r>
              <a:rPr lang="en-US" sz="1400" b="1" dirty="0">
                <a:solidFill>
                  <a:srgbClr val="4B2E83"/>
                </a:solidFill>
              </a:rPr>
              <a:t>Ax = (−1, 2)</a:t>
            </a:r>
          </a:p>
        </p:txBody>
      </p:sp>
      <p:sp>
        <p:nvSpPr>
          <p:cNvPr id="3201" name="xAx3201"/>
          <p:cNvSpPr/>
          <p:nvPr/>
        </p:nvSpPr>
        <p:spPr>
          <a:xfrm>
            <a:off x="6375400" y="2260600"/>
            <a:ext cx="2667000" cy="5080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808080"/>
                </a:solidFill>
              </a:rPr>
              <a:t>x = (2, 1)  </a:t>
            </a:r>
            <a:r>
              <a:rPr lang="en-US" sz="1400" b="1" dirty="0">
                <a:solidFill>
                  <a:srgbClr val="00A7B5"/>
                </a:solidFill>
              </a:rPr>
              <a:t>Ax = (3, 1.5)</a:t>
            </a:r>
          </a:p>
        </p:txBody>
      </p:sp>
      <p:sp>
        <p:nvSpPr>
          <p:cNvPr id="3202" name="xAx3202"/>
          <p:cNvSpPr/>
          <p:nvPr/>
        </p:nvSpPr>
        <p:spPr>
          <a:xfrm>
            <a:off x="533400" y="4597400"/>
            <a:ext cx="2667000" cy="5080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808080"/>
                </a:solidFill>
              </a:rPr>
              <a:t>x = (2, 1)  </a:t>
            </a:r>
            <a:r>
              <a:rPr lang="en-US" sz="1400" b="1" dirty="0">
                <a:solidFill>
                  <a:srgbClr val="7AB648"/>
                </a:solidFill>
              </a:rPr>
              <a:t>Ax = (3.5, 1)</a:t>
            </a:r>
          </a:p>
        </p:txBody>
      </p:sp>
      <p:sp>
        <p:nvSpPr>
          <p:cNvPr id="3203" name="xAx3203"/>
          <p:cNvSpPr/>
          <p:nvPr/>
        </p:nvSpPr>
        <p:spPr>
          <a:xfrm>
            <a:off x="6375400" y="4597400"/>
            <a:ext cx="2667000" cy="5080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808080"/>
                </a:solidFill>
              </a:rPr>
              <a:t>x = (2, 1)  </a:t>
            </a:r>
            <a:r>
              <a:rPr lang="en-US" sz="1400" b="1" dirty="0">
                <a:solidFill>
                  <a:srgbClr val="D1578A"/>
                </a:solidFill>
              </a:rPr>
              <a:t>Ax = (2, 0)</a:t>
            </a:r>
          </a:p>
        </p:txBody>
      </p:sp>
    </p:spTree>
    <p:extLst>
      <p:ext uri="{BB962C8B-B14F-4D97-AF65-F5344CB8AC3E}">
        <p14:creationId xmlns:p14="http://schemas.microsoft.com/office/powerpoint/2010/main" val="10477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00"/>
                                        <p:tgtEl>
                                          <p:spTgt spid="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3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00"/>
                                        <p:tgtEl>
                                          <p:spTgt spid="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00"/>
                                        <p:tgtEl>
                                          <p:spTgt spid="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00"/>
                                        <p:tgtEl>
                                          <p:spTgt spid="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00"/>
                                        <p:tgtEl>
                                          <p:spTgt spid="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00"/>
                                        <p:tgtEl>
                                          <p:spTgt spid="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00"/>
                                        <p:tgtEl>
                                          <p:spTgt spid="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4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00"/>
                                        <p:tgtEl>
                                          <p:spTgt spid="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400"/>
                                        <p:tgtEl>
                                          <p:spTgt spid="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4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4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4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4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4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4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4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4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4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4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4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400"/>
                                        <p:tgtEl>
                                          <p:spTgt spid="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4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4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4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4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4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4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4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4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4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4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4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4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4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4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4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400"/>
                                        <p:tgtEl>
                                          <p:spTgt spid="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4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4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4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4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4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40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400"/>
                                        <p:tgtEl>
                                          <p:spTgt spid="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40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400"/>
                                        <p:tgtEl>
                                          <p:spTgt spid="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4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4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400"/>
                                        <p:tgtEl>
                                          <p:spTgt spid="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E3E4943D-A7FF-B042-B1FC-D530AA953B6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B66CE0F-A7D1-CD4D-975B-5A1130909D8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Matrix–Vector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E2A1C37-D468-234F-81D0-B626FEAED54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2×3 matrix times a 3-vector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F965FBD0-D2B9-A94E-9653-FCBB570CC0C7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8A14430E-5D66-664D-9142-55745D81AE00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EBFBFFFF-575B-3948-9EB6-38B858AFE6D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1E5F2C8D-608A-BF47-9EFE-11D7FAA5AE90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0DCA8379-36AF-D44A-80EE-9879AC65F92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D29C539-01C0-9444-A538-1C4DAD4F685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D8E301AF-92DD-BC48-93F8-87CB313DE3E6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1 · x:  (1)(1) + (2)(0) + (3)(-1)  =  1 + 0 - 3  =  -2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2B84F7F3-0563-6848-ADC7-B8B544E24F5E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2 · x:  (4)(1) + (5)(0) + (6)(-1)  =  4 + 0 - 6  =  -2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19AAA4B3-FB8B-464B-B318-C2902157C91C}"/>
              </a:ext>
            </a:extLst>
          </p:cNvPr>
          <p:cNvSpPr txBox="1"/>
          <p:nvPr/>
        </p:nvSpPr>
        <p:spPr>
          <a:xfrm>
            <a:off x="558800" y="4216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Stack row results into output vector y: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032CAE6-3480-1F41-A833-453EC85F6C3B}"/>
              </a:ext>
            </a:extLst>
          </p:cNvPr>
          <p:cNvSpPr txBox="1"/>
          <p:nvPr/>
        </p:nvSpPr>
        <p:spPr>
          <a:xfrm>
            <a:off x="558800" y="4470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A · x  =  (-2, -2)ᵀ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DC291C7-BF9C-BB47-82C4-577DDB241925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A·x = (-2, -2)ᵀ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A1E43B02-1345-2742-9D69-9E8F689D1E9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53E44C1D-B89A-F24D-9E90-18BA9C4054D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Each output entry = dot product of one matrix row with x</a:t>
            </a:r>
          </a:p>
        </p:txBody>
      </p:sp>
      <p:sp>
        <p:nvSpPr>
          <p:cNvPr id="42" name="Lead">
            <a:extLst>
              <a:ext uri="{FF2B5EF4-FFF2-40B4-BE49-F238E27FC236}">
                <a16:creationId xmlns:a16="http://schemas.microsoft.com/office/drawing/2014/main" id="{7AA0D3BF-A133-6444-A480-FDBDAF310EE4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A·x   where   A =</a:t>
            </a:r>
          </a:p>
        </p:txBody>
      </p:sp>
      <p:sp>
        <p:nvSpPr>
          <p:cNvPr id="43" name="LB">
            <a:extLst>
              <a:ext uri="{FF2B5EF4-FFF2-40B4-BE49-F238E27FC236}">
                <a16:creationId xmlns:a16="http://schemas.microsoft.com/office/drawing/2014/main" id="{C16A0CD6-AD4E-3E44-8546-65BEB7143FDB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B">
            <a:extLst>
              <a:ext uri="{FF2B5EF4-FFF2-40B4-BE49-F238E27FC236}">
                <a16:creationId xmlns:a16="http://schemas.microsoft.com/office/drawing/2014/main" id="{16E75366-D908-7B41-91FA-F3E2D6C8A125}"/>
              </a:ext>
            </a:extLst>
          </p:cNvPr>
          <p:cNvSpPr/>
          <p:nvPr/>
        </p:nvSpPr>
        <p:spPr>
          <a:xfrm>
            <a:off x="5308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0C0">
            <a:extLst>
              <a:ext uri="{FF2B5EF4-FFF2-40B4-BE49-F238E27FC236}">
                <a16:creationId xmlns:a16="http://schemas.microsoft.com/office/drawing/2014/main" id="{6CFE0154-BAF7-534E-94EE-E1381C7E910E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6" name="R0C1">
            <a:extLst>
              <a:ext uri="{FF2B5EF4-FFF2-40B4-BE49-F238E27FC236}">
                <a16:creationId xmlns:a16="http://schemas.microsoft.com/office/drawing/2014/main" id="{CBF391D8-7C4A-9F40-8AC8-20EE3811D31F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47" name="R0C2">
            <a:extLst>
              <a:ext uri="{FF2B5EF4-FFF2-40B4-BE49-F238E27FC236}">
                <a16:creationId xmlns:a16="http://schemas.microsoft.com/office/drawing/2014/main" id="{63B8BD88-F17A-D74B-AC35-416E74D8047F}"/>
              </a:ext>
            </a:extLst>
          </p:cNvPr>
          <p:cNvSpPr txBox="1"/>
          <p:nvPr/>
        </p:nvSpPr>
        <p:spPr>
          <a:xfrm>
            <a:off x="4749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48" name="R1C0">
            <a:extLst>
              <a:ext uri="{FF2B5EF4-FFF2-40B4-BE49-F238E27FC236}">
                <a16:creationId xmlns:a16="http://schemas.microsoft.com/office/drawing/2014/main" id="{97BF2A0A-722E-124C-B671-12CCF031AA38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4</a:t>
            </a:r>
          </a:p>
        </p:txBody>
      </p:sp>
      <p:sp>
        <p:nvSpPr>
          <p:cNvPr id="49" name="R1C1">
            <a:extLst>
              <a:ext uri="{FF2B5EF4-FFF2-40B4-BE49-F238E27FC236}">
                <a16:creationId xmlns:a16="http://schemas.microsoft.com/office/drawing/2014/main" id="{17D192F7-3CF9-D94E-822E-7211BD944835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5</a:t>
            </a:r>
          </a:p>
        </p:txBody>
      </p:sp>
      <p:sp>
        <p:nvSpPr>
          <p:cNvPr id="50" name="R1C2">
            <a:extLst>
              <a:ext uri="{FF2B5EF4-FFF2-40B4-BE49-F238E27FC236}">
                <a16:creationId xmlns:a16="http://schemas.microsoft.com/office/drawing/2014/main" id="{579CBEFE-7707-A44F-B2EE-9CE99FBDA8D3}"/>
              </a:ext>
            </a:extLst>
          </p:cNvPr>
          <p:cNvSpPr txBox="1"/>
          <p:nvPr/>
        </p:nvSpPr>
        <p:spPr>
          <a:xfrm>
            <a:off x="4749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</a:t>
            </a:r>
          </a:p>
        </p:txBody>
      </p:sp>
      <p:sp>
        <p:nvSpPr>
          <p:cNvPr id="51" name="Xpart">
            <a:extLst>
              <a:ext uri="{FF2B5EF4-FFF2-40B4-BE49-F238E27FC236}">
                <a16:creationId xmlns:a16="http://schemas.microsoft.com/office/drawing/2014/main" id="{ED501DE3-7767-2243-9439-09E168C48929}"/>
              </a:ext>
            </a:extLst>
          </p:cNvPr>
          <p:cNvSpPr txBox="1"/>
          <p:nvPr/>
        </p:nvSpPr>
        <p:spPr>
          <a:xfrm>
            <a:off x="5588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(1, 0, −1)</a:t>
            </a:r>
          </a:p>
        </p:txBody>
      </p:sp>
      <p:sp>
        <p:nvSpPr>
          <p:cNvPr id="52" name="Lead">
            <a:extLst>
              <a:ext uri="{FF2B5EF4-FFF2-40B4-BE49-F238E27FC236}">
                <a16:creationId xmlns:a16="http://schemas.microsoft.com/office/drawing/2014/main" id="{24D57D15-464F-F147-8A34-5A3DC01902B2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A·x   where   A =</a:t>
            </a:r>
          </a:p>
        </p:txBody>
      </p:sp>
      <p:sp>
        <p:nvSpPr>
          <p:cNvPr id="53" name="LB">
            <a:extLst>
              <a:ext uri="{FF2B5EF4-FFF2-40B4-BE49-F238E27FC236}">
                <a16:creationId xmlns:a16="http://schemas.microsoft.com/office/drawing/2014/main" id="{3CAA4D9D-EF61-044B-9746-1403423FBEF0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RB">
            <a:extLst>
              <a:ext uri="{FF2B5EF4-FFF2-40B4-BE49-F238E27FC236}">
                <a16:creationId xmlns:a16="http://schemas.microsoft.com/office/drawing/2014/main" id="{363D3298-5069-0E45-8C34-8F28CFC5ADB3}"/>
              </a:ext>
            </a:extLst>
          </p:cNvPr>
          <p:cNvSpPr/>
          <p:nvPr/>
        </p:nvSpPr>
        <p:spPr>
          <a:xfrm>
            <a:off x="5308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R0C0">
            <a:extLst>
              <a:ext uri="{FF2B5EF4-FFF2-40B4-BE49-F238E27FC236}">
                <a16:creationId xmlns:a16="http://schemas.microsoft.com/office/drawing/2014/main" id="{58B18BD8-3A49-3643-AA3A-726A18D24039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6" name="R0C1">
            <a:extLst>
              <a:ext uri="{FF2B5EF4-FFF2-40B4-BE49-F238E27FC236}">
                <a16:creationId xmlns:a16="http://schemas.microsoft.com/office/drawing/2014/main" id="{55A7E7DE-414B-4D4D-A9EA-69F14630536D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57" name="R0C2">
            <a:extLst>
              <a:ext uri="{FF2B5EF4-FFF2-40B4-BE49-F238E27FC236}">
                <a16:creationId xmlns:a16="http://schemas.microsoft.com/office/drawing/2014/main" id="{2EF9FA94-A23E-D747-8A1D-EB14C3689437}"/>
              </a:ext>
            </a:extLst>
          </p:cNvPr>
          <p:cNvSpPr txBox="1"/>
          <p:nvPr/>
        </p:nvSpPr>
        <p:spPr>
          <a:xfrm>
            <a:off x="4749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58" name="R1C0">
            <a:extLst>
              <a:ext uri="{FF2B5EF4-FFF2-40B4-BE49-F238E27FC236}">
                <a16:creationId xmlns:a16="http://schemas.microsoft.com/office/drawing/2014/main" id="{0B2292EB-7F4B-6948-856E-3C69E3E45C91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4</a:t>
            </a:r>
          </a:p>
        </p:txBody>
      </p:sp>
      <p:sp>
        <p:nvSpPr>
          <p:cNvPr id="59" name="R1C1">
            <a:extLst>
              <a:ext uri="{FF2B5EF4-FFF2-40B4-BE49-F238E27FC236}">
                <a16:creationId xmlns:a16="http://schemas.microsoft.com/office/drawing/2014/main" id="{2141146E-CBB9-0E44-B032-3145F0946F5F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5</a:t>
            </a:r>
          </a:p>
        </p:txBody>
      </p:sp>
      <p:sp>
        <p:nvSpPr>
          <p:cNvPr id="60" name="R1C2">
            <a:extLst>
              <a:ext uri="{FF2B5EF4-FFF2-40B4-BE49-F238E27FC236}">
                <a16:creationId xmlns:a16="http://schemas.microsoft.com/office/drawing/2014/main" id="{55551BB2-7F58-4F47-A4AE-31B2665F74F5}"/>
              </a:ext>
            </a:extLst>
          </p:cNvPr>
          <p:cNvSpPr txBox="1"/>
          <p:nvPr/>
        </p:nvSpPr>
        <p:spPr>
          <a:xfrm>
            <a:off x="4749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</a:t>
            </a:r>
          </a:p>
        </p:txBody>
      </p:sp>
      <p:sp>
        <p:nvSpPr>
          <p:cNvPr id="61" name="Xpart">
            <a:extLst>
              <a:ext uri="{FF2B5EF4-FFF2-40B4-BE49-F238E27FC236}">
                <a16:creationId xmlns:a16="http://schemas.microsoft.com/office/drawing/2014/main" id="{1D62A7AC-4966-774A-9C2E-4B88AA5D1C47}"/>
              </a:ext>
            </a:extLst>
          </p:cNvPr>
          <p:cNvSpPr txBox="1"/>
          <p:nvPr/>
        </p:nvSpPr>
        <p:spPr>
          <a:xfrm>
            <a:off x="5588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(1, 0, −1)</a:t>
            </a:r>
          </a:p>
        </p:txBody>
      </p:sp>
    </p:spTree>
    <p:extLst>
      <p:ext uri="{BB962C8B-B14F-4D97-AF65-F5344CB8AC3E}">
        <p14:creationId xmlns:p14="http://schemas.microsoft.com/office/powerpoint/2010/main" val="351376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CC6D761-B8DB-8142-84B3-2E901FBF008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C407907-9959-A947-AC66-9453292B23D6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90° Rotation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1503AB7E-6CEB-FF49-AE9F-D2F71A86446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 meaning: rotate a 2D vector by 90° counter-clockwise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7A6DCC0B-AD19-4B4E-949D-E75120A74F94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B5302F95-0963-F84A-AD29-ABB64216E472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D61EC27F-B853-6449-B539-524BB04DCA30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88CBA586-854F-BD48-BB24-455353A8DD8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9D6486CF-D562-AE40-AF41-259326F98962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130B177C-A92F-D040-8C69-72A6493E196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850F45E8-9694-994B-83DF-800688E202FC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1 · x:  (0)(3) + (-1)(4)  =  -4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94A0BC42-BCBC-F645-9D60-F31D7561DFD0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2 · x:  (1)(3) + (0)(4)   =   3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58EEF7A2-76BC-5F4B-AE6A-19CDD89DA827}"/>
              </a:ext>
            </a:extLst>
          </p:cNvPr>
          <p:cNvSpPr txBox="1"/>
          <p:nvPr/>
        </p:nvSpPr>
        <p:spPr>
          <a:xfrm>
            <a:off x="558800" y="4216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check:  (3,4) has length 5;  rotated 90° CCW → (-4, 3) also length 5.  ✓</a:t>
            </a:r>
          </a:p>
        </p:txBody>
      </p:sp>
      <p:sp>
        <p:nvSpPr>
          <p:cNvPr id="32" name="SAns">
            <a:extLst>
              <a:ext uri="{FF2B5EF4-FFF2-40B4-BE49-F238E27FC236}">
                <a16:creationId xmlns:a16="http://schemas.microsoft.com/office/drawing/2014/main" id="{F9B629B3-C62B-F64A-89D7-B1B240B56221}"/>
              </a:ext>
            </a:extLst>
          </p:cNvPr>
          <p:cNvSpPr txBox="1"/>
          <p:nvPr/>
        </p:nvSpPr>
        <p:spPr>
          <a:xfrm>
            <a:off x="558800" y="4572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Answer:   R·x = (-4, 3)ᵀ   — the original vector rotated 90° counter-clockwise</a:t>
            </a:r>
          </a:p>
        </p:txBody>
      </p:sp>
      <p:sp>
        <p:nvSpPr>
          <p:cNvPr id="33" name="Sextra">
            <a:extLst>
              <a:ext uri="{FF2B5EF4-FFF2-40B4-BE49-F238E27FC236}">
                <a16:creationId xmlns:a16="http://schemas.microsoft.com/office/drawing/2014/main" id="{80B3A17B-33E2-764E-B06E-D024E765134E}"/>
              </a:ext>
            </a:extLst>
          </p:cNvPr>
          <p:cNvSpPr txBox="1"/>
          <p:nvPr/>
        </p:nvSpPr>
        <p:spPr>
          <a:xfrm>
            <a:off x="558800" y="4953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Length preserved (rotation matrices preserve magnitude — they're orthogonal).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C45BDF90-C806-D34C-B647-0BED8597AD6D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F6B0747-C28A-4343-8B5B-11E58E5F48C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Matrices encode geometric transformations: rotation, scaling, reflection, shear</a:t>
            </a:r>
          </a:p>
        </p:txBody>
      </p:sp>
      <p:sp>
        <p:nvSpPr>
          <p:cNvPr id="36" name="Lead">
            <a:extLst>
              <a:ext uri="{FF2B5EF4-FFF2-40B4-BE49-F238E27FC236}">
                <a16:creationId xmlns:a16="http://schemas.microsoft.com/office/drawing/2014/main" id="{B4C81182-2885-7644-8FFB-CBB58A5ACB60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R·x   where   R =</a:t>
            </a:r>
          </a:p>
        </p:txBody>
      </p:sp>
      <p:sp>
        <p:nvSpPr>
          <p:cNvPr id="37" name="LB">
            <a:extLst>
              <a:ext uri="{FF2B5EF4-FFF2-40B4-BE49-F238E27FC236}">
                <a16:creationId xmlns:a16="http://schemas.microsoft.com/office/drawing/2014/main" id="{8E477FE6-D77D-5742-A6C5-A9141947C0B1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B">
            <a:extLst>
              <a:ext uri="{FF2B5EF4-FFF2-40B4-BE49-F238E27FC236}">
                <a16:creationId xmlns:a16="http://schemas.microsoft.com/office/drawing/2014/main" id="{001BD08E-E226-A647-93B8-881F914EFC18}"/>
              </a:ext>
            </a:extLst>
          </p:cNvPr>
          <p:cNvSpPr/>
          <p:nvPr/>
        </p:nvSpPr>
        <p:spPr>
          <a:xfrm>
            <a:off x="4800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0C0">
            <a:extLst>
              <a:ext uri="{FF2B5EF4-FFF2-40B4-BE49-F238E27FC236}">
                <a16:creationId xmlns:a16="http://schemas.microsoft.com/office/drawing/2014/main" id="{4E9F5619-F577-C649-8D40-C337DEB9E8B6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40" name="R0C1">
            <a:extLst>
              <a:ext uri="{FF2B5EF4-FFF2-40B4-BE49-F238E27FC236}">
                <a16:creationId xmlns:a16="http://schemas.microsoft.com/office/drawing/2014/main" id="{95187099-F6DC-B84D-A528-0A7A3854DCF6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−1</a:t>
            </a:r>
          </a:p>
        </p:txBody>
      </p:sp>
      <p:sp>
        <p:nvSpPr>
          <p:cNvPr id="41" name="R1C0">
            <a:extLst>
              <a:ext uri="{FF2B5EF4-FFF2-40B4-BE49-F238E27FC236}">
                <a16:creationId xmlns:a16="http://schemas.microsoft.com/office/drawing/2014/main" id="{D6503CEB-748D-EA43-B600-F9E319E507C8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2" name="R1C1">
            <a:extLst>
              <a:ext uri="{FF2B5EF4-FFF2-40B4-BE49-F238E27FC236}">
                <a16:creationId xmlns:a16="http://schemas.microsoft.com/office/drawing/2014/main" id="{A11B804A-CEDC-F643-9990-C049E9B9FC24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43" name="Xpart">
            <a:extLst>
              <a:ext uri="{FF2B5EF4-FFF2-40B4-BE49-F238E27FC236}">
                <a16:creationId xmlns:a16="http://schemas.microsoft.com/office/drawing/2014/main" id="{DC62BACE-4547-3F4F-A4E3-90182FFF9B57}"/>
              </a:ext>
            </a:extLst>
          </p:cNvPr>
          <p:cNvSpPr txBox="1"/>
          <p:nvPr/>
        </p:nvSpPr>
        <p:spPr>
          <a:xfrm>
            <a:off x="5080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(3, 4)</a:t>
            </a:r>
          </a:p>
        </p:txBody>
      </p:sp>
    </p:spTree>
    <p:extLst>
      <p:ext uri="{BB962C8B-B14F-4D97-AF65-F5344CB8AC3E}">
        <p14:creationId xmlns:p14="http://schemas.microsoft.com/office/powerpoint/2010/main" val="382430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D488231-E6C1-F340-AA8C-EF49CB954CE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9EF386-7EB9-4E43-9709-5EAC76153FA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A Neural Network Layer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DB67092-93C1-BB4A-A4E2-36913732BB5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Linear layer:  y = W·x  (3 inputs → 2 outputs)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6B04FB4F-F7E7-274D-A818-CF51EF5AE092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DC1F6F1C-66A5-784B-979E-BFF4A24A95F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A6DF3B40-1867-DC41-B7B2-F4F298AABB9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0BD57D1-EBDB-C840-AE41-13906586938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CFEF8739-212D-3C41-9D91-6CBD0921D92C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AF39414B-FCC4-CD43-AB5D-7ADC2B99309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D798D5CB-041C-8946-8D0A-252959ADD6D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y₁ = (0.5)(2) + (-0.2)(1) + (0.3)(4)  =  1.0 - 0.2 + 1.2  =  2.0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F574AE8E-7B7A-5C49-B01D-42C87CC2B42B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y₂ = (-0.1)(2) + (0.4)(1) + (0.6)(4)  =  -0.2 + 0.4 + 2.4  =  2.6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218A2DD-DA9D-4F48-980A-0CB2DC38E267}"/>
              </a:ext>
            </a:extLst>
          </p:cNvPr>
          <p:cNvSpPr txBox="1"/>
          <p:nvPr/>
        </p:nvSpPr>
        <p:spPr>
          <a:xfrm>
            <a:off x="558800" y="4216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Stack outputs:  y = (2.0, 2.6)ᵀ</a:t>
            </a:r>
          </a:p>
        </p:txBody>
      </p:sp>
      <p:sp>
        <p:nvSpPr>
          <p:cNvPr id="15" name="SAns">
            <a:extLst>
              <a:ext uri="{FF2B5EF4-FFF2-40B4-BE49-F238E27FC236}">
                <a16:creationId xmlns:a16="http://schemas.microsoft.com/office/drawing/2014/main" id="{11121078-C717-3441-B552-78E89E927777}"/>
              </a:ext>
            </a:extLst>
          </p:cNvPr>
          <p:cNvSpPr txBox="1"/>
          <p:nvPr/>
        </p:nvSpPr>
        <p:spPr>
          <a:xfrm>
            <a:off x="558800" y="4546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y = (2.0, 2.6)ᵀ</a:t>
            </a:r>
          </a:p>
        </p:txBody>
      </p:sp>
      <p:sp>
        <p:nvSpPr>
          <p:cNvPr id="16" name="Sextra">
            <a:extLst>
              <a:ext uri="{FF2B5EF4-FFF2-40B4-BE49-F238E27FC236}">
                <a16:creationId xmlns:a16="http://schemas.microsoft.com/office/drawing/2014/main" id="{8B2EC8A9-AF21-A04D-89BC-FE6150077B58}"/>
              </a:ext>
            </a:extLst>
          </p:cNvPr>
          <p:cNvSpPr txBox="1"/>
          <p:nvPr/>
        </p:nvSpPr>
        <p:spPr>
          <a:xfrm>
            <a:off x="558800" y="4953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This is exactly one forward pass through a fully-connected layer (without bias or activation).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52C1131E-23E8-504D-9F74-BF899D52DC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2EA0FDB-99C7-F142-BA5C-2DA0BEEED78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Every neural network is a stack of matrix–vector multiplications + nonlinearities</a:t>
            </a:r>
          </a:p>
        </p:txBody>
      </p:sp>
      <p:sp>
        <p:nvSpPr>
          <p:cNvPr id="36" name="Lead">
            <a:extLst>
              <a:ext uri="{FF2B5EF4-FFF2-40B4-BE49-F238E27FC236}">
                <a16:creationId xmlns:a16="http://schemas.microsoft.com/office/drawing/2014/main" id="{A27FB476-F03D-E44D-B00C-F50DF8DA55AC}"/>
              </a:ext>
            </a:extLst>
          </p:cNvPr>
          <p:cNvSpPr txBox="1"/>
          <p:nvPr/>
        </p:nvSpPr>
        <p:spPr>
          <a:xfrm>
            <a:off x="635000" y="2133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y = W·x   where   W =</a:t>
            </a:r>
          </a:p>
        </p:txBody>
      </p:sp>
      <p:sp>
        <p:nvSpPr>
          <p:cNvPr id="37" name="LB">
            <a:extLst>
              <a:ext uri="{FF2B5EF4-FFF2-40B4-BE49-F238E27FC236}">
                <a16:creationId xmlns:a16="http://schemas.microsoft.com/office/drawing/2014/main" id="{2CC5F2B7-6063-7748-B86D-17AFEC9839D9}"/>
              </a:ext>
            </a:extLst>
          </p:cNvPr>
          <p:cNvSpPr/>
          <p:nvPr/>
        </p:nvSpPr>
        <p:spPr>
          <a:xfrm>
            <a:off x="3873500" y="1905000"/>
            <a:ext cx="177800" cy="6350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B">
            <a:extLst>
              <a:ext uri="{FF2B5EF4-FFF2-40B4-BE49-F238E27FC236}">
                <a16:creationId xmlns:a16="http://schemas.microsoft.com/office/drawing/2014/main" id="{4E73B424-3E83-8E41-AE00-DEF8AA706261}"/>
              </a:ext>
            </a:extLst>
          </p:cNvPr>
          <p:cNvSpPr/>
          <p:nvPr/>
        </p:nvSpPr>
        <p:spPr>
          <a:xfrm>
            <a:off x="6007100" y="1905000"/>
            <a:ext cx="177800" cy="6350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1C0">
            <a:extLst>
              <a:ext uri="{FF2B5EF4-FFF2-40B4-BE49-F238E27FC236}">
                <a16:creationId xmlns:a16="http://schemas.microsoft.com/office/drawing/2014/main" id="{7B35D724-3FAC-C344-A092-A01D05B1A0D8}"/>
              </a:ext>
            </a:extLst>
          </p:cNvPr>
          <p:cNvSpPr txBox="1"/>
          <p:nvPr/>
        </p:nvSpPr>
        <p:spPr>
          <a:xfrm>
            <a:off x="4051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0.5</a:t>
            </a:r>
          </a:p>
        </p:txBody>
      </p:sp>
      <p:sp>
        <p:nvSpPr>
          <p:cNvPr id="40" name="R2C0">
            <a:extLst>
              <a:ext uri="{FF2B5EF4-FFF2-40B4-BE49-F238E27FC236}">
                <a16:creationId xmlns:a16="http://schemas.microsoft.com/office/drawing/2014/main" id="{DB8A193E-C6AD-AD4F-BC18-ECFA110226DE}"/>
              </a:ext>
            </a:extLst>
          </p:cNvPr>
          <p:cNvSpPr txBox="1"/>
          <p:nvPr/>
        </p:nvSpPr>
        <p:spPr>
          <a:xfrm>
            <a:off x="4051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−0.1</a:t>
            </a:r>
          </a:p>
        </p:txBody>
      </p:sp>
      <p:sp>
        <p:nvSpPr>
          <p:cNvPr id="41" name="R1C1">
            <a:extLst>
              <a:ext uri="{FF2B5EF4-FFF2-40B4-BE49-F238E27FC236}">
                <a16:creationId xmlns:a16="http://schemas.microsoft.com/office/drawing/2014/main" id="{9F040C63-924A-C44C-841B-DF86098D2A35}"/>
              </a:ext>
            </a:extLst>
          </p:cNvPr>
          <p:cNvSpPr txBox="1"/>
          <p:nvPr/>
        </p:nvSpPr>
        <p:spPr>
          <a:xfrm>
            <a:off x="4686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−0.2</a:t>
            </a:r>
          </a:p>
        </p:txBody>
      </p:sp>
      <p:sp>
        <p:nvSpPr>
          <p:cNvPr id="42" name="R2C1">
            <a:extLst>
              <a:ext uri="{FF2B5EF4-FFF2-40B4-BE49-F238E27FC236}">
                <a16:creationId xmlns:a16="http://schemas.microsoft.com/office/drawing/2014/main" id="{E4352852-4C6C-694D-92F4-2EB1D448D3E2}"/>
              </a:ext>
            </a:extLst>
          </p:cNvPr>
          <p:cNvSpPr txBox="1"/>
          <p:nvPr/>
        </p:nvSpPr>
        <p:spPr>
          <a:xfrm>
            <a:off x="4686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0.4</a:t>
            </a:r>
          </a:p>
        </p:txBody>
      </p:sp>
      <p:sp>
        <p:nvSpPr>
          <p:cNvPr id="43" name="R1C2">
            <a:extLst>
              <a:ext uri="{FF2B5EF4-FFF2-40B4-BE49-F238E27FC236}">
                <a16:creationId xmlns:a16="http://schemas.microsoft.com/office/drawing/2014/main" id="{A459216E-23AD-514C-B10C-8682805531DD}"/>
              </a:ext>
            </a:extLst>
          </p:cNvPr>
          <p:cNvSpPr txBox="1"/>
          <p:nvPr/>
        </p:nvSpPr>
        <p:spPr>
          <a:xfrm>
            <a:off x="5321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0.3</a:t>
            </a:r>
          </a:p>
        </p:txBody>
      </p:sp>
      <p:sp>
        <p:nvSpPr>
          <p:cNvPr id="44" name="R2C2">
            <a:extLst>
              <a:ext uri="{FF2B5EF4-FFF2-40B4-BE49-F238E27FC236}">
                <a16:creationId xmlns:a16="http://schemas.microsoft.com/office/drawing/2014/main" id="{40635D8F-A2F7-8D4B-80D3-95CD8DCD4CB4}"/>
              </a:ext>
            </a:extLst>
          </p:cNvPr>
          <p:cNvSpPr txBox="1"/>
          <p:nvPr/>
        </p:nvSpPr>
        <p:spPr>
          <a:xfrm>
            <a:off x="5321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0.6</a:t>
            </a:r>
          </a:p>
        </p:txBody>
      </p:sp>
      <p:sp>
        <p:nvSpPr>
          <p:cNvPr id="45" name="Xpart">
            <a:extLst>
              <a:ext uri="{FF2B5EF4-FFF2-40B4-BE49-F238E27FC236}">
                <a16:creationId xmlns:a16="http://schemas.microsoft.com/office/drawing/2014/main" id="{CBC1B91A-D45E-CA4F-8720-684EEF1FDEDA}"/>
              </a:ext>
            </a:extLst>
          </p:cNvPr>
          <p:cNvSpPr txBox="1"/>
          <p:nvPr/>
        </p:nvSpPr>
        <p:spPr>
          <a:xfrm>
            <a:off x="62865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(2, 1, 4)</a:t>
            </a:r>
          </a:p>
        </p:txBody>
      </p:sp>
    </p:spTree>
    <p:extLst>
      <p:ext uri="{BB962C8B-B14F-4D97-AF65-F5344CB8AC3E}">
        <p14:creationId xmlns:p14="http://schemas.microsoft.com/office/powerpoint/2010/main" val="358417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D488231-E6C1-F340-AA8C-EF49CB954CE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9EF386-7EB9-4E43-9709-5EAC76153FA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rial"/>
              </a:rPr>
              <a:t>Properties of Vector &amp; Matrix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DB67092-93C1-BB4A-A4E2-36913732BB5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Arial"/>
              </a:rPr>
              <a:t>The algebra rules that do — and don't — carry over from ordinary numbers.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52C1131E-23E8-504D-9F74-BF899D52DC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2EA0FDB-99C7-F142-BA5C-2DA0BEEED78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</a:rPr>
              <a:t>Multiplication is associative and distributive, but order matters: matrix products do not commute.</a:t>
            </a:r>
          </a:p>
        </p:txBody>
      </p:sp>
      <p:sp>
        <p:nvSpPr>
          <p:cNvPr id="300" name="Card"/>
          <p:cNvSpPr/>
          <p:nvPr/>
        </p:nvSpPr>
        <p:spPr>
          <a:xfrm>
            <a:off x="3810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1" name="Strip"/>
          <p:cNvSpPr/>
          <p:nvPr/>
        </p:nvSpPr>
        <p:spPr>
          <a:xfrm>
            <a:off x="3810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CName"/>
          <p:cNvSpPr/>
          <p:nvPr/>
        </p:nvSpPr>
        <p:spPr>
          <a:xfrm>
            <a:off x="4826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Associative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CEq"/>
              <p:cNvSpPr/>
              <p:nvPr/>
            </p:nvSpPr>
            <p:spPr>
              <a:xfrm>
                <a:off x="4826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81200"/>
                <a:ext cx="25019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CNote"/>
          <p:cNvSpPr/>
          <p:nvPr/>
        </p:nvSpPr>
        <p:spPr>
          <a:xfrm>
            <a:off x="4826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Regroup freely</a:t>
            </a:r>
          </a:p>
        </p:txBody>
      </p:sp>
      <p:sp>
        <p:nvSpPr>
          <p:cNvPr id="305" name="Card"/>
          <p:cNvSpPr/>
          <p:nvPr/>
        </p:nvSpPr>
        <p:spPr>
          <a:xfrm>
            <a:off x="32893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6" name="Strip"/>
          <p:cNvSpPr/>
          <p:nvPr/>
        </p:nvSpPr>
        <p:spPr>
          <a:xfrm>
            <a:off x="32893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7" name="CName"/>
          <p:cNvSpPr/>
          <p:nvPr/>
        </p:nvSpPr>
        <p:spPr>
          <a:xfrm>
            <a:off x="33909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Distributive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CEq"/>
              <p:cNvSpPr/>
              <p:nvPr/>
            </p:nvSpPr>
            <p:spPr>
              <a:xfrm>
                <a:off x="33909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1981200"/>
                <a:ext cx="25019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" name="CNote"/>
          <p:cNvSpPr/>
          <p:nvPr/>
        </p:nvSpPr>
        <p:spPr>
          <a:xfrm>
            <a:off x="33909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Multiply over sums</a:t>
            </a:r>
          </a:p>
        </p:txBody>
      </p:sp>
      <p:sp>
        <p:nvSpPr>
          <p:cNvPr id="310" name="Card"/>
          <p:cNvSpPr/>
          <p:nvPr/>
        </p:nvSpPr>
        <p:spPr>
          <a:xfrm>
            <a:off x="61976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Strip"/>
          <p:cNvSpPr/>
          <p:nvPr/>
        </p:nvSpPr>
        <p:spPr>
          <a:xfrm>
            <a:off x="6197600" y="1422400"/>
            <a:ext cx="2705100" cy="508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CName"/>
          <p:cNvSpPr/>
          <p:nvPr/>
        </p:nvSpPr>
        <p:spPr>
          <a:xfrm>
            <a:off x="62992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D1578A"/>
                </a:solidFill>
                <a:latin typeface="Calibri"/>
              </a:rPr>
              <a:t>Not commutative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CEq"/>
              <p:cNvSpPr/>
              <p:nvPr/>
            </p:nvSpPr>
            <p:spPr>
              <a:xfrm>
                <a:off x="62992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≠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0" y="1981200"/>
                <a:ext cx="2501900" cy="889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4" name="CNote"/>
          <p:cNvSpPr/>
          <p:nvPr/>
        </p:nvSpPr>
        <p:spPr>
          <a:xfrm>
            <a:off x="62992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Order matters!</a:t>
            </a:r>
          </a:p>
        </p:txBody>
      </p:sp>
      <p:sp>
        <p:nvSpPr>
          <p:cNvPr id="315" name="Card"/>
          <p:cNvSpPr/>
          <p:nvPr/>
        </p:nvSpPr>
        <p:spPr>
          <a:xfrm>
            <a:off x="91059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6" name="Strip"/>
          <p:cNvSpPr/>
          <p:nvPr/>
        </p:nvSpPr>
        <p:spPr>
          <a:xfrm>
            <a:off x="91059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CName"/>
          <p:cNvSpPr/>
          <p:nvPr/>
        </p:nvSpPr>
        <p:spPr>
          <a:xfrm>
            <a:off x="92075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CEq"/>
              <p:cNvSpPr/>
              <p:nvPr/>
            </p:nvSpPr>
            <p:spPr>
              <a:xfrm>
                <a:off x="92075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𝑰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𝑰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500" y="1981200"/>
                <a:ext cx="2501900" cy="889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CNote"/>
          <p:cNvSpPr/>
          <p:nvPr/>
        </p:nvSpPr>
        <p:spPr>
          <a:xfrm>
            <a:off x="92075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I leaves A unchanged</a:t>
            </a:r>
          </a:p>
        </p:txBody>
      </p:sp>
      <p:sp>
        <p:nvSpPr>
          <p:cNvPr id="320" name="Card"/>
          <p:cNvSpPr/>
          <p:nvPr/>
        </p:nvSpPr>
        <p:spPr>
          <a:xfrm>
            <a:off x="3810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1" name="Strip"/>
          <p:cNvSpPr/>
          <p:nvPr/>
        </p:nvSpPr>
        <p:spPr>
          <a:xfrm>
            <a:off x="381000" y="36576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CName"/>
          <p:cNvSpPr/>
          <p:nvPr/>
        </p:nvSpPr>
        <p:spPr>
          <a:xfrm>
            <a:off x="4826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Transpose of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CEq"/>
              <p:cNvSpPr/>
              <p:nvPr/>
            </p:nvSpPr>
            <p:spPr>
              <a:xfrm>
                <a:off x="4826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  <m:r>
                            <a:rPr lang="en-US" sz="150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𝑩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500">
                              <a:solidFill>
                                <a:srgbClr val="00A7B5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sz="1500">
                              <a:solidFill>
                                <a:srgbClr val="4B2E8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4216400"/>
                <a:ext cx="2501900" cy="889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CNote"/>
          <p:cNvSpPr/>
          <p:nvPr/>
        </p:nvSpPr>
        <p:spPr>
          <a:xfrm>
            <a:off x="4826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Order reverses</a:t>
            </a:r>
          </a:p>
        </p:txBody>
      </p:sp>
      <p:sp>
        <p:nvSpPr>
          <p:cNvPr id="325" name="Card"/>
          <p:cNvSpPr/>
          <p:nvPr/>
        </p:nvSpPr>
        <p:spPr>
          <a:xfrm>
            <a:off x="32893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6" name="Strip"/>
          <p:cNvSpPr/>
          <p:nvPr/>
        </p:nvSpPr>
        <p:spPr>
          <a:xfrm>
            <a:off x="3289300" y="36576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CName"/>
          <p:cNvSpPr/>
          <p:nvPr/>
        </p:nvSpPr>
        <p:spPr>
          <a:xfrm>
            <a:off x="33909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Scalar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CEq"/>
              <p:cNvSpPr/>
              <p:nvPr/>
            </p:nvSpPr>
            <p:spPr>
              <a:xfrm>
                <a:off x="33909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4216400"/>
                <a:ext cx="2501900" cy="889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CNote"/>
          <p:cNvSpPr/>
          <p:nvPr/>
        </p:nvSpPr>
        <p:spPr>
          <a:xfrm>
            <a:off x="33909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Scalars slide out</a:t>
            </a:r>
          </a:p>
        </p:txBody>
      </p:sp>
      <p:sp>
        <p:nvSpPr>
          <p:cNvPr id="330" name="Card"/>
          <p:cNvSpPr/>
          <p:nvPr/>
        </p:nvSpPr>
        <p:spPr>
          <a:xfrm>
            <a:off x="61976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1" name="Strip"/>
          <p:cNvSpPr/>
          <p:nvPr/>
        </p:nvSpPr>
        <p:spPr>
          <a:xfrm>
            <a:off x="6197600" y="3657600"/>
            <a:ext cx="27051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CName"/>
          <p:cNvSpPr/>
          <p:nvPr/>
        </p:nvSpPr>
        <p:spPr>
          <a:xfrm>
            <a:off x="62992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00A7B5"/>
                </a:solidFill>
                <a:latin typeface="Calibri"/>
              </a:rPr>
              <a:t>Dot — commutative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CEq"/>
              <p:cNvSpPr/>
              <p:nvPr/>
            </p:nvSpPr>
            <p:spPr>
              <a:xfrm>
                <a:off x="62992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0" y="4216400"/>
                <a:ext cx="2501900" cy="889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CNote"/>
          <p:cNvSpPr/>
          <p:nvPr/>
        </p:nvSpPr>
        <p:spPr>
          <a:xfrm>
            <a:off x="62992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Dot product commutes</a:t>
            </a:r>
          </a:p>
        </p:txBody>
      </p:sp>
      <p:sp>
        <p:nvSpPr>
          <p:cNvPr id="335" name="Card"/>
          <p:cNvSpPr/>
          <p:nvPr/>
        </p:nvSpPr>
        <p:spPr>
          <a:xfrm>
            <a:off x="91059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6" name="Strip"/>
          <p:cNvSpPr/>
          <p:nvPr/>
        </p:nvSpPr>
        <p:spPr>
          <a:xfrm>
            <a:off x="9105900" y="3657600"/>
            <a:ext cx="27051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7" name="CName"/>
          <p:cNvSpPr/>
          <p:nvPr/>
        </p:nvSpPr>
        <p:spPr>
          <a:xfrm>
            <a:off x="92075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00A7B5"/>
                </a:solidFill>
                <a:latin typeface="Calibri"/>
              </a:rPr>
              <a:t>Dot — distributive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CEq"/>
              <p:cNvSpPr/>
              <p:nvPr/>
            </p:nvSpPr>
            <p:spPr>
              <a:xfrm>
                <a:off x="92075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𝒘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𝒘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500" y="4216400"/>
                <a:ext cx="2501900" cy="889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CNote"/>
          <p:cNvSpPr/>
          <p:nvPr/>
        </p:nvSpPr>
        <p:spPr>
          <a:xfrm>
            <a:off x="92075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Spreads over sums</a:t>
            </a:r>
          </a:p>
        </p:txBody>
      </p:sp>
    </p:spTree>
    <p:extLst>
      <p:ext uri="{BB962C8B-B14F-4D97-AF65-F5344CB8AC3E}">
        <p14:creationId xmlns:p14="http://schemas.microsoft.com/office/powerpoint/2010/main" val="346694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B942CE15-946C-1342-9A36-8072ED35EA8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84A920F-85E5-D040-892A-C334CDA4BD7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Matrix–Matrix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6E72D782-C6DA-8047-A454-19CA912E0F7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Composing two linear maps into one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52EDC5B6-38FD-8F44-832A-6827973D3B99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F5C74F23-B1D8-D34A-A53A-B6F3D6DFE913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B96D03BB-5441-A34A-A157-254074C04B13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(A · B)ᵢⱼ  = 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ₖ Aᵢₖ · Bₖⱼ        A is m×n,  B is n×p,  result is m×p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B86DBCC7-3A7A-A44E-9E8C-B615F249006E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Inner dimensions must match.  Each entry of A·B is a dot product of a row of A with a column of B.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4F215886-5610-A649-B489-1FF615F476FF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946D679E-E787-6E4E-B30F-A38350995AC5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30">
            <a:extLst>
              <a:ext uri="{FF2B5EF4-FFF2-40B4-BE49-F238E27FC236}">
                <a16:creationId xmlns:a16="http://schemas.microsoft.com/office/drawing/2014/main" id="{587D61DD-7A3C-1645-AEF6-0915F3EF7C54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30">
            <a:extLst>
              <a:ext uri="{FF2B5EF4-FFF2-40B4-BE49-F238E27FC236}">
                <a16:creationId xmlns:a16="http://schemas.microsoft.com/office/drawing/2014/main" id="{C824B1CC-5B74-3A4D-BBD7-5DC77F66D835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Multiplies each row of A by each column of B.
• Row i of A · Col j of B → entry (i,j)
• Shape rule: (m×n)·(n×p)=(m×p)
• NOT commutative: A·B ≠ B·A in general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10E28446-9A40-D64B-A499-93258B2780CC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BB0B0B7B-FA12-F845-A1E5-2007F0C0E2F2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335">
            <a:extLst>
              <a:ext uri="{FF2B5EF4-FFF2-40B4-BE49-F238E27FC236}">
                <a16:creationId xmlns:a16="http://schemas.microsoft.com/office/drawing/2014/main" id="{5EB30BF5-EF5A-E24A-9509-A1C43BFC46AF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335">
            <a:extLst>
              <a:ext uri="{FF2B5EF4-FFF2-40B4-BE49-F238E27FC236}">
                <a16:creationId xmlns:a16="http://schemas.microsoft.com/office/drawing/2014/main" id="{691F7837-C2FB-2B45-AAFD-C5D13E3DC3FD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Composition of linear maps.
If B maps ℝᵖ → ℝⁿ
and A maps ℝⁿ → ℝᵐ,
then A·B maps ℝᵖ → ℝᵐ.
Applying B then A = applying A·B.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E74650E1-EC23-6049-9CBB-9BE9A4CAA722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0039766-7A1E-1642-9975-97841A359378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640">
            <a:extLst>
              <a:ext uri="{FF2B5EF4-FFF2-40B4-BE49-F238E27FC236}">
                <a16:creationId xmlns:a16="http://schemas.microsoft.com/office/drawing/2014/main" id="{DC466667-D774-1A44-B592-804B2630AD7A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640">
            <a:extLst>
              <a:ext uri="{FF2B5EF4-FFF2-40B4-BE49-F238E27FC236}">
                <a16:creationId xmlns:a16="http://schemas.microsoft.com/office/drawing/2014/main" id="{92E99C82-AE33-E34E-BCEE-7388834A2D4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Powers most of ML:
• Stacked layers: W₂·W₁·x
• Covariance: XᵀX
• Attention: QKᵀ
• Solving linear systems
• Change of basis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47403BBD-62BF-CF49-90A5-28FD7C022CCE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T">
            <a:extLst>
              <a:ext uri="{FF2B5EF4-FFF2-40B4-BE49-F238E27FC236}">
                <a16:creationId xmlns:a16="http://schemas.microsoft.com/office/drawing/2014/main" id="{6AE4F508-91E3-7E47-9026-FFC3A1806D5A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mbria Math"/>
                <a:ea typeface="Cambria Math"/>
              </a:rPr>
              <a:t>Shape rule:   (</a:t>
            </a:r>
            <a:r>
              <a:rPr lang="en-US" sz="1400" b="1" dirty="0" err="1">
                <a:solidFill>
                  <a:srgbClr val="FFFFFF"/>
                </a:solidFill>
                <a:latin typeface="Cambria Math"/>
                <a:ea typeface="Cambria Math"/>
              </a:rPr>
              <a:t>m×n</a:t>
            </a:r>
            <a:r>
              <a:rPr lang="en-US" sz="1400" b="1" dirty="0">
                <a:solidFill>
                  <a:srgbClr val="FFFFFF"/>
                </a:solidFill>
                <a:latin typeface="Cambria Math"/>
                <a:ea typeface="Cambria Math"/>
              </a:rPr>
              <a:t>) · (</a:t>
            </a:r>
            <a:r>
              <a:rPr lang="en-US" sz="1400" b="1" dirty="0" err="1">
                <a:solidFill>
                  <a:srgbClr val="FFFFFF"/>
                </a:solidFill>
                <a:latin typeface="Cambria Math"/>
                <a:ea typeface="Cambria Math"/>
              </a:rPr>
              <a:t>n×p</a:t>
            </a:r>
            <a:r>
              <a:rPr lang="en-US" sz="1400" b="1" dirty="0">
                <a:solidFill>
                  <a:srgbClr val="FFFFFF"/>
                </a:solidFill>
                <a:latin typeface="Cambria Math"/>
                <a:ea typeface="Cambria Math"/>
              </a:rPr>
              <a:t>)  =  (</a:t>
            </a:r>
            <a:r>
              <a:rPr lang="en-US" sz="1400" b="1" dirty="0" err="1">
                <a:solidFill>
                  <a:srgbClr val="FFFFFF"/>
                </a:solidFill>
                <a:latin typeface="Cambria Math"/>
                <a:ea typeface="Cambria Math"/>
              </a:rPr>
              <a:t>m×p</a:t>
            </a:r>
            <a:r>
              <a:rPr lang="en-US" sz="1400" b="1" dirty="0">
                <a:solidFill>
                  <a:srgbClr val="FFFFFF"/>
                </a:solidFill>
                <a:latin typeface="Cambria Math"/>
                <a:ea typeface="Cambria Math"/>
              </a:rPr>
              <a:t>)     —     inner dims must match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7BB6E217-0FF3-2143-9551-9168D303D84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6FF0703-3064-7F41-82E4-921C1441EB8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Matrix multiplication = stacking linear maps, one after the other</a:t>
            </a:r>
          </a:p>
        </p:txBody>
      </p:sp>
    </p:spTree>
    <p:extLst>
      <p:ext uri="{BB962C8B-B14F-4D97-AF65-F5344CB8AC3E}">
        <p14:creationId xmlns:p14="http://schemas.microsoft.com/office/powerpoint/2010/main" val="328685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38" grpId="0" animBg="1"/>
      <p:bldP spid="39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E4EC54F-82E4-6941-ACDC-595F895B130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CC7B356-0806-1042-B53C-BF46212653A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Matrix × Matrix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3E377E67-CAD4-6B46-98DC-5AA422B3AE9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2×2 times 2×2 — the basic case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1BED2AE-5040-E246-BED7-6765456B736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ED5E13B5-C308-A74E-8426-529744445AFF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24B71C6-89BF-AC4B-B4E6-3D5F45F1D246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QBody">
                <a:extLst>
                  <a:ext uri="{FF2B5EF4-FFF2-40B4-BE49-F238E27FC236}">
                    <a16:creationId xmlns:a16="http://schemas.microsoft.com/office/drawing/2014/main" id="{23D4568F-885B-8347-AB8A-21B0EAB574FC}"/>
                  </a:ext>
                </a:extLst>
              </p:cNvPr>
              <p:cNvSpPr txBox="1"/>
              <p:nvPr/>
            </p:nvSpPr>
            <p:spPr>
              <a:xfrm>
                <a:off x="558800" y="1803400"/>
                <a:ext cx="11049000" cy="5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𝐶𝑜𝑚𝑝𝑢𝑡𝑒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𝑤ℎ𝑒𝑟𝑒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8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QBody">
                <a:extLst>
                  <a:ext uri="{FF2B5EF4-FFF2-40B4-BE49-F238E27FC236}">
                    <a16:creationId xmlns:a16="http://schemas.microsoft.com/office/drawing/2014/main" id="{23D4568F-885B-8347-AB8A-21B0EAB57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803400"/>
                <a:ext cx="11049000" cy="508000"/>
              </a:xfrm>
              <a:prstGeom prst="rect">
                <a:avLst/>
              </a:prstGeom>
              <a:blipFill>
                <a:blip r:embed="rId2"/>
                <a:stretch>
                  <a:fillRect l="-115" b="-2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QBody2">
            <a:extLst>
              <a:ext uri="{FF2B5EF4-FFF2-40B4-BE49-F238E27FC236}">
                <a16:creationId xmlns:a16="http://schemas.microsoft.com/office/drawing/2014/main" id="{D53DE39E-6163-2F43-91CC-FC865EC30FA9}"/>
              </a:ext>
            </a:extLst>
          </p:cNvPr>
          <p:cNvSpPr txBox="1"/>
          <p:nvPr/>
        </p:nvSpPr>
        <p:spPr>
          <a:xfrm>
            <a:off x="558800" y="23876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Result shape should be 2×2.</a:t>
            </a:r>
          </a:p>
        </p:txBody>
      </p:sp>
      <p:sp>
        <p:nvSpPr>
          <p:cNvPr id="10" name="SCard">
            <a:extLst>
              <a:ext uri="{FF2B5EF4-FFF2-40B4-BE49-F238E27FC236}">
                <a16:creationId xmlns:a16="http://schemas.microsoft.com/office/drawing/2014/main" id="{C61F3094-3E09-C04C-9A30-092C6BA6BC7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">
            <a:extLst>
              <a:ext uri="{FF2B5EF4-FFF2-40B4-BE49-F238E27FC236}">
                <a16:creationId xmlns:a16="http://schemas.microsoft.com/office/drawing/2014/main" id="{D608B0EA-38EC-5F4C-A213-8390B7DD4839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HdrT">
            <a:extLst>
              <a:ext uri="{FF2B5EF4-FFF2-40B4-BE49-F238E27FC236}">
                <a16:creationId xmlns:a16="http://schemas.microsoft.com/office/drawing/2014/main" id="{3C4FF18B-B5D7-324E-A54D-7B62321EE2C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1">
                <a:extLst>
                  <a:ext uri="{FF2B5EF4-FFF2-40B4-BE49-F238E27FC236}">
                    <a16:creationId xmlns:a16="http://schemas.microsoft.com/office/drawing/2014/main" id="{E88BAFB9-9639-374F-A313-B7173205CD66}"/>
                  </a:ext>
                </a:extLst>
              </p:cNvPr>
              <p:cNvSpPr txBox="1"/>
              <p:nvPr/>
            </p:nvSpPr>
            <p:spPr>
              <a:xfrm>
                <a:off x="558800" y="3581400"/>
                <a:ext cx="1104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400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1·5 + 2·7 = 5 + 14 = 19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S1">
                <a:extLst>
                  <a:ext uri="{FF2B5EF4-FFF2-40B4-BE49-F238E27FC236}">
                    <a16:creationId xmlns:a16="http://schemas.microsoft.com/office/drawing/2014/main" id="{E88BAFB9-9639-374F-A313-B7173205C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581400"/>
                <a:ext cx="11049000" cy="228600"/>
              </a:xfrm>
              <a:prstGeom prst="rect">
                <a:avLst/>
              </a:prstGeom>
              <a:blipFill>
                <a:blip r:embed="rId3"/>
                <a:stretch>
                  <a:fillRect b="-7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2">
                <a:extLst>
                  <a:ext uri="{FF2B5EF4-FFF2-40B4-BE49-F238E27FC236}">
                    <a16:creationId xmlns:a16="http://schemas.microsoft.com/office/drawing/2014/main" id="{9B9F57BA-94F3-E048-AAC8-7F27D6F322D9}"/>
                  </a:ext>
                </a:extLst>
              </p:cNvPr>
              <p:cNvSpPr txBox="1"/>
              <p:nvPr/>
            </p:nvSpPr>
            <p:spPr>
              <a:xfrm>
                <a:off x="558800" y="3835400"/>
                <a:ext cx="1104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400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1·6 + 2·8 = 6 + 16 = 22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S2">
                <a:extLst>
                  <a:ext uri="{FF2B5EF4-FFF2-40B4-BE49-F238E27FC236}">
                    <a16:creationId xmlns:a16="http://schemas.microsoft.com/office/drawing/2014/main" id="{9B9F57BA-94F3-E048-AAC8-7F27D6F32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835400"/>
                <a:ext cx="11049000" cy="228600"/>
              </a:xfrm>
              <a:prstGeom prst="rect">
                <a:avLst/>
              </a:prstGeom>
              <a:blipFill>
                <a:blip r:embed="rId4"/>
                <a:stretch>
                  <a:fillRect b="-6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3">
                <a:extLst>
                  <a:ext uri="{FF2B5EF4-FFF2-40B4-BE49-F238E27FC236}">
                    <a16:creationId xmlns:a16="http://schemas.microsoft.com/office/drawing/2014/main" id="{2AE6336B-36B9-3248-A540-DDE7F78E3895}"/>
                  </a:ext>
                </a:extLst>
              </p:cNvPr>
              <p:cNvSpPr txBox="1"/>
              <p:nvPr/>
            </p:nvSpPr>
            <p:spPr>
              <a:xfrm>
                <a:off x="558800" y="4089400"/>
                <a:ext cx="1104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400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3·5 + 4·7 = 15 + 28 = 43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S3">
                <a:extLst>
                  <a:ext uri="{FF2B5EF4-FFF2-40B4-BE49-F238E27FC236}">
                    <a16:creationId xmlns:a16="http://schemas.microsoft.com/office/drawing/2014/main" id="{2AE6336B-36B9-3248-A540-DDE7F78E3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089400"/>
                <a:ext cx="11049000" cy="228600"/>
              </a:xfrm>
              <a:prstGeom prst="rect">
                <a:avLst/>
              </a:prstGeom>
              <a:blipFill>
                <a:blip r:embed="rId5"/>
                <a:stretch>
                  <a:fillRect b="-7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4">
                <a:extLst>
                  <a:ext uri="{FF2B5EF4-FFF2-40B4-BE49-F238E27FC236}">
                    <a16:creationId xmlns:a16="http://schemas.microsoft.com/office/drawing/2014/main" id="{4EB96916-702D-6649-9DD8-556510ED8984}"/>
                  </a:ext>
                </a:extLst>
              </p:cNvPr>
              <p:cNvSpPr txBox="1"/>
              <p:nvPr/>
            </p:nvSpPr>
            <p:spPr>
              <a:xfrm>
                <a:off x="558800" y="4343400"/>
                <a:ext cx="1104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400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3·6 + 4·8 = 18 + 32 = 50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S4">
                <a:extLst>
                  <a:ext uri="{FF2B5EF4-FFF2-40B4-BE49-F238E27FC236}">
                    <a16:creationId xmlns:a16="http://schemas.microsoft.com/office/drawing/2014/main" id="{4EB96916-702D-6649-9DD8-556510ED8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343400"/>
                <a:ext cx="11049000" cy="228600"/>
              </a:xfrm>
              <a:prstGeom prst="rect">
                <a:avLst/>
              </a:prstGeom>
              <a:blipFill>
                <a:blip r:embed="rId6"/>
                <a:stretch>
                  <a:fillRect b="-7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Ans">
                <a:extLst>
                  <a:ext uri="{FF2B5EF4-FFF2-40B4-BE49-F238E27FC236}">
                    <a16:creationId xmlns:a16="http://schemas.microsoft.com/office/drawing/2014/main" id="{9599CFC0-1964-514D-AD71-2161F49013A8}"/>
                  </a:ext>
                </a:extLst>
              </p:cNvPr>
              <p:cNvSpPr txBox="1"/>
              <p:nvPr/>
            </p:nvSpPr>
            <p:spPr>
              <a:xfrm>
                <a:off x="558800" y="4800600"/>
                <a:ext cx="11049000" cy="35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𝐴𝑛𝑠𝑤𝑒𝑟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SAns">
                <a:extLst>
                  <a:ext uri="{FF2B5EF4-FFF2-40B4-BE49-F238E27FC236}">
                    <a16:creationId xmlns:a16="http://schemas.microsoft.com/office/drawing/2014/main" id="{9599CFC0-1964-514D-AD71-2161F4901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800600"/>
                <a:ext cx="11049000" cy="355600"/>
              </a:xfrm>
              <a:prstGeom prst="rect">
                <a:avLst/>
              </a:prstGeom>
              <a:blipFill>
                <a:blip r:embed="rId7"/>
                <a:stretch>
                  <a:fillRect b="-517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kBar">
            <a:extLst>
              <a:ext uri="{FF2B5EF4-FFF2-40B4-BE49-F238E27FC236}">
                <a16:creationId xmlns:a16="http://schemas.microsoft.com/office/drawing/2014/main" id="{3423D4C6-3D35-BB43-ABBE-CBA47862A09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Text">
            <a:extLst>
              <a:ext uri="{FF2B5EF4-FFF2-40B4-BE49-F238E27FC236}">
                <a16:creationId xmlns:a16="http://schemas.microsoft.com/office/drawing/2014/main" id="{B2FAAA6B-67AE-5041-9C50-ADD431C9397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Every entry of A·B is a dot product of one row of A with one column of B</a:t>
            </a:r>
          </a:p>
        </p:txBody>
      </p:sp>
    </p:spTree>
    <p:extLst>
      <p:ext uri="{BB962C8B-B14F-4D97-AF65-F5344CB8AC3E}">
        <p14:creationId xmlns:p14="http://schemas.microsoft.com/office/powerpoint/2010/main" val="166076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7160F29-456F-F14D-B59C-15B7FE76926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D9C23005-582E-2B46-8CCB-478A92692A9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Non-commutativity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86C24DA-F6EB-A14E-A8BA-2944FEE2CE5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Show that A · B ≠ B · A in general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89FBEB1F-5859-444A-8F7B-67167D9150D8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468D19A2-CB0C-7D4D-8458-9B8D4FDCA17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2D1F48F9-7DE5-AB4C-B093-63FAF90B7F6E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QBody">
                <a:extLst>
                  <a:ext uri="{FF2B5EF4-FFF2-40B4-BE49-F238E27FC236}">
                    <a16:creationId xmlns:a16="http://schemas.microsoft.com/office/drawing/2014/main" id="{B8C8B7B0-08BB-CD48-8E68-80BD6047802E}"/>
                  </a:ext>
                </a:extLst>
              </p:cNvPr>
              <p:cNvSpPr txBox="1"/>
              <p:nvPr/>
            </p:nvSpPr>
            <p:spPr>
              <a:xfrm>
                <a:off x="558800" y="1778000"/>
                <a:ext cx="1104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𝐺𝑖𝑣𝑒𝑛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𝑠𝑤𝑎𝑝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𝑚𝑎𝑡𝑟𝑖𝑥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QBody">
                <a:extLst>
                  <a:ext uri="{FF2B5EF4-FFF2-40B4-BE49-F238E27FC236}">
                    <a16:creationId xmlns:a16="http://schemas.microsoft.com/office/drawing/2014/main" id="{B8C8B7B0-08BB-CD48-8E68-80BD60478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778000"/>
                <a:ext cx="11049000" cy="381000"/>
              </a:xfrm>
              <a:prstGeom prst="rect">
                <a:avLst/>
              </a:prstGeom>
              <a:blipFill>
                <a:blip r:embed="rId2"/>
                <a:stretch>
                  <a:fillRect b="-4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QBody2">
            <a:extLst>
              <a:ext uri="{FF2B5EF4-FFF2-40B4-BE49-F238E27FC236}">
                <a16:creationId xmlns:a16="http://schemas.microsoft.com/office/drawing/2014/main" id="{04563529-1C6A-F24A-8AF5-8248C3443500}"/>
              </a:ext>
            </a:extLst>
          </p:cNvPr>
          <p:cNvSpPr txBox="1"/>
          <p:nvPr/>
        </p:nvSpPr>
        <p:spPr>
          <a:xfrm>
            <a:off x="558800" y="24638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  <a:latin typeface="Arial"/>
                <a:cs typeface="Arial"/>
              </a:rPr>
              <a:t>compute both A · B and B · A.  Are they equal?</a:t>
            </a:r>
          </a:p>
        </p:txBody>
      </p:sp>
      <p:sp>
        <p:nvSpPr>
          <p:cNvPr id="27" name="SCard">
            <a:extLst>
              <a:ext uri="{FF2B5EF4-FFF2-40B4-BE49-F238E27FC236}">
                <a16:creationId xmlns:a16="http://schemas.microsoft.com/office/drawing/2014/main" id="{9CA99266-6447-6C4F-B962-ACF2EC042C23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">
            <a:extLst>
              <a:ext uri="{FF2B5EF4-FFF2-40B4-BE49-F238E27FC236}">
                <a16:creationId xmlns:a16="http://schemas.microsoft.com/office/drawing/2014/main" id="{0320B759-65FE-A04D-84FB-EE60026FB97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SHdrT">
            <a:extLst>
              <a:ext uri="{FF2B5EF4-FFF2-40B4-BE49-F238E27FC236}">
                <a16:creationId xmlns:a16="http://schemas.microsoft.com/office/drawing/2014/main" id="{7ED1C6CF-2A20-DC49-9ED0-2BF786BA567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30" name="S1">
            <a:extLst>
              <a:ext uri="{FF2B5EF4-FFF2-40B4-BE49-F238E27FC236}">
                <a16:creationId xmlns:a16="http://schemas.microsoft.com/office/drawing/2014/main" id="{9F20B070-3F58-2843-A850-1B9A5723B3D0}"/>
              </a:ext>
            </a:extLst>
          </p:cNvPr>
          <p:cNvSpPr txBox="1"/>
          <p:nvPr/>
        </p:nvSpPr>
        <p:spPr>
          <a:xfrm>
            <a:off x="558800" y="35433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A · B  (left-multiplying by swap → swap the ROWS of B):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S2">
                <a:extLst>
                  <a:ext uri="{FF2B5EF4-FFF2-40B4-BE49-F238E27FC236}">
                    <a16:creationId xmlns:a16="http://schemas.microsoft.com/office/drawing/2014/main" id="{66A38F81-A0D7-AC4A-8216-FDF5E28C14B6}"/>
                  </a:ext>
                </a:extLst>
              </p:cNvPr>
              <p:cNvSpPr txBox="1"/>
              <p:nvPr/>
            </p:nvSpPr>
            <p:spPr>
              <a:xfrm>
                <a:off x="558800" y="3784600"/>
                <a:ext cx="110490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600" b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B0B0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S2">
                <a:extLst>
                  <a:ext uri="{FF2B5EF4-FFF2-40B4-BE49-F238E27FC236}">
                    <a16:creationId xmlns:a16="http://schemas.microsoft.com/office/drawing/2014/main" id="{66A38F81-A0D7-AC4A-8216-FDF5E28C1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784600"/>
                <a:ext cx="11049000" cy="254000"/>
              </a:xfrm>
              <a:prstGeom prst="rect">
                <a:avLst/>
              </a:prstGeom>
              <a:blipFill>
                <a:blip r:embed="rId3"/>
                <a:stretch>
                  <a:fillRect b="-10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3">
            <a:extLst>
              <a:ext uri="{FF2B5EF4-FFF2-40B4-BE49-F238E27FC236}">
                <a16:creationId xmlns:a16="http://schemas.microsoft.com/office/drawing/2014/main" id="{2AD3D9E6-8034-DA42-A00F-6FDF78185E15}"/>
              </a:ext>
            </a:extLst>
          </p:cNvPr>
          <p:cNvSpPr txBox="1"/>
          <p:nvPr/>
        </p:nvSpPr>
        <p:spPr>
          <a:xfrm>
            <a:off x="558800" y="43180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B · A  (right-multiplying by swap → swap the COLUMNS of B):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S4">
                <a:extLst>
                  <a:ext uri="{FF2B5EF4-FFF2-40B4-BE49-F238E27FC236}">
                    <a16:creationId xmlns:a16="http://schemas.microsoft.com/office/drawing/2014/main" id="{0D753A78-B3B6-AE4E-84E6-F1E01A2ADDCE}"/>
                  </a:ext>
                </a:extLst>
              </p:cNvPr>
              <p:cNvSpPr txBox="1"/>
              <p:nvPr/>
            </p:nvSpPr>
            <p:spPr>
              <a:xfrm>
                <a:off x="558800" y="4546600"/>
                <a:ext cx="110490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600" b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B0B0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S4">
                <a:extLst>
                  <a:ext uri="{FF2B5EF4-FFF2-40B4-BE49-F238E27FC236}">
                    <a16:creationId xmlns:a16="http://schemas.microsoft.com/office/drawing/2014/main" id="{0D753A78-B3B6-AE4E-84E6-F1E01A2AD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546600"/>
                <a:ext cx="11049000" cy="254000"/>
              </a:xfrm>
              <a:prstGeom prst="rect">
                <a:avLst/>
              </a:prstGeom>
              <a:blipFill>
                <a:blip r:embed="rId4"/>
                <a:stretch>
                  <a:fillRect b="-10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Ans">
            <a:extLst>
              <a:ext uri="{FF2B5EF4-FFF2-40B4-BE49-F238E27FC236}">
                <a16:creationId xmlns:a16="http://schemas.microsoft.com/office/drawing/2014/main" id="{CF5A8AB5-2F89-8341-89EA-339D79A269EF}"/>
              </a:ext>
            </a:extLst>
          </p:cNvPr>
          <p:cNvSpPr txBox="1"/>
          <p:nvPr/>
        </p:nvSpPr>
        <p:spPr>
          <a:xfrm>
            <a:off x="558800" y="5054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Conclusion:   A · B ≠ B · A   —  matrix multiplication is NOT commutative.</a:t>
            </a:r>
          </a:p>
        </p:txBody>
      </p:sp>
      <p:sp>
        <p:nvSpPr>
          <p:cNvPr id="35" name="TkBar">
            <a:extLst>
              <a:ext uri="{FF2B5EF4-FFF2-40B4-BE49-F238E27FC236}">
                <a16:creationId xmlns:a16="http://schemas.microsoft.com/office/drawing/2014/main" id="{2D3C0B90-95EE-2A4E-813F-98CD7939A5A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59D6CC86-344A-FA40-8FD5-B006F0687474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Order matters: left vs right multiplication produce different results</a:t>
            </a:r>
          </a:p>
        </p:txBody>
      </p:sp>
    </p:spTree>
    <p:extLst>
      <p:ext uri="{BB962C8B-B14F-4D97-AF65-F5344CB8AC3E}">
        <p14:creationId xmlns:p14="http://schemas.microsoft.com/office/powerpoint/2010/main" val="88471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74AB81E-F1AD-DE49-9CDA-18DE90C1B313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EDCF251-C06C-3040-9236-D8419B568D4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Arial"/>
                <a:cs typeface="Arial"/>
              </a:rPr>
              <a:t>Example 3 — Composing Two Linear Maps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132B7ED-2E7D-B841-B148-6F7920DE689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Stacking transformations in a neural network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6DD6749-DD88-A14A-B465-9E104BC2228A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2F4CF34C-928F-D940-B757-94D2E19979E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4CDCBB5C-93ED-AE40-9A02-D9CB51AE10C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QBody">
                <a:extLst>
                  <a:ext uri="{FF2B5EF4-FFF2-40B4-BE49-F238E27FC236}">
                    <a16:creationId xmlns:a16="http://schemas.microsoft.com/office/drawing/2014/main" id="{2272A951-BCE3-4B49-84DF-C6142765D4D2}"/>
                  </a:ext>
                </a:extLst>
              </p:cNvPr>
              <p:cNvSpPr txBox="1"/>
              <p:nvPr/>
            </p:nvSpPr>
            <p:spPr>
              <a:xfrm>
                <a:off x="558800" y="1778000"/>
                <a:ext cx="110490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𝐿𝑎𝑦𝑒𝑟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1:  </m:t>
                      </m:r>
                      <m:sSub>
                        <m:sSubPr>
                          <m:ctrlPr>
                            <a:rPr lang="en-US" sz="13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3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3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3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𝐿𝑎𝑦𝑒𝑟</m:t>
                      </m:r>
                      <m:r>
                        <a:rPr lang="en-US" sz="13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2:  </m:t>
                      </m:r>
                      <m:sSub>
                        <m:sSubPr>
                          <m:ctrlPr>
                            <a:rPr lang="en-US" sz="13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3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3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3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QBody">
                <a:extLst>
                  <a:ext uri="{FF2B5EF4-FFF2-40B4-BE49-F238E27FC236}">
                    <a16:creationId xmlns:a16="http://schemas.microsoft.com/office/drawing/2014/main" id="{2272A951-BCE3-4B49-84DF-C6142765D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778000"/>
                <a:ext cx="11049000" cy="279400"/>
              </a:xfrm>
              <a:prstGeom prst="rect">
                <a:avLst/>
              </a:prstGeom>
              <a:blipFill>
                <a:blip r:embed="rId2"/>
                <a:stretch>
                  <a:fillRect b="-52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QBody2">
            <a:extLst>
              <a:ext uri="{FF2B5EF4-FFF2-40B4-BE49-F238E27FC236}">
                <a16:creationId xmlns:a16="http://schemas.microsoft.com/office/drawing/2014/main" id="{C51663FA-C38C-974C-806E-475BAFB84806}"/>
              </a:ext>
            </a:extLst>
          </p:cNvPr>
          <p:cNvSpPr txBox="1"/>
          <p:nvPr/>
        </p:nvSpPr>
        <p:spPr>
          <a:xfrm>
            <a:off x="558800" y="2362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808080"/>
                </a:solidFill>
                <a:latin typeface="Arial"/>
                <a:cs typeface="Arial"/>
              </a:rPr>
              <a:t>W₁ scales y by 2;   W₂ rotates and scales.</a:t>
            </a:r>
          </a:p>
        </p:txBody>
      </p:sp>
      <p:sp>
        <p:nvSpPr>
          <p:cNvPr id="10" name="QBody3">
            <a:extLst>
              <a:ext uri="{FF2B5EF4-FFF2-40B4-BE49-F238E27FC236}">
                <a16:creationId xmlns:a16="http://schemas.microsoft.com/office/drawing/2014/main" id="{18D940CC-C10E-8642-B393-27DBB25FA7EC}"/>
              </a:ext>
            </a:extLst>
          </p:cNvPr>
          <p:cNvSpPr txBox="1"/>
          <p:nvPr/>
        </p:nvSpPr>
        <p:spPr>
          <a:xfrm>
            <a:off x="558800" y="26416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Arial"/>
                <a:cs typeface="Arial"/>
              </a:rPr>
              <a:t>Find the single matrix W = W₂ · W₁ that performs both layers in one step.</a:t>
            </a:r>
          </a:p>
        </p:txBody>
      </p:sp>
      <p:sp>
        <p:nvSpPr>
          <p:cNvPr id="11" name="SCard">
            <a:extLst>
              <a:ext uri="{FF2B5EF4-FFF2-40B4-BE49-F238E27FC236}">
                <a16:creationId xmlns:a16="http://schemas.microsoft.com/office/drawing/2014/main" id="{BE806587-672F-4641-B11D-780C91AF72C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Hdr">
            <a:extLst>
              <a:ext uri="{FF2B5EF4-FFF2-40B4-BE49-F238E27FC236}">
                <a16:creationId xmlns:a16="http://schemas.microsoft.com/office/drawing/2014/main" id="{3E2DEA23-B65D-0A4D-8224-4C50FDC1B1E5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SHdrT">
            <a:extLst>
              <a:ext uri="{FF2B5EF4-FFF2-40B4-BE49-F238E27FC236}">
                <a16:creationId xmlns:a16="http://schemas.microsoft.com/office/drawing/2014/main" id="{59EDD236-E635-FE46-8188-7DF45B8DD8D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4" name="S1">
            <a:extLst>
              <a:ext uri="{FF2B5EF4-FFF2-40B4-BE49-F238E27FC236}">
                <a16:creationId xmlns:a16="http://schemas.microsoft.com/office/drawing/2014/main" id="{EE4C33F3-23FA-BB4A-B0EF-1396D735F137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W = W₂·W₁  → entry (i,j) = row i of W₂ · col j of W₁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2">
                <a:extLst>
                  <a:ext uri="{FF2B5EF4-FFF2-40B4-BE49-F238E27FC236}">
                    <a16:creationId xmlns:a16="http://schemas.microsoft.com/office/drawing/2014/main" id="{1C1E01D8-2100-6C49-8601-B464588FE9CC}"/>
                  </a:ext>
                </a:extLst>
              </p:cNvPr>
              <p:cNvSpPr txBox="1"/>
              <p:nvPr/>
            </p:nvSpPr>
            <p:spPr>
              <a:xfrm>
                <a:off x="558800" y="3835400"/>
                <a:ext cx="1104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300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1·1 + 1·0 = 1        </m:t>
                      </m:r>
                      <m:sSub>
                        <m:sSubPr>
                          <m:ctrlP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300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1·0 + 1·2 = 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S2">
                <a:extLst>
                  <a:ext uri="{FF2B5EF4-FFF2-40B4-BE49-F238E27FC236}">
                    <a16:creationId xmlns:a16="http://schemas.microsoft.com/office/drawing/2014/main" id="{1C1E01D8-2100-6C49-8601-B464588FE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835400"/>
                <a:ext cx="11049000" cy="228600"/>
              </a:xfrm>
              <a:prstGeom prst="rect">
                <a:avLst/>
              </a:prstGeom>
              <a:blipFill>
                <a:blip r:embed="rId3"/>
                <a:stretch>
                  <a:fillRect b="-6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3">
                <a:extLst>
                  <a:ext uri="{FF2B5EF4-FFF2-40B4-BE49-F238E27FC236}">
                    <a16:creationId xmlns:a16="http://schemas.microsoft.com/office/drawing/2014/main" id="{540F3175-C748-8048-A1D2-58450EC39665}"/>
                  </a:ext>
                </a:extLst>
              </p:cNvPr>
              <p:cNvSpPr txBox="1"/>
              <p:nvPr/>
            </p:nvSpPr>
            <p:spPr>
              <a:xfrm>
                <a:off x="558800" y="4089400"/>
                <a:ext cx="11049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300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−1·1 + 1·0 = −1        </m:t>
                      </m:r>
                      <m:sSub>
                        <m:sSubPr>
                          <m:ctrlP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300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300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−1·0 + 1·2 = 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S3">
                <a:extLst>
                  <a:ext uri="{FF2B5EF4-FFF2-40B4-BE49-F238E27FC236}">
                    <a16:creationId xmlns:a16="http://schemas.microsoft.com/office/drawing/2014/main" id="{540F3175-C748-8048-A1D2-58450EC39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089400"/>
                <a:ext cx="11049000" cy="228600"/>
              </a:xfrm>
              <a:prstGeom prst="rect">
                <a:avLst/>
              </a:prstGeom>
              <a:blipFill>
                <a:blip r:embed="rId4"/>
                <a:stretch>
                  <a:fillRect b="-7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4">
            <a:extLst>
              <a:ext uri="{FF2B5EF4-FFF2-40B4-BE49-F238E27FC236}">
                <a16:creationId xmlns:a16="http://schemas.microsoft.com/office/drawing/2014/main" id="{C0846CBF-447F-8747-8D76-B8CD396B211C}"/>
              </a:ext>
            </a:extLst>
          </p:cNvPr>
          <p:cNvSpPr txBox="1"/>
          <p:nvPr/>
        </p:nvSpPr>
        <p:spPr>
          <a:xfrm>
            <a:off x="558800" y="4394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One composed matrix replaces both layers — same result, faster compute.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Ans">
                <a:extLst>
                  <a:ext uri="{FF2B5EF4-FFF2-40B4-BE49-F238E27FC236}">
                    <a16:creationId xmlns:a16="http://schemas.microsoft.com/office/drawing/2014/main" id="{A9479CF4-2E96-394B-AF0F-B3FB7478879A}"/>
                  </a:ext>
                </a:extLst>
              </p:cNvPr>
              <p:cNvSpPr txBox="1"/>
              <p:nvPr/>
            </p:nvSpPr>
            <p:spPr>
              <a:xfrm>
                <a:off x="558800" y="4800600"/>
                <a:ext cx="11049000" cy="35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𝐴𝑛𝑠𝑤𝑒𝑟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60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SAns">
                <a:extLst>
                  <a:ext uri="{FF2B5EF4-FFF2-40B4-BE49-F238E27FC236}">
                    <a16:creationId xmlns:a16="http://schemas.microsoft.com/office/drawing/2014/main" id="{A9479CF4-2E96-394B-AF0F-B3FB74788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800600"/>
                <a:ext cx="11049000" cy="355600"/>
              </a:xfrm>
              <a:prstGeom prst="rect">
                <a:avLst/>
              </a:prstGeom>
              <a:blipFill>
                <a:blip r:embed="rId5"/>
                <a:stretch>
                  <a:fillRect b="-448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kBar">
            <a:extLst>
              <a:ext uri="{FF2B5EF4-FFF2-40B4-BE49-F238E27FC236}">
                <a16:creationId xmlns:a16="http://schemas.microsoft.com/office/drawing/2014/main" id="{AAD47C36-BB62-7F45-88F6-703DAA740B7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kText">
            <a:extLst>
              <a:ext uri="{FF2B5EF4-FFF2-40B4-BE49-F238E27FC236}">
                <a16:creationId xmlns:a16="http://schemas.microsoft.com/office/drawing/2014/main" id="{4620BC81-FDB6-E541-AE1E-A8C38DE4DD62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Matrix multiplication = pre-computing a stack of linear layers as one map</a:t>
            </a:r>
          </a:p>
        </p:txBody>
      </p:sp>
    </p:spTree>
    <p:extLst>
      <p:ext uri="{BB962C8B-B14F-4D97-AF65-F5344CB8AC3E}">
        <p14:creationId xmlns:p14="http://schemas.microsoft.com/office/powerpoint/2010/main" val="310176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7D4A68F0-CEA2-964B-B4EF-926DC646780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082A003A-0316-3D42-A932-152F70E7FE7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Determinant of a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D971315F-D540-9E45-9233-99AE1CAFABC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 single number that captures how a matrix scales space and whether it's invertible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0FFB82D7-D65B-B041-9A7F-1F4D9B2E7EE3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B49A5281-D44E-8A47-B71F-60C6B41BE4F5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(2×2 case)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95EA1B59-DD29-674C-A0FE-8C6A8082E7FA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det(A)  =  |A|  =  a·d − b·c     for A = [[a,b],[c,d]]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A2D732EE-C06D-2346-96A4-95D20A3CF5CE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3×3 and beyond: cofactor expansion, or det(A) = product of eigenvalues. Defined only for square matrices.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C1039994-DDB4-2B48-A0EC-BF3941BBEC3F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5B331BB5-2BFF-5440-8B91-E58B6AD1A192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86A09007-63F0-AD48-AE04-D05476BDFC87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measures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AD84DC58-E6E1-F44D-AC0D-06AFE3277AAA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Signed scaling factor of the transformation A.
|det(A)| = how much A stretches
or shrinks area / volume.
Sign tells if orientation flips.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46C00CC5-42C1-6346-8F86-4C9AD817A78A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8CF084E2-D1B2-9D4C-9047-77ABDBEF1E0C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AFCCD8F0-DAE1-E54C-B949-C7E042F293F3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ECE0B79C-4F08-1647-8117-E5A781701168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det(A) = area of the parallelogram
spanned by the columns of A.
• det = 0  →  flattened to a line
• det &gt; 0  →  preserves orientation
• det &lt; 0  →  flips orientation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D0AD063-EE5D-2C43-819A-4927A024491E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39DC911B-F57B-764B-9C89-654D8893A315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C443FE56-12B2-034F-9718-EA9FCBCC7658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9" name="CardBody640">
            <a:extLst>
              <a:ext uri="{FF2B5EF4-FFF2-40B4-BE49-F238E27FC236}">
                <a16:creationId xmlns:a16="http://schemas.microsoft.com/office/drawing/2014/main" id="{EEBA60E8-43CC-F04B-8C94-915A264EDAAA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Invertible iff det(A) ≠ 0
• Solves Ax=b via Cramer's rule
• Change-of-variables in integration
• Volume in geometry &amp; physics
• Stability checks in dynamics</a:t>
            </a:r>
          </a:p>
        </p:txBody>
      </p:sp>
      <p:sp>
        <p:nvSpPr>
          <p:cNvPr id="40" name="FormStrip">
            <a:extLst>
              <a:ext uri="{FF2B5EF4-FFF2-40B4-BE49-F238E27FC236}">
                <a16:creationId xmlns:a16="http://schemas.microsoft.com/office/drawing/2014/main" id="{A0955F70-72F5-7344-8288-6E66B2ABA85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FormStripT">
            <a:extLst>
              <a:ext uri="{FF2B5EF4-FFF2-40B4-BE49-F238E27FC236}">
                <a16:creationId xmlns:a16="http://schemas.microsoft.com/office/drawing/2014/main" id="{9291372E-2569-2646-A900-7D3311415B53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mbria Math"/>
                <a:ea typeface="Cambria Math"/>
              </a:rPr>
              <a:t>Key facts:   det(I) = 1   ·   det(A·B) = det(A)·det(B)   ·   det(A) = 0  ⇔  A is singular</a:t>
            </a:r>
          </a:p>
        </p:txBody>
      </p:sp>
      <p:sp>
        <p:nvSpPr>
          <p:cNvPr id="42" name="TkBar">
            <a:extLst>
              <a:ext uri="{FF2B5EF4-FFF2-40B4-BE49-F238E27FC236}">
                <a16:creationId xmlns:a16="http://schemas.microsoft.com/office/drawing/2014/main" id="{AB9EB079-94F5-B140-A814-E19A380C867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Text">
            <a:extLst>
              <a:ext uri="{FF2B5EF4-FFF2-40B4-BE49-F238E27FC236}">
                <a16:creationId xmlns:a16="http://schemas.microsoft.com/office/drawing/2014/main" id="{9AFB8B9A-967C-8E4E-BCEF-F3BE266EA29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  <a:cs typeface="Arial"/>
              </a:rPr>
              <a:t>The determinant compresses an entire transformation into one number — area, sign, invertibility</a:t>
            </a:r>
          </a:p>
        </p:txBody>
      </p:sp>
    </p:spTree>
    <p:extLst>
      <p:ext uri="{BB962C8B-B14F-4D97-AF65-F5344CB8AC3E}">
        <p14:creationId xmlns:p14="http://schemas.microsoft.com/office/powerpoint/2010/main" val="385049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/>
      <p:bldP spid="39" grpId="0"/>
      <p:bldP spid="40" grpId="0" animBg="1"/>
      <p:bldP spid="41" grpId="0"/>
      <p:bldP spid="42" grpId="0" animBg="1"/>
      <p:bldP spid="43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Determinant Is a Signed Area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For a 2×2 matrix, det(A) is the area of the parallelogram spanned by its columns.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2192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Columns of A span a parallelogram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137400" y="12065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and interpret det(A)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measures how A scales area — and its sign tells you whether orientation flips.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Parallelogram from a₁=(3,1), a₂=(1,2)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4000" name="pgram"/>
          <p:cNvSpPr/>
          <p:nvPr/>
        </p:nvSpPr>
        <p:spPr>
          <a:xfrm>
            <a:off x="1206500" y="3657600"/>
            <a:ext cx="1930400" cy="1447800"/>
          </a:xfrm>
          <a:custGeom>
            <a:avLst/>
            <a:gdLst/>
            <a:ahLst/>
            <a:cxnLst/>
            <a:rect l="0" t="0" r="0" b="0"/>
            <a:pathLst>
              <a:path w="1930400" h="1447800">
                <a:moveTo>
                  <a:pt x="0" y="1447800"/>
                </a:moveTo>
                <a:lnTo>
                  <a:pt x="1447800" y="965200"/>
                </a:lnTo>
                <a:lnTo>
                  <a:pt x="1930400" y="0"/>
                </a:lnTo>
                <a:lnTo>
                  <a:pt x="482600" y="482600"/>
                </a:lnTo>
                <a:close/>
              </a:path>
            </a:pathLst>
          </a:custGeom>
          <a:solidFill>
            <a:srgbClr val="4B2E83">
              <a:alpha val="20000"/>
            </a:srgbClr>
          </a:solidFill>
          <a:ln w="9525">
            <a:solidFill>
              <a:srgbClr val="7A5BA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001" name="v"/>
          <p:cNvCxnSpPr/>
          <p:nvPr/>
        </p:nvCxnSpPr>
        <p:spPr>
          <a:xfrm flipV="1">
            <a:off x="2654300" y="3657600"/>
            <a:ext cx="482600" cy="965200"/>
          </a:xfrm>
          <a:prstGeom prst="line">
            <a:avLst/>
          </a:prstGeom>
          <a:ln w="15875" cap="rnd">
            <a:solidFill>
              <a:srgbClr val="7A5BA8"/>
            </a:solidFill>
          </a:ln>
        </p:spPr>
      </p:cxnSp>
      <p:cxnSp>
        <p:nvCxnSpPr>
          <p:cNvPr id="4002" name="v"/>
          <p:cNvCxnSpPr/>
          <p:nvPr/>
        </p:nvCxnSpPr>
        <p:spPr>
          <a:xfrm flipV="1">
            <a:off x="1689100" y="3657600"/>
            <a:ext cx="1447800" cy="482600"/>
          </a:xfrm>
          <a:prstGeom prst="line">
            <a:avLst/>
          </a:prstGeom>
          <a:ln w="15875" cap="rnd">
            <a:solidFill>
              <a:srgbClr val="7A5BA8"/>
            </a:solidFill>
          </a:ln>
        </p:spPr>
      </p:cxnSp>
      <p:cxnSp>
        <p:nvCxnSpPr>
          <p:cNvPr id="4003" name="v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4004" name="v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05" name="tb"/>
              <p:cNvSpPr txBox="1"/>
              <p:nvPr/>
            </p:nvSpPr>
            <p:spPr>
              <a:xfrm>
                <a:off x="2717800" y="4699000"/>
                <a:ext cx="1206500" cy="228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2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(3, 1)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800" y="4699000"/>
                <a:ext cx="1206500" cy="228600"/>
              </a:xfrm>
              <a:prstGeom prst="rect">
                <a:avLst/>
              </a:prstGeom>
              <a:blipFill>
                <a:blip r:embed="rId2"/>
                <a:stretch>
                  <a:fillRect l="-4167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6" name="tb"/>
              <p:cNvSpPr txBox="1"/>
              <p:nvPr/>
            </p:nvSpPr>
            <p:spPr>
              <a:xfrm>
                <a:off x="1117600" y="3657600"/>
                <a:ext cx="1219200" cy="228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200" b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b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1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 = (1, 2)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600" y="3657600"/>
                <a:ext cx="1219200" cy="228600"/>
              </a:xfrm>
              <a:prstGeom prst="rect">
                <a:avLst/>
              </a:prstGeom>
              <a:blipFill>
                <a:blip r:embed="rId3"/>
                <a:stretch>
                  <a:fillRect l="-3093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7" name="tb"/>
              <p:cNvSpPr txBox="1"/>
              <p:nvPr/>
            </p:nvSpPr>
            <p:spPr>
              <a:xfrm>
                <a:off x="1676400" y="4267200"/>
                <a:ext cx="1092200" cy="228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300" b="1">
                          <a:solidFill>
                            <a:srgbClr val="3A2566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US" sz="1300" b="1">
                          <a:solidFill>
                            <a:srgbClr val="3A2566"/>
                          </a:solidFill>
                          <a:latin typeface="Cambria Math" panose="02040503050406030204" pitchFamily="18" charset="0"/>
                        </a:rPr>
                        <m:t> = 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07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4267200"/>
                <a:ext cx="1092200" cy="228600"/>
              </a:xfrm>
              <a:prstGeom prst="rect">
                <a:avLst/>
              </a:prstGeom>
              <a:blipFill>
                <a:blip r:embed="rId4"/>
                <a:stretch>
                  <a:fillRect t="-10526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8" name="tb"/>
              <p:cNvSpPr txBox="1"/>
              <p:nvPr/>
            </p:nvSpPr>
            <p:spPr>
              <a:xfrm>
                <a:off x="6705600" y="2006600"/>
                <a:ext cx="5054600" cy="3683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algn="l">
                  <a:spcBef>
                    <a:spcPts val="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𝑐𝑜𝑙𝑢𝑚𝑛𝑠</m:t>
                      </m:r>
                      <m:r>
                        <a:rPr lang="en-US" sz="140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140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 = (3, 1),   </m:t>
                      </m:r>
                      <m:sSub>
                        <m:sSubPr>
                          <m:ctrlPr>
                            <a:rPr lang="en-US" sz="140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59595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solidFill>
                            <a:srgbClr val="595959"/>
                          </a:solidFill>
                          <a:latin typeface="Cambria Math" panose="02040503050406030204" pitchFamily="18" charset="0"/>
                        </a:rPr>
                        <m:t> = (1, 2)</m:t>
                      </m:r>
                    </m:oMath>
                  </m:oMathPara>
                </a14:m>
                <a:endParaRPr lang="en-US"/>
              </a:p>
              <a:p>
                <a:pPr algn="l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𝑎𝑑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𝑏𝑐</m:t>
                      </m:r>
                    </m:oMath>
                  </m:oMathPara>
                </a14:m>
                <a:endParaRPr lang="en-US"/>
              </a:p>
              <a:p>
                <a:pPr algn="l">
                  <a:spcBef>
                    <a:spcPts val="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= (3)(2) − (1)(1) = 5</m:t>
                      </m:r>
                    </m:oMath>
                  </m:oMathPara>
                </a14:m>
                <a:endParaRPr lang="en-US"/>
              </a:p>
              <a:p>
                <a:pPr algn="l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)| = 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𝑎𝑟𝑒𝑎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 = 5 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𝑠𝑞𝑢𝑎𝑟𝑒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50" b="1">
                          <a:solidFill>
                            <a:srgbClr val="5C8A2E"/>
                          </a:solidFill>
                          <a:latin typeface="Cambria Math" panose="02040503050406030204" pitchFamily="18" charset="0"/>
                        </a:rPr>
                        <m:t>𝑢𝑛𝑖𝑡𝑠</m:t>
                      </m:r>
                    </m:oMath>
                  </m:oMathPara>
                </a14:m>
                <a:endParaRPr lang="en-US"/>
              </a:p>
              <a:p>
                <a:pPr marL="228600" indent="-228600">
                  <a:spcBef>
                    <a:spcPts val="700"/>
                  </a:spcBef>
                  <a:buFont typeface="Arial"/>
                  <a:buChar char="•"/>
                </a:pPr>
                <a:r>
                  <a:rPr lang="en-US" sz="1400" dirty="0">
                    <a:solidFill>
                      <a:srgbClr val="333333"/>
                    </a:solidFill>
                  </a:rPr>
                  <a:t>Sign → orientation: + keeps it, − flips it</a:t>
                </a:r>
              </a:p>
              <a:p>
                <a:pPr marL="228600" indent="-228600">
                  <a:spcBef>
                    <a:spcPts val="700"/>
                  </a:spcBef>
                  <a:buFont typeface="Arial"/>
                  <a:buChar char="•"/>
                </a:pPr>
                <a:r>
                  <a:rPr lang="en-US" sz="1400" dirty="0">
                    <a:solidFill>
                      <a:srgbClr val="333333"/>
                    </a:solidFill>
                  </a:rPr>
                  <a:t>det = 0 → columns line up, area collapses to 0</a:t>
                </a:r>
              </a:p>
              <a:p>
                <a:pPr marL="228600" indent="-228600">
                  <a:spcBef>
                    <a:spcPts val="700"/>
                  </a:spcBef>
                  <a:buFont typeface="Arial"/>
                  <a:buChar char="•"/>
                </a:pPr>
                <a:r>
                  <a:rPr lang="en-US" sz="1400" dirty="0">
                    <a:solidFill>
                      <a:srgbClr val="333333"/>
                    </a:solidFill>
                  </a:rPr>
                  <a:t>|det| → the factor by which A scales area</a:t>
                </a:r>
              </a:p>
            </p:txBody>
          </p:sp>
        </mc:Choice>
        <mc:Fallback xmlns="">
          <p:sp>
            <p:nvSpPr>
              <p:cNvPr id="4008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006600"/>
                <a:ext cx="5054600" cy="3683000"/>
              </a:xfrm>
              <a:prstGeom prst="rect">
                <a:avLst/>
              </a:prstGeom>
              <a:blipFill>
                <a:blip r:embed="rId5"/>
                <a:stretch>
                  <a:fillRect l="-2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136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Properties of the Determinant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Key rules that make determinants easy to compute and reason about.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These properties turn the determinant into a fast test for invertibility and a tracker of area.</a:t>
            </a:r>
          </a:p>
        </p:txBody>
      </p:sp>
      <p:sp>
        <p:nvSpPr>
          <p:cNvPr id="5000" name="card"/>
          <p:cNvSpPr/>
          <p:nvPr/>
        </p:nvSpPr>
        <p:spPr>
          <a:xfrm>
            <a:off x="304800" y="1270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1" name="bar"/>
          <p:cNvSpPr/>
          <p:nvPr/>
        </p:nvSpPr>
        <p:spPr>
          <a:xfrm>
            <a:off x="304800" y="1270000"/>
            <a:ext cx="88900" cy="13716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2" name="tb"/>
          <p:cNvSpPr txBox="1"/>
          <p:nvPr/>
        </p:nvSpPr>
        <p:spPr>
          <a:xfrm>
            <a:off x="635000" y="1524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det(I) = 1</a:t>
            </a:r>
          </a:p>
        </p:txBody>
      </p:sp>
      <p:sp>
        <p:nvSpPr>
          <p:cNvPr id="5003" name="tb"/>
          <p:cNvSpPr txBox="1"/>
          <p:nvPr/>
        </p:nvSpPr>
        <p:spPr>
          <a:xfrm>
            <a:off x="635000" y="2057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The identity transformation leaves every area unchanged.</a:t>
            </a:r>
          </a:p>
        </p:txBody>
      </p:sp>
      <p:sp>
        <p:nvSpPr>
          <p:cNvPr id="5004" name="card"/>
          <p:cNvSpPr/>
          <p:nvPr/>
        </p:nvSpPr>
        <p:spPr>
          <a:xfrm>
            <a:off x="6235700" y="1270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5" name="bar"/>
          <p:cNvSpPr/>
          <p:nvPr/>
        </p:nvSpPr>
        <p:spPr>
          <a:xfrm>
            <a:off x="6235700" y="1270000"/>
            <a:ext cx="88900" cy="13716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6" name="tb"/>
          <p:cNvSpPr txBox="1"/>
          <p:nvPr/>
        </p:nvSpPr>
        <p:spPr>
          <a:xfrm>
            <a:off x="6565900" y="1524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det(AB) = det(A) · det(B)</a:t>
            </a:r>
          </a:p>
        </p:txBody>
      </p:sp>
      <p:sp>
        <p:nvSpPr>
          <p:cNvPr id="5007" name="tb"/>
          <p:cNvSpPr txBox="1"/>
          <p:nvPr/>
        </p:nvSpPr>
        <p:spPr>
          <a:xfrm>
            <a:off x="6565900" y="2057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The determinant of a product is the product of the determinants.</a:t>
            </a:r>
          </a:p>
        </p:txBody>
      </p:sp>
      <p:sp>
        <p:nvSpPr>
          <p:cNvPr id="5008" name="card"/>
          <p:cNvSpPr/>
          <p:nvPr/>
        </p:nvSpPr>
        <p:spPr>
          <a:xfrm>
            <a:off x="304800" y="2794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9" name="bar"/>
          <p:cNvSpPr/>
          <p:nvPr/>
        </p:nvSpPr>
        <p:spPr>
          <a:xfrm>
            <a:off x="304800" y="2794000"/>
            <a:ext cx="88900" cy="13716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0" name="tb"/>
          <p:cNvSpPr txBox="1"/>
          <p:nvPr/>
        </p:nvSpPr>
        <p:spPr>
          <a:xfrm>
            <a:off x="635000" y="3048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det(Aᵀ) = det(A)</a:t>
            </a:r>
          </a:p>
        </p:txBody>
      </p:sp>
      <p:sp>
        <p:nvSpPr>
          <p:cNvPr id="5011" name="tb"/>
          <p:cNvSpPr txBox="1"/>
          <p:nvPr/>
        </p:nvSpPr>
        <p:spPr>
          <a:xfrm>
            <a:off x="635000" y="3581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A matrix and its transpose have the same determinant.</a:t>
            </a:r>
          </a:p>
        </p:txBody>
      </p:sp>
      <p:sp>
        <p:nvSpPr>
          <p:cNvPr id="5012" name="card"/>
          <p:cNvSpPr/>
          <p:nvPr/>
        </p:nvSpPr>
        <p:spPr>
          <a:xfrm>
            <a:off x="6235700" y="2794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3" name="bar"/>
          <p:cNvSpPr/>
          <p:nvPr/>
        </p:nvSpPr>
        <p:spPr>
          <a:xfrm>
            <a:off x="6235700" y="2794000"/>
            <a:ext cx="88900" cy="13716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4" name="tb"/>
          <p:cNvSpPr txBox="1"/>
          <p:nvPr/>
        </p:nvSpPr>
        <p:spPr>
          <a:xfrm>
            <a:off x="6565900" y="3048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det(A⁻¹) = 1 / det(A)</a:t>
            </a:r>
          </a:p>
        </p:txBody>
      </p:sp>
      <p:sp>
        <p:nvSpPr>
          <p:cNvPr id="5015" name="tb"/>
          <p:cNvSpPr txBox="1"/>
          <p:nvPr/>
        </p:nvSpPr>
        <p:spPr>
          <a:xfrm>
            <a:off x="6565900" y="3581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Defined only when det(A) ≠ 0 — otherwise no inverse exists.</a:t>
            </a:r>
          </a:p>
        </p:txBody>
      </p:sp>
      <p:sp>
        <p:nvSpPr>
          <p:cNvPr id="5016" name="card"/>
          <p:cNvSpPr/>
          <p:nvPr/>
        </p:nvSpPr>
        <p:spPr>
          <a:xfrm>
            <a:off x="304800" y="4318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7" name="bar"/>
          <p:cNvSpPr/>
          <p:nvPr/>
        </p:nvSpPr>
        <p:spPr>
          <a:xfrm>
            <a:off x="304800" y="4318000"/>
            <a:ext cx="88900" cy="13716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8" name="tb"/>
          <p:cNvSpPr txBox="1"/>
          <p:nvPr/>
        </p:nvSpPr>
        <p:spPr>
          <a:xfrm>
            <a:off x="635000" y="4572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det(A) = 0  ⇔  A is singular</a:t>
            </a:r>
          </a:p>
        </p:txBody>
      </p:sp>
      <p:sp>
        <p:nvSpPr>
          <p:cNvPr id="5019" name="tb"/>
          <p:cNvSpPr txBox="1"/>
          <p:nvPr/>
        </p:nvSpPr>
        <p:spPr>
          <a:xfrm>
            <a:off x="635000" y="5105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Zero determinant means the columns are dependent and A has no inverse.</a:t>
            </a:r>
          </a:p>
        </p:txBody>
      </p:sp>
      <p:sp>
        <p:nvSpPr>
          <p:cNvPr id="5020" name="card"/>
          <p:cNvSpPr/>
          <p:nvPr/>
        </p:nvSpPr>
        <p:spPr>
          <a:xfrm>
            <a:off x="6235700" y="4318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1" name="bar"/>
          <p:cNvSpPr/>
          <p:nvPr/>
        </p:nvSpPr>
        <p:spPr>
          <a:xfrm>
            <a:off x="6235700" y="4318000"/>
            <a:ext cx="88900" cy="13716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2" name="tb"/>
          <p:cNvSpPr txBox="1"/>
          <p:nvPr/>
        </p:nvSpPr>
        <p:spPr>
          <a:xfrm>
            <a:off x="6565900" y="4572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det(kA) = kⁿ · det(A)</a:t>
            </a:r>
          </a:p>
        </p:txBody>
      </p:sp>
      <p:sp>
        <p:nvSpPr>
          <p:cNvPr id="5023" name="tb"/>
          <p:cNvSpPr txBox="1"/>
          <p:nvPr/>
        </p:nvSpPr>
        <p:spPr>
          <a:xfrm>
            <a:off x="6565900" y="5105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Scaling an n×n matrix scales area by kⁿ (k² in 2D).</a:t>
            </a:r>
          </a:p>
        </p:txBody>
      </p:sp>
    </p:spTree>
    <p:extLst>
      <p:ext uri="{BB962C8B-B14F-4D97-AF65-F5344CB8AC3E}">
        <p14:creationId xmlns:p14="http://schemas.microsoft.com/office/powerpoint/2010/main" val="377547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2640E06-F93B-654A-9D76-9C9065E4818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5DF3365-8B04-2F45-A8CD-82C34FB9AFA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Determinant of a 2×2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D3F52FA-7CAB-1744-B916-291D7C59B9E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Direct application of det = ad − bc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B924B65-4AD1-AA40-99EE-601DE27949F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455B7FF7-E956-8549-B61B-9E9211B0D9C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677126B6-714D-C84F-A946-97719AB6ABE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C10A3B9-40EC-114F-AAC8-AA8D0AB2F6E0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det(A)  where  A = [[3, 2], [1, 4]]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3CC78CA4-F0BF-B74D-BDFB-2E44411AC245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BC22C06A-F6D9-6D4E-BD0D-CD5EDF28CD0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060AA8E6-8E4D-2E4C-9770-BE69D3F5672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F55756BA-68FB-564F-9E36-AD0FE026E5EB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1.  Identify entries:   a = 3,  b = 2,  c = 1,  d = 4.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F9EA540-F86B-D24E-8798-B7D60B877B3A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Apply the formula:   det(A) = a·d − b·c = (3)(4) − (2)(1)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B22A40CE-C04C-D04E-B64E-0BA7199DD36E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3.  Compute:   det(A) = 12 − 2 = 10.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852A9A5A-7633-3141-9758-EDDEB60F07EE}"/>
              </a:ext>
            </a:extLst>
          </p:cNvPr>
          <p:cNvSpPr txBox="1"/>
          <p:nvPr/>
        </p:nvSpPr>
        <p:spPr>
          <a:xfrm>
            <a:off x="558800" y="452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  |det| = 10  →  A stretches area by factor 10;  det &gt; 0  →  preserves orientation.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272B099-63CA-6146-B484-01A4FB939378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det(A) = 10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44130699-3AD1-B54D-8FF6-9EE637BDB2D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E8CCBC62-A704-F543-9CA7-C2EDF0D6ECD8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For 2×2 matrices, det = ad − bc — fast, exact, and tells you the area scale factor</a:t>
            </a:r>
          </a:p>
        </p:txBody>
      </p:sp>
    </p:spTree>
    <p:extLst>
      <p:ext uri="{BB962C8B-B14F-4D97-AF65-F5344CB8AC3E}">
        <p14:creationId xmlns:p14="http://schemas.microsoft.com/office/powerpoint/2010/main" val="323770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03AA577-603E-8448-BC3B-AF5692B4BDF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89C194C-9319-8D41-8235-EB6F9556528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Singular Matrix (det = 0)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1E45F281-8BAB-A74F-8E35-EA680C81455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When the determinant vanishes, the matrix collapses dimensions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8BFFE6A5-6BAF-8F44-8A8C-18A0DE32E050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0E6048F1-3953-5A4B-BF7B-CB669CD87E6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EA1A878B-C149-FF42-A947-A9E1454B693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97560E51-C571-E047-BD00-BF8C71E1DCB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det(B)  where  B = [[2, 6], [1, 3]].   Is B invertible?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669ED8BA-01AC-D747-997C-0AFEBC0040B2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8186456A-6B67-8F48-A613-0BB7C1625FA8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29B54ADA-6054-384A-9512-A23A9B51771C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FA1EC86B-6E8A-2F4D-ABB9-7D7635AA4595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1.  Entries:   a = 2,  b = 6,  c = 1,  d = 3.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670014BD-791C-BA44-A405-22F3BAD55890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Apply formula:   det(B) = (2)(3) − (6)(1) = 6 − 6 = 0.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E2D3ECBB-81B5-9247-A0EC-6F339D1774BD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3.  Notice:   row 2 = ½ · row 1 (linearly dependent rows).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646D228D-8E7F-1345-ADB9-79DBC33EAF46}"/>
              </a:ext>
            </a:extLst>
          </p:cNvPr>
          <p:cNvSpPr txBox="1"/>
          <p:nvPr/>
        </p:nvSpPr>
        <p:spPr>
          <a:xfrm>
            <a:off x="558800" y="4521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Conclusion:   det(B) = 0  →  B is singular  →  B has no inverse  →  Bx = b has 0 or ∞ solutions.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C74ECA4E-7EEC-AA46-B68A-9A4A7BE2CF9F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  <a:latin typeface="Cambria Math"/>
                <a:ea typeface="Cambria Math"/>
              </a:rPr>
              <a:t>Answer:   det(B) = 0;   B is NOT invertible.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BB53432A-A5E9-CF43-AA1B-67FB0DE8AAC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1D8A20E7-4620-204D-A5AD-734F1716D5B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Linearly dependent rows ⇒ det = 0 ⇒ matrix collapses space ⇒ no inverse exists</a:t>
            </a:r>
          </a:p>
        </p:txBody>
      </p:sp>
    </p:spTree>
    <p:extLst>
      <p:ext uri="{BB962C8B-B14F-4D97-AF65-F5344CB8AC3E}">
        <p14:creationId xmlns:p14="http://schemas.microsoft.com/office/powerpoint/2010/main" val="398112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601D6CA-D9D8-9E40-8C61-CD6E197CD6F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274D8D7-C2FA-C54F-A776-EFDB6D0B87E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Determinant of a 3×3 (Cofactor)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69C5B17-ABBA-FC4F-B2E4-93B0B04E5280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Cofactor expansion along the first row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C371EB2-0860-8544-8311-5226414110F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0A8F4A1-CE33-414C-A6DB-0A862E46F405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34DF22F7-D67C-6B41-9D67-8BBC5D9AE38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43C8AC17-9771-F94A-8DA3-3073648C5E4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det(C)  where  C = [[1, 2, 3], [0, 4, 5], [1, 0, 6]].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01723A72-98D0-204F-98BD-FF5739BA98ED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A4739922-7B23-C54F-9177-76D4F6292ED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7E3E88D-17EB-1E4F-84CB-40D0135D181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FFB00436-860A-0A48-B8BB-DC3D6CE4AB8C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Expand along row 1:   det(C) = 1·M₁₁ − 2·M₁₂ + 3·M₁₃   (signs +, −, +)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A94B5966-F7DB-EE44-B394-8BE771DB175F}"/>
              </a:ext>
            </a:extLst>
          </p:cNvPr>
          <p:cNvSpPr txBox="1"/>
          <p:nvPr/>
        </p:nvSpPr>
        <p:spPr>
          <a:xfrm>
            <a:off x="558800" y="3835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Minors:   M₁₁=|4 5; 0 6| = 24,   M₁₂=|0 5; 1 6| = −5,   M₁₃=|0 4; 1 0| = −4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D5D21D93-1877-BC42-B7EC-DEB4ABF03D65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Combine:   det(C) = 1·(24) − 2·(−5) + 3·(−4)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904B7A62-5170-B842-B3AF-B826B6FC2CC4}"/>
              </a:ext>
            </a:extLst>
          </p:cNvPr>
          <p:cNvSpPr txBox="1"/>
          <p:nvPr/>
        </p:nvSpPr>
        <p:spPr>
          <a:xfrm>
            <a:off x="558800" y="4445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4.  Compute:   det(C) = 24 + 10 − 12 = 22.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3B6367D-1354-7043-878C-BDD24DF10FF5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  <a:latin typeface="Cambria Math"/>
                <a:ea typeface="Cambria Math"/>
              </a:rPr>
              <a:t>Answer:   det(C) = 22   (non-zero → C is invertible)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06C1D054-86B3-7A40-BE2F-8CDB0FE730B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B76F23A-A06E-EB4C-9776-334496C3C17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Cofactor expansion reduces an n×n determinant to a sum of (n−1)×(n−1) determinants</a:t>
            </a:r>
          </a:p>
        </p:txBody>
      </p:sp>
    </p:spTree>
    <p:extLst>
      <p:ext uri="{BB962C8B-B14F-4D97-AF65-F5344CB8AC3E}">
        <p14:creationId xmlns:p14="http://schemas.microsoft.com/office/powerpoint/2010/main" val="421462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9C77FC44-9DD9-9A42-86AD-22A81253BA0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9603CC9D-C2C3-FA44-BC8B-0A97380EA46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Inverse of a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8054A1A-A25A-3C47-9FEC-16984CC915B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The matrix that undoes A — the linear-algebra equivalent of dividing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B472BA9E-9F61-8B41-94C6-5C720B74ED49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1C7F1D0F-6715-024C-8AC6-B5AD4C221B59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61CA78C7-B94E-9845-9C4B-D0F934D1850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A⁻¹ is the unique matrix such that   A · A⁻¹  =  A⁻¹ · A  =  I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E17F3DB6-6CFF-D745-8201-EF1DF4D996B6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Cambria Math"/>
                <a:ea typeface="Cambria Math"/>
              </a:rPr>
              <a:t>Exists only if A is square AND det(A) ≠ 0.   For 2×2:  A⁻¹ = (1/det A)·[[d,-b],[-c,a]]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1FA726A4-4932-4249-B93A-CEEBDA16BB04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AC847A15-DB00-A14B-BEB0-5C6D89243AA7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2633EEAE-616D-8843-933E-B955B8E60C35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B7703AAF-09D7-0243-9B7A-8FAD7B595D8F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Reverses the transformation A.
If y = A·x, then x = A⁻¹·y.
It's the closest matrix analog
of scalar reciprocal 1/a.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046BEC73-2035-8E4F-9740-84BD5C753E8D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96A37690-D57B-9947-95B1-0915CDE55F69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B1B48F1E-3B09-FB4F-AE70-ED23D2E0B92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B2AC3B48-961E-0C4F-949F-37F9E8B30345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If A stretches by factor d,
A⁻¹ shrinks by factor 1/d.
If A rotates by </a:t>
            </a:r>
            <a:r>
              <a:rPr lang="el-GR" sz="1200" dirty="0">
                <a:solidFill>
                  <a:srgbClr val="333333"/>
                </a:solidFill>
                <a:latin typeface="Arial"/>
                <a:cs typeface="Arial"/>
              </a:rPr>
              <a:t>θ,
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A⁻¹ rotates by −</a:t>
            </a:r>
            <a:r>
              <a:rPr lang="el-GR" sz="1200" dirty="0">
                <a:solidFill>
                  <a:srgbClr val="333333"/>
                </a:solidFill>
                <a:latin typeface="Arial"/>
                <a:cs typeface="Arial"/>
              </a:rPr>
              <a:t>θ.
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Undoes scale, shear, rotation.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992E3E99-C285-4340-85A5-B90F70B6BA26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8C591A35-C28A-4E4A-A26D-D830F64E6094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DD194F8C-02CD-3348-92D1-9A12A58DB595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5EDF805D-2ED2-B94B-AB22-73FEBD756289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Solves Ax = b:  x = A⁻¹·b
• Closed-form least squares:
 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β̂ = (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XᵀX)⁻¹Xᵀy
• Change of basis
• Covariance whitening, Mahalanobis
• Kalman filter update step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05117241-1165-5D47-BAE4-B0485139429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BB054283-1644-3D4B-9656-46CB91D3BA8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A⁻¹ undoes A — it exists when det(A) ≠ 0 and is the gateway to solving linear systems</a:t>
            </a:r>
          </a:p>
        </p:txBody>
      </p:sp>
    </p:spTree>
    <p:extLst>
      <p:ext uri="{BB962C8B-B14F-4D97-AF65-F5344CB8AC3E}">
        <p14:creationId xmlns:p14="http://schemas.microsoft.com/office/powerpoint/2010/main" val="178730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Inverse Undoes the Transformation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A⁻¹ applies the opposite action: solid = Ax, dashed = A⁻¹x, both from the same 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Scale by d, rotate by θ, or shear by k — then A⁻¹ applies 1/d, −θ or −k, returning every vector to its start.</a:t>
            </a:r>
          </a:p>
        </p:txBody>
      </p:sp>
      <p:sp>
        <p:nvSpPr>
          <p:cNvPr id="7000" name="panel"/>
          <p:cNvSpPr/>
          <p:nvPr/>
        </p:nvSpPr>
        <p:spPr>
          <a:xfrm>
            <a:off x="2794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1" name="r"/>
          <p:cNvSpPr/>
          <p:nvPr/>
        </p:nvSpPr>
        <p:spPr>
          <a:xfrm>
            <a:off x="762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2" name="r"/>
          <p:cNvSpPr/>
          <p:nvPr/>
        </p:nvSpPr>
        <p:spPr>
          <a:xfrm>
            <a:off x="1143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3" name="r"/>
          <p:cNvSpPr/>
          <p:nvPr/>
        </p:nvSpPr>
        <p:spPr>
          <a:xfrm>
            <a:off x="1524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4" name="r"/>
          <p:cNvSpPr/>
          <p:nvPr/>
        </p:nvSpPr>
        <p:spPr>
          <a:xfrm>
            <a:off x="1905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5" name="r"/>
          <p:cNvSpPr/>
          <p:nvPr/>
        </p:nvSpPr>
        <p:spPr>
          <a:xfrm>
            <a:off x="2286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6" name="r"/>
          <p:cNvSpPr/>
          <p:nvPr/>
        </p:nvSpPr>
        <p:spPr>
          <a:xfrm>
            <a:off x="2667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7" name="r"/>
          <p:cNvSpPr/>
          <p:nvPr/>
        </p:nvSpPr>
        <p:spPr>
          <a:xfrm>
            <a:off x="3048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8" name="r"/>
          <p:cNvSpPr/>
          <p:nvPr/>
        </p:nvSpPr>
        <p:spPr>
          <a:xfrm>
            <a:off x="3429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9" name="r"/>
          <p:cNvSpPr/>
          <p:nvPr/>
        </p:nvSpPr>
        <p:spPr>
          <a:xfrm>
            <a:off x="3810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0" name="r"/>
          <p:cNvSpPr/>
          <p:nvPr/>
        </p:nvSpPr>
        <p:spPr>
          <a:xfrm>
            <a:off x="5334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1" name="r"/>
          <p:cNvSpPr/>
          <p:nvPr/>
        </p:nvSpPr>
        <p:spPr>
          <a:xfrm>
            <a:off x="5334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2" name="r"/>
          <p:cNvSpPr/>
          <p:nvPr/>
        </p:nvSpPr>
        <p:spPr>
          <a:xfrm>
            <a:off x="5334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3" name="r"/>
          <p:cNvSpPr/>
          <p:nvPr/>
        </p:nvSpPr>
        <p:spPr>
          <a:xfrm>
            <a:off x="5334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4" name="r"/>
          <p:cNvSpPr/>
          <p:nvPr/>
        </p:nvSpPr>
        <p:spPr>
          <a:xfrm>
            <a:off x="5334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5" name="r"/>
          <p:cNvSpPr/>
          <p:nvPr/>
        </p:nvSpPr>
        <p:spPr>
          <a:xfrm>
            <a:off x="5334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6" name="r"/>
          <p:cNvSpPr/>
          <p:nvPr/>
        </p:nvSpPr>
        <p:spPr>
          <a:xfrm>
            <a:off x="15151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17" name="vec"/>
          <p:cNvCxnSpPr/>
          <p:nvPr/>
        </p:nvCxnSpPr>
        <p:spPr>
          <a:xfrm flipV="1">
            <a:off x="15240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18" name="vec"/>
          <p:cNvCxnSpPr/>
          <p:nvPr/>
        </p:nvCxnSpPr>
        <p:spPr>
          <a:xfrm flipV="1">
            <a:off x="1524000" y="3111500"/>
            <a:ext cx="1524000" cy="7620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cxnSp>
        <p:nvCxnSpPr>
          <p:cNvPr id="7019" name="vec"/>
          <p:cNvCxnSpPr/>
          <p:nvPr/>
        </p:nvCxnSpPr>
        <p:spPr>
          <a:xfrm flipV="1">
            <a:off x="1524000" y="3683000"/>
            <a:ext cx="381000" cy="190500"/>
          </a:xfrm>
          <a:prstGeom prst="line">
            <a:avLst/>
          </a:prstGeom>
          <a:ln w="31750" cap="rnd">
            <a:solidFill>
              <a:srgbClr val="00A7B5"/>
            </a:solidFill>
            <a:prstDash val="dash"/>
            <a:tailEnd type="triangle" w="med" len="med"/>
          </a:ln>
        </p:spPr>
      </p:cxnSp>
      <p:sp>
        <p:nvSpPr>
          <p:cNvPr id="7020" name="tb"/>
          <p:cNvSpPr txBox="1"/>
          <p:nvPr/>
        </p:nvSpPr>
        <p:spPr>
          <a:xfrm>
            <a:off x="22352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21" name="tb"/>
          <p:cNvSpPr txBox="1"/>
          <p:nvPr/>
        </p:nvSpPr>
        <p:spPr>
          <a:xfrm>
            <a:off x="3111500" y="2882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Ax</a:t>
            </a:r>
          </a:p>
        </p:txBody>
      </p:sp>
      <p:sp>
        <p:nvSpPr>
          <p:cNvPr id="7022" name="tb"/>
          <p:cNvSpPr txBox="1"/>
          <p:nvPr/>
        </p:nvSpPr>
        <p:spPr>
          <a:xfrm>
            <a:off x="1968500" y="34544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00A7B5"/>
                </a:solidFill>
              </a:rPr>
              <a:t>A⁻¹x</a:t>
            </a:r>
          </a:p>
        </p:txBody>
      </p:sp>
      <p:sp>
        <p:nvSpPr>
          <p:cNvPr id="7023" name="tb"/>
          <p:cNvSpPr txBox="1"/>
          <p:nvPr/>
        </p:nvSpPr>
        <p:spPr>
          <a:xfrm>
            <a:off x="5080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Scale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24" name="tb"/>
              <p:cNvSpPr txBox="1"/>
              <p:nvPr/>
            </p:nvSpPr>
            <p:spPr>
              <a:xfrm>
                <a:off x="508000" y="1879600"/>
                <a:ext cx="33655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 fontScale="77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5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35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5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2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1879600"/>
                <a:ext cx="3365500" cy="279400"/>
              </a:xfrm>
              <a:prstGeom prst="rect">
                <a:avLst/>
              </a:prstGeom>
              <a:blipFill>
                <a:blip r:embed="rId2"/>
                <a:stretch>
                  <a:fillRect l="-112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25" name="tb"/>
              <p:cNvSpPr txBox="1"/>
              <p:nvPr/>
            </p:nvSpPr>
            <p:spPr>
              <a:xfrm>
                <a:off x="508000" y="2209800"/>
                <a:ext cx="33655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 fontScale="77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350" b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b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350" b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350" b="1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b="1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50" b="1" i="1">
                                  <a:solidFill>
                                    <a:srgbClr val="00A7B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00A7B5"/>
                                    </a:solidFill>
                                    <a:latin typeface="Cambria Math" panose="02040503050406030204" pitchFamily="18" charset="0"/>
                                  </a:rPr>
                                  <m:t>½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00A7B5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00A7B5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00A7B5"/>
                                    </a:solidFill>
                                    <a:latin typeface="Cambria Math" panose="02040503050406030204" pitchFamily="18" charset="0"/>
                                  </a:rPr>
                                  <m:t>½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2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209800"/>
                <a:ext cx="3365500" cy="279400"/>
              </a:xfrm>
              <a:prstGeom prst="rect">
                <a:avLst/>
              </a:prstGeom>
              <a:blipFill>
                <a:blip r:embed="rId3"/>
                <a:stretch>
                  <a:fillRect l="-1128" t="-454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26" name="tb"/>
          <p:cNvSpPr txBox="1"/>
          <p:nvPr/>
        </p:nvSpPr>
        <p:spPr>
          <a:xfrm>
            <a:off x="5080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Stretch by 2 → inverse shrinks by ½.</a:t>
            </a:r>
          </a:p>
        </p:txBody>
      </p:sp>
      <p:sp>
        <p:nvSpPr>
          <p:cNvPr id="7027" name="panel"/>
          <p:cNvSpPr/>
          <p:nvPr/>
        </p:nvSpPr>
        <p:spPr>
          <a:xfrm>
            <a:off x="42037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28" name="r"/>
          <p:cNvSpPr/>
          <p:nvPr/>
        </p:nvSpPr>
        <p:spPr>
          <a:xfrm>
            <a:off x="4686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9" name="r"/>
          <p:cNvSpPr/>
          <p:nvPr/>
        </p:nvSpPr>
        <p:spPr>
          <a:xfrm>
            <a:off x="5067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0" name="r"/>
          <p:cNvSpPr/>
          <p:nvPr/>
        </p:nvSpPr>
        <p:spPr>
          <a:xfrm>
            <a:off x="5448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1" name="r"/>
          <p:cNvSpPr/>
          <p:nvPr/>
        </p:nvSpPr>
        <p:spPr>
          <a:xfrm>
            <a:off x="5829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2" name="r"/>
          <p:cNvSpPr/>
          <p:nvPr/>
        </p:nvSpPr>
        <p:spPr>
          <a:xfrm>
            <a:off x="6210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3" name="r"/>
          <p:cNvSpPr/>
          <p:nvPr/>
        </p:nvSpPr>
        <p:spPr>
          <a:xfrm>
            <a:off x="6591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4" name="r"/>
          <p:cNvSpPr/>
          <p:nvPr/>
        </p:nvSpPr>
        <p:spPr>
          <a:xfrm>
            <a:off x="6972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5" name="r"/>
          <p:cNvSpPr/>
          <p:nvPr/>
        </p:nvSpPr>
        <p:spPr>
          <a:xfrm>
            <a:off x="7353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6" name="r"/>
          <p:cNvSpPr/>
          <p:nvPr/>
        </p:nvSpPr>
        <p:spPr>
          <a:xfrm>
            <a:off x="7734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7" name="r"/>
          <p:cNvSpPr/>
          <p:nvPr/>
        </p:nvSpPr>
        <p:spPr>
          <a:xfrm>
            <a:off x="44577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8" name="r"/>
          <p:cNvSpPr/>
          <p:nvPr/>
        </p:nvSpPr>
        <p:spPr>
          <a:xfrm>
            <a:off x="44577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9" name="r"/>
          <p:cNvSpPr/>
          <p:nvPr/>
        </p:nvSpPr>
        <p:spPr>
          <a:xfrm>
            <a:off x="44577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0" name="r"/>
          <p:cNvSpPr/>
          <p:nvPr/>
        </p:nvSpPr>
        <p:spPr>
          <a:xfrm>
            <a:off x="44577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1" name="r"/>
          <p:cNvSpPr/>
          <p:nvPr/>
        </p:nvSpPr>
        <p:spPr>
          <a:xfrm>
            <a:off x="44577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2" name="r"/>
          <p:cNvSpPr/>
          <p:nvPr/>
        </p:nvSpPr>
        <p:spPr>
          <a:xfrm>
            <a:off x="44577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3" name="r"/>
          <p:cNvSpPr/>
          <p:nvPr/>
        </p:nvSpPr>
        <p:spPr>
          <a:xfrm>
            <a:off x="54394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44" name="vec"/>
          <p:cNvCxnSpPr/>
          <p:nvPr/>
        </p:nvCxnSpPr>
        <p:spPr>
          <a:xfrm flipV="1">
            <a:off x="54483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45" name="vec"/>
          <p:cNvCxnSpPr/>
          <p:nvPr/>
        </p:nvCxnSpPr>
        <p:spPr>
          <a:xfrm flipH="1" flipV="1">
            <a:off x="5067300" y="3111500"/>
            <a:ext cx="381000" cy="7620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7046" name="vec"/>
          <p:cNvCxnSpPr/>
          <p:nvPr/>
        </p:nvCxnSpPr>
        <p:spPr>
          <a:xfrm>
            <a:off x="5448300" y="3873500"/>
            <a:ext cx="381000" cy="7620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tailEnd type="triangle" w="med" len="med"/>
          </a:ln>
        </p:spPr>
      </p:cxnSp>
      <p:sp>
        <p:nvSpPr>
          <p:cNvPr id="7047" name="tb"/>
          <p:cNvSpPr txBox="1"/>
          <p:nvPr/>
        </p:nvSpPr>
        <p:spPr>
          <a:xfrm>
            <a:off x="61595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48" name="tb"/>
          <p:cNvSpPr txBox="1"/>
          <p:nvPr/>
        </p:nvSpPr>
        <p:spPr>
          <a:xfrm>
            <a:off x="4635500" y="2882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Ax</a:t>
            </a:r>
          </a:p>
        </p:txBody>
      </p:sp>
      <p:sp>
        <p:nvSpPr>
          <p:cNvPr id="7049" name="tb"/>
          <p:cNvSpPr txBox="1"/>
          <p:nvPr/>
        </p:nvSpPr>
        <p:spPr>
          <a:xfrm>
            <a:off x="5892800" y="44704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4B2E83"/>
                </a:solidFill>
              </a:rPr>
              <a:t>A⁻¹x</a:t>
            </a:r>
          </a:p>
        </p:txBody>
      </p:sp>
      <p:sp>
        <p:nvSpPr>
          <p:cNvPr id="7050" name="tb"/>
          <p:cNvSpPr txBox="1"/>
          <p:nvPr/>
        </p:nvSpPr>
        <p:spPr>
          <a:xfrm>
            <a:off x="44323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Rotate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51" name="tb"/>
              <p:cNvSpPr txBox="1"/>
              <p:nvPr/>
            </p:nvSpPr>
            <p:spPr>
              <a:xfrm>
                <a:off x="4432300" y="1879600"/>
                <a:ext cx="33655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 fontScale="77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5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35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5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51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300" y="1879600"/>
                <a:ext cx="3365500" cy="279400"/>
              </a:xfrm>
              <a:prstGeom prst="rect">
                <a:avLst/>
              </a:prstGeom>
              <a:blipFill>
                <a:blip r:embed="rId4"/>
                <a:stretch>
                  <a:fillRect l="-112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52" name="tb"/>
              <p:cNvSpPr txBox="1"/>
              <p:nvPr/>
            </p:nvSpPr>
            <p:spPr>
              <a:xfrm>
                <a:off x="4432300" y="2209800"/>
                <a:ext cx="33655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 fontScale="77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35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35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3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5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5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300" y="2209800"/>
                <a:ext cx="3365500" cy="279400"/>
              </a:xfrm>
              <a:prstGeom prst="rect">
                <a:avLst/>
              </a:prstGeom>
              <a:blipFill>
                <a:blip r:embed="rId5"/>
                <a:stretch>
                  <a:fillRect l="-112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53" name="tb"/>
          <p:cNvSpPr txBox="1"/>
          <p:nvPr/>
        </p:nvSpPr>
        <p:spPr>
          <a:xfrm>
            <a:off x="44323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Rotate by +90° → inverse rotates by −90°.</a:t>
            </a:r>
          </a:p>
        </p:txBody>
      </p:sp>
      <p:sp>
        <p:nvSpPr>
          <p:cNvPr id="7054" name="panel"/>
          <p:cNvSpPr/>
          <p:nvPr/>
        </p:nvSpPr>
        <p:spPr>
          <a:xfrm>
            <a:off x="81280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55" name="r"/>
          <p:cNvSpPr/>
          <p:nvPr/>
        </p:nvSpPr>
        <p:spPr>
          <a:xfrm>
            <a:off x="8610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6" name="r"/>
          <p:cNvSpPr/>
          <p:nvPr/>
        </p:nvSpPr>
        <p:spPr>
          <a:xfrm>
            <a:off x="8991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7" name="r"/>
          <p:cNvSpPr/>
          <p:nvPr/>
        </p:nvSpPr>
        <p:spPr>
          <a:xfrm>
            <a:off x="9372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8" name="r"/>
          <p:cNvSpPr/>
          <p:nvPr/>
        </p:nvSpPr>
        <p:spPr>
          <a:xfrm>
            <a:off x="9753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9" name="r"/>
          <p:cNvSpPr/>
          <p:nvPr/>
        </p:nvSpPr>
        <p:spPr>
          <a:xfrm>
            <a:off x="10134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0" name="r"/>
          <p:cNvSpPr/>
          <p:nvPr/>
        </p:nvSpPr>
        <p:spPr>
          <a:xfrm>
            <a:off x="10515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1" name="r"/>
          <p:cNvSpPr/>
          <p:nvPr/>
        </p:nvSpPr>
        <p:spPr>
          <a:xfrm>
            <a:off x="10896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2" name="r"/>
          <p:cNvSpPr/>
          <p:nvPr/>
        </p:nvSpPr>
        <p:spPr>
          <a:xfrm>
            <a:off x="11277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3" name="r"/>
          <p:cNvSpPr/>
          <p:nvPr/>
        </p:nvSpPr>
        <p:spPr>
          <a:xfrm>
            <a:off x="11658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4" name="r"/>
          <p:cNvSpPr/>
          <p:nvPr/>
        </p:nvSpPr>
        <p:spPr>
          <a:xfrm>
            <a:off x="83820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5" name="r"/>
          <p:cNvSpPr/>
          <p:nvPr/>
        </p:nvSpPr>
        <p:spPr>
          <a:xfrm>
            <a:off x="83820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6" name="r"/>
          <p:cNvSpPr/>
          <p:nvPr/>
        </p:nvSpPr>
        <p:spPr>
          <a:xfrm>
            <a:off x="83820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7" name="r"/>
          <p:cNvSpPr/>
          <p:nvPr/>
        </p:nvSpPr>
        <p:spPr>
          <a:xfrm>
            <a:off x="83820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8" name="r"/>
          <p:cNvSpPr/>
          <p:nvPr/>
        </p:nvSpPr>
        <p:spPr>
          <a:xfrm>
            <a:off x="83820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9" name="r"/>
          <p:cNvSpPr/>
          <p:nvPr/>
        </p:nvSpPr>
        <p:spPr>
          <a:xfrm>
            <a:off x="83820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70" name="r"/>
          <p:cNvSpPr/>
          <p:nvPr/>
        </p:nvSpPr>
        <p:spPr>
          <a:xfrm>
            <a:off x="93637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71" name="vec"/>
          <p:cNvCxnSpPr/>
          <p:nvPr/>
        </p:nvCxnSpPr>
        <p:spPr>
          <a:xfrm flipV="1">
            <a:off x="93726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72" name="vec"/>
          <p:cNvCxnSpPr/>
          <p:nvPr/>
        </p:nvCxnSpPr>
        <p:spPr>
          <a:xfrm flipV="1">
            <a:off x="9372600" y="3492500"/>
            <a:ext cx="1143000" cy="381000"/>
          </a:xfrm>
          <a:prstGeom prst="line">
            <a:avLst/>
          </a:prstGeom>
          <a:ln w="38100" cap="rnd">
            <a:solidFill>
              <a:srgbClr val="7AB648"/>
            </a:solidFill>
            <a:tailEnd type="triangle" w="med" len="med"/>
          </a:ln>
        </p:spPr>
      </p:cxnSp>
      <p:cxnSp>
        <p:nvCxnSpPr>
          <p:cNvPr id="7073" name="vec"/>
          <p:cNvCxnSpPr/>
          <p:nvPr/>
        </p:nvCxnSpPr>
        <p:spPr>
          <a:xfrm flipV="1">
            <a:off x="9372600" y="3492500"/>
            <a:ext cx="381000" cy="381000"/>
          </a:xfrm>
          <a:prstGeom prst="line">
            <a:avLst/>
          </a:prstGeom>
          <a:ln w="31750" cap="rnd">
            <a:solidFill>
              <a:srgbClr val="7AB648"/>
            </a:solidFill>
            <a:prstDash val="dash"/>
            <a:tailEnd type="triangle" w="med" len="med"/>
          </a:ln>
        </p:spPr>
      </p:cxnSp>
      <p:sp>
        <p:nvSpPr>
          <p:cNvPr id="7074" name="tb"/>
          <p:cNvSpPr txBox="1"/>
          <p:nvPr/>
        </p:nvSpPr>
        <p:spPr>
          <a:xfrm>
            <a:off x="100838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75" name="tb"/>
          <p:cNvSpPr txBox="1"/>
          <p:nvPr/>
        </p:nvSpPr>
        <p:spPr>
          <a:xfrm>
            <a:off x="10579100" y="3263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7AB648"/>
                </a:solidFill>
              </a:rPr>
              <a:t>Ax</a:t>
            </a:r>
          </a:p>
        </p:txBody>
      </p:sp>
      <p:sp>
        <p:nvSpPr>
          <p:cNvPr id="7076" name="tb"/>
          <p:cNvSpPr txBox="1"/>
          <p:nvPr/>
        </p:nvSpPr>
        <p:spPr>
          <a:xfrm>
            <a:off x="9817100" y="32639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7AB648"/>
                </a:solidFill>
              </a:rPr>
              <a:t>A⁻¹x</a:t>
            </a:r>
          </a:p>
        </p:txBody>
      </p:sp>
      <p:sp>
        <p:nvSpPr>
          <p:cNvPr id="7077" name="tb"/>
          <p:cNvSpPr txBox="1"/>
          <p:nvPr/>
        </p:nvSpPr>
        <p:spPr>
          <a:xfrm>
            <a:off x="83566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Shear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78" name="tb"/>
              <p:cNvSpPr txBox="1"/>
              <p:nvPr/>
            </p:nvSpPr>
            <p:spPr>
              <a:xfrm>
                <a:off x="8356600" y="1879600"/>
                <a:ext cx="33655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 fontScale="77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5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35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5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78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1879600"/>
                <a:ext cx="3365500" cy="279400"/>
              </a:xfrm>
              <a:prstGeom prst="rect">
                <a:avLst/>
              </a:prstGeom>
              <a:blipFill>
                <a:blip r:embed="rId6"/>
                <a:stretch>
                  <a:fillRect l="-150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79" name="tb"/>
              <p:cNvSpPr txBox="1"/>
              <p:nvPr/>
            </p:nvSpPr>
            <p:spPr>
              <a:xfrm>
                <a:off x="8356600" y="2209800"/>
                <a:ext cx="33655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normAutofit fontScale="77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350" b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b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350" b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350" b="1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50" b="1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50" b="1" i="1">
                                  <a:solidFill>
                                    <a:srgbClr val="7AB64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7AB64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7AB648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350" b="1">
                                    <a:solidFill>
                                      <a:srgbClr val="7AB648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350" b="1">
                                    <a:solidFill>
                                      <a:srgbClr val="7AB648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7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0" y="2209800"/>
                <a:ext cx="3365500" cy="279400"/>
              </a:xfrm>
              <a:prstGeom prst="rect">
                <a:avLst/>
              </a:prstGeom>
              <a:blipFill>
                <a:blip r:embed="rId7"/>
                <a:stretch>
                  <a:fillRect l="-1504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80" name="tb"/>
          <p:cNvSpPr txBox="1"/>
          <p:nvPr/>
        </p:nvSpPr>
        <p:spPr>
          <a:xfrm>
            <a:off x="83566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Shear by +1 → inverse shears by −1.</a:t>
            </a:r>
          </a:p>
        </p:txBody>
      </p:sp>
    </p:spTree>
    <p:extLst>
      <p:ext uri="{BB962C8B-B14F-4D97-AF65-F5344CB8AC3E}">
        <p14:creationId xmlns:p14="http://schemas.microsoft.com/office/powerpoint/2010/main" val="163336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7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7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00"/>
                                        <p:tgtEl>
                                          <p:spTgt spid="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00"/>
                                        <p:tgtEl>
                                          <p:spTgt spid="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00"/>
                                        <p:tgtEl>
                                          <p:spTgt spid="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00"/>
                                        <p:tgtEl>
                                          <p:spTgt spid="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00"/>
                                        <p:tgtEl>
                                          <p:spTgt spid="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400"/>
                                        <p:tgtEl>
                                          <p:spTgt spid="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00"/>
                                        <p:tgtEl>
                                          <p:spTgt spid="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400"/>
                                        <p:tgtEl>
                                          <p:spTgt spid="7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400"/>
                                        <p:tgtEl>
                                          <p:spTgt spid="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400"/>
                                        <p:tgtEl>
                                          <p:spTgt spid="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00"/>
                                        <p:tgtEl>
                                          <p:spTgt spid="7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00"/>
                                        <p:tgtEl>
                                          <p:spTgt spid="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00"/>
                                        <p:tgtEl>
                                          <p:spTgt spid="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400"/>
                                        <p:tgtEl>
                                          <p:spTgt spid="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400"/>
                                        <p:tgtEl>
                                          <p:spTgt spid="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400"/>
                                        <p:tgtEl>
                                          <p:spTgt spid="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400"/>
                                        <p:tgtEl>
                                          <p:spTgt spid="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400"/>
                                        <p:tgtEl>
                                          <p:spTgt spid="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73ADA80-80B4-474A-AB1E-FBA7A5B5736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C8D07E-7533-CD46-AE93-83D5AA5B41A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2×2 Inverse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2426AD8E-C20E-914A-BD6F-C409A07AA72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Standard formula on a clean 2×2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0A50F4D8-97C4-C848-AFA8-FCB816C25478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EEC451A4-852B-1949-965B-78E7C97A18CA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36D3AE0-80EC-1A4C-9EAF-84CFCF8345E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QBody">
                <a:extLst>
                  <a:ext uri="{FF2B5EF4-FFF2-40B4-BE49-F238E27FC236}">
                    <a16:creationId xmlns:a16="http://schemas.microsoft.com/office/drawing/2014/main" id="{3993E31B-EF7D-E345-84F2-D2DB143F835C}"/>
                  </a:ext>
                </a:extLst>
              </p:cNvPr>
              <p:cNvSpPr txBox="1"/>
              <p:nvPr/>
            </p:nvSpPr>
            <p:spPr>
              <a:xfrm>
                <a:off x="558800" y="1803400"/>
                <a:ext cx="11049000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𝐹𝑖𝑛𝑑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𝑤ℎ𝑒𝑟𝑒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𝑉𝑒𝑟𝑖𝑓𝑦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p>
                        <m:sSup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QBody">
                <a:extLst>
                  <a:ext uri="{FF2B5EF4-FFF2-40B4-BE49-F238E27FC236}">
                    <a16:creationId xmlns:a16="http://schemas.microsoft.com/office/drawing/2014/main" id="{3993E31B-EF7D-E345-84F2-D2DB143F8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803400"/>
                <a:ext cx="11049000" cy="99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Card">
            <a:extLst>
              <a:ext uri="{FF2B5EF4-FFF2-40B4-BE49-F238E27FC236}">
                <a16:creationId xmlns:a16="http://schemas.microsoft.com/office/drawing/2014/main" id="{8937429B-D89F-364F-890B-A3A99D9A664B}"/>
              </a:ext>
            </a:extLst>
          </p:cNvPr>
          <p:cNvSpPr/>
          <p:nvPr/>
        </p:nvSpPr>
        <p:spPr>
          <a:xfrm>
            <a:off x="381000" y="3111500"/>
            <a:ext cx="11430000" cy="2476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029CCC5B-19F7-0F49-BEE0-0740C987ADB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21C5616-6C6D-E54A-B6E6-43A9CC29CFD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Step1">
                <a:extLst>
                  <a:ext uri="{FF2B5EF4-FFF2-40B4-BE49-F238E27FC236}">
                    <a16:creationId xmlns:a16="http://schemas.microsoft.com/office/drawing/2014/main" id="{0F3FEB73-1FBE-534B-9A00-32A9BF455D28}"/>
                  </a:ext>
                </a:extLst>
              </p:cNvPr>
              <p:cNvSpPr txBox="1"/>
              <p:nvPr/>
            </p:nvSpPr>
            <p:spPr>
              <a:xfrm>
                <a:off x="558800" y="35560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1.  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) = 4·1 − 3·2 = −2   (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𝑛𝑜𝑛𝑧𝑒𝑟𝑜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𝑖𝑛𝑣𝑒𝑟𝑡𝑖𝑏𝑙𝑒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SStep1">
                <a:extLst>
                  <a:ext uri="{FF2B5EF4-FFF2-40B4-BE49-F238E27FC236}">
                    <a16:creationId xmlns:a16="http://schemas.microsoft.com/office/drawing/2014/main" id="{0F3FEB73-1FBE-534B-9A00-32A9BF455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556000"/>
                <a:ext cx="11049000" cy="203200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Step2">
                <a:extLst>
                  <a:ext uri="{FF2B5EF4-FFF2-40B4-BE49-F238E27FC236}">
                    <a16:creationId xmlns:a16="http://schemas.microsoft.com/office/drawing/2014/main" id="{EB9B4117-0226-0348-A432-B023A9D0CA89}"/>
                  </a:ext>
                </a:extLst>
              </p:cNvPr>
              <p:cNvSpPr txBox="1"/>
              <p:nvPr/>
            </p:nvSpPr>
            <p:spPr>
              <a:xfrm>
                <a:off x="558800" y="38100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2.  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𝑆𝑤𝑎𝑝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𝑑𝑖𝑎𝑔𝑜𝑛𝑎𝑙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𝑛𝑒𝑔𝑎𝑡𝑒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𝑜𝑓𝑓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𝑑𝑖𝑎𝑔𝑜𝑛𝑎𝑙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: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3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300" i="1">
                                  <a:solidFill>
                                    <a:srgbClr val="B0B0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20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20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SStep2">
                <a:extLst>
                  <a:ext uri="{FF2B5EF4-FFF2-40B4-BE49-F238E27FC236}">
                    <a16:creationId xmlns:a16="http://schemas.microsoft.com/office/drawing/2014/main" id="{EB9B4117-0226-0348-A432-B023A9D0C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810000"/>
                <a:ext cx="11049000" cy="203200"/>
              </a:xfrm>
              <a:prstGeom prst="rect">
                <a:avLst/>
              </a:prstGeom>
              <a:blipFill>
                <a:blip r:embed="rId4"/>
                <a:stretch>
                  <a:fillRect b="-10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Step3">
                <a:extLst>
                  <a:ext uri="{FF2B5EF4-FFF2-40B4-BE49-F238E27FC236}">
                    <a16:creationId xmlns:a16="http://schemas.microsoft.com/office/drawing/2014/main" id="{DBA9833D-E370-B04F-811B-066E396A39D0}"/>
                  </a:ext>
                </a:extLst>
              </p:cNvPr>
              <p:cNvSpPr txBox="1"/>
              <p:nvPr/>
            </p:nvSpPr>
            <p:spPr>
              <a:xfrm>
                <a:off x="558800" y="42418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3.  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𝑀𝑢𝑙𝑡𝑖𝑝𝑙𝑦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 1/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) = −½ :    </m:t>
                      </m:r>
                      <m:sSup>
                        <m:sSupPr>
                          <m:ctrlP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rgbClr val="B0B0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−½</m:t>
                                </m:r>
                              </m:e>
                              <m:e>
                                <m:r>
                                  <a:rPr lang="en-US" sz="120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3/2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20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SStep3">
                <a:extLst>
                  <a:ext uri="{FF2B5EF4-FFF2-40B4-BE49-F238E27FC236}">
                    <a16:creationId xmlns:a16="http://schemas.microsoft.com/office/drawing/2014/main" id="{DBA9833D-E370-B04F-811B-066E396A3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241800"/>
                <a:ext cx="11049000" cy="203200"/>
              </a:xfrm>
              <a:prstGeom prst="rect">
                <a:avLst/>
              </a:prstGeom>
              <a:blipFill>
                <a:blip r:embed="rId5"/>
                <a:stretch>
                  <a:fillRect b="-10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Check">
                <a:extLst>
                  <a:ext uri="{FF2B5EF4-FFF2-40B4-BE49-F238E27FC236}">
                    <a16:creationId xmlns:a16="http://schemas.microsoft.com/office/drawing/2014/main" id="{E57CFB23-BFAC-AA49-AB78-B46C65523EF8}"/>
                  </a:ext>
                </a:extLst>
              </p:cNvPr>
              <p:cNvSpPr txBox="1"/>
              <p:nvPr/>
            </p:nvSpPr>
            <p:spPr>
              <a:xfrm>
                <a:off x="558800" y="46736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𝑉𝑒𝑟𝑖𝑓𝑦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p>
                        <m:sSupPr>
                          <m:ctrlPr>
                            <a:rPr lang="en-US" sz="115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5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15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5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50" i="1">
                                  <a:solidFill>
                                    <a:srgbClr val="B0B0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✓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SCheck">
                <a:extLst>
                  <a:ext uri="{FF2B5EF4-FFF2-40B4-BE49-F238E27FC236}">
                    <a16:creationId xmlns:a16="http://schemas.microsoft.com/office/drawing/2014/main" id="{E57CFB23-BFAC-AA49-AB78-B46C65523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673600"/>
                <a:ext cx="11049000" cy="203200"/>
              </a:xfrm>
              <a:prstGeom prst="rect">
                <a:avLst/>
              </a:prstGeom>
              <a:blipFill>
                <a:blip r:embed="rId6"/>
                <a:stretch>
                  <a:fillRect b="-10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Ans">
                <a:extLst>
                  <a:ext uri="{FF2B5EF4-FFF2-40B4-BE49-F238E27FC236}">
                    <a16:creationId xmlns:a16="http://schemas.microsoft.com/office/drawing/2014/main" id="{C170DC3D-A43F-CF4E-BD25-5FF3C189B48E}"/>
                  </a:ext>
                </a:extLst>
              </p:cNvPr>
              <p:cNvSpPr txBox="1"/>
              <p:nvPr/>
            </p:nvSpPr>
            <p:spPr>
              <a:xfrm>
                <a:off x="558800" y="5080000"/>
                <a:ext cx="11049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𝐴𝑛𝑠𝑤𝑒𝑟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:    </m:t>
                      </m:r>
                      <m:sSup>
                        <m:sSupPr>
                          <m:ctrlP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1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−½</m:t>
                                </m:r>
                              </m:e>
                              <m:e>
                                <m:r>
                                  <a:rPr lang="en-US" sz="150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3/2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SAns">
                <a:extLst>
                  <a:ext uri="{FF2B5EF4-FFF2-40B4-BE49-F238E27FC236}">
                    <a16:creationId xmlns:a16="http://schemas.microsoft.com/office/drawing/2014/main" id="{C170DC3D-A43F-CF4E-BD25-5FF3C189B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5080000"/>
                <a:ext cx="11049000" cy="304800"/>
              </a:xfrm>
              <a:prstGeom prst="rect">
                <a:avLst/>
              </a:prstGeom>
              <a:blipFill>
                <a:blip r:embed="rId7"/>
                <a:stretch>
                  <a:fillRect t="-20000" b="-4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kBar">
            <a:extLst>
              <a:ext uri="{FF2B5EF4-FFF2-40B4-BE49-F238E27FC236}">
                <a16:creationId xmlns:a16="http://schemas.microsoft.com/office/drawing/2014/main" id="{FF4BB5A2-AA6E-CB41-9FF8-B6B460EA6C6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738715AE-3326-3C42-9C59-007F0FC6F8A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2×2 inverse = swap diagonal, negate off-diagonal, divide by det</a:t>
            </a:r>
          </a:p>
        </p:txBody>
      </p:sp>
    </p:spTree>
    <p:extLst>
      <p:ext uri="{BB962C8B-B14F-4D97-AF65-F5344CB8AC3E}">
        <p14:creationId xmlns:p14="http://schemas.microsoft.com/office/powerpoint/2010/main" val="28818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ABF52DD-D413-9A46-BBE9-2BFFE60A159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8C25586-10F6-2D49-97DC-559130FFBC6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When Inverse Does NOT Exist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E25AA40-ED4B-8A47-9EB1-A68F0B1D074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Recognizing a singular matrix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6463A8C1-CB24-244D-A3D2-E5A725CF39A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A873FE17-452D-1C46-BE03-87C241521CF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0E8D8F98-1006-2244-8351-AB5ACD4341D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QBody">
                <a:extLst>
                  <a:ext uri="{FF2B5EF4-FFF2-40B4-BE49-F238E27FC236}">
                    <a16:creationId xmlns:a16="http://schemas.microsoft.com/office/drawing/2014/main" id="{78DEBAF2-2684-544B-8921-804A5084558A}"/>
                  </a:ext>
                </a:extLst>
              </p:cNvPr>
              <p:cNvSpPr txBox="1"/>
              <p:nvPr/>
            </p:nvSpPr>
            <p:spPr>
              <a:xfrm>
                <a:off x="558800" y="1803400"/>
                <a:ext cx="11049000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𝐷𝑜𝑒𝑠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𝑡ℎ𝑒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𝑖𝑛𝑣𝑒𝑟𝑠𝑒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𝑒𝑥𝑖𝑠𝑡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/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𝑦𝑒𝑠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𝑐𝑜𝑚𝑝𝑢𝑡𝑒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𝑖𝑡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𝑛𝑜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𝑒𝑥𝑝𝑙𝑎𝑖𝑛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𝑤ℎ𝑦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QBody">
                <a:extLst>
                  <a:ext uri="{FF2B5EF4-FFF2-40B4-BE49-F238E27FC236}">
                    <a16:creationId xmlns:a16="http://schemas.microsoft.com/office/drawing/2014/main" id="{78DEBAF2-2684-544B-8921-804A50845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803400"/>
                <a:ext cx="11049000" cy="99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Card">
            <a:extLst>
              <a:ext uri="{FF2B5EF4-FFF2-40B4-BE49-F238E27FC236}">
                <a16:creationId xmlns:a16="http://schemas.microsoft.com/office/drawing/2014/main" id="{4AB23A27-ABF0-7648-987B-ABF17B99515C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7E7CCE01-4BFD-6641-9313-8FC2C9BC5B74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560161B7-693C-6944-B2B0-8F70909877F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SStep1">
                <a:extLst>
                  <a:ext uri="{FF2B5EF4-FFF2-40B4-BE49-F238E27FC236}">
                    <a16:creationId xmlns:a16="http://schemas.microsoft.com/office/drawing/2014/main" id="{93C505BA-1CCD-EC44-870C-26D60A6D1456}"/>
                  </a:ext>
                </a:extLst>
              </p:cNvPr>
              <p:cNvSpPr txBox="1"/>
              <p:nvPr/>
            </p:nvSpPr>
            <p:spPr>
              <a:xfrm>
                <a:off x="558800" y="35814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1.  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𝐶𝑜𝑚𝑝𝑢𝑡𝑒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𝑡ℎ𝑒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𝑑𝑒𝑡𝑒𝑟𝑚𝑖𝑛𝑎𝑛𝑡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:   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) = 2·6 − 4·3 = 12 − 12 = 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SStep1">
                <a:extLst>
                  <a:ext uri="{FF2B5EF4-FFF2-40B4-BE49-F238E27FC236}">
                    <a16:creationId xmlns:a16="http://schemas.microsoft.com/office/drawing/2014/main" id="{93C505BA-1CCD-EC44-870C-26D60A6D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581400"/>
                <a:ext cx="11049000" cy="203200"/>
              </a:xfrm>
              <a:prstGeom prst="rect">
                <a:avLst/>
              </a:prstGeom>
              <a:blipFill>
                <a:blip r:embed="rId3"/>
                <a:stretch>
                  <a:fillRect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Step2">
                <a:extLst>
                  <a:ext uri="{FF2B5EF4-FFF2-40B4-BE49-F238E27FC236}">
                    <a16:creationId xmlns:a16="http://schemas.microsoft.com/office/drawing/2014/main" id="{8D1A06D9-B42F-7B4E-A5DC-3FCBC0FC6D4F}"/>
                  </a:ext>
                </a:extLst>
              </p:cNvPr>
              <p:cNvSpPr txBox="1"/>
              <p:nvPr/>
            </p:nvSpPr>
            <p:spPr>
              <a:xfrm>
                <a:off x="558800" y="38608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2.  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) = 0  → 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𝑆𝐼𝑁𝐺𝑈𝐿𝐴𝑅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𝑖𝑛𝑣𝑒𝑟𝑡𝑖𝑏𝑙𝑒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" name="SStep2">
                <a:extLst>
                  <a:ext uri="{FF2B5EF4-FFF2-40B4-BE49-F238E27FC236}">
                    <a16:creationId xmlns:a16="http://schemas.microsoft.com/office/drawing/2014/main" id="{8D1A06D9-B42F-7B4E-A5DC-3FCBC0FC6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860800"/>
                <a:ext cx="11049000" cy="203200"/>
              </a:xfrm>
              <a:prstGeom prst="rect">
                <a:avLst/>
              </a:prstGeom>
              <a:blipFill>
                <a:blip r:embed="rId4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Step3">
            <a:extLst>
              <a:ext uri="{FF2B5EF4-FFF2-40B4-BE49-F238E27FC236}">
                <a16:creationId xmlns:a16="http://schemas.microsoft.com/office/drawing/2014/main" id="{FF88E90D-49D0-5641-B963-C726CE040A6B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Why:  row 2 = 1.5 × row 1  →  the rows are linearly dependent.</a:t>
            </a:r>
          </a:p>
        </p:txBody>
      </p:sp>
      <p:sp>
        <p:nvSpPr>
          <p:cNvPr id="32" name="SStep4">
            <a:extLst>
              <a:ext uri="{FF2B5EF4-FFF2-40B4-BE49-F238E27FC236}">
                <a16:creationId xmlns:a16="http://schemas.microsoft.com/office/drawing/2014/main" id="{BD11E779-CBB8-9842-AE63-CA555E063D99}"/>
              </a:ext>
            </a:extLst>
          </p:cNvPr>
          <p:cNvSpPr txBox="1"/>
          <p:nvPr/>
        </p:nvSpPr>
        <p:spPr>
          <a:xfrm>
            <a:off x="558800" y="44196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Geometrically: B collapses ℝ² onto a single line, so no transformation undoes that collapse.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SAns">
                <a:extLst>
                  <a:ext uri="{FF2B5EF4-FFF2-40B4-BE49-F238E27FC236}">
                    <a16:creationId xmlns:a16="http://schemas.microsoft.com/office/drawing/2014/main" id="{67825858-AA79-1F47-8256-1AE74464AB28}"/>
                  </a:ext>
                </a:extLst>
              </p:cNvPr>
              <p:cNvSpPr txBox="1"/>
              <p:nvPr/>
            </p:nvSpPr>
            <p:spPr>
              <a:xfrm>
                <a:off x="558800" y="4826000"/>
                <a:ext cx="11049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𝐴𝑛𝑠𝑤𝑒𝑟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sSup>
                        <m:sSupPr>
                          <m:ctrlPr>
                            <a:rPr lang="en-US" sz="1600" b="1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1600" b="1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𝑑𝑜𝑒𝑠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𝑁𝑂𝑇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𝑒𝑥𝑖𝑠𝑡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 —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𝑠𝑖𝑛𝑔𝑢𝑙𝑎𝑟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 = 0).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SAns">
                <a:extLst>
                  <a:ext uri="{FF2B5EF4-FFF2-40B4-BE49-F238E27FC236}">
                    <a16:creationId xmlns:a16="http://schemas.microsoft.com/office/drawing/2014/main" id="{67825858-AA79-1F47-8256-1AE74464A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826000"/>
                <a:ext cx="11049000" cy="304800"/>
              </a:xfrm>
              <a:prstGeom prst="rect">
                <a:avLst/>
              </a:prstGeom>
              <a:blipFill>
                <a:blip r:embed="rId5"/>
                <a:stretch>
                  <a:fillRect b="-16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kBar">
            <a:extLst>
              <a:ext uri="{FF2B5EF4-FFF2-40B4-BE49-F238E27FC236}">
                <a16:creationId xmlns:a16="http://schemas.microsoft.com/office/drawing/2014/main" id="{CB8D0BEE-BC87-234A-9D2A-41405E0C370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5BC792BA-3EAA-E848-BA9E-8CA3F7ECEC0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det(A) = 0  ⇔  A is singular  ⇔  A⁻¹ does not exist</a:t>
            </a:r>
          </a:p>
        </p:txBody>
      </p:sp>
    </p:spTree>
    <p:extLst>
      <p:ext uri="{BB962C8B-B14F-4D97-AF65-F5344CB8AC3E}">
        <p14:creationId xmlns:p14="http://schemas.microsoft.com/office/powerpoint/2010/main" val="175294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02B73AF-FF1E-C54B-8087-5371AD6A82C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F95E8F1-60BF-0C40-95BE-F79048304E52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Solve a Linear System Using A⁻¹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5F1A5135-CB67-744E-AE14-75E4921F108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From Ax = b to x = A⁻¹b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10E6C287-E425-1641-8E39-817303B2DCE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843E8D30-2ED7-3640-B3E9-97C32E928D2A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F457F591-9BA7-144D-9732-10FE8DDF96A4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QBody">
                <a:extLst>
                  <a:ext uri="{FF2B5EF4-FFF2-40B4-BE49-F238E27FC236}">
                    <a16:creationId xmlns:a16="http://schemas.microsoft.com/office/drawing/2014/main" id="{E9049A33-204F-DB44-81DD-E428163D169F}"/>
                  </a:ext>
                </a:extLst>
              </p:cNvPr>
              <p:cNvSpPr txBox="1"/>
              <p:nvPr/>
            </p:nvSpPr>
            <p:spPr>
              <a:xfrm>
                <a:off x="558800" y="1803400"/>
                <a:ext cx="11049000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𝑆𝑜𝑙𝑣𝑒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𝑔𝑖𝑣𝑒𝑛</m:t>
                      </m:r>
                    </m:oMath>
                  </m:oMathPara>
                </a14:m>
                <a:endParaRPr lang="en-US"/>
              </a:p>
              <a:p>
                <a:pPr algn="l"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(4, 13)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QBody">
                <a:extLst>
                  <a:ext uri="{FF2B5EF4-FFF2-40B4-BE49-F238E27FC236}">
                    <a16:creationId xmlns:a16="http://schemas.microsoft.com/office/drawing/2014/main" id="{E9049A33-204F-DB44-81DD-E428163D1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803400"/>
                <a:ext cx="11049000" cy="99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Card">
            <a:extLst>
              <a:ext uri="{FF2B5EF4-FFF2-40B4-BE49-F238E27FC236}">
                <a16:creationId xmlns:a16="http://schemas.microsoft.com/office/drawing/2014/main" id="{8BADD3FB-284A-DA41-B463-0D00E5887784}"/>
              </a:ext>
            </a:extLst>
          </p:cNvPr>
          <p:cNvSpPr/>
          <p:nvPr/>
        </p:nvSpPr>
        <p:spPr>
          <a:xfrm>
            <a:off x="381000" y="3111500"/>
            <a:ext cx="11430000" cy="2476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5CEE60F-90D3-324E-B39C-5BE709676BA7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4B860290-F81A-2946-92CE-22BDFCD88EB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Step1">
                <a:extLst>
                  <a:ext uri="{FF2B5EF4-FFF2-40B4-BE49-F238E27FC236}">
                    <a16:creationId xmlns:a16="http://schemas.microsoft.com/office/drawing/2014/main" id="{E2EDEA53-130A-2B46-8D11-D5E912331A61}"/>
                  </a:ext>
                </a:extLst>
              </p:cNvPr>
              <p:cNvSpPr txBox="1"/>
              <p:nvPr/>
            </p:nvSpPr>
            <p:spPr>
              <a:xfrm>
                <a:off x="558800" y="35560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1.  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) = 1·5 − 2·3 = −1   (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𝑛𝑜𝑛𝑧𝑒𝑟𝑜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𝑖𝑛𝑣𝑒𝑟𝑡𝑖𝑏𝑙𝑒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SStep1">
                <a:extLst>
                  <a:ext uri="{FF2B5EF4-FFF2-40B4-BE49-F238E27FC236}">
                    <a16:creationId xmlns:a16="http://schemas.microsoft.com/office/drawing/2014/main" id="{E2EDEA53-130A-2B46-8D11-D5E912331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556000"/>
                <a:ext cx="11049000" cy="203200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Step2">
                <a:extLst>
                  <a:ext uri="{FF2B5EF4-FFF2-40B4-BE49-F238E27FC236}">
                    <a16:creationId xmlns:a16="http://schemas.microsoft.com/office/drawing/2014/main" id="{050BA293-F93C-7D45-AB51-1D2F117CDD7C}"/>
                  </a:ext>
                </a:extLst>
              </p:cNvPr>
              <p:cNvSpPr txBox="1"/>
              <p:nvPr/>
            </p:nvSpPr>
            <p:spPr>
              <a:xfrm>
                <a:off x="558800" y="38100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2.   </m:t>
                      </m:r>
                      <m:sSup>
                        <m:sSupPr>
                          <m:ctrlP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(1/−1)·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rgbClr val="B0B0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rgbClr val="B0B0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SStep2">
                <a:extLst>
                  <a:ext uri="{FF2B5EF4-FFF2-40B4-BE49-F238E27FC236}">
                    <a16:creationId xmlns:a16="http://schemas.microsoft.com/office/drawing/2014/main" id="{050BA293-F93C-7D45-AB51-1D2F117CD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810000"/>
                <a:ext cx="11049000" cy="203200"/>
              </a:xfrm>
              <a:prstGeom prst="rect">
                <a:avLst/>
              </a:prstGeom>
              <a:blipFill>
                <a:blip r:embed="rId4"/>
                <a:stretch>
                  <a:fillRect b="-10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Step3">
                <a:extLst>
                  <a:ext uri="{FF2B5EF4-FFF2-40B4-BE49-F238E27FC236}">
                    <a16:creationId xmlns:a16="http://schemas.microsoft.com/office/drawing/2014/main" id="{7624052C-EE7D-B14A-AAE2-5F5B8C9C336C}"/>
                  </a:ext>
                </a:extLst>
              </p:cNvPr>
              <p:cNvSpPr txBox="1"/>
              <p:nvPr/>
            </p:nvSpPr>
            <p:spPr>
              <a:xfrm>
                <a:off x="558800" y="42164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𝑆𝑡𝑒𝑝</m:t>
                      </m:r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3.   </m:t>
                      </m:r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B0B0B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rgbClr val="B0B0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150" i="1">
                                    <a:solidFill>
                                      <a:srgbClr val="B0B0B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·(4, 13) = (−5·4 + 2·13,  3·4 − 1·13)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SStep3">
                <a:extLst>
                  <a:ext uri="{FF2B5EF4-FFF2-40B4-BE49-F238E27FC236}">
                    <a16:creationId xmlns:a16="http://schemas.microsoft.com/office/drawing/2014/main" id="{7624052C-EE7D-B14A-AAE2-5F5B8C9C3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216400"/>
                <a:ext cx="11049000" cy="203200"/>
              </a:xfrm>
              <a:prstGeom prst="rect">
                <a:avLst/>
              </a:prstGeom>
              <a:blipFill>
                <a:blip r:embed="rId5"/>
                <a:stretch>
                  <a:fillRect b="-10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Step4">
                <a:extLst>
                  <a:ext uri="{FF2B5EF4-FFF2-40B4-BE49-F238E27FC236}">
                    <a16:creationId xmlns:a16="http://schemas.microsoft.com/office/drawing/2014/main" id="{41CD0554-D61F-094B-960C-44088E1D509B}"/>
                  </a:ext>
                </a:extLst>
              </p:cNvPr>
              <p:cNvSpPr txBox="1"/>
              <p:nvPr/>
            </p:nvSpPr>
            <p:spPr>
              <a:xfrm>
                <a:off x="558800" y="46228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30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= (−20 + 26,   12 − 13)   =   (6, −1)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SStep4">
                <a:extLst>
                  <a:ext uri="{FF2B5EF4-FFF2-40B4-BE49-F238E27FC236}">
                    <a16:creationId xmlns:a16="http://schemas.microsoft.com/office/drawing/2014/main" id="{41CD0554-D61F-094B-960C-44088E1D5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622800"/>
                <a:ext cx="11049000" cy="203200"/>
              </a:xfrm>
              <a:prstGeom prst="rect">
                <a:avLst/>
              </a:prstGeom>
              <a:blipFill>
                <a:blip r:embed="rId6"/>
                <a:stretch>
                  <a:fillRect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Check">
                <a:extLst>
                  <a:ext uri="{FF2B5EF4-FFF2-40B4-BE49-F238E27FC236}">
                    <a16:creationId xmlns:a16="http://schemas.microsoft.com/office/drawing/2014/main" id="{4C78EB3D-AC89-B14F-BEDC-0B248E23DE1A}"/>
                  </a:ext>
                </a:extLst>
              </p:cNvPr>
              <p:cNvSpPr txBox="1"/>
              <p:nvPr/>
            </p:nvSpPr>
            <p:spPr>
              <a:xfrm>
                <a:off x="558800" y="4902200"/>
                <a:ext cx="11049000" cy="20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𝑉𝑒𝑟𝑖𝑓𝑦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= (1·6 + 2·(−1),  3·6 + 5·(−1)) = (4, 13) = 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150" i="1">
                          <a:solidFill>
                            <a:srgbClr val="B0B0B0"/>
                          </a:solidFill>
                          <a:latin typeface="Cambria Math" panose="02040503050406030204" pitchFamily="18" charset="0"/>
                        </a:rPr>
                        <m:t> ✓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SCheck">
                <a:extLst>
                  <a:ext uri="{FF2B5EF4-FFF2-40B4-BE49-F238E27FC236}">
                    <a16:creationId xmlns:a16="http://schemas.microsoft.com/office/drawing/2014/main" id="{4C78EB3D-AC89-B14F-BEDC-0B248E23D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902200"/>
                <a:ext cx="11049000" cy="203200"/>
              </a:xfrm>
              <a:prstGeom prst="rect">
                <a:avLst/>
              </a:prstGeom>
              <a:blipFill>
                <a:blip r:embed="rId7"/>
                <a:stretch>
                  <a:fillRect b="-38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Ans">
                <a:extLst>
                  <a:ext uri="{FF2B5EF4-FFF2-40B4-BE49-F238E27FC236}">
                    <a16:creationId xmlns:a16="http://schemas.microsoft.com/office/drawing/2014/main" id="{5A6C0814-8D1E-AC43-88B2-C41B0BA2BCB5}"/>
                  </a:ext>
                </a:extLst>
              </p:cNvPr>
              <p:cNvSpPr txBox="1"/>
              <p:nvPr/>
            </p:nvSpPr>
            <p:spPr>
              <a:xfrm>
                <a:off x="558800" y="5181600"/>
                <a:ext cx="11049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𝐴𝑛𝑠𝑤𝑒𝑟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(6, −1)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SAns">
                <a:extLst>
                  <a:ext uri="{FF2B5EF4-FFF2-40B4-BE49-F238E27FC236}">
                    <a16:creationId xmlns:a16="http://schemas.microsoft.com/office/drawing/2014/main" id="{5A6C0814-8D1E-AC43-88B2-C41B0BA2B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5181600"/>
                <a:ext cx="11049000" cy="304800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kBar">
            <a:extLst>
              <a:ext uri="{FF2B5EF4-FFF2-40B4-BE49-F238E27FC236}">
                <a16:creationId xmlns:a16="http://schemas.microsoft.com/office/drawing/2014/main" id="{86E4F225-6E1E-2249-B565-8B47E77ED44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DB6D7174-17D0-C04B-B9E6-DC7DA2E7D49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When A is invertible, every system Ax = b has the unique solution x = A⁻¹b</a:t>
            </a:r>
          </a:p>
        </p:txBody>
      </p:sp>
    </p:spTree>
    <p:extLst>
      <p:ext uri="{BB962C8B-B14F-4D97-AF65-F5344CB8AC3E}">
        <p14:creationId xmlns:p14="http://schemas.microsoft.com/office/powerpoint/2010/main" val="42916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9C01E-9AF5-A246-972D-B6F12846D509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LARGER 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E7FC7-635F-B644-A810-502B5AE8B65C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Determinant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BF769-A120-AA4A-8AA9-9F68767A4BCF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Cofactor expansion for the determinant, and the adjugate method for the inverse.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855145-CB61-834F-A334-A56A2549BBBE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C1D55-465E-DD4D-B1EA-325018913BFF}"/>
              </a:ext>
            </a:extLst>
          </p:cNvPr>
          <p:cNvSpPr/>
          <p:nvPr/>
        </p:nvSpPr>
        <p:spPr>
          <a:xfrm>
            <a:off x="52070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408C8-C72C-DF4E-8B20-9B86628BCF24}"/>
              </a:ext>
            </a:extLst>
          </p:cNvPr>
          <p:cNvSpPr/>
          <p:nvPr/>
        </p:nvSpPr>
        <p:spPr>
          <a:xfrm>
            <a:off x="52070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9077C-D70E-9E45-819B-4085FDAC2264}"/>
              </a:ext>
            </a:extLst>
          </p:cNvPr>
          <p:cNvSpPr/>
          <p:nvPr/>
        </p:nvSpPr>
        <p:spPr>
          <a:xfrm>
            <a:off x="52070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A0C8B-B035-C04B-8982-2452373F3C61}"/>
              </a:ext>
            </a:extLst>
          </p:cNvPr>
          <p:cNvSpPr/>
          <p:nvPr/>
        </p:nvSpPr>
        <p:spPr>
          <a:xfrm>
            <a:off x="69342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344BAA-2B8A-2749-9814-9CCB1E51DECF}"/>
              </a:ext>
            </a:extLst>
          </p:cNvPr>
          <p:cNvSpPr/>
          <p:nvPr/>
        </p:nvSpPr>
        <p:spPr>
          <a:xfrm>
            <a:off x="67818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834F4-1032-BC4B-938B-68855366A108}"/>
              </a:ext>
            </a:extLst>
          </p:cNvPr>
          <p:cNvSpPr/>
          <p:nvPr/>
        </p:nvSpPr>
        <p:spPr>
          <a:xfrm>
            <a:off x="67818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71438A-46A8-D34E-BCCD-33DD02895FE1}"/>
              </a:ext>
            </a:extLst>
          </p:cNvPr>
          <p:cNvSpPr/>
          <p:nvPr/>
        </p:nvSpPr>
        <p:spPr>
          <a:xfrm>
            <a:off x="5549900" y="19050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1B521E-3A53-FD4D-A360-EDFA92F0C53F}"/>
              </a:ext>
            </a:extLst>
          </p:cNvPr>
          <p:cNvSpPr/>
          <p:nvPr/>
        </p:nvSpPr>
        <p:spPr>
          <a:xfrm>
            <a:off x="5549900" y="23114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105533-7E46-F54C-B7F0-A5C4BF90B270}"/>
              </a:ext>
            </a:extLst>
          </p:cNvPr>
          <p:cNvSpPr/>
          <p:nvPr/>
        </p:nvSpPr>
        <p:spPr>
          <a:xfrm>
            <a:off x="6019800" y="1905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8A2382-AFD6-8B4E-9500-94549F56EBA2}"/>
              </a:ext>
            </a:extLst>
          </p:cNvPr>
          <p:cNvSpPr/>
          <p:nvPr/>
        </p:nvSpPr>
        <p:spPr>
          <a:xfrm>
            <a:off x="6019800" y="2311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D90891-2F60-094B-9807-6AD9C525CAB4}"/>
              </a:ext>
            </a:extLst>
          </p:cNvPr>
          <p:cNvSpPr/>
          <p:nvPr/>
        </p:nvSpPr>
        <p:spPr>
          <a:xfrm>
            <a:off x="6489700" y="1905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9A0BF1-4C24-4D41-8A55-67C8B883E36C}"/>
              </a:ext>
            </a:extLst>
          </p:cNvPr>
          <p:cNvSpPr/>
          <p:nvPr/>
        </p:nvSpPr>
        <p:spPr>
          <a:xfrm>
            <a:off x="6489700" y="2311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2494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Determinant of a 3×3 by Cofactor Expansion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Expand along a row: multiply each entry by its signed 2×2 minor, then add.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Cofactor expansion reduces an n×n determinant to smaller ones — three 2×2 minors give det(A) = 1.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Set up the expansion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685800" y="1905000"/>
            <a:ext cx="1905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A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3" name="tb"/>
              <p:cNvSpPr txBox="1"/>
              <p:nvPr/>
            </p:nvSpPr>
            <p:spPr>
              <a:xfrm>
                <a:off x="1524000" y="1879600"/>
                <a:ext cx="2667000" cy="1219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03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879600"/>
                <a:ext cx="2667000" cy="1219200"/>
              </a:xfrm>
              <a:prstGeom prst="rect">
                <a:avLst/>
              </a:prstGeom>
              <a:blipFill>
                <a:blip r:embed="rId2"/>
                <a:stretch>
                  <a:fillRect t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4" name="tb"/>
          <p:cNvSpPr txBox="1"/>
          <p:nvPr/>
        </p:nvSpPr>
        <p:spPr>
          <a:xfrm>
            <a:off x="558800" y="3175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595959"/>
                </a:solidFill>
              </a:rPr>
              <a:t>Signs along row 1:   </a:t>
            </a:r>
            <a:r>
              <a:rPr lang="en-US" sz="1600" b="1" dirty="0">
                <a:solidFill>
                  <a:srgbClr val="4B2E83"/>
                </a:solidFill>
              </a:rPr>
              <a:t>+  −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5" name="tb"/>
              <p:cNvSpPr txBox="1"/>
              <p:nvPr/>
            </p:nvSpPr>
            <p:spPr>
              <a:xfrm>
                <a:off x="558800" y="3657600"/>
                <a:ext cx="52324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 = +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0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657600"/>
                <a:ext cx="5232400" cy="508000"/>
              </a:xfrm>
              <a:prstGeom prst="rect">
                <a:avLst/>
              </a:prstGeom>
              <a:blipFill>
                <a:blip r:embed="rId3"/>
                <a:stretch>
                  <a:fillRect l="-1453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6" name="tb"/>
          <p:cNvSpPr txBox="1"/>
          <p:nvPr/>
        </p:nvSpPr>
        <p:spPr>
          <a:xfrm>
            <a:off x="558800" y="42926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with row 1 = </a:t>
            </a:r>
            <a:r>
              <a:rPr lang="en-US" sz="1450" b="1" i="1" dirty="0">
                <a:solidFill>
                  <a:srgbClr val="4B2E83"/>
                </a:solidFill>
              </a:rPr>
              <a:t>(1, 2, 3)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7" name="tb"/>
              <p:cNvSpPr txBox="1"/>
              <p:nvPr/>
            </p:nvSpPr>
            <p:spPr>
              <a:xfrm>
                <a:off x="558800" y="4902200"/>
                <a:ext cx="52324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 = (1)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− (2)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+ (3)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07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902200"/>
                <a:ext cx="5232400" cy="508000"/>
              </a:xfrm>
              <a:prstGeom prst="rect">
                <a:avLst/>
              </a:prstGeom>
              <a:blipFill>
                <a:blip r:embed="rId4"/>
                <a:stretch>
                  <a:fillRect l="-145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8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6400800" y="14224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Minors, then combine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10" name="tb"/>
              <p:cNvSpPr txBox="1"/>
              <p:nvPr/>
            </p:nvSpPr>
            <p:spPr>
              <a:xfrm>
                <a:off x="6400800" y="1905000"/>
                <a:ext cx="5232400" cy="584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(1)(0) − (4)(6) = </m:t>
                      </m:r>
                      <m:r>
                        <a:rPr lang="en-US" sz="14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−24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1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905000"/>
                <a:ext cx="5232400" cy="584200"/>
              </a:xfrm>
              <a:prstGeom prst="rect">
                <a:avLst/>
              </a:prstGeom>
              <a:blipFill>
                <a:blip r:embed="rId5"/>
                <a:stretch>
                  <a:fillRect l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1" name="tb"/>
              <p:cNvSpPr txBox="1"/>
              <p:nvPr/>
            </p:nvSpPr>
            <p:spPr>
              <a:xfrm>
                <a:off x="6400800" y="2514600"/>
                <a:ext cx="5232400" cy="584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(0)(0) − (4)(5) = </m:t>
                      </m:r>
                      <m:r>
                        <a:rPr lang="en-US" sz="14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11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514600"/>
                <a:ext cx="5232400" cy="584200"/>
              </a:xfrm>
              <a:prstGeom prst="rect">
                <a:avLst/>
              </a:prstGeom>
              <a:blipFill>
                <a:blip r:embed="rId6"/>
                <a:stretch>
                  <a:fillRect l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2" name="tb"/>
              <p:cNvSpPr txBox="1"/>
              <p:nvPr/>
            </p:nvSpPr>
            <p:spPr>
              <a:xfrm>
                <a:off x="6400800" y="3124200"/>
                <a:ext cx="5232400" cy="584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2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(0)(6) − (1)(5) = </m:t>
                      </m:r>
                      <m:r>
                        <a:rPr lang="en-US" sz="14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1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124200"/>
                <a:ext cx="5232400" cy="584200"/>
              </a:xfrm>
              <a:prstGeom prst="rect">
                <a:avLst/>
              </a:prstGeom>
              <a:blipFill>
                <a:blip r:embed="rId7"/>
                <a:stretch>
                  <a:fillRect l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3" name="tb"/>
              <p:cNvSpPr txBox="1"/>
              <p:nvPr/>
            </p:nvSpPr>
            <p:spPr>
              <a:xfrm>
                <a:off x="6400800" y="37846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4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 = (1)(−24) − (2)(−20) + (3)(−5)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13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784600"/>
                <a:ext cx="5232400" cy="330200"/>
              </a:xfrm>
              <a:prstGeom prst="rect">
                <a:avLst/>
              </a:prstGeom>
              <a:blipFill>
                <a:blip r:embed="rId8"/>
                <a:stretch>
                  <a:fillRect l="-1456" t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14" name="tb"/>
              <p:cNvSpPr txBox="1"/>
              <p:nvPr/>
            </p:nvSpPr>
            <p:spPr>
              <a:xfrm>
                <a:off x="6400800" y="4165600"/>
                <a:ext cx="5232400" cy="3048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 −24 + 40 − 15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1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165600"/>
                <a:ext cx="5232400" cy="304800"/>
              </a:xfrm>
              <a:prstGeom prst="rect">
                <a:avLst/>
              </a:prstGeom>
              <a:blipFill>
                <a:blip r:embed="rId9"/>
                <a:stretch>
                  <a:fillRect l="-971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15" name="chip"/>
          <p:cNvSpPr/>
          <p:nvPr/>
        </p:nvSpPr>
        <p:spPr>
          <a:xfrm>
            <a:off x="7874000" y="4572000"/>
            <a:ext cx="2286000" cy="711200"/>
          </a:xfrm>
          <a:prstGeom prst="roundRect">
            <a:avLst>
              <a:gd name="adj" fmla="val 18000"/>
            </a:avLst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16" name="tb"/>
              <p:cNvSpPr txBox="1"/>
              <p:nvPr/>
            </p:nvSpPr>
            <p:spPr>
              <a:xfrm>
                <a:off x="7874000" y="4572000"/>
                <a:ext cx="2286000" cy="711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2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22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 = 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1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0" y="4572000"/>
                <a:ext cx="2286000" cy="711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29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C₁₁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(1)(0) − (4)(6)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−24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(1+1)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(+)(−24)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−24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8" name="tb"/>
              <p:cNvSpPr txBox="1"/>
              <p:nvPr/>
            </p:nvSpPr>
            <p:spPr>
              <a:xfrm>
                <a:off x="6553200" y="4978400"/>
                <a:ext cx="4927600" cy="660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(1)(−24) = 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−24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8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78400"/>
                <a:ext cx="4927600" cy="660400"/>
              </a:xfrm>
              <a:prstGeom prst="rect">
                <a:avLst/>
              </a:prstGeom>
              <a:blipFill>
                <a:blip r:embed="rId5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38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C₁₂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(0)(0) − (4)(5)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(1+2)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(−)(−20)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8" name="tb"/>
              <p:cNvSpPr txBox="1"/>
              <p:nvPr/>
            </p:nvSpPr>
            <p:spPr>
              <a:xfrm>
                <a:off x="6553200" y="4978400"/>
                <a:ext cx="4927600" cy="660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(2)(20) = 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8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78400"/>
                <a:ext cx="4927600" cy="660400"/>
              </a:xfrm>
              <a:prstGeom prst="rect">
                <a:avLst/>
              </a:prstGeom>
              <a:blipFill>
                <a:blip r:embed="rId5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65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C₁₃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(0)(6) − (1)(5)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(1+3)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(+)(−5)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8" name="tb"/>
              <p:cNvSpPr txBox="1"/>
              <p:nvPr/>
            </p:nvSpPr>
            <p:spPr>
              <a:xfrm>
                <a:off x="6553200" y="4978400"/>
                <a:ext cx="4927600" cy="660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(3)(−5) = 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8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78400"/>
                <a:ext cx="4927600" cy="660400"/>
              </a:xfrm>
              <a:prstGeom prst="rect">
                <a:avLst/>
              </a:prstGeom>
              <a:blipFill>
                <a:blip r:embed="rId5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15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Determinant — Combine the Three Cofactors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Add the row-1 terms: a₁₁C₁₁ + a₁₂C₁₂ + a₁₃C₁₃.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Expanding along any row or column gives the same value — here det(A) = 1.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Expand along row 1 (highlighted):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21" name="tb"/>
              <p:cNvSpPr txBox="1"/>
              <p:nvPr/>
            </p:nvSpPr>
            <p:spPr>
              <a:xfrm>
                <a:off x="558800" y="4724400"/>
                <a:ext cx="5232400" cy="762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sSub>
                        <m:sSub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21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724400"/>
                <a:ext cx="5232400" cy="762000"/>
              </a:xfrm>
              <a:prstGeom prst="rect">
                <a:avLst/>
              </a:prstGeom>
              <a:blipFill>
                <a:blip r:embed="rId2"/>
                <a:stretch>
                  <a:fillRect l="-1453" t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2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Plug in the cofactors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24" name="tb"/>
              <p:cNvSpPr txBox="1"/>
              <p:nvPr/>
            </p:nvSpPr>
            <p:spPr>
              <a:xfrm>
                <a:off x="6553200" y="1981200"/>
                <a:ext cx="5080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(1)(−24) =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−24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2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1981200"/>
                <a:ext cx="5080000" cy="381000"/>
              </a:xfrm>
              <a:prstGeom prst="rect">
                <a:avLst/>
              </a:prstGeom>
              <a:blipFill>
                <a:blip r:embed="rId3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5" name="tb"/>
              <p:cNvSpPr txBox="1"/>
              <p:nvPr/>
            </p:nvSpPr>
            <p:spPr>
              <a:xfrm>
                <a:off x="6553200" y="2514600"/>
                <a:ext cx="5080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(2)(+20) =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+40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2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2514600"/>
                <a:ext cx="5080000" cy="381000"/>
              </a:xfrm>
              <a:prstGeom prst="rect">
                <a:avLst/>
              </a:prstGeom>
              <a:blipFill>
                <a:blip r:embed="rId4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26" name="tb"/>
              <p:cNvSpPr txBox="1"/>
              <p:nvPr/>
            </p:nvSpPr>
            <p:spPr>
              <a:xfrm>
                <a:off x="6553200" y="3048000"/>
                <a:ext cx="5080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(3)(−5) = </m:t>
                      </m:r>
                      <m:r>
                        <a:rPr lang="en-US" sz="160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2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3048000"/>
                <a:ext cx="5080000" cy="381000"/>
              </a:xfrm>
              <a:prstGeom prst="rect">
                <a:avLst/>
              </a:prstGeom>
              <a:blipFill>
                <a:blip r:embed="rId5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27" name="hl"/>
          <p:cNvSpPr/>
          <p:nvPr/>
        </p:nvSpPr>
        <p:spPr>
          <a:xfrm>
            <a:off x="6553200" y="3606800"/>
            <a:ext cx="5080000" cy="25400"/>
          </a:xfrm>
          <a:prstGeom prst="rect">
            <a:avLst/>
          </a:prstGeom>
          <a:solidFill>
            <a:srgbClr val="B7A57A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28" name="tb"/>
              <p:cNvSpPr txBox="1"/>
              <p:nvPr/>
            </p:nvSpPr>
            <p:spPr>
              <a:xfrm>
                <a:off x="6553200" y="3759200"/>
                <a:ext cx="5080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) = −24 + 40 − 15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28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3759200"/>
                <a:ext cx="5080000" cy="381000"/>
              </a:xfrm>
              <a:prstGeom prst="rect">
                <a:avLst/>
              </a:prstGeom>
              <a:blipFill>
                <a:blip r:embed="rId6"/>
                <a:stretch>
                  <a:fillRect l="-1500"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29" name="box"/>
          <p:cNvSpPr/>
          <p:nvPr/>
        </p:nvSpPr>
        <p:spPr>
          <a:xfrm>
            <a:off x="7620000" y="4318000"/>
            <a:ext cx="2667000" cy="736600"/>
          </a:xfrm>
          <a:prstGeom prst="roundRect">
            <a:avLst>
              <a:gd name="adj" fmla="val 14000"/>
            </a:avLst>
          </a:prstGeom>
          <a:solidFill>
            <a:srgbClr val="4B2E83"/>
          </a:solidFill>
          <a:ln w="190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30" name="tb"/>
              <p:cNvSpPr txBox="1"/>
              <p:nvPr/>
            </p:nvSpPr>
            <p:spPr>
              <a:xfrm>
                <a:off x="7620000" y="4318000"/>
                <a:ext cx="26670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4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24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 = 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3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4318000"/>
                <a:ext cx="2667000" cy="736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35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5C35-1A0C-EECB-30A6-80EFFFB5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E6E523-3CDD-176C-8338-C876F0E4137E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LARGER 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524A7-5645-BDDF-41E8-5AA1D54AE203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Inverse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F58D7-A4A5-E14C-F6C6-6F8F9A40F060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Cofactor expansion for the determinant, and the adjugate method for the inverse.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AFA6E1-FE22-5B41-E847-B052CA817743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3088F-47A4-278E-030D-5794452A82BF}"/>
              </a:ext>
            </a:extLst>
          </p:cNvPr>
          <p:cNvSpPr/>
          <p:nvPr/>
        </p:nvSpPr>
        <p:spPr>
          <a:xfrm>
            <a:off x="52070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70714-12ED-D8C2-722A-D31817646453}"/>
              </a:ext>
            </a:extLst>
          </p:cNvPr>
          <p:cNvSpPr/>
          <p:nvPr/>
        </p:nvSpPr>
        <p:spPr>
          <a:xfrm>
            <a:off x="52070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A99A3-D75E-EA6B-7ED4-AB1A81938214}"/>
              </a:ext>
            </a:extLst>
          </p:cNvPr>
          <p:cNvSpPr/>
          <p:nvPr/>
        </p:nvSpPr>
        <p:spPr>
          <a:xfrm>
            <a:off x="52070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1700E-1266-BFC9-26A9-42DDF8C91005}"/>
              </a:ext>
            </a:extLst>
          </p:cNvPr>
          <p:cNvSpPr/>
          <p:nvPr/>
        </p:nvSpPr>
        <p:spPr>
          <a:xfrm>
            <a:off x="69342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2DC53-647D-227A-C933-629C1C76A9AD}"/>
              </a:ext>
            </a:extLst>
          </p:cNvPr>
          <p:cNvSpPr/>
          <p:nvPr/>
        </p:nvSpPr>
        <p:spPr>
          <a:xfrm>
            <a:off x="67818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07898F-8AB2-B352-9620-7E422DBD209E}"/>
              </a:ext>
            </a:extLst>
          </p:cNvPr>
          <p:cNvSpPr/>
          <p:nvPr/>
        </p:nvSpPr>
        <p:spPr>
          <a:xfrm>
            <a:off x="67818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5BDDB3-4430-C118-B736-A1A351356859}"/>
              </a:ext>
            </a:extLst>
          </p:cNvPr>
          <p:cNvSpPr/>
          <p:nvPr/>
        </p:nvSpPr>
        <p:spPr>
          <a:xfrm>
            <a:off x="5549900" y="19050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BA2109-4AAB-BF80-688B-B6650B7FC6C9}"/>
              </a:ext>
            </a:extLst>
          </p:cNvPr>
          <p:cNvSpPr/>
          <p:nvPr/>
        </p:nvSpPr>
        <p:spPr>
          <a:xfrm>
            <a:off x="5549900" y="23114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D2009E-85F3-C31E-ABCA-8A9EAECEDEB0}"/>
              </a:ext>
            </a:extLst>
          </p:cNvPr>
          <p:cNvSpPr/>
          <p:nvPr/>
        </p:nvSpPr>
        <p:spPr>
          <a:xfrm>
            <a:off x="6019800" y="1905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C7E69B-39B1-71F4-026B-6319E1444D3F}"/>
              </a:ext>
            </a:extLst>
          </p:cNvPr>
          <p:cNvSpPr/>
          <p:nvPr/>
        </p:nvSpPr>
        <p:spPr>
          <a:xfrm>
            <a:off x="6019800" y="2311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9AD21A-C70D-AE60-487C-7EBAE1830BFE}"/>
              </a:ext>
            </a:extLst>
          </p:cNvPr>
          <p:cNvSpPr/>
          <p:nvPr/>
        </p:nvSpPr>
        <p:spPr>
          <a:xfrm>
            <a:off x="6489700" y="1905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4A3DA6-616C-7747-B950-BC871736073E}"/>
              </a:ext>
            </a:extLst>
          </p:cNvPr>
          <p:cNvSpPr/>
          <p:nvPr/>
        </p:nvSpPr>
        <p:spPr>
          <a:xfrm>
            <a:off x="6489700" y="2311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6543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Transpose  Aᵀ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Reflect a matrix across its main diagonal — rows become columns.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Transposing swaps rows and columns: (Aᵀ)ᵢⱼ = Aⱼᵢ. The diagonal is unchanged and (Aᵀ)ᵀ = A.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Matrix A — each row colored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413000"/>
            <a:ext cx="2209800" cy="635000"/>
          </a:xfrm>
          <a:prstGeom prst="rect">
            <a:avLst/>
          </a:prstGeom>
          <a:solidFill>
            <a:srgbClr val="4B2E83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048000"/>
            <a:ext cx="2209800" cy="635000"/>
          </a:xfrm>
          <a:prstGeom prst="rect">
            <a:avLst/>
          </a:prstGeom>
          <a:solidFill>
            <a:srgbClr val="00A7B5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905000" y="3683000"/>
            <a:ext cx="2209800" cy="635000"/>
          </a:xfrm>
          <a:prstGeom prst="rect">
            <a:avLst/>
          </a:prstGeom>
          <a:solidFill>
            <a:srgbClr val="B7A57A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526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2164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1148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1148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092200" y="3048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3782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3782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782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572000"/>
            <a:ext cx="52324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Reflect across the diagonal (↖↘): the entry in row i, column j moves to row j, column i.</a:t>
            </a:r>
          </a:p>
        </p:txBody>
      </p:sp>
      <p:sp>
        <p:nvSpPr>
          <p:cNvPr id="602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Transpose Aᵀ — those rows are now columns</a:t>
            </a:r>
          </a:p>
        </p:txBody>
      </p:sp>
      <p:sp>
        <p:nvSpPr>
          <p:cNvPr id="6024" name="hl"/>
          <p:cNvSpPr/>
          <p:nvPr/>
        </p:nvSpPr>
        <p:spPr>
          <a:xfrm>
            <a:off x="7874000" y="2413000"/>
            <a:ext cx="736600" cy="1905000"/>
          </a:xfrm>
          <a:prstGeom prst="rect">
            <a:avLst/>
          </a:prstGeom>
          <a:solidFill>
            <a:srgbClr val="4B2E83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8610600" y="2413000"/>
            <a:ext cx="736600" cy="1905000"/>
          </a:xfrm>
          <a:prstGeom prst="rect">
            <a:avLst/>
          </a:prstGeom>
          <a:solidFill>
            <a:srgbClr val="00A7B5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9347200" y="2413000"/>
            <a:ext cx="736600" cy="1905000"/>
          </a:xfrm>
          <a:prstGeom prst="rect">
            <a:avLst/>
          </a:prstGeom>
          <a:solidFill>
            <a:srgbClr val="B7A57A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7216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7216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7216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101854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100838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100838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6959600" y="3048000"/>
            <a:ext cx="838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Aᵀ =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8740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6106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3472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78740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6106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93472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78740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6106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3472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3" name="tb"/>
              <p:cNvSpPr txBox="1"/>
              <p:nvPr/>
            </p:nvSpPr>
            <p:spPr>
              <a:xfrm>
                <a:off x="6400800" y="4572000"/>
                <a:ext cx="52324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:r>
                  <a:rPr lang="en-US" sz="1400" i="1" dirty="0">
                    <a:solidFill>
                      <a:srgbClr val="595959"/>
                    </a:solidFill>
                  </a:rPr>
                  <a:t>row i of A  →  column i of Aᵀ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500" b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1500" b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500" b="1">
                        <a:solidFill>
                          <a:srgbClr val="4B2E8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500" b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500" b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043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572000"/>
                <a:ext cx="5232400" cy="508000"/>
              </a:xfrm>
              <a:prstGeom prst="rect">
                <a:avLst/>
              </a:prstGeom>
              <a:blipFill>
                <a:blip r:embed="rId2"/>
                <a:stretch>
                  <a:fillRect l="-2184"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66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Adjugate  adj(A)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adjugate is the transpose of the cofactor matrix.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adj(A) collects every signed cofactor and transposes them; dividing by det(A) gives the inverse.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cofactor matrix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2" name="tb"/>
              <p:cNvSpPr txBox="1"/>
              <p:nvPr/>
            </p:nvSpPr>
            <p:spPr>
              <a:xfrm>
                <a:off x="558800" y="1854200"/>
                <a:ext cx="5232400" cy="3048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:r>
                  <a:rPr lang="en-US" sz="1400" i="1" dirty="0">
                    <a:solidFill>
                      <a:srgbClr val="595959"/>
                    </a:solidFill>
                  </a:rPr>
                  <a:t>Replace each entry by its signed minor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 :</a:t>
                </a:r>
                <a:endParaRPr lang="en-US"/>
              </a:p>
            </p:txBody>
          </p:sp>
        </mc:Choice>
        <mc:Fallback xmlns="">
          <p:sp>
            <p:nvSpPr>
              <p:cNvPr id="600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854200"/>
                <a:ext cx="5232400" cy="304800"/>
              </a:xfrm>
              <a:prstGeom prst="rect">
                <a:avLst/>
              </a:prstGeom>
              <a:blipFill>
                <a:blip r:embed="rId2"/>
                <a:stretch>
                  <a:fillRect l="-2179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3" name="hl"/>
          <p:cNvSpPr/>
          <p:nvPr/>
        </p:nvSpPr>
        <p:spPr>
          <a:xfrm>
            <a:off x="17526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7526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51308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50292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50292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19050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29464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39878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9464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9878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9464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9878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889000" y="3200400"/>
            <a:ext cx="889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C =</a:t>
            </a:r>
          </a:p>
        </p:txBody>
      </p:sp>
      <p:sp>
        <p:nvSpPr>
          <p:cNvPr id="601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transpose to get adj(A)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21" name="tb"/>
              <p:cNvSpPr txBox="1"/>
              <p:nvPr/>
            </p:nvSpPr>
            <p:spPr>
              <a:xfrm>
                <a:off x="6400800" y="1854200"/>
                <a:ext cx="5232400" cy="3048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𝑎𝑑𝑗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14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i="1" dirty="0">
                    <a:solidFill>
                      <a:srgbClr val="595959"/>
                    </a:solidFill>
                  </a:rPr>
                  <a:t>  :  row i of C becomes column i.</a:t>
                </a:r>
                <a:endParaRPr lang="en-US"/>
              </a:p>
            </p:txBody>
          </p:sp>
        </mc:Choice>
        <mc:Fallback xmlns="">
          <p:sp>
            <p:nvSpPr>
              <p:cNvPr id="6021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854200"/>
                <a:ext cx="5232400" cy="304800"/>
              </a:xfrm>
              <a:prstGeom prst="rect">
                <a:avLst/>
              </a:prstGeom>
              <a:blipFill>
                <a:blip r:embed="rId3"/>
                <a:stretch>
                  <a:fillRect l="-1699" t="-160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22" name="hl"/>
          <p:cNvSpPr/>
          <p:nvPr/>
        </p:nvSpPr>
        <p:spPr>
          <a:xfrm>
            <a:off x="76200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hl"/>
          <p:cNvSpPr/>
          <p:nvPr/>
        </p:nvSpPr>
        <p:spPr>
          <a:xfrm>
            <a:off x="76200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76200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109982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108966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108966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7724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8138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8552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7724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88138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98552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7724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8138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8552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604000" y="3200400"/>
            <a:ext cx="10922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333333"/>
                </a:solidFill>
              </a:rPr>
              <a:t>adj(A) =</a:t>
            </a:r>
          </a:p>
        </p:txBody>
      </p:sp>
      <p:sp>
        <p:nvSpPr>
          <p:cNvPr id="6038" name="box"/>
          <p:cNvSpPr/>
          <p:nvPr/>
        </p:nvSpPr>
        <p:spPr>
          <a:xfrm>
            <a:off x="6324600" y="4800600"/>
            <a:ext cx="5384800" cy="736600"/>
          </a:xfrm>
          <a:prstGeom prst="roundRect">
            <a:avLst>
              <a:gd name="adj" fmla="val 12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39" name="tb"/>
              <p:cNvSpPr txBox="1"/>
              <p:nvPr/>
            </p:nvSpPr>
            <p:spPr>
              <a:xfrm>
                <a:off x="6477000" y="4800600"/>
                <a:ext cx="50800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𝑎𝑑𝑗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)·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     ⇒      </m:t>
                      </m:r>
                      <m:sSup>
                        <m:sSupPr>
                          <m:ctrlP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𝑎𝑑𝑗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3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800600"/>
                <a:ext cx="5080000" cy="736600"/>
              </a:xfrm>
              <a:prstGeom prst="rect">
                <a:avLst/>
              </a:prstGeom>
              <a:blipFill>
                <a:blip r:embed="rId4"/>
                <a:stretch>
                  <a:fillRect l="-499" r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92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Inverse of a 3×3 with the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A⁻¹ = (1/det A)·adj(A), where adj(A) is the transpose of the cofactor matrix.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Cofactors → transpose → divide by det. With det(A) = 1, A⁻¹ comes out in whole numbers.</a:t>
            </a:r>
          </a:p>
        </p:txBody>
      </p:sp>
      <p:sp>
        <p:nvSpPr>
          <p:cNvPr id="7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Determinant &amp; cofactors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02" name="tb"/>
              <p:cNvSpPr txBox="1"/>
              <p:nvPr/>
            </p:nvSpPr>
            <p:spPr>
              <a:xfrm>
                <a:off x="558800" y="1905000"/>
                <a:ext cx="52324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7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7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𝑎𝑑𝑗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0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905000"/>
                <a:ext cx="5232400" cy="355600"/>
              </a:xfrm>
              <a:prstGeom prst="rect">
                <a:avLst/>
              </a:prstGeom>
              <a:blipFill>
                <a:blip r:embed="rId2"/>
                <a:stretch>
                  <a:fillRect l="-1453" t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03" name="tb"/>
          <p:cNvSpPr txBox="1"/>
          <p:nvPr/>
        </p:nvSpPr>
        <p:spPr>
          <a:xfrm>
            <a:off x="558800" y="2413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det(A) = </a:t>
            </a:r>
            <a:r>
              <a:rPr lang="en-US" sz="1450" b="1" dirty="0">
                <a:solidFill>
                  <a:srgbClr val="4B2E83"/>
                </a:solidFill>
              </a:rPr>
              <a:t>1</a:t>
            </a:r>
            <a:r>
              <a:rPr lang="en-US" sz="1400" i="1" dirty="0">
                <a:solidFill>
                  <a:srgbClr val="595959"/>
                </a:solidFill>
              </a:rPr>
              <a:t>   (from the cofactor expansion)</a:t>
            </a:r>
          </a:p>
        </p:txBody>
      </p:sp>
      <p:sp>
        <p:nvSpPr>
          <p:cNvPr id="7004" name="tb"/>
          <p:cNvSpPr txBox="1"/>
          <p:nvPr/>
        </p:nvSpPr>
        <p:spPr>
          <a:xfrm>
            <a:off x="558800" y="2895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Cofactor matrix  C  (signed minors of A):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05" name="tb"/>
              <p:cNvSpPr txBox="1"/>
              <p:nvPr/>
            </p:nvSpPr>
            <p:spPr>
              <a:xfrm>
                <a:off x="889000" y="3327400"/>
                <a:ext cx="4572000" cy="1905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−24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−15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0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3327400"/>
                <a:ext cx="4572000" cy="1905000"/>
              </a:xfrm>
              <a:prstGeom prst="rect">
                <a:avLst/>
              </a:prstGeom>
              <a:blipFill>
                <a:blip r:embed="rId3"/>
                <a:stretch>
                  <a:fillRect t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06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7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Transpose, then divide</a:t>
            </a:r>
          </a:p>
        </p:txBody>
      </p:sp>
      <p:sp>
        <p:nvSpPr>
          <p:cNvPr id="7008" name="tb"/>
          <p:cNvSpPr txBox="1"/>
          <p:nvPr/>
        </p:nvSpPr>
        <p:spPr>
          <a:xfrm>
            <a:off x="6400800" y="1879600"/>
            <a:ext cx="5207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Transpose C to get adj(A); then divide every entry by det(A) = 1.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09" name="tb"/>
              <p:cNvSpPr txBox="1"/>
              <p:nvPr/>
            </p:nvSpPr>
            <p:spPr>
              <a:xfrm>
                <a:off x="6400800" y="2616200"/>
                <a:ext cx="52070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𝑎𝑑𝑗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sSup>
                        <m:sSupPr>
                          <m:ctrlP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16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0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616200"/>
                <a:ext cx="5207000" cy="355600"/>
              </a:xfrm>
              <a:prstGeom prst="rect">
                <a:avLst/>
              </a:prstGeom>
              <a:blipFill>
                <a:blip r:embed="rId4"/>
                <a:stretch>
                  <a:fillRect l="-1463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10" name="box"/>
          <p:cNvSpPr/>
          <p:nvPr/>
        </p:nvSpPr>
        <p:spPr>
          <a:xfrm>
            <a:off x="6400800" y="3098800"/>
            <a:ext cx="5232400" cy="1981200"/>
          </a:xfrm>
          <a:prstGeom prst="roundRect">
            <a:avLst>
              <a:gd name="adj" fmla="val 6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11" name="tb"/>
          <p:cNvSpPr txBox="1"/>
          <p:nvPr/>
        </p:nvSpPr>
        <p:spPr>
          <a:xfrm>
            <a:off x="6654800" y="3810000"/>
            <a:ext cx="101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dirty="0">
                <a:solidFill>
                  <a:srgbClr val="333333"/>
                </a:solidFill>
              </a:rPr>
              <a:t>A⁻¹ 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12" name="tb"/>
              <p:cNvSpPr txBox="1"/>
              <p:nvPr/>
            </p:nvSpPr>
            <p:spPr>
              <a:xfrm>
                <a:off x="7620000" y="3276600"/>
                <a:ext cx="3810000" cy="177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−24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−15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7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01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3276600"/>
                <a:ext cx="3810000" cy="1778000"/>
              </a:xfrm>
              <a:prstGeom prst="rect">
                <a:avLst/>
              </a:prstGeom>
              <a:blipFill>
                <a:blip r:embed="rId5"/>
                <a:stretch>
                  <a:fillRect t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13" name="tb"/>
          <p:cNvSpPr txBox="1"/>
          <p:nvPr/>
        </p:nvSpPr>
        <p:spPr>
          <a:xfrm>
            <a:off x="6400800" y="52070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7AB648"/>
                </a:solidFill>
              </a:rPr>
              <a:t>Check:  </a:t>
            </a:r>
            <a:r>
              <a:rPr lang="en-US" sz="1400" b="1" i="1" dirty="0">
                <a:solidFill>
                  <a:srgbClr val="7AB648"/>
                </a:solidFill>
              </a:rPr>
              <a:t>A · A⁻¹ = I</a:t>
            </a:r>
          </a:p>
        </p:txBody>
      </p:sp>
    </p:spTree>
    <p:extLst>
      <p:ext uri="{BB962C8B-B14F-4D97-AF65-F5344CB8AC3E}">
        <p14:creationId xmlns:p14="http://schemas.microsoft.com/office/powerpoint/2010/main" val="79914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(1)(0) − (4)(6)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−24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(1+1)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(+)(−24)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−24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−24 at position (1,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34691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(0)(0) − (4)(5)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(1+2)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(−)(−20)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20 at position (1,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79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(0)(6) − (1)(5)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(1+3)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(+)(−5)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−5 at position (1,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865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(2)(0) − (3)(6)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−18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(2+1)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(−)(−18)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18 at position (2,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6263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(1)(0) − (3)(5)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(2+2)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(+)(−15)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−15 at position (2,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58375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(1)(6) − (2)(5)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(2+3)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(−)(−4)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4 at position (2,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134691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(2)(4) − (3)(1)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(3+1)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(+)(5)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5 at position (3,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404503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28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(1)(4) − (3)(0)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(3+2)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(−)(4)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−4 at position (3,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94335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4" name="tb"/>
              <p:cNvSpPr txBox="1"/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(1)(1) − (2)(0) = </m:t>
                      </m:r>
                      <m:r>
                        <a:rPr lang="en-US" sz="1450" b="1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4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632200"/>
                <a:ext cx="5232400" cy="330200"/>
              </a:xfrm>
              <a:prstGeom prst="rect">
                <a:avLst/>
              </a:prstGeom>
              <a:blipFill>
                <a:blip r:embed="rId2"/>
                <a:stretch>
                  <a:fillRect l="-14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5" name="tb"/>
              <p:cNvSpPr txBox="1"/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4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(3+3)</m:t>
                          </m:r>
                        </m:sup>
                      </m:sSup>
                      <m:r>
                        <a:rPr lang="en-US" sz="14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5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064000"/>
                <a:ext cx="5232400" cy="330200"/>
              </a:xfrm>
              <a:prstGeom prst="rect">
                <a:avLst/>
              </a:prstGeom>
              <a:blipFill>
                <a:blip r:embed="rId3"/>
                <a:stretch>
                  <a:fillRect l="-1699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6" name="tb"/>
              <p:cNvSpPr txBox="1"/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(+)(1) = </m:t>
                      </m:r>
                      <m:r>
                        <a:rPr lang="en-US" sz="15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4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495800"/>
                <a:ext cx="5232400" cy="330200"/>
              </a:xfrm>
              <a:prstGeom prst="rect">
                <a:avLst/>
              </a:prstGeom>
              <a:blipFill>
                <a:blip r:embed="rId4"/>
                <a:stretch>
                  <a:fillRect l="-1456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1 at position (3,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61670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Assemble the Cofactor Matrix C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Collect the nine cofactors Cᵢⱼ into one matrix, following the +−+ sign pattern.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nine cofactors form C — transpose it next to get the adjugate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Sign pattern  (−1)ⁱ⁺ʲ</a:t>
            </a:r>
          </a:p>
        </p:txBody>
      </p:sp>
      <p:sp>
        <p:nvSpPr>
          <p:cNvPr id="6002" name="hl"/>
          <p:cNvSpPr/>
          <p:nvPr/>
        </p:nvSpPr>
        <p:spPr>
          <a:xfrm>
            <a:off x="1727200" y="2184400"/>
            <a:ext cx="50800" cy="2082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727200" y="2184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727200" y="4216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4546600" y="2184400"/>
            <a:ext cx="50800" cy="2082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4419600" y="2184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4419600" y="4216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tb"/>
          <p:cNvSpPr txBox="1"/>
          <p:nvPr/>
        </p:nvSpPr>
        <p:spPr>
          <a:xfrm>
            <a:off x="19050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09" name="tb"/>
          <p:cNvSpPr txBox="1"/>
          <p:nvPr/>
        </p:nvSpPr>
        <p:spPr>
          <a:xfrm>
            <a:off x="27432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5814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9050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7432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35814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7432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5814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17" name="tb"/>
              <p:cNvSpPr txBox="1"/>
              <p:nvPr/>
            </p:nvSpPr>
            <p:spPr>
              <a:xfrm>
                <a:off x="558800" y="4521200"/>
                <a:ext cx="52324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17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521200"/>
                <a:ext cx="5232400" cy="355600"/>
              </a:xfrm>
              <a:prstGeom prst="rect">
                <a:avLst/>
              </a:prstGeom>
              <a:blipFill>
                <a:blip r:embed="rId2"/>
                <a:stretch>
                  <a:fillRect l="-1453" t="-357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18" name="tb"/>
          <p:cNvSpPr txBox="1"/>
          <p:nvPr/>
        </p:nvSpPr>
        <p:spPr>
          <a:xfrm>
            <a:off x="558800" y="49784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Each cofactor = signed 2×2 minor (previous slides).</a:t>
            </a:r>
          </a:p>
        </p:txBody>
      </p:sp>
      <p:sp>
        <p:nvSpPr>
          <p:cNvPr id="601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Cofactor matrix C</a:t>
            </a:r>
          </a:p>
        </p:txBody>
      </p:sp>
      <p:sp>
        <p:nvSpPr>
          <p:cNvPr id="6021" name="hl"/>
          <p:cNvSpPr/>
          <p:nvPr/>
        </p:nvSpPr>
        <p:spPr>
          <a:xfrm>
            <a:off x="7442200" y="2362200"/>
            <a:ext cx="50800" cy="2540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hl"/>
          <p:cNvSpPr/>
          <p:nvPr/>
        </p:nvSpPr>
        <p:spPr>
          <a:xfrm>
            <a:off x="7442200" y="2362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hl"/>
          <p:cNvSpPr/>
          <p:nvPr/>
        </p:nvSpPr>
        <p:spPr>
          <a:xfrm>
            <a:off x="7442200" y="4851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11023600" y="2362200"/>
            <a:ext cx="50800" cy="2540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10896600" y="2362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10896600" y="4851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tb"/>
          <p:cNvSpPr txBox="1"/>
          <p:nvPr/>
        </p:nvSpPr>
        <p:spPr>
          <a:xfrm>
            <a:off x="6553200" y="3225800"/>
            <a:ext cx="9144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</a:rPr>
              <a:t>C =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76200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7122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8044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6200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87122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98044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6200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122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8044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400800" y="51816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595959"/>
                </a:solidFill>
              </a:rPr>
              <a:t>Negative entries shown in pink.</a:t>
            </a:r>
          </a:p>
        </p:txBody>
      </p:sp>
    </p:spTree>
    <p:extLst>
      <p:ext uri="{BB962C8B-B14F-4D97-AF65-F5344CB8AC3E}">
        <p14:creationId xmlns:p14="http://schemas.microsoft.com/office/powerpoint/2010/main" val="39122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Transpose to Get the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adj(A) = Cᵀ — row i of C becomes column i of adj(A).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Transposing swaps rows and columns; the result is the adjugate, adj(A) = Cᵀ.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Cofactor matrix  C</a:t>
            </a:r>
          </a:p>
        </p:txBody>
      </p:sp>
      <p:sp>
        <p:nvSpPr>
          <p:cNvPr id="6002" name="hl"/>
          <p:cNvSpPr/>
          <p:nvPr/>
        </p:nvSpPr>
        <p:spPr>
          <a:xfrm>
            <a:off x="1524000" y="2286000"/>
            <a:ext cx="2895600" cy="889000"/>
          </a:xfrm>
          <a:prstGeom prst="rect">
            <a:avLst/>
          </a:prstGeom>
          <a:solidFill>
            <a:srgbClr val="4B2E83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524000" y="3175000"/>
            <a:ext cx="2895600" cy="889000"/>
          </a:xfrm>
          <a:prstGeom prst="rect">
            <a:avLst/>
          </a:prstGeom>
          <a:solidFill>
            <a:srgbClr val="00A7B5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524000" y="4064000"/>
            <a:ext cx="2895600" cy="889000"/>
          </a:xfrm>
          <a:prstGeom prst="rect">
            <a:avLst/>
          </a:prstGeom>
          <a:solidFill>
            <a:srgbClr val="B7A57A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3716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371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371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5212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419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419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5240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4892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34544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5240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892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4544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5240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4892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4544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5334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rows →</a:t>
            </a:r>
          </a:p>
        </p:txBody>
      </p:sp>
      <p:sp>
        <p:nvSpPr>
          <p:cNvPr id="6021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adj(A) = Cᵀ</a:t>
            </a:r>
          </a:p>
        </p:txBody>
      </p:sp>
      <p:sp>
        <p:nvSpPr>
          <p:cNvPr id="6023" name="hl"/>
          <p:cNvSpPr/>
          <p:nvPr/>
        </p:nvSpPr>
        <p:spPr>
          <a:xfrm>
            <a:off x="7112000" y="2286000"/>
            <a:ext cx="965200" cy="2667000"/>
          </a:xfrm>
          <a:prstGeom prst="rect">
            <a:avLst/>
          </a:prstGeom>
          <a:solidFill>
            <a:srgbClr val="4B2E83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8077200" y="2286000"/>
            <a:ext cx="965200" cy="2667000"/>
          </a:xfrm>
          <a:prstGeom prst="rect">
            <a:avLst/>
          </a:prstGeom>
          <a:solidFill>
            <a:srgbClr val="00A7B5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9042400" y="2286000"/>
            <a:ext cx="965200" cy="2667000"/>
          </a:xfrm>
          <a:prstGeom prst="rect">
            <a:avLst/>
          </a:prstGeom>
          <a:solidFill>
            <a:srgbClr val="B7A57A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9596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6959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959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101092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10007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10007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71120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0772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90424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71120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0772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90424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71120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0772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0424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400800" y="5334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i="1" dirty="0">
                <a:solidFill>
                  <a:srgbClr val="595959"/>
                </a:solidFill>
              </a:rPr>
              <a:t>→ columns</a:t>
            </a:r>
          </a:p>
        </p:txBody>
      </p:sp>
    </p:spTree>
    <p:extLst>
      <p:ext uri="{BB962C8B-B14F-4D97-AF65-F5344CB8AC3E}">
        <p14:creationId xmlns:p14="http://schemas.microsoft.com/office/powerpoint/2010/main" val="13566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Form the Inverse:  A⁻¹ = adj(A) / det(A)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Divide every entry of adj(A) by det(A) =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A⁻¹ = adj(A) / det(A); since det(A) = 1, the inverse equals the adjugate exactly.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1" name="tb"/>
              <p:cNvSpPr txBox="1"/>
              <p:nvPr/>
            </p:nvSpPr>
            <p:spPr>
              <a:xfrm>
                <a:off x="558800" y="1473200"/>
                <a:ext cx="52324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7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1700" b="1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𝑎𝑑𝑗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 / 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𝑑𝑒𝑡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700" b="1">
                          <a:solidFill>
                            <a:srgbClr val="4B2E8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001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473200"/>
                <a:ext cx="5232400" cy="355600"/>
              </a:xfrm>
              <a:prstGeom prst="rect">
                <a:avLst/>
              </a:prstGeom>
              <a:blipFill>
                <a:blip r:embed="rId2"/>
                <a:stretch>
                  <a:fillRect l="-1453" t="-357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2" name="tb"/>
          <p:cNvSpPr txBox="1"/>
          <p:nvPr/>
        </p:nvSpPr>
        <p:spPr>
          <a:xfrm>
            <a:off x="558800" y="20320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A⁻¹ = adj(A) / det(A)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58800" y="2616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333333"/>
                </a:solidFill>
              </a:rPr>
              <a:t>det(A) = </a:t>
            </a:r>
            <a:r>
              <a:rPr lang="en-US" sz="1500" b="1" dirty="0">
                <a:solidFill>
                  <a:srgbClr val="D1578A"/>
                </a:solidFill>
              </a:rPr>
              <a:t>1</a:t>
            </a:r>
            <a:r>
              <a:rPr lang="en-US" sz="1350" i="1" dirty="0">
                <a:solidFill>
                  <a:srgbClr val="595959"/>
                </a:solidFill>
              </a:rPr>
              <a:t>   (from the cofactor expansion)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31750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adj(A) = transpose of cofactor matrix C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58800" y="3810000"/>
            <a:ext cx="523240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Dividing by 1 changes nothing — so the inverse is exactly adj(A). Always finish by checking A·A⁻¹ = I.</a:t>
            </a:r>
          </a:p>
        </p:txBody>
      </p:sp>
      <p:sp>
        <p:nvSpPr>
          <p:cNvPr id="6006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7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The inverse</a:t>
            </a:r>
          </a:p>
        </p:txBody>
      </p:sp>
      <p:sp>
        <p:nvSpPr>
          <p:cNvPr id="6008" name="box"/>
          <p:cNvSpPr/>
          <p:nvPr/>
        </p:nvSpPr>
        <p:spPr>
          <a:xfrm>
            <a:off x="6858000" y="1905000"/>
            <a:ext cx="4572000" cy="2667000"/>
          </a:xfrm>
          <a:prstGeom prst="roundRect">
            <a:avLst>
              <a:gd name="adj" fmla="val 8000"/>
            </a:avLst>
          </a:prstGeom>
          <a:solidFill>
            <a:srgbClr val="F4FAEF"/>
          </a:solidFill>
          <a:ln w="22225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7061200" y="2235200"/>
            <a:ext cx="8890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333333"/>
                </a:solidFill>
              </a:rPr>
              <a:t>A⁻¹ =</a:t>
            </a:r>
          </a:p>
        </p:txBody>
      </p:sp>
      <p:sp>
        <p:nvSpPr>
          <p:cNvPr id="6010" name="hl"/>
          <p:cNvSpPr/>
          <p:nvPr/>
        </p:nvSpPr>
        <p:spPr>
          <a:xfrm>
            <a:off x="8051800" y="22098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8051800" y="22098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8051800" y="4394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hl"/>
          <p:cNvSpPr/>
          <p:nvPr/>
        </p:nvSpPr>
        <p:spPr>
          <a:xfrm>
            <a:off x="11099800" y="22098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hl"/>
          <p:cNvSpPr/>
          <p:nvPr/>
        </p:nvSpPr>
        <p:spPr>
          <a:xfrm>
            <a:off x="10972800" y="22098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hl"/>
          <p:cNvSpPr/>
          <p:nvPr/>
        </p:nvSpPr>
        <p:spPr>
          <a:xfrm>
            <a:off x="10972800" y="4394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tb"/>
          <p:cNvSpPr txBox="1"/>
          <p:nvPr/>
        </p:nvSpPr>
        <p:spPr>
          <a:xfrm>
            <a:off x="82296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91440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00584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82296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91440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100584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82296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91440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0584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400800" y="48260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500" b="1" i="1" dirty="0">
                <a:solidFill>
                  <a:srgbClr val="7AB648"/>
                </a:solidFill>
              </a:rPr>
              <a:t>Check:  A · A⁻¹ = I  ✓</a:t>
            </a:r>
          </a:p>
        </p:txBody>
      </p:sp>
    </p:spTree>
    <p:extLst>
      <p:ext uri="{BB962C8B-B14F-4D97-AF65-F5344CB8AC3E}">
        <p14:creationId xmlns:p14="http://schemas.microsoft.com/office/powerpoint/2010/main" val="402887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GEOMETRY OF VECTORS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Distance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Dot product, norm, and cosine similarity — measuring vectors and the gaps between them.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900" name="dline"/>
          <p:cNvCxnSpPr/>
          <p:nvPr/>
        </p:nvCxnSpPr>
        <p:spPr>
          <a:xfrm flipV="1">
            <a:off x="5448300" y="2019300"/>
            <a:ext cx="1524000" cy="444500"/>
          </a:xfrm>
          <a:prstGeom prst="line">
            <a:avLst/>
          </a:prstGeom>
          <a:ln w="28575">
            <a:solidFill>
              <a:srgbClr val="B7A57A"/>
            </a:solidFill>
            <a:prstDash val="dash"/>
          </a:ln>
        </p:spPr>
      </p:cxnSp>
      <p:sp>
        <p:nvSpPr>
          <p:cNvPr id="902" name="dot"/>
          <p:cNvSpPr/>
          <p:nvPr/>
        </p:nvSpPr>
        <p:spPr>
          <a:xfrm>
            <a:off x="5334000" y="2349500"/>
            <a:ext cx="228600" cy="2286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dot"/>
          <p:cNvSpPr/>
          <p:nvPr/>
        </p:nvSpPr>
        <p:spPr>
          <a:xfrm>
            <a:off x="6858000" y="1905000"/>
            <a:ext cx="228600" cy="2286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dlbl"/>
          <p:cNvSpPr txBox="1"/>
          <p:nvPr/>
        </p:nvSpPr>
        <p:spPr>
          <a:xfrm>
            <a:off x="5943600" y="1905000"/>
            <a:ext cx="3810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500" b="1" i="1" dirty="0">
                <a:solidFill>
                  <a:srgbClr val="B7A57A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1472453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C77ADC5E-4BAF-0540-8AEA-EB74CA340354}"/>
              </a:ext>
            </a:extLst>
          </p:cNvPr>
          <p:cNvSpPr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69FDA40E-51B5-FB47-B3E5-86469F6D5E72}"/>
              </a:ext>
            </a:extLst>
          </p:cNvPr>
          <p:cNvSpPr txBox="1"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Distance — a formal definition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DE630B4D-EF8A-DB4A-B933-9080D8356C7D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From topology: a distance (or metric) is a function that measures how far apart two points are in a set</a:t>
            </a:r>
          </a:p>
        </p:txBody>
      </p:sp>
      <p:sp>
        <p:nvSpPr>
          <p:cNvPr id="23" name="DefCard">
            <a:extLst>
              <a:ext uri="{FF2B5EF4-FFF2-40B4-BE49-F238E27FC236}">
                <a16:creationId xmlns:a16="http://schemas.microsoft.com/office/drawing/2014/main" id="{31CEF056-F36E-DC4D-97A7-D007F21DB446}"/>
              </a:ext>
            </a:extLst>
          </p:cNvPr>
          <p:cNvSpPr/>
          <p:nvPr/>
        </p:nvSpPr>
        <p:spPr>
          <a:xfrm>
            <a:off x="381000" y="1333500"/>
            <a:ext cx="11430000" cy="1333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Label">
            <a:extLst>
              <a:ext uri="{FF2B5EF4-FFF2-40B4-BE49-F238E27FC236}">
                <a16:creationId xmlns:a16="http://schemas.microsoft.com/office/drawing/2014/main" id="{2499AB30-69B0-824E-814D-49455B9EB098}"/>
              </a:ext>
            </a:extLst>
          </p:cNvPr>
          <p:cNvSpPr txBox="1"/>
          <p:nvPr/>
        </p:nvSpPr>
        <p:spPr>
          <a:xfrm>
            <a:off x="571500" y="14224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25" name="DefText">
            <a:extLst>
              <a:ext uri="{FF2B5EF4-FFF2-40B4-BE49-F238E27FC236}">
                <a16:creationId xmlns:a16="http://schemas.microsoft.com/office/drawing/2014/main" id="{6A8EF6B4-5824-0D4E-A8FE-7997F009A649}"/>
              </a:ext>
            </a:extLst>
          </p:cNvPr>
          <p:cNvSpPr txBox="1"/>
          <p:nvPr/>
        </p:nvSpPr>
        <p:spPr>
          <a:xfrm>
            <a:off x="571500" y="1676400"/>
            <a:ext cx="11049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 distance on a set X is a function   d : X × X  →  ℝ</a:t>
            </a:r>
          </a:p>
        </p:txBody>
      </p:sp>
      <p:sp>
        <p:nvSpPr>
          <p:cNvPr id="26" name="DefText2">
            <a:extLst>
              <a:ext uri="{FF2B5EF4-FFF2-40B4-BE49-F238E27FC236}">
                <a16:creationId xmlns:a16="http://schemas.microsoft.com/office/drawing/2014/main" id="{1958CAE9-6746-4943-B841-8E8513B4D236}"/>
              </a:ext>
            </a:extLst>
          </p:cNvPr>
          <p:cNvSpPr txBox="1"/>
          <p:nvPr/>
        </p:nvSpPr>
        <p:spPr>
          <a:xfrm>
            <a:off x="571500" y="2057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that assigns a non-negative real number d(x, y) to every pair of points x, y ∈ X.</a:t>
            </a:r>
          </a:p>
        </p:txBody>
      </p:sp>
      <p:sp>
        <p:nvSpPr>
          <p:cNvPr id="27" name="DefText3">
            <a:extLst>
              <a:ext uri="{FF2B5EF4-FFF2-40B4-BE49-F238E27FC236}">
                <a16:creationId xmlns:a16="http://schemas.microsoft.com/office/drawing/2014/main" id="{988CB359-547F-8841-96E0-DC36F75D6A5A}"/>
              </a:ext>
            </a:extLst>
          </p:cNvPr>
          <p:cNvSpPr txBox="1"/>
          <p:nvPr/>
        </p:nvSpPr>
        <p:spPr>
          <a:xfrm>
            <a:off x="571500" y="23368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4B2E83"/>
                </a:solidFill>
              </a:rPr>
              <a:t>The pair (X, d) is called a metric space.</a:t>
            </a:r>
          </a:p>
        </p:txBody>
      </p:sp>
      <p:sp>
        <p:nvSpPr>
          <p:cNvPr id="37" name="Card0">
            <a:extLst>
              <a:ext uri="{FF2B5EF4-FFF2-40B4-BE49-F238E27FC236}">
                <a16:creationId xmlns:a16="http://schemas.microsoft.com/office/drawing/2014/main" id="{622220BB-1C82-744E-AA46-F1FAD9B1C310}"/>
              </a:ext>
            </a:extLst>
          </p:cNvPr>
          <p:cNvSpPr/>
          <p:nvPr/>
        </p:nvSpPr>
        <p:spPr>
          <a:xfrm>
            <a:off x="4826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Hdr0">
            <a:extLst>
              <a:ext uri="{FF2B5EF4-FFF2-40B4-BE49-F238E27FC236}">
                <a16:creationId xmlns:a16="http://schemas.microsoft.com/office/drawing/2014/main" id="{D2765C63-5144-AB48-8CC8-B9C3B313B857}"/>
              </a:ext>
            </a:extLst>
          </p:cNvPr>
          <p:cNvSpPr/>
          <p:nvPr/>
        </p:nvSpPr>
        <p:spPr>
          <a:xfrm>
            <a:off x="482600" y="2857500"/>
            <a:ext cx="36195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CardNum0">
            <a:extLst>
              <a:ext uri="{FF2B5EF4-FFF2-40B4-BE49-F238E27FC236}">
                <a16:creationId xmlns:a16="http://schemas.microsoft.com/office/drawing/2014/main" id="{9493AE23-3574-9A46-879C-9E90C38A376F}"/>
              </a:ext>
            </a:extLst>
          </p:cNvPr>
          <p:cNvSpPr txBox="1"/>
          <p:nvPr/>
        </p:nvSpPr>
        <p:spPr>
          <a:xfrm>
            <a:off x="5842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CardTitle0">
            <a:extLst>
              <a:ext uri="{FF2B5EF4-FFF2-40B4-BE49-F238E27FC236}">
                <a16:creationId xmlns:a16="http://schemas.microsoft.com/office/drawing/2014/main" id="{38633465-0175-AF4F-BE57-9FC6DA87AE35}"/>
              </a:ext>
            </a:extLst>
          </p:cNvPr>
          <p:cNvSpPr txBox="1"/>
          <p:nvPr/>
        </p:nvSpPr>
        <p:spPr>
          <a:xfrm>
            <a:off x="9144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Same set, two points</a:t>
            </a:r>
          </a:p>
        </p:txBody>
      </p:sp>
      <p:sp>
        <p:nvSpPr>
          <p:cNvPr id="41" name="CardBody0">
            <a:extLst>
              <a:ext uri="{FF2B5EF4-FFF2-40B4-BE49-F238E27FC236}">
                <a16:creationId xmlns:a16="http://schemas.microsoft.com/office/drawing/2014/main" id="{2DB0351F-3204-EF4A-984F-68FFE1AD97C8}"/>
              </a:ext>
            </a:extLst>
          </p:cNvPr>
          <p:cNvSpPr txBox="1"/>
          <p:nvPr/>
        </p:nvSpPr>
        <p:spPr>
          <a:xfrm>
            <a:off x="6604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x and y belong to the SAME set X — apples-to-apples comparison.</a:t>
            </a:r>
          </a:p>
        </p:txBody>
      </p:sp>
      <p:sp>
        <p:nvSpPr>
          <p:cNvPr id="42" name="Card1">
            <a:extLst>
              <a:ext uri="{FF2B5EF4-FFF2-40B4-BE49-F238E27FC236}">
                <a16:creationId xmlns:a16="http://schemas.microsoft.com/office/drawing/2014/main" id="{24850BB1-1520-8649-A2BC-199D1D163CD5}"/>
              </a:ext>
            </a:extLst>
          </p:cNvPr>
          <p:cNvSpPr/>
          <p:nvPr/>
        </p:nvSpPr>
        <p:spPr>
          <a:xfrm>
            <a:off x="43815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Hdr1">
            <a:extLst>
              <a:ext uri="{FF2B5EF4-FFF2-40B4-BE49-F238E27FC236}">
                <a16:creationId xmlns:a16="http://schemas.microsoft.com/office/drawing/2014/main" id="{9AD5D422-C94F-8A42-910E-6275A55EE42F}"/>
              </a:ext>
            </a:extLst>
          </p:cNvPr>
          <p:cNvSpPr/>
          <p:nvPr/>
        </p:nvSpPr>
        <p:spPr>
          <a:xfrm>
            <a:off x="4381500" y="2857500"/>
            <a:ext cx="36195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CardNum1">
            <a:extLst>
              <a:ext uri="{FF2B5EF4-FFF2-40B4-BE49-F238E27FC236}">
                <a16:creationId xmlns:a16="http://schemas.microsoft.com/office/drawing/2014/main" id="{5007EEB8-8A52-4648-BC8C-A377F1851DF9}"/>
              </a:ext>
            </a:extLst>
          </p:cNvPr>
          <p:cNvSpPr txBox="1"/>
          <p:nvPr/>
        </p:nvSpPr>
        <p:spPr>
          <a:xfrm>
            <a:off x="44831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CardTitle1">
            <a:extLst>
              <a:ext uri="{FF2B5EF4-FFF2-40B4-BE49-F238E27FC236}">
                <a16:creationId xmlns:a16="http://schemas.microsoft.com/office/drawing/2014/main" id="{17B9B373-91B3-FC40-86BD-06BC6B8674EB}"/>
              </a:ext>
            </a:extLst>
          </p:cNvPr>
          <p:cNvSpPr txBox="1"/>
          <p:nvPr/>
        </p:nvSpPr>
        <p:spPr>
          <a:xfrm>
            <a:off x="48133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Output is a real number</a:t>
            </a:r>
          </a:p>
        </p:txBody>
      </p:sp>
      <p:sp>
        <p:nvSpPr>
          <p:cNvPr id="46" name="CardBody1">
            <a:extLst>
              <a:ext uri="{FF2B5EF4-FFF2-40B4-BE49-F238E27FC236}">
                <a16:creationId xmlns:a16="http://schemas.microsoft.com/office/drawing/2014/main" id="{CDD926E1-0679-8F46-A565-09C2DE11F59B}"/>
              </a:ext>
            </a:extLst>
          </p:cNvPr>
          <p:cNvSpPr txBox="1"/>
          <p:nvPr/>
        </p:nvSpPr>
        <p:spPr>
          <a:xfrm>
            <a:off x="45593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d(x, y) ∈ ℝ — a single scalar that quantifies separation.</a:t>
            </a:r>
          </a:p>
        </p:txBody>
      </p:sp>
      <p:sp>
        <p:nvSpPr>
          <p:cNvPr id="47" name="Card2">
            <a:extLst>
              <a:ext uri="{FF2B5EF4-FFF2-40B4-BE49-F238E27FC236}">
                <a16:creationId xmlns:a16="http://schemas.microsoft.com/office/drawing/2014/main" id="{2185F8D7-9CC6-0D48-99F4-3DA98374B2BE}"/>
              </a:ext>
            </a:extLst>
          </p:cNvPr>
          <p:cNvSpPr/>
          <p:nvPr/>
        </p:nvSpPr>
        <p:spPr>
          <a:xfrm>
            <a:off x="82804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CardHdr2">
            <a:extLst>
              <a:ext uri="{FF2B5EF4-FFF2-40B4-BE49-F238E27FC236}">
                <a16:creationId xmlns:a16="http://schemas.microsoft.com/office/drawing/2014/main" id="{E75FCD8F-9161-4E40-9B91-CB4AD405D653}"/>
              </a:ext>
            </a:extLst>
          </p:cNvPr>
          <p:cNvSpPr/>
          <p:nvPr/>
        </p:nvSpPr>
        <p:spPr>
          <a:xfrm>
            <a:off x="8280400" y="2857500"/>
            <a:ext cx="36195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CardNum2">
            <a:extLst>
              <a:ext uri="{FF2B5EF4-FFF2-40B4-BE49-F238E27FC236}">
                <a16:creationId xmlns:a16="http://schemas.microsoft.com/office/drawing/2014/main" id="{BC9B6994-D68C-0C4A-8EC1-28CE3BA07CA8}"/>
              </a:ext>
            </a:extLst>
          </p:cNvPr>
          <p:cNvSpPr txBox="1"/>
          <p:nvPr/>
        </p:nvSpPr>
        <p:spPr>
          <a:xfrm>
            <a:off x="83820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CardTitle2">
            <a:extLst>
              <a:ext uri="{FF2B5EF4-FFF2-40B4-BE49-F238E27FC236}">
                <a16:creationId xmlns:a16="http://schemas.microsoft.com/office/drawing/2014/main" id="{D02B1FA6-8E81-8345-89C1-540C370D2B4D}"/>
              </a:ext>
            </a:extLst>
          </p:cNvPr>
          <p:cNvSpPr txBox="1"/>
          <p:nvPr/>
        </p:nvSpPr>
        <p:spPr>
          <a:xfrm>
            <a:off x="87122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Geometry, not just numbers</a:t>
            </a:r>
          </a:p>
        </p:txBody>
      </p:sp>
      <p:sp>
        <p:nvSpPr>
          <p:cNvPr id="51" name="CardBody2">
            <a:extLst>
              <a:ext uri="{FF2B5EF4-FFF2-40B4-BE49-F238E27FC236}">
                <a16:creationId xmlns:a16="http://schemas.microsoft.com/office/drawing/2014/main" id="{67F11CB2-2F74-2846-BD03-0437EEC2D4DF}"/>
              </a:ext>
            </a:extLst>
          </p:cNvPr>
          <p:cNvSpPr txBox="1"/>
          <p:nvPr/>
        </p:nvSpPr>
        <p:spPr>
          <a:xfrm>
            <a:off x="84582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turns a bare set into a geometric space — we can speak of 'near', 'far', and 'between'.</a:t>
            </a:r>
          </a:p>
        </p:txBody>
      </p:sp>
      <p:sp>
        <p:nvSpPr>
          <p:cNvPr id="52" name="ExStrip">
            <a:extLst>
              <a:ext uri="{FF2B5EF4-FFF2-40B4-BE49-F238E27FC236}">
                <a16:creationId xmlns:a16="http://schemas.microsoft.com/office/drawing/2014/main" id="{319B74D2-9764-6141-BFC5-E73F4D59039C}"/>
              </a:ext>
            </a:extLst>
          </p:cNvPr>
          <p:cNvSpPr/>
          <p:nvPr/>
        </p:nvSpPr>
        <p:spPr>
          <a:xfrm>
            <a:off x="381000" y="4889500"/>
            <a:ext cx="11430000" cy="76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ExLabel">
            <a:extLst>
              <a:ext uri="{FF2B5EF4-FFF2-40B4-BE49-F238E27FC236}">
                <a16:creationId xmlns:a16="http://schemas.microsoft.com/office/drawing/2014/main" id="{21E6C214-1940-5448-8CB5-78F76AD6B278}"/>
              </a:ext>
            </a:extLst>
          </p:cNvPr>
          <p:cNvSpPr txBox="1"/>
          <p:nvPr/>
        </p:nvSpPr>
        <p:spPr>
          <a:xfrm>
            <a:off x="571500" y="49657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EXAMPLE</a:t>
            </a:r>
          </a:p>
        </p:txBody>
      </p:sp>
      <p:sp>
        <p:nvSpPr>
          <p:cNvPr id="54" name="ExText">
            <a:extLst>
              <a:ext uri="{FF2B5EF4-FFF2-40B4-BE49-F238E27FC236}">
                <a16:creationId xmlns:a16="http://schemas.microsoft.com/office/drawing/2014/main" id="{E8E5F123-41F8-3E46-9210-96713CA26722}"/>
              </a:ext>
            </a:extLst>
          </p:cNvPr>
          <p:cNvSpPr txBox="1"/>
          <p:nvPr/>
        </p:nvSpPr>
        <p:spPr>
          <a:xfrm>
            <a:off x="571500" y="5207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</a:rPr>
              <a:t>If X = ℝ² and x = (1, 2), y = (4, 6), then d(x, y) measures how far apart these two points are in the plane.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4E909402-A0AF-384C-BEE0-7559ABF23678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8ACA0D97-D5F1-424B-B711-2BA7CF20383D}"/>
              </a:ext>
            </a:extLst>
          </p:cNvPr>
          <p:cNvSpPr txBox="1"/>
          <p:nvPr/>
        </p:nvSpPr>
        <p:spPr>
          <a:xfrm>
            <a:off x="508000" y="58420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</a:rPr>
              <a:t>A distance is the rulebook that turns a bare collection of objects into a space we can measure</a:t>
            </a:r>
          </a:p>
        </p:txBody>
      </p:sp>
    </p:spTree>
    <p:extLst>
      <p:ext uri="{BB962C8B-B14F-4D97-AF65-F5344CB8AC3E}">
        <p14:creationId xmlns:p14="http://schemas.microsoft.com/office/powerpoint/2010/main" val="214384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  <p:bldP spid="54" grpId="0"/>
      <p:bldP spid="55" grpId="0" animBg="1"/>
      <p:bldP spid="56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Dot Product  a · b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Pair up components and add — a single number measuring how much two vectors align.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a·b pairs components and equals ‖a‖‖b‖cosθ — positive when aligned, zero when perpendicular.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219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778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3368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8956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4544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013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572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219200" y="5283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219200" y="4724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219200" y="4165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219200" y="3606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219200" y="3048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219200" y="2489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219200" y="1930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219200" y="5273040"/>
            <a:ext cx="3352800" cy="1905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209040" y="1930400"/>
            <a:ext cx="1905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676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2352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7940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528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911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470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016000" y="46482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16000" y="40894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016000" y="35306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016000" y="29718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016000" y="24130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016000" y="18542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29" name="seg"/>
          <p:cNvCxnSpPr/>
          <p:nvPr/>
        </p:nvCxnSpPr>
        <p:spPr>
          <a:xfrm>
            <a:off x="1778000" y="3606800"/>
            <a:ext cx="361576" cy="1446306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cxnSp>
        <p:nvCxnSpPr>
          <p:cNvPr id="6030" name="vec"/>
          <p:cNvCxnSpPr/>
          <p:nvPr/>
        </p:nvCxnSpPr>
        <p:spPr>
          <a:xfrm flipV="1">
            <a:off x="1219200" y="4724400"/>
            <a:ext cx="2235200" cy="5588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6031" name="vec"/>
          <p:cNvCxnSpPr/>
          <p:nvPr/>
        </p:nvCxnSpPr>
        <p:spPr>
          <a:xfrm flipV="1">
            <a:off x="1219200" y="3606800"/>
            <a:ext cx="558800" cy="16764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sp>
        <p:nvSpPr>
          <p:cNvPr id="6032" name="tb"/>
          <p:cNvSpPr txBox="1"/>
          <p:nvPr/>
        </p:nvSpPr>
        <p:spPr>
          <a:xfrm>
            <a:off x="3505200" y="4521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4B2E83"/>
                </a:solidFill>
              </a:rPr>
              <a:t>a = (4,1)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1828800" y="3378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00A7B5"/>
                </a:solidFill>
              </a:rPr>
              <a:t>b = (1,3)</a:t>
            </a:r>
          </a:p>
        </p:txBody>
      </p:sp>
      <p:sp>
        <p:nvSpPr>
          <p:cNvPr id="6034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6400800" y="1473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Component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36" name="tb"/>
              <p:cNvSpPr txBox="1"/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3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37" name="tb"/>
              <p:cNvSpPr txBox="1"/>
              <p:nvPr/>
            </p:nvSpPr>
            <p:spPr>
              <a:xfrm>
                <a:off x="6400800" y="23622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(4)(1) + (1)(3) = 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37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362200"/>
                <a:ext cx="5232400" cy="381000"/>
              </a:xfrm>
              <a:prstGeom prst="rect">
                <a:avLst/>
              </a:prstGeom>
              <a:blipFill>
                <a:blip r:embed="rId3"/>
                <a:stretch>
                  <a:fillRect t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38" name="tb"/>
          <p:cNvSpPr txBox="1"/>
          <p:nvPr/>
        </p:nvSpPr>
        <p:spPr>
          <a:xfrm>
            <a:off x="6400800" y="2997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Geometric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39" name="tb"/>
              <p:cNvSpPr txBox="1"/>
              <p:nvPr/>
            </p:nvSpPr>
            <p:spPr>
              <a:xfrm>
                <a:off x="6400800" y="3429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  <a:latin typeface="Cambria Math"/>
                        </a:rPr>
                        <m:t>cos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3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429000"/>
                <a:ext cx="5232400" cy="381000"/>
              </a:xfrm>
              <a:prstGeom prst="rect">
                <a:avLst/>
              </a:prstGeom>
              <a:blipFill>
                <a:blip r:embed="rId4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0" name="box"/>
          <p:cNvSpPr/>
          <p:nvPr/>
        </p:nvSpPr>
        <p:spPr>
          <a:xfrm>
            <a:off x="6400800" y="4089400"/>
            <a:ext cx="5232400" cy="1473200"/>
          </a:xfrm>
          <a:prstGeom prst="roundRect">
            <a:avLst>
              <a:gd name="adj" fmla="val 16000"/>
            </a:avLst>
          </a:prstGeom>
          <a:solidFill>
            <a:srgbClr val="F4FA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6629400" y="4292600"/>
            <a:ext cx="4775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•  &gt; 0  vectors point the same way</a:t>
            </a:r>
          </a:p>
          <a:p>
            <a:pPr algn="l"/>
            <a:r>
              <a:rPr lang="en-US" sz="1400" dirty="0">
                <a:solidFill>
                  <a:srgbClr val="333333"/>
                </a:solidFill>
              </a:rPr>
              <a:t>•  = 0  vectors are perpendicular</a:t>
            </a:r>
          </a:p>
          <a:p>
            <a:pPr algn="l"/>
            <a:r>
              <a:rPr lang="en-US" sz="1400" dirty="0">
                <a:solidFill>
                  <a:srgbClr val="333333"/>
                </a:solidFill>
              </a:rPr>
              <a:t>•  &lt; 0  vectors point opposite ways</a:t>
            </a:r>
          </a:p>
        </p:txBody>
      </p:sp>
    </p:spTree>
    <p:extLst>
      <p:ext uri="{BB962C8B-B14F-4D97-AF65-F5344CB8AC3E}">
        <p14:creationId xmlns:p14="http://schemas.microsoft.com/office/powerpoint/2010/main" val="271463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Norm  ‖a‖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length of a vector — its straight-line distance from the origin.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norm is a vector's length: ‖a‖ = √(a·a), the distance from the origin to its tip.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219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778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3368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8956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4544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013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572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219200" y="5283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219200" y="4724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219200" y="4165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219200" y="3606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219200" y="3048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219200" y="2489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219200" y="1930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219200" y="52743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210310" y="19304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117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676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2352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7940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3528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911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470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16000" y="4648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016000" y="4089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016000" y="3530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016000" y="2971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016000" y="2413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016000" y="1854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30" name="seg"/>
          <p:cNvCxnSpPr/>
          <p:nvPr/>
        </p:nvCxnSpPr>
        <p:spPr>
          <a:xfrm>
            <a:off x="1219200" y="5283200"/>
            <a:ext cx="2235200" cy="0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cxnSp>
        <p:nvCxnSpPr>
          <p:cNvPr id="6031" name="seg"/>
          <p:cNvCxnSpPr/>
          <p:nvPr/>
        </p:nvCxnSpPr>
        <p:spPr>
          <a:xfrm flipV="1">
            <a:off x="3454400" y="3606800"/>
            <a:ext cx="0" cy="1676400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sp>
        <p:nvSpPr>
          <p:cNvPr id="6032" name="r"/>
          <p:cNvSpPr/>
          <p:nvPr/>
        </p:nvSpPr>
        <p:spPr>
          <a:xfrm>
            <a:off x="3276600" y="5105400"/>
            <a:ext cx="177800" cy="2032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r"/>
          <p:cNvSpPr/>
          <p:nvPr/>
        </p:nvSpPr>
        <p:spPr>
          <a:xfrm>
            <a:off x="3276600" y="5105400"/>
            <a:ext cx="20320" cy="1778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6034" name="vec"/>
          <p:cNvCxnSpPr/>
          <p:nvPr/>
        </p:nvCxnSpPr>
        <p:spPr>
          <a:xfrm flipV="1">
            <a:off x="1219200" y="3606800"/>
            <a:ext cx="2235200" cy="16764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sp>
        <p:nvSpPr>
          <p:cNvPr id="6035" name="tb"/>
          <p:cNvSpPr txBox="1"/>
          <p:nvPr/>
        </p:nvSpPr>
        <p:spPr>
          <a:xfrm>
            <a:off x="3530600" y="33528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 = (4, 3)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3530600" y="43434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3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1905000" y="41148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‖a‖ = 5</a:t>
            </a:r>
          </a:p>
        </p:txBody>
      </p:sp>
      <p:sp>
        <p:nvSpPr>
          <p:cNvPr id="603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0" name="tb"/>
              <p:cNvSpPr txBox="1"/>
              <p:nvPr/>
            </p:nvSpPr>
            <p:spPr>
              <a:xfrm>
                <a:off x="6400800" y="1524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4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524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1" name="tb"/>
              <p:cNvSpPr txBox="1"/>
              <p:nvPr/>
            </p:nvSpPr>
            <p:spPr>
              <a:xfrm>
                <a:off x="6400800" y="2159000"/>
                <a:ext cx="5232400" cy="4064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5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41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159000"/>
                <a:ext cx="5232400" cy="40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2" name="tb"/>
              <p:cNvSpPr txBox="1"/>
              <p:nvPr/>
            </p:nvSpPr>
            <p:spPr>
              <a:xfrm>
                <a:off x="6400800" y="2768600"/>
                <a:ext cx="5232400" cy="4064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4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768600"/>
                <a:ext cx="5232400" cy="406400"/>
              </a:xfrm>
              <a:prstGeom prst="rect">
                <a:avLst/>
              </a:prstGeom>
              <a:blipFill>
                <a:blip r:embed="rId4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3" name="tb"/>
          <p:cNvSpPr txBox="1"/>
          <p:nvPr/>
        </p:nvSpPr>
        <p:spPr>
          <a:xfrm>
            <a:off x="6400800" y="3378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‖a‖² = a · a   (norm from the dot product)</a:t>
            </a:r>
          </a:p>
        </p:txBody>
      </p:sp>
      <p:sp>
        <p:nvSpPr>
          <p:cNvPr id="6044" name="box"/>
          <p:cNvSpPr/>
          <p:nvPr/>
        </p:nvSpPr>
        <p:spPr>
          <a:xfrm>
            <a:off x="6324600" y="4089400"/>
            <a:ext cx="5384800" cy="1320800"/>
          </a:xfrm>
          <a:prstGeom prst="roundRect">
            <a:avLst>
              <a:gd name="adj" fmla="val 12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5" name="tb"/>
          <p:cNvSpPr txBox="1"/>
          <p:nvPr/>
        </p:nvSpPr>
        <p:spPr>
          <a:xfrm>
            <a:off x="6553200" y="4292600"/>
            <a:ext cx="49276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•  Distance from the origin to the tip.</a:t>
            </a:r>
          </a:p>
          <a:p>
            <a:pPr algn="l"/>
            <a:r>
              <a:rPr lang="en-US" sz="1450" dirty="0">
                <a:solidFill>
                  <a:srgbClr val="333333"/>
                </a:solidFill>
              </a:rPr>
              <a:t>•  Always ≥ 0; zero only for the zero vector.</a:t>
            </a:r>
          </a:p>
          <a:p>
            <a:pPr algn="l"/>
            <a:r>
              <a:rPr lang="en-US" sz="1450" dirty="0">
                <a:solidFill>
                  <a:srgbClr val="333333"/>
                </a:solidFill>
              </a:rPr>
              <a:t>•  ‖ka‖ = |k|·‖a‖  (scales with length).</a:t>
            </a:r>
          </a:p>
        </p:txBody>
      </p:sp>
    </p:spTree>
    <p:extLst>
      <p:ext uri="{BB962C8B-B14F-4D97-AF65-F5344CB8AC3E}">
        <p14:creationId xmlns:p14="http://schemas.microsoft.com/office/powerpoint/2010/main" val="391072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Cosine Similarity  cos θ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How aligned two vectors are — independent of their length.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Cosine similarity reads the angle between vectors: +1 aligned, 0 perpendicular, −1 opposite.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Angle θ between a and b</a:t>
            </a:r>
          </a:p>
        </p:txBody>
      </p:sp>
      <p:sp>
        <p:nvSpPr>
          <p:cNvPr id="6002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775200"/>
            <a:ext cx="2235200" cy="5588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3657600"/>
            <a:ext cx="558800" cy="1676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sp>
        <p:nvSpPr>
          <p:cNvPr id="6034" name="tb"/>
          <p:cNvSpPr txBox="1"/>
          <p:nvPr/>
        </p:nvSpPr>
        <p:spPr>
          <a:xfrm>
            <a:off x="3683000" y="4699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2032000" y="3403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b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1955800" y="47498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500" b="1" i="1" dirty="0">
                <a:solidFill>
                  <a:srgbClr val="D1578A"/>
                </a:solidFill>
              </a:rPr>
              <a:t>θ</a:t>
            </a:r>
          </a:p>
        </p:txBody>
      </p:sp>
      <p:sp>
        <p:nvSpPr>
          <p:cNvPr id="603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8" name="tb"/>
          <p:cNvSpPr txBox="1"/>
          <p:nvPr/>
        </p:nvSpPr>
        <p:spPr>
          <a:xfrm>
            <a:off x="6400800" y="14224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Measure direction, not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39" name="tb"/>
              <p:cNvSpPr txBox="1"/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500" i="0">
                          <a:solidFill>
                            <a:srgbClr val="333333"/>
                          </a:solidFill>
                          <a:latin typeface="Cambria Math"/>
                        </a:rPr>
                        <m:t>cos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·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 t="-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0" name="tb"/>
              <p:cNvSpPr txBox="1"/>
              <p:nvPr/>
            </p:nvSpPr>
            <p:spPr>
              <a:xfrm>
                <a:off x="6400800" y="2438400"/>
                <a:ext cx="52324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7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17</m:t>
                              </m:r>
                            </m:e>
                          </m:rad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·</m:t>
                          </m:r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≈ 0.54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38400"/>
                <a:ext cx="5232400" cy="355600"/>
              </a:xfrm>
              <a:prstGeom prst="rect">
                <a:avLst/>
              </a:prstGeom>
              <a:blipFill>
                <a:blip r:embed="rId3"/>
                <a:stretch>
                  <a:fillRect t="-357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1" name="tb"/>
          <p:cNvSpPr txBox="1"/>
          <p:nvPr/>
        </p:nvSpPr>
        <p:spPr>
          <a:xfrm>
            <a:off x="6400800" y="28448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333333"/>
                </a:solidFill>
              </a:rPr>
              <a:t>θ ≈ 58°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6400800" y="3302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Scale-invariant: cos θ ignores vector length.</a:t>
            </a:r>
          </a:p>
        </p:txBody>
      </p:sp>
      <p:sp>
        <p:nvSpPr>
          <p:cNvPr id="6043" name="box"/>
          <p:cNvSpPr/>
          <p:nvPr/>
        </p:nvSpPr>
        <p:spPr>
          <a:xfrm>
            <a:off x="6324600" y="3810000"/>
            <a:ext cx="5384800" cy="1778000"/>
          </a:xfrm>
          <a:prstGeom prst="roundRect">
            <a:avLst>
              <a:gd name="adj" fmla="val 7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tb"/>
          <p:cNvSpPr txBox="1"/>
          <p:nvPr/>
        </p:nvSpPr>
        <p:spPr>
          <a:xfrm>
            <a:off x="6553200" y="39878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7AB648"/>
                </a:solidFill>
              </a:rPr>
              <a:t>cos θ = +1</a:t>
            </a:r>
            <a:r>
              <a:rPr lang="en-US" sz="1400" dirty="0">
                <a:solidFill>
                  <a:srgbClr val="333333"/>
                </a:solidFill>
              </a:rPr>
              <a:t>   same direction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553200" y="44450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B7A57A"/>
                </a:solidFill>
              </a:rPr>
              <a:t>cos θ = 0</a:t>
            </a:r>
            <a:r>
              <a:rPr lang="en-US" sz="1400" dirty="0">
                <a:solidFill>
                  <a:srgbClr val="333333"/>
                </a:solidFill>
              </a:rPr>
              <a:t>    perpendicular (unrelated)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553200" y="49022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cos θ = −1</a:t>
            </a:r>
            <a:r>
              <a:rPr lang="en-US" sz="1400" dirty="0">
                <a:solidFill>
                  <a:srgbClr val="333333"/>
                </a:solidFill>
              </a:rPr>
              <a:t>   opposite direction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553200" y="5283200"/>
            <a:ext cx="49784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Range:  −1 ≤ cos θ ≤ +1</a:t>
            </a:r>
          </a:p>
        </p:txBody>
      </p:sp>
    </p:spTree>
    <p:extLst>
      <p:ext uri="{BB962C8B-B14F-4D97-AF65-F5344CB8AC3E}">
        <p14:creationId xmlns:p14="http://schemas.microsoft.com/office/powerpoint/2010/main" val="307848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Distance Between People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point: x = Age, y = Income. Closer points mean more similar people.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Treat each person as a vector — the distance between their points measures how similar they are.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5240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20828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6416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2004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7592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3180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8768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524000" y="5308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524000" y="4749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524000" y="4191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524000" y="3632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524000" y="3073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524000" y="2514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524000" y="1955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524000" y="52997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515110" y="19558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4224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812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5400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0988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6576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2164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7752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308100" y="46736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308100" y="41148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308100" y="35560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308100" y="29972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308100" y="24384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308100" y="18796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1905000" y="53848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889000" y="1905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Income ↑</a:t>
            </a:r>
          </a:p>
        </p:txBody>
      </p:sp>
      <p:cxnSp>
        <p:nvCxnSpPr>
          <p:cNvPr id="6032" name="seg"/>
          <p:cNvCxnSpPr/>
          <p:nvPr/>
        </p:nvCxnSpPr>
        <p:spPr>
          <a:xfrm flipV="1">
            <a:off x="2082800" y="2514600"/>
            <a:ext cx="1676400" cy="1676400"/>
          </a:xfrm>
          <a:prstGeom prst="line">
            <a:avLst/>
          </a:prstGeom>
          <a:ln w="28575" cap="rnd">
            <a:solidFill>
              <a:srgbClr val="4B2E83"/>
            </a:solidFill>
            <a:prstDash val="dash"/>
          </a:ln>
        </p:spPr>
      </p:cxnSp>
      <p:sp>
        <p:nvSpPr>
          <p:cNvPr id="6033" name="tb"/>
          <p:cNvSpPr txBox="1"/>
          <p:nvPr/>
        </p:nvSpPr>
        <p:spPr>
          <a:xfrm>
            <a:off x="2997200" y="3098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d ≈ 4.24</a:t>
            </a:r>
          </a:p>
        </p:txBody>
      </p:sp>
      <p:sp>
        <p:nvSpPr>
          <p:cNvPr id="6034" name="ph"/>
          <p:cNvSpPr/>
          <p:nvPr/>
        </p:nvSpPr>
        <p:spPr>
          <a:xfrm>
            <a:off x="1987550" y="3886200"/>
            <a:ext cx="190500" cy="1905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pb"/>
          <p:cNvSpPr/>
          <p:nvPr/>
        </p:nvSpPr>
        <p:spPr>
          <a:xfrm>
            <a:off x="1917700" y="41021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tb"/>
          <p:cNvSpPr txBox="1"/>
          <p:nvPr/>
        </p:nvSpPr>
        <p:spPr>
          <a:xfrm>
            <a:off x="1752600" y="43942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Ann</a:t>
            </a:r>
          </a:p>
        </p:txBody>
      </p:sp>
      <p:sp>
        <p:nvSpPr>
          <p:cNvPr id="6037" name="ph"/>
          <p:cNvSpPr/>
          <p:nvPr/>
        </p:nvSpPr>
        <p:spPr>
          <a:xfrm>
            <a:off x="3663950" y="2209800"/>
            <a:ext cx="190500" cy="1905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pb"/>
          <p:cNvSpPr/>
          <p:nvPr/>
        </p:nvSpPr>
        <p:spPr>
          <a:xfrm>
            <a:off x="3594100" y="24257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3429000" y="27178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Bob</a:t>
            </a:r>
          </a:p>
        </p:txBody>
      </p:sp>
      <p:sp>
        <p:nvSpPr>
          <p:cNvPr id="6040" name="ph"/>
          <p:cNvSpPr/>
          <p:nvPr/>
        </p:nvSpPr>
        <p:spPr>
          <a:xfrm>
            <a:off x="2546350" y="2768600"/>
            <a:ext cx="190500" cy="1905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pb"/>
          <p:cNvSpPr/>
          <p:nvPr/>
        </p:nvSpPr>
        <p:spPr>
          <a:xfrm>
            <a:off x="2476500" y="29845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tb"/>
          <p:cNvSpPr txBox="1"/>
          <p:nvPr/>
        </p:nvSpPr>
        <p:spPr>
          <a:xfrm>
            <a:off x="2311400" y="32766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Carol</a:t>
            </a:r>
          </a:p>
        </p:txBody>
      </p:sp>
      <p:sp>
        <p:nvSpPr>
          <p:cNvPr id="6043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Each person = a point (Age, Income)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Ann = (1, 2)  Bob = (4, 5)  Carol = (2, 4)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Euclidean distance between two people: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333333"/>
                </a:solidFill>
              </a:rPr>
              <a:t>d(Ann, Bob) = √((4−1)² + (5−2)²)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6858000" y="350520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= √(9 + 9) = √18 ≈ 4.24</a:t>
            </a:r>
          </a:p>
        </p:txBody>
      </p:sp>
      <p:sp>
        <p:nvSpPr>
          <p:cNvPr id="6049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6527800" y="43688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Smaller distance → more similar people.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6527800" y="4775200"/>
            <a:ext cx="4978400" cy="660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Tip: standardize Age and Income first, so the large income numbers don’t dominate the distance.</a:t>
            </a:r>
          </a:p>
        </p:txBody>
      </p:sp>
    </p:spTree>
    <p:extLst>
      <p:ext uri="{BB962C8B-B14F-4D97-AF65-F5344CB8AC3E}">
        <p14:creationId xmlns:p14="http://schemas.microsoft.com/office/powerpoint/2010/main" val="52415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Ann ↔ Bob: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‖Ann − Bob‖.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216400"/>
            <a:ext cx="558800" cy="1117600"/>
          </a:xfrm>
          <a:prstGeom prst="line">
            <a:avLst/>
          </a:prstGeom>
          <a:ln w="22225" cap="rnd">
            <a:solidFill>
              <a:srgbClr val="D1578A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2540000"/>
            <a:ext cx="2235200" cy="2794000"/>
          </a:xfrm>
          <a:prstGeom prst="line">
            <a:avLst/>
          </a:prstGeom>
          <a:ln w="222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1955800" y="2540000"/>
            <a:ext cx="1676400" cy="16764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1873250" y="39243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1816100" y="41021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3549650" y="224790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3492500" y="24257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082800" y="4140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</a:rPr>
              <a:t>Ann (1,2)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759200" y="2463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00A7B5"/>
                </a:solidFill>
              </a:rPr>
              <a:t>Bob (4,5)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2895600" y="3098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d ≈ 4.24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Ann = (1, 2)     Bob = (4, 5)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Bob − Ann = (3, 3)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‖(3, 3)‖ = √(9 + 9) = </a:t>
            </a:r>
            <a:r>
              <a:rPr lang="en-US" sz="1500" b="1" dirty="0">
                <a:solidFill>
                  <a:srgbClr val="4B2E83"/>
                </a:solidFill>
              </a:rPr>
              <a:t>√18 ≈ 4.24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Bob − Ann.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370930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Ann ↔ Carol: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‖Ann − Carol‖.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216400"/>
            <a:ext cx="558800" cy="1117600"/>
          </a:xfrm>
          <a:prstGeom prst="line">
            <a:avLst/>
          </a:prstGeom>
          <a:ln w="22225" cap="rnd">
            <a:solidFill>
              <a:srgbClr val="D1578A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3098800"/>
            <a:ext cx="1117600" cy="2235200"/>
          </a:xfrm>
          <a:prstGeom prst="line">
            <a:avLst/>
          </a:prstGeom>
          <a:ln w="22225" cap="rnd">
            <a:solidFill>
              <a:srgbClr val="7AB648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1955800" y="3098800"/>
            <a:ext cx="558800" cy="11176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1873250" y="39243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1816100" y="41021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2432050" y="2806700"/>
            <a:ext cx="165100" cy="1651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2374900" y="29845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108200" y="4241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</a:rPr>
              <a:t>Ann (1,2)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2667000" y="3022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B648"/>
                </a:solidFill>
              </a:rPr>
              <a:t>Carol (2,4)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1600200" y="34036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b="1" dirty="0">
                <a:solidFill>
                  <a:srgbClr val="4B2E83"/>
                </a:solidFill>
              </a:rPr>
              <a:t>d ≈ 2.24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Ann = (1, 2)     Carol = (2, 4)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Carol − Ann = (1, 2)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‖(1, 2)‖ = √(1 + 4) = </a:t>
            </a:r>
            <a:r>
              <a:rPr lang="en-US" sz="1500" b="1" dirty="0">
                <a:solidFill>
                  <a:srgbClr val="4B2E83"/>
                </a:solidFill>
              </a:rPr>
              <a:t>√5 ≈ 2.24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Carol − Ann.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305517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Carol ↔ Bob: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‖Carol − Bob‖.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3098800"/>
            <a:ext cx="1117600" cy="2235200"/>
          </a:xfrm>
          <a:prstGeom prst="line">
            <a:avLst/>
          </a:prstGeom>
          <a:ln w="22225" cap="rnd">
            <a:solidFill>
              <a:srgbClr val="7AB648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2540000"/>
            <a:ext cx="2235200" cy="2794000"/>
          </a:xfrm>
          <a:prstGeom prst="line">
            <a:avLst/>
          </a:prstGeom>
          <a:ln w="222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2514600" y="2540000"/>
            <a:ext cx="1117600" cy="5588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2432050" y="2806700"/>
            <a:ext cx="165100" cy="1651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2374900" y="29845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3549650" y="224790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3492500" y="24257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641600" y="3022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B648"/>
                </a:solidFill>
              </a:rPr>
              <a:t>Carol (2,4)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759200" y="2463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00A7B5"/>
                </a:solidFill>
              </a:rPr>
              <a:t>Bob (4,5)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2413000" y="2565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b="1" dirty="0">
                <a:solidFill>
                  <a:srgbClr val="4B2E83"/>
                </a:solidFill>
              </a:rPr>
              <a:t>d ≈ 2.24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Carol = (2, 4)     Bob = (4, 5)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Bob − Carol = (2, 1)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‖(2, 1)‖ = √(4 + 1) = </a:t>
            </a:r>
            <a:r>
              <a:rPr lang="en-US" sz="1500" b="1" dirty="0">
                <a:solidFill>
                  <a:srgbClr val="4B2E83"/>
                </a:solidFill>
              </a:rPr>
              <a:t>√5 ≈ 2.24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Bob − Carol.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263450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Properties: Dot Product · Norm · Cosine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Key rules behind the three vector measures.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Dot product pairs components, norm gives length, cosine gives direction — together they measure vectors and distances.</a:t>
            </a:r>
          </a:p>
        </p:txBody>
      </p:sp>
      <p:sp>
        <p:nvSpPr>
          <p:cNvPr id="6000" name="card"/>
          <p:cNvSpPr/>
          <p:nvPr/>
        </p:nvSpPr>
        <p:spPr>
          <a:xfrm>
            <a:off x="3048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bar"/>
          <p:cNvSpPr/>
          <p:nvPr/>
        </p:nvSpPr>
        <p:spPr>
          <a:xfrm>
            <a:off x="508000" y="1524000"/>
            <a:ext cx="1016000" cy="635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tb"/>
          <p:cNvSpPr txBox="1"/>
          <p:nvPr/>
        </p:nvSpPr>
        <p:spPr>
          <a:xfrm>
            <a:off x="5080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Dot product  a·b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334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a·b = b·a   (commutative)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a·(b+c) = a·b + a·c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a·a = ‖a‖²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a·b = 0  ⇔  a ⊥ b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(k a)·b = k (a·b)</a:t>
            </a:r>
          </a:p>
        </p:txBody>
      </p:sp>
      <p:sp>
        <p:nvSpPr>
          <p:cNvPr id="6004" name="card"/>
          <p:cNvSpPr/>
          <p:nvPr/>
        </p:nvSpPr>
        <p:spPr>
          <a:xfrm>
            <a:off x="42164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5" name="bar"/>
          <p:cNvSpPr/>
          <p:nvPr/>
        </p:nvSpPr>
        <p:spPr>
          <a:xfrm>
            <a:off x="4419600" y="1524000"/>
            <a:ext cx="1016000" cy="635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tb"/>
          <p:cNvSpPr txBox="1"/>
          <p:nvPr/>
        </p:nvSpPr>
        <p:spPr>
          <a:xfrm>
            <a:off x="44196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00A7B5"/>
                </a:solidFill>
              </a:rPr>
              <a:t>Norm  ‖a‖</a:t>
            </a:r>
          </a:p>
        </p:txBody>
      </p:sp>
      <p:sp>
        <p:nvSpPr>
          <p:cNvPr id="6007" name="tb"/>
          <p:cNvSpPr txBox="1"/>
          <p:nvPr/>
        </p:nvSpPr>
        <p:spPr>
          <a:xfrm>
            <a:off x="44450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‖a‖ ≥ 0;  = 0 only if a = 0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‖k a‖ = |k| · ‖a‖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‖a+b‖ ≤ ‖a‖ + ‖b‖   (triangle)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‖a‖ = √(a·a)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Distance from the origin</a:t>
            </a:r>
          </a:p>
        </p:txBody>
      </p:sp>
      <p:sp>
        <p:nvSpPr>
          <p:cNvPr id="6008" name="card"/>
          <p:cNvSpPr/>
          <p:nvPr/>
        </p:nvSpPr>
        <p:spPr>
          <a:xfrm>
            <a:off x="81280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bar"/>
          <p:cNvSpPr/>
          <p:nvPr/>
        </p:nvSpPr>
        <p:spPr>
          <a:xfrm>
            <a:off x="8331200" y="1524000"/>
            <a:ext cx="1016000" cy="635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83312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7AB648"/>
                </a:solidFill>
              </a:rPr>
              <a:t>Cosine similarity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83566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cos θ = (a·b) / (‖a‖‖b‖)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−1 ≤ cos θ ≤ 1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1 same dir · 0 ⊥ · −1 opposite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Scale-invariant (ignores length)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Direction, not magnitude</a:t>
            </a:r>
          </a:p>
        </p:txBody>
      </p:sp>
    </p:spTree>
    <p:extLst>
      <p:ext uri="{BB962C8B-B14F-4D97-AF65-F5344CB8AC3E}">
        <p14:creationId xmlns:p14="http://schemas.microsoft.com/office/powerpoint/2010/main" val="96158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8F523B6-0FC5-E945-9EEE-60E3E0ACC20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DFBA58F-5C09-8547-8001-F731245B17BA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Properties of a distance (metric axioms)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47AF71F-A234-FB43-A7F8-849BD2EA65A1}"/>
              </a:ext>
            </a:extLst>
          </p:cNvPr>
          <p:cNvSpPr txBox="1"/>
          <p:nvPr/>
        </p:nvSpPr>
        <p:spPr>
          <a:xfrm>
            <a:off x="381000" y="9144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A function d : X × X → ℝ is a metric only if it satisfies these four axioms:</a:t>
            </a:r>
          </a:p>
        </p:txBody>
      </p:sp>
      <p:sp>
        <p:nvSpPr>
          <p:cNvPr id="5" name="Card1">
            <a:extLst>
              <a:ext uri="{FF2B5EF4-FFF2-40B4-BE49-F238E27FC236}">
                <a16:creationId xmlns:a16="http://schemas.microsoft.com/office/drawing/2014/main" id="{6B3905CB-FAAF-7146-AA37-E27308B47317}"/>
              </a:ext>
            </a:extLst>
          </p:cNvPr>
          <p:cNvSpPr/>
          <p:nvPr/>
        </p:nvSpPr>
        <p:spPr>
          <a:xfrm>
            <a:off x="381000" y="13335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ard1Hdr">
            <a:extLst>
              <a:ext uri="{FF2B5EF4-FFF2-40B4-BE49-F238E27FC236}">
                <a16:creationId xmlns:a16="http://schemas.microsoft.com/office/drawing/2014/main" id="{CF9169EE-E916-624E-B22A-7A1695EB524B}"/>
              </a:ext>
            </a:extLst>
          </p:cNvPr>
          <p:cNvSpPr/>
          <p:nvPr/>
        </p:nvSpPr>
        <p:spPr>
          <a:xfrm>
            <a:off x="381000" y="1333500"/>
            <a:ext cx="55880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1Title">
            <a:extLst>
              <a:ext uri="{FF2B5EF4-FFF2-40B4-BE49-F238E27FC236}">
                <a16:creationId xmlns:a16="http://schemas.microsoft.com/office/drawing/2014/main" id="{43EAD0E3-2B34-EC47-953D-FB79C7EDA1C3}"/>
              </a:ext>
            </a:extLst>
          </p:cNvPr>
          <p:cNvSpPr txBox="1"/>
          <p:nvPr/>
        </p:nvSpPr>
        <p:spPr>
          <a:xfrm>
            <a:off x="533400" y="13716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1. Non-negativity</a:t>
            </a:r>
          </a:p>
        </p:txBody>
      </p:sp>
      <p:sp>
        <p:nvSpPr>
          <p:cNvPr id="8" name="Card1Form">
            <a:extLst>
              <a:ext uri="{FF2B5EF4-FFF2-40B4-BE49-F238E27FC236}">
                <a16:creationId xmlns:a16="http://schemas.microsoft.com/office/drawing/2014/main" id="{8AEA6F77-93BC-3347-8157-1CD94D89FEEB}"/>
              </a:ext>
            </a:extLst>
          </p:cNvPr>
          <p:cNvSpPr txBox="1"/>
          <p:nvPr/>
        </p:nvSpPr>
        <p:spPr>
          <a:xfrm>
            <a:off x="584200" y="17907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d(x, y) ≥ 0</a:t>
            </a:r>
          </a:p>
        </p:txBody>
      </p:sp>
      <p:sp>
        <p:nvSpPr>
          <p:cNvPr id="9" name="Card1Desc">
            <a:extLst>
              <a:ext uri="{FF2B5EF4-FFF2-40B4-BE49-F238E27FC236}">
                <a16:creationId xmlns:a16="http://schemas.microsoft.com/office/drawing/2014/main" id="{B80EDF0E-6A85-4141-BF6B-C0DD6DF5835B}"/>
              </a:ext>
            </a:extLst>
          </p:cNvPr>
          <p:cNvSpPr txBox="1"/>
          <p:nvPr/>
        </p:nvSpPr>
        <p:spPr>
          <a:xfrm>
            <a:off x="584200" y="22987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is never negative. There is no such thing as 'negative far'.</a:t>
            </a:r>
          </a:p>
        </p:txBody>
      </p:sp>
      <p:sp>
        <p:nvSpPr>
          <p:cNvPr id="10" name="Card2">
            <a:extLst>
              <a:ext uri="{FF2B5EF4-FFF2-40B4-BE49-F238E27FC236}">
                <a16:creationId xmlns:a16="http://schemas.microsoft.com/office/drawing/2014/main" id="{D7024AF2-E596-BC4B-939D-E33AE0D46DA7}"/>
              </a:ext>
            </a:extLst>
          </p:cNvPr>
          <p:cNvSpPr/>
          <p:nvPr/>
        </p:nvSpPr>
        <p:spPr>
          <a:xfrm>
            <a:off x="6223000" y="13335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2Hdr">
            <a:extLst>
              <a:ext uri="{FF2B5EF4-FFF2-40B4-BE49-F238E27FC236}">
                <a16:creationId xmlns:a16="http://schemas.microsoft.com/office/drawing/2014/main" id="{606FAF10-33A8-7E42-AFF2-1F05221AC018}"/>
              </a:ext>
            </a:extLst>
          </p:cNvPr>
          <p:cNvSpPr/>
          <p:nvPr/>
        </p:nvSpPr>
        <p:spPr>
          <a:xfrm>
            <a:off x="6223000" y="1333500"/>
            <a:ext cx="55880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ard2Title">
            <a:extLst>
              <a:ext uri="{FF2B5EF4-FFF2-40B4-BE49-F238E27FC236}">
                <a16:creationId xmlns:a16="http://schemas.microsoft.com/office/drawing/2014/main" id="{690D4E56-13C2-A346-B06F-D3B6E5B1A87E}"/>
              </a:ext>
            </a:extLst>
          </p:cNvPr>
          <p:cNvSpPr txBox="1"/>
          <p:nvPr/>
        </p:nvSpPr>
        <p:spPr>
          <a:xfrm>
            <a:off x="6375400" y="13716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2. Identity of indiscernibles</a:t>
            </a:r>
          </a:p>
        </p:txBody>
      </p:sp>
      <p:sp>
        <p:nvSpPr>
          <p:cNvPr id="13" name="Card2Form">
            <a:extLst>
              <a:ext uri="{FF2B5EF4-FFF2-40B4-BE49-F238E27FC236}">
                <a16:creationId xmlns:a16="http://schemas.microsoft.com/office/drawing/2014/main" id="{7B6F697B-FC6A-2641-80CD-5A7BFFBF5643}"/>
              </a:ext>
            </a:extLst>
          </p:cNvPr>
          <p:cNvSpPr txBox="1"/>
          <p:nvPr/>
        </p:nvSpPr>
        <p:spPr>
          <a:xfrm>
            <a:off x="6426200" y="17907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00A7B5"/>
                </a:solidFill>
                <a:latin typeface="Cambria Math"/>
                <a:ea typeface="Cambria Math"/>
              </a:rPr>
              <a:t>d(x, y) = 0 ⟺ x = y</a:t>
            </a:r>
          </a:p>
        </p:txBody>
      </p:sp>
      <p:sp>
        <p:nvSpPr>
          <p:cNvPr id="14" name="Card2Desc">
            <a:extLst>
              <a:ext uri="{FF2B5EF4-FFF2-40B4-BE49-F238E27FC236}">
                <a16:creationId xmlns:a16="http://schemas.microsoft.com/office/drawing/2014/main" id="{43AB5D37-3133-B644-AC7C-AB898892D43C}"/>
              </a:ext>
            </a:extLst>
          </p:cNvPr>
          <p:cNvSpPr txBox="1"/>
          <p:nvPr/>
        </p:nvSpPr>
        <p:spPr>
          <a:xfrm>
            <a:off x="6426200" y="22987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Zero distance happens only when the two points are the same point.</a:t>
            </a:r>
          </a:p>
        </p:txBody>
      </p:sp>
      <p:sp>
        <p:nvSpPr>
          <p:cNvPr id="15" name="Card3">
            <a:extLst>
              <a:ext uri="{FF2B5EF4-FFF2-40B4-BE49-F238E27FC236}">
                <a16:creationId xmlns:a16="http://schemas.microsoft.com/office/drawing/2014/main" id="{94F241A9-096D-A648-BF6D-FC9E29CF8461}"/>
              </a:ext>
            </a:extLst>
          </p:cNvPr>
          <p:cNvSpPr/>
          <p:nvPr/>
        </p:nvSpPr>
        <p:spPr>
          <a:xfrm>
            <a:off x="381000" y="35560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Card3Hdr">
            <a:extLst>
              <a:ext uri="{FF2B5EF4-FFF2-40B4-BE49-F238E27FC236}">
                <a16:creationId xmlns:a16="http://schemas.microsoft.com/office/drawing/2014/main" id="{717D4A9C-1076-5B42-A4F2-E6864C39C8B6}"/>
              </a:ext>
            </a:extLst>
          </p:cNvPr>
          <p:cNvSpPr/>
          <p:nvPr/>
        </p:nvSpPr>
        <p:spPr>
          <a:xfrm>
            <a:off x="381000" y="3556000"/>
            <a:ext cx="55880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Card3Title">
            <a:extLst>
              <a:ext uri="{FF2B5EF4-FFF2-40B4-BE49-F238E27FC236}">
                <a16:creationId xmlns:a16="http://schemas.microsoft.com/office/drawing/2014/main" id="{CDC3396A-9D08-724E-A099-148F816EAE41}"/>
              </a:ext>
            </a:extLst>
          </p:cNvPr>
          <p:cNvSpPr txBox="1"/>
          <p:nvPr/>
        </p:nvSpPr>
        <p:spPr>
          <a:xfrm>
            <a:off x="533400" y="35941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3. Symmetry</a:t>
            </a:r>
          </a:p>
        </p:txBody>
      </p:sp>
      <p:sp>
        <p:nvSpPr>
          <p:cNvPr id="18" name="Card3Form">
            <a:extLst>
              <a:ext uri="{FF2B5EF4-FFF2-40B4-BE49-F238E27FC236}">
                <a16:creationId xmlns:a16="http://schemas.microsoft.com/office/drawing/2014/main" id="{B0AD4140-4EC2-5545-99ED-5160325D1DE3}"/>
              </a:ext>
            </a:extLst>
          </p:cNvPr>
          <p:cNvSpPr txBox="1"/>
          <p:nvPr/>
        </p:nvSpPr>
        <p:spPr>
          <a:xfrm>
            <a:off x="584200" y="40132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D1578A"/>
                </a:solidFill>
                <a:latin typeface="Cambria Math"/>
                <a:ea typeface="Cambria Math"/>
              </a:rPr>
              <a:t>d(x, y) = d(y, x)</a:t>
            </a:r>
          </a:p>
        </p:txBody>
      </p:sp>
      <p:sp>
        <p:nvSpPr>
          <p:cNvPr id="19" name="Card3Desc">
            <a:extLst>
              <a:ext uri="{FF2B5EF4-FFF2-40B4-BE49-F238E27FC236}">
                <a16:creationId xmlns:a16="http://schemas.microsoft.com/office/drawing/2014/main" id="{0FCC90ED-3290-304D-8B4E-F543F9D96D94}"/>
              </a:ext>
            </a:extLst>
          </p:cNvPr>
          <p:cNvSpPr txBox="1"/>
          <p:nvPr/>
        </p:nvSpPr>
        <p:spPr>
          <a:xfrm>
            <a:off x="584200" y="45212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from x to y equals distance from y to x. Direction does not matter.</a:t>
            </a:r>
          </a:p>
        </p:txBody>
      </p:sp>
      <p:sp>
        <p:nvSpPr>
          <p:cNvPr id="28" name="Card4">
            <a:extLst>
              <a:ext uri="{FF2B5EF4-FFF2-40B4-BE49-F238E27FC236}">
                <a16:creationId xmlns:a16="http://schemas.microsoft.com/office/drawing/2014/main" id="{C9D416AF-3328-954E-B96F-80A87342E448}"/>
              </a:ext>
            </a:extLst>
          </p:cNvPr>
          <p:cNvSpPr/>
          <p:nvPr/>
        </p:nvSpPr>
        <p:spPr>
          <a:xfrm>
            <a:off x="6223000" y="35560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Card4Hdr">
            <a:extLst>
              <a:ext uri="{FF2B5EF4-FFF2-40B4-BE49-F238E27FC236}">
                <a16:creationId xmlns:a16="http://schemas.microsoft.com/office/drawing/2014/main" id="{E81993C9-D401-9C46-B106-43E7AB1CDD63}"/>
              </a:ext>
            </a:extLst>
          </p:cNvPr>
          <p:cNvSpPr/>
          <p:nvPr/>
        </p:nvSpPr>
        <p:spPr>
          <a:xfrm>
            <a:off x="6223000" y="3556000"/>
            <a:ext cx="5588000" cy="355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Card4Title">
            <a:extLst>
              <a:ext uri="{FF2B5EF4-FFF2-40B4-BE49-F238E27FC236}">
                <a16:creationId xmlns:a16="http://schemas.microsoft.com/office/drawing/2014/main" id="{AA1C578B-9740-BC48-B585-B845CB214309}"/>
              </a:ext>
            </a:extLst>
          </p:cNvPr>
          <p:cNvSpPr txBox="1"/>
          <p:nvPr/>
        </p:nvSpPr>
        <p:spPr>
          <a:xfrm>
            <a:off x="6375400" y="35941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4. Triangle inequality</a:t>
            </a:r>
          </a:p>
        </p:txBody>
      </p:sp>
      <p:sp>
        <p:nvSpPr>
          <p:cNvPr id="31" name="Card4Form">
            <a:extLst>
              <a:ext uri="{FF2B5EF4-FFF2-40B4-BE49-F238E27FC236}">
                <a16:creationId xmlns:a16="http://schemas.microsoft.com/office/drawing/2014/main" id="{DBFD4C50-A685-D049-882F-F97243447073}"/>
              </a:ext>
            </a:extLst>
          </p:cNvPr>
          <p:cNvSpPr txBox="1"/>
          <p:nvPr/>
        </p:nvSpPr>
        <p:spPr>
          <a:xfrm>
            <a:off x="6426200" y="40132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B7A57A"/>
                </a:solidFill>
                <a:latin typeface="Cambria Math"/>
                <a:ea typeface="Cambria Math"/>
              </a:rPr>
              <a:t>d(x, z) ≤ d(x, y) + d(y, z)</a:t>
            </a:r>
          </a:p>
        </p:txBody>
      </p:sp>
      <p:sp>
        <p:nvSpPr>
          <p:cNvPr id="32" name="Card4Desc">
            <a:extLst>
              <a:ext uri="{FF2B5EF4-FFF2-40B4-BE49-F238E27FC236}">
                <a16:creationId xmlns:a16="http://schemas.microsoft.com/office/drawing/2014/main" id="{A8B6B26E-9382-CC4A-9197-CC2EDAD94F77}"/>
              </a:ext>
            </a:extLst>
          </p:cNvPr>
          <p:cNvSpPr txBox="1"/>
          <p:nvPr/>
        </p:nvSpPr>
        <p:spPr>
          <a:xfrm>
            <a:off x="6426200" y="45212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A detour through a third point is never shorter than going direct.</a:t>
            </a:r>
          </a:p>
        </p:txBody>
      </p:sp>
      <p:sp>
        <p:nvSpPr>
          <p:cNvPr id="33" name="TkBar">
            <a:extLst>
              <a:ext uri="{FF2B5EF4-FFF2-40B4-BE49-F238E27FC236}">
                <a16:creationId xmlns:a16="http://schemas.microsoft.com/office/drawing/2014/main" id="{3FFCFEDF-4ADE-2549-A935-DDE69B7D81F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kText">
            <a:extLst>
              <a:ext uri="{FF2B5EF4-FFF2-40B4-BE49-F238E27FC236}">
                <a16:creationId xmlns:a16="http://schemas.microsoft.com/office/drawing/2014/main" id="{4FB64814-6ED7-8146-8548-881F5C16AF7D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All four axioms together capture what we intuitively mean by "distance." Any function meeting them is a valid metric.</a:t>
            </a:r>
          </a:p>
        </p:txBody>
      </p:sp>
    </p:spTree>
    <p:extLst>
      <p:ext uri="{BB962C8B-B14F-4D97-AF65-F5344CB8AC3E}">
        <p14:creationId xmlns:p14="http://schemas.microsoft.com/office/powerpoint/2010/main" val="402617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D19EFE67-DB3E-E04E-93D6-74C66119CB3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305F6275-9CF7-6346-B61C-8959CC4CA41B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Vectorized distance — compute it the smart way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FC73EBE1-E68F-BA4D-A4AC-DD2DE4E5B703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Once data lives in ℝⁿ, distance becomes a single algebraic formula — no loops needed.</a:t>
            </a:r>
          </a:p>
        </p:txBody>
      </p:sp>
      <p:sp>
        <p:nvSpPr>
          <p:cNvPr id="23" name="NaiveCard">
            <a:extLst>
              <a:ext uri="{FF2B5EF4-FFF2-40B4-BE49-F238E27FC236}">
                <a16:creationId xmlns:a16="http://schemas.microsoft.com/office/drawing/2014/main" id="{1314DDD7-FCF9-7D4C-B327-DF3E1F66F989}"/>
              </a:ext>
            </a:extLst>
          </p:cNvPr>
          <p:cNvSpPr/>
          <p:nvPr/>
        </p:nvSpPr>
        <p:spPr>
          <a:xfrm>
            <a:off x="381000" y="1333500"/>
            <a:ext cx="5524500" cy="2222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NaiveHdr">
            <a:extLst>
              <a:ext uri="{FF2B5EF4-FFF2-40B4-BE49-F238E27FC236}">
                <a16:creationId xmlns:a16="http://schemas.microsoft.com/office/drawing/2014/main" id="{6721BEA2-11E3-2A43-8B91-2A300BDD8EB2}"/>
              </a:ext>
            </a:extLst>
          </p:cNvPr>
          <p:cNvSpPr/>
          <p:nvPr/>
        </p:nvSpPr>
        <p:spPr>
          <a:xfrm>
            <a:off x="381000" y="1333500"/>
            <a:ext cx="55245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NaiveH">
            <a:extLst>
              <a:ext uri="{FF2B5EF4-FFF2-40B4-BE49-F238E27FC236}">
                <a16:creationId xmlns:a16="http://schemas.microsoft.com/office/drawing/2014/main" id="{A62E6A6A-3D3D-D24C-8341-D752A2C66062}"/>
              </a:ext>
            </a:extLst>
          </p:cNvPr>
          <p:cNvSpPr txBox="1"/>
          <p:nvPr/>
        </p:nvSpPr>
        <p:spPr>
          <a:xfrm>
            <a:off x="508000" y="13843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Scalar approach — loop over coordinates</a:t>
            </a:r>
          </a:p>
        </p:txBody>
      </p:sp>
      <p:sp>
        <p:nvSpPr>
          <p:cNvPr id="26" name="NaiveCode">
            <a:extLst>
              <a:ext uri="{FF2B5EF4-FFF2-40B4-BE49-F238E27FC236}">
                <a16:creationId xmlns:a16="http://schemas.microsoft.com/office/drawing/2014/main" id="{6C588E69-FFCB-7A43-A751-3EE5AE7A282A}"/>
              </a:ext>
            </a:extLst>
          </p:cNvPr>
          <p:cNvSpPr txBox="1"/>
          <p:nvPr/>
        </p:nvSpPr>
        <p:spPr>
          <a:xfrm>
            <a:off x="635000" y="1841500"/>
            <a:ext cx="50800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d = 0
for i in 1..n:
   d += (uᵢ − vᵢ)²
d = √d</a:t>
            </a:r>
          </a:p>
        </p:txBody>
      </p:sp>
      <p:sp>
        <p:nvSpPr>
          <p:cNvPr id="27" name="NaiveNote">
            <a:extLst>
              <a:ext uri="{FF2B5EF4-FFF2-40B4-BE49-F238E27FC236}">
                <a16:creationId xmlns:a16="http://schemas.microsoft.com/office/drawing/2014/main" id="{A739DE2D-97C7-C34B-848C-104AAF8F6900}"/>
              </a:ext>
            </a:extLst>
          </p:cNvPr>
          <p:cNvSpPr txBox="1"/>
          <p:nvPr/>
        </p:nvSpPr>
        <p:spPr>
          <a:xfrm>
            <a:off x="635000" y="2921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Works, but slow — n iterations per distance.</a:t>
            </a:r>
          </a:p>
        </p:txBody>
      </p:sp>
      <p:sp>
        <p:nvSpPr>
          <p:cNvPr id="35" name="NaiveTag">
            <a:extLst>
              <a:ext uri="{FF2B5EF4-FFF2-40B4-BE49-F238E27FC236}">
                <a16:creationId xmlns:a16="http://schemas.microsoft.com/office/drawing/2014/main" id="{C098B363-77D9-2B46-9EA0-890C7BEA31D7}"/>
              </a:ext>
            </a:extLst>
          </p:cNvPr>
          <p:cNvSpPr txBox="1"/>
          <p:nvPr/>
        </p:nvSpPr>
        <p:spPr>
          <a:xfrm>
            <a:off x="635000" y="3200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✗  O(n) loop in Python</a:t>
            </a:r>
          </a:p>
        </p:txBody>
      </p:sp>
      <p:sp>
        <p:nvSpPr>
          <p:cNvPr id="36" name="VecCard">
            <a:extLst>
              <a:ext uri="{FF2B5EF4-FFF2-40B4-BE49-F238E27FC236}">
                <a16:creationId xmlns:a16="http://schemas.microsoft.com/office/drawing/2014/main" id="{E58DC7C1-4442-3D47-8B65-7874AF9E9457}"/>
              </a:ext>
            </a:extLst>
          </p:cNvPr>
          <p:cNvSpPr/>
          <p:nvPr/>
        </p:nvSpPr>
        <p:spPr>
          <a:xfrm>
            <a:off x="6286500" y="1333500"/>
            <a:ext cx="5524500" cy="2222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VecHdr">
            <a:extLst>
              <a:ext uri="{FF2B5EF4-FFF2-40B4-BE49-F238E27FC236}">
                <a16:creationId xmlns:a16="http://schemas.microsoft.com/office/drawing/2014/main" id="{43042A21-CA2A-434A-B219-8C0FC1A2715A}"/>
              </a:ext>
            </a:extLst>
          </p:cNvPr>
          <p:cNvSpPr/>
          <p:nvPr/>
        </p:nvSpPr>
        <p:spPr>
          <a:xfrm>
            <a:off x="6286500" y="1333500"/>
            <a:ext cx="55245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VecH">
            <a:extLst>
              <a:ext uri="{FF2B5EF4-FFF2-40B4-BE49-F238E27FC236}">
                <a16:creationId xmlns:a16="http://schemas.microsoft.com/office/drawing/2014/main" id="{B5AAAB53-4A24-5B4C-93BF-70EBC549C5FB}"/>
              </a:ext>
            </a:extLst>
          </p:cNvPr>
          <p:cNvSpPr txBox="1"/>
          <p:nvPr/>
        </p:nvSpPr>
        <p:spPr>
          <a:xfrm>
            <a:off x="6413500" y="13843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Vectorized approach — one expression</a:t>
            </a:r>
          </a:p>
        </p:txBody>
      </p:sp>
      <p:sp>
        <p:nvSpPr>
          <p:cNvPr id="39" name="VecFormula">
            <a:extLst>
              <a:ext uri="{FF2B5EF4-FFF2-40B4-BE49-F238E27FC236}">
                <a16:creationId xmlns:a16="http://schemas.microsoft.com/office/drawing/2014/main" id="{CD3A8F0C-E475-1C47-9637-1E2FF91B5025}"/>
              </a:ext>
            </a:extLst>
          </p:cNvPr>
          <p:cNvSpPr txBox="1"/>
          <p:nvPr/>
        </p:nvSpPr>
        <p:spPr>
          <a:xfrm>
            <a:off x="6413500" y="1841500"/>
            <a:ext cx="52705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  <a:latin typeface="Cambria Math"/>
                <a:ea typeface="Cambria Math"/>
              </a:rPr>
              <a:t>d(u, v) = ‖u − v‖</a:t>
            </a:r>
          </a:p>
        </p:txBody>
      </p:sp>
      <p:sp>
        <p:nvSpPr>
          <p:cNvPr id="40" name="VecCode">
            <a:extLst>
              <a:ext uri="{FF2B5EF4-FFF2-40B4-BE49-F238E27FC236}">
                <a16:creationId xmlns:a16="http://schemas.microsoft.com/office/drawing/2014/main" id="{BC667A1F-9FDB-6C4A-A1E1-D344E8BE68BE}"/>
              </a:ext>
            </a:extLst>
          </p:cNvPr>
          <p:cNvSpPr txBox="1"/>
          <p:nvPr/>
        </p:nvSpPr>
        <p:spPr>
          <a:xfrm>
            <a:off x="6413500" y="2387600"/>
            <a:ext cx="52705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d = np.linalg.norm(u - v)</a:t>
            </a:r>
          </a:p>
        </p:txBody>
      </p:sp>
      <p:sp>
        <p:nvSpPr>
          <p:cNvPr id="41" name="VecNote">
            <a:extLst>
              <a:ext uri="{FF2B5EF4-FFF2-40B4-BE49-F238E27FC236}">
                <a16:creationId xmlns:a16="http://schemas.microsoft.com/office/drawing/2014/main" id="{DF980989-4263-274C-901A-6FC07194CCD0}"/>
              </a:ext>
            </a:extLst>
          </p:cNvPr>
          <p:cNvSpPr txBox="1"/>
          <p:nvPr/>
        </p:nvSpPr>
        <p:spPr>
          <a:xfrm>
            <a:off x="6413500" y="28194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Subtract vectors, take the norm — done.</a:t>
            </a:r>
          </a:p>
        </p:txBody>
      </p:sp>
      <p:sp>
        <p:nvSpPr>
          <p:cNvPr id="42" name="VecTag">
            <a:extLst>
              <a:ext uri="{FF2B5EF4-FFF2-40B4-BE49-F238E27FC236}">
                <a16:creationId xmlns:a16="http://schemas.microsoft.com/office/drawing/2014/main" id="{BAAC836F-C771-1C4E-B117-1AA6BBD5D1F5}"/>
              </a:ext>
            </a:extLst>
          </p:cNvPr>
          <p:cNvSpPr txBox="1"/>
          <p:nvPr/>
        </p:nvSpPr>
        <p:spPr>
          <a:xfrm>
            <a:off x="6413500" y="3200400"/>
            <a:ext cx="5270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✓  Runs in compiled BLAS — orders of magnitude faster</a:t>
            </a:r>
          </a:p>
        </p:txBody>
      </p:sp>
      <p:sp>
        <p:nvSpPr>
          <p:cNvPr id="43" name="ExBar">
            <a:extLst>
              <a:ext uri="{FF2B5EF4-FFF2-40B4-BE49-F238E27FC236}">
                <a16:creationId xmlns:a16="http://schemas.microsoft.com/office/drawing/2014/main" id="{081F641B-11F1-064C-B5D3-C00A594F3DB4}"/>
              </a:ext>
            </a:extLst>
          </p:cNvPr>
          <p:cNvSpPr/>
          <p:nvPr/>
        </p:nvSpPr>
        <p:spPr>
          <a:xfrm>
            <a:off x="381000" y="3746500"/>
            <a:ext cx="114300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ExBarT">
            <a:extLst>
              <a:ext uri="{FF2B5EF4-FFF2-40B4-BE49-F238E27FC236}">
                <a16:creationId xmlns:a16="http://schemas.microsoft.com/office/drawing/2014/main" id="{76F33A32-8944-C24F-8B73-50C44C7FBD6E}"/>
              </a:ext>
            </a:extLst>
          </p:cNvPr>
          <p:cNvSpPr txBox="1"/>
          <p:nvPr/>
        </p:nvSpPr>
        <p:spPr>
          <a:xfrm>
            <a:off x="508000" y="37973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Concrete example  —  u = [1, 4, 2],   v = [3, 0, 5]</a:t>
            </a:r>
          </a:p>
        </p:txBody>
      </p:sp>
      <p:sp>
        <p:nvSpPr>
          <p:cNvPr id="45" name="ExCard">
            <a:extLst>
              <a:ext uri="{FF2B5EF4-FFF2-40B4-BE49-F238E27FC236}">
                <a16:creationId xmlns:a16="http://schemas.microsoft.com/office/drawing/2014/main" id="{A78900B5-6824-7B4C-AFD4-29A90B6FD44A}"/>
              </a:ext>
            </a:extLst>
          </p:cNvPr>
          <p:cNvSpPr/>
          <p:nvPr/>
        </p:nvSpPr>
        <p:spPr>
          <a:xfrm>
            <a:off x="381000" y="4102100"/>
            <a:ext cx="11430000" cy="952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ExStep1">
            <a:extLst>
              <a:ext uri="{FF2B5EF4-FFF2-40B4-BE49-F238E27FC236}">
                <a16:creationId xmlns:a16="http://schemas.microsoft.com/office/drawing/2014/main" id="{AB969EB8-DBD8-1F47-AF26-6F2BAD9EDD6A}"/>
              </a:ext>
            </a:extLst>
          </p:cNvPr>
          <p:cNvSpPr txBox="1"/>
          <p:nvPr/>
        </p:nvSpPr>
        <p:spPr>
          <a:xfrm>
            <a:off x="635000" y="4191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u − v  =  [1−3,  4−0,  2−5]  =  [−2,  4,  −3]</a:t>
            </a:r>
          </a:p>
        </p:txBody>
      </p:sp>
      <p:sp>
        <p:nvSpPr>
          <p:cNvPr id="47" name="ExStep2">
            <a:extLst>
              <a:ext uri="{FF2B5EF4-FFF2-40B4-BE49-F238E27FC236}">
                <a16:creationId xmlns:a16="http://schemas.microsoft.com/office/drawing/2014/main" id="{9471463A-24DC-4C4F-A534-75B7459965B0}"/>
              </a:ext>
            </a:extLst>
          </p:cNvPr>
          <p:cNvSpPr txBox="1"/>
          <p:nvPr/>
        </p:nvSpPr>
        <p:spPr>
          <a:xfrm>
            <a:off x="635000" y="45085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‖u − v‖  =  √((−2)² + 4² + (−3)²)  =  √(4 + 16 + 9)  =  √29  ≈  5.39</a:t>
            </a:r>
          </a:p>
        </p:txBody>
      </p:sp>
      <p:sp>
        <p:nvSpPr>
          <p:cNvPr id="48" name="ExLabel">
            <a:extLst>
              <a:ext uri="{FF2B5EF4-FFF2-40B4-BE49-F238E27FC236}">
                <a16:creationId xmlns:a16="http://schemas.microsoft.com/office/drawing/2014/main" id="{BAE2155E-812A-6B4B-80CD-FF50C9921418}"/>
              </a:ext>
            </a:extLst>
          </p:cNvPr>
          <p:cNvSpPr txBox="1"/>
          <p:nvPr/>
        </p:nvSpPr>
        <p:spPr>
          <a:xfrm>
            <a:off x="635000" y="48006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→  one line of code, three multiplications, one square root</a:t>
            </a:r>
          </a:p>
        </p:txBody>
      </p:sp>
      <p:sp>
        <p:nvSpPr>
          <p:cNvPr id="49" name="WhyStrip">
            <a:extLst>
              <a:ext uri="{FF2B5EF4-FFF2-40B4-BE49-F238E27FC236}">
                <a16:creationId xmlns:a16="http://schemas.microsoft.com/office/drawing/2014/main" id="{CAA379F3-1FFC-A84C-BD0D-175DDE31777E}"/>
              </a:ext>
            </a:extLst>
          </p:cNvPr>
          <p:cNvSpPr/>
          <p:nvPr/>
        </p:nvSpPr>
        <p:spPr>
          <a:xfrm>
            <a:off x="381000" y="5207000"/>
            <a:ext cx="11430000" cy="508000"/>
          </a:xfrm>
          <a:prstGeom prst="rect">
            <a:avLst/>
          </a:prstGeom>
          <a:solidFill>
            <a:srgbClr val="FAF6F0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WhyT">
            <a:extLst>
              <a:ext uri="{FF2B5EF4-FFF2-40B4-BE49-F238E27FC236}">
                <a16:creationId xmlns:a16="http://schemas.microsoft.com/office/drawing/2014/main" id="{985A7CBF-76C1-C145-B431-EE5595CE923F}"/>
              </a:ext>
            </a:extLst>
          </p:cNvPr>
          <p:cNvSpPr txBox="1"/>
          <p:nvPr/>
        </p:nvSpPr>
        <p:spPr>
          <a:xfrm>
            <a:off x="571500" y="52832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B7A57A"/>
                </a:solidFill>
              </a:rPr>
              <a:t>Why vectorize?</a:t>
            </a:r>
          </a:p>
        </p:txBody>
      </p:sp>
      <p:sp>
        <p:nvSpPr>
          <p:cNvPr id="51" name="WhyB">
            <a:extLst>
              <a:ext uri="{FF2B5EF4-FFF2-40B4-BE49-F238E27FC236}">
                <a16:creationId xmlns:a16="http://schemas.microsoft.com/office/drawing/2014/main" id="{5AAE2570-1218-854A-B674-C683F79E00C7}"/>
              </a:ext>
            </a:extLst>
          </p:cNvPr>
          <p:cNvSpPr txBox="1"/>
          <p:nvPr/>
        </p:nvSpPr>
        <p:spPr>
          <a:xfrm>
            <a:off x="2286000" y="5283200"/>
            <a:ext cx="9398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• Hardware-friendly:  SIMD + cache-aligned BLAS routines    • Code clarity:  formula ≈ math    • Scales: same line works for n = 4 or n = 4,000,000</a:t>
            </a:r>
          </a:p>
        </p:txBody>
      </p:sp>
      <p:sp>
        <p:nvSpPr>
          <p:cNvPr id="52" name="TkBar">
            <a:extLst>
              <a:ext uri="{FF2B5EF4-FFF2-40B4-BE49-F238E27FC236}">
                <a16:creationId xmlns:a16="http://schemas.microsoft.com/office/drawing/2014/main" id="{D0EE22C6-FDA6-B74F-8C8D-BB3EB0F658E2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kText">
            <a:extLst>
              <a:ext uri="{FF2B5EF4-FFF2-40B4-BE49-F238E27FC236}">
                <a16:creationId xmlns:a16="http://schemas.microsoft.com/office/drawing/2014/main" id="{2C7889EF-1350-C94B-AD32-1BF5A3338DBB}"/>
              </a:ext>
            </a:extLst>
          </p:cNvPr>
          <p:cNvSpPr txBox="1"/>
          <p:nvPr/>
        </p:nvSpPr>
        <p:spPr>
          <a:xfrm>
            <a:off x="635000" y="5969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Think in vectors, not in loops — ‖u − v‖ is the lingua franca of distance in ML.</a:t>
            </a:r>
          </a:p>
        </p:txBody>
      </p:sp>
    </p:spTree>
    <p:extLst>
      <p:ext uri="{BB962C8B-B14F-4D97-AF65-F5344CB8AC3E}">
        <p14:creationId xmlns:p14="http://schemas.microsoft.com/office/powerpoint/2010/main" val="56059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0934610-6AD5-554F-8D2E-4ACB937EB47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F5E2BA-5FA3-DE4A-8D2F-B568A7548995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What is a norm? — measuring the size of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485D5EE-7C8F-D547-8A39-30B077A81F2D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A norm assigns a non-negative 'length' to every vector. Distance is then just the length of the difference.</a:t>
            </a:r>
          </a:p>
        </p:txBody>
      </p:sp>
      <p:sp>
        <p:nvSpPr>
          <p:cNvPr id="5" name="DefCard">
            <a:extLst>
              <a:ext uri="{FF2B5EF4-FFF2-40B4-BE49-F238E27FC236}">
                <a16:creationId xmlns:a16="http://schemas.microsoft.com/office/drawing/2014/main" id="{166F9F07-BCCC-3244-BCCF-E9B30CD59EB0}"/>
              </a:ext>
            </a:extLst>
          </p:cNvPr>
          <p:cNvSpPr/>
          <p:nvPr/>
        </p:nvSpPr>
        <p:spPr>
          <a:xfrm>
            <a:off x="381000" y="1333500"/>
            <a:ext cx="11430000" cy="1206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Hdr">
            <a:extLst>
              <a:ext uri="{FF2B5EF4-FFF2-40B4-BE49-F238E27FC236}">
                <a16:creationId xmlns:a16="http://schemas.microsoft.com/office/drawing/2014/main" id="{03613C5B-A837-CE48-BF27-EC303ED4CE98}"/>
              </a:ext>
            </a:extLst>
          </p:cNvPr>
          <p:cNvSpPr/>
          <p:nvPr/>
        </p:nvSpPr>
        <p:spPr>
          <a:xfrm>
            <a:off x="381000" y="1333500"/>
            <a:ext cx="114300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DefH">
            <a:extLst>
              <a:ext uri="{FF2B5EF4-FFF2-40B4-BE49-F238E27FC236}">
                <a16:creationId xmlns:a16="http://schemas.microsoft.com/office/drawing/2014/main" id="{A9245914-C599-0E4A-B88B-76C2DC3BEB79}"/>
              </a:ext>
            </a:extLst>
          </p:cNvPr>
          <p:cNvSpPr txBox="1"/>
          <p:nvPr/>
        </p:nvSpPr>
        <p:spPr>
          <a:xfrm>
            <a:off x="571500" y="13843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Formal definition</a:t>
            </a:r>
          </a:p>
        </p:txBody>
      </p:sp>
      <p:sp>
        <p:nvSpPr>
          <p:cNvPr id="8" name="DefBody">
            <a:extLst>
              <a:ext uri="{FF2B5EF4-FFF2-40B4-BE49-F238E27FC236}">
                <a16:creationId xmlns:a16="http://schemas.microsoft.com/office/drawing/2014/main" id="{9B9AC301-6F92-0948-84DB-4DAA3DC1C07D}"/>
              </a:ext>
            </a:extLst>
          </p:cNvPr>
          <p:cNvSpPr txBox="1"/>
          <p:nvPr/>
        </p:nvSpPr>
        <p:spPr>
          <a:xfrm>
            <a:off x="571500" y="1752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norm is a function  ‖·‖ : V → ℝ  that maps each vector v in a vector space V to a real number ‖v‖, satisfying three axioms (below).</a:t>
            </a:r>
          </a:p>
        </p:txBody>
      </p:sp>
      <p:sp>
        <p:nvSpPr>
          <p:cNvPr id="9" name="DefBody2">
            <a:extLst>
              <a:ext uri="{FF2B5EF4-FFF2-40B4-BE49-F238E27FC236}">
                <a16:creationId xmlns:a16="http://schemas.microsoft.com/office/drawing/2014/main" id="{284988F9-2C1F-BA41-B0DA-A8DCB301BD80}"/>
              </a:ext>
            </a:extLst>
          </p:cNvPr>
          <p:cNvSpPr txBox="1"/>
          <p:nvPr/>
        </p:nvSpPr>
        <p:spPr>
          <a:xfrm>
            <a:off x="571500" y="20955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The distance between two vectors u and v is then defined as  d(u, v) = ‖u − v‖.</a:t>
            </a:r>
          </a:p>
        </p:txBody>
      </p:sp>
      <p:sp>
        <p:nvSpPr>
          <p:cNvPr id="10" name="AxCard0">
            <a:extLst>
              <a:ext uri="{FF2B5EF4-FFF2-40B4-BE49-F238E27FC236}">
                <a16:creationId xmlns:a16="http://schemas.microsoft.com/office/drawing/2014/main" id="{5653F341-A0F3-D74B-9235-0B0CAEFEDBE7}"/>
              </a:ext>
            </a:extLst>
          </p:cNvPr>
          <p:cNvSpPr/>
          <p:nvPr/>
        </p:nvSpPr>
        <p:spPr>
          <a:xfrm>
            <a:off x="4826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AxBadge0">
            <a:extLst>
              <a:ext uri="{FF2B5EF4-FFF2-40B4-BE49-F238E27FC236}">
                <a16:creationId xmlns:a16="http://schemas.microsoft.com/office/drawing/2014/main" id="{6ED069E0-D591-5447-88DB-613D65FC1EA6}"/>
              </a:ext>
            </a:extLst>
          </p:cNvPr>
          <p:cNvSpPr/>
          <p:nvPr/>
        </p:nvSpPr>
        <p:spPr>
          <a:xfrm>
            <a:off x="482600" y="2730500"/>
            <a:ext cx="4064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AxN0">
            <a:extLst>
              <a:ext uri="{FF2B5EF4-FFF2-40B4-BE49-F238E27FC236}">
                <a16:creationId xmlns:a16="http://schemas.microsoft.com/office/drawing/2014/main" id="{46AC521C-0E0D-014A-B434-D0650A6F5A3D}"/>
              </a:ext>
            </a:extLst>
          </p:cNvPr>
          <p:cNvSpPr txBox="1"/>
          <p:nvPr/>
        </p:nvSpPr>
        <p:spPr>
          <a:xfrm>
            <a:off x="4826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AxT0">
            <a:extLst>
              <a:ext uri="{FF2B5EF4-FFF2-40B4-BE49-F238E27FC236}">
                <a16:creationId xmlns:a16="http://schemas.microsoft.com/office/drawing/2014/main" id="{00E0BF7D-BA23-B045-926E-B54135CA8E73}"/>
              </a:ext>
            </a:extLst>
          </p:cNvPr>
          <p:cNvSpPr txBox="1"/>
          <p:nvPr/>
        </p:nvSpPr>
        <p:spPr>
          <a:xfrm>
            <a:off x="9652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Non-negativity &amp; definiteness</a:t>
            </a:r>
          </a:p>
        </p:txBody>
      </p:sp>
      <p:sp>
        <p:nvSpPr>
          <p:cNvPr id="14" name="AxFB0">
            <a:extLst>
              <a:ext uri="{FF2B5EF4-FFF2-40B4-BE49-F238E27FC236}">
                <a16:creationId xmlns:a16="http://schemas.microsoft.com/office/drawing/2014/main" id="{7C368D59-B0E6-BF4B-84BD-358BD94212F9}"/>
              </a:ext>
            </a:extLst>
          </p:cNvPr>
          <p:cNvSpPr/>
          <p:nvPr/>
        </p:nvSpPr>
        <p:spPr>
          <a:xfrm>
            <a:off x="6096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AxF0">
            <a:extLst>
              <a:ext uri="{FF2B5EF4-FFF2-40B4-BE49-F238E27FC236}">
                <a16:creationId xmlns:a16="http://schemas.microsoft.com/office/drawing/2014/main" id="{104DB1AE-4038-9840-A8B6-080253D81509}"/>
              </a:ext>
            </a:extLst>
          </p:cNvPr>
          <p:cNvSpPr txBox="1"/>
          <p:nvPr/>
        </p:nvSpPr>
        <p:spPr>
          <a:xfrm>
            <a:off x="6096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 ≥ 0,   and   ‖v‖ = 0 ⟺ v = 0</a:t>
            </a:r>
          </a:p>
        </p:txBody>
      </p:sp>
      <p:sp>
        <p:nvSpPr>
          <p:cNvPr id="16" name="AxI0">
            <a:extLst>
              <a:ext uri="{FF2B5EF4-FFF2-40B4-BE49-F238E27FC236}">
                <a16:creationId xmlns:a16="http://schemas.microsoft.com/office/drawing/2014/main" id="{AC678AED-6F2A-1140-8F3F-EB22F8609922}"/>
              </a:ext>
            </a:extLst>
          </p:cNvPr>
          <p:cNvSpPr txBox="1"/>
          <p:nvPr/>
        </p:nvSpPr>
        <p:spPr>
          <a:xfrm>
            <a:off x="6350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Only the zero vector has zero length. Everything else has positive size.</a:t>
            </a:r>
          </a:p>
        </p:txBody>
      </p:sp>
      <p:sp>
        <p:nvSpPr>
          <p:cNvPr id="17" name="AxCard1">
            <a:extLst>
              <a:ext uri="{FF2B5EF4-FFF2-40B4-BE49-F238E27FC236}">
                <a16:creationId xmlns:a16="http://schemas.microsoft.com/office/drawing/2014/main" id="{BA61E5EF-FF58-4B41-966E-E1F5BE4FA5DE}"/>
              </a:ext>
            </a:extLst>
          </p:cNvPr>
          <p:cNvSpPr/>
          <p:nvPr/>
        </p:nvSpPr>
        <p:spPr>
          <a:xfrm>
            <a:off x="43815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AxBadge1">
            <a:extLst>
              <a:ext uri="{FF2B5EF4-FFF2-40B4-BE49-F238E27FC236}">
                <a16:creationId xmlns:a16="http://schemas.microsoft.com/office/drawing/2014/main" id="{58AAB3DF-2F86-864B-8653-1264C6A3D2EE}"/>
              </a:ext>
            </a:extLst>
          </p:cNvPr>
          <p:cNvSpPr/>
          <p:nvPr/>
        </p:nvSpPr>
        <p:spPr>
          <a:xfrm>
            <a:off x="4381500" y="2730500"/>
            <a:ext cx="4064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AxN1">
            <a:extLst>
              <a:ext uri="{FF2B5EF4-FFF2-40B4-BE49-F238E27FC236}">
                <a16:creationId xmlns:a16="http://schemas.microsoft.com/office/drawing/2014/main" id="{E80DD037-907E-EF41-AF67-DE7A9F3E67CC}"/>
              </a:ext>
            </a:extLst>
          </p:cNvPr>
          <p:cNvSpPr txBox="1"/>
          <p:nvPr/>
        </p:nvSpPr>
        <p:spPr>
          <a:xfrm>
            <a:off x="43815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AxT1">
            <a:extLst>
              <a:ext uri="{FF2B5EF4-FFF2-40B4-BE49-F238E27FC236}">
                <a16:creationId xmlns:a16="http://schemas.microsoft.com/office/drawing/2014/main" id="{8005D54E-4F66-E44B-B734-185DAE1A487C}"/>
              </a:ext>
            </a:extLst>
          </p:cNvPr>
          <p:cNvSpPr txBox="1"/>
          <p:nvPr/>
        </p:nvSpPr>
        <p:spPr>
          <a:xfrm>
            <a:off x="48641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</a:rPr>
              <a:t>Absolute homogeneity</a:t>
            </a:r>
          </a:p>
        </p:txBody>
      </p:sp>
      <p:sp>
        <p:nvSpPr>
          <p:cNvPr id="29" name="AxFB1">
            <a:extLst>
              <a:ext uri="{FF2B5EF4-FFF2-40B4-BE49-F238E27FC236}">
                <a16:creationId xmlns:a16="http://schemas.microsoft.com/office/drawing/2014/main" id="{7EB684C9-2582-924D-9A60-46C553FE5DF5}"/>
              </a:ext>
            </a:extLst>
          </p:cNvPr>
          <p:cNvSpPr/>
          <p:nvPr/>
        </p:nvSpPr>
        <p:spPr>
          <a:xfrm>
            <a:off x="45085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AxF1">
            <a:extLst>
              <a:ext uri="{FF2B5EF4-FFF2-40B4-BE49-F238E27FC236}">
                <a16:creationId xmlns:a16="http://schemas.microsoft.com/office/drawing/2014/main" id="{1A862F37-97BA-DF41-ABD4-6536A24F5E9F}"/>
              </a:ext>
            </a:extLst>
          </p:cNvPr>
          <p:cNvSpPr txBox="1"/>
          <p:nvPr/>
        </p:nvSpPr>
        <p:spPr>
          <a:xfrm>
            <a:off x="45085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‖α·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v‖ = |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α| ·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v‖</a:t>
            </a:r>
          </a:p>
        </p:txBody>
      </p:sp>
      <p:sp>
        <p:nvSpPr>
          <p:cNvPr id="31" name="AxI1">
            <a:extLst>
              <a:ext uri="{FF2B5EF4-FFF2-40B4-BE49-F238E27FC236}">
                <a16:creationId xmlns:a16="http://schemas.microsoft.com/office/drawing/2014/main" id="{A27BD711-8D91-3F4F-97CB-80A7C7793F71}"/>
              </a:ext>
            </a:extLst>
          </p:cNvPr>
          <p:cNvSpPr txBox="1"/>
          <p:nvPr/>
        </p:nvSpPr>
        <p:spPr>
          <a:xfrm>
            <a:off x="45339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Scaling a vector by </a:t>
            </a:r>
            <a:r>
              <a:rPr lang="el-GR" sz="1200" i="1">
                <a:solidFill>
                  <a:srgbClr val="333333"/>
                </a:solidFill>
              </a:rPr>
              <a:t>α </a:t>
            </a:r>
            <a:r>
              <a:rPr lang="en-US" sz="1200" i="1">
                <a:solidFill>
                  <a:srgbClr val="333333"/>
                </a:solidFill>
              </a:rPr>
              <a:t>stretches its length by |</a:t>
            </a:r>
            <a:r>
              <a:rPr lang="el-GR" sz="1200" i="1">
                <a:solidFill>
                  <a:srgbClr val="333333"/>
                </a:solidFill>
              </a:rPr>
              <a:t>α|. </a:t>
            </a:r>
            <a:r>
              <a:rPr lang="en-US" sz="1200" i="1">
                <a:solidFill>
                  <a:srgbClr val="333333"/>
                </a:solidFill>
              </a:rPr>
              <a:t>Direction doesn't matter, only magnitude.</a:t>
            </a:r>
          </a:p>
        </p:txBody>
      </p:sp>
      <p:sp>
        <p:nvSpPr>
          <p:cNvPr id="32" name="AxCard2">
            <a:extLst>
              <a:ext uri="{FF2B5EF4-FFF2-40B4-BE49-F238E27FC236}">
                <a16:creationId xmlns:a16="http://schemas.microsoft.com/office/drawing/2014/main" id="{681B9AAA-0DE2-7F40-9EAF-08B62AA78143}"/>
              </a:ext>
            </a:extLst>
          </p:cNvPr>
          <p:cNvSpPr/>
          <p:nvPr/>
        </p:nvSpPr>
        <p:spPr>
          <a:xfrm>
            <a:off x="82804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AxBadge2">
            <a:extLst>
              <a:ext uri="{FF2B5EF4-FFF2-40B4-BE49-F238E27FC236}">
                <a16:creationId xmlns:a16="http://schemas.microsoft.com/office/drawing/2014/main" id="{7C1F4711-3BE6-0143-B46D-06AFB11A9E5F}"/>
              </a:ext>
            </a:extLst>
          </p:cNvPr>
          <p:cNvSpPr/>
          <p:nvPr/>
        </p:nvSpPr>
        <p:spPr>
          <a:xfrm>
            <a:off x="8280400" y="2730500"/>
            <a:ext cx="4064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AxN2">
            <a:extLst>
              <a:ext uri="{FF2B5EF4-FFF2-40B4-BE49-F238E27FC236}">
                <a16:creationId xmlns:a16="http://schemas.microsoft.com/office/drawing/2014/main" id="{D91240E5-22F7-4D49-911F-949005FF365F}"/>
              </a:ext>
            </a:extLst>
          </p:cNvPr>
          <p:cNvSpPr txBox="1"/>
          <p:nvPr/>
        </p:nvSpPr>
        <p:spPr>
          <a:xfrm>
            <a:off x="82804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AxT2">
            <a:extLst>
              <a:ext uri="{FF2B5EF4-FFF2-40B4-BE49-F238E27FC236}">
                <a16:creationId xmlns:a16="http://schemas.microsoft.com/office/drawing/2014/main" id="{EAC13E11-7BCE-D44B-82F1-F3764850D898}"/>
              </a:ext>
            </a:extLst>
          </p:cNvPr>
          <p:cNvSpPr txBox="1"/>
          <p:nvPr/>
        </p:nvSpPr>
        <p:spPr>
          <a:xfrm>
            <a:off x="87630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</a:rPr>
              <a:t>Triangle inequality</a:t>
            </a:r>
          </a:p>
        </p:txBody>
      </p:sp>
      <p:sp>
        <p:nvSpPr>
          <p:cNvPr id="55" name="AxFB2">
            <a:extLst>
              <a:ext uri="{FF2B5EF4-FFF2-40B4-BE49-F238E27FC236}">
                <a16:creationId xmlns:a16="http://schemas.microsoft.com/office/drawing/2014/main" id="{C3682E79-99BB-A940-845E-AC5C7207C22C}"/>
              </a:ext>
            </a:extLst>
          </p:cNvPr>
          <p:cNvSpPr/>
          <p:nvPr/>
        </p:nvSpPr>
        <p:spPr>
          <a:xfrm>
            <a:off x="84074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AxF2">
            <a:extLst>
              <a:ext uri="{FF2B5EF4-FFF2-40B4-BE49-F238E27FC236}">
                <a16:creationId xmlns:a16="http://schemas.microsoft.com/office/drawing/2014/main" id="{D1844F04-1C87-1644-A885-9CF79F3BD105}"/>
              </a:ext>
            </a:extLst>
          </p:cNvPr>
          <p:cNvSpPr txBox="1"/>
          <p:nvPr/>
        </p:nvSpPr>
        <p:spPr>
          <a:xfrm>
            <a:off x="84074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‖u + v‖ ≤ ‖u‖ + ‖v‖</a:t>
            </a:r>
          </a:p>
        </p:txBody>
      </p:sp>
      <p:sp>
        <p:nvSpPr>
          <p:cNvPr id="57" name="AxI2">
            <a:extLst>
              <a:ext uri="{FF2B5EF4-FFF2-40B4-BE49-F238E27FC236}">
                <a16:creationId xmlns:a16="http://schemas.microsoft.com/office/drawing/2014/main" id="{1858AD6A-B33C-214D-A182-D0553229B46F}"/>
              </a:ext>
            </a:extLst>
          </p:cNvPr>
          <p:cNvSpPr txBox="1"/>
          <p:nvPr/>
        </p:nvSpPr>
        <p:spPr>
          <a:xfrm>
            <a:off x="84328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The sum of two vectors is never longer than the sum of their lengths — straight line wins.</a:t>
            </a:r>
          </a:p>
        </p:txBody>
      </p:sp>
      <p:sp>
        <p:nvSpPr>
          <p:cNvPr id="58" name="NDCard">
            <a:extLst>
              <a:ext uri="{FF2B5EF4-FFF2-40B4-BE49-F238E27FC236}">
                <a16:creationId xmlns:a16="http://schemas.microsoft.com/office/drawing/2014/main" id="{27C8D6CC-C9AE-6246-8437-6FF3056E7DDB}"/>
              </a:ext>
            </a:extLst>
          </p:cNvPr>
          <p:cNvSpPr/>
          <p:nvPr/>
        </p:nvSpPr>
        <p:spPr>
          <a:xfrm>
            <a:off x="381000" y="5016500"/>
            <a:ext cx="11430000" cy="635000"/>
          </a:xfrm>
          <a:prstGeom prst="rect">
            <a:avLst/>
          </a:prstGeom>
          <a:solidFill>
            <a:srgbClr val="FAF6F0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NDH">
            <a:extLst>
              <a:ext uri="{FF2B5EF4-FFF2-40B4-BE49-F238E27FC236}">
                <a16:creationId xmlns:a16="http://schemas.microsoft.com/office/drawing/2014/main" id="{1DD4AB6A-6669-2844-984C-BE6DA3C2F448}"/>
              </a:ext>
            </a:extLst>
          </p:cNvPr>
          <p:cNvSpPr txBox="1"/>
          <p:nvPr/>
        </p:nvSpPr>
        <p:spPr>
          <a:xfrm>
            <a:off x="571500" y="51054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</a:rPr>
              <a:t>Norm → distance:</a:t>
            </a:r>
          </a:p>
        </p:txBody>
      </p:sp>
      <p:sp>
        <p:nvSpPr>
          <p:cNvPr id="60" name="NDB">
            <a:extLst>
              <a:ext uri="{FF2B5EF4-FFF2-40B4-BE49-F238E27FC236}">
                <a16:creationId xmlns:a16="http://schemas.microsoft.com/office/drawing/2014/main" id="{1FC9D65C-E9B1-BC46-9FE8-70A97DFCD013}"/>
              </a:ext>
            </a:extLst>
          </p:cNvPr>
          <p:cNvSpPr txBox="1"/>
          <p:nvPr/>
        </p:nvSpPr>
        <p:spPr>
          <a:xfrm>
            <a:off x="2730500" y="5105400"/>
            <a:ext cx="8953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Every norm induces a distance via  d(u, v) = ‖u − v‖.  All four metric properties (previous slides) follow automatically from the three norm axioms.</a:t>
            </a:r>
          </a:p>
        </p:txBody>
      </p:sp>
      <p:sp>
        <p:nvSpPr>
          <p:cNvPr id="61" name="TkBar">
            <a:extLst>
              <a:ext uri="{FF2B5EF4-FFF2-40B4-BE49-F238E27FC236}">
                <a16:creationId xmlns:a16="http://schemas.microsoft.com/office/drawing/2014/main" id="{349931AA-5072-2240-BAFE-52349A637B8A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kText">
            <a:extLst>
              <a:ext uri="{FF2B5EF4-FFF2-40B4-BE49-F238E27FC236}">
                <a16:creationId xmlns:a16="http://schemas.microsoft.com/office/drawing/2014/main" id="{0F21387A-CCB8-B340-8C2F-60DA5A55F57E}"/>
              </a:ext>
            </a:extLst>
          </p:cNvPr>
          <p:cNvSpPr txBox="1"/>
          <p:nvPr/>
        </p:nvSpPr>
        <p:spPr>
          <a:xfrm>
            <a:off x="635000" y="5969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A norm is a 'ruler' for vectors. Pick a ruler → you've picked a notion of distance.</a:t>
            </a:r>
          </a:p>
        </p:txBody>
      </p:sp>
    </p:spTree>
    <p:extLst>
      <p:ext uri="{BB962C8B-B14F-4D97-AF65-F5344CB8AC3E}">
        <p14:creationId xmlns:p14="http://schemas.microsoft.com/office/powerpoint/2010/main" val="4544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5366166A-0D39-5B4D-B8AB-BA1281C6C446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EB833D7-1583-3E43-B5A6-9659543D7B9A}"/>
              </a:ext>
            </a:extLst>
          </p:cNvPr>
          <p:cNvSpPr txBox="1"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Computing the Euclidean norm — three worked examples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88F3C332-944D-3B41-B637-8153F5BB1270}"/>
              </a:ext>
            </a:extLst>
          </p:cNvPr>
          <p:cNvSpPr txBox="1"/>
          <p:nvPr/>
        </p:nvSpPr>
        <p:spPr>
          <a:xfrm>
            <a:off x="292100" y="889000"/>
            <a:ext cx="11607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Try each one yourself, then check the dimmed solution below</a:t>
            </a:r>
          </a:p>
        </p:txBody>
      </p:sp>
      <p:sp>
        <p:nvSpPr>
          <p:cNvPr id="23" name="Card1">
            <a:extLst>
              <a:ext uri="{FF2B5EF4-FFF2-40B4-BE49-F238E27FC236}">
                <a16:creationId xmlns:a16="http://schemas.microsoft.com/office/drawing/2014/main" id="{994B362A-D52F-3B4D-BCD3-1CABABD814BA}"/>
              </a:ext>
            </a:extLst>
          </p:cNvPr>
          <p:cNvSpPr/>
          <p:nvPr/>
        </p:nvSpPr>
        <p:spPr>
          <a:xfrm>
            <a:off x="3810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CardHdr1">
            <a:extLst>
              <a:ext uri="{FF2B5EF4-FFF2-40B4-BE49-F238E27FC236}">
                <a16:creationId xmlns:a16="http://schemas.microsoft.com/office/drawing/2014/main" id="{D4A2E6BB-6CB3-6846-83A0-9AEDEE380ED0}"/>
              </a:ext>
            </a:extLst>
          </p:cNvPr>
          <p:cNvSpPr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CardTitle1">
            <a:extLst>
              <a:ext uri="{FF2B5EF4-FFF2-40B4-BE49-F238E27FC236}">
                <a16:creationId xmlns:a16="http://schemas.microsoft.com/office/drawing/2014/main" id="{2594591D-5BB6-F448-A464-DC08E5210092}"/>
              </a:ext>
            </a:extLst>
          </p:cNvPr>
          <p:cNvSpPr txBox="1"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1</a:t>
            </a:r>
          </a:p>
        </p:txBody>
      </p:sp>
      <p:sp>
        <p:nvSpPr>
          <p:cNvPr id="26" name="Q1">
            <a:extLst>
              <a:ext uri="{FF2B5EF4-FFF2-40B4-BE49-F238E27FC236}">
                <a16:creationId xmlns:a16="http://schemas.microsoft.com/office/drawing/2014/main" id="{C63554E2-B87B-794D-A681-5494C47A711F}"/>
              </a:ext>
            </a:extLst>
          </p:cNvPr>
          <p:cNvSpPr txBox="1"/>
          <p:nvPr/>
        </p:nvSpPr>
        <p:spPr>
          <a:xfrm>
            <a:off x="5588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[3, 4]</a:t>
            </a:r>
          </a:p>
        </p:txBody>
      </p:sp>
      <p:sp>
        <p:nvSpPr>
          <p:cNvPr id="27" name="Div1">
            <a:extLst>
              <a:ext uri="{FF2B5EF4-FFF2-40B4-BE49-F238E27FC236}">
                <a16:creationId xmlns:a16="http://schemas.microsoft.com/office/drawing/2014/main" id="{D88EE53D-16C1-4E4E-9478-CEA5D0DBB3EC}"/>
              </a:ext>
            </a:extLst>
          </p:cNvPr>
          <p:cNvSpPr/>
          <p:nvPr/>
        </p:nvSpPr>
        <p:spPr>
          <a:xfrm>
            <a:off x="5588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Sol1">
            <a:extLst>
              <a:ext uri="{FF2B5EF4-FFF2-40B4-BE49-F238E27FC236}">
                <a16:creationId xmlns:a16="http://schemas.microsoft.com/office/drawing/2014/main" id="{989DF336-7278-F047-82BF-AC6E9EF54B74}"/>
              </a:ext>
            </a:extLst>
          </p:cNvPr>
          <p:cNvSpPr txBox="1"/>
          <p:nvPr/>
        </p:nvSpPr>
        <p:spPr>
          <a:xfrm>
            <a:off x="5588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√(3² + 4²)
     = √(9 + 16)
     = √25
     = 5</a:t>
            </a:r>
          </a:p>
        </p:txBody>
      </p:sp>
      <p:sp>
        <p:nvSpPr>
          <p:cNvPr id="36" name="Card2">
            <a:extLst>
              <a:ext uri="{FF2B5EF4-FFF2-40B4-BE49-F238E27FC236}">
                <a16:creationId xmlns:a16="http://schemas.microsoft.com/office/drawing/2014/main" id="{7D2DBCFA-CFE5-7E48-929B-79FB1F711030}"/>
              </a:ext>
            </a:extLst>
          </p:cNvPr>
          <p:cNvSpPr/>
          <p:nvPr/>
        </p:nvSpPr>
        <p:spPr>
          <a:xfrm>
            <a:off x="43434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CardHdr2">
            <a:extLst>
              <a:ext uri="{FF2B5EF4-FFF2-40B4-BE49-F238E27FC236}">
                <a16:creationId xmlns:a16="http://schemas.microsoft.com/office/drawing/2014/main" id="{3078C40D-6497-9242-AD28-A1F44BB97A2A}"/>
              </a:ext>
            </a:extLst>
          </p:cNvPr>
          <p:cNvSpPr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Title2">
            <a:extLst>
              <a:ext uri="{FF2B5EF4-FFF2-40B4-BE49-F238E27FC236}">
                <a16:creationId xmlns:a16="http://schemas.microsoft.com/office/drawing/2014/main" id="{FF4AB28E-2EE3-FD40-B60A-30B295339285}"/>
              </a:ext>
            </a:extLst>
          </p:cNvPr>
          <p:cNvSpPr txBox="1"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2</a:t>
            </a:r>
          </a:p>
        </p:txBody>
      </p:sp>
      <p:sp>
        <p:nvSpPr>
          <p:cNvPr id="39" name="Q2">
            <a:extLst>
              <a:ext uri="{FF2B5EF4-FFF2-40B4-BE49-F238E27FC236}">
                <a16:creationId xmlns:a16="http://schemas.microsoft.com/office/drawing/2014/main" id="{B0D23746-B99D-284F-8B21-CE6EB147D901}"/>
              </a:ext>
            </a:extLst>
          </p:cNvPr>
          <p:cNvSpPr txBox="1"/>
          <p:nvPr/>
        </p:nvSpPr>
        <p:spPr>
          <a:xfrm>
            <a:off x="45212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[1, 2, 2]</a:t>
            </a:r>
          </a:p>
        </p:txBody>
      </p:sp>
      <p:sp>
        <p:nvSpPr>
          <p:cNvPr id="40" name="Div2">
            <a:extLst>
              <a:ext uri="{FF2B5EF4-FFF2-40B4-BE49-F238E27FC236}">
                <a16:creationId xmlns:a16="http://schemas.microsoft.com/office/drawing/2014/main" id="{A3B9E380-15F3-424D-A1AB-39D2EEAB7BD9}"/>
              </a:ext>
            </a:extLst>
          </p:cNvPr>
          <p:cNvSpPr/>
          <p:nvPr/>
        </p:nvSpPr>
        <p:spPr>
          <a:xfrm>
            <a:off x="45212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Sol2">
            <a:extLst>
              <a:ext uri="{FF2B5EF4-FFF2-40B4-BE49-F238E27FC236}">
                <a16:creationId xmlns:a16="http://schemas.microsoft.com/office/drawing/2014/main" id="{E5485D1C-9E56-354D-AD53-D094193EEA34}"/>
              </a:ext>
            </a:extLst>
          </p:cNvPr>
          <p:cNvSpPr txBox="1"/>
          <p:nvPr/>
        </p:nvSpPr>
        <p:spPr>
          <a:xfrm>
            <a:off x="45212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√(1² + 2² + 2²)
     = √(1 + 4 + 4)
     = √9
     = 3</a:t>
            </a:r>
          </a:p>
        </p:txBody>
      </p:sp>
      <p:sp>
        <p:nvSpPr>
          <p:cNvPr id="42" name="Card3">
            <a:extLst>
              <a:ext uri="{FF2B5EF4-FFF2-40B4-BE49-F238E27FC236}">
                <a16:creationId xmlns:a16="http://schemas.microsoft.com/office/drawing/2014/main" id="{78E4283B-01CF-7240-B571-A99A5037BB4C}"/>
              </a:ext>
            </a:extLst>
          </p:cNvPr>
          <p:cNvSpPr/>
          <p:nvPr/>
        </p:nvSpPr>
        <p:spPr>
          <a:xfrm>
            <a:off x="83058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Hdr3">
            <a:extLst>
              <a:ext uri="{FF2B5EF4-FFF2-40B4-BE49-F238E27FC236}">
                <a16:creationId xmlns:a16="http://schemas.microsoft.com/office/drawing/2014/main" id="{C48EDF60-8524-AC4F-BE42-21668B04A34D}"/>
              </a:ext>
            </a:extLst>
          </p:cNvPr>
          <p:cNvSpPr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CardTitle3">
            <a:extLst>
              <a:ext uri="{FF2B5EF4-FFF2-40B4-BE49-F238E27FC236}">
                <a16:creationId xmlns:a16="http://schemas.microsoft.com/office/drawing/2014/main" id="{6C6A2BD4-5340-CA49-AE7B-BFDEFEFBDF87}"/>
              </a:ext>
            </a:extLst>
          </p:cNvPr>
          <p:cNvSpPr txBox="1"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3</a:t>
            </a:r>
          </a:p>
        </p:txBody>
      </p:sp>
      <p:sp>
        <p:nvSpPr>
          <p:cNvPr id="45" name="Q3">
            <a:extLst>
              <a:ext uri="{FF2B5EF4-FFF2-40B4-BE49-F238E27FC236}">
                <a16:creationId xmlns:a16="http://schemas.microsoft.com/office/drawing/2014/main" id="{F5DF00D0-D435-B94A-A047-532D704D0F0B}"/>
              </a:ext>
            </a:extLst>
          </p:cNvPr>
          <p:cNvSpPr txBox="1"/>
          <p:nvPr/>
        </p:nvSpPr>
        <p:spPr>
          <a:xfrm>
            <a:off x="84836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[2, −1, 2, 4]</a:t>
            </a:r>
          </a:p>
        </p:txBody>
      </p:sp>
      <p:sp>
        <p:nvSpPr>
          <p:cNvPr id="46" name="Div3">
            <a:extLst>
              <a:ext uri="{FF2B5EF4-FFF2-40B4-BE49-F238E27FC236}">
                <a16:creationId xmlns:a16="http://schemas.microsoft.com/office/drawing/2014/main" id="{27A39DFE-19EB-4942-925F-4465EA664436}"/>
              </a:ext>
            </a:extLst>
          </p:cNvPr>
          <p:cNvSpPr/>
          <p:nvPr/>
        </p:nvSpPr>
        <p:spPr>
          <a:xfrm>
            <a:off x="84836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Sol3">
            <a:extLst>
              <a:ext uri="{FF2B5EF4-FFF2-40B4-BE49-F238E27FC236}">
                <a16:creationId xmlns:a16="http://schemas.microsoft.com/office/drawing/2014/main" id="{AE34C18D-0932-EB4F-BB12-27185B7FA314}"/>
              </a:ext>
            </a:extLst>
          </p:cNvPr>
          <p:cNvSpPr txBox="1"/>
          <p:nvPr/>
        </p:nvSpPr>
        <p:spPr>
          <a:xfrm>
            <a:off x="84836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√(2² + (−1)² + 2² + 4²)
     = √(4 + 1 + 4 + 16)
     = √25
     = 5</a:t>
            </a:r>
          </a:p>
        </p:txBody>
      </p:sp>
      <p:sp>
        <p:nvSpPr>
          <p:cNvPr id="48" name="HintBar">
            <a:extLst>
              <a:ext uri="{FF2B5EF4-FFF2-40B4-BE49-F238E27FC236}">
                <a16:creationId xmlns:a16="http://schemas.microsoft.com/office/drawing/2014/main" id="{EB7C38EB-04AA-D543-9A5F-C50CF0D9E97E}"/>
              </a:ext>
            </a:extLst>
          </p:cNvPr>
          <p:cNvSpPr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HintTxt">
            <a:extLst>
              <a:ext uri="{FF2B5EF4-FFF2-40B4-BE49-F238E27FC236}">
                <a16:creationId xmlns:a16="http://schemas.microsoft.com/office/drawing/2014/main" id="{C740973E-12DE-CE40-B781-7C1A3FBA83B6}"/>
              </a:ext>
            </a:extLst>
          </p:cNvPr>
          <p:cNvSpPr txBox="1"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  <a:latin typeface="Cambria Math"/>
                <a:ea typeface="Cambria Math"/>
              </a:rPr>
              <a:t>💡  General formula:  ‖v‖₂ = √(v₁² + v₂² + … + vₙ²)  — the length of the arrow from the origin to v in ℝⁿ</a:t>
            </a:r>
          </a:p>
        </p:txBody>
      </p:sp>
      <p:sp>
        <p:nvSpPr>
          <p:cNvPr id="50" name="TkBar">
            <a:extLst>
              <a:ext uri="{FF2B5EF4-FFF2-40B4-BE49-F238E27FC236}">
                <a16:creationId xmlns:a16="http://schemas.microsoft.com/office/drawing/2014/main" id="{4F92A4C2-3129-2546-AF2B-0605698BA7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kText">
            <a:extLst>
              <a:ext uri="{FF2B5EF4-FFF2-40B4-BE49-F238E27FC236}">
                <a16:creationId xmlns:a16="http://schemas.microsoft.com/office/drawing/2014/main" id="{E5318FA8-4A30-0742-B6F8-38842AECE2D9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The L² norm just generalizes Pythagoras to any number of dimensions</a:t>
            </a:r>
          </a:p>
        </p:txBody>
      </p:sp>
    </p:spTree>
    <p:extLst>
      <p:ext uri="{BB962C8B-B14F-4D97-AF65-F5344CB8AC3E}">
        <p14:creationId xmlns:p14="http://schemas.microsoft.com/office/powerpoint/2010/main" val="364810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B0D79286-6EEB-1740-B1D4-F97F692C649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7B9E8A5-4FA7-6B44-8893-822DF61617EE}"/>
              </a:ext>
            </a:extLst>
          </p:cNvPr>
          <p:cNvSpPr txBox="1"/>
          <p:nvPr/>
        </p:nvSpPr>
        <p:spPr>
          <a:xfrm>
            <a:off x="304800" y="330200"/>
            <a:ext cx="11684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Using the norm as a distance — three worked examples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AAE1D03-3853-D84B-A574-A94C5B77B4AD}"/>
              </a:ext>
            </a:extLst>
          </p:cNvPr>
          <p:cNvSpPr txBox="1"/>
          <p:nvPr/>
        </p:nvSpPr>
        <p:spPr>
          <a:xfrm>
            <a:off x="304800" y="889000"/>
            <a:ext cx="1168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d(u, v) = ‖u − v‖   —   try each, then check the dimmed solution</a:t>
            </a:r>
          </a:p>
        </p:txBody>
      </p:sp>
      <p:sp>
        <p:nvSpPr>
          <p:cNvPr id="5" name="Example 1Card">
            <a:extLst>
              <a:ext uri="{FF2B5EF4-FFF2-40B4-BE49-F238E27FC236}">
                <a16:creationId xmlns:a16="http://schemas.microsoft.com/office/drawing/2014/main" id="{FEA9FF12-20F9-E14C-BF08-85CCF0DEC93A}"/>
              </a:ext>
            </a:extLst>
          </p:cNvPr>
          <p:cNvSpPr/>
          <p:nvPr/>
        </p:nvSpPr>
        <p:spPr>
          <a:xfrm>
            <a:off x="3810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Example 1Hdr">
            <a:extLst>
              <a:ext uri="{FF2B5EF4-FFF2-40B4-BE49-F238E27FC236}">
                <a16:creationId xmlns:a16="http://schemas.microsoft.com/office/drawing/2014/main" id="{6EF9E9B9-331E-2643-8579-D02C5CB276FA}"/>
              </a:ext>
            </a:extLst>
          </p:cNvPr>
          <p:cNvSpPr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Example 1Lbl">
            <a:extLst>
              <a:ext uri="{FF2B5EF4-FFF2-40B4-BE49-F238E27FC236}">
                <a16:creationId xmlns:a16="http://schemas.microsoft.com/office/drawing/2014/main" id="{38173F58-112F-0B4F-8EA4-E9CFFCA90B1C}"/>
              </a:ext>
            </a:extLst>
          </p:cNvPr>
          <p:cNvSpPr txBox="1"/>
          <p:nvPr/>
        </p:nvSpPr>
        <p:spPr>
          <a:xfrm>
            <a:off x="5334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1</a:t>
            </a:r>
          </a:p>
        </p:txBody>
      </p:sp>
      <p:sp>
        <p:nvSpPr>
          <p:cNvPr id="8" name="Example 1Q">
            <a:extLst>
              <a:ext uri="{FF2B5EF4-FFF2-40B4-BE49-F238E27FC236}">
                <a16:creationId xmlns:a16="http://schemas.microsoft.com/office/drawing/2014/main" id="{5D169D1C-7349-194F-B8C0-09D88A50F6F4}"/>
              </a:ext>
            </a:extLst>
          </p:cNvPr>
          <p:cNvSpPr txBox="1"/>
          <p:nvPr/>
        </p:nvSpPr>
        <p:spPr>
          <a:xfrm>
            <a:off x="5334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[1, 2], v = [4, 6]</a:t>
            </a:r>
          </a:p>
        </p:txBody>
      </p:sp>
      <p:sp>
        <p:nvSpPr>
          <p:cNvPr id="9" name="Example 1Div">
            <a:extLst>
              <a:ext uri="{FF2B5EF4-FFF2-40B4-BE49-F238E27FC236}">
                <a16:creationId xmlns:a16="http://schemas.microsoft.com/office/drawing/2014/main" id="{DB8DDCB1-0B35-E442-BF0E-DC5C1B740EAE}"/>
              </a:ext>
            </a:extLst>
          </p:cNvPr>
          <p:cNvSpPr/>
          <p:nvPr/>
        </p:nvSpPr>
        <p:spPr>
          <a:xfrm>
            <a:off x="5842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Example 1S">
            <a:extLst>
              <a:ext uri="{FF2B5EF4-FFF2-40B4-BE49-F238E27FC236}">
                <a16:creationId xmlns:a16="http://schemas.microsoft.com/office/drawing/2014/main" id="{0D31438E-F811-F64E-83A5-332042A57298}"/>
              </a:ext>
            </a:extLst>
          </p:cNvPr>
          <p:cNvSpPr txBox="1"/>
          <p:nvPr/>
        </p:nvSpPr>
        <p:spPr>
          <a:xfrm>
            <a:off x="5334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[−3, −4]
‖u − v‖₂ = √(9 + 16)
         = √25
         = 5</a:t>
            </a:r>
          </a:p>
        </p:txBody>
      </p:sp>
      <p:sp>
        <p:nvSpPr>
          <p:cNvPr id="11" name="Example 2Card">
            <a:extLst>
              <a:ext uri="{FF2B5EF4-FFF2-40B4-BE49-F238E27FC236}">
                <a16:creationId xmlns:a16="http://schemas.microsoft.com/office/drawing/2014/main" id="{E0DEB019-5EDF-2F40-8AFE-9EFC56507019}"/>
              </a:ext>
            </a:extLst>
          </p:cNvPr>
          <p:cNvSpPr/>
          <p:nvPr/>
        </p:nvSpPr>
        <p:spPr>
          <a:xfrm>
            <a:off x="43434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Example 2Hdr">
            <a:extLst>
              <a:ext uri="{FF2B5EF4-FFF2-40B4-BE49-F238E27FC236}">
                <a16:creationId xmlns:a16="http://schemas.microsoft.com/office/drawing/2014/main" id="{F1B2D059-C99F-E840-A4FE-E55E87633D5F}"/>
              </a:ext>
            </a:extLst>
          </p:cNvPr>
          <p:cNvSpPr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Example 2Lbl">
            <a:extLst>
              <a:ext uri="{FF2B5EF4-FFF2-40B4-BE49-F238E27FC236}">
                <a16:creationId xmlns:a16="http://schemas.microsoft.com/office/drawing/2014/main" id="{6718CD6D-CD6A-4143-993E-CD66B528C0F6}"/>
              </a:ext>
            </a:extLst>
          </p:cNvPr>
          <p:cNvSpPr txBox="1"/>
          <p:nvPr/>
        </p:nvSpPr>
        <p:spPr>
          <a:xfrm>
            <a:off x="44958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2</a:t>
            </a:r>
          </a:p>
        </p:txBody>
      </p:sp>
      <p:sp>
        <p:nvSpPr>
          <p:cNvPr id="14" name="Example 2Q">
            <a:extLst>
              <a:ext uri="{FF2B5EF4-FFF2-40B4-BE49-F238E27FC236}">
                <a16:creationId xmlns:a16="http://schemas.microsoft.com/office/drawing/2014/main" id="{B24C06E7-63A2-B04B-B4D0-B52DB6BCD781}"/>
              </a:ext>
            </a:extLst>
          </p:cNvPr>
          <p:cNvSpPr txBox="1"/>
          <p:nvPr/>
        </p:nvSpPr>
        <p:spPr>
          <a:xfrm>
            <a:off x="44958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[0, 0, 0], v = [1, 1, 1]</a:t>
            </a:r>
          </a:p>
        </p:txBody>
      </p:sp>
      <p:sp>
        <p:nvSpPr>
          <p:cNvPr id="15" name="Example 2Div">
            <a:extLst>
              <a:ext uri="{FF2B5EF4-FFF2-40B4-BE49-F238E27FC236}">
                <a16:creationId xmlns:a16="http://schemas.microsoft.com/office/drawing/2014/main" id="{918143C6-1129-B346-86A5-F12FF56D7A81}"/>
              </a:ext>
            </a:extLst>
          </p:cNvPr>
          <p:cNvSpPr/>
          <p:nvPr/>
        </p:nvSpPr>
        <p:spPr>
          <a:xfrm>
            <a:off x="45466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Example 2S">
            <a:extLst>
              <a:ext uri="{FF2B5EF4-FFF2-40B4-BE49-F238E27FC236}">
                <a16:creationId xmlns:a16="http://schemas.microsoft.com/office/drawing/2014/main" id="{AE690252-50FD-2E4F-8991-8078F8FC4365}"/>
              </a:ext>
            </a:extLst>
          </p:cNvPr>
          <p:cNvSpPr txBox="1"/>
          <p:nvPr/>
        </p:nvSpPr>
        <p:spPr>
          <a:xfrm>
            <a:off x="44958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[−1, −1, −1]
‖u − v‖₂ = √(1 + 1 + 1)
         = √3
         ≈ 1.73</a:t>
            </a:r>
          </a:p>
        </p:txBody>
      </p:sp>
      <p:sp>
        <p:nvSpPr>
          <p:cNvPr id="17" name="Example 3Card">
            <a:extLst>
              <a:ext uri="{FF2B5EF4-FFF2-40B4-BE49-F238E27FC236}">
                <a16:creationId xmlns:a16="http://schemas.microsoft.com/office/drawing/2014/main" id="{967F6B79-3840-D240-9D3F-DED619B6D702}"/>
              </a:ext>
            </a:extLst>
          </p:cNvPr>
          <p:cNvSpPr/>
          <p:nvPr/>
        </p:nvSpPr>
        <p:spPr>
          <a:xfrm>
            <a:off x="83058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Example 3Hdr">
            <a:extLst>
              <a:ext uri="{FF2B5EF4-FFF2-40B4-BE49-F238E27FC236}">
                <a16:creationId xmlns:a16="http://schemas.microsoft.com/office/drawing/2014/main" id="{58A4AFAF-6FCC-1D43-9942-F10C08F8A733}"/>
              </a:ext>
            </a:extLst>
          </p:cNvPr>
          <p:cNvSpPr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Example 3Lbl">
            <a:extLst>
              <a:ext uri="{FF2B5EF4-FFF2-40B4-BE49-F238E27FC236}">
                <a16:creationId xmlns:a16="http://schemas.microsoft.com/office/drawing/2014/main" id="{BEB706C1-B87F-B944-A15F-D252B68E3F27}"/>
              </a:ext>
            </a:extLst>
          </p:cNvPr>
          <p:cNvSpPr txBox="1"/>
          <p:nvPr/>
        </p:nvSpPr>
        <p:spPr>
          <a:xfrm>
            <a:off x="84582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3</a:t>
            </a:r>
          </a:p>
        </p:txBody>
      </p:sp>
      <p:sp>
        <p:nvSpPr>
          <p:cNvPr id="28" name="Example 3Q">
            <a:extLst>
              <a:ext uri="{FF2B5EF4-FFF2-40B4-BE49-F238E27FC236}">
                <a16:creationId xmlns:a16="http://schemas.microsoft.com/office/drawing/2014/main" id="{ECC37EB5-9F8E-6445-AC0B-0380BCD5C585}"/>
              </a:ext>
            </a:extLst>
          </p:cNvPr>
          <p:cNvSpPr txBox="1"/>
          <p:nvPr/>
        </p:nvSpPr>
        <p:spPr>
          <a:xfrm>
            <a:off x="84582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[2, 5, 1], v = [6, 1, 4]</a:t>
            </a:r>
          </a:p>
        </p:txBody>
      </p:sp>
      <p:sp>
        <p:nvSpPr>
          <p:cNvPr id="29" name="Example 3Div">
            <a:extLst>
              <a:ext uri="{FF2B5EF4-FFF2-40B4-BE49-F238E27FC236}">
                <a16:creationId xmlns:a16="http://schemas.microsoft.com/office/drawing/2014/main" id="{FFFA78A0-E024-7B46-B1FF-58A1D06BB912}"/>
              </a:ext>
            </a:extLst>
          </p:cNvPr>
          <p:cNvSpPr/>
          <p:nvPr/>
        </p:nvSpPr>
        <p:spPr>
          <a:xfrm>
            <a:off x="85090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Example 3S">
            <a:extLst>
              <a:ext uri="{FF2B5EF4-FFF2-40B4-BE49-F238E27FC236}">
                <a16:creationId xmlns:a16="http://schemas.microsoft.com/office/drawing/2014/main" id="{D151482D-860A-1443-B580-F0FBE3E1648F}"/>
              </a:ext>
            </a:extLst>
          </p:cNvPr>
          <p:cNvSpPr txBox="1"/>
          <p:nvPr/>
        </p:nvSpPr>
        <p:spPr>
          <a:xfrm>
            <a:off x="84582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[−4, 4, −3]
‖u − v‖₂ = √(16 + 16 + 9)
         = √41
         ≈ 6.40</a:t>
            </a:r>
          </a:p>
        </p:txBody>
      </p:sp>
      <p:sp>
        <p:nvSpPr>
          <p:cNvPr id="31" name="HintBar">
            <a:extLst>
              <a:ext uri="{FF2B5EF4-FFF2-40B4-BE49-F238E27FC236}">
                <a16:creationId xmlns:a16="http://schemas.microsoft.com/office/drawing/2014/main" id="{5DEFE4DC-A392-3543-BD79-D9A0EA301E57}"/>
              </a:ext>
            </a:extLst>
          </p:cNvPr>
          <p:cNvSpPr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solidFill>
            <a:srgbClr val="FAF5E8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HintIcon">
            <a:extLst>
              <a:ext uri="{FF2B5EF4-FFF2-40B4-BE49-F238E27FC236}">
                <a16:creationId xmlns:a16="http://schemas.microsoft.com/office/drawing/2014/main" id="{5B2C202E-1D0B-7F4E-BE9A-06697D5F1B48}"/>
              </a:ext>
            </a:extLst>
          </p:cNvPr>
          <p:cNvSpPr txBox="1"/>
          <p:nvPr/>
        </p:nvSpPr>
        <p:spPr>
          <a:xfrm>
            <a:off x="482600" y="5232400"/>
            <a:ext cx="355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7A57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33" name="HintTxt">
            <a:extLst>
              <a:ext uri="{FF2B5EF4-FFF2-40B4-BE49-F238E27FC236}">
                <a16:creationId xmlns:a16="http://schemas.microsoft.com/office/drawing/2014/main" id="{63557287-C0AE-1F43-B5DD-1C51E369F17D}"/>
              </a:ext>
            </a:extLst>
          </p:cNvPr>
          <p:cNvSpPr txBox="1"/>
          <p:nvPr/>
        </p:nvSpPr>
        <p:spPr>
          <a:xfrm>
            <a:off x="889000" y="5270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Arial"/>
                <a:cs typeface="Arial"/>
              </a:rPr>
              <a:t>Vectorized recipe:  subtract → square each component → sum → square root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304A1333-9EDA-EA42-803E-B124D9D66FC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kText">
            <a:extLst>
              <a:ext uri="{FF2B5EF4-FFF2-40B4-BE49-F238E27FC236}">
                <a16:creationId xmlns:a16="http://schemas.microsoft.com/office/drawing/2014/main" id="{9B1952E7-C97D-0446-B783-DEF84CCB5A48}"/>
              </a:ext>
            </a:extLst>
          </p:cNvPr>
          <p:cNvSpPr txBox="1"/>
          <p:nvPr/>
        </p:nvSpPr>
        <p:spPr>
          <a:xfrm>
            <a:off x="381000" y="5880100"/>
            <a:ext cx="11430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A norm of the difference IS a distance — the foundation of KNN, clustering, regression error, and more</a:t>
            </a:r>
          </a:p>
        </p:txBody>
      </p:sp>
    </p:spTree>
    <p:extLst>
      <p:ext uri="{BB962C8B-B14F-4D97-AF65-F5344CB8AC3E}">
        <p14:creationId xmlns:p14="http://schemas.microsoft.com/office/powerpoint/2010/main" val="181863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861F2505-8DDA-3E4F-AD0C-400279457E2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0FA82336-D836-C34E-82A1-7F40BFB37FF2}"/>
              </a:ext>
            </a:extLst>
          </p:cNvPr>
          <p:cNvSpPr txBox="1"/>
          <p:nvPr/>
        </p:nvSpPr>
        <p:spPr>
          <a:xfrm>
            <a:off x="304800" y="342900"/>
            <a:ext cx="11582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Different types of norms — the Lᵖ family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9BC578D5-621D-0243-B770-DC22B64F30B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Each norm measures "size" differently — the choice shapes geometry, optimization, and ML behavior</a:t>
            </a:r>
          </a:p>
        </p:txBody>
      </p:sp>
      <p:sp>
        <p:nvSpPr>
          <p:cNvPr id="23" name="LpCard">
            <a:extLst>
              <a:ext uri="{FF2B5EF4-FFF2-40B4-BE49-F238E27FC236}">
                <a16:creationId xmlns:a16="http://schemas.microsoft.com/office/drawing/2014/main" id="{426822D9-ED5F-8247-A06E-BBDA76D772BB}"/>
              </a:ext>
            </a:extLst>
          </p:cNvPr>
          <p:cNvSpPr/>
          <p:nvPr/>
        </p:nvSpPr>
        <p:spPr>
          <a:xfrm>
            <a:off x="381000" y="1270000"/>
            <a:ext cx="11430000" cy="889000"/>
          </a:xfrm>
          <a:prstGeom prst="rect">
            <a:avLst/>
          </a:prstGeom>
          <a:solidFill>
            <a:srgbClr val="F5F0EB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pLbl">
            <a:extLst>
              <a:ext uri="{FF2B5EF4-FFF2-40B4-BE49-F238E27FC236}">
                <a16:creationId xmlns:a16="http://schemas.microsoft.com/office/drawing/2014/main" id="{A3C51EFC-AB60-4F45-93AD-357DA6F4701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General Lᵖ norm</a:t>
            </a:r>
          </a:p>
        </p:txBody>
      </p:sp>
      <p:sp>
        <p:nvSpPr>
          <p:cNvPr id="25" name="LpFx">
            <a:extLst>
              <a:ext uri="{FF2B5EF4-FFF2-40B4-BE49-F238E27FC236}">
                <a16:creationId xmlns:a16="http://schemas.microsoft.com/office/drawing/2014/main" id="{50BB7989-773F-0048-BF16-8E78E5BA9CAA}"/>
              </a:ext>
            </a:extLst>
          </p:cNvPr>
          <p:cNvSpPr txBox="1"/>
          <p:nvPr/>
        </p:nvSpPr>
        <p:spPr>
          <a:xfrm>
            <a:off x="558800" y="1651000"/>
            <a:ext cx="952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333333"/>
                </a:solidFill>
                <a:latin typeface="Cambria Math"/>
                <a:ea typeface="Cambria Math"/>
              </a:rPr>
              <a:t>‖v‖ₚ = ( |v₁|ᵖ + |v₂|ᵖ + … + |vₙ|ᵖ )^(1/p)     for p ≥ 1</a:t>
            </a:r>
          </a:p>
        </p:txBody>
      </p:sp>
      <p:sp>
        <p:nvSpPr>
          <p:cNvPr id="26" name="LpNote">
            <a:extLst>
              <a:ext uri="{FF2B5EF4-FFF2-40B4-BE49-F238E27FC236}">
                <a16:creationId xmlns:a16="http://schemas.microsoft.com/office/drawing/2014/main" id="{5D64F5F6-599B-E847-BD57-9A573EFD3A1F}"/>
              </a:ext>
            </a:extLst>
          </p:cNvPr>
          <p:cNvSpPr txBox="1"/>
          <p:nvPr/>
        </p:nvSpPr>
        <p:spPr>
          <a:xfrm>
            <a:off x="7620000" y="17526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Different values of p give different geometries</a:t>
            </a:r>
          </a:p>
        </p:txBody>
      </p:sp>
      <p:sp>
        <p:nvSpPr>
          <p:cNvPr id="27" name="Card_L¹">
            <a:extLst>
              <a:ext uri="{FF2B5EF4-FFF2-40B4-BE49-F238E27FC236}">
                <a16:creationId xmlns:a16="http://schemas.microsoft.com/office/drawing/2014/main" id="{4FC6B077-36B8-D64E-9899-38A3C1C5A8C8}"/>
              </a:ext>
            </a:extLst>
          </p:cNvPr>
          <p:cNvSpPr/>
          <p:nvPr/>
        </p:nvSpPr>
        <p:spPr>
          <a:xfrm>
            <a:off x="381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_L¹">
            <a:extLst>
              <a:ext uri="{FF2B5EF4-FFF2-40B4-BE49-F238E27FC236}">
                <a16:creationId xmlns:a16="http://schemas.microsoft.com/office/drawing/2014/main" id="{D30443A0-DBFC-5647-B780-DFDEE26D4318}"/>
              </a:ext>
            </a:extLst>
          </p:cNvPr>
          <p:cNvSpPr/>
          <p:nvPr/>
        </p:nvSpPr>
        <p:spPr>
          <a:xfrm>
            <a:off x="381000" y="2349500"/>
            <a:ext cx="2794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Name_L¹">
            <a:extLst>
              <a:ext uri="{FF2B5EF4-FFF2-40B4-BE49-F238E27FC236}">
                <a16:creationId xmlns:a16="http://schemas.microsoft.com/office/drawing/2014/main" id="{88D1071E-94CA-234E-86B2-85B01B23139B}"/>
              </a:ext>
            </a:extLst>
          </p:cNvPr>
          <p:cNvSpPr txBox="1"/>
          <p:nvPr/>
        </p:nvSpPr>
        <p:spPr>
          <a:xfrm>
            <a:off x="508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L¹ norm</a:t>
            </a:r>
          </a:p>
        </p:txBody>
      </p:sp>
      <p:sp>
        <p:nvSpPr>
          <p:cNvPr id="37" name="CardP_L¹">
            <a:extLst>
              <a:ext uri="{FF2B5EF4-FFF2-40B4-BE49-F238E27FC236}">
                <a16:creationId xmlns:a16="http://schemas.microsoft.com/office/drawing/2014/main" id="{B1610619-CDA4-3E49-82F0-97D076B0F890}"/>
              </a:ext>
            </a:extLst>
          </p:cNvPr>
          <p:cNvSpPr txBox="1"/>
          <p:nvPr/>
        </p:nvSpPr>
        <p:spPr>
          <a:xfrm>
            <a:off x="508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= 1</a:t>
            </a:r>
          </a:p>
        </p:txBody>
      </p:sp>
      <p:sp>
        <p:nvSpPr>
          <p:cNvPr id="38" name="CardFx_L¹">
            <a:extLst>
              <a:ext uri="{FF2B5EF4-FFF2-40B4-BE49-F238E27FC236}">
                <a16:creationId xmlns:a16="http://schemas.microsoft.com/office/drawing/2014/main" id="{7D268EE7-03C3-BA4C-9D0D-4B6F4425651B}"/>
              </a:ext>
            </a:extLst>
          </p:cNvPr>
          <p:cNvSpPr txBox="1"/>
          <p:nvPr/>
        </p:nvSpPr>
        <p:spPr>
          <a:xfrm>
            <a:off x="508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‖v‖₁ = 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vᵢ|</a:t>
            </a:r>
          </a:p>
        </p:txBody>
      </p:sp>
      <p:sp>
        <p:nvSpPr>
          <p:cNvPr id="39" name="CardShape_L¹">
            <a:extLst>
              <a:ext uri="{FF2B5EF4-FFF2-40B4-BE49-F238E27FC236}">
                <a16:creationId xmlns:a16="http://schemas.microsoft.com/office/drawing/2014/main" id="{3B772D35-78F7-4C46-AFE3-A5837BA01261}"/>
              </a:ext>
            </a:extLst>
          </p:cNvPr>
          <p:cNvSpPr txBox="1"/>
          <p:nvPr/>
        </p:nvSpPr>
        <p:spPr>
          <a:xfrm>
            <a:off x="508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Unit ball: Diamond</a:t>
            </a:r>
          </a:p>
        </p:txBody>
      </p:sp>
      <p:sp>
        <p:nvSpPr>
          <p:cNvPr id="40" name="CardDesc_L¹">
            <a:extLst>
              <a:ext uri="{FF2B5EF4-FFF2-40B4-BE49-F238E27FC236}">
                <a16:creationId xmlns:a16="http://schemas.microsoft.com/office/drawing/2014/main" id="{82A2B8B6-F7F4-034E-A53B-AD2AB53C7B33}"/>
              </a:ext>
            </a:extLst>
          </p:cNvPr>
          <p:cNvSpPr txBox="1"/>
          <p:nvPr/>
        </p:nvSpPr>
        <p:spPr>
          <a:xfrm>
            <a:off x="508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Sum of absolute values — Manhattan / taxicab distance. Robust to outliers, induces sparsity.</a:t>
            </a:r>
          </a:p>
        </p:txBody>
      </p:sp>
      <p:sp>
        <p:nvSpPr>
          <p:cNvPr id="41" name="Card_L²">
            <a:extLst>
              <a:ext uri="{FF2B5EF4-FFF2-40B4-BE49-F238E27FC236}">
                <a16:creationId xmlns:a16="http://schemas.microsoft.com/office/drawing/2014/main" id="{DCFC24DE-542F-064F-BB1C-0079F7C57AAE}"/>
              </a:ext>
            </a:extLst>
          </p:cNvPr>
          <p:cNvSpPr/>
          <p:nvPr/>
        </p:nvSpPr>
        <p:spPr>
          <a:xfrm>
            <a:off x="3302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ardHdr_L²">
            <a:extLst>
              <a:ext uri="{FF2B5EF4-FFF2-40B4-BE49-F238E27FC236}">
                <a16:creationId xmlns:a16="http://schemas.microsoft.com/office/drawing/2014/main" id="{8A387416-8222-6946-AC9D-98F341B0545B}"/>
              </a:ext>
            </a:extLst>
          </p:cNvPr>
          <p:cNvSpPr/>
          <p:nvPr/>
        </p:nvSpPr>
        <p:spPr>
          <a:xfrm>
            <a:off x="3302000" y="2349500"/>
            <a:ext cx="2794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Name_L²">
            <a:extLst>
              <a:ext uri="{FF2B5EF4-FFF2-40B4-BE49-F238E27FC236}">
                <a16:creationId xmlns:a16="http://schemas.microsoft.com/office/drawing/2014/main" id="{E9057E51-1306-B347-9308-FDFA85279DE4}"/>
              </a:ext>
            </a:extLst>
          </p:cNvPr>
          <p:cNvSpPr txBox="1"/>
          <p:nvPr/>
        </p:nvSpPr>
        <p:spPr>
          <a:xfrm>
            <a:off x="3429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L² norm</a:t>
            </a:r>
          </a:p>
        </p:txBody>
      </p:sp>
      <p:sp>
        <p:nvSpPr>
          <p:cNvPr id="44" name="CardP_L²">
            <a:extLst>
              <a:ext uri="{FF2B5EF4-FFF2-40B4-BE49-F238E27FC236}">
                <a16:creationId xmlns:a16="http://schemas.microsoft.com/office/drawing/2014/main" id="{70522559-3C7A-0440-8ECC-DFEF88E7F1CC}"/>
              </a:ext>
            </a:extLst>
          </p:cNvPr>
          <p:cNvSpPr txBox="1"/>
          <p:nvPr/>
        </p:nvSpPr>
        <p:spPr>
          <a:xfrm>
            <a:off x="3429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= 2</a:t>
            </a:r>
          </a:p>
        </p:txBody>
      </p:sp>
      <p:sp>
        <p:nvSpPr>
          <p:cNvPr id="45" name="CardFx_L²">
            <a:extLst>
              <a:ext uri="{FF2B5EF4-FFF2-40B4-BE49-F238E27FC236}">
                <a16:creationId xmlns:a16="http://schemas.microsoft.com/office/drawing/2014/main" id="{1C41B71F-2E93-E544-87BF-EE2331ECE23F}"/>
              </a:ext>
            </a:extLst>
          </p:cNvPr>
          <p:cNvSpPr txBox="1"/>
          <p:nvPr/>
        </p:nvSpPr>
        <p:spPr>
          <a:xfrm>
            <a:off x="3429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‖v‖₂ = √(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vᵢ²)</a:t>
            </a:r>
          </a:p>
        </p:txBody>
      </p:sp>
      <p:sp>
        <p:nvSpPr>
          <p:cNvPr id="46" name="CardShape_L²">
            <a:extLst>
              <a:ext uri="{FF2B5EF4-FFF2-40B4-BE49-F238E27FC236}">
                <a16:creationId xmlns:a16="http://schemas.microsoft.com/office/drawing/2014/main" id="{63CAB3B4-E4F4-6A47-B13E-FE2AB60D93EA}"/>
              </a:ext>
            </a:extLst>
          </p:cNvPr>
          <p:cNvSpPr txBox="1"/>
          <p:nvPr/>
        </p:nvSpPr>
        <p:spPr>
          <a:xfrm>
            <a:off x="3429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Unit ball: Circle</a:t>
            </a:r>
          </a:p>
        </p:txBody>
      </p:sp>
      <p:sp>
        <p:nvSpPr>
          <p:cNvPr id="47" name="CardDesc_L²">
            <a:extLst>
              <a:ext uri="{FF2B5EF4-FFF2-40B4-BE49-F238E27FC236}">
                <a16:creationId xmlns:a16="http://schemas.microsoft.com/office/drawing/2014/main" id="{8988EAA3-7EB5-D847-90DF-4F9D2B48120D}"/>
              </a:ext>
            </a:extLst>
          </p:cNvPr>
          <p:cNvSpPr txBox="1"/>
          <p:nvPr/>
        </p:nvSpPr>
        <p:spPr>
          <a:xfrm>
            <a:off x="3429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Euclidean length — straight-line distance. Smooth gradients, the default in geometry.</a:t>
            </a:r>
          </a:p>
        </p:txBody>
      </p:sp>
      <p:sp>
        <p:nvSpPr>
          <p:cNvPr id="48" name="Card_L∞">
            <a:extLst>
              <a:ext uri="{FF2B5EF4-FFF2-40B4-BE49-F238E27FC236}">
                <a16:creationId xmlns:a16="http://schemas.microsoft.com/office/drawing/2014/main" id="{37AFB4A7-9542-114F-9722-B8A4B54EB128}"/>
              </a:ext>
            </a:extLst>
          </p:cNvPr>
          <p:cNvSpPr/>
          <p:nvPr/>
        </p:nvSpPr>
        <p:spPr>
          <a:xfrm>
            <a:off x="6223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CardHdr_L∞">
            <a:extLst>
              <a:ext uri="{FF2B5EF4-FFF2-40B4-BE49-F238E27FC236}">
                <a16:creationId xmlns:a16="http://schemas.microsoft.com/office/drawing/2014/main" id="{88464FA3-979F-2A44-8243-8D4FAC8ABEF2}"/>
              </a:ext>
            </a:extLst>
          </p:cNvPr>
          <p:cNvSpPr/>
          <p:nvPr/>
        </p:nvSpPr>
        <p:spPr>
          <a:xfrm>
            <a:off x="6223000" y="2349500"/>
            <a:ext cx="2794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CardName_L∞">
            <a:extLst>
              <a:ext uri="{FF2B5EF4-FFF2-40B4-BE49-F238E27FC236}">
                <a16:creationId xmlns:a16="http://schemas.microsoft.com/office/drawing/2014/main" id="{74E8B496-326E-9E4B-9561-C5C74C1093B7}"/>
              </a:ext>
            </a:extLst>
          </p:cNvPr>
          <p:cNvSpPr txBox="1"/>
          <p:nvPr/>
        </p:nvSpPr>
        <p:spPr>
          <a:xfrm>
            <a:off x="6350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L∞ norm</a:t>
            </a:r>
          </a:p>
        </p:txBody>
      </p:sp>
      <p:sp>
        <p:nvSpPr>
          <p:cNvPr id="51" name="CardP_L∞">
            <a:extLst>
              <a:ext uri="{FF2B5EF4-FFF2-40B4-BE49-F238E27FC236}">
                <a16:creationId xmlns:a16="http://schemas.microsoft.com/office/drawing/2014/main" id="{AE7959E7-F12A-F246-9F42-CB2AE1142B63}"/>
              </a:ext>
            </a:extLst>
          </p:cNvPr>
          <p:cNvSpPr txBox="1"/>
          <p:nvPr/>
        </p:nvSpPr>
        <p:spPr>
          <a:xfrm>
            <a:off x="6350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→ ∞</a:t>
            </a:r>
          </a:p>
        </p:txBody>
      </p:sp>
      <p:sp>
        <p:nvSpPr>
          <p:cNvPr id="53" name="CardFx_L∞">
            <a:extLst>
              <a:ext uri="{FF2B5EF4-FFF2-40B4-BE49-F238E27FC236}">
                <a16:creationId xmlns:a16="http://schemas.microsoft.com/office/drawing/2014/main" id="{E0760948-E3E9-A745-9710-565A98C8A0C0}"/>
              </a:ext>
            </a:extLst>
          </p:cNvPr>
          <p:cNvSpPr txBox="1"/>
          <p:nvPr/>
        </p:nvSpPr>
        <p:spPr>
          <a:xfrm>
            <a:off x="6350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‖v‖∞ = max|vᵢ|</a:t>
            </a:r>
          </a:p>
        </p:txBody>
      </p:sp>
      <p:sp>
        <p:nvSpPr>
          <p:cNvPr id="54" name="CardShape_L∞">
            <a:extLst>
              <a:ext uri="{FF2B5EF4-FFF2-40B4-BE49-F238E27FC236}">
                <a16:creationId xmlns:a16="http://schemas.microsoft.com/office/drawing/2014/main" id="{F49BEF31-C07D-2F47-AA72-6497E2E46168}"/>
              </a:ext>
            </a:extLst>
          </p:cNvPr>
          <p:cNvSpPr txBox="1"/>
          <p:nvPr/>
        </p:nvSpPr>
        <p:spPr>
          <a:xfrm>
            <a:off x="6350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Unit ball: Square</a:t>
            </a:r>
          </a:p>
        </p:txBody>
      </p:sp>
      <p:sp>
        <p:nvSpPr>
          <p:cNvPr id="55" name="CardDesc_L∞">
            <a:extLst>
              <a:ext uri="{FF2B5EF4-FFF2-40B4-BE49-F238E27FC236}">
                <a16:creationId xmlns:a16="http://schemas.microsoft.com/office/drawing/2014/main" id="{BE6C4036-330D-E849-8477-F8DE500DEDA5}"/>
              </a:ext>
            </a:extLst>
          </p:cNvPr>
          <p:cNvSpPr txBox="1"/>
          <p:nvPr/>
        </p:nvSpPr>
        <p:spPr>
          <a:xfrm>
            <a:off x="6350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Max coordinate — Chebyshev / supremum. Worst-case error, king-move distance.</a:t>
            </a:r>
          </a:p>
        </p:txBody>
      </p:sp>
      <p:sp>
        <p:nvSpPr>
          <p:cNvPr id="56" name="Card_Lᵖ">
            <a:extLst>
              <a:ext uri="{FF2B5EF4-FFF2-40B4-BE49-F238E27FC236}">
                <a16:creationId xmlns:a16="http://schemas.microsoft.com/office/drawing/2014/main" id="{754AFC2C-B70E-2F45-9321-AFC449AB503F}"/>
              </a:ext>
            </a:extLst>
          </p:cNvPr>
          <p:cNvSpPr/>
          <p:nvPr/>
        </p:nvSpPr>
        <p:spPr>
          <a:xfrm>
            <a:off x="9144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CardHdr_Lᵖ">
            <a:extLst>
              <a:ext uri="{FF2B5EF4-FFF2-40B4-BE49-F238E27FC236}">
                <a16:creationId xmlns:a16="http://schemas.microsoft.com/office/drawing/2014/main" id="{9AF93762-598A-6640-863E-FC7C7E61DD55}"/>
              </a:ext>
            </a:extLst>
          </p:cNvPr>
          <p:cNvSpPr/>
          <p:nvPr/>
        </p:nvSpPr>
        <p:spPr>
          <a:xfrm>
            <a:off x="9144000" y="2349500"/>
            <a:ext cx="2794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CardName_Lᵖ">
            <a:extLst>
              <a:ext uri="{FF2B5EF4-FFF2-40B4-BE49-F238E27FC236}">
                <a16:creationId xmlns:a16="http://schemas.microsoft.com/office/drawing/2014/main" id="{F77E046D-DA19-9A4B-B3FE-AF16A5DC7DF2}"/>
              </a:ext>
            </a:extLst>
          </p:cNvPr>
          <p:cNvSpPr txBox="1"/>
          <p:nvPr/>
        </p:nvSpPr>
        <p:spPr>
          <a:xfrm>
            <a:off x="9271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Lᵖ norm</a:t>
            </a:r>
          </a:p>
        </p:txBody>
      </p:sp>
      <p:sp>
        <p:nvSpPr>
          <p:cNvPr id="59" name="CardP_Lᵖ">
            <a:extLst>
              <a:ext uri="{FF2B5EF4-FFF2-40B4-BE49-F238E27FC236}">
                <a16:creationId xmlns:a16="http://schemas.microsoft.com/office/drawing/2014/main" id="{9A410A93-2788-1446-AE4F-62740B5F5030}"/>
              </a:ext>
            </a:extLst>
          </p:cNvPr>
          <p:cNvSpPr txBox="1"/>
          <p:nvPr/>
        </p:nvSpPr>
        <p:spPr>
          <a:xfrm>
            <a:off x="9271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any p</a:t>
            </a:r>
          </a:p>
        </p:txBody>
      </p:sp>
      <p:sp>
        <p:nvSpPr>
          <p:cNvPr id="60" name="CardFx_Lᵖ">
            <a:extLst>
              <a:ext uri="{FF2B5EF4-FFF2-40B4-BE49-F238E27FC236}">
                <a16:creationId xmlns:a16="http://schemas.microsoft.com/office/drawing/2014/main" id="{2CBF1005-0D3B-C64A-A973-F62CA79EAB14}"/>
              </a:ext>
            </a:extLst>
          </p:cNvPr>
          <p:cNvSpPr txBox="1"/>
          <p:nvPr/>
        </p:nvSpPr>
        <p:spPr>
          <a:xfrm>
            <a:off x="9271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‖v‖ₚ = (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vᵢ|ᵖ)^(1/p)</a:t>
            </a:r>
          </a:p>
        </p:txBody>
      </p:sp>
      <p:sp>
        <p:nvSpPr>
          <p:cNvPr id="61" name="CardShape_Lᵖ">
            <a:extLst>
              <a:ext uri="{FF2B5EF4-FFF2-40B4-BE49-F238E27FC236}">
                <a16:creationId xmlns:a16="http://schemas.microsoft.com/office/drawing/2014/main" id="{2B2B501C-6268-7942-A73D-E30E2535B70C}"/>
              </a:ext>
            </a:extLst>
          </p:cNvPr>
          <p:cNvSpPr txBox="1"/>
          <p:nvPr/>
        </p:nvSpPr>
        <p:spPr>
          <a:xfrm>
            <a:off x="9271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</a:rPr>
              <a:t>Unit ball: Superellipse</a:t>
            </a:r>
          </a:p>
        </p:txBody>
      </p:sp>
      <p:sp>
        <p:nvSpPr>
          <p:cNvPr id="62" name="CardDesc_Lᵖ">
            <a:extLst>
              <a:ext uri="{FF2B5EF4-FFF2-40B4-BE49-F238E27FC236}">
                <a16:creationId xmlns:a16="http://schemas.microsoft.com/office/drawing/2014/main" id="{B6511B5F-1F9B-E34F-98EE-155CBAE5953D}"/>
              </a:ext>
            </a:extLst>
          </p:cNvPr>
          <p:cNvSpPr txBox="1"/>
          <p:nvPr/>
        </p:nvSpPr>
        <p:spPr>
          <a:xfrm>
            <a:off x="9271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Interpolates between L¹ and L∞ as p varies; p=2 is Euclidean.</a:t>
            </a:r>
          </a:p>
        </p:txBody>
      </p:sp>
      <p:sp>
        <p:nvSpPr>
          <p:cNvPr id="63" name="TkBar">
            <a:extLst>
              <a:ext uri="{FF2B5EF4-FFF2-40B4-BE49-F238E27FC236}">
                <a16:creationId xmlns:a16="http://schemas.microsoft.com/office/drawing/2014/main" id="{E1948B5F-8FF2-2449-AB37-769423126E0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kText">
            <a:extLst>
              <a:ext uri="{FF2B5EF4-FFF2-40B4-BE49-F238E27FC236}">
                <a16:creationId xmlns:a16="http://schemas.microsoft.com/office/drawing/2014/main" id="{729E3719-C5CA-954D-9CC0-4F085A94F2BD}"/>
              </a:ext>
            </a:extLst>
          </p:cNvPr>
          <p:cNvSpPr txBox="1"/>
          <p:nvPr/>
        </p:nvSpPr>
        <p:spPr>
          <a:xfrm>
            <a:off x="381000" y="5994400"/>
            <a:ext cx="1143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The norm you choose IS your geometry — and your geometry shapes what "close" means</a:t>
            </a:r>
          </a:p>
        </p:txBody>
      </p:sp>
    </p:spTree>
    <p:extLst>
      <p:ext uri="{BB962C8B-B14F-4D97-AF65-F5344CB8AC3E}">
        <p14:creationId xmlns:p14="http://schemas.microsoft.com/office/powerpoint/2010/main" val="235616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93AC22E-5EAF-D74A-A50A-156D0C902393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EEA53E-655B-1D46-8795-7857C45B511B}"/>
              </a:ext>
            </a:extLst>
          </p:cNvPr>
          <p:cNvSpPr txBox="1"/>
          <p:nvPr/>
        </p:nvSpPr>
        <p:spPr>
          <a:xfrm>
            <a:off x="304800" y="355600"/>
            <a:ext cx="11582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One vector, four norms — same input, four answers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72A4B44-0B09-FE4A-82C7-843049BD0EF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Calibri"/>
                <a:cs typeface="Calibri"/>
              </a:rPr>
              <a:t>Let v = (3, −4). Compute its L¹, L², L∞ and L⁴ norms. Cover the gray solutions and try first.</a:t>
            </a:r>
          </a:p>
        </p:txBody>
      </p:sp>
      <p:sp>
        <p:nvSpPr>
          <p:cNvPr id="5" name="VCard">
            <a:extLst>
              <a:ext uri="{FF2B5EF4-FFF2-40B4-BE49-F238E27FC236}">
                <a16:creationId xmlns:a16="http://schemas.microsoft.com/office/drawing/2014/main" id="{92A63C7D-7A4F-4946-A64A-ED9E4642ADF2}"/>
              </a:ext>
            </a:extLst>
          </p:cNvPr>
          <p:cNvSpPr/>
          <p:nvPr/>
        </p:nvSpPr>
        <p:spPr>
          <a:xfrm>
            <a:off x="381000" y="1219200"/>
            <a:ext cx="11430000" cy="635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VTxt">
            <a:extLst>
              <a:ext uri="{FF2B5EF4-FFF2-40B4-BE49-F238E27FC236}">
                <a16:creationId xmlns:a16="http://schemas.microsoft.com/office/drawing/2014/main" id="{FE7A0CA1-F7AB-B748-9181-D6BDDDE1870F}"/>
              </a:ext>
            </a:extLst>
          </p:cNvPr>
          <p:cNvSpPr txBox="1"/>
          <p:nvPr/>
        </p:nvSpPr>
        <p:spPr>
          <a:xfrm>
            <a:off x="584200" y="1320800"/>
            <a:ext cx="11049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4B2E83"/>
                </a:solidFill>
                <a:latin typeface="Cambria Math"/>
                <a:ea typeface="Cambria Math"/>
              </a:rPr>
              <a:t>Input vector:    v = (3, −4)        — two components, one negative</a:t>
            </a:r>
          </a:p>
        </p:txBody>
      </p:sp>
      <p:sp>
        <p:nvSpPr>
          <p:cNvPr id="7" name="Card0">
            <a:extLst>
              <a:ext uri="{FF2B5EF4-FFF2-40B4-BE49-F238E27FC236}">
                <a16:creationId xmlns:a16="http://schemas.microsoft.com/office/drawing/2014/main" id="{8220B371-4393-CA41-9736-734A6415BC35}"/>
              </a:ext>
            </a:extLst>
          </p:cNvPr>
          <p:cNvSpPr/>
          <p:nvPr/>
        </p:nvSpPr>
        <p:spPr>
          <a:xfrm>
            <a:off x="381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ardHdr0">
            <a:extLst>
              <a:ext uri="{FF2B5EF4-FFF2-40B4-BE49-F238E27FC236}">
                <a16:creationId xmlns:a16="http://schemas.microsoft.com/office/drawing/2014/main" id="{A899F8B6-1210-6345-AD83-414FD6600A77}"/>
              </a:ext>
            </a:extLst>
          </p:cNvPr>
          <p:cNvSpPr/>
          <p:nvPr/>
        </p:nvSpPr>
        <p:spPr>
          <a:xfrm>
            <a:off x="381000" y="2006600"/>
            <a:ext cx="2794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CardTitle0">
            <a:extLst>
              <a:ext uri="{FF2B5EF4-FFF2-40B4-BE49-F238E27FC236}">
                <a16:creationId xmlns:a16="http://schemas.microsoft.com/office/drawing/2014/main" id="{17D97670-7293-DB43-847D-826606CCE387}"/>
              </a:ext>
            </a:extLst>
          </p:cNvPr>
          <p:cNvSpPr txBox="1"/>
          <p:nvPr/>
        </p:nvSpPr>
        <p:spPr>
          <a:xfrm>
            <a:off x="508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L¹  (Manhattan)</a:t>
            </a:r>
          </a:p>
        </p:txBody>
      </p:sp>
      <p:sp>
        <p:nvSpPr>
          <p:cNvPr id="10" name="CardF0">
            <a:extLst>
              <a:ext uri="{FF2B5EF4-FFF2-40B4-BE49-F238E27FC236}">
                <a16:creationId xmlns:a16="http://schemas.microsoft.com/office/drawing/2014/main" id="{6CD74E73-20C7-C740-B5D5-37312C804CF9}"/>
              </a:ext>
            </a:extLst>
          </p:cNvPr>
          <p:cNvSpPr txBox="1"/>
          <p:nvPr/>
        </p:nvSpPr>
        <p:spPr>
          <a:xfrm>
            <a:off x="508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‖v‖₁ = |v₁| + |v₂|</a:t>
            </a:r>
          </a:p>
        </p:txBody>
      </p:sp>
      <p:sp>
        <p:nvSpPr>
          <p:cNvPr id="11" name="Div0">
            <a:extLst>
              <a:ext uri="{FF2B5EF4-FFF2-40B4-BE49-F238E27FC236}">
                <a16:creationId xmlns:a16="http://schemas.microsoft.com/office/drawing/2014/main" id="{32FFFC50-9A3C-1747-AAFA-B23A48C9C607}"/>
              </a:ext>
            </a:extLst>
          </p:cNvPr>
          <p:cNvSpPr/>
          <p:nvPr/>
        </p:nvSpPr>
        <p:spPr>
          <a:xfrm>
            <a:off x="533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ol0_0">
            <a:extLst>
              <a:ext uri="{FF2B5EF4-FFF2-40B4-BE49-F238E27FC236}">
                <a16:creationId xmlns:a16="http://schemas.microsoft.com/office/drawing/2014/main" id="{6C76AC67-41F6-8D43-BBFF-9BF3E8ECD8A8}"/>
              </a:ext>
            </a:extLst>
          </p:cNvPr>
          <p:cNvSpPr txBox="1"/>
          <p:nvPr/>
        </p:nvSpPr>
        <p:spPr>
          <a:xfrm>
            <a:off x="533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13" name="Sol0_1">
            <a:extLst>
              <a:ext uri="{FF2B5EF4-FFF2-40B4-BE49-F238E27FC236}">
                <a16:creationId xmlns:a16="http://schemas.microsoft.com/office/drawing/2014/main" id="{34FDF43C-F56E-5044-95EF-1CBFB493E836}"/>
              </a:ext>
            </a:extLst>
          </p:cNvPr>
          <p:cNvSpPr txBox="1"/>
          <p:nvPr/>
        </p:nvSpPr>
        <p:spPr>
          <a:xfrm>
            <a:off x="533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‖v‖₁ = |3| + |−4|</a:t>
            </a:r>
          </a:p>
        </p:txBody>
      </p:sp>
      <p:sp>
        <p:nvSpPr>
          <p:cNvPr id="14" name="Sol0_2">
            <a:extLst>
              <a:ext uri="{FF2B5EF4-FFF2-40B4-BE49-F238E27FC236}">
                <a16:creationId xmlns:a16="http://schemas.microsoft.com/office/drawing/2014/main" id="{9B105256-DB78-3749-A383-597A6511D2E4}"/>
              </a:ext>
            </a:extLst>
          </p:cNvPr>
          <p:cNvSpPr txBox="1"/>
          <p:nvPr/>
        </p:nvSpPr>
        <p:spPr>
          <a:xfrm>
            <a:off x="533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3 + 4</a:t>
            </a:r>
          </a:p>
        </p:txBody>
      </p:sp>
      <p:sp>
        <p:nvSpPr>
          <p:cNvPr id="15" name="Sol0_3">
            <a:extLst>
              <a:ext uri="{FF2B5EF4-FFF2-40B4-BE49-F238E27FC236}">
                <a16:creationId xmlns:a16="http://schemas.microsoft.com/office/drawing/2014/main" id="{96750170-9C21-444B-82A3-1E7B7488E783}"/>
              </a:ext>
            </a:extLst>
          </p:cNvPr>
          <p:cNvSpPr txBox="1"/>
          <p:nvPr/>
        </p:nvSpPr>
        <p:spPr>
          <a:xfrm>
            <a:off x="533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7</a:t>
            </a:r>
          </a:p>
        </p:txBody>
      </p:sp>
      <p:sp>
        <p:nvSpPr>
          <p:cNvPr id="16" name="Ans0">
            <a:extLst>
              <a:ext uri="{FF2B5EF4-FFF2-40B4-BE49-F238E27FC236}">
                <a16:creationId xmlns:a16="http://schemas.microsoft.com/office/drawing/2014/main" id="{C511EC0B-A1E6-9E4B-9D7C-B001F0E88B54}"/>
              </a:ext>
            </a:extLst>
          </p:cNvPr>
          <p:cNvSpPr/>
          <p:nvPr/>
        </p:nvSpPr>
        <p:spPr>
          <a:xfrm>
            <a:off x="533400" y="4597400"/>
            <a:ext cx="24892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AnsTxt0">
            <a:extLst>
              <a:ext uri="{FF2B5EF4-FFF2-40B4-BE49-F238E27FC236}">
                <a16:creationId xmlns:a16="http://schemas.microsoft.com/office/drawing/2014/main" id="{7F489774-C776-D740-ADE3-15BF0037D1E6}"/>
              </a:ext>
            </a:extLst>
          </p:cNvPr>
          <p:cNvSpPr txBox="1"/>
          <p:nvPr/>
        </p:nvSpPr>
        <p:spPr>
          <a:xfrm>
            <a:off x="533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7</a:t>
            </a:r>
          </a:p>
        </p:txBody>
      </p:sp>
      <p:sp>
        <p:nvSpPr>
          <p:cNvPr id="18" name="Card1">
            <a:extLst>
              <a:ext uri="{FF2B5EF4-FFF2-40B4-BE49-F238E27FC236}">
                <a16:creationId xmlns:a16="http://schemas.microsoft.com/office/drawing/2014/main" id="{BB2C5485-02D8-BE4E-AD22-A3258E16C560}"/>
              </a:ext>
            </a:extLst>
          </p:cNvPr>
          <p:cNvSpPr/>
          <p:nvPr/>
        </p:nvSpPr>
        <p:spPr>
          <a:xfrm>
            <a:off x="3302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CardHdr1">
            <a:extLst>
              <a:ext uri="{FF2B5EF4-FFF2-40B4-BE49-F238E27FC236}">
                <a16:creationId xmlns:a16="http://schemas.microsoft.com/office/drawing/2014/main" id="{3C4D400F-D712-FE43-85AE-F0DA0F57497A}"/>
              </a:ext>
            </a:extLst>
          </p:cNvPr>
          <p:cNvSpPr/>
          <p:nvPr/>
        </p:nvSpPr>
        <p:spPr>
          <a:xfrm>
            <a:off x="3302000" y="2006600"/>
            <a:ext cx="2794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1">
            <a:extLst>
              <a:ext uri="{FF2B5EF4-FFF2-40B4-BE49-F238E27FC236}">
                <a16:creationId xmlns:a16="http://schemas.microsoft.com/office/drawing/2014/main" id="{5D70886E-7DD1-5D4D-B373-0CB9E236520B}"/>
              </a:ext>
            </a:extLst>
          </p:cNvPr>
          <p:cNvSpPr txBox="1"/>
          <p:nvPr/>
        </p:nvSpPr>
        <p:spPr>
          <a:xfrm>
            <a:off x="3429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L²  (Euclidean)</a:t>
            </a:r>
          </a:p>
        </p:txBody>
      </p:sp>
      <p:sp>
        <p:nvSpPr>
          <p:cNvPr id="29" name="CardF1">
            <a:extLst>
              <a:ext uri="{FF2B5EF4-FFF2-40B4-BE49-F238E27FC236}">
                <a16:creationId xmlns:a16="http://schemas.microsoft.com/office/drawing/2014/main" id="{69C6B770-28C9-574A-8B4F-214DFDE9CEFF}"/>
              </a:ext>
            </a:extLst>
          </p:cNvPr>
          <p:cNvSpPr txBox="1"/>
          <p:nvPr/>
        </p:nvSpPr>
        <p:spPr>
          <a:xfrm>
            <a:off x="3429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‖v‖₂ = √(v₁² + v₂²)</a:t>
            </a:r>
          </a:p>
        </p:txBody>
      </p:sp>
      <p:sp>
        <p:nvSpPr>
          <p:cNvPr id="30" name="Div1">
            <a:extLst>
              <a:ext uri="{FF2B5EF4-FFF2-40B4-BE49-F238E27FC236}">
                <a16:creationId xmlns:a16="http://schemas.microsoft.com/office/drawing/2014/main" id="{453BE359-D170-294F-9AFA-42ABCBB85E47}"/>
              </a:ext>
            </a:extLst>
          </p:cNvPr>
          <p:cNvSpPr/>
          <p:nvPr/>
        </p:nvSpPr>
        <p:spPr>
          <a:xfrm>
            <a:off x="3454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Sol1_0">
            <a:extLst>
              <a:ext uri="{FF2B5EF4-FFF2-40B4-BE49-F238E27FC236}">
                <a16:creationId xmlns:a16="http://schemas.microsoft.com/office/drawing/2014/main" id="{09B45212-C520-CF42-A741-682A7B4B6166}"/>
              </a:ext>
            </a:extLst>
          </p:cNvPr>
          <p:cNvSpPr txBox="1"/>
          <p:nvPr/>
        </p:nvSpPr>
        <p:spPr>
          <a:xfrm>
            <a:off x="3454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32" name="Sol1_1">
            <a:extLst>
              <a:ext uri="{FF2B5EF4-FFF2-40B4-BE49-F238E27FC236}">
                <a16:creationId xmlns:a16="http://schemas.microsoft.com/office/drawing/2014/main" id="{E0242A06-3371-5E4F-8CDF-D5163DE32824}"/>
              </a:ext>
            </a:extLst>
          </p:cNvPr>
          <p:cNvSpPr txBox="1"/>
          <p:nvPr/>
        </p:nvSpPr>
        <p:spPr>
          <a:xfrm>
            <a:off x="3454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‖v‖₂ = √(3² + (−4)²)</a:t>
            </a:r>
          </a:p>
        </p:txBody>
      </p:sp>
      <p:sp>
        <p:nvSpPr>
          <p:cNvPr id="33" name="Sol1_2">
            <a:extLst>
              <a:ext uri="{FF2B5EF4-FFF2-40B4-BE49-F238E27FC236}">
                <a16:creationId xmlns:a16="http://schemas.microsoft.com/office/drawing/2014/main" id="{9DDC9D04-768D-2F48-8272-DE38240DCCA3}"/>
              </a:ext>
            </a:extLst>
          </p:cNvPr>
          <p:cNvSpPr txBox="1"/>
          <p:nvPr/>
        </p:nvSpPr>
        <p:spPr>
          <a:xfrm>
            <a:off x="3454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√(9 + 16)</a:t>
            </a:r>
          </a:p>
        </p:txBody>
      </p:sp>
      <p:sp>
        <p:nvSpPr>
          <p:cNvPr id="34" name="Sol1_3">
            <a:extLst>
              <a:ext uri="{FF2B5EF4-FFF2-40B4-BE49-F238E27FC236}">
                <a16:creationId xmlns:a16="http://schemas.microsoft.com/office/drawing/2014/main" id="{D76C6625-DE05-DE40-B1FE-98CBBD7B3C49}"/>
              </a:ext>
            </a:extLst>
          </p:cNvPr>
          <p:cNvSpPr txBox="1"/>
          <p:nvPr/>
        </p:nvSpPr>
        <p:spPr>
          <a:xfrm>
            <a:off x="3454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√25 = 5</a:t>
            </a:r>
          </a:p>
        </p:txBody>
      </p:sp>
      <p:sp>
        <p:nvSpPr>
          <p:cNvPr id="52" name="Ans1">
            <a:extLst>
              <a:ext uri="{FF2B5EF4-FFF2-40B4-BE49-F238E27FC236}">
                <a16:creationId xmlns:a16="http://schemas.microsoft.com/office/drawing/2014/main" id="{9E5B5257-16DB-AE41-8940-7D0935D818AF}"/>
              </a:ext>
            </a:extLst>
          </p:cNvPr>
          <p:cNvSpPr/>
          <p:nvPr/>
        </p:nvSpPr>
        <p:spPr>
          <a:xfrm>
            <a:off x="3454400" y="4597400"/>
            <a:ext cx="24892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AnsTxt1">
            <a:extLst>
              <a:ext uri="{FF2B5EF4-FFF2-40B4-BE49-F238E27FC236}">
                <a16:creationId xmlns:a16="http://schemas.microsoft.com/office/drawing/2014/main" id="{CFF950E3-1806-434C-B992-88A06D5061C1}"/>
              </a:ext>
            </a:extLst>
          </p:cNvPr>
          <p:cNvSpPr txBox="1"/>
          <p:nvPr/>
        </p:nvSpPr>
        <p:spPr>
          <a:xfrm>
            <a:off x="3454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5</a:t>
            </a:r>
          </a:p>
        </p:txBody>
      </p:sp>
      <p:sp>
        <p:nvSpPr>
          <p:cNvPr id="66" name="Card2">
            <a:extLst>
              <a:ext uri="{FF2B5EF4-FFF2-40B4-BE49-F238E27FC236}">
                <a16:creationId xmlns:a16="http://schemas.microsoft.com/office/drawing/2014/main" id="{9524AB44-C3B9-AB4C-A0F4-DA7A8F64F35D}"/>
              </a:ext>
            </a:extLst>
          </p:cNvPr>
          <p:cNvSpPr/>
          <p:nvPr/>
        </p:nvSpPr>
        <p:spPr>
          <a:xfrm>
            <a:off x="6223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CardHdr2">
            <a:extLst>
              <a:ext uri="{FF2B5EF4-FFF2-40B4-BE49-F238E27FC236}">
                <a16:creationId xmlns:a16="http://schemas.microsoft.com/office/drawing/2014/main" id="{3F708EEB-EF7C-1F44-B447-8C59EAC5AB2B}"/>
              </a:ext>
            </a:extLst>
          </p:cNvPr>
          <p:cNvSpPr/>
          <p:nvPr/>
        </p:nvSpPr>
        <p:spPr>
          <a:xfrm>
            <a:off x="6223000" y="2006600"/>
            <a:ext cx="2794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CardTitle2">
            <a:extLst>
              <a:ext uri="{FF2B5EF4-FFF2-40B4-BE49-F238E27FC236}">
                <a16:creationId xmlns:a16="http://schemas.microsoft.com/office/drawing/2014/main" id="{88EBF8DA-7D39-5443-884A-B3A34B5EFFB5}"/>
              </a:ext>
            </a:extLst>
          </p:cNvPr>
          <p:cNvSpPr txBox="1"/>
          <p:nvPr/>
        </p:nvSpPr>
        <p:spPr>
          <a:xfrm>
            <a:off x="6350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L∞  (Chebyshev)</a:t>
            </a:r>
          </a:p>
        </p:txBody>
      </p:sp>
      <p:sp>
        <p:nvSpPr>
          <p:cNvPr id="69" name="CardF2">
            <a:extLst>
              <a:ext uri="{FF2B5EF4-FFF2-40B4-BE49-F238E27FC236}">
                <a16:creationId xmlns:a16="http://schemas.microsoft.com/office/drawing/2014/main" id="{7EA03C91-EE53-0844-B5ED-87D61BD39EE1}"/>
              </a:ext>
            </a:extLst>
          </p:cNvPr>
          <p:cNvSpPr txBox="1"/>
          <p:nvPr/>
        </p:nvSpPr>
        <p:spPr>
          <a:xfrm>
            <a:off x="6350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‖v‖∞ = max(|v₁|, |v₂|)</a:t>
            </a:r>
          </a:p>
        </p:txBody>
      </p:sp>
      <p:sp>
        <p:nvSpPr>
          <p:cNvPr id="70" name="Div2">
            <a:extLst>
              <a:ext uri="{FF2B5EF4-FFF2-40B4-BE49-F238E27FC236}">
                <a16:creationId xmlns:a16="http://schemas.microsoft.com/office/drawing/2014/main" id="{A2AA6AF0-C36F-824D-9958-3428BCBE14F2}"/>
              </a:ext>
            </a:extLst>
          </p:cNvPr>
          <p:cNvSpPr/>
          <p:nvPr/>
        </p:nvSpPr>
        <p:spPr>
          <a:xfrm>
            <a:off x="6375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Sol2_0">
            <a:extLst>
              <a:ext uri="{FF2B5EF4-FFF2-40B4-BE49-F238E27FC236}">
                <a16:creationId xmlns:a16="http://schemas.microsoft.com/office/drawing/2014/main" id="{6E385DAF-CEA6-C949-AF20-920A51EA1B45}"/>
              </a:ext>
            </a:extLst>
          </p:cNvPr>
          <p:cNvSpPr txBox="1"/>
          <p:nvPr/>
        </p:nvSpPr>
        <p:spPr>
          <a:xfrm>
            <a:off x="6375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72" name="Sol2_1">
            <a:extLst>
              <a:ext uri="{FF2B5EF4-FFF2-40B4-BE49-F238E27FC236}">
                <a16:creationId xmlns:a16="http://schemas.microsoft.com/office/drawing/2014/main" id="{E2C8213E-C228-9244-BB28-BCD64C46585A}"/>
              </a:ext>
            </a:extLst>
          </p:cNvPr>
          <p:cNvSpPr txBox="1"/>
          <p:nvPr/>
        </p:nvSpPr>
        <p:spPr>
          <a:xfrm>
            <a:off x="6375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‖v‖∞ = max(|3|, |−4|)</a:t>
            </a:r>
          </a:p>
        </p:txBody>
      </p:sp>
      <p:sp>
        <p:nvSpPr>
          <p:cNvPr id="73" name="Sol2_2">
            <a:extLst>
              <a:ext uri="{FF2B5EF4-FFF2-40B4-BE49-F238E27FC236}">
                <a16:creationId xmlns:a16="http://schemas.microsoft.com/office/drawing/2014/main" id="{64855651-1401-9D46-A8BD-AA6FF99E48EE}"/>
              </a:ext>
            </a:extLst>
          </p:cNvPr>
          <p:cNvSpPr txBox="1"/>
          <p:nvPr/>
        </p:nvSpPr>
        <p:spPr>
          <a:xfrm>
            <a:off x="6375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max(3, 4)</a:t>
            </a:r>
          </a:p>
        </p:txBody>
      </p:sp>
      <p:sp>
        <p:nvSpPr>
          <p:cNvPr id="74" name="Sol2_3">
            <a:extLst>
              <a:ext uri="{FF2B5EF4-FFF2-40B4-BE49-F238E27FC236}">
                <a16:creationId xmlns:a16="http://schemas.microsoft.com/office/drawing/2014/main" id="{4F4DACEC-DEFB-A648-B955-9035259CB1F1}"/>
              </a:ext>
            </a:extLst>
          </p:cNvPr>
          <p:cNvSpPr txBox="1"/>
          <p:nvPr/>
        </p:nvSpPr>
        <p:spPr>
          <a:xfrm>
            <a:off x="6375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4</a:t>
            </a:r>
          </a:p>
        </p:txBody>
      </p:sp>
      <p:sp>
        <p:nvSpPr>
          <p:cNvPr id="75" name="Ans2">
            <a:extLst>
              <a:ext uri="{FF2B5EF4-FFF2-40B4-BE49-F238E27FC236}">
                <a16:creationId xmlns:a16="http://schemas.microsoft.com/office/drawing/2014/main" id="{5D8D9CAB-090A-CE44-B170-25495FC3318E}"/>
              </a:ext>
            </a:extLst>
          </p:cNvPr>
          <p:cNvSpPr/>
          <p:nvPr/>
        </p:nvSpPr>
        <p:spPr>
          <a:xfrm>
            <a:off x="6375400" y="4597400"/>
            <a:ext cx="24892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AnsTxt2">
            <a:extLst>
              <a:ext uri="{FF2B5EF4-FFF2-40B4-BE49-F238E27FC236}">
                <a16:creationId xmlns:a16="http://schemas.microsoft.com/office/drawing/2014/main" id="{811A15F9-0370-754A-BC0D-9FEB5FA83DDF}"/>
              </a:ext>
            </a:extLst>
          </p:cNvPr>
          <p:cNvSpPr txBox="1"/>
          <p:nvPr/>
        </p:nvSpPr>
        <p:spPr>
          <a:xfrm>
            <a:off x="6375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4</a:t>
            </a:r>
          </a:p>
        </p:txBody>
      </p:sp>
      <p:sp>
        <p:nvSpPr>
          <p:cNvPr id="77" name="Card3">
            <a:extLst>
              <a:ext uri="{FF2B5EF4-FFF2-40B4-BE49-F238E27FC236}">
                <a16:creationId xmlns:a16="http://schemas.microsoft.com/office/drawing/2014/main" id="{9A17AB1C-97C2-9940-A20C-F25400299CA4}"/>
              </a:ext>
            </a:extLst>
          </p:cNvPr>
          <p:cNvSpPr/>
          <p:nvPr/>
        </p:nvSpPr>
        <p:spPr>
          <a:xfrm>
            <a:off x="9144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8" name="CardHdr3">
            <a:extLst>
              <a:ext uri="{FF2B5EF4-FFF2-40B4-BE49-F238E27FC236}">
                <a16:creationId xmlns:a16="http://schemas.microsoft.com/office/drawing/2014/main" id="{E99D82E1-24E2-494C-BF59-C8CF5D63F7E2}"/>
              </a:ext>
            </a:extLst>
          </p:cNvPr>
          <p:cNvSpPr/>
          <p:nvPr/>
        </p:nvSpPr>
        <p:spPr>
          <a:xfrm>
            <a:off x="9144000" y="2006600"/>
            <a:ext cx="2794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9" name="CardTitle3">
            <a:extLst>
              <a:ext uri="{FF2B5EF4-FFF2-40B4-BE49-F238E27FC236}">
                <a16:creationId xmlns:a16="http://schemas.microsoft.com/office/drawing/2014/main" id="{E36AE509-97F5-4942-865C-FE993346914F}"/>
              </a:ext>
            </a:extLst>
          </p:cNvPr>
          <p:cNvSpPr txBox="1"/>
          <p:nvPr/>
        </p:nvSpPr>
        <p:spPr>
          <a:xfrm>
            <a:off x="9271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L⁴  (intermediate)</a:t>
            </a:r>
          </a:p>
        </p:txBody>
      </p:sp>
      <p:sp>
        <p:nvSpPr>
          <p:cNvPr id="80" name="CardF3">
            <a:extLst>
              <a:ext uri="{FF2B5EF4-FFF2-40B4-BE49-F238E27FC236}">
                <a16:creationId xmlns:a16="http://schemas.microsoft.com/office/drawing/2014/main" id="{408989D8-6139-3B44-97C8-7E56FB7C5E02}"/>
              </a:ext>
            </a:extLst>
          </p:cNvPr>
          <p:cNvSpPr txBox="1"/>
          <p:nvPr/>
        </p:nvSpPr>
        <p:spPr>
          <a:xfrm>
            <a:off x="9271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‖v‖₄ = (v₁⁴ + v₂⁴)^(1/4)</a:t>
            </a:r>
          </a:p>
        </p:txBody>
      </p:sp>
      <p:sp>
        <p:nvSpPr>
          <p:cNvPr id="81" name="Div3">
            <a:extLst>
              <a:ext uri="{FF2B5EF4-FFF2-40B4-BE49-F238E27FC236}">
                <a16:creationId xmlns:a16="http://schemas.microsoft.com/office/drawing/2014/main" id="{A6ED4415-34E8-F349-A797-A8928A1CC6D6}"/>
              </a:ext>
            </a:extLst>
          </p:cNvPr>
          <p:cNvSpPr/>
          <p:nvPr/>
        </p:nvSpPr>
        <p:spPr>
          <a:xfrm>
            <a:off x="9296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Sol3_0">
            <a:extLst>
              <a:ext uri="{FF2B5EF4-FFF2-40B4-BE49-F238E27FC236}">
                <a16:creationId xmlns:a16="http://schemas.microsoft.com/office/drawing/2014/main" id="{3379E2DE-4EDE-AF4F-881E-727616BAE9FC}"/>
              </a:ext>
            </a:extLst>
          </p:cNvPr>
          <p:cNvSpPr txBox="1"/>
          <p:nvPr/>
        </p:nvSpPr>
        <p:spPr>
          <a:xfrm>
            <a:off x="9296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83" name="Sol3_1">
            <a:extLst>
              <a:ext uri="{FF2B5EF4-FFF2-40B4-BE49-F238E27FC236}">
                <a16:creationId xmlns:a16="http://schemas.microsoft.com/office/drawing/2014/main" id="{5B55E9AF-D841-AF42-9C76-0EA42A51EA61}"/>
              </a:ext>
            </a:extLst>
          </p:cNvPr>
          <p:cNvSpPr txBox="1"/>
          <p:nvPr/>
        </p:nvSpPr>
        <p:spPr>
          <a:xfrm>
            <a:off x="9296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‖v‖₄ = (3⁴ + (−4)⁴)^¼</a:t>
            </a:r>
          </a:p>
        </p:txBody>
      </p:sp>
      <p:sp>
        <p:nvSpPr>
          <p:cNvPr id="84" name="Sol3_2">
            <a:extLst>
              <a:ext uri="{FF2B5EF4-FFF2-40B4-BE49-F238E27FC236}">
                <a16:creationId xmlns:a16="http://schemas.microsoft.com/office/drawing/2014/main" id="{FA6D8DEB-BE37-9E4D-9DFC-40F4B577186F}"/>
              </a:ext>
            </a:extLst>
          </p:cNvPr>
          <p:cNvSpPr txBox="1"/>
          <p:nvPr/>
        </p:nvSpPr>
        <p:spPr>
          <a:xfrm>
            <a:off x="9296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(81 + 256)^¼</a:t>
            </a:r>
          </a:p>
        </p:txBody>
      </p:sp>
      <p:sp>
        <p:nvSpPr>
          <p:cNvPr id="85" name="Sol3_3">
            <a:extLst>
              <a:ext uri="{FF2B5EF4-FFF2-40B4-BE49-F238E27FC236}">
                <a16:creationId xmlns:a16="http://schemas.microsoft.com/office/drawing/2014/main" id="{3E58E6A3-CBEB-3443-8002-F24560371A82}"/>
              </a:ext>
            </a:extLst>
          </p:cNvPr>
          <p:cNvSpPr txBox="1"/>
          <p:nvPr/>
        </p:nvSpPr>
        <p:spPr>
          <a:xfrm>
            <a:off x="9296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337^¼ ≈ 4.285</a:t>
            </a:r>
          </a:p>
        </p:txBody>
      </p:sp>
      <p:sp>
        <p:nvSpPr>
          <p:cNvPr id="86" name="Ans3">
            <a:extLst>
              <a:ext uri="{FF2B5EF4-FFF2-40B4-BE49-F238E27FC236}">
                <a16:creationId xmlns:a16="http://schemas.microsoft.com/office/drawing/2014/main" id="{1FCCED89-142A-3441-A439-534188DD2418}"/>
              </a:ext>
            </a:extLst>
          </p:cNvPr>
          <p:cNvSpPr/>
          <p:nvPr/>
        </p:nvSpPr>
        <p:spPr>
          <a:xfrm>
            <a:off x="9296400" y="4597400"/>
            <a:ext cx="2489200" cy="355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AnsTxt3">
            <a:extLst>
              <a:ext uri="{FF2B5EF4-FFF2-40B4-BE49-F238E27FC236}">
                <a16:creationId xmlns:a16="http://schemas.microsoft.com/office/drawing/2014/main" id="{EFCAEB75-2880-F24E-821B-EF5EB0634E19}"/>
              </a:ext>
            </a:extLst>
          </p:cNvPr>
          <p:cNvSpPr txBox="1"/>
          <p:nvPr/>
        </p:nvSpPr>
        <p:spPr>
          <a:xfrm>
            <a:off x="9296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≈ 4.285</a:t>
            </a:r>
          </a:p>
        </p:txBody>
      </p:sp>
      <p:sp>
        <p:nvSpPr>
          <p:cNvPr id="88" name="TkBar">
            <a:extLst>
              <a:ext uri="{FF2B5EF4-FFF2-40B4-BE49-F238E27FC236}">
                <a16:creationId xmlns:a16="http://schemas.microsoft.com/office/drawing/2014/main" id="{2F6C3E55-EE44-474A-9790-4DDDD9690E3B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TkTxt">
            <a:extLst>
              <a:ext uri="{FF2B5EF4-FFF2-40B4-BE49-F238E27FC236}">
                <a16:creationId xmlns:a16="http://schemas.microsoft.com/office/drawing/2014/main" id="{8BD1375C-612F-AD41-AAA0-3FEDA2AB3883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Different norms give very different 'lengths' for the same vector — the norm choice IS a modeling choice</a:t>
            </a:r>
          </a:p>
        </p:txBody>
      </p:sp>
    </p:spTree>
    <p:extLst>
      <p:ext uri="{BB962C8B-B14F-4D97-AF65-F5344CB8AC3E}">
        <p14:creationId xmlns:p14="http://schemas.microsoft.com/office/powerpoint/2010/main" val="211827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BA848BF6-8C21-884D-AEAD-CAB1FF47B91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69FEB7A1-DD8B-C04D-B99A-65F89636FF6C}"/>
              </a:ext>
            </a:extLst>
          </p:cNvPr>
          <p:cNvSpPr txBox="1"/>
          <p:nvPr/>
        </p:nvSpPr>
        <p:spPr>
          <a:xfrm>
            <a:off x="304800" y="330200"/>
            <a:ext cx="11684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L¹ norm (Manhattan) — visual in 2D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567A5368-24A0-2044-AC60-3BFDFD38DB9B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Unit ball: a diamond rotated 45°. All points (x,y) with |x| + |y| = 1.</a:t>
            </a:r>
          </a:p>
        </p:txBody>
      </p:sp>
      <p:sp>
        <p:nvSpPr>
          <p:cNvPr id="23" name="PlotBg">
            <a:extLst>
              <a:ext uri="{FF2B5EF4-FFF2-40B4-BE49-F238E27FC236}">
                <a16:creationId xmlns:a16="http://schemas.microsoft.com/office/drawing/2014/main" id="{7EE209DB-32F2-6D4A-9A61-18A9452A7F99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AxisX">
            <a:extLst>
              <a:ext uri="{FF2B5EF4-FFF2-40B4-BE49-F238E27FC236}">
                <a16:creationId xmlns:a16="http://schemas.microsoft.com/office/drawing/2014/main" id="{A63BF5C1-373F-7349-9C40-B436BB36DBB5}"/>
              </a:ext>
            </a:extLst>
          </p:cNvPr>
          <p:cNvSpPr/>
          <p:nvPr/>
        </p:nvSpPr>
        <p:spPr>
          <a:xfrm>
            <a:off x="825500" y="3365500"/>
            <a:ext cx="4699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AxisY">
            <a:extLst>
              <a:ext uri="{FF2B5EF4-FFF2-40B4-BE49-F238E27FC236}">
                <a16:creationId xmlns:a16="http://schemas.microsoft.com/office/drawing/2014/main" id="{1DDC435F-8412-0343-9DA3-36B3BB8D2C4E}"/>
              </a:ext>
            </a:extLst>
          </p:cNvPr>
          <p:cNvSpPr/>
          <p:nvPr/>
        </p:nvSpPr>
        <p:spPr>
          <a:xfrm>
            <a:off x="3175000" y="1397000"/>
            <a:ext cx="12700" cy="3937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XLbl">
            <a:extLst>
              <a:ext uri="{FF2B5EF4-FFF2-40B4-BE49-F238E27FC236}">
                <a16:creationId xmlns:a16="http://schemas.microsoft.com/office/drawing/2014/main" id="{D992DE7D-72E6-E543-8C34-C1034CBC695F}"/>
              </a:ext>
            </a:extLst>
          </p:cNvPr>
          <p:cNvSpPr txBox="1"/>
          <p:nvPr/>
        </p:nvSpPr>
        <p:spPr>
          <a:xfrm>
            <a:off x="5410200" y="3416300"/>
            <a:ext cx="15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27" name="YLbl">
            <a:extLst>
              <a:ext uri="{FF2B5EF4-FFF2-40B4-BE49-F238E27FC236}">
                <a16:creationId xmlns:a16="http://schemas.microsoft.com/office/drawing/2014/main" id="{A9D324DB-71C5-9F44-AD25-09DC20F30434}"/>
              </a:ext>
            </a:extLst>
          </p:cNvPr>
          <p:cNvSpPr txBox="1"/>
          <p:nvPr/>
        </p:nvSpPr>
        <p:spPr>
          <a:xfrm>
            <a:off x="3251200" y="1358900"/>
            <a:ext cx="15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35" name="Tick">
            <a:extLst>
              <a:ext uri="{FF2B5EF4-FFF2-40B4-BE49-F238E27FC236}">
                <a16:creationId xmlns:a16="http://schemas.microsoft.com/office/drawing/2014/main" id="{8F0876F9-C04D-5F4A-B26A-94843783444F}"/>
              </a:ext>
            </a:extLst>
          </p:cNvPr>
          <p:cNvSpPr/>
          <p:nvPr/>
        </p:nvSpPr>
        <p:spPr>
          <a:xfrm>
            <a:off x="1778000" y="3314700"/>
            <a:ext cx="12700" cy="1016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ick">
            <a:extLst>
              <a:ext uri="{FF2B5EF4-FFF2-40B4-BE49-F238E27FC236}">
                <a16:creationId xmlns:a16="http://schemas.microsoft.com/office/drawing/2014/main" id="{05E3B1E5-823D-A64B-B20A-D64C55C84575}"/>
              </a:ext>
            </a:extLst>
          </p:cNvPr>
          <p:cNvSpPr/>
          <p:nvPr/>
        </p:nvSpPr>
        <p:spPr>
          <a:xfrm>
            <a:off x="3124200" y="1968500"/>
            <a:ext cx="1016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ick">
            <a:extLst>
              <a:ext uri="{FF2B5EF4-FFF2-40B4-BE49-F238E27FC236}">
                <a16:creationId xmlns:a16="http://schemas.microsoft.com/office/drawing/2014/main" id="{19F534DA-B254-DF42-A85F-AC851AF4939D}"/>
              </a:ext>
            </a:extLst>
          </p:cNvPr>
          <p:cNvSpPr/>
          <p:nvPr/>
        </p:nvSpPr>
        <p:spPr>
          <a:xfrm>
            <a:off x="4572000" y="3314700"/>
            <a:ext cx="12700" cy="1016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ick">
            <a:extLst>
              <a:ext uri="{FF2B5EF4-FFF2-40B4-BE49-F238E27FC236}">
                <a16:creationId xmlns:a16="http://schemas.microsoft.com/office/drawing/2014/main" id="{A301C23E-28EB-AA4B-A2FD-5C8BE7A804F0}"/>
              </a:ext>
            </a:extLst>
          </p:cNvPr>
          <p:cNvSpPr/>
          <p:nvPr/>
        </p:nvSpPr>
        <p:spPr>
          <a:xfrm>
            <a:off x="3124200" y="4762500"/>
            <a:ext cx="1016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X1">
            <a:extLst>
              <a:ext uri="{FF2B5EF4-FFF2-40B4-BE49-F238E27FC236}">
                <a16:creationId xmlns:a16="http://schemas.microsoft.com/office/drawing/2014/main" id="{BA63382C-B254-5A4D-B675-41C5C28F33FF}"/>
              </a:ext>
            </a:extLst>
          </p:cNvPr>
          <p:cNvSpPr txBox="1"/>
          <p:nvPr/>
        </p:nvSpPr>
        <p:spPr>
          <a:xfrm>
            <a:off x="4508500" y="34417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40" name="TXm1">
            <a:extLst>
              <a:ext uri="{FF2B5EF4-FFF2-40B4-BE49-F238E27FC236}">
                <a16:creationId xmlns:a16="http://schemas.microsoft.com/office/drawing/2014/main" id="{408B5677-1335-4E40-A0B3-D9D40160FA5C}"/>
              </a:ext>
            </a:extLst>
          </p:cNvPr>
          <p:cNvSpPr txBox="1"/>
          <p:nvPr/>
        </p:nvSpPr>
        <p:spPr>
          <a:xfrm>
            <a:off x="1663700" y="34417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−1</a:t>
            </a:r>
          </a:p>
        </p:txBody>
      </p:sp>
      <p:sp>
        <p:nvSpPr>
          <p:cNvPr id="41" name="TY1">
            <a:extLst>
              <a:ext uri="{FF2B5EF4-FFF2-40B4-BE49-F238E27FC236}">
                <a16:creationId xmlns:a16="http://schemas.microsoft.com/office/drawing/2014/main" id="{360DBC97-4B28-BD4F-8A6A-EA1B16F7911F}"/>
              </a:ext>
            </a:extLst>
          </p:cNvPr>
          <p:cNvSpPr txBox="1"/>
          <p:nvPr/>
        </p:nvSpPr>
        <p:spPr>
          <a:xfrm>
            <a:off x="3251200" y="1892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43" name="UnitBall">
            <a:extLst>
              <a:ext uri="{FF2B5EF4-FFF2-40B4-BE49-F238E27FC236}">
                <a16:creationId xmlns:a16="http://schemas.microsoft.com/office/drawing/2014/main" id="{DF5DCBB5-A98D-054E-9979-D7D04DC20C95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diamond">
            <a:avLst/>
          </a:prstGeom>
          <a:solidFill>
            <a:srgbClr val="E8E0F0"/>
          </a:solidFill>
          <a:ln w="381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Ym1">
            <a:extLst>
              <a:ext uri="{FF2B5EF4-FFF2-40B4-BE49-F238E27FC236}">
                <a16:creationId xmlns:a16="http://schemas.microsoft.com/office/drawing/2014/main" id="{3CA5B77D-C5B6-5F47-9967-9923EA8B0A8A}"/>
              </a:ext>
            </a:extLst>
          </p:cNvPr>
          <p:cNvSpPr txBox="1"/>
          <p:nvPr/>
        </p:nvSpPr>
        <p:spPr>
          <a:xfrm>
            <a:off x="3251200" y="468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−1</a:t>
            </a:r>
          </a:p>
        </p:txBody>
      </p:sp>
      <p:sp>
        <p:nvSpPr>
          <p:cNvPr id="44" name="Origin">
            <a:extLst>
              <a:ext uri="{FF2B5EF4-FFF2-40B4-BE49-F238E27FC236}">
                <a16:creationId xmlns:a16="http://schemas.microsoft.com/office/drawing/2014/main" id="{B9249DE4-7E7A-EE45-AE20-1ACC7EF17711}"/>
              </a:ext>
            </a:extLst>
          </p:cNvPr>
          <p:cNvSpPr/>
          <p:nvPr/>
        </p:nvSpPr>
        <p:spPr>
          <a:xfrm>
            <a:off x="3136900" y="3327400"/>
            <a:ext cx="76200" cy="762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Lbl">
            <a:extLst>
              <a:ext uri="{FF2B5EF4-FFF2-40B4-BE49-F238E27FC236}">
                <a16:creationId xmlns:a16="http://schemas.microsoft.com/office/drawing/2014/main" id="{938CFE1E-998D-164B-ACA3-0EDD64B1489C}"/>
              </a:ext>
            </a:extLst>
          </p:cNvPr>
          <p:cNvSpPr txBox="1"/>
          <p:nvPr/>
        </p:nvSpPr>
        <p:spPr>
          <a:xfrm>
            <a:off x="3225800" y="341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0</a:t>
            </a:r>
          </a:p>
        </p:txBody>
      </p:sp>
      <p:sp>
        <p:nvSpPr>
          <p:cNvPr id="46" name="ExDot">
            <a:extLst>
              <a:ext uri="{FF2B5EF4-FFF2-40B4-BE49-F238E27FC236}">
                <a16:creationId xmlns:a16="http://schemas.microsoft.com/office/drawing/2014/main" id="{8F6C6C17-522B-6F4D-84DF-B8907385FC06}"/>
              </a:ext>
            </a:extLst>
          </p:cNvPr>
          <p:cNvSpPr/>
          <p:nvPr/>
        </p:nvSpPr>
        <p:spPr>
          <a:xfrm>
            <a:off x="3937000" y="2730500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ExLbl">
            <a:extLst>
              <a:ext uri="{FF2B5EF4-FFF2-40B4-BE49-F238E27FC236}">
                <a16:creationId xmlns:a16="http://schemas.microsoft.com/office/drawing/2014/main" id="{5459F83B-6932-DB4B-BEEE-447109FD0069}"/>
              </a:ext>
            </a:extLst>
          </p:cNvPr>
          <p:cNvSpPr txBox="1"/>
          <p:nvPr/>
        </p:nvSpPr>
        <p:spPr>
          <a:xfrm>
            <a:off x="4114800" y="25781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(0.6, 0.4)</a:t>
            </a:r>
          </a:p>
        </p:txBody>
      </p:sp>
      <p:sp>
        <p:nvSpPr>
          <p:cNvPr id="48" name="PathH">
            <a:extLst>
              <a:ext uri="{FF2B5EF4-FFF2-40B4-BE49-F238E27FC236}">
                <a16:creationId xmlns:a16="http://schemas.microsoft.com/office/drawing/2014/main" id="{16A89307-041C-1248-9132-D123161A5098}"/>
              </a:ext>
            </a:extLst>
          </p:cNvPr>
          <p:cNvSpPr/>
          <p:nvPr/>
        </p:nvSpPr>
        <p:spPr>
          <a:xfrm>
            <a:off x="3175000" y="3365500"/>
            <a:ext cx="838200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athHLbl">
            <a:extLst>
              <a:ext uri="{FF2B5EF4-FFF2-40B4-BE49-F238E27FC236}">
                <a16:creationId xmlns:a16="http://schemas.microsoft.com/office/drawing/2014/main" id="{7F2C4F6C-695D-5648-9C2C-70C988087886}"/>
              </a:ext>
            </a:extLst>
          </p:cNvPr>
          <p:cNvSpPr txBox="1"/>
          <p:nvPr/>
        </p:nvSpPr>
        <p:spPr>
          <a:xfrm>
            <a:off x="3403600" y="34163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|x| = 0.6</a:t>
            </a:r>
          </a:p>
        </p:txBody>
      </p:sp>
      <p:sp>
        <p:nvSpPr>
          <p:cNvPr id="50" name="PathV">
            <a:extLst>
              <a:ext uri="{FF2B5EF4-FFF2-40B4-BE49-F238E27FC236}">
                <a16:creationId xmlns:a16="http://schemas.microsoft.com/office/drawing/2014/main" id="{5C597ECE-118E-7F4E-AC9D-041A9D624D86}"/>
              </a:ext>
            </a:extLst>
          </p:cNvPr>
          <p:cNvSpPr/>
          <p:nvPr/>
        </p:nvSpPr>
        <p:spPr>
          <a:xfrm>
            <a:off x="4013200" y="2806700"/>
            <a:ext cx="25400" cy="5588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PathVLbl">
            <a:extLst>
              <a:ext uri="{FF2B5EF4-FFF2-40B4-BE49-F238E27FC236}">
                <a16:creationId xmlns:a16="http://schemas.microsoft.com/office/drawing/2014/main" id="{1A816917-067C-964F-84C3-8142E6855F53}"/>
              </a:ext>
            </a:extLst>
          </p:cNvPr>
          <p:cNvSpPr txBox="1"/>
          <p:nvPr/>
        </p:nvSpPr>
        <p:spPr>
          <a:xfrm>
            <a:off x="4089400" y="3009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|y| = 0.4</a:t>
            </a:r>
          </a:p>
        </p:txBody>
      </p:sp>
      <p:sp>
        <p:nvSpPr>
          <p:cNvPr id="53" name="DefBox">
            <a:extLst>
              <a:ext uri="{FF2B5EF4-FFF2-40B4-BE49-F238E27FC236}">
                <a16:creationId xmlns:a16="http://schemas.microsoft.com/office/drawing/2014/main" id="{0147AF09-FEC7-1B42-A91E-5DE1AE6D3C7B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DefH">
            <a:extLst>
              <a:ext uri="{FF2B5EF4-FFF2-40B4-BE49-F238E27FC236}">
                <a16:creationId xmlns:a16="http://schemas.microsoft.com/office/drawing/2014/main" id="{02883B36-0098-C840-AAC1-D97F555CD56F}"/>
              </a:ext>
            </a:extLst>
          </p:cNvPr>
          <p:cNvSpPr txBox="1"/>
          <p:nvPr/>
        </p:nvSpPr>
        <p:spPr>
          <a:xfrm>
            <a:off x="6311900" y="13970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55" name="DefF">
            <a:extLst>
              <a:ext uri="{FF2B5EF4-FFF2-40B4-BE49-F238E27FC236}">
                <a16:creationId xmlns:a16="http://schemas.microsoft.com/office/drawing/2014/main" id="{D36CCEA0-363B-0341-AB9A-611C8A25FE8D}"/>
              </a:ext>
            </a:extLst>
          </p:cNvPr>
          <p:cNvSpPr txBox="1"/>
          <p:nvPr/>
        </p:nvSpPr>
        <p:spPr>
          <a:xfrm>
            <a:off x="6311900" y="1651000"/>
            <a:ext cx="53467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333333"/>
                </a:solidFill>
                <a:latin typeface="Cambria Math"/>
                <a:ea typeface="Cambria Math"/>
              </a:rPr>
              <a:t>‖v‖₁ = |v₁| + |v₂| + ... + |vₙ|</a:t>
            </a:r>
          </a:p>
        </p:txBody>
      </p:sp>
      <p:sp>
        <p:nvSpPr>
          <p:cNvPr id="56" name="DefN">
            <a:extLst>
              <a:ext uri="{FF2B5EF4-FFF2-40B4-BE49-F238E27FC236}">
                <a16:creationId xmlns:a16="http://schemas.microsoft.com/office/drawing/2014/main" id="{ED6A966E-E35D-6443-ABEA-6BF679C55EC4}"/>
              </a:ext>
            </a:extLst>
          </p:cNvPr>
          <p:cNvSpPr txBox="1"/>
          <p:nvPr/>
        </p:nvSpPr>
        <p:spPr>
          <a:xfrm>
            <a:off x="6311900" y="20066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Sum of absolute values of components.</a:t>
            </a:r>
          </a:p>
        </p:txBody>
      </p:sp>
      <p:sp>
        <p:nvSpPr>
          <p:cNvPr id="57" name="WhyBox">
            <a:extLst>
              <a:ext uri="{FF2B5EF4-FFF2-40B4-BE49-F238E27FC236}">
                <a16:creationId xmlns:a16="http://schemas.microsoft.com/office/drawing/2014/main" id="{B0D4DF57-77E5-4640-87AC-03581A1BEBAF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WhyH">
            <a:extLst>
              <a:ext uri="{FF2B5EF4-FFF2-40B4-BE49-F238E27FC236}">
                <a16:creationId xmlns:a16="http://schemas.microsoft.com/office/drawing/2014/main" id="{703D882F-0CBE-E840-937D-0073148E9F17}"/>
              </a:ext>
            </a:extLst>
          </p:cNvPr>
          <p:cNvSpPr txBox="1"/>
          <p:nvPr/>
        </p:nvSpPr>
        <p:spPr>
          <a:xfrm>
            <a:off x="6311900" y="25400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Why a diamond?</a:t>
            </a:r>
          </a:p>
        </p:txBody>
      </p:sp>
      <p:sp>
        <p:nvSpPr>
          <p:cNvPr id="59" name="WhyT">
            <a:extLst>
              <a:ext uri="{FF2B5EF4-FFF2-40B4-BE49-F238E27FC236}">
                <a16:creationId xmlns:a16="http://schemas.microsoft.com/office/drawing/2014/main" id="{A1DF413E-9006-C44F-80D8-082FD2222269}"/>
              </a:ext>
            </a:extLst>
          </p:cNvPr>
          <p:cNvSpPr txBox="1"/>
          <p:nvPr/>
        </p:nvSpPr>
        <p:spPr>
          <a:xfrm>
            <a:off x="6311900" y="2794000"/>
            <a:ext cx="5346700" cy="787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‖(x,y)‖₁ = 1  ⟺  |x| + |y| = 1
This is 4 line segments: x+y=1, x−y=1, −x+y=1, −x−y=1
Together they form a diamond (square rotated 45°).</a:t>
            </a:r>
          </a:p>
        </p:txBody>
      </p:sp>
      <p:sp>
        <p:nvSpPr>
          <p:cNvPr id="60" name="IntBox">
            <a:extLst>
              <a:ext uri="{FF2B5EF4-FFF2-40B4-BE49-F238E27FC236}">
                <a16:creationId xmlns:a16="http://schemas.microsoft.com/office/drawing/2014/main" id="{C92A7F9B-3921-3F48-949B-D24D14ED54A1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IntH">
            <a:extLst>
              <a:ext uri="{FF2B5EF4-FFF2-40B4-BE49-F238E27FC236}">
                <a16:creationId xmlns:a16="http://schemas.microsoft.com/office/drawing/2014/main" id="{C8AFE8F9-5644-4C40-A188-453C43A65CA5}"/>
              </a:ext>
            </a:extLst>
          </p:cNvPr>
          <p:cNvSpPr txBox="1"/>
          <p:nvPr/>
        </p:nvSpPr>
        <p:spPr>
          <a:xfrm>
            <a:off x="6311900" y="38608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Interpretation — taxicab distance</a:t>
            </a:r>
          </a:p>
        </p:txBody>
      </p:sp>
      <p:sp>
        <p:nvSpPr>
          <p:cNvPr id="62" name="IntT">
            <a:extLst>
              <a:ext uri="{FF2B5EF4-FFF2-40B4-BE49-F238E27FC236}">
                <a16:creationId xmlns:a16="http://schemas.microsoft.com/office/drawing/2014/main" id="{7B249F9D-0EA0-CE4A-9B36-D429A1CBB837}"/>
              </a:ext>
            </a:extLst>
          </p:cNvPr>
          <p:cNvSpPr txBox="1"/>
          <p:nvPr/>
        </p:nvSpPr>
        <p:spPr>
          <a:xfrm>
            <a:off x="6311900" y="4114800"/>
            <a:ext cx="5346700" cy="91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To reach (0.6, 0.4) from origin you cannot cut diagonally —
you walk 0.6 east, then 0.4 north (or any axis-aligned path).
Total walked = 0.6 + 0.4 = 1.0 city blocks.</a:t>
            </a:r>
          </a:p>
        </p:txBody>
      </p:sp>
      <p:sp>
        <p:nvSpPr>
          <p:cNvPr id="63" name="UseBox">
            <a:extLst>
              <a:ext uri="{FF2B5EF4-FFF2-40B4-BE49-F238E27FC236}">
                <a16:creationId xmlns:a16="http://schemas.microsoft.com/office/drawing/2014/main" id="{F2735E54-4B39-3643-917B-59B988553415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UseH">
            <a:extLst>
              <a:ext uri="{FF2B5EF4-FFF2-40B4-BE49-F238E27FC236}">
                <a16:creationId xmlns:a16="http://schemas.microsoft.com/office/drawing/2014/main" id="{F4CC25DD-6C67-7F4D-B1C1-0D621E9E60CA}"/>
              </a:ext>
            </a:extLst>
          </p:cNvPr>
          <p:cNvSpPr txBox="1"/>
          <p:nvPr/>
        </p:nvSpPr>
        <p:spPr>
          <a:xfrm>
            <a:off x="6311900" y="52578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90" name="UseT">
            <a:extLst>
              <a:ext uri="{FF2B5EF4-FFF2-40B4-BE49-F238E27FC236}">
                <a16:creationId xmlns:a16="http://schemas.microsoft.com/office/drawing/2014/main" id="{1BA581E0-18FF-CF49-8B34-E6ABF9B9136A}"/>
              </a:ext>
            </a:extLst>
          </p:cNvPr>
          <p:cNvSpPr txBox="1"/>
          <p:nvPr/>
        </p:nvSpPr>
        <p:spPr>
          <a:xfrm>
            <a:off x="7327900" y="525780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sparse models (Lasso), L1 regularization, robust to outliers</a:t>
            </a:r>
          </a:p>
        </p:txBody>
      </p:sp>
      <p:sp>
        <p:nvSpPr>
          <p:cNvPr id="91" name="TkBar">
            <a:extLst>
              <a:ext uri="{FF2B5EF4-FFF2-40B4-BE49-F238E27FC236}">
                <a16:creationId xmlns:a16="http://schemas.microsoft.com/office/drawing/2014/main" id="{0B1D974B-D436-BD41-895B-3ADDFCFFE884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2" name="TkText">
            <a:extLst>
              <a:ext uri="{FF2B5EF4-FFF2-40B4-BE49-F238E27FC236}">
                <a16:creationId xmlns:a16="http://schemas.microsoft.com/office/drawing/2014/main" id="{5A48BD9D-334A-4949-B1E5-EC1A0CBD512F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The L¹ unit ball is a diamond — distance is measured along axes, not diagonally</a:t>
            </a:r>
          </a:p>
        </p:txBody>
      </p:sp>
    </p:spTree>
    <p:extLst>
      <p:ext uri="{BB962C8B-B14F-4D97-AF65-F5344CB8AC3E}">
        <p14:creationId xmlns:p14="http://schemas.microsoft.com/office/powerpoint/2010/main" val="379718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Bar">
            <a:extLst>
              <a:ext uri="{FF2B5EF4-FFF2-40B4-BE49-F238E27FC236}">
                <a16:creationId xmlns:a16="http://schemas.microsoft.com/office/drawing/2014/main" id="{C7274F34-0EA5-7643-BA44-8B9EED9F7C7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4" name="Title">
            <a:extLst>
              <a:ext uri="{FF2B5EF4-FFF2-40B4-BE49-F238E27FC236}">
                <a16:creationId xmlns:a16="http://schemas.microsoft.com/office/drawing/2014/main" id="{57DA8FD2-A4D5-8F47-88DF-D97EB8AD49D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L² norm — the Euclidean unit ball is a circle</a:t>
            </a:r>
          </a:p>
        </p:txBody>
      </p:sp>
      <p:sp>
        <p:nvSpPr>
          <p:cNvPr id="85" name="Sub">
            <a:extLst>
              <a:ext uri="{FF2B5EF4-FFF2-40B4-BE49-F238E27FC236}">
                <a16:creationId xmlns:a16="http://schemas.microsoft.com/office/drawing/2014/main" id="{859AABEA-BAF0-A047-A05F-02B1B36B6140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Straight-line distance — what most people mean by 'distance'</a:t>
            </a:r>
          </a:p>
        </p:txBody>
      </p:sp>
      <p:sp>
        <p:nvSpPr>
          <p:cNvPr id="86" name="PlotBg">
            <a:extLst>
              <a:ext uri="{FF2B5EF4-FFF2-40B4-BE49-F238E27FC236}">
                <a16:creationId xmlns:a16="http://schemas.microsoft.com/office/drawing/2014/main" id="{C2ED6599-6AC8-AF41-8BDB-F59874076DD7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GV">
            <a:extLst>
              <a:ext uri="{FF2B5EF4-FFF2-40B4-BE49-F238E27FC236}">
                <a16:creationId xmlns:a16="http://schemas.microsoft.com/office/drawing/2014/main" id="{16D1C265-38F4-7949-B7C6-14B9CF9C5CBC}"/>
              </a:ext>
            </a:extLst>
          </p:cNvPr>
          <p:cNvSpPr/>
          <p:nvPr/>
        </p:nvSpPr>
        <p:spPr>
          <a:xfrm>
            <a:off x="1778000" y="1460500"/>
            <a:ext cx="6350" cy="381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8" name="GH">
            <a:extLst>
              <a:ext uri="{FF2B5EF4-FFF2-40B4-BE49-F238E27FC236}">
                <a16:creationId xmlns:a16="http://schemas.microsoft.com/office/drawing/2014/main" id="{30A35177-D40A-5E4D-8979-F7E784DB8454}"/>
              </a:ext>
            </a:extLst>
          </p:cNvPr>
          <p:cNvSpPr/>
          <p:nvPr/>
        </p:nvSpPr>
        <p:spPr>
          <a:xfrm>
            <a:off x="889000" y="1968500"/>
            <a:ext cx="4572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GV">
            <a:extLst>
              <a:ext uri="{FF2B5EF4-FFF2-40B4-BE49-F238E27FC236}">
                <a16:creationId xmlns:a16="http://schemas.microsoft.com/office/drawing/2014/main" id="{E9273D36-EA82-A84B-8B35-B93FD415CF41}"/>
              </a:ext>
            </a:extLst>
          </p:cNvPr>
          <p:cNvSpPr/>
          <p:nvPr/>
        </p:nvSpPr>
        <p:spPr>
          <a:xfrm>
            <a:off x="4572000" y="1460500"/>
            <a:ext cx="6350" cy="381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GH">
            <a:extLst>
              <a:ext uri="{FF2B5EF4-FFF2-40B4-BE49-F238E27FC236}">
                <a16:creationId xmlns:a16="http://schemas.microsoft.com/office/drawing/2014/main" id="{A97845C2-00F2-5043-BA9D-A15C4DCD9D95}"/>
              </a:ext>
            </a:extLst>
          </p:cNvPr>
          <p:cNvSpPr/>
          <p:nvPr/>
        </p:nvSpPr>
        <p:spPr>
          <a:xfrm>
            <a:off x="889000" y="4762500"/>
            <a:ext cx="4572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UnitBall">
            <a:extLst>
              <a:ext uri="{FF2B5EF4-FFF2-40B4-BE49-F238E27FC236}">
                <a16:creationId xmlns:a16="http://schemas.microsoft.com/office/drawing/2014/main" id="{955DB811-9836-7142-95CA-D621B0652874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ellipse">
            <a:avLst/>
          </a:prstGeom>
          <a:solidFill>
            <a:srgbClr val="D8EEF1"/>
          </a:solidFill>
          <a:ln w="381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5" name="AxX">
            <a:extLst>
              <a:ext uri="{FF2B5EF4-FFF2-40B4-BE49-F238E27FC236}">
                <a16:creationId xmlns:a16="http://schemas.microsoft.com/office/drawing/2014/main" id="{E5C7DA60-69DA-D040-96BA-182F16601C9F}"/>
              </a:ext>
            </a:extLst>
          </p:cNvPr>
          <p:cNvSpPr/>
          <p:nvPr/>
        </p:nvSpPr>
        <p:spPr>
          <a:xfrm>
            <a:off x="1016000" y="3365500"/>
            <a:ext cx="4318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AxY">
            <a:extLst>
              <a:ext uri="{FF2B5EF4-FFF2-40B4-BE49-F238E27FC236}">
                <a16:creationId xmlns:a16="http://schemas.microsoft.com/office/drawing/2014/main" id="{19E42A18-5C02-384A-9F8F-17F208E50F79}"/>
              </a:ext>
            </a:extLst>
          </p:cNvPr>
          <p:cNvSpPr/>
          <p:nvPr/>
        </p:nvSpPr>
        <p:spPr>
          <a:xfrm>
            <a:off x="3175000" y="1524000"/>
            <a:ext cx="12700" cy="36830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LblX">
            <a:extLst>
              <a:ext uri="{FF2B5EF4-FFF2-40B4-BE49-F238E27FC236}">
                <a16:creationId xmlns:a16="http://schemas.microsoft.com/office/drawing/2014/main" id="{46FB10D5-A2F8-874C-801F-017026FD6484}"/>
              </a:ext>
            </a:extLst>
          </p:cNvPr>
          <p:cNvSpPr txBox="1"/>
          <p:nvPr/>
        </p:nvSpPr>
        <p:spPr>
          <a:xfrm>
            <a:off x="5359400" y="34163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98" name="LblY">
            <a:extLst>
              <a:ext uri="{FF2B5EF4-FFF2-40B4-BE49-F238E27FC236}">
                <a16:creationId xmlns:a16="http://schemas.microsoft.com/office/drawing/2014/main" id="{67042857-D156-E348-A671-5896C175B53A}"/>
              </a:ext>
            </a:extLst>
          </p:cNvPr>
          <p:cNvSpPr txBox="1"/>
          <p:nvPr/>
        </p:nvSpPr>
        <p:spPr>
          <a:xfrm>
            <a:off x="3225800" y="14351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99" name="Lbl0">
            <a:extLst>
              <a:ext uri="{FF2B5EF4-FFF2-40B4-BE49-F238E27FC236}">
                <a16:creationId xmlns:a16="http://schemas.microsoft.com/office/drawing/2014/main" id="{0F51F021-C0DE-0B48-94C2-5ED4692C193E}"/>
              </a:ext>
            </a:extLst>
          </p:cNvPr>
          <p:cNvSpPr txBox="1"/>
          <p:nvPr/>
        </p:nvSpPr>
        <p:spPr>
          <a:xfrm>
            <a:off x="3022600" y="3416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0</a:t>
            </a:r>
          </a:p>
        </p:txBody>
      </p:sp>
      <p:sp>
        <p:nvSpPr>
          <p:cNvPr id="100" name="Lbl1x">
            <a:extLst>
              <a:ext uri="{FF2B5EF4-FFF2-40B4-BE49-F238E27FC236}">
                <a16:creationId xmlns:a16="http://schemas.microsoft.com/office/drawing/2014/main" id="{BA4C70C1-539A-EF4F-B49B-5126C3EA6FAE}"/>
              </a:ext>
            </a:extLst>
          </p:cNvPr>
          <p:cNvSpPr txBox="1"/>
          <p:nvPr/>
        </p:nvSpPr>
        <p:spPr>
          <a:xfrm>
            <a:off x="4521200" y="341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01" name="LblN1x">
            <a:extLst>
              <a:ext uri="{FF2B5EF4-FFF2-40B4-BE49-F238E27FC236}">
                <a16:creationId xmlns:a16="http://schemas.microsoft.com/office/drawing/2014/main" id="{16F5A01C-A413-1E43-8877-D6482B55B66D}"/>
              </a:ext>
            </a:extLst>
          </p:cNvPr>
          <p:cNvSpPr txBox="1"/>
          <p:nvPr/>
        </p:nvSpPr>
        <p:spPr>
          <a:xfrm>
            <a:off x="1651000" y="341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−1</a:t>
            </a:r>
          </a:p>
        </p:txBody>
      </p:sp>
      <p:sp>
        <p:nvSpPr>
          <p:cNvPr id="102" name="Lbl1y">
            <a:extLst>
              <a:ext uri="{FF2B5EF4-FFF2-40B4-BE49-F238E27FC236}">
                <a16:creationId xmlns:a16="http://schemas.microsoft.com/office/drawing/2014/main" id="{19099949-13C2-5C48-B6FD-2D2ED59943DE}"/>
              </a:ext>
            </a:extLst>
          </p:cNvPr>
          <p:cNvSpPr txBox="1"/>
          <p:nvPr/>
        </p:nvSpPr>
        <p:spPr>
          <a:xfrm>
            <a:off x="3225800" y="19177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03" name="LblN1y">
            <a:extLst>
              <a:ext uri="{FF2B5EF4-FFF2-40B4-BE49-F238E27FC236}">
                <a16:creationId xmlns:a16="http://schemas.microsoft.com/office/drawing/2014/main" id="{868D0830-3B02-624D-8D1F-8F0E170806F4}"/>
              </a:ext>
            </a:extLst>
          </p:cNvPr>
          <p:cNvSpPr txBox="1"/>
          <p:nvPr/>
        </p:nvSpPr>
        <p:spPr>
          <a:xfrm>
            <a:off x="3225800" y="468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−1</a:t>
            </a:r>
          </a:p>
        </p:txBody>
      </p:sp>
      <p:sp>
        <p:nvSpPr>
          <p:cNvPr id="104" name="TX1">
            <a:extLst>
              <a:ext uri="{FF2B5EF4-FFF2-40B4-BE49-F238E27FC236}">
                <a16:creationId xmlns:a16="http://schemas.microsoft.com/office/drawing/2014/main" id="{960B2A2E-A410-EF48-A78F-97C85A9D6699}"/>
              </a:ext>
            </a:extLst>
          </p:cNvPr>
          <p:cNvSpPr/>
          <p:nvPr/>
        </p:nvSpPr>
        <p:spPr>
          <a:xfrm>
            <a:off x="4572000" y="3327400"/>
            <a:ext cx="12700" cy="762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TX2">
            <a:extLst>
              <a:ext uri="{FF2B5EF4-FFF2-40B4-BE49-F238E27FC236}">
                <a16:creationId xmlns:a16="http://schemas.microsoft.com/office/drawing/2014/main" id="{422EC483-88E3-C341-9FAA-9CF3B279A1EC}"/>
              </a:ext>
            </a:extLst>
          </p:cNvPr>
          <p:cNvSpPr/>
          <p:nvPr/>
        </p:nvSpPr>
        <p:spPr>
          <a:xfrm>
            <a:off x="1778000" y="3327400"/>
            <a:ext cx="12700" cy="762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6" name="TY1">
            <a:extLst>
              <a:ext uri="{FF2B5EF4-FFF2-40B4-BE49-F238E27FC236}">
                <a16:creationId xmlns:a16="http://schemas.microsoft.com/office/drawing/2014/main" id="{4E252ED0-1BE5-AA4B-AB9A-8B6BCD060676}"/>
              </a:ext>
            </a:extLst>
          </p:cNvPr>
          <p:cNvSpPr/>
          <p:nvPr/>
        </p:nvSpPr>
        <p:spPr>
          <a:xfrm>
            <a:off x="3136900" y="1968500"/>
            <a:ext cx="762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7" name="TY2">
            <a:extLst>
              <a:ext uri="{FF2B5EF4-FFF2-40B4-BE49-F238E27FC236}">
                <a16:creationId xmlns:a16="http://schemas.microsoft.com/office/drawing/2014/main" id="{B6160C8A-CA75-CD44-9123-4F9D72CE531E}"/>
              </a:ext>
            </a:extLst>
          </p:cNvPr>
          <p:cNvSpPr/>
          <p:nvPr/>
        </p:nvSpPr>
        <p:spPr>
          <a:xfrm>
            <a:off x="3136900" y="4762500"/>
            <a:ext cx="762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8" name="Hyp">
            <a:extLst>
              <a:ext uri="{FF2B5EF4-FFF2-40B4-BE49-F238E27FC236}">
                <a16:creationId xmlns:a16="http://schemas.microsoft.com/office/drawing/2014/main" id="{E0BFF4A3-0C4E-6E44-AB83-3897A5A9E76F}"/>
              </a:ext>
            </a:extLst>
          </p:cNvPr>
          <p:cNvSpPr/>
          <p:nvPr/>
        </p:nvSpPr>
        <p:spPr>
          <a:xfrm rot="-3187806">
            <a:off x="2895600" y="2787650"/>
            <a:ext cx="1397000" cy="381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9" name="LegX">
            <a:extLst>
              <a:ext uri="{FF2B5EF4-FFF2-40B4-BE49-F238E27FC236}">
                <a16:creationId xmlns:a16="http://schemas.microsoft.com/office/drawing/2014/main" id="{5924A689-9986-0648-870E-C93574C61F95}"/>
              </a:ext>
            </a:extLst>
          </p:cNvPr>
          <p:cNvSpPr/>
          <p:nvPr/>
        </p:nvSpPr>
        <p:spPr>
          <a:xfrm>
            <a:off x="3175000" y="3359150"/>
            <a:ext cx="838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0" name="LegY">
            <a:extLst>
              <a:ext uri="{FF2B5EF4-FFF2-40B4-BE49-F238E27FC236}">
                <a16:creationId xmlns:a16="http://schemas.microsoft.com/office/drawing/2014/main" id="{EEA3F8DB-A821-7441-A984-F517FE453ECD}"/>
              </a:ext>
            </a:extLst>
          </p:cNvPr>
          <p:cNvSpPr/>
          <p:nvPr/>
        </p:nvSpPr>
        <p:spPr>
          <a:xfrm>
            <a:off x="4006850" y="2247900"/>
            <a:ext cx="12700" cy="11176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1" name="Dot">
            <a:extLst>
              <a:ext uri="{FF2B5EF4-FFF2-40B4-BE49-F238E27FC236}">
                <a16:creationId xmlns:a16="http://schemas.microsoft.com/office/drawing/2014/main" id="{090091ED-D54D-7C4D-8A0D-4551991ACF63}"/>
              </a:ext>
            </a:extLst>
          </p:cNvPr>
          <p:cNvSpPr/>
          <p:nvPr/>
        </p:nvSpPr>
        <p:spPr>
          <a:xfrm>
            <a:off x="3924300" y="2159000"/>
            <a:ext cx="177800" cy="177800"/>
          </a:xfrm>
          <a:prstGeom prst="ellipse">
            <a:avLst/>
          </a:prstGeom>
          <a:solidFill>
            <a:srgbClr val="D1578A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2" name="DotLbl">
            <a:extLst>
              <a:ext uri="{FF2B5EF4-FFF2-40B4-BE49-F238E27FC236}">
                <a16:creationId xmlns:a16="http://schemas.microsoft.com/office/drawing/2014/main" id="{68DF0293-7E87-EC4C-8B49-DB147DD181DF}"/>
              </a:ext>
            </a:extLst>
          </p:cNvPr>
          <p:cNvSpPr txBox="1"/>
          <p:nvPr/>
        </p:nvSpPr>
        <p:spPr>
          <a:xfrm>
            <a:off x="4140200" y="20193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(0.6, 0.8)</a:t>
            </a:r>
          </a:p>
        </p:txBody>
      </p:sp>
      <p:sp>
        <p:nvSpPr>
          <p:cNvPr id="113" name="DistLbl">
            <a:extLst>
              <a:ext uri="{FF2B5EF4-FFF2-40B4-BE49-F238E27FC236}">
                <a16:creationId xmlns:a16="http://schemas.microsoft.com/office/drawing/2014/main" id="{C3057254-32AB-4344-8418-F5B90BD3923B}"/>
              </a:ext>
            </a:extLst>
          </p:cNvPr>
          <p:cNvSpPr txBox="1"/>
          <p:nvPr/>
        </p:nvSpPr>
        <p:spPr>
          <a:xfrm>
            <a:off x="2705100" y="2476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Cambria Math"/>
                <a:ea typeface="Cambria Math"/>
              </a:rPr>
              <a:t>‖v‖₂ = 1</a:t>
            </a:r>
          </a:p>
        </p:txBody>
      </p:sp>
      <p:sp>
        <p:nvSpPr>
          <p:cNvPr id="114" name="PlotTitle">
            <a:extLst>
              <a:ext uri="{FF2B5EF4-FFF2-40B4-BE49-F238E27FC236}">
                <a16:creationId xmlns:a16="http://schemas.microsoft.com/office/drawing/2014/main" id="{80253AB8-FBE5-8C4B-A7C6-9F0CD6FD1DF4}"/>
              </a:ext>
            </a:extLst>
          </p:cNvPr>
          <p:cNvSpPr txBox="1"/>
          <p:nvPr/>
        </p:nvSpPr>
        <p:spPr>
          <a:xfrm>
            <a:off x="762000" y="1104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mbria Math"/>
                <a:ea typeface="Cambria Math"/>
              </a:rPr>
              <a:t>Unit ball: { v : ‖v‖₂ ≤ 1 }</a:t>
            </a:r>
          </a:p>
        </p:txBody>
      </p:sp>
      <p:sp>
        <p:nvSpPr>
          <p:cNvPr id="115" name="DefBox">
            <a:extLst>
              <a:ext uri="{FF2B5EF4-FFF2-40B4-BE49-F238E27FC236}">
                <a16:creationId xmlns:a16="http://schemas.microsoft.com/office/drawing/2014/main" id="{F86004BD-4545-3D42-B35F-C39AA1EEEA0F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6" name="DefHdr">
            <a:extLst>
              <a:ext uri="{FF2B5EF4-FFF2-40B4-BE49-F238E27FC236}">
                <a16:creationId xmlns:a16="http://schemas.microsoft.com/office/drawing/2014/main" id="{D9DC2938-0EB9-994F-93B2-4598AA6F1409}"/>
              </a:ext>
            </a:extLst>
          </p:cNvPr>
          <p:cNvSpPr txBox="1"/>
          <p:nvPr/>
        </p:nvSpPr>
        <p:spPr>
          <a:xfrm>
            <a:off x="6311900" y="139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117" name="DefF">
            <a:extLst>
              <a:ext uri="{FF2B5EF4-FFF2-40B4-BE49-F238E27FC236}">
                <a16:creationId xmlns:a16="http://schemas.microsoft.com/office/drawing/2014/main" id="{5B9FC37D-9284-304A-BB34-CF5DB77DAD5E}"/>
              </a:ext>
            </a:extLst>
          </p:cNvPr>
          <p:cNvSpPr txBox="1"/>
          <p:nvPr/>
        </p:nvSpPr>
        <p:spPr>
          <a:xfrm>
            <a:off x="6311900" y="1651000"/>
            <a:ext cx="5397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‖v‖₂ = √(v₁² + v₂² + ⋯ + vₙ²)</a:t>
            </a:r>
          </a:p>
        </p:txBody>
      </p:sp>
      <p:sp>
        <p:nvSpPr>
          <p:cNvPr id="118" name="DefDist">
            <a:extLst>
              <a:ext uri="{FF2B5EF4-FFF2-40B4-BE49-F238E27FC236}">
                <a16:creationId xmlns:a16="http://schemas.microsoft.com/office/drawing/2014/main" id="{E1A5A918-895F-6F45-A5A6-3442CBB35A4C}"/>
              </a:ext>
            </a:extLst>
          </p:cNvPr>
          <p:cNvSpPr txBox="1"/>
          <p:nvPr/>
        </p:nvSpPr>
        <p:spPr>
          <a:xfrm>
            <a:off x="6311900" y="2006600"/>
            <a:ext cx="5397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  <a:latin typeface="Cambria Math"/>
                <a:ea typeface="Cambria Math"/>
              </a:rPr>
              <a:t>d(u, v) = ‖u − v‖₂  =  √</a:t>
            </a:r>
            <a:r>
              <a:rPr lang="el-GR" sz="1400" i="1">
                <a:solidFill>
                  <a:srgbClr val="777777"/>
                </a:solidFill>
                <a:latin typeface="Cambria Math"/>
                <a:ea typeface="Cambria Math"/>
              </a:rPr>
              <a:t>Σ(</a:t>
            </a:r>
            <a:r>
              <a:rPr lang="en-US" sz="1400" i="1">
                <a:solidFill>
                  <a:srgbClr val="777777"/>
                </a:solidFill>
                <a:latin typeface="Cambria Math"/>
                <a:ea typeface="Cambria Math"/>
              </a:rPr>
              <a:t>uᵢ − vᵢ)²</a:t>
            </a:r>
          </a:p>
        </p:txBody>
      </p:sp>
      <p:sp>
        <p:nvSpPr>
          <p:cNvPr id="119" name="WhyBox">
            <a:extLst>
              <a:ext uri="{FF2B5EF4-FFF2-40B4-BE49-F238E27FC236}">
                <a16:creationId xmlns:a16="http://schemas.microsoft.com/office/drawing/2014/main" id="{855E430F-6558-384C-BD7C-31C9E83A7EDC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0" name="WhyHdr">
            <a:extLst>
              <a:ext uri="{FF2B5EF4-FFF2-40B4-BE49-F238E27FC236}">
                <a16:creationId xmlns:a16="http://schemas.microsoft.com/office/drawing/2014/main" id="{D3E25C5E-5C04-484F-8C3C-6EA3D674BE0B}"/>
              </a:ext>
            </a:extLst>
          </p:cNvPr>
          <p:cNvSpPr txBox="1"/>
          <p:nvPr/>
        </p:nvSpPr>
        <p:spPr>
          <a:xfrm>
            <a:off x="6311900" y="25273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Geometric meaning</a:t>
            </a:r>
          </a:p>
        </p:txBody>
      </p:sp>
      <p:sp>
        <p:nvSpPr>
          <p:cNvPr id="121" name="WhyBody">
            <a:extLst>
              <a:ext uri="{FF2B5EF4-FFF2-40B4-BE49-F238E27FC236}">
                <a16:creationId xmlns:a16="http://schemas.microsoft.com/office/drawing/2014/main" id="{D3E03A5E-9B51-A948-AF3B-1BB2E7EFC524}"/>
              </a:ext>
            </a:extLst>
          </p:cNvPr>
          <p:cNvSpPr txBox="1"/>
          <p:nvPr/>
        </p:nvSpPr>
        <p:spPr>
          <a:xfrm>
            <a:off x="6311900" y="2781300"/>
            <a:ext cx="5397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The square root of the sum of squared differences — the
straight-line ("as the crow flies") distance between two
points. Pythagoras' theorem generalized to ℝⁿ.</a:t>
            </a:r>
          </a:p>
        </p:txBody>
      </p:sp>
      <p:sp>
        <p:nvSpPr>
          <p:cNvPr id="122" name="IntBox">
            <a:extLst>
              <a:ext uri="{FF2B5EF4-FFF2-40B4-BE49-F238E27FC236}">
                <a16:creationId xmlns:a16="http://schemas.microsoft.com/office/drawing/2014/main" id="{5E466B73-C2BD-BF43-AD18-2CE817BFB865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3" name="IntHdr">
            <a:extLst>
              <a:ext uri="{FF2B5EF4-FFF2-40B4-BE49-F238E27FC236}">
                <a16:creationId xmlns:a16="http://schemas.microsoft.com/office/drawing/2014/main" id="{828CC322-33B4-9A41-A2F9-FDE7A2329344}"/>
              </a:ext>
            </a:extLst>
          </p:cNvPr>
          <p:cNvSpPr txBox="1"/>
          <p:nvPr/>
        </p:nvSpPr>
        <p:spPr>
          <a:xfrm>
            <a:off x="6311900" y="38481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What the unit ball tells you</a:t>
            </a:r>
          </a:p>
        </p:txBody>
      </p:sp>
      <p:sp>
        <p:nvSpPr>
          <p:cNvPr id="124" name="IntBody">
            <a:extLst>
              <a:ext uri="{FF2B5EF4-FFF2-40B4-BE49-F238E27FC236}">
                <a16:creationId xmlns:a16="http://schemas.microsoft.com/office/drawing/2014/main" id="{DD395355-57F1-8541-99B6-9CE28EC7D9E3}"/>
              </a:ext>
            </a:extLst>
          </p:cNvPr>
          <p:cNvSpPr txBox="1"/>
          <p:nvPr/>
        </p:nvSpPr>
        <p:spPr>
          <a:xfrm>
            <a:off x="6311900" y="4102100"/>
            <a:ext cx="53975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A circle. The L² norm treats every direction the same —
rotating the coordinate system doesn't change distances.
This isotropy is why it appears throughout physics and ML.</a:t>
            </a:r>
          </a:p>
        </p:txBody>
      </p:sp>
      <p:sp>
        <p:nvSpPr>
          <p:cNvPr id="125" name="UseBox">
            <a:extLst>
              <a:ext uri="{FF2B5EF4-FFF2-40B4-BE49-F238E27FC236}">
                <a16:creationId xmlns:a16="http://schemas.microsoft.com/office/drawing/2014/main" id="{A3C0BB5E-8A51-4949-BAAA-72674210A2B4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6" name="UseHdr">
            <a:extLst>
              <a:ext uri="{FF2B5EF4-FFF2-40B4-BE49-F238E27FC236}">
                <a16:creationId xmlns:a16="http://schemas.microsoft.com/office/drawing/2014/main" id="{BFC5AEC7-6103-4C4B-8152-A465FB62B044}"/>
              </a:ext>
            </a:extLst>
          </p:cNvPr>
          <p:cNvSpPr txBox="1"/>
          <p:nvPr/>
        </p:nvSpPr>
        <p:spPr>
          <a:xfrm>
            <a:off x="6311900" y="5283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127" name="UseBody">
            <a:extLst>
              <a:ext uri="{FF2B5EF4-FFF2-40B4-BE49-F238E27FC236}">
                <a16:creationId xmlns:a16="http://schemas.microsoft.com/office/drawing/2014/main" id="{4B398BB6-6E7D-7740-8FF3-031EE39C0E5A}"/>
              </a:ext>
            </a:extLst>
          </p:cNvPr>
          <p:cNvSpPr txBox="1"/>
          <p:nvPr/>
        </p:nvSpPr>
        <p:spPr>
          <a:xfrm>
            <a:off x="7429500" y="5283200"/>
            <a:ext cx="4254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default geometric distance • regression (least squares) • k-NN • PCA • spherical clustering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2C8CEC4-964F-7C46-BABB-603DC44FC621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81095039-E4FA-F84B-BEA2-E445A53B79ED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</a:rPr>
              <a:t>The L² norm is the geometry of straight lines, circles, and rotations — the default unless you have a reason otherwise</a:t>
            </a:r>
          </a:p>
        </p:txBody>
      </p:sp>
    </p:spTree>
    <p:extLst>
      <p:ext uri="{BB962C8B-B14F-4D97-AF65-F5344CB8AC3E}">
        <p14:creationId xmlns:p14="http://schemas.microsoft.com/office/powerpoint/2010/main" val="220773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itBall">
            <a:extLst>
              <a:ext uri="{FF2B5EF4-FFF2-40B4-BE49-F238E27FC236}">
                <a16:creationId xmlns:a16="http://schemas.microsoft.com/office/drawing/2014/main" id="{2F52A354-8272-564F-87E8-8D28E5C5E69B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ect">
            <a:avLst/>
          </a:prstGeom>
          <a:solidFill>
            <a:srgbClr val="F6DDE6"/>
          </a:solidFill>
          <a:ln w="381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Bar">
            <a:extLst>
              <a:ext uri="{FF2B5EF4-FFF2-40B4-BE49-F238E27FC236}">
                <a16:creationId xmlns:a16="http://schemas.microsoft.com/office/drawing/2014/main" id="{183FF9D5-C8BA-124C-BBAE-032CA65507F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3F8D127-FAB6-4044-A286-111A455362D8}"/>
              </a:ext>
            </a:extLst>
          </p:cNvPr>
          <p:cNvSpPr txBox="1"/>
          <p:nvPr/>
        </p:nvSpPr>
        <p:spPr>
          <a:xfrm>
            <a:off x="228600" y="330200"/>
            <a:ext cx="117348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L∞ — Chebyshev (the king-move metric)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7A07B200-94F3-A046-B0BC-D174E5DB9BF5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‖v‖∞ = max(|v₁|, |v₂|, …, |vₙ|) — only the largest coordinate matters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667A30E9-B189-BC4D-832F-21B0C5D5D2EA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xX">
            <a:extLst>
              <a:ext uri="{FF2B5EF4-FFF2-40B4-BE49-F238E27FC236}">
                <a16:creationId xmlns:a16="http://schemas.microsoft.com/office/drawing/2014/main" id="{0A705520-79EF-6849-B3F9-FCFA6F6A2949}"/>
              </a:ext>
            </a:extLst>
          </p:cNvPr>
          <p:cNvSpPr/>
          <p:nvPr/>
        </p:nvSpPr>
        <p:spPr>
          <a:xfrm>
            <a:off x="952500" y="3365500"/>
            <a:ext cx="444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AxY">
            <a:extLst>
              <a:ext uri="{FF2B5EF4-FFF2-40B4-BE49-F238E27FC236}">
                <a16:creationId xmlns:a16="http://schemas.microsoft.com/office/drawing/2014/main" id="{D78D79EC-1B75-BB4B-AA64-5656F2837659}"/>
              </a:ext>
            </a:extLst>
          </p:cNvPr>
          <p:cNvSpPr/>
          <p:nvPr/>
        </p:nvSpPr>
        <p:spPr>
          <a:xfrm>
            <a:off x="3175000" y="1524000"/>
            <a:ext cx="12700" cy="3683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x">
            <a:extLst>
              <a:ext uri="{FF2B5EF4-FFF2-40B4-BE49-F238E27FC236}">
                <a16:creationId xmlns:a16="http://schemas.microsoft.com/office/drawing/2014/main" id="{24115073-C3F6-C543-934A-FAB4C5C19158}"/>
              </a:ext>
            </a:extLst>
          </p:cNvPr>
          <p:cNvSpPr txBox="1"/>
          <p:nvPr/>
        </p:nvSpPr>
        <p:spPr>
          <a:xfrm>
            <a:off x="1651000" y="3416300"/>
            <a:ext cx="254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-1</a:t>
            </a:r>
          </a:p>
        </p:txBody>
      </p:sp>
      <p:sp>
        <p:nvSpPr>
          <p:cNvPr id="10" name="Ty">
            <a:extLst>
              <a:ext uri="{FF2B5EF4-FFF2-40B4-BE49-F238E27FC236}">
                <a16:creationId xmlns:a16="http://schemas.microsoft.com/office/drawing/2014/main" id="{8480AEC3-B768-B447-A186-790DFDFB0C5D}"/>
              </a:ext>
            </a:extLst>
          </p:cNvPr>
          <p:cNvSpPr txBox="1"/>
          <p:nvPr/>
        </p:nvSpPr>
        <p:spPr>
          <a:xfrm>
            <a:off x="3225800" y="468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-1</a:t>
            </a:r>
          </a:p>
        </p:txBody>
      </p:sp>
      <p:sp>
        <p:nvSpPr>
          <p:cNvPr id="11" name="Tx">
            <a:extLst>
              <a:ext uri="{FF2B5EF4-FFF2-40B4-BE49-F238E27FC236}">
                <a16:creationId xmlns:a16="http://schemas.microsoft.com/office/drawing/2014/main" id="{E601F4C4-75E8-6244-91A6-E687FDEB199C}"/>
              </a:ext>
            </a:extLst>
          </p:cNvPr>
          <p:cNvSpPr txBox="1"/>
          <p:nvPr/>
        </p:nvSpPr>
        <p:spPr>
          <a:xfrm>
            <a:off x="4445000" y="3416300"/>
            <a:ext cx="254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2" name="Ty">
            <a:extLst>
              <a:ext uri="{FF2B5EF4-FFF2-40B4-BE49-F238E27FC236}">
                <a16:creationId xmlns:a16="http://schemas.microsoft.com/office/drawing/2014/main" id="{86113CD2-0A86-7949-97D1-6DAD2EBFD8AD}"/>
              </a:ext>
            </a:extLst>
          </p:cNvPr>
          <p:cNvSpPr txBox="1"/>
          <p:nvPr/>
        </p:nvSpPr>
        <p:spPr>
          <a:xfrm>
            <a:off x="3225800" y="1892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3" name="AxL">
            <a:extLst>
              <a:ext uri="{FF2B5EF4-FFF2-40B4-BE49-F238E27FC236}">
                <a16:creationId xmlns:a16="http://schemas.microsoft.com/office/drawing/2014/main" id="{A6596E04-5879-7949-B900-7225F1B468E6}"/>
              </a:ext>
            </a:extLst>
          </p:cNvPr>
          <p:cNvSpPr txBox="1"/>
          <p:nvPr/>
        </p:nvSpPr>
        <p:spPr>
          <a:xfrm>
            <a:off x="5410200" y="3416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14" name="AxL2">
            <a:extLst>
              <a:ext uri="{FF2B5EF4-FFF2-40B4-BE49-F238E27FC236}">
                <a16:creationId xmlns:a16="http://schemas.microsoft.com/office/drawing/2014/main" id="{C4E5B1F8-3B2C-124F-BE5D-605F2156977D}"/>
              </a:ext>
            </a:extLst>
          </p:cNvPr>
          <p:cNvSpPr txBox="1"/>
          <p:nvPr/>
        </p:nvSpPr>
        <p:spPr>
          <a:xfrm>
            <a:off x="3225800" y="1384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15" name="MaxLine">
            <a:extLst>
              <a:ext uri="{FF2B5EF4-FFF2-40B4-BE49-F238E27FC236}">
                <a16:creationId xmlns:a16="http://schemas.microsoft.com/office/drawing/2014/main" id="{9C4A0A6C-D03E-7D45-BBC9-69C87A5F820C}"/>
              </a:ext>
            </a:extLst>
          </p:cNvPr>
          <p:cNvSpPr/>
          <p:nvPr/>
        </p:nvSpPr>
        <p:spPr>
          <a:xfrm>
            <a:off x="3175000" y="3340100"/>
            <a:ext cx="1397000" cy="508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rtLine">
            <a:extLst>
              <a:ext uri="{FF2B5EF4-FFF2-40B4-BE49-F238E27FC236}">
                <a16:creationId xmlns:a16="http://schemas.microsoft.com/office/drawing/2014/main" id="{0FADBFC9-5BDE-244C-9C65-F0059F9ED2F8}"/>
              </a:ext>
            </a:extLst>
          </p:cNvPr>
          <p:cNvSpPr/>
          <p:nvPr/>
        </p:nvSpPr>
        <p:spPr>
          <a:xfrm rot="-5400000">
            <a:off x="4222750" y="3003550"/>
            <a:ext cx="698500" cy="254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Pt">
            <a:extLst>
              <a:ext uri="{FF2B5EF4-FFF2-40B4-BE49-F238E27FC236}">
                <a16:creationId xmlns:a16="http://schemas.microsoft.com/office/drawing/2014/main" id="{A6756B1C-1375-C445-8561-3B84F70AD1CE}"/>
              </a:ext>
            </a:extLst>
          </p:cNvPr>
          <p:cNvSpPr/>
          <p:nvPr/>
        </p:nvSpPr>
        <p:spPr>
          <a:xfrm>
            <a:off x="4483100" y="2578100"/>
            <a:ext cx="177800" cy="177800"/>
          </a:xfrm>
          <a:prstGeom prst="ellipse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PtLbl">
            <a:extLst>
              <a:ext uri="{FF2B5EF4-FFF2-40B4-BE49-F238E27FC236}">
                <a16:creationId xmlns:a16="http://schemas.microsoft.com/office/drawing/2014/main" id="{AB8E8FCF-D27F-0546-A9C0-1AC2B5DE9C1B}"/>
              </a:ext>
            </a:extLst>
          </p:cNvPr>
          <p:cNvSpPr txBox="1"/>
          <p:nvPr/>
        </p:nvSpPr>
        <p:spPr>
          <a:xfrm>
            <a:off x="4724400" y="2387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(1, 0.5)</a:t>
            </a:r>
          </a:p>
        </p:txBody>
      </p:sp>
      <p:sp>
        <p:nvSpPr>
          <p:cNvPr id="19" name="MaxLbl">
            <a:extLst>
              <a:ext uri="{FF2B5EF4-FFF2-40B4-BE49-F238E27FC236}">
                <a16:creationId xmlns:a16="http://schemas.microsoft.com/office/drawing/2014/main" id="{F9B3C91E-C560-D342-890B-50A34ACBE256}"/>
              </a:ext>
            </a:extLst>
          </p:cNvPr>
          <p:cNvSpPr txBox="1"/>
          <p:nvPr/>
        </p:nvSpPr>
        <p:spPr>
          <a:xfrm>
            <a:off x="3429000" y="34671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|x| = 1 ← max</a:t>
            </a:r>
          </a:p>
        </p:txBody>
      </p:sp>
      <p:sp>
        <p:nvSpPr>
          <p:cNvPr id="20" name="Smaller">
            <a:extLst>
              <a:ext uri="{FF2B5EF4-FFF2-40B4-BE49-F238E27FC236}">
                <a16:creationId xmlns:a16="http://schemas.microsoft.com/office/drawing/2014/main" id="{20CD27AB-1EC8-F948-B9A8-B5812B87493D}"/>
              </a:ext>
            </a:extLst>
          </p:cNvPr>
          <p:cNvSpPr txBox="1"/>
          <p:nvPr/>
        </p:nvSpPr>
        <p:spPr>
          <a:xfrm>
            <a:off x="4673600" y="2914650"/>
            <a:ext cx="1206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|y| = 0.5  (ignored)</a:t>
            </a:r>
          </a:p>
        </p:txBody>
      </p:sp>
      <p:sp>
        <p:nvSpPr>
          <p:cNvPr id="21" name="NormLbl">
            <a:extLst>
              <a:ext uri="{FF2B5EF4-FFF2-40B4-BE49-F238E27FC236}">
                <a16:creationId xmlns:a16="http://schemas.microsoft.com/office/drawing/2014/main" id="{162A66A2-DD63-FC40-A96D-29CAE9E17F27}"/>
              </a:ext>
            </a:extLst>
          </p:cNvPr>
          <p:cNvSpPr txBox="1"/>
          <p:nvPr/>
        </p:nvSpPr>
        <p:spPr>
          <a:xfrm>
            <a:off x="2032000" y="15621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 i="1">
                <a:solidFill>
                  <a:srgbClr val="D1578A"/>
                </a:solidFill>
              </a:rPr>
              <a:t>‖v‖∞ = 1</a:t>
            </a:r>
          </a:p>
        </p:txBody>
      </p:sp>
      <p:sp>
        <p:nvSpPr>
          <p:cNvPr id="22" name="BallLbl">
            <a:extLst>
              <a:ext uri="{FF2B5EF4-FFF2-40B4-BE49-F238E27FC236}">
                <a16:creationId xmlns:a16="http://schemas.microsoft.com/office/drawing/2014/main" id="{A4D8D7A8-C663-C346-9B8E-A4942A2FF448}"/>
              </a:ext>
            </a:extLst>
          </p:cNvPr>
          <p:cNvSpPr txBox="1"/>
          <p:nvPr/>
        </p:nvSpPr>
        <p:spPr>
          <a:xfrm>
            <a:off x="863600" y="51181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D1578A"/>
                </a:solidFill>
              </a:rPr>
              <a:t>Unit ball: square</a:t>
            </a:r>
          </a:p>
        </p:txBody>
      </p:sp>
      <p:sp>
        <p:nvSpPr>
          <p:cNvPr id="23" name="DefBox">
            <a:extLst>
              <a:ext uri="{FF2B5EF4-FFF2-40B4-BE49-F238E27FC236}">
                <a16:creationId xmlns:a16="http://schemas.microsoft.com/office/drawing/2014/main" id="{1D3D471E-8097-5C40-A120-9F34C6A6BD11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Hdr">
            <a:extLst>
              <a:ext uri="{FF2B5EF4-FFF2-40B4-BE49-F238E27FC236}">
                <a16:creationId xmlns:a16="http://schemas.microsoft.com/office/drawing/2014/main" id="{7B2D89D0-C4CA-3D44-89BB-08C09052F985}"/>
              </a:ext>
            </a:extLst>
          </p:cNvPr>
          <p:cNvSpPr txBox="1"/>
          <p:nvPr/>
        </p:nvSpPr>
        <p:spPr>
          <a:xfrm>
            <a:off x="6311900" y="13843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Definition</a:t>
            </a:r>
          </a:p>
        </p:txBody>
      </p:sp>
      <p:sp>
        <p:nvSpPr>
          <p:cNvPr id="25" name="DefFormula">
            <a:extLst>
              <a:ext uri="{FF2B5EF4-FFF2-40B4-BE49-F238E27FC236}">
                <a16:creationId xmlns:a16="http://schemas.microsoft.com/office/drawing/2014/main" id="{C841645C-0E3F-474F-90A9-D32D225F71BF}"/>
              </a:ext>
            </a:extLst>
          </p:cNvPr>
          <p:cNvSpPr txBox="1"/>
          <p:nvPr/>
        </p:nvSpPr>
        <p:spPr>
          <a:xfrm>
            <a:off x="6362700" y="1651000"/>
            <a:ext cx="5270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‖v‖∞ = maxᵢ |vᵢ|</a:t>
            </a:r>
          </a:p>
        </p:txBody>
      </p:sp>
      <p:sp>
        <p:nvSpPr>
          <p:cNvPr id="26" name="DefSub">
            <a:extLst>
              <a:ext uri="{FF2B5EF4-FFF2-40B4-BE49-F238E27FC236}">
                <a16:creationId xmlns:a16="http://schemas.microsoft.com/office/drawing/2014/main" id="{98BB1D90-330D-1944-8999-86E68774B1E5}"/>
              </a:ext>
            </a:extLst>
          </p:cNvPr>
          <p:cNvSpPr txBox="1"/>
          <p:nvPr/>
        </p:nvSpPr>
        <p:spPr>
          <a:xfrm>
            <a:off x="6362700" y="2006600"/>
            <a:ext cx="5270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The single coordinate with largest absolute value</a:t>
            </a:r>
          </a:p>
        </p:txBody>
      </p:sp>
      <p:sp>
        <p:nvSpPr>
          <p:cNvPr id="27" name="WhyBox">
            <a:extLst>
              <a:ext uri="{FF2B5EF4-FFF2-40B4-BE49-F238E27FC236}">
                <a16:creationId xmlns:a16="http://schemas.microsoft.com/office/drawing/2014/main" id="{5F573FC4-3A55-CE43-AC9A-9E8E107C7F15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WhyHdr">
            <a:extLst>
              <a:ext uri="{FF2B5EF4-FFF2-40B4-BE49-F238E27FC236}">
                <a16:creationId xmlns:a16="http://schemas.microsoft.com/office/drawing/2014/main" id="{60B9F994-402E-824D-AA45-CEBC3E4691E7}"/>
              </a:ext>
            </a:extLst>
          </p:cNvPr>
          <p:cNvSpPr txBox="1"/>
          <p:nvPr/>
        </p:nvSpPr>
        <p:spPr>
          <a:xfrm>
            <a:off x="6311900" y="25273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Why a square?</a:t>
            </a:r>
          </a:p>
        </p:txBody>
      </p:sp>
      <p:sp>
        <p:nvSpPr>
          <p:cNvPr id="29" name="WhyBody">
            <a:extLst>
              <a:ext uri="{FF2B5EF4-FFF2-40B4-BE49-F238E27FC236}">
                <a16:creationId xmlns:a16="http://schemas.microsoft.com/office/drawing/2014/main" id="{767E4B6D-58BF-0641-B7E3-E24EAB66AB07}"/>
              </a:ext>
            </a:extLst>
          </p:cNvPr>
          <p:cNvSpPr txBox="1"/>
          <p:nvPr/>
        </p:nvSpPr>
        <p:spPr>
          <a:xfrm>
            <a:off x="6311900" y="2768600"/>
            <a:ext cx="53467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‖v‖∞ ≤ 1 means every coordinate is within ±1. That's a box. The boundary is the square with corners at (±1, ±1) — the largest possible Lᵖ unit ball.</a:t>
            </a:r>
          </a:p>
        </p:txBody>
      </p:sp>
      <p:sp>
        <p:nvSpPr>
          <p:cNvPr id="30" name="IntBox">
            <a:extLst>
              <a:ext uri="{FF2B5EF4-FFF2-40B4-BE49-F238E27FC236}">
                <a16:creationId xmlns:a16="http://schemas.microsoft.com/office/drawing/2014/main" id="{1B22A93C-F166-F048-AFBD-F529E1AF5B82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IntHdr">
            <a:extLst>
              <a:ext uri="{FF2B5EF4-FFF2-40B4-BE49-F238E27FC236}">
                <a16:creationId xmlns:a16="http://schemas.microsoft.com/office/drawing/2014/main" id="{023D401C-1BE5-B944-A3E4-25453DACE6BA}"/>
              </a:ext>
            </a:extLst>
          </p:cNvPr>
          <p:cNvSpPr txBox="1"/>
          <p:nvPr/>
        </p:nvSpPr>
        <p:spPr>
          <a:xfrm>
            <a:off x="6311900" y="38481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Interpretation</a:t>
            </a:r>
          </a:p>
        </p:txBody>
      </p:sp>
      <p:sp>
        <p:nvSpPr>
          <p:cNvPr id="32" name="IntBody">
            <a:extLst>
              <a:ext uri="{FF2B5EF4-FFF2-40B4-BE49-F238E27FC236}">
                <a16:creationId xmlns:a16="http://schemas.microsoft.com/office/drawing/2014/main" id="{7D1561C2-BA8C-DC4D-BAF6-5319EC4E5F07}"/>
              </a:ext>
            </a:extLst>
          </p:cNvPr>
          <p:cNvSpPr txBox="1"/>
          <p:nvPr/>
        </p:nvSpPr>
        <p:spPr>
          <a:xfrm>
            <a:off x="6311900" y="4089400"/>
            <a:ext cx="5346700" cy="927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L∞ is the worst-case dimension. It measures the largest deviation, not the total — useful when any one component going out of bounds is catastrophic.
In chess, the king's distance between two squares.</a:t>
            </a:r>
          </a:p>
        </p:txBody>
      </p:sp>
      <p:sp>
        <p:nvSpPr>
          <p:cNvPr id="33" name="UseBox">
            <a:extLst>
              <a:ext uri="{FF2B5EF4-FFF2-40B4-BE49-F238E27FC236}">
                <a16:creationId xmlns:a16="http://schemas.microsoft.com/office/drawing/2014/main" id="{A2480FC8-0263-574A-9220-7B3B7F81368E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UseHdr">
            <a:extLst>
              <a:ext uri="{FF2B5EF4-FFF2-40B4-BE49-F238E27FC236}">
                <a16:creationId xmlns:a16="http://schemas.microsoft.com/office/drawing/2014/main" id="{EAFE6776-F361-8640-B93F-B017AB6D9972}"/>
              </a:ext>
            </a:extLst>
          </p:cNvPr>
          <p:cNvSpPr txBox="1"/>
          <p:nvPr/>
        </p:nvSpPr>
        <p:spPr>
          <a:xfrm>
            <a:off x="6311900" y="52705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35" name="UseBody">
            <a:extLst>
              <a:ext uri="{FF2B5EF4-FFF2-40B4-BE49-F238E27FC236}">
                <a16:creationId xmlns:a16="http://schemas.microsoft.com/office/drawing/2014/main" id="{E4E44FBA-296C-554E-B613-4B8DBA18D01F}"/>
              </a:ext>
            </a:extLst>
          </p:cNvPr>
          <p:cNvSpPr txBox="1"/>
          <p:nvPr/>
        </p:nvSpPr>
        <p:spPr>
          <a:xfrm>
            <a:off x="7429500" y="5270500"/>
            <a:ext cx="4254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tolerances · quality control · max-error bounds · uniform convergence</a:t>
            </a:r>
          </a:p>
        </p:txBody>
      </p:sp>
      <p:sp>
        <p:nvSpPr>
          <p:cNvPr id="36" name="TkBar">
            <a:extLst>
              <a:ext uri="{FF2B5EF4-FFF2-40B4-BE49-F238E27FC236}">
                <a16:creationId xmlns:a16="http://schemas.microsoft.com/office/drawing/2014/main" id="{15DB8FEE-CCAC-BF40-87AD-11B38F5C94F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kText">
            <a:extLst>
              <a:ext uri="{FF2B5EF4-FFF2-40B4-BE49-F238E27FC236}">
                <a16:creationId xmlns:a16="http://schemas.microsoft.com/office/drawing/2014/main" id="{CDDE1F50-DEDA-4E40-BF22-28AF57DC9CE5}"/>
              </a:ext>
            </a:extLst>
          </p:cNvPr>
          <p:cNvSpPr txBox="1"/>
          <p:nvPr/>
        </p:nvSpPr>
        <p:spPr>
          <a:xfrm>
            <a:off x="381000" y="58674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L∞ is the worst-case metric — distance is set by the single most extreme coordinate</a:t>
            </a:r>
          </a:p>
        </p:txBody>
      </p:sp>
    </p:spTree>
    <p:extLst>
      <p:ext uri="{BB962C8B-B14F-4D97-AF65-F5344CB8AC3E}">
        <p14:creationId xmlns:p14="http://schemas.microsoft.com/office/powerpoint/2010/main" val="197839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Bar">
            <a:extLst>
              <a:ext uri="{FF2B5EF4-FFF2-40B4-BE49-F238E27FC236}">
                <a16:creationId xmlns:a16="http://schemas.microsoft.com/office/drawing/2014/main" id="{929CFB9B-E25D-3947-9403-E7E0A05CCE1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itleTxt">
            <a:extLst>
              <a:ext uri="{FF2B5EF4-FFF2-40B4-BE49-F238E27FC236}">
                <a16:creationId xmlns:a16="http://schemas.microsoft.com/office/drawing/2014/main" id="{2FA4F522-003C-2A43-801E-50A8BDFDA0C7}"/>
              </a:ext>
            </a:extLst>
          </p:cNvPr>
          <p:cNvSpPr txBox="1"/>
          <p:nvPr/>
        </p:nvSpPr>
        <p:spPr>
          <a:xfrm>
            <a:off x="304800" y="304800"/>
            <a:ext cx="118872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Lᵖ norm (general)  —  the family unit balls</a:t>
            </a:r>
          </a:p>
        </p:txBody>
      </p:sp>
      <p:sp>
        <p:nvSpPr>
          <p:cNvPr id="40" name="Sub">
            <a:extLst>
              <a:ext uri="{FF2B5EF4-FFF2-40B4-BE49-F238E27FC236}">
                <a16:creationId xmlns:a16="http://schemas.microsoft.com/office/drawing/2014/main" id="{80951CC8-850E-894B-BE1A-1923437315B1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Vary p and the unit ball morphs: diamond (p=1) → circle (p=2) → square (p=∞)</a:t>
            </a:r>
          </a:p>
        </p:txBody>
      </p:sp>
      <p:sp>
        <p:nvSpPr>
          <p:cNvPr id="41" name="PlotBg">
            <a:extLst>
              <a:ext uri="{FF2B5EF4-FFF2-40B4-BE49-F238E27FC236}">
                <a16:creationId xmlns:a16="http://schemas.microsoft.com/office/drawing/2014/main" id="{0FD613E1-B748-A044-A87D-A15F8FE2A92B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AxisX">
            <a:extLst>
              <a:ext uri="{FF2B5EF4-FFF2-40B4-BE49-F238E27FC236}">
                <a16:creationId xmlns:a16="http://schemas.microsoft.com/office/drawing/2014/main" id="{ADBDB76D-366B-A647-82B9-3E398D317483}"/>
              </a:ext>
            </a:extLst>
          </p:cNvPr>
          <p:cNvSpPr/>
          <p:nvPr/>
        </p:nvSpPr>
        <p:spPr>
          <a:xfrm>
            <a:off x="889000" y="3365500"/>
            <a:ext cx="4572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AxisY">
            <a:extLst>
              <a:ext uri="{FF2B5EF4-FFF2-40B4-BE49-F238E27FC236}">
                <a16:creationId xmlns:a16="http://schemas.microsoft.com/office/drawing/2014/main" id="{4F0C3245-D9FA-2644-A436-976B12869906}"/>
              </a:ext>
            </a:extLst>
          </p:cNvPr>
          <p:cNvSpPr/>
          <p:nvPr/>
        </p:nvSpPr>
        <p:spPr>
          <a:xfrm>
            <a:off x="3175000" y="1460500"/>
            <a:ext cx="12700" cy="3810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AxXLbl">
            <a:extLst>
              <a:ext uri="{FF2B5EF4-FFF2-40B4-BE49-F238E27FC236}">
                <a16:creationId xmlns:a16="http://schemas.microsoft.com/office/drawing/2014/main" id="{D2A2A4FB-2A8C-A44F-893E-89749D7F46CD}"/>
              </a:ext>
            </a:extLst>
          </p:cNvPr>
          <p:cNvSpPr txBox="1"/>
          <p:nvPr/>
        </p:nvSpPr>
        <p:spPr>
          <a:xfrm>
            <a:off x="5359400" y="34163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45" name="AxYLbl">
            <a:extLst>
              <a:ext uri="{FF2B5EF4-FFF2-40B4-BE49-F238E27FC236}">
                <a16:creationId xmlns:a16="http://schemas.microsoft.com/office/drawing/2014/main" id="{EB7A4228-C1F8-D549-9208-364391343F0A}"/>
              </a:ext>
            </a:extLst>
          </p:cNvPr>
          <p:cNvSpPr txBox="1"/>
          <p:nvPr/>
        </p:nvSpPr>
        <p:spPr>
          <a:xfrm>
            <a:off x="3225800" y="14351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46" name="BallInf">
            <a:extLst>
              <a:ext uri="{FF2B5EF4-FFF2-40B4-BE49-F238E27FC236}">
                <a16:creationId xmlns:a16="http://schemas.microsoft.com/office/drawing/2014/main" id="{93BF0D3B-B364-AB43-9D94-2641211AC130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ect">
            <a:avLst/>
          </a:prstGeom>
          <a:noFill/>
          <a:ln w="317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Ballp4">
            <a:extLst>
              <a:ext uri="{FF2B5EF4-FFF2-40B4-BE49-F238E27FC236}">
                <a16:creationId xmlns:a16="http://schemas.microsoft.com/office/drawing/2014/main" id="{35E96635-737D-B145-8938-7ADEBCDBA1F9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oundRect">
            <a:avLst/>
          </a:prstGeom>
          <a:noFill/>
          <a:ln w="317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BallL2">
            <a:extLst>
              <a:ext uri="{FF2B5EF4-FFF2-40B4-BE49-F238E27FC236}">
                <a16:creationId xmlns:a16="http://schemas.microsoft.com/office/drawing/2014/main" id="{D0F8B6F4-F241-A847-8160-738AC4917224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ellipse">
            <a:avLst/>
          </a:prstGeom>
          <a:noFill/>
          <a:ln w="317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BallL1">
            <a:extLst>
              <a:ext uri="{FF2B5EF4-FFF2-40B4-BE49-F238E27FC236}">
                <a16:creationId xmlns:a16="http://schemas.microsoft.com/office/drawing/2014/main" id="{CFB832E6-D17C-574A-8D55-6D1C8798E1F3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diamond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AxPt">
            <a:extLst>
              <a:ext uri="{FF2B5EF4-FFF2-40B4-BE49-F238E27FC236}">
                <a16:creationId xmlns:a16="http://schemas.microsoft.com/office/drawing/2014/main" id="{F0E898A0-F890-A245-BD5C-35AE976D6A40}"/>
              </a:ext>
            </a:extLst>
          </p:cNvPr>
          <p:cNvSpPr/>
          <p:nvPr/>
        </p:nvSpPr>
        <p:spPr>
          <a:xfrm>
            <a:off x="4508500" y="3302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AxPt">
            <a:extLst>
              <a:ext uri="{FF2B5EF4-FFF2-40B4-BE49-F238E27FC236}">
                <a16:creationId xmlns:a16="http://schemas.microsoft.com/office/drawing/2014/main" id="{64A08B0A-3386-C344-8F67-632B18715818}"/>
              </a:ext>
            </a:extLst>
          </p:cNvPr>
          <p:cNvSpPr/>
          <p:nvPr/>
        </p:nvSpPr>
        <p:spPr>
          <a:xfrm>
            <a:off x="3111500" y="1905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AxPt">
            <a:extLst>
              <a:ext uri="{FF2B5EF4-FFF2-40B4-BE49-F238E27FC236}">
                <a16:creationId xmlns:a16="http://schemas.microsoft.com/office/drawing/2014/main" id="{3F2E9F2E-11C1-5F47-9FD0-9437A5018207}"/>
              </a:ext>
            </a:extLst>
          </p:cNvPr>
          <p:cNvSpPr/>
          <p:nvPr/>
        </p:nvSpPr>
        <p:spPr>
          <a:xfrm>
            <a:off x="1714500" y="3302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AxPt">
            <a:extLst>
              <a:ext uri="{FF2B5EF4-FFF2-40B4-BE49-F238E27FC236}">
                <a16:creationId xmlns:a16="http://schemas.microsoft.com/office/drawing/2014/main" id="{7BAA675D-7970-174F-9469-3AE9DB428D20}"/>
              </a:ext>
            </a:extLst>
          </p:cNvPr>
          <p:cNvSpPr/>
          <p:nvPr/>
        </p:nvSpPr>
        <p:spPr>
          <a:xfrm>
            <a:off x="3111500" y="4699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LblL1">
            <a:extLst>
              <a:ext uri="{FF2B5EF4-FFF2-40B4-BE49-F238E27FC236}">
                <a16:creationId xmlns:a16="http://schemas.microsoft.com/office/drawing/2014/main" id="{D010AB70-449B-7544-A1DC-D8F1AF82809B}"/>
              </a:ext>
            </a:extLst>
          </p:cNvPr>
          <p:cNvSpPr txBox="1"/>
          <p:nvPr/>
        </p:nvSpPr>
        <p:spPr>
          <a:xfrm>
            <a:off x="2895600" y="2768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p=1</a:t>
            </a:r>
          </a:p>
        </p:txBody>
      </p:sp>
      <p:sp>
        <p:nvSpPr>
          <p:cNvPr id="55" name="LblL2">
            <a:extLst>
              <a:ext uri="{FF2B5EF4-FFF2-40B4-BE49-F238E27FC236}">
                <a16:creationId xmlns:a16="http://schemas.microsoft.com/office/drawing/2014/main" id="{5E11D2C4-EE71-624A-9FC9-4FE805C4954E}"/>
              </a:ext>
            </a:extLst>
          </p:cNvPr>
          <p:cNvSpPr txBox="1"/>
          <p:nvPr/>
        </p:nvSpPr>
        <p:spPr>
          <a:xfrm>
            <a:off x="4013200" y="25273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00A7B5"/>
                </a:solidFill>
              </a:rPr>
              <a:t>p=2</a:t>
            </a:r>
          </a:p>
        </p:txBody>
      </p:sp>
      <p:sp>
        <p:nvSpPr>
          <p:cNvPr id="56" name="LblP4">
            <a:extLst>
              <a:ext uri="{FF2B5EF4-FFF2-40B4-BE49-F238E27FC236}">
                <a16:creationId xmlns:a16="http://schemas.microsoft.com/office/drawing/2014/main" id="{4E9D55DA-4BC4-F543-A271-0102DB7AA898}"/>
              </a:ext>
            </a:extLst>
          </p:cNvPr>
          <p:cNvSpPr txBox="1"/>
          <p:nvPr/>
        </p:nvSpPr>
        <p:spPr>
          <a:xfrm>
            <a:off x="4222750" y="227584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B7A57A"/>
                </a:solidFill>
              </a:rPr>
              <a:t>p=4</a:t>
            </a:r>
          </a:p>
        </p:txBody>
      </p:sp>
      <p:sp>
        <p:nvSpPr>
          <p:cNvPr id="57" name="LblInf">
            <a:extLst>
              <a:ext uri="{FF2B5EF4-FFF2-40B4-BE49-F238E27FC236}">
                <a16:creationId xmlns:a16="http://schemas.microsoft.com/office/drawing/2014/main" id="{D262023C-71B9-984A-A3D1-B621DD620101}"/>
              </a:ext>
            </a:extLst>
          </p:cNvPr>
          <p:cNvSpPr txBox="1"/>
          <p:nvPr/>
        </p:nvSpPr>
        <p:spPr>
          <a:xfrm>
            <a:off x="4876800" y="51181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p=∞</a:t>
            </a:r>
          </a:p>
        </p:txBody>
      </p:sp>
      <p:sp>
        <p:nvSpPr>
          <p:cNvPr id="58" name="PlotTitle">
            <a:extLst>
              <a:ext uri="{FF2B5EF4-FFF2-40B4-BE49-F238E27FC236}">
                <a16:creationId xmlns:a16="http://schemas.microsoft.com/office/drawing/2014/main" id="{71089D11-4E63-9443-B627-246EF48FCC12}"/>
              </a:ext>
            </a:extLst>
          </p:cNvPr>
          <p:cNvSpPr txBox="1"/>
          <p:nvPr/>
        </p:nvSpPr>
        <p:spPr>
          <a:xfrm>
            <a:off x="762000" y="10541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4B2E83"/>
                </a:solidFill>
                <a:latin typeface="Cambria Math"/>
                <a:ea typeface="Cambria Math"/>
              </a:rPr>
              <a:t>Unit balls  { v : ‖v‖ₚ = 1 }</a:t>
            </a:r>
          </a:p>
        </p:txBody>
      </p:sp>
      <p:sp>
        <p:nvSpPr>
          <p:cNvPr id="59" name="DefBox">
            <a:extLst>
              <a:ext uri="{FF2B5EF4-FFF2-40B4-BE49-F238E27FC236}">
                <a16:creationId xmlns:a16="http://schemas.microsoft.com/office/drawing/2014/main" id="{CCCC6DCA-9BE3-C541-BD2E-30599237FA5F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DefHdr">
            <a:extLst>
              <a:ext uri="{FF2B5EF4-FFF2-40B4-BE49-F238E27FC236}">
                <a16:creationId xmlns:a16="http://schemas.microsoft.com/office/drawing/2014/main" id="{6CEBAE56-5565-E846-9EBD-BDCCFE49A9AC}"/>
              </a:ext>
            </a:extLst>
          </p:cNvPr>
          <p:cNvSpPr txBox="1"/>
          <p:nvPr/>
        </p:nvSpPr>
        <p:spPr>
          <a:xfrm>
            <a:off x="6311900" y="1397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61" name="DefFor">
            <a:extLst>
              <a:ext uri="{FF2B5EF4-FFF2-40B4-BE49-F238E27FC236}">
                <a16:creationId xmlns:a16="http://schemas.microsoft.com/office/drawing/2014/main" id="{E5D66FA4-18C2-174E-B3C3-8D2F580750AD}"/>
              </a:ext>
            </a:extLst>
          </p:cNvPr>
          <p:cNvSpPr txBox="1"/>
          <p:nvPr/>
        </p:nvSpPr>
        <p:spPr>
          <a:xfrm>
            <a:off x="6311900" y="1676400"/>
            <a:ext cx="53467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‖v‖ₚ = ( |v₁|ᵖ + |v₂|ᵖ + … + |vₙ|ᵖ )^(1/p) ,  p ≥ 1</a:t>
            </a:r>
          </a:p>
        </p:txBody>
      </p:sp>
      <p:sp>
        <p:nvSpPr>
          <p:cNvPr id="62" name="DefNote">
            <a:extLst>
              <a:ext uri="{FF2B5EF4-FFF2-40B4-BE49-F238E27FC236}">
                <a16:creationId xmlns:a16="http://schemas.microsoft.com/office/drawing/2014/main" id="{803EB78D-C7B5-E645-B1D0-5B52A7192EEE}"/>
              </a:ext>
            </a:extLst>
          </p:cNvPr>
          <p:cNvSpPr txBox="1"/>
          <p:nvPr/>
        </p:nvSpPr>
        <p:spPr>
          <a:xfrm>
            <a:off x="6311900" y="2032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A single formula that contains every norm we just saw</a:t>
            </a:r>
          </a:p>
        </p:txBody>
      </p:sp>
      <p:sp>
        <p:nvSpPr>
          <p:cNvPr id="63" name="WhyBox">
            <a:extLst>
              <a:ext uri="{FF2B5EF4-FFF2-40B4-BE49-F238E27FC236}">
                <a16:creationId xmlns:a16="http://schemas.microsoft.com/office/drawing/2014/main" id="{D8452B42-C9B0-E344-B1C0-17C5FE6C3F62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WhyHdr">
            <a:extLst>
              <a:ext uri="{FF2B5EF4-FFF2-40B4-BE49-F238E27FC236}">
                <a16:creationId xmlns:a16="http://schemas.microsoft.com/office/drawing/2014/main" id="{DF71AECD-BD2A-DE44-BDA6-AF805E4A8049}"/>
              </a:ext>
            </a:extLst>
          </p:cNvPr>
          <p:cNvSpPr txBox="1"/>
          <p:nvPr/>
        </p:nvSpPr>
        <p:spPr>
          <a:xfrm>
            <a:off x="6311900" y="2540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How p shapes the ball</a:t>
            </a:r>
          </a:p>
        </p:txBody>
      </p:sp>
      <p:sp>
        <p:nvSpPr>
          <p:cNvPr id="65" name="WhyTxt">
            <a:extLst>
              <a:ext uri="{FF2B5EF4-FFF2-40B4-BE49-F238E27FC236}">
                <a16:creationId xmlns:a16="http://schemas.microsoft.com/office/drawing/2014/main" id="{08A91BC2-F434-0A4A-8DC8-C98DCF51C7DD}"/>
              </a:ext>
            </a:extLst>
          </p:cNvPr>
          <p:cNvSpPr txBox="1"/>
          <p:nvPr/>
        </p:nvSpPr>
        <p:spPr>
          <a:xfrm>
            <a:off x="6311900" y="2819400"/>
            <a:ext cx="53467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• Small p ( p → 1 ): ball pulls inward along the axes — diamond.
• p = 2: perfectly round.
• Large p ( p → ∞ ): ball pushes outward to a square.</a:t>
            </a:r>
          </a:p>
        </p:txBody>
      </p:sp>
      <p:sp>
        <p:nvSpPr>
          <p:cNvPr id="66" name="IntBox">
            <a:extLst>
              <a:ext uri="{FF2B5EF4-FFF2-40B4-BE49-F238E27FC236}">
                <a16:creationId xmlns:a16="http://schemas.microsoft.com/office/drawing/2014/main" id="{1D922F46-05CC-5D4F-B360-4325C7867E3A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IntHdr">
            <a:extLst>
              <a:ext uri="{FF2B5EF4-FFF2-40B4-BE49-F238E27FC236}">
                <a16:creationId xmlns:a16="http://schemas.microsoft.com/office/drawing/2014/main" id="{C781ADA9-30DB-3E43-982E-81FE0231DD59}"/>
              </a:ext>
            </a:extLst>
          </p:cNvPr>
          <p:cNvSpPr txBox="1"/>
          <p:nvPr/>
        </p:nvSpPr>
        <p:spPr>
          <a:xfrm>
            <a:off x="6311900" y="38608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Interpretation</a:t>
            </a:r>
          </a:p>
        </p:txBody>
      </p:sp>
      <p:sp>
        <p:nvSpPr>
          <p:cNvPr id="68" name="IntTxt">
            <a:extLst>
              <a:ext uri="{FF2B5EF4-FFF2-40B4-BE49-F238E27FC236}">
                <a16:creationId xmlns:a16="http://schemas.microsoft.com/office/drawing/2014/main" id="{2DCC049D-1064-3048-B361-FDAE0BE8C432}"/>
              </a:ext>
            </a:extLst>
          </p:cNvPr>
          <p:cNvSpPr txBox="1"/>
          <p:nvPr/>
        </p:nvSpPr>
        <p:spPr>
          <a:xfrm>
            <a:off x="6311900" y="4140200"/>
            <a:ext cx="53467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p controls how much you penalize the LARGEST coordinate vs. the others. Small p averages contributions evenly; large p lets the biggest coordinate dominate. Choosing p is choosing your geometry of "closeness".</a:t>
            </a:r>
          </a:p>
        </p:txBody>
      </p:sp>
      <p:sp>
        <p:nvSpPr>
          <p:cNvPr id="69" name="UseBox">
            <a:extLst>
              <a:ext uri="{FF2B5EF4-FFF2-40B4-BE49-F238E27FC236}">
                <a16:creationId xmlns:a16="http://schemas.microsoft.com/office/drawing/2014/main" id="{4A3AFEFB-797A-A14F-9C25-8E381B3CE935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UseTxt">
            <a:extLst>
              <a:ext uri="{FF2B5EF4-FFF2-40B4-BE49-F238E27FC236}">
                <a16:creationId xmlns:a16="http://schemas.microsoft.com/office/drawing/2014/main" id="{F8C73671-2F21-2D47-AD83-4B3310FBB863}"/>
              </a:ext>
            </a:extLst>
          </p:cNvPr>
          <p:cNvSpPr txBox="1"/>
          <p:nvPr/>
        </p:nvSpPr>
        <p:spPr>
          <a:xfrm>
            <a:off x="6311900" y="5283200"/>
            <a:ext cx="53467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</a:rPr>
              <a:t>When to use:  rare in practice — but the Lᵖ family is the bridge that connects all the others</a:t>
            </a:r>
          </a:p>
        </p:txBody>
      </p:sp>
      <p:sp>
        <p:nvSpPr>
          <p:cNvPr id="71" name="TkBar">
            <a:extLst>
              <a:ext uri="{FF2B5EF4-FFF2-40B4-BE49-F238E27FC236}">
                <a16:creationId xmlns:a16="http://schemas.microsoft.com/office/drawing/2014/main" id="{D48C20B1-42E2-FA46-ACF7-72DE70D7F51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kTxt">
            <a:extLst>
              <a:ext uri="{FF2B5EF4-FFF2-40B4-BE49-F238E27FC236}">
                <a16:creationId xmlns:a16="http://schemas.microsoft.com/office/drawing/2014/main" id="{7F2883BE-1A8A-B24C-A725-E730DCAB68CC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One formula, one parameter, infinite norms — picking p is picking the shape of distance itself</a:t>
            </a:r>
          </a:p>
        </p:txBody>
      </p:sp>
    </p:spTree>
    <p:extLst>
      <p:ext uri="{BB962C8B-B14F-4D97-AF65-F5344CB8AC3E}">
        <p14:creationId xmlns:p14="http://schemas.microsoft.com/office/powerpoint/2010/main" val="253516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1990415-A985-144C-A974-6C3C68CEA0F5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08AEAD7-ADCA-724A-B3B1-9B8797820943}"/>
              </a:ext>
            </a:extLst>
          </p:cNvPr>
          <p:cNvSpPr txBox="1"/>
          <p:nvPr/>
        </p:nvSpPr>
        <p:spPr>
          <a:xfrm>
            <a:off x="444500" y="3556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Norm cheat-sheet — which one when?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261151F-2E16-9548-A19A-5D7F601E093B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888888"/>
                </a:solidFill>
                <a:latin typeface="Calibri"/>
                <a:cs typeface="Calibri"/>
              </a:rPr>
              <a:t>Quick reference for choosing among L¹, L², L∞ and Lᵖ</a:t>
            </a:r>
          </a:p>
        </p:txBody>
      </p:sp>
      <p:sp>
        <p:nvSpPr>
          <p:cNvPr id="5" name="ColHdr_0">
            <a:extLst>
              <a:ext uri="{FF2B5EF4-FFF2-40B4-BE49-F238E27FC236}">
                <a16:creationId xmlns:a16="http://schemas.microsoft.com/office/drawing/2014/main" id="{0EFFA472-8249-9D41-941E-86834C94657A}"/>
              </a:ext>
            </a:extLst>
          </p:cNvPr>
          <p:cNvSpPr/>
          <p:nvPr/>
        </p:nvSpPr>
        <p:spPr>
          <a:xfrm>
            <a:off x="381000" y="1270000"/>
            <a:ext cx="1333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olHdrTxt_0">
            <a:extLst>
              <a:ext uri="{FF2B5EF4-FFF2-40B4-BE49-F238E27FC236}">
                <a16:creationId xmlns:a16="http://schemas.microsoft.com/office/drawing/2014/main" id="{89E142CE-B3EF-4944-A872-6768217F5E0F}"/>
              </a:ext>
            </a:extLst>
          </p:cNvPr>
          <p:cNvSpPr txBox="1"/>
          <p:nvPr/>
        </p:nvSpPr>
        <p:spPr>
          <a:xfrm>
            <a:off x="381000" y="1270000"/>
            <a:ext cx="1333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Norm</a:t>
            </a:r>
          </a:p>
        </p:txBody>
      </p:sp>
      <p:sp>
        <p:nvSpPr>
          <p:cNvPr id="7" name="ColHdr_1">
            <a:extLst>
              <a:ext uri="{FF2B5EF4-FFF2-40B4-BE49-F238E27FC236}">
                <a16:creationId xmlns:a16="http://schemas.microsoft.com/office/drawing/2014/main" id="{3E01B682-A29C-E049-91D9-D02520D4BACD}"/>
              </a:ext>
            </a:extLst>
          </p:cNvPr>
          <p:cNvSpPr/>
          <p:nvPr/>
        </p:nvSpPr>
        <p:spPr>
          <a:xfrm>
            <a:off x="1714500" y="1270000"/>
            <a:ext cx="2730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olHdrTxt_1">
            <a:extLst>
              <a:ext uri="{FF2B5EF4-FFF2-40B4-BE49-F238E27FC236}">
                <a16:creationId xmlns:a16="http://schemas.microsoft.com/office/drawing/2014/main" id="{A2ABAAE7-29CD-5045-9743-4440B2022DE9}"/>
              </a:ext>
            </a:extLst>
          </p:cNvPr>
          <p:cNvSpPr txBox="1"/>
          <p:nvPr/>
        </p:nvSpPr>
        <p:spPr>
          <a:xfrm>
            <a:off x="1714500" y="1270000"/>
            <a:ext cx="2730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Formula</a:t>
            </a:r>
          </a:p>
        </p:txBody>
      </p:sp>
      <p:sp>
        <p:nvSpPr>
          <p:cNvPr id="9" name="ColHdr_2">
            <a:extLst>
              <a:ext uri="{FF2B5EF4-FFF2-40B4-BE49-F238E27FC236}">
                <a16:creationId xmlns:a16="http://schemas.microsoft.com/office/drawing/2014/main" id="{7404F3C0-8926-594E-A345-5051DD7604E3}"/>
              </a:ext>
            </a:extLst>
          </p:cNvPr>
          <p:cNvSpPr/>
          <p:nvPr/>
        </p:nvSpPr>
        <p:spPr>
          <a:xfrm>
            <a:off x="4445000" y="1270000"/>
            <a:ext cx="3746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olHdrTxt_2">
            <a:extLst>
              <a:ext uri="{FF2B5EF4-FFF2-40B4-BE49-F238E27FC236}">
                <a16:creationId xmlns:a16="http://schemas.microsoft.com/office/drawing/2014/main" id="{349015D9-CF06-1F41-BC24-5FE2927D1FEC}"/>
              </a:ext>
            </a:extLst>
          </p:cNvPr>
          <p:cNvSpPr txBox="1"/>
          <p:nvPr/>
        </p:nvSpPr>
        <p:spPr>
          <a:xfrm>
            <a:off x="4445000" y="1270000"/>
            <a:ext cx="3746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What it represents</a:t>
            </a:r>
          </a:p>
        </p:txBody>
      </p:sp>
      <p:sp>
        <p:nvSpPr>
          <p:cNvPr id="11" name="ColHdr_3">
            <a:extLst>
              <a:ext uri="{FF2B5EF4-FFF2-40B4-BE49-F238E27FC236}">
                <a16:creationId xmlns:a16="http://schemas.microsoft.com/office/drawing/2014/main" id="{CE962120-1893-7A49-B0E8-DACE0EDD01E4}"/>
              </a:ext>
            </a:extLst>
          </p:cNvPr>
          <p:cNvSpPr/>
          <p:nvPr/>
        </p:nvSpPr>
        <p:spPr>
          <a:xfrm>
            <a:off x="8191500" y="1270000"/>
            <a:ext cx="3619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olHdrTxt_3">
            <a:extLst>
              <a:ext uri="{FF2B5EF4-FFF2-40B4-BE49-F238E27FC236}">
                <a16:creationId xmlns:a16="http://schemas.microsoft.com/office/drawing/2014/main" id="{B713F757-DC67-EF4E-BE15-57A20A42A538}"/>
              </a:ext>
            </a:extLst>
          </p:cNvPr>
          <p:cNvSpPr txBox="1"/>
          <p:nvPr/>
        </p:nvSpPr>
        <p:spPr>
          <a:xfrm>
            <a:off x="8191500" y="1270000"/>
            <a:ext cx="3619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When to use</a:t>
            </a:r>
          </a:p>
        </p:txBody>
      </p:sp>
      <p:sp>
        <p:nvSpPr>
          <p:cNvPr id="13" name="Row_0">
            <a:extLst>
              <a:ext uri="{FF2B5EF4-FFF2-40B4-BE49-F238E27FC236}">
                <a16:creationId xmlns:a16="http://schemas.microsoft.com/office/drawing/2014/main" id="{D5625AD1-8515-CB48-BB57-1FB798DC0E39}"/>
              </a:ext>
            </a:extLst>
          </p:cNvPr>
          <p:cNvSpPr/>
          <p:nvPr/>
        </p:nvSpPr>
        <p:spPr>
          <a:xfrm>
            <a:off x="381000" y="1752600"/>
            <a:ext cx="11430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owAccent_0">
            <a:extLst>
              <a:ext uri="{FF2B5EF4-FFF2-40B4-BE49-F238E27FC236}">
                <a16:creationId xmlns:a16="http://schemas.microsoft.com/office/drawing/2014/main" id="{BB6B44DE-98AF-0D4D-B591-470772FC4C0D}"/>
              </a:ext>
            </a:extLst>
          </p:cNvPr>
          <p:cNvSpPr/>
          <p:nvPr/>
        </p:nvSpPr>
        <p:spPr>
          <a:xfrm>
            <a:off x="381000" y="1752600"/>
            <a:ext cx="63500" cy="1016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wName_0">
            <a:extLst>
              <a:ext uri="{FF2B5EF4-FFF2-40B4-BE49-F238E27FC236}">
                <a16:creationId xmlns:a16="http://schemas.microsoft.com/office/drawing/2014/main" id="{BD3568A9-D6F5-E748-A01D-773CA3242208}"/>
              </a:ext>
            </a:extLst>
          </p:cNvPr>
          <p:cNvSpPr txBox="1"/>
          <p:nvPr/>
        </p:nvSpPr>
        <p:spPr>
          <a:xfrm>
            <a:off x="381000" y="1752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  <a:latin typeface="Cambria Math"/>
                <a:ea typeface="Cambria Math"/>
              </a:rPr>
              <a:t>L¹</a:t>
            </a:r>
          </a:p>
        </p:txBody>
      </p:sp>
      <p:sp>
        <p:nvSpPr>
          <p:cNvPr id="16" name="RowFmt_0">
            <a:extLst>
              <a:ext uri="{FF2B5EF4-FFF2-40B4-BE49-F238E27FC236}">
                <a16:creationId xmlns:a16="http://schemas.microsoft.com/office/drawing/2014/main" id="{CD38F1C4-95F5-ED48-8EFB-A9A35454E773}"/>
              </a:ext>
            </a:extLst>
          </p:cNvPr>
          <p:cNvSpPr txBox="1"/>
          <p:nvPr/>
        </p:nvSpPr>
        <p:spPr>
          <a:xfrm>
            <a:off x="1714500" y="1879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‖v‖₁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vᵢ|</a:t>
            </a:r>
          </a:p>
        </p:txBody>
      </p:sp>
      <p:sp>
        <p:nvSpPr>
          <p:cNvPr id="17" name="RowBall_0">
            <a:extLst>
              <a:ext uri="{FF2B5EF4-FFF2-40B4-BE49-F238E27FC236}">
                <a16:creationId xmlns:a16="http://schemas.microsoft.com/office/drawing/2014/main" id="{D3C77C30-BB1D-314F-9B52-7814E9DA54B0}"/>
              </a:ext>
            </a:extLst>
          </p:cNvPr>
          <p:cNvSpPr txBox="1"/>
          <p:nvPr/>
        </p:nvSpPr>
        <p:spPr>
          <a:xfrm>
            <a:off x="1714500" y="2311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Diamond</a:t>
            </a:r>
          </a:p>
        </p:txBody>
      </p:sp>
      <p:sp>
        <p:nvSpPr>
          <p:cNvPr id="18" name="RowRep_0">
            <a:extLst>
              <a:ext uri="{FF2B5EF4-FFF2-40B4-BE49-F238E27FC236}">
                <a16:creationId xmlns:a16="http://schemas.microsoft.com/office/drawing/2014/main" id="{02DD4502-AA16-284D-84A3-AF587454C537}"/>
              </a:ext>
            </a:extLst>
          </p:cNvPr>
          <p:cNvSpPr txBox="1"/>
          <p:nvPr/>
        </p:nvSpPr>
        <p:spPr>
          <a:xfrm>
            <a:off x="4546600" y="1854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Total of absolute coordinates. Distance you walk on a grid with no diagonals.</a:t>
            </a:r>
          </a:p>
        </p:txBody>
      </p:sp>
      <p:sp>
        <p:nvSpPr>
          <p:cNvPr id="19" name="RowUse_0">
            <a:extLst>
              <a:ext uri="{FF2B5EF4-FFF2-40B4-BE49-F238E27FC236}">
                <a16:creationId xmlns:a16="http://schemas.microsoft.com/office/drawing/2014/main" id="{9CC2A115-51AB-164A-8020-6C7C63DC956E}"/>
              </a:ext>
            </a:extLst>
          </p:cNvPr>
          <p:cNvSpPr txBox="1"/>
          <p:nvPr/>
        </p:nvSpPr>
        <p:spPr>
          <a:xfrm>
            <a:off x="8293100" y="1854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Robust regression (LAD), Lasso regularization (sparsity), sparse recovery, taxicab navigation, count-based metrics</a:t>
            </a:r>
          </a:p>
        </p:txBody>
      </p:sp>
      <p:sp>
        <p:nvSpPr>
          <p:cNvPr id="20" name="RowDiv_0">
            <a:extLst>
              <a:ext uri="{FF2B5EF4-FFF2-40B4-BE49-F238E27FC236}">
                <a16:creationId xmlns:a16="http://schemas.microsoft.com/office/drawing/2014/main" id="{9E973A5F-0791-614B-A2FD-B895017F63CF}"/>
              </a:ext>
            </a:extLst>
          </p:cNvPr>
          <p:cNvSpPr/>
          <p:nvPr/>
        </p:nvSpPr>
        <p:spPr>
          <a:xfrm>
            <a:off x="381000" y="2755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ow_1">
            <a:extLst>
              <a:ext uri="{FF2B5EF4-FFF2-40B4-BE49-F238E27FC236}">
                <a16:creationId xmlns:a16="http://schemas.microsoft.com/office/drawing/2014/main" id="{6D5CA66C-FC48-3B40-BD0F-928244820E9B}"/>
              </a:ext>
            </a:extLst>
          </p:cNvPr>
          <p:cNvSpPr/>
          <p:nvPr/>
        </p:nvSpPr>
        <p:spPr>
          <a:xfrm>
            <a:off x="381000" y="2768600"/>
            <a:ext cx="11430000" cy="1016000"/>
          </a:xfrm>
          <a:prstGeom prst="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owAccent_1">
            <a:extLst>
              <a:ext uri="{FF2B5EF4-FFF2-40B4-BE49-F238E27FC236}">
                <a16:creationId xmlns:a16="http://schemas.microsoft.com/office/drawing/2014/main" id="{C9DA90D9-7AB7-0A4B-8AE4-6C18C923CCF4}"/>
              </a:ext>
            </a:extLst>
          </p:cNvPr>
          <p:cNvSpPr/>
          <p:nvPr/>
        </p:nvSpPr>
        <p:spPr>
          <a:xfrm>
            <a:off x="381000" y="2768600"/>
            <a:ext cx="63500" cy="1016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owName_1">
            <a:extLst>
              <a:ext uri="{FF2B5EF4-FFF2-40B4-BE49-F238E27FC236}">
                <a16:creationId xmlns:a16="http://schemas.microsoft.com/office/drawing/2014/main" id="{DF117DA5-6A5A-8D48-8D5A-5F89BEF4FA8B}"/>
              </a:ext>
            </a:extLst>
          </p:cNvPr>
          <p:cNvSpPr txBox="1"/>
          <p:nvPr/>
        </p:nvSpPr>
        <p:spPr>
          <a:xfrm>
            <a:off x="381000" y="2768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00A7B5"/>
                </a:solidFill>
                <a:latin typeface="Cambria Math"/>
                <a:ea typeface="Cambria Math"/>
              </a:rPr>
              <a:t>L²</a:t>
            </a:r>
          </a:p>
        </p:txBody>
      </p:sp>
      <p:sp>
        <p:nvSpPr>
          <p:cNvPr id="24" name="RowFmt_1">
            <a:extLst>
              <a:ext uri="{FF2B5EF4-FFF2-40B4-BE49-F238E27FC236}">
                <a16:creationId xmlns:a16="http://schemas.microsoft.com/office/drawing/2014/main" id="{B61BF6C4-5E9D-F547-9FB9-EAE0362DC637}"/>
              </a:ext>
            </a:extLst>
          </p:cNvPr>
          <p:cNvSpPr txBox="1"/>
          <p:nvPr/>
        </p:nvSpPr>
        <p:spPr>
          <a:xfrm>
            <a:off x="1714500" y="2895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‖v‖₂ = √(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vᵢ²)</a:t>
            </a:r>
          </a:p>
        </p:txBody>
      </p:sp>
      <p:sp>
        <p:nvSpPr>
          <p:cNvPr id="25" name="RowBall_1">
            <a:extLst>
              <a:ext uri="{FF2B5EF4-FFF2-40B4-BE49-F238E27FC236}">
                <a16:creationId xmlns:a16="http://schemas.microsoft.com/office/drawing/2014/main" id="{82B63889-16A3-BB4A-AA88-6D6D6BA81F63}"/>
              </a:ext>
            </a:extLst>
          </p:cNvPr>
          <p:cNvSpPr txBox="1"/>
          <p:nvPr/>
        </p:nvSpPr>
        <p:spPr>
          <a:xfrm>
            <a:off x="1714500" y="3327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Circle</a:t>
            </a:r>
          </a:p>
        </p:txBody>
      </p:sp>
      <p:sp>
        <p:nvSpPr>
          <p:cNvPr id="26" name="RowRep_1">
            <a:extLst>
              <a:ext uri="{FF2B5EF4-FFF2-40B4-BE49-F238E27FC236}">
                <a16:creationId xmlns:a16="http://schemas.microsoft.com/office/drawing/2014/main" id="{B1A2CCD0-4721-3C45-8EF6-95E38E0840D2}"/>
              </a:ext>
            </a:extLst>
          </p:cNvPr>
          <p:cNvSpPr txBox="1"/>
          <p:nvPr/>
        </p:nvSpPr>
        <p:spPr>
          <a:xfrm>
            <a:off x="4546600" y="2870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Straight-line length of the arrow. Pythagoras in n dimensions. Treats all directions equally.</a:t>
            </a:r>
          </a:p>
        </p:txBody>
      </p:sp>
      <p:sp>
        <p:nvSpPr>
          <p:cNvPr id="27" name="RowUse_1">
            <a:extLst>
              <a:ext uri="{FF2B5EF4-FFF2-40B4-BE49-F238E27FC236}">
                <a16:creationId xmlns:a16="http://schemas.microsoft.com/office/drawing/2014/main" id="{18C1FD7A-9E00-0845-B87C-0FE0DCCF400B}"/>
              </a:ext>
            </a:extLst>
          </p:cNvPr>
          <p:cNvSpPr txBox="1"/>
          <p:nvPr/>
        </p:nvSpPr>
        <p:spPr>
          <a:xfrm>
            <a:off x="8293100" y="2870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Ordinary least squares, Ridge regularization, k-means, PCA, physics, any time geometry should be isotropic</a:t>
            </a:r>
          </a:p>
        </p:txBody>
      </p:sp>
      <p:sp>
        <p:nvSpPr>
          <p:cNvPr id="28" name="RowDiv_1">
            <a:extLst>
              <a:ext uri="{FF2B5EF4-FFF2-40B4-BE49-F238E27FC236}">
                <a16:creationId xmlns:a16="http://schemas.microsoft.com/office/drawing/2014/main" id="{73A0E76A-2586-7B46-B4E0-87C8DCE78255}"/>
              </a:ext>
            </a:extLst>
          </p:cNvPr>
          <p:cNvSpPr/>
          <p:nvPr/>
        </p:nvSpPr>
        <p:spPr>
          <a:xfrm>
            <a:off x="381000" y="3771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ow_2">
            <a:extLst>
              <a:ext uri="{FF2B5EF4-FFF2-40B4-BE49-F238E27FC236}">
                <a16:creationId xmlns:a16="http://schemas.microsoft.com/office/drawing/2014/main" id="{28147378-F1B7-F94C-83DB-1EAC5A22EFEC}"/>
              </a:ext>
            </a:extLst>
          </p:cNvPr>
          <p:cNvSpPr/>
          <p:nvPr/>
        </p:nvSpPr>
        <p:spPr>
          <a:xfrm>
            <a:off x="381000" y="3784600"/>
            <a:ext cx="11430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owAccent_2">
            <a:extLst>
              <a:ext uri="{FF2B5EF4-FFF2-40B4-BE49-F238E27FC236}">
                <a16:creationId xmlns:a16="http://schemas.microsoft.com/office/drawing/2014/main" id="{05F77E92-E7AE-2E49-95FD-9EC028B851B4}"/>
              </a:ext>
            </a:extLst>
          </p:cNvPr>
          <p:cNvSpPr/>
          <p:nvPr/>
        </p:nvSpPr>
        <p:spPr>
          <a:xfrm>
            <a:off x="381000" y="3784600"/>
            <a:ext cx="63500" cy="1016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owName_2">
            <a:extLst>
              <a:ext uri="{FF2B5EF4-FFF2-40B4-BE49-F238E27FC236}">
                <a16:creationId xmlns:a16="http://schemas.microsoft.com/office/drawing/2014/main" id="{461742FB-AA95-FC47-B6D3-4B775FC48A22}"/>
              </a:ext>
            </a:extLst>
          </p:cNvPr>
          <p:cNvSpPr txBox="1"/>
          <p:nvPr/>
        </p:nvSpPr>
        <p:spPr>
          <a:xfrm>
            <a:off x="381000" y="3784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D1578A"/>
                </a:solidFill>
                <a:latin typeface="Cambria Math"/>
                <a:ea typeface="Cambria Math"/>
              </a:rPr>
              <a:t>L∞</a:t>
            </a:r>
          </a:p>
        </p:txBody>
      </p:sp>
      <p:sp>
        <p:nvSpPr>
          <p:cNvPr id="32" name="RowFmt_2">
            <a:extLst>
              <a:ext uri="{FF2B5EF4-FFF2-40B4-BE49-F238E27FC236}">
                <a16:creationId xmlns:a16="http://schemas.microsoft.com/office/drawing/2014/main" id="{E91670F7-F5E9-6D48-AC97-483DF5ADEE0B}"/>
              </a:ext>
            </a:extLst>
          </p:cNvPr>
          <p:cNvSpPr txBox="1"/>
          <p:nvPr/>
        </p:nvSpPr>
        <p:spPr>
          <a:xfrm>
            <a:off x="1714500" y="3911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‖v‖∞ = max|vᵢ|</a:t>
            </a:r>
          </a:p>
        </p:txBody>
      </p:sp>
      <p:sp>
        <p:nvSpPr>
          <p:cNvPr id="33" name="RowBall_2">
            <a:extLst>
              <a:ext uri="{FF2B5EF4-FFF2-40B4-BE49-F238E27FC236}">
                <a16:creationId xmlns:a16="http://schemas.microsoft.com/office/drawing/2014/main" id="{6CEB055B-992B-3E49-B0D9-1B8FFB020160}"/>
              </a:ext>
            </a:extLst>
          </p:cNvPr>
          <p:cNvSpPr txBox="1"/>
          <p:nvPr/>
        </p:nvSpPr>
        <p:spPr>
          <a:xfrm>
            <a:off x="1714500" y="4343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Square</a:t>
            </a:r>
          </a:p>
        </p:txBody>
      </p:sp>
      <p:sp>
        <p:nvSpPr>
          <p:cNvPr id="34" name="RowRep_2">
            <a:extLst>
              <a:ext uri="{FF2B5EF4-FFF2-40B4-BE49-F238E27FC236}">
                <a16:creationId xmlns:a16="http://schemas.microsoft.com/office/drawing/2014/main" id="{3312637F-90AF-6748-91D4-A5F760EA12DA}"/>
              </a:ext>
            </a:extLst>
          </p:cNvPr>
          <p:cNvSpPr txBox="1"/>
          <p:nvPr/>
        </p:nvSpPr>
        <p:spPr>
          <a:xfrm>
            <a:off x="4546600" y="3886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The single largest coordinate. Worst-case deviation in any one dimension.</a:t>
            </a:r>
          </a:p>
        </p:txBody>
      </p:sp>
      <p:sp>
        <p:nvSpPr>
          <p:cNvPr id="35" name="RowUse_2">
            <a:extLst>
              <a:ext uri="{FF2B5EF4-FFF2-40B4-BE49-F238E27FC236}">
                <a16:creationId xmlns:a16="http://schemas.microsoft.com/office/drawing/2014/main" id="{3A1953BE-830D-8447-B210-6069C2FA2C73}"/>
              </a:ext>
            </a:extLst>
          </p:cNvPr>
          <p:cNvSpPr txBox="1"/>
          <p:nvPr/>
        </p:nvSpPr>
        <p:spPr>
          <a:xfrm>
            <a:off x="8293100" y="3886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Uniform error bounds, robustness/adversarial radii, Chebyshev approximation, tolerance specs, max-error optimization</a:t>
            </a:r>
          </a:p>
        </p:txBody>
      </p:sp>
      <p:sp>
        <p:nvSpPr>
          <p:cNvPr id="36" name="RowDiv_2">
            <a:extLst>
              <a:ext uri="{FF2B5EF4-FFF2-40B4-BE49-F238E27FC236}">
                <a16:creationId xmlns:a16="http://schemas.microsoft.com/office/drawing/2014/main" id="{F3E20D87-B416-E649-9DE0-06129A2FB1BA}"/>
              </a:ext>
            </a:extLst>
          </p:cNvPr>
          <p:cNvSpPr/>
          <p:nvPr/>
        </p:nvSpPr>
        <p:spPr>
          <a:xfrm>
            <a:off x="381000" y="4787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ow_3">
            <a:extLst>
              <a:ext uri="{FF2B5EF4-FFF2-40B4-BE49-F238E27FC236}">
                <a16:creationId xmlns:a16="http://schemas.microsoft.com/office/drawing/2014/main" id="{FF3BEE32-C90A-3642-87CF-B1216C5E35BB}"/>
              </a:ext>
            </a:extLst>
          </p:cNvPr>
          <p:cNvSpPr/>
          <p:nvPr/>
        </p:nvSpPr>
        <p:spPr>
          <a:xfrm>
            <a:off x="381000" y="4800600"/>
            <a:ext cx="11430000" cy="1016000"/>
          </a:xfrm>
          <a:prstGeom prst="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RowAccent_3">
            <a:extLst>
              <a:ext uri="{FF2B5EF4-FFF2-40B4-BE49-F238E27FC236}">
                <a16:creationId xmlns:a16="http://schemas.microsoft.com/office/drawing/2014/main" id="{715363C6-DCBD-E444-8918-8D2FBED56990}"/>
              </a:ext>
            </a:extLst>
          </p:cNvPr>
          <p:cNvSpPr/>
          <p:nvPr/>
        </p:nvSpPr>
        <p:spPr>
          <a:xfrm>
            <a:off x="381000" y="4800600"/>
            <a:ext cx="63500" cy="1016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4" name="RowName_3">
            <a:extLst>
              <a:ext uri="{FF2B5EF4-FFF2-40B4-BE49-F238E27FC236}">
                <a16:creationId xmlns:a16="http://schemas.microsoft.com/office/drawing/2014/main" id="{C6990178-EF16-F847-91F8-FECD0EB8A16E}"/>
              </a:ext>
            </a:extLst>
          </p:cNvPr>
          <p:cNvSpPr txBox="1"/>
          <p:nvPr/>
        </p:nvSpPr>
        <p:spPr>
          <a:xfrm>
            <a:off x="381000" y="4800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B7A57A"/>
                </a:solidFill>
                <a:latin typeface="Cambria Math"/>
                <a:ea typeface="Cambria Math"/>
              </a:rPr>
              <a:t>Lᵖ</a:t>
            </a:r>
          </a:p>
        </p:txBody>
      </p:sp>
      <p:sp>
        <p:nvSpPr>
          <p:cNvPr id="75" name="RowFmt_3">
            <a:extLst>
              <a:ext uri="{FF2B5EF4-FFF2-40B4-BE49-F238E27FC236}">
                <a16:creationId xmlns:a16="http://schemas.microsoft.com/office/drawing/2014/main" id="{612D4733-28D7-8547-A931-DC4B6970AA4B}"/>
              </a:ext>
            </a:extLst>
          </p:cNvPr>
          <p:cNvSpPr txBox="1"/>
          <p:nvPr/>
        </p:nvSpPr>
        <p:spPr>
          <a:xfrm>
            <a:off x="1714500" y="4927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‖v‖ₚ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vᵢ|ᵖ)^(1/p)</a:t>
            </a:r>
          </a:p>
        </p:txBody>
      </p:sp>
      <p:sp>
        <p:nvSpPr>
          <p:cNvPr id="76" name="RowBall_3">
            <a:extLst>
              <a:ext uri="{FF2B5EF4-FFF2-40B4-BE49-F238E27FC236}">
                <a16:creationId xmlns:a16="http://schemas.microsoft.com/office/drawing/2014/main" id="{4F5DDDA5-1593-F441-88B4-E12E6670AF83}"/>
              </a:ext>
            </a:extLst>
          </p:cNvPr>
          <p:cNvSpPr txBox="1"/>
          <p:nvPr/>
        </p:nvSpPr>
        <p:spPr>
          <a:xfrm>
            <a:off x="1714500" y="5359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Superellipse</a:t>
            </a:r>
          </a:p>
        </p:txBody>
      </p:sp>
      <p:sp>
        <p:nvSpPr>
          <p:cNvPr id="77" name="RowRep_3">
            <a:extLst>
              <a:ext uri="{FF2B5EF4-FFF2-40B4-BE49-F238E27FC236}">
                <a16:creationId xmlns:a16="http://schemas.microsoft.com/office/drawing/2014/main" id="{932F6E75-7F2B-6848-8F50-830E3E87D74E}"/>
              </a:ext>
            </a:extLst>
          </p:cNvPr>
          <p:cNvSpPr txBox="1"/>
          <p:nvPr/>
        </p:nvSpPr>
        <p:spPr>
          <a:xfrm>
            <a:off x="4546600" y="4902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General family. p tunes between summing (p=1) and taking the max (p=∞), with circle at p=2.</a:t>
            </a:r>
          </a:p>
        </p:txBody>
      </p:sp>
      <p:sp>
        <p:nvSpPr>
          <p:cNvPr id="78" name="RowUse_3">
            <a:extLst>
              <a:ext uri="{FF2B5EF4-FFF2-40B4-BE49-F238E27FC236}">
                <a16:creationId xmlns:a16="http://schemas.microsoft.com/office/drawing/2014/main" id="{66BA1F22-5F76-5B44-B47B-CA59323B0E36}"/>
              </a:ext>
            </a:extLst>
          </p:cNvPr>
          <p:cNvSpPr txBox="1"/>
          <p:nvPr/>
        </p:nvSpPr>
        <p:spPr>
          <a:xfrm>
            <a:off x="8293100" y="4902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When you need to interpolate between norms — robust Lᵖ regression, signal denoising, control design with custom error weighting</a:t>
            </a:r>
          </a:p>
        </p:txBody>
      </p:sp>
      <p:sp>
        <p:nvSpPr>
          <p:cNvPr id="79" name="TableBorder">
            <a:extLst>
              <a:ext uri="{FF2B5EF4-FFF2-40B4-BE49-F238E27FC236}">
                <a16:creationId xmlns:a16="http://schemas.microsoft.com/office/drawing/2014/main" id="{053E9DA0-6D4A-EF41-AA0D-76293D0C056C}"/>
              </a:ext>
            </a:extLst>
          </p:cNvPr>
          <p:cNvSpPr/>
          <p:nvPr/>
        </p:nvSpPr>
        <p:spPr>
          <a:xfrm>
            <a:off x="381000" y="1270000"/>
            <a:ext cx="11430000" cy="4546600"/>
          </a:xfrm>
          <a:prstGeom prst="rect">
            <a:avLst/>
          </a:prstGeom>
          <a:noFill/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TkBar">
            <a:extLst>
              <a:ext uri="{FF2B5EF4-FFF2-40B4-BE49-F238E27FC236}">
                <a16:creationId xmlns:a16="http://schemas.microsoft.com/office/drawing/2014/main" id="{0C544490-2CD9-3D40-8311-20C76238D45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TkText">
            <a:extLst>
              <a:ext uri="{FF2B5EF4-FFF2-40B4-BE49-F238E27FC236}">
                <a16:creationId xmlns:a16="http://schemas.microsoft.com/office/drawing/2014/main" id="{633C476F-7723-DD4F-8E49-C2BF5F47E543}"/>
              </a:ext>
            </a:extLst>
          </p:cNvPr>
          <p:cNvSpPr txBox="1"/>
          <p:nvPr/>
        </p:nvSpPr>
        <p:spPr>
          <a:xfrm>
            <a:off x="254000" y="5842000"/>
            <a:ext cx="11684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Same vector, different geometry — pick the norm that matches how your problem measures "closeness"</a:t>
            </a:r>
          </a:p>
        </p:txBody>
      </p:sp>
    </p:spTree>
    <p:extLst>
      <p:ext uri="{BB962C8B-B14F-4D97-AF65-F5344CB8AC3E}">
        <p14:creationId xmlns:p14="http://schemas.microsoft.com/office/powerpoint/2010/main" val="419130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FROM DATA TO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3800" b="1" dirty="0">
                <a:solidFill>
                  <a:srgbClr val="FFFFFF"/>
                </a:solidFill>
              </a:rPr>
              <a:t>Covariance &amp; Correlation Matrices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100" dirty="0">
                <a:solidFill>
                  <a:srgbClr val="EDE7F5"/>
                </a:solidFill>
              </a:rPr>
              <a:t>Build S and R from a data matrix using centering, standardization, and matrix products.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0" name="hm"/>
          <p:cNvSpPr/>
          <p:nvPr/>
        </p:nvSpPr>
        <p:spPr>
          <a:xfrm>
            <a:off x="55626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hm"/>
          <p:cNvSpPr/>
          <p:nvPr/>
        </p:nvSpPr>
        <p:spPr>
          <a:xfrm>
            <a:off x="59309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hm"/>
          <p:cNvSpPr/>
          <p:nvPr/>
        </p:nvSpPr>
        <p:spPr>
          <a:xfrm>
            <a:off x="62992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hm"/>
          <p:cNvSpPr/>
          <p:nvPr/>
        </p:nvSpPr>
        <p:spPr>
          <a:xfrm>
            <a:off x="55626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hm"/>
          <p:cNvSpPr/>
          <p:nvPr/>
        </p:nvSpPr>
        <p:spPr>
          <a:xfrm>
            <a:off x="59309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hm"/>
          <p:cNvSpPr/>
          <p:nvPr/>
        </p:nvSpPr>
        <p:spPr>
          <a:xfrm>
            <a:off x="62992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" name="hm"/>
          <p:cNvSpPr/>
          <p:nvPr/>
        </p:nvSpPr>
        <p:spPr>
          <a:xfrm>
            <a:off x="55626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" name="hm"/>
          <p:cNvSpPr/>
          <p:nvPr/>
        </p:nvSpPr>
        <p:spPr>
          <a:xfrm>
            <a:off x="59309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" name="hm"/>
          <p:cNvSpPr/>
          <p:nvPr/>
        </p:nvSpPr>
        <p:spPr>
          <a:xfrm>
            <a:off x="62992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897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Computing S and R with Matrix Operations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Start from a data matrix X: n observations (rows) × p features (columns).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Center the data, take XcᵀXc / (n−1) for covariance, then rescale by the std-devs to get correlation.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711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bdg"/>
          <p:cNvSpPr/>
          <p:nvPr/>
        </p:nvSpPr>
        <p:spPr>
          <a:xfrm>
            <a:off x="546100" y="1536700"/>
            <a:ext cx="381000" cy="381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2" name="eq"/>
              <p:cNvSpPr txBox="1"/>
              <p:nvPr/>
            </p:nvSpPr>
            <p:spPr>
              <a:xfrm>
                <a:off x="1092200" y="15240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02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1524000"/>
                <a:ext cx="6172200" cy="381000"/>
              </a:xfrm>
              <a:prstGeom prst="rect">
                <a:avLst/>
              </a:prstGeom>
              <a:blipFill>
                <a:blip r:embed="rId2"/>
                <a:stretch>
                  <a:fillRect t="-19355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3" name="tb"/>
          <p:cNvSpPr txBox="1"/>
          <p:nvPr/>
        </p:nvSpPr>
        <p:spPr>
          <a:xfrm>
            <a:off x="1092200" y="19304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mean of each column (1 is an n×1 vector of ones)</a:t>
            </a:r>
          </a:p>
        </p:txBody>
      </p:sp>
      <p:sp>
        <p:nvSpPr>
          <p:cNvPr id="6004" name="bdg"/>
          <p:cNvSpPr/>
          <p:nvPr/>
        </p:nvSpPr>
        <p:spPr>
          <a:xfrm>
            <a:off x="546100" y="2374900"/>
            <a:ext cx="381000" cy="3810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5" name="eq"/>
              <p:cNvSpPr txBox="1"/>
              <p:nvPr/>
            </p:nvSpPr>
            <p:spPr>
              <a:xfrm>
                <a:off x="1092200" y="23622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− 1</m:t>
                      </m:r>
                      <m:sSup>
                        <m:sSup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05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2362200"/>
                <a:ext cx="6172200" cy="381000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6" name="tb"/>
          <p:cNvSpPr txBox="1"/>
          <p:nvPr/>
        </p:nvSpPr>
        <p:spPr>
          <a:xfrm>
            <a:off x="1092200" y="27686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subtract the column means — the centered data</a:t>
            </a:r>
          </a:p>
        </p:txBody>
      </p:sp>
      <p:sp>
        <p:nvSpPr>
          <p:cNvPr id="6007" name="bdg"/>
          <p:cNvSpPr/>
          <p:nvPr/>
        </p:nvSpPr>
        <p:spPr>
          <a:xfrm>
            <a:off x="546100" y="3213100"/>
            <a:ext cx="381000" cy="3810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8" name="eq"/>
              <p:cNvSpPr txBox="1"/>
              <p:nvPr/>
            </p:nvSpPr>
            <p:spPr>
              <a:xfrm>
                <a:off x="1092200" y="32004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</m:t>
                          </m:r>
                        </m:den>
                      </m:f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08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3200400"/>
                <a:ext cx="6172200" cy="381000"/>
              </a:xfrm>
              <a:prstGeom prst="rect">
                <a:avLst/>
              </a:prstGeom>
              <a:blipFill>
                <a:blip r:embed="rId4"/>
                <a:stretch>
                  <a:fillRect t="-19355" b="-5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9" name="tb"/>
          <p:cNvSpPr txBox="1"/>
          <p:nvPr/>
        </p:nvSpPr>
        <p:spPr>
          <a:xfrm>
            <a:off x="1092200" y="36068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covariance matrix (p×p, symmetric)</a:t>
            </a:r>
          </a:p>
        </p:txBody>
      </p:sp>
      <p:sp>
        <p:nvSpPr>
          <p:cNvPr id="6010" name="bdg"/>
          <p:cNvSpPr/>
          <p:nvPr/>
        </p:nvSpPr>
        <p:spPr>
          <a:xfrm>
            <a:off x="546100" y="4051300"/>
            <a:ext cx="381000" cy="3810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11" name="eq"/>
              <p:cNvSpPr txBox="1"/>
              <p:nvPr/>
            </p:nvSpPr>
            <p:spPr>
              <a:xfrm>
                <a:off x="1092200" y="40386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1750" i="0">
                          <a:solidFill>
                            <a:srgbClr val="333333"/>
                          </a:solidFill>
                          <a:latin typeface="Cambria Math"/>
                        </a:rPr>
                        <m:t>diag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11</m:t>
                              </m:r>
                            </m:sub>
                          </m:sSub>
                        </m:e>
                      </m:rad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, …, </m:t>
                      </m:r>
                      <m:rad>
                        <m:radPr>
                          <m:degHide m:val="on"/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𝑝𝑝</m:t>
                              </m:r>
                            </m:sub>
                          </m:sSub>
                        </m:e>
                      </m:rad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11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038600"/>
                <a:ext cx="6172200" cy="381000"/>
              </a:xfrm>
              <a:prstGeom prst="rect">
                <a:avLst/>
              </a:prstGeom>
              <a:blipFill>
                <a:blip r:embed="rId5"/>
                <a:stretch>
                  <a:fillRect t="-1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12" name="tb"/>
          <p:cNvSpPr txBox="1"/>
          <p:nvPr/>
        </p:nvSpPr>
        <p:spPr>
          <a:xfrm>
            <a:off x="1092200" y="44450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standard deviations on the diagonal</a:t>
            </a:r>
          </a:p>
        </p:txBody>
      </p:sp>
      <p:sp>
        <p:nvSpPr>
          <p:cNvPr id="6013" name="bdg"/>
          <p:cNvSpPr/>
          <p:nvPr/>
        </p:nvSpPr>
        <p:spPr>
          <a:xfrm>
            <a:off x="546100" y="4889500"/>
            <a:ext cx="381000" cy="3810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14" name="eq"/>
              <p:cNvSpPr txBox="1"/>
              <p:nvPr/>
            </p:nvSpPr>
            <p:spPr>
              <a:xfrm>
                <a:off x="1092200" y="48768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𝑅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𝑆</m:t>
                      </m:r>
                      <m:sSup>
                        <m:sSupPr>
                          <m:ctrlP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14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876800"/>
                <a:ext cx="6172200" cy="381000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15" name="tb"/>
          <p:cNvSpPr txBox="1"/>
          <p:nvPr/>
        </p:nvSpPr>
        <p:spPr>
          <a:xfrm>
            <a:off x="1092200" y="52832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correlation matrix (rescaled covariance)</a:t>
            </a:r>
          </a:p>
        </p:txBody>
      </p:sp>
      <p:sp>
        <p:nvSpPr>
          <p:cNvPr id="6016" name="pn"/>
          <p:cNvSpPr/>
          <p:nvPr/>
        </p:nvSpPr>
        <p:spPr>
          <a:xfrm>
            <a:off x="7569200" y="1219200"/>
            <a:ext cx="4318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7823200" y="14478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Shapes &amp; facts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7823200" y="1905000"/>
            <a:ext cx="3860800" cy="368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X : n×p  (observations × features)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Xc : n×p, every column sums to 0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 : p×p, symmetric; diagonal = variances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 : p×p, diagonal = 1; off-diag in [−1, 1]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 = 1/(n−1) · Zᵀ Z  (Z standardized)</a:t>
            </a:r>
          </a:p>
        </p:txBody>
      </p:sp>
    </p:spTree>
    <p:extLst>
      <p:ext uri="{BB962C8B-B14F-4D97-AF65-F5344CB8AC3E}">
        <p14:creationId xmlns:p14="http://schemas.microsoft.com/office/powerpoint/2010/main" val="385658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" grpId="0" animBg="1"/>
      <p:bldP spid="6001" grpId="0" animBg="1"/>
      <p:bldP spid="6002" grpId="0"/>
      <p:bldP spid="6003" grpId="0"/>
      <p:bldP spid="6004" grpId="0" animBg="1"/>
      <p:bldP spid="6005" grpId="0"/>
      <p:bldP spid="6006" grpId="0"/>
      <p:bldP spid="6007" grpId="0" animBg="1"/>
      <p:bldP spid="6008" grpId="0"/>
      <p:bldP spid="6009" grpId="0"/>
      <p:bldP spid="6010" grpId="0" animBg="1"/>
      <p:bldP spid="6011" grpId="0"/>
      <p:bldP spid="6012" grpId="0"/>
      <p:bldP spid="6013" grpId="0" animBg="1"/>
      <p:bldP spid="6014" grpId="0"/>
      <p:bldP spid="6015" grpId="0"/>
      <p:bldP spid="6016" grpId="0" animBg="1"/>
      <p:bldP spid="6017" grpId="0"/>
      <p:bldP spid="6018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Why Standardize? Units Distort Distance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When features use different units, the largest-magnitude one dominates the distance.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Without scaling, the biggest-magnitude feature wins; standardizing lets every feature contribute.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Raw data — mixed units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558800" y="18542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00A7B5"/>
                </a:solidFill>
              </a:rPr>
              <a:t>Ann</a:t>
            </a:r>
            <a:r>
              <a:rPr lang="en-US" sz="1400" dirty="0">
                <a:solidFill>
                  <a:srgbClr val="333333"/>
                </a:solidFill>
              </a:rPr>
              <a:t>  —  age 25 yr,  income $40,000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58800" y="2159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Bob</a:t>
            </a:r>
            <a:r>
              <a:rPr lang="en-US" sz="1400" dirty="0">
                <a:solidFill>
                  <a:srgbClr val="333333"/>
                </a:solidFill>
              </a:rPr>
              <a:t>  —  age 45 yr,  income $42,000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25654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Δage = 20 yr        Δincome = $2,000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58800" y="2946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 = √(20² + 2000²) = √4,000,400 ≈ 2000</a:t>
            </a:r>
          </a:p>
        </p:txBody>
      </p:sp>
      <p:sp>
        <p:nvSpPr>
          <p:cNvPr id="6006" name="tb"/>
          <p:cNvSpPr txBox="1"/>
          <p:nvPr/>
        </p:nvSpPr>
        <p:spPr>
          <a:xfrm>
            <a:off x="558800" y="34544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Share of  d² :</a:t>
            </a:r>
          </a:p>
        </p:txBody>
      </p:sp>
      <p:sp>
        <p:nvSpPr>
          <p:cNvPr id="6007" name="seg"/>
          <p:cNvSpPr/>
          <p:nvPr/>
        </p:nvSpPr>
        <p:spPr>
          <a:xfrm>
            <a:off x="558800" y="3733800"/>
            <a:ext cx="50800" cy="330200"/>
          </a:xfrm>
          <a:prstGeom prst="rect">
            <a:avLst/>
          </a:prstGeom>
          <a:solidFill>
            <a:srgbClr val="7AB648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8" name="seg"/>
          <p:cNvSpPr/>
          <p:nvPr/>
        </p:nvSpPr>
        <p:spPr>
          <a:xfrm>
            <a:off x="609600" y="3733800"/>
            <a:ext cx="4876800" cy="330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5588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7AB648"/>
                </a:solidFill>
              </a:rPr>
              <a:t>■ age 0.01%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1750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50" b="1" dirty="0">
                <a:solidFill>
                  <a:srgbClr val="D1578A"/>
                </a:solidFill>
              </a:rPr>
              <a:t>■ income 99.99%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558800" y="4470400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The $2,000 income gap (just 5%) completely buries the 20-year age gap.</a:t>
            </a:r>
          </a:p>
        </p:txBody>
      </p:sp>
      <p:sp>
        <p:nvSpPr>
          <p:cNvPr id="6012" name="pn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6400800" y="1422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After standardizing (z-scores)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6400800" y="18542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typical std:  age ≈ 10 yr,  income ≈ $15,000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6400800" y="22606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Δz = Δ / σ :   </a:t>
            </a:r>
            <a:r>
              <a:rPr lang="en-US" sz="1400" b="1" dirty="0">
                <a:solidFill>
                  <a:srgbClr val="333333"/>
                </a:solidFill>
              </a:rPr>
              <a:t>age 20/10 = 2.0,   income 2000/15000 ≈ 0.13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6400800" y="2946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 = √(2.0² + 0.13²) ≈ 2.0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6400800" y="34544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Share of  d² :</a:t>
            </a:r>
          </a:p>
        </p:txBody>
      </p:sp>
      <p:sp>
        <p:nvSpPr>
          <p:cNvPr id="6018" name="seg"/>
          <p:cNvSpPr/>
          <p:nvPr/>
        </p:nvSpPr>
        <p:spPr>
          <a:xfrm>
            <a:off x="6400800" y="3733800"/>
            <a:ext cx="4902200" cy="330200"/>
          </a:xfrm>
          <a:prstGeom prst="rect">
            <a:avLst/>
          </a:prstGeom>
          <a:solidFill>
            <a:srgbClr val="7AB648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seg"/>
          <p:cNvSpPr/>
          <p:nvPr/>
        </p:nvSpPr>
        <p:spPr>
          <a:xfrm>
            <a:off x="11303000" y="3733800"/>
            <a:ext cx="25400" cy="330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7AB648"/>
                </a:solidFill>
              </a:rPr>
              <a:t>■ age 99.6%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90170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50" b="1" dirty="0">
                <a:solidFill>
                  <a:srgbClr val="D1578A"/>
                </a:solidFill>
              </a:rPr>
              <a:t>■ income 0.4%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6400800" y="4470400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Now the real difference — 20 years of age — drives the distance.</a:t>
            </a:r>
          </a:p>
        </p:txBody>
      </p:sp>
    </p:spTree>
    <p:extLst>
      <p:ext uri="{BB962C8B-B14F-4D97-AF65-F5344CB8AC3E}">
        <p14:creationId xmlns:p14="http://schemas.microsoft.com/office/powerpoint/2010/main" val="45888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Real Features Live on Different Scales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Raw features span many orders of magnitude — and different units entirely.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Mixing raw units lets dollars outvote years; standardize so every feature contributes on equal terms.</a:t>
            </a:r>
          </a:p>
        </p:txBody>
      </p:sp>
      <p:sp>
        <p:nvSpPr>
          <p:cNvPr id="6000" name="cl"/>
          <p:cNvSpPr/>
          <p:nvPr/>
        </p:nvSpPr>
        <p:spPr>
          <a:xfrm>
            <a:off x="355600" y="1625600"/>
            <a:ext cx="29972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cl"/>
          <p:cNvSpPr/>
          <p:nvPr/>
        </p:nvSpPr>
        <p:spPr>
          <a:xfrm>
            <a:off x="3352800" y="1625600"/>
            <a:ext cx="24892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2" name="cl"/>
          <p:cNvSpPr/>
          <p:nvPr/>
        </p:nvSpPr>
        <p:spPr>
          <a:xfrm>
            <a:off x="5842000" y="1625600"/>
            <a:ext cx="13208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3" name="tb"/>
          <p:cNvSpPr txBox="1"/>
          <p:nvPr/>
        </p:nvSpPr>
        <p:spPr>
          <a:xfrm>
            <a:off x="355600" y="1625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3352800" y="1625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Typical range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842000" y="1625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6006" name="cl"/>
          <p:cNvSpPr/>
          <p:nvPr/>
        </p:nvSpPr>
        <p:spPr>
          <a:xfrm>
            <a:off x="355600" y="2006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7" name="cl"/>
          <p:cNvSpPr/>
          <p:nvPr/>
        </p:nvSpPr>
        <p:spPr>
          <a:xfrm>
            <a:off x="3352800" y="2006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8" name="cl"/>
          <p:cNvSpPr/>
          <p:nvPr/>
        </p:nvSpPr>
        <p:spPr>
          <a:xfrm>
            <a:off x="5842000" y="2006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355600" y="2006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Age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352800" y="2006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0 – 100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5842000" y="2006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years</a:t>
            </a:r>
          </a:p>
        </p:txBody>
      </p:sp>
      <p:sp>
        <p:nvSpPr>
          <p:cNvPr id="6012" name="cl"/>
          <p:cNvSpPr/>
          <p:nvPr/>
        </p:nvSpPr>
        <p:spPr>
          <a:xfrm>
            <a:off x="355600" y="2387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3" name="cl"/>
          <p:cNvSpPr/>
          <p:nvPr/>
        </p:nvSpPr>
        <p:spPr>
          <a:xfrm>
            <a:off x="3352800" y="2387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4" name="cl"/>
          <p:cNvSpPr/>
          <p:nvPr/>
        </p:nvSpPr>
        <p:spPr>
          <a:xfrm>
            <a:off x="5842000" y="2387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5" name="tb"/>
          <p:cNvSpPr txBox="1"/>
          <p:nvPr/>
        </p:nvSpPr>
        <p:spPr>
          <a:xfrm>
            <a:off x="355600" y="2387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Annual income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52800" y="2387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D1578A"/>
                </a:solidFill>
              </a:rPr>
              <a:t>10,000 – 500,000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842000" y="2387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dollars</a:t>
            </a:r>
          </a:p>
        </p:txBody>
      </p:sp>
      <p:sp>
        <p:nvSpPr>
          <p:cNvPr id="6018" name="cl"/>
          <p:cNvSpPr/>
          <p:nvPr/>
        </p:nvSpPr>
        <p:spPr>
          <a:xfrm>
            <a:off x="355600" y="2768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cl"/>
          <p:cNvSpPr/>
          <p:nvPr/>
        </p:nvSpPr>
        <p:spPr>
          <a:xfrm>
            <a:off x="3352800" y="2768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cl"/>
          <p:cNvSpPr/>
          <p:nvPr/>
        </p:nvSpPr>
        <p:spPr>
          <a:xfrm>
            <a:off x="5842000" y="2768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1" name="tb"/>
          <p:cNvSpPr txBox="1"/>
          <p:nvPr/>
        </p:nvSpPr>
        <p:spPr>
          <a:xfrm>
            <a:off x="355600" y="2768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Height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52800" y="2768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1.5 – 2.0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842000" y="2768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meters</a:t>
            </a:r>
          </a:p>
        </p:txBody>
      </p:sp>
      <p:sp>
        <p:nvSpPr>
          <p:cNvPr id="6024" name="cl"/>
          <p:cNvSpPr/>
          <p:nvPr/>
        </p:nvSpPr>
        <p:spPr>
          <a:xfrm>
            <a:off x="355600" y="3149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cl"/>
          <p:cNvSpPr/>
          <p:nvPr/>
        </p:nvSpPr>
        <p:spPr>
          <a:xfrm>
            <a:off x="3352800" y="3149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6" name="cl"/>
          <p:cNvSpPr/>
          <p:nvPr/>
        </p:nvSpPr>
        <p:spPr>
          <a:xfrm>
            <a:off x="5842000" y="3149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7" name="tb"/>
          <p:cNvSpPr txBox="1"/>
          <p:nvPr/>
        </p:nvSpPr>
        <p:spPr>
          <a:xfrm>
            <a:off x="355600" y="3149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Weight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3352800" y="3149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40 – 150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5842000" y="3149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kg</a:t>
            </a:r>
          </a:p>
        </p:txBody>
      </p:sp>
      <p:sp>
        <p:nvSpPr>
          <p:cNvPr id="6030" name="cl"/>
          <p:cNvSpPr/>
          <p:nvPr/>
        </p:nvSpPr>
        <p:spPr>
          <a:xfrm>
            <a:off x="355600" y="3530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1" name="cl"/>
          <p:cNvSpPr/>
          <p:nvPr/>
        </p:nvSpPr>
        <p:spPr>
          <a:xfrm>
            <a:off x="3352800" y="3530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2" name="cl"/>
          <p:cNvSpPr/>
          <p:nvPr/>
        </p:nvSpPr>
        <p:spPr>
          <a:xfrm>
            <a:off x="5842000" y="3530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355600" y="3530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Body temperature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3352800" y="3530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36 – 40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842000" y="3530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°C</a:t>
            </a:r>
          </a:p>
        </p:txBody>
      </p:sp>
      <p:sp>
        <p:nvSpPr>
          <p:cNvPr id="6036" name="cl"/>
          <p:cNvSpPr/>
          <p:nvPr/>
        </p:nvSpPr>
        <p:spPr>
          <a:xfrm>
            <a:off x="355600" y="3911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7" name="cl"/>
          <p:cNvSpPr/>
          <p:nvPr/>
        </p:nvSpPr>
        <p:spPr>
          <a:xfrm>
            <a:off x="3352800" y="3911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8" name="cl"/>
          <p:cNvSpPr/>
          <p:nvPr/>
        </p:nvSpPr>
        <p:spPr>
          <a:xfrm>
            <a:off x="5842000" y="3911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355600" y="3911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House price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352800" y="3911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D1578A"/>
                </a:solidFill>
              </a:rPr>
              <a:t>50,000 – 5,000,000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5842000" y="3911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dollars</a:t>
            </a:r>
          </a:p>
        </p:txBody>
      </p:sp>
      <p:sp>
        <p:nvSpPr>
          <p:cNvPr id="6042" name="cl"/>
          <p:cNvSpPr/>
          <p:nvPr/>
        </p:nvSpPr>
        <p:spPr>
          <a:xfrm>
            <a:off x="355600" y="4292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cl"/>
          <p:cNvSpPr/>
          <p:nvPr/>
        </p:nvSpPr>
        <p:spPr>
          <a:xfrm>
            <a:off x="3352800" y="4292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cl"/>
          <p:cNvSpPr/>
          <p:nvPr/>
        </p:nvSpPr>
        <p:spPr>
          <a:xfrm>
            <a:off x="5842000" y="4292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5" name="tb"/>
          <p:cNvSpPr txBox="1"/>
          <p:nvPr/>
        </p:nvSpPr>
        <p:spPr>
          <a:xfrm>
            <a:off x="355600" y="4292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Distance to store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3352800" y="4292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0.1 – 50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5842000" y="4292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km</a:t>
            </a:r>
          </a:p>
        </p:txBody>
      </p:sp>
      <p:sp>
        <p:nvSpPr>
          <p:cNvPr id="6048" name="cl"/>
          <p:cNvSpPr/>
          <p:nvPr/>
        </p:nvSpPr>
        <p:spPr>
          <a:xfrm>
            <a:off x="355600" y="4673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cl"/>
          <p:cNvSpPr/>
          <p:nvPr/>
        </p:nvSpPr>
        <p:spPr>
          <a:xfrm>
            <a:off x="3352800" y="4673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0" name="cl"/>
          <p:cNvSpPr/>
          <p:nvPr/>
        </p:nvSpPr>
        <p:spPr>
          <a:xfrm>
            <a:off x="5842000" y="4673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355600" y="4673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Rooms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3352800" y="4673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 – 10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5842000" y="4673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count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355600" y="5156200"/>
            <a:ext cx="6807200" cy="2286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250" i="1" dirty="0">
                <a:solidFill>
                  <a:srgbClr val="6E6E6E"/>
                </a:solidFill>
              </a:rPr>
              <a:t>Dollar features are ~10⁶× larger than rooms or height.</a:t>
            </a:r>
          </a:p>
        </p:txBody>
      </p:sp>
      <p:sp>
        <p:nvSpPr>
          <p:cNvPr id="6055" name="pn"/>
          <p:cNvSpPr/>
          <p:nvPr/>
        </p:nvSpPr>
        <p:spPr>
          <a:xfrm>
            <a:off x="7569200" y="1371600"/>
            <a:ext cx="4318000" cy="43942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6" name="tb"/>
          <p:cNvSpPr txBox="1"/>
          <p:nvPr/>
        </p:nvSpPr>
        <p:spPr>
          <a:xfrm>
            <a:off x="7823200" y="1574800"/>
            <a:ext cx="3810000" cy="3048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it matters</a:t>
            </a:r>
          </a:p>
        </p:txBody>
      </p:sp>
      <p:sp>
        <p:nvSpPr>
          <p:cNvPr id="6057" name="tb"/>
          <p:cNvSpPr txBox="1"/>
          <p:nvPr/>
        </p:nvSpPr>
        <p:spPr>
          <a:xfrm>
            <a:off x="7823200" y="2006600"/>
            <a:ext cx="3860800" cy="1905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These ranges differ by over a million× — income and price dwarf age, height, rooms.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Distance, covariance, KNN, k-means, PCA and gradient descent all sum squared differences.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big-scale feature dominates; the rest are effectively ignored.</a:t>
            </a:r>
          </a:p>
        </p:txBody>
      </p:sp>
      <p:sp>
        <p:nvSpPr>
          <p:cNvPr id="6058" name="tb"/>
          <p:cNvSpPr txBox="1"/>
          <p:nvPr/>
        </p:nvSpPr>
        <p:spPr>
          <a:xfrm>
            <a:off x="7823200" y="4089400"/>
            <a:ext cx="3810000" cy="3048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7AB648"/>
                </a:solidFill>
              </a:rPr>
              <a:t>The fix</a:t>
            </a:r>
          </a:p>
        </p:txBody>
      </p:sp>
      <p:sp>
        <p:nvSpPr>
          <p:cNvPr id="6059" name="tb"/>
          <p:cNvSpPr txBox="1"/>
          <p:nvPr/>
        </p:nvSpPr>
        <p:spPr>
          <a:xfrm>
            <a:off x="7823200" y="4470400"/>
            <a:ext cx="3860800" cy="1143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Standardize:  z = (x − μ)/σ.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Every feature → mean 0, std 1,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249046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4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4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00"/>
                                        <p:tgtEl>
                                          <p:spTgt spid="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00"/>
                                        <p:tgtEl>
                                          <p:spTgt spid="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(Z-scores)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every feature to mean 0 and standard deviation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removes units and scale, so features compare fairly — and R = 1/(n−1)·ZᵀZ.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9436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47800"/>
            <a:ext cx="546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Per element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2" name="tb"/>
              <p:cNvSpPr txBox="1"/>
              <p:nvPr/>
            </p:nvSpPr>
            <p:spPr>
              <a:xfrm>
                <a:off x="558800" y="1854200"/>
                <a:ext cx="54610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62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0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854200"/>
                <a:ext cx="5461000" cy="355600"/>
              </a:xfrm>
              <a:prstGeom prst="rect">
                <a:avLst/>
              </a:prstGeom>
              <a:blipFill>
                <a:blip r:embed="rId2"/>
                <a:stretch>
                  <a:fillRect t="-13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3" name="tb"/>
          <p:cNvSpPr txBox="1"/>
          <p:nvPr/>
        </p:nvSpPr>
        <p:spPr>
          <a:xfrm>
            <a:off x="558800" y="23114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subtract the column mean, divide by its std dev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2844800"/>
            <a:ext cx="546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05" name="tb"/>
              <p:cNvSpPr txBox="1"/>
              <p:nvPr/>
            </p:nvSpPr>
            <p:spPr>
              <a:xfrm>
                <a:off x="558800" y="3251200"/>
                <a:ext cx="54610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700" b="1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(</m:t>
                      </m:r>
                      <m:r>
                        <a:rPr lang="en-US" sz="1700" b="1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− 1</m:t>
                      </m:r>
                      <m:sSup>
                        <m:sSupPr>
                          <m:ctrlPr>
                            <a:rPr lang="en-US" sz="17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sSup>
                        <m:sSupPr>
                          <m:ctrlPr>
                            <a:rPr lang="en-US" sz="17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7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7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sz="17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0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251200"/>
                <a:ext cx="5461000" cy="355600"/>
              </a:xfrm>
              <a:prstGeom prst="rect">
                <a:avLst/>
              </a:prstGeom>
              <a:blipFill>
                <a:blip r:embed="rId3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6" name="tb"/>
              <p:cNvSpPr txBox="1"/>
              <p:nvPr/>
            </p:nvSpPr>
            <p:spPr>
              <a:xfrm>
                <a:off x="558800" y="3708400"/>
                <a:ext cx="5461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1">
                          <a:solidFill>
                            <a:srgbClr val="333333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diag</m:t>
                      </m:r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, …, </m:t>
                      </m:r>
                      <m:sSub>
                        <m:sSubPr>
                          <m:ctrlP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0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708400"/>
                <a:ext cx="5461000" cy="279400"/>
              </a:xfrm>
              <a:prstGeom prst="rect">
                <a:avLst/>
              </a:prstGeom>
              <a:blipFill>
                <a:blip r:embed="rId4"/>
                <a:stretch>
                  <a:fillRect t="-4348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07" name="tb"/>
              <p:cNvSpPr txBox="1"/>
              <p:nvPr/>
            </p:nvSpPr>
            <p:spPr>
              <a:xfrm>
                <a:off x="558800" y="4216400"/>
                <a:ext cx="5588000" cy="1397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marL="171450" indent="-171450">
                  <a:spcBef>
                    <a:spcPts val="500"/>
                  </a:spcBef>
                  <a:buFont typeface="Arial"/>
                  <a:buChar char="•"/>
                </a:pPr>
                <a:r>
                  <a:rPr lang="en-US" sz="1350" dirty="0">
                    <a:solidFill>
                      <a:srgbClr val="333333"/>
                    </a:solidFill>
                  </a:rPr>
                  <a:t>Every column of Z has mean 0 and std 1.</a:t>
                </a:r>
              </a:p>
              <a:p>
                <a:pPr marL="171450" indent="-171450">
                  <a:spcBef>
                    <a:spcPts val="500"/>
                  </a:spcBef>
                  <a:buFont typeface="Arial"/>
                  <a:buChar char="•"/>
                </a:pPr>
                <a:r>
                  <a:rPr lang="en-US" sz="1350" dirty="0">
                    <a:solidFill>
                      <a:srgbClr val="333333"/>
                    </a:solidFill>
                  </a:rPr>
                  <a:t>Correlation = covariance of the standardized data: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/>
                        </a:rPr>
                        <m:t>𝑹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</m:t>
                          </m:r>
                        </m:den>
                      </m:f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· </m:t>
                      </m:r>
                      <m:sSup>
                        <m:sSupPr>
                          <m:ctrlPr>
                            <a:rPr lang="en-US" sz="15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𝒁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/>
                        </a:rPr>
                        <m:t>𝒁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07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216400"/>
                <a:ext cx="5588000" cy="1397000"/>
              </a:xfrm>
              <a:prstGeom prst="rect">
                <a:avLst/>
              </a:prstGeom>
              <a:blipFill>
                <a:blip r:embed="rId5"/>
                <a:stretch>
                  <a:fillRect l="-1818" t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8" name="panel"/>
          <p:cNvSpPr/>
          <p:nvPr/>
        </p:nvSpPr>
        <p:spPr>
          <a:xfrm>
            <a:off x="6451600" y="1219200"/>
            <a:ext cx="54356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6705600" y="1447800"/>
            <a:ext cx="492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Same data, shifted and rescaled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6705600" y="20574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raw values  x</a:t>
            </a:r>
          </a:p>
        </p:txBody>
      </p:sp>
      <p:sp>
        <p:nvSpPr>
          <p:cNvPr id="6011" name="r"/>
          <p:cNvSpPr/>
          <p:nvPr/>
        </p:nvSpPr>
        <p:spPr>
          <a:xfrm>
            <a:off x="6959600" y="2489200"/>
            <a:ext cx="4445000" cy="2032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dt"/>
          <p:cNvSpPr/>
          <p:nvPr/>
        </p:nvSpPr>
        <p:spPr>
          <a:xfrm>
            <a:off x="7594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dt"/>
          <p:cNvSpPr/>
          <p:nvPr/>
        </p:nvSpPr>
        <p:spPr>
          <a:xfrm>
            <a:off x="8483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dt"/>
          <p:cNvSpPr/>
          <p:nvPr/>
        </p:nvSpPr>
        <p:spPr>
          <a:xfrm>
            <a:off x="9372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dt"/>
          <p:cNvSpPr/>
          <p:nvPr/>
        </p:nvSpPr>
        <p:spPr>
          <a:xfrm>
            <a:off x="10261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dt"/>
          <p:cNvSpPr/>
          <p:nvPr/>
        </p:nvSpPr>
        <p:spPr>
          <a:xfrm>
            <a:off x="11150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r"/>
          <p:cNvSpPr/>
          <p:nvPr/>
        </p:nvSpPr>
        <p:spPr>
          <a:xfrm>
            <a:off x="9438640" y="2336800"/>
            <a:ext cx="20320" cy="304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9347200" y="20828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μ</a:t>
            </a:r>
          </a:p>
        </p:txBody>
      </p:sp>
      <p:cxnSp>
        <p:nvCxnSpPr>
          <p:cNvPr id="6019" name="ar"/>
          <p:cNvCxnSpPr/>
          <p:nvPr/>
        </p:nvCxnSpPr>
        <p:spPr>
          <a:xfrm>
            <a:off x="9169400" y="2768600"/>
            <a:ext cx="0" cy="812800"/>
          </a:xfrm>
          <a:prstGeom prst="line">
            <a:avLst/>
          </a:prstGeom>
          <a:ln w="22225">
            <a:solidFill>
              <a:srgbClr val="4B2E83"/>
            </a:solidFill>
            <a:tailEnd type="triangle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20" name="tb"/>
              <p:cNvSpPr txBox="1"/>
              <p:nvPr/>
            </p:nvSpPr>
            <p:spPr>
              <a:xfrm>
                <a:off x="9347200" y="2997200"/>
                <a:ext cx="2540000" cy="2794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400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1">
                          <a:solidFill>
                            <a:srgbClr val="333333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2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24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sz="2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𝝁</m:t>
                          </m:r>
                        </m:num>
                        <m:den>
                          <m:r>
                            <a:rPr lang="en-US" sz="24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2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200" y="2997200"/>
                <a:ext cx="2540000" cy="279400"/>
              </a:xfrm>
              <a:prstGeom prst="rect">
                <a:avLst/>
              </a:prstGeom>
              <a:blipFill>
                <a:blip r:embed="rId6"/>
                <a:stretch>
                  <a:fillRect l="-990" t="-2173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21" name="r"/>
          <p:cNvSpPr/>
          <p:nvPr/>
        </p:nvSpPr>
        <p:spPr>
          <a:xfrm>
            <a:off x="6959600" y="3860800"/>
            <a:ext cx="4445000" cy="2032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dt"/>
          <p:cNvSpPr/>
          <p:nvPr/>
        </p:nvSpPr>
        <p:spPr>
          <a:xfrm>
            <a:off x="8037068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dt"/>
          <p:cNvSpPr/>
          <p:nvPr/>
        </p:nvSpPr>
        <p:spPr>
          <a:xfrm>
            <a:off x="8565134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dt"/>
          <p:cNvSpPr/>
          <p:nvPr/>
        </p:nvSpPr>
        <p:spPr>
          <a:xfrm>
            <a:off x="9093200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dt"/>
          <p:cNvSpPr/>
          <p:nvPr/>
        </p:nvSpPr>
        <p:spPr>
          <a:xfrm>
            <a:off x="9621266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dt"/>
          <p:cNvSpPr/>
          <p:nvPr/>
        </p:nvSpPr>
        <p:spPr>
          <a:xfrm>
            <a:off x="10149332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r"/>
          <p:cNvSpPr/>
          <p:nvPr/>
        </p:nvSpPr>
        <p:spPr>
          <a:xfrm>
            <a:off x="9159240" y="3708400"/>
            <a:ext cx="20320" cy="304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3660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-2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2042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-1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0424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98806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107188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705600" y="42926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z  (standard units: mean 0, std 1)</a:t>
            </a:r>
          </a:p>
        </p:txBody>
      </p:sp>
    </p:spTree>
    <p:extLst>
      <p:ext uri="{BB962C8B-B14F-4D97-AF65-F5344CB8AC3E}">
        <p14:creationId xmlns:p14="http://schemas.microsoft.com/office/powerpoint/2010/main" val="208250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1 — Covariance &amp; Correlation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 → rescale to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diagonal of S holds the variances; R rescales every entry to [−1, 1] with 1's on the diagonal.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08000" y="38735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i="1" dirty="0">
                <a:solidFill>
                  <a:srgbClr val="333333"/>
                </a:solidFill>
              </a:rPr>
              <a:t>μ</a:t>
            </a:r>
            <a:r>
              <a:rPr lang="en-US" sz="1400" b="1" dirty="0">
                <a:solidFill>
                  <a:srgbClr val="333333"/>
                </a:solidFill>
              </a:rPr>
              <a:t> = ( </a:t>
            </a:r>
            <a:r>
              <a:rPr lang="en-US" sz="1400" b="1" dirty="0">
                <a:solidFill>
                  <a:srgbClr val="4B2E83"/>
                </a:solidFill>
              </a:rPr>
              <a:t>6.00,  7.00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40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42" name="hl"/>
          <p:cNvSpPr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82677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8267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82677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9314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98552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98552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18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8382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2.50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55" name="hl"/>
          <p:cNvSpPr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2677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267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2677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9314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552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98552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118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−0.30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8382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−0.30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7061200" y="51562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σ</a:t>
            </a:r>
            <a:r>
              <a:rPr lang="en-US" sz="1300" dirty="0">
                <a:solidFill>
                  <a:srgbClr val="6E6E6E"/>
                </a:solidFill>
              </a:rPr>
              <a:t> = ( </a:t>
            </a:r>
            <a:r>
              <a:rPr lang="en-US" sz="1300" b="1" dirty="0">
                <a:solidFill>
                  <a:srgbClr val="6E6E6E"/>
                </a:solidFill>
              </a:rPr>
              <a:t>3.16, 1.58</a:t>
            </a:r>
            <a:r>
              <a:rPr lang="en-US" sz="1300" dirty="0">
                <a:solidFill>
                  <a:srgbClr val="6E6E6E"/>
                </a:solidFill>
              </a:rPr>
              <a:t> )   ·   diag(</a:t>
            </a:r>
            <a:r>
              <a:rPr lang="en-US" sz="1300" b="1" i="1" dirty="0">
                <a:solidFill>
                  <a:srgbClr val="6E6E6E"/>
                </a:solidFill>
              </a:rPr>
              <a:t>S</a:t>
            </a:r>
            <a:r>
              <a:rPr lang="en-US" sz="1300" dirty="0">
                <a:solidFill>
                  <a:srgbClr val="6E6E6E"/>
                </a:solidFill>
              </a:rPr>
              <a:t>) = variances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9779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42799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900" y="1917700"/>
                <a:ext cx="16002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69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2 — Covariance &amp; Correlation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 → rescale to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Features 2 and 3 are exact opposites here — their correlation is −1.00.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p=3)</a:t>
            </a:r>
            <a:r>
              <a:rPr lang="en-US" sz="1450" dirty="0">
                <a:solidFill>
                  <a:srgbClr val="4B2E83"/>
                </a:solidFill>
              </a:rPr>
              <a:t>  (cols: x₁, x₂, x₃)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08000" y="3873500"/>
            <a:ext cx="294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i="1" dirty="0">
                <a:solidFill>
                  <a:srgbClr val="333333"/>
                </a:solidFill>
              </a:rPr>
              <a:t>μ</a:t>
            </a:r>
            <a:r>
              <a:rPr lang="en-US" sz="1400" b="1" dirty="0">
                <a:solidFill>
                  <a:srgbClr val="333333"/>
                </a:solidFill>
              </a:rPr>
              <a:t> = ( </a:t>
            </a:r>
            <a:r>
              <a:rPr lang="en-US" sz="1400" b="1" dirty="0">
                <a:solidFill>
                  <a:srgbClr val="4B2E83"/>
                </a:solidFill>
              </a:rPr>
              <a:t>5.00,  5.00,  6.00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51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2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53" name="hl"/>
          <p:cNvSpPr/>
          <p:nvPr/>
        </p:nvSpPr>
        <p:spPr>
          <a:xfrm>
            <a:off x="7620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4" name="hl"/>
          <p:cNvSpPr/>
          <p:nvPr/>
        </p:nvSpPr>
        <p:spPr>
          <a:xfrm>
            <a:off x="8356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9093200" y="27178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7505700" y="18161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7505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7505700" y="31496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9906000" y="18161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8298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29800" y="31496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tb"/>
          <p:cNvSpPr txBox="1"/>
          <p:nvPr/>
        </p:nvSpPr>
        <p:spPr>
          <a:xfrm>
            <a:off x="7620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2.50</a:t>
            </a:r>
          </a:p>
        </p:txBody>
      </p:sp>
      <p:sp>
        <p:nvSpPr>
          <p:cNvPr id="6063" name="tb"/>
          <p:cNvSpPr txBox="1"/>
          <p:nvPr/>
        </p:nvSpPr>
        <p:spPr>
          <a:xfrm>
            <a:off x="8356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0.25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0932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−0.25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7620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0.25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8356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90932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76200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−0.25</a:t>
            </a:r>
          </a:p>
        </p:txBody>
      </p:sp>
      <p:sp>
        <p:nvSpPr>
          <p:cNvPr id="6069" name="tb"/>
          <p:cNvSpPr txBox="1"/>
          <p:nvPr/>
        </p:nvSpPr>
        <p:spPr>
          <a:xfrm>
            <a:off x="83566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70" name="tb"/>
          <p:cNvSpPr txBox="1"/>
          <p:nvPr/>
        </p:nvSpPr>
        <p:spPr>
          <a:xfrm>
            <a:off x="90932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71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72" name="hl"/>
          <p:cNvSpPr/>
          <p:nvPr/>
        </p:nvSpPr>
        <p:spPr>
          <a:xfrm>
            <a:off x="7620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3" name="hl"/>
          <p:cNvSpPr/>
          <p:nvPr/>
        </p:nvSpPr>
        <p:spPr>
          <a:xfrm>
            <a:off x="8356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4" name="hl"/>
          <p:cNvSpPr/>
          <p:nvPr/>
        </p:nvSpPr>
        <p:spPr>
          <a:xfrm>
            <a:off x="9093200" y="5080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5" name="hl"/>
          <p:cNvSpPr/>
          <p:nvPr/>
        </p:nvSpPr>
        <p:spPr>
          <a:xfrm>
            <a:off x="7505700" y="41783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6" name="hl"/>
          <p:cNvSpPr/>
          <p:nvPr/>
        </p:nvSpPr>
        <p:spPr>
          <a:xfrm>
            <a:off x="7505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7" name="hl"/>
          <p:cNvSpPr/>
          <p:nvPr/>
        </p:nvSpPr>
        <p:spPr>
          <a:xfrm>
            <a:off x="7505700" y="5511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8" name="hl"/>
          <p:cNvSpPr/>
          <p:nvPr/>
        </p:nvSpPr>
        <p:spPr>
          <a:xfrm>
            <a:off x="9906000" y="41783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9" name="hl"/>
          <p:cNvSpPr/>
          <p:nvPr/>
        </p:nvSpPr>
        <p:spPr>
          <a:xfrm>
            <a:off x="98298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0" name="hl"/>
          <p:cNvSpPr/>
          <p:nvPr/>
        </p:nvSpPr>
        <p:spPr>
          <a:xfrm>
            <a:off x="9829800" y="5511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1" name="tb"/>
          <p:cNvSpPr txBox="1"/>
          <p:nvPr/>
        </p:nvSpPr>
        <p:spPr>
          <a:xfrm>
            <a:off x="7620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82" name="tb"/>
          <p:cNvSpPr txBox="1"/>
          <p:nvPr/>
        </p:nvSpPr>
        <p:spPr>
          <a:xfrm>
            <a:off x="8356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0.07</a:t>
            </a:r>
          </a:p>
        </p:txBody>
      </p:sp>
      <p:sp>
        <p:nvSpPr>
          <p:cNvPr id="6083" name="tb"/>
          <p:cNvSpPr txBox="1"/>
          <p:nvPr/>
        </p:nvSpPr>
        <p:spPr>
          <a:xfrm>
            <a:off x="90932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−0.07</a:t>
            </a:r>
          </a:p>
        </p:txBody>
      </p:sp>
      <p:sp>
        <p:nvSpPr>
          <p:cNvPr id="6084" name="tb"/>
          <p:cNvSpPr txBox="1"/>
          <p:nvPr/>
        </p:nvSpPr>
        <p:spPr>
          <a:xfrm>
            <a:off x="7620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0.07</a:t>
            </a:r>
          </a:p>
        </p:txBody>
      </p:sp>
      <p:sp>
        <p:nvSpPr>
          <p:cNvPr id="6085" name="tb"/>
          <p:cNvSpPr txBox="1"/>
          <p:nvPr/>
        </p:nvSpPr>
        <p:spPr>
          <a:xfrm>
            <a:off x="8356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86" name="tb"/>
          <p:cNvSpPr txBox="1"/>
          <p:nvPr/>
        </p:nvSpPr>
        <p:spPr>
          <a:xfrm>
            <a:off x="90932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87" name="tb"/>
          <p:cNvSpPr txBox="1"/>
          <p:nvPr/>
        </p:nvSpPr>
        <p:spPr>
          <a:xfrm>
            <a:off x="76200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−0.07</a:t>
            </a:r>
          </a:p>
        </p:txBody>
      </p:sp>
      <p:sp>
        <p:nvSpPr>
          <p:cNvPr id="6088" name="tb"/>
          <p:cNvSpPr txBox="1"/>
          <p:nvPr/>
        </p:nvSpPr>
        <p:spPr>
          <a:xfrm>
            <a:off x="83566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89" name="tb"/>
          <p:cNvSpPr txBox="1"/>
          <p:nvPr/>
        </p:nvSpPr>
        <p:spPr>
          <a:xfrm>
            <a:off x="90932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90" name="tb"/>
          <p:cNvSpPr txBox="1"/>
          <p:nvPr/>
        </p:nvSpPr>
        <p:spPr>
          <a:xfrm>
            <a:off x="7061200" y="55880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σ</a:t>
            </a:r>
            <a:r>
              <a:rPr lang="en-US" sz="1300" dirty="0">
                <a:solidFill>
                  <a:srgbClr val="6E6E6E"/>
                </a:solidFill>
              </a:rPr>
              <a:t> = ( </a:t>
            </a:r>
            <a:r>
              <a:rPr lang="en-US" sz="1300" b="1" dirty="0">
                <a:solidFill>
                  <a:srgbClr val="6E6E6E"/>
                </a:solidFill>
              </a:rPr>
              <a:t>1.58, 2.24, 2.24</a:t>
            </a:r>
            <a:r>
              <a:rPr lang="en-US" sz="1300" dirty="0">
                <a:solidFill>
                  <a:srgbClr val="6E6E6E"/>
                </a:solidFill>
              </a:rPr>
              <a:t> )   ·   diag(</a:t>
            </a:r>
            <a:r>
              <a:rPr lang="en-US" sz="1300" b="1" i="1" dirty="0">
                <a:solidFill>
                  <a:srgbClr val="6E6E6E"/>
                </a:solidFill>
              </a:rPr>
              <a:t>S</a:t>
            </a:r>
            <a:r>
              <a:rPr lang="en-US" sz="1300" dirty="0">
                <a:solidFill>
                  <a:srgbClr val="6E6E6E"/>
                </a:solidFill>
              </a:rPr>
              <a:t>) = variances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774700" y="1917700"/>
                <a:ext cx="21590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0" y="1917700"/>
                <a:ext cx="21590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4076700" y="1917700"/>
                <a:ext cx="21590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00" y="1917700"/>
                <a:ext cx="21590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24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3 — Covariance &amp; Correlation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 → rescale to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Both features rise together here — a strong positive correlation, R₁₂ = 0.79.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08000" y="38735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i="1" dirty="0">
                <a:solidFill>
                  <a:srgbClr val="333333"/>
                </a:solidFill>
              </a:rPr>
              <a:t>μ</a:t>
            </a:r>
            <a:r>
              <a:rPr lang="en-US" sz="1400" b="1" dirty="0">
                <a:solidFill>
                  <a:srgbClr val="333333"/>
                </a:solidFill>
              </a:rPr>
              <a:t> = ( </a:t>
            </a:r>
            <a:r>
              <a:rPr lang="en-US" sz="1400" b="1" dirty="0">
                <a:solidFill>
                  <a:srgbClr val="4B2E83"/>
                </a:solidFill>
              </a:rPr>
              <a:t>5.00,  7.00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40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42" name="hl"/>
          <p:cNvSpPr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82677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8267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82677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9314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98552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98552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18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8382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55" name="hl"/>
          <p:cNvSpPr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2677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267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2677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9314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552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98552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118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0.79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8382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0.79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7061200" y="51562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σ</a:t>
            </a:r>
            <a:r>
              <a:rPr lang="en-US" sz="1300" dirty="0">
                <a:solidFill>
                  <a:srgbClr val="6E6E6E"/>
                </a:solidFill>
              </a:rPr>
              <a:t> = ( </a:t>
            </a:r>
            <a:r>
              <a:rPr lang="en-US" sz="1300" b="1" dirty="0">
                <a:solidFill>
                  <a:srgbClr val="6E6E6E"/>
                </a:solidFill>
              </a:rPr>
              <a:t>3.16, 2.00</a:t>
            </a:r>
            <a:r>
              <a:rPr lang="en-US" sz="1300" dirty="0">
                <a:solidFill>
                  <a:srgbClr val="6E6E6E"/>
                </a:solidFill>
              </a:rPr>
              <a:t> )   ·   diag(</a:t>
            </a:r>
            <a:r>
              <a:rPr lang="en-US" sz="1300" b="1" i="1" dirty="0">
                <a:solidFill>
                  <a:srgbClr val="6E6E6E"/>
                </a:solidFill>
              </a:rPr>
              <a:t>S</a:t>
            </a:r>
            <a:r>
              <a:rPr lang="en-US" sz="1300" dirty="0">
                <a:solidFill>
                  <a:srgbClr val="6E6E6E"/>
                </a:solidFill>
              </a:rPr>
              <a:t>) = variances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9779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42799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900" y="1917700"/>
                <a:ext cx="16002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98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Reading </a:t>
            </a:r>
            <a:r>
              <a:rPr lang="en-US" sz="2000" b="1" i="1" dirty="0">
                <a:solidFill>
                  <a:srgbClr val="FFFFFF"/>
                </a:solidFill>
              </a:rPr>
              <a:t>S</a:t>
            </a:r>
            <a:r>
              <a:rPr lang="en-US" sz="2000" b="1" dirty="0">
                <a:solidFill>
                  <a:srgbClr val="FFFFFF"/>
                </a:solidFill>
              </a:rPr>
              <a:t> and </a:t>
            </a:r>
            <a:r>
              <a:rPr lang="en-US" sz="2000" b="1" i="1" dirty="0">
                <a:solidFill>
                  <a:srgbClr val="FFFFFF"/>
                </a:solidFill>
              </a:rPr>
              <a:t>R</a:t>
            </a:r>
            <a:r>
              <a:rPr lang="en-US" sz="2000" b="1" dirty="0">
                <a:solidFill>
                  <a:srgbClr val="FFFFFF"/>
                </a:solidFill>
              </a:rPr>
              <a:t> as Heatmaps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Color encodes the sign and strength of every entry (5×3 dataset).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Heatmaps reveal structure at a glance: a bright unit diagonal in R, warm cells for positive, cool for negative.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Covariance  </a:t>
            </a:r>
            <a:r>
              <a:rPr lang="en-US" sz="1550" b="1" i="1" dirty="0">
                <a:solidFill>
                  <a:srgbClr val="4B2E83"/>
                </a:solidFill>
              </a:rPr>
              <a:t>S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7432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35814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1600200" y="27305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6" name="cell"/>
          <p:cNvSpPr/>
          <p:nvPr/>
        </p:nvSpPr>
        <p:spPr>
          <a:xfrm>
            <a:off x="1905000" y="2413000"/>
            <a:ext cx="838200" cy="838200"/>
          </a:xfrm>
          <a:prstGeom prst="rect">
            <a:avLst/>
          </a:prstGeom>
          <a:solidFill>
            <a:srgbClr val="80D3D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2.50</a:t>
            </a:r>
          </a:p>
        </p:txBody>
      </p:sp>
      <p:sp>
        <p:nvSpPr>
          <p:cNvPr id="6007" name="cell"/>
          <p:cNvSpPr/>
          <p:nvPr/>
        </p:nvSpPr>
        <p:spPr>
          <a:xfrm>
            <a:off x="2743200" y="2413000"/>
            <a:ext cx="838200" cy="838200"/>
          </a:xfrm>
          <a:prstGeom prst="rect">
            <a:avLst/>
          </a:prstGeom>
          <a:solidFill>
            <a:srgbClr val="F2FBF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0.25</a:t>
            </a:r>
          </a:p>
        </p:txBody>
      </p:sp>
      <p:sp>
        <p:nvSpPr>
          <p:cNvPr id="6008" name="cell"/>
          <p:cNvSpPr/>
          <p:nvPr/>
        </p:nvSpPr>
        <p:spPr>
          <a:xfrm>
            <a:off x="3581400" y="2413000"/>
            <a:ext cx="838200" cy="838200"/>
          </a:xfrm>
          <a:prstGeom prst="rect">
            <a:avLst/>
          </a:prstGeom>
          <a:solidFill>
            <a:srgbClr val="FDF7F9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−0.25</a:t>
            </a:r>
          </a:p>
        </p:txBody>
      </p:sp>
      <p:sp>
        <p:nvSpPr>
          <p:cNvPr id="6009" name="tb"/>
          <p:cNvSpPr txBox="1"/>
          <p:nvPr/>
        </p:nvSpPr>
        <p:spPr>
          <a:xfrm>
            <a:off x="1600200" y="35687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10" name="cell"/>
          <p:cNvSpPr/>
          <p:nvPr/>
        </p:nvSpPr>
        <p:spPr>
          <a:xfrm>
            <a:off x="1905000" y="3251200"/>
            <a:ext cx="838200" cy="838200"/>
          </a:xfrm>
          <a:prstGeom prst="rect">
            <a:avLst/>
          </a:prstGeom>
          <a:solidFill>
            <a:srgbClr val="F2FBF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0.25</a:t>
            </a:r>
          </a:p>
        </p:txBody>
      </p:sp>
      <p:sp>
        <p:nvSpPr>
          <p:cNvPr id="6011" name="cell"/>
          <p:cNvSpPr/>
          <p:nvPr/>
        </p:nvSpPr>
        <p:spPr>
          <a:xfrm>
            <a:off x="2743200" y="32512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5.00</a:t>
            </a:r>
          </a:p>
        </p:txBody>
      </p:sp>
      <p:sp>
        <p:nvSpPr>
          <p:cNvPr id="6012" name="cell"/>
          <p:cNvSpPr/>
          <p:nvPr/>
        </p:nvSpPr>
        <p:spPr>
          <a:xfrm>
            <a:off x="3581400" y="32512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−5.00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1600200" y="44069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14" name="cell"/>
          <p:cNvSpPr/>
          <p:nvPr/>
        </p:nvSpPr>
        <p:spPr>
          <a:xfrm>
            <a:off x="1905000" y="4089400"/>
            <a:ext cx="838200" cy="838200"/>
          </a:xfrm>
          <a:prstGeom prst="rect">
            <a:avLst/>
          </a:prstGeom>
          <a:solidFill>
            <a:srgbClr val="FDF7F9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−0.25</a:t>
            </a:r>
          </a:p>
        </p:txBody>
      </p:sp>
      <p:sp>
        <p:nvSpPr>
          <p:cNvPr id="6015" name="cell"/>
          <p:cNvSpPr/>
          <p:nvPr/>
        </p:nvSpPr>
        <p:spPr>
          <a:xfrm>
            <a:off x="2743200" y="40894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−5.00</a:t>
            </a:r>
          </a:p>
        </p:txBody>
      </p:sp>
      <p:sp>
        <p:nvSpPr>
          <p:cNvPr id="6016" name="cell"/>
          <p:cNvSpPr/>
          <p:nvPr/>
        </p:nvSpPr>
        <p:spPr>
          <a:xfrm>
            <a:off x="3581400" y="40894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5.00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58800" y="5207000"/>
            <a:ext cx="51816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Cell brightness ∝ |value|; diagonal = variances.</a:t>
            </a:r>
          </a:p>
        </p:txBody>
      </p:sp>
      <p:sp>
        <p:nvSpPr>
          <p:cNvPr id="6018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tb"/>
          <p:cNvSpPr txBox="1"/>
          <p:nvPr/>
        </p:nvSpPr>
        <p:spPr>
          <a:xfrm>
            <a:off x="6400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Correlation  </a:t>
            </a:r>
            <a:r>
              <a:rPr lang="en-US" sz="1550" b="1" i="1" dirty="0">
                <a:solidFill>
                  <a:srgbClr val="4B2E83"/>
                </a:solidFill>
              </a:rPr>
              <a:t>R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77470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85852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94234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7442200" y="27305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24" name="cell"/>
          <p:cNvSpPr/>
          <p:nvPr/>
        </p:nvSpPr>
        <p:spPr>
          <a:xfrm>
            <a:off x="7747000" y="24130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25" name="cell"/>
          <p:cNvSpPr/>
          <p:nvPr/>
        </p:nvSpPr>
        <p:spPr>
          <a:xfrm>
            <a:off x="8585200" y="2413000"/>
            <a:ext cx="838200" cy="838200"/>
          </a:xfrm>
          <a:prstGeom prst="rect">
            <a:avLst/>
          </a:prstGeom>
          <a:solidFill>
            <a:srgbClr val="EDF9F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0.07</a:t>
            </a:r>
          </a:p>
        </p:txBody>
      </p:sp>
      <p:sp>
        <p:nvSpPr>
          <p:cNvPr id="6026" name="cell"/>
          <p:cNvSpPr/>
          <p:nvPr/>
        </p:nvSpPr>
        <p:spPr>
          <a:xfrm>
            <a:off x="9423400" y="2413000"/>
            <a:ext cx="838200" cy="838200"/>
          </a:xfrm>
          <a:prstGeom prst="rect">
            <a:avLst/>
          </a:prstGeom>
          <a:solidFill>
            <a:srgbClr val="FCF3F7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−0.07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7442200" y="35687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28" name="cell"/>
          <p:cNvSpPr/>
          <p:nvPr/>
        </p:nvSpPr>
        <p:spPr>
          <a:xfrm>
            <a:off x="7747000" y="3251200"/>
            <a:ext cx="838200" cy="838200"/>
          </a:xfrm>
          <a:prstGeom prst="rect">
            <a:avLst/>
          </a:prstGeom>
          <a:solidFill>
            <a:srgbClr val="EDF9F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0.07</a:t>
            </a:r>
          </a:p>
        </p:txBody>
      </p:sp>
      <p:sp>
        <p:nvSpPr>
          <p:cNvPr id="6029" name="cell"/>
          <p:cNvSpPr/>
          <p:nvPr/>
        </p:nvSpPr>
        <p:spPr>
          <a:xfrm>
            <a:off x="8585200" y="32512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30" name="cell"/>
          <p:cNvSpPr/>
          <p:nvPr/>
        </p:nvSpPr>
        <p:spPr>
          <a:xfrm>
            <a:off x="9423400" y="32512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−1.00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442200" y="44069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32" name="cell"/>
          <p:cNvSpPr/>
          <p:nvPr/>
        </p:nvSpPr>
        <p:spPr>
          <a:xfrm>
            <a:off x="7747000" y="4089400"/>
            <a:ext cx="838200" cy="838200"/>
          </a:xfrm>
          <a:prstGeom prst="rect">
            <a:avLst/>
          </a:prstGeom>
          <a:solidFill>
            <a:srgbClr val="FCF3F7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−0.07</a:t>
            </a:r>
          </a:p>
        </p:txBody>
      </p:sp>
      <p:sp>
        <p:nvSpPr>
          <p:cNvPr id="6033" name="cell"/>
          <p:cNvSpPr/>
          <p:nvPr/>
        </p:nvSpPr>
        <p:spPr>
          <a:xfrm>
            <a:off x="8585200" y="40894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−1.00</a:t>
            </a:r>
          </a:p>
        </p:txBody>
      </p:sp>
      <p:sp>
        <p:nvSpPr>
          <p:cNvPr id="6034" name="cell"/>
          <p:cNvSpPr/>
          <p:nvPr/>
        </p:nvSpPr>
        <p:spPr>
          <a:xfrm>
            <a:off x="9423400" y="40894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35" name="cell"/>
          <p:cNvSpPr/>
          <p:nvPr/>
        </p:nvSpPr>
        <p:spPr>
          <a:xfrm>
            <a:off x="7112000" y="5080000"/>
            <a:ext cx="482600" cy="2286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6" name="cell"/>
          <p:cNvSpPr/>
          <p:nvPr/>
        </p:nvSpPr>
        <p:spPr>
          <a:xfrm>
            <a:off x="7594600" y="5080000"/>
            <a:ext cx="482600" cy="228600"/>
          </a:xfrm>
          <a:prstGeom prst="rect">
            <a:avLst/>
          </a:prstGeom>
          <a:solidFill>
            <a:srgbClr val="E08FB1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7" name="cell"/>
          <p:cNvSpPr/>
          <p:nvPr/>
        </p:nvSpPr>
        <p:spPr>
          <a:xfrm>
            <a:off x="8077200" y="5080000"/>
            <a:ext cx="482600" cy="228600"/>
          </a:xfrm>
          <a:prstGeom prst="rect">
            <a:avLst/>
          </a:prstGeom>
          <a:solidFill>
            <a:srgbClr val="F2C9D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8" name="cell"/>
          <p:cNvSpPr/>
          <p:nvPr/>
        </p:nvSpPr>
        <p:spPr>
          <a:xfrm>
            <a:off x="8559800" y="5080000"/>
            <a:ext cx="482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9" name="cell"/>
          <p:cNvSpPr/>
          <p:nvPr/>
        </p:nvSpPr>
        <p:spPr>
          <a:xfrm>
            <a:off x="9042400" y="5080000"/>
            <a:ext cx="482600" cy="228600"/>
          </a:xfrm>
          <a:prstGeom prst="rect">
            <a:avLst/>
          </a:prstGeom>
          <a:solidFill>
            <a:srgbClr val="BFE9ED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0" name="cell"/>
          <p:cNvSpPr/>
          <p:nvPr/>
        </p:nvSpPr>
        <p:spPr>
          <a:xfrm>
            <a:off x="9525000" y="5080000"/>
            <a:ext cx="482600" cy="228600"/>
          </a:xfrm>
          <a:prstGeom prst="rect">
            <a:avLst/>
          </a:prstGeom>
          <a:solidFill>
            <a:srgbClr val="7FD3D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1" name="cell"/>
          <p:cNvSpPr/>
          <p:nvPr/>
        </p:nvSpPr>
        <p:spPr>
          <a:xfrm>
            <a:off x="10007600" y="5080000"/>
            <a:ext cx="482600" cy="2286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2" name="tb"/>
          <p:cNvSpPr txBox="1"/>
          <p:nvPr/>
        </p:nvSpPr>
        <p:spPr>
          <a:xfrm>
            <a:off x="7061200" y="5359400"/>
            <a:ext cx="584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−1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458200" y="53594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9931400" y="53594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+1</a:t>
            </a:r>
          </a:p>
        </p:txBody>
      </p:sp>
    </p:spTree>
    <p:extLst>
      <p:ext uri="{BB962C8B-B14F-4D97-AF65-F5344CB8AC3E}">
        <p14:creationId xmlns:p14="http://schemas.microsoft.com/office/powerpoint/2010/main" val="248176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as a Distance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Convert similarity into distance with  d = 1 − r   (so r = 1 → d = 0).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1 − R is a distance between features: strongly correlated features sit close, weakly correlated ones far apart.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986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58800" y="3810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Distance 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 = 1 −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</a:p>
        </p:txBody>
      </p:sp>
      <p:sp>
        <p:nvSpPr>
          <p:cNvPr id="6035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6" name="tb"/>
          <p:cNvSpPr txBox="1"/>
          <p:nvPr/>
        </p:nvSpPr>
        <p:spPr>
          <a:xfrm>
            <a:off x="6400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Features placed by distance</a:t>
            </a:r>
          </a:p>
        </p:txBody>
      </p:sp>
      <p:sp>
        <p:nvSpPr>
          <p:cNvPr id="6037" name="hl"/>
          <p:cNvSpPr/>
          <p:nvPr/>
        </p:nvSpPr>
        <p:spPr>
          <a:xfrm>
            <a:off x="7569200" y="2692400"/>
            <a:ext cx="1219200" cy="863600"/>
          </a:xfrm>
          <a:prstGeom prst="rect">
            <a:avLst/>
          </a:prstGeom>
          <a:solidFill>
            <a:srgbClr val="00A7B5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6038" name="seg"/>
          <p:cNvCxnSpPr/>
          <p:nvPr/>
        </p:nvCxnSpPr>
        <p:spPr>
          <a:xfrm flipV="1">
            <a:off x="7848600" y="2946400"/>
            <a:ext cx="431800" cy="228600"/>
          </a:xfrm>
          <a:prstGeom prst="line">
            <a:avLst/>
          </a:prstGeom>
          <a:ln w="19050" cap="rnd">
            <a:solidFill>
              <a:srgbClr val="4B2E83"/>
            </a:solidFill>
          </a:ln>
        </p:spPr>
      </p:cxnSp>
      <p:cxnSp>
        <p:nvCxnSpPr>
          <p:cNvPr id="6039" name="seg"/>
          <p:cNvCxnSpPr/>
          <p:nvPr/>
        </p:nvCxnSpPr>
        <p:spPr>
          <a:xfrm>
            <a:off x="7848600" y="3175000"/>
            <a:ext cx="2819400" cy="863600"/>
          </a:xfrm>
          <a:prstGeom prst="line">
            <a:avLst/>
          </a:prstGeom>
          <a:ln w="15875" cap="rnd">
            <a:solidFill>
              <a:srgbClr val="9A9A9A"/>
            </a:solidFill>
            <a:prstDash val="dash"/>
          </a:ln>
        </p:spPr>
      </p:cxnSp>
      <p:cxnSp>
        <p:nvCxnSpPr>
          <p:cNvPr id="6040" name="seg"/>
          <p:cNvCxnSpPr/>
          <p:nvPr/>
        </p:nvCxnSpPr>
        <p:spPr>
          <a:xfrm>
            <a:off x="8280400" y="2946400"/>
            <a:ext cx="2387600" cy="1092200"/>
          </a:xfrm>
          <a:prstGeom prst="line">
            <a:avLst/>
          </a:prstGeom>
          <a:ln w="15875" cap="rnd">
            <a:solidFill>
              <a:srgbClr val="9A9A9A"/>
            </a:solidFill>
            <a:prstDash val="dash"/>
          </a:ln>
        </p:spPr>
      </p:cxnSp>
      <p:sp>
        <p:nvSpPr>
          <p:cNvPr id="6041" name="node"/>
          <p:cNvSpPr/>
          <p:nvPr/>
        </p:nvSpPr>
        <p:spPr>
          <a:xfrm>
            <a:off x="7683500" y="3009900"/>
            <a:ext cx="330200" cy="3302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042" name="node"/>
          <p:cNvSpPr/>
          <p:nvPr/>
        </p:nvSpPr>
        <p:spPr>
          <a:xfrm>
            <a:off x="8115300" y="2781300"/>
            <a:ext cx="330200" cy="3302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043" name="node"/>
          <p:cNvSpPr/>
          <p:nvPr/>
        </p:nvSpPr>
        <p:spPr>
          <a:xfrm>
            <a:off x="10502900" y="3873500"/>
            <a:ext cx="330200" cy="330200"/>
          </a:xfrm>
          <a:prstGeom prst="ellipse">
            <a:avLst/>
          </a:prstGeom>
          <a:solidFill>
            <a:srgbClr val="B7A57A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7112000" y="24892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</a:rPr>
              <a:t>d = 0.10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8890000" y="31750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6E6E6E"/>
                </a:solidFill>
              </a:rPr>
              <a:t>d = 0.90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8890000" y="38100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6E6E6E"/>
                </a:solidFill>
              </a:rPr>
              <a:t>d = 0.80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7569200" y="3606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00A7B5"/>
                </a:solidFill>
              </a:rPr>
              <a:t>similar features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6400800" y="5181600"/>
            <a:ext cx="533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A and B are strongly correlated (r=0.9) → close;  C is nearly uncorrelated → far.</a:t>
            </a:r>
          </a:p>
        </p:txBody>
      </p:sp>
      <p:sp>
        <p:nvSpPr>
          <p:cNvPr id="7100" name="tb"/>
          <p:cNvSpPr txBox="1"/>
          <p:nvPr/>
        </p:nvSpPr>
        <p:spPr>
          <a:xfrm>
            <a:off x="4191000" y="2616200"/>
            <a:ext cx="18034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dᵢⱼ = 1 − rᵢⱼ</a:t>
            </a:r>
          </a:p>
        </p:txBody>
      </p:sp>
      <p:sp>
        <p:nvSpPr>
          <p:cNvPr id="7101" name="tb"/>
          <p:cNvSpPr txBox="1"/>
          <p:nvPr/>
        </p:nvSpPr>
        <p:spPr>
          <a:xfrm>
            <a:off x="4191000" y="30988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1  →  d = 0</a:t>
            </a:r>
          </a:p>
        </p:txBody>
      </p:sp>
      <p:sp>
        <p:nvSpPr>
          <p:cNvPr id="7102" name="tb"/>
          <p:cNvSpPr txBox="1"/>
          <p:nvPr/>
        </p:nvSpPr>
        <p:spPr>
          <a:xfrm>
            <a:off x="4191000" y="34036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0  →  d = 1</a:t>
            </a:r>
          </a:p>
        </p:txBody>
      </p:sp>
      <p:sp>
        <p:nvSpPr>
          <p:cNvPr id="7103" name="tb"/>
          <p:cNvSpPr txBox="1"/>
          <p:nvPr/>
        </p:nvSpPr>
        <p:spPr>
          <a:xfrm>
            <a:off x="4191000" y="37084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−1 →  d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765300"/>
                <a:ext cx="2463800" cy="1803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0.90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0.90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0.10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0.20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765300"/>
                <a:ext cx="2463800" cy="1803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1663700" y="4076700"/>
                <a:ext cx="2463800" cy="1803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0.10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0.90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0.10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0.90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0.80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4076700"/>
                <a:ext cx="2463800" cy="180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868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    →  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−4.00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6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    →  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0.75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0.75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2.24, 2.83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20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    →  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3.16, 2.24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14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</a:t>
            </a:r>
            <a:r>
              <a:rPr lang="en-US" sz="1400" b="1" i="1" dirty="0">
                <a:solidFill>
                  <a:srgbClr val="4B2E83"/>
                </a:solidFill>
              </a:rPr>
              <a:t>S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    →  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3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5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56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66642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</a:t>
            </a:r>
            <a:r>
              <a:rPr lang="en-US" sz="1400" b="1" i="1" dirty="0">
                <a:solidFill>
                  <a:srgbClr val="4B2E83"/>
                </a:solidFill>
              </a:rPr>
              <a:t>S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    →  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3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−10.00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−10.00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5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−4.00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00" y="2095500"/>
                <a:ext cx="16002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56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49490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3 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ᵀ</a:t>
            </a:r>
            <a:r>
              <a:rPr lang="en-US" sz="1400" b="1" i="1" dirty="0">
                <a:solidFill>
                  <a:srgbClr val="595959"/>
                </a:solidFill>
              </a:rPr>
              <a:t>Xc</a:t>
            </a:r>
            <a:r>
              <a:rPr lang="en-US" sz="1400" i="1" dirty="0">
                <a:solidFill>
                  <a:srgbClr val="595959"/>
                </a:solidFill>
              </a:rPr>
              <a:t>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p=3)</a:t>
            </a:r>
            <a:r>
              <a:rPr lang="en-US" sz="1450" dirty="0">
                <a:solidFill>
                  <a:srgbClr val="4B2E83"/>
                </a:solidFill>
              </a:rPr>
              <a:t>  (cols: x₁, x₂, x₃)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</a:t>
            </a:r>
            <a:r>
              <a:rPr lang="en-US" sz="1400" b="1" i="1" dirty="0">
                <a:solidFill>
                  <a:srgbClr val="4B2E83"/>
                </a:solidFill>
              </a:rPr>
              <a:t>S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9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− 1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ᵀ    →   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584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398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54" name="hl"/>
          <p:cNvSpPr/>
          <p:nvPr/>
        </p:nvSpPr>
        <p:spPr>
          <a:xfrm>
            <a:off x="8763000" y="24892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9474200" y="28956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10185400" y="33020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648700" y="2451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648700" y="2451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648700" y="3708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10972800" y="2451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10896600" y="2451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10896600" y="3708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7630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4742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101854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87630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94742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101854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−6.00</a:t>
            </a:r>
          </a:p>
        </p:txBody>
      </p:sp>
      <p:sp>
        <p:nvSpPr>
          <p:cNvPr id="6069" name="tb"/>
          <p:cNvSpPr txBox="1"/>
          <p:nvPr/>
        </p:nvSpPr>
        <p:spPr>
          <a:xfrm>
            <a:off x="87630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70" name="tb"/>
          <p:cNvSpPr txBox="1"/>
          <p:nvPr/>
        </p:nvSpPr>
        <p:spPr>
          <a:xfrm>
            <a:off x="94742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−6.00</a:t>
            </a:r>
          </a:p>
        </p:txBody>
      </p:sp>
      <p:sp>
        <p:nvSpPr>
          <p:cNvPr id="6071" name="tb"/>
          <p:cNvSpPr txBox="1"/>
          <p:nvPr/>
        </p:nvSpPr>
        <p:spPr>
          <a:xfrm>
            <a:off x="101854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7.50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282700" y="1917700"/>
                <a:ext cx="21590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700" y="1917700"/>
                <a:ext cx="21590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346700" y="2095500"/>
                <a:ext cx="20066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700" y="2095500"/>
                <a:ext cx="2006600" cy="199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2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29051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    →  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5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8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</a:t>
            </a:r>
            <a:r>
              <a:rPr lang="en-US" sz="1250" b="1" i="1" dirty="0">
                <a:solidFill>
                  <a:srgbClr val="6E6E6E"/>
                </a:solidFill>
              </a:rPr>
              <a:t>R</a:t>
            </a:r>
            <a:r>
              <a:rPr lang="en-US" sz="1250" dirty="0">
                <a:solidFill>
                  <a:srgbClr val="6E6E6E"/>
                </a:solidFill>
              </a:rPr>
              <a:t>ᵢⱼ = </a:t>
            </a:r>
            <a:r>
              <a:rPr lang="en-US" sz="1250" b="1" i="1" dirty="0">
                <a:solidFill>
                  <a:srgbClr val="6E6E6E"/>
                </a:solidFill>
              </a:rPr>
              <a:t>S</a:t>
            </a:r>
            <a:r>
              <a:rPr lang="en-US" sz="1250" dirty="0">
                <a:solidFill>
                  <a:srgbClr val="6E6E6E"/>
                </a:solidFill>
              </a:rPr>
              <a:t>ᵢⱼ /(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ᵢ 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ⱼ)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89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3.16,  3.16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    →  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5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8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    ·    </a:t>
            </a:r>
            <a:r>
              <a:rPr lang="en-US" sz="1250" b="1" i="1" dirty="0">
                <a:solidFill>
                  <a:srgbClr val="6E6E6E"/>
                </a:solidFill>
              </a:rPr>
              <a:t>R</a:t>
            </a:r>
            <a:r>
              <a:rPr lang="en-US" sz="1250" dirty="0">
                <a:solidFill>
                  <a:srgbClr val="6E6E6E"/>
                </a:solidFill>
              </a:rPr>
              <a:t>ᵢⱼ = </a:t>
            </a:r>
            <a:r>
              <a:rPr lang="en-US" sz="1250" b="1" i="1" dirty="0">
                <a:solidFill>
                  <a:srgbClr val="6E6E6E"/>
                </a:solidFill>
              </a:rPr>
              <a:t>S</a:t>
            </a:r>
            <a:r>
              <a:rPr lang="en-US" sz="1250" dirty="0">
                <a:solidFill>
                  <a:srgbClr val="6E6E6E"/>
                </a:solidFill>
              </a:rPr>
              <a:t>ᵢⱼ /(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ᵢ 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ⱼ)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00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3 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p=3)</a:t>
            </a:r>
            <a:r>
              <a:rPr lang="en-US" sz="1400" dirty="0">
                <a:solidFill>
                  <a:srgbClr val="4B2E83"/>
                </a:solidFill>
              </a:rPr>
              <a:t>  (cols: x₁, x₂, x₃)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1" dirty="0">
                <a:solidFill>
                  <a:srgbClr val="333333"/>
                </a:solidFill>
              </a:rPr>
              <a:t>μ</a:t>
            </a:r>
            <a:r>
              <a:rPr lang="en-US" sz="1300" b="1" dirty="0">
                <a:solidFill>
                  <a:srgbClr val="333333"/>
                </a:solidFill>
              </a:rPr>
              <a:t> = ( </a:t>
            </a:r>
            <a:r>
              <a:rPr lang="en-US" sz="1300" b="1" dirty="0">
                <a:solidFill>
                  <a:srgbClr val="4B2E83"/>
                </a:solidFill>
              </a:rPr>
              <a:t>5.00, 5.00, 5.00</a:t>
            </a:r>
            <a:r>
              <a:rPr lang="en-US" sz="13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558800" y="41783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1" dirty="0">
                <a:solidFill>
                  <a:srgbClr val="333333"/>
                </a:solidFill>
              </a:rPr>
              <a:t>σ</a:t>
            </a:r>
            <a:r>
              <a:rPr lang="en-US" sz="1300" b="1" dirty="0">
                <a:solidFill>
                  <a:srgbClr val="333333"/>
                </a:solidFill>
              </a:rPr>
              <a:t> = ( </a:t>
            </a:r>
            <a:r>
              <a:rPr lang="en-US" sz="1300" b="1" dirty="0">
                <a:solidFill>
                  <a:srgbClr val="4B2E83"/>
                </a:solidFill>
              </a:rPr>
              <a:t>2.55, 2.24, 2.00</a:t>
            </a:r>
            <a:r>
              <a:rPr lang="en-US" sz="13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8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9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i="1" dirty="0">
                <a:solidFill>
                  <a:srgbClr val="4B2E83"/>
                </a:solidFill>
              </a:rPr>
              <a:t>S</a:t>
            </a:r>
            <a:r>
              <a:rPr lang="en-US" sz="1400" b="1" dirty="0">
                <a:solidFill>
                  <a:srgbClr val="4B2E83"/>
                </a:solidFill>
              </a:rPr>
              <a:t> = </a:t>
            </a:r>
            <a:r>
              <a:rPr lang="en-US" sz="1400" b="1" i="1" dirty="0">
                <a:solidFill>
                  <a:srgbClr val="4B2E83"/>
                </a:solidFill>
              </a:rPr>
              <a:t>Xc</a:t>
            </a:r>
            <a:r>
              <a:rPr lang="en-US" sz="1400" b="1" dirty="0">
                <a:solidFill>
                  <a:srgbClr val="4B2E83"/>
                </a:solidFill>
              </a:rPr>
              <a:t>ᵀ</a:t>
            </a:r>
            <a:r>
              <a:rPr lang="en-US" sz="1400" b="1" i="1" dirty="0">
                <a:solidFill>
                  <a:srgbClr val="4B2E83"/>
                </a:solidFill>
              </a:rPr>
              <a:t>Xc</a:t>
            </a:r>
            <a:r>
              <a:rPr lang="en-US" sz="1400" b="1" dirty="0">
                <a:solidFill>
                  <a:srgbClr val="4B2E83"/>
                </a:solidFill>
              </a:rPr>
              <a:t> /(n−1)   →   </a:t>
            </a:r>
            <a:r>
              <a:rPr lang="en-US" sz="1400" b="1" i="1" dirty="0">
                <a:solidFill>
                  <a:srgbClr val="4B2E83"/>
                </a:solidFill>
              </a:rPr>
              <a:t>R</a:t>
            </a:r>
            <a:r>
              <a:rPr lang="en-US" sz="1400" b="1" dirty="0">
                <a:solidFill>
                  <a:srgbClr val="4B2E83"/>
                </a:solidFill>
              </a:rPr>
              <a:t> = </a:t>
            </a:r>
            <a:r>
              <a:rPr lang="en-US" sz="1400" b="1" i="1" dirty="0">
                <a:solidFill>
                  <a:srgbClr val="4B2E83"/>
                </a:solidFill>
              </a:rPr>
              <a:t>D</a:t>
            </a:r>
            <a:r>
              <a:rPr lang="en-US" sz="1400" b="1" dirty="0">
                <a:solidFill>
                  <a:srgbClr val="4B2E83"/>
                </a:solidFill>
              </a:rPr>
              <a:t>⁻¹ </a:t>
            </a:r>
            <a:r>
              <a:rPr lang="en-US" sz="1400" b="1" i="1" dirty="0">
                <a:solidFill>
                  <a:srgbClr val="4B2E83"/>
                </a:solidFill>
              </a:rPr>
              <a:t>S</a:t>
            </a:r>
            <a:r>
              <a:rPr lang="en-US" sz="1400" b="1" dirty="0">
                <a:solidFill>
                  <a:srgbClr val="4B2E83"/>
                </a:solidFill>
              </a:rPr>
              <a:t> </a:t>
            </a:r>
            <a:r>
              <a:rPr lang="en-US" sz="1400" b="1" i="1" dirty="0">
                <a:solidFill>
                  <a:srgbClr val="4B2E83"/>
                </a:solidFill>
              </a:rPr>
              <a:t>D</a:t>
            </a:r>
            <a:r>
              <a:rPr lang="en-US" sz="140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5791200" y="2032000"/>
            <a:ext cx="1981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31" name="hl"/>
          <p:cNvSpPr/>
          <p:nvPr/>
        </p:nvSpPr>
        <p:spPr>
          <a:xfrm>
            <a:off x="5791200" y="23622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6451600" y="27686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112000" y="31750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56769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56769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56769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78486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77724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77724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57912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6.50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4516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−1.25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1120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−1.75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57912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−1.25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516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71120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−3.50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57912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−1.75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516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−3.50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71120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9093200" y="2032000"/>
            <a:ext cx="1981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50" name="hl"/>
          <p:cNvSpPr/>
          <p:nvPr/>
        </p:nvSpPr>
        <p:spPr>
          <a:xfrm>
            <a:off x="9093200" y="23622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hl"/>
          <p:cNvSpPr/>
          <p:nvPr/>
        </p:nvSpPr>
        <p:spPr>
          <a:xfrm>
            <a:off x="9753600" y="27686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2" name="hl"/>
          <p:cNvSpPr/>
          <p:nvPr/>
        </p:nvSpPr>
        <p:spPr>
          <a:xfrm>
            <a:off x="10414000" y="31750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3" name="hl"/>
          <p:cNvSpPr/>
          <p:nvPr/>
        </p:nvSpPr>
        <p:spPr>
          <a:xfrm>
            <a:off x="89789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4" name="hl"/>
          <p:cNvSpPr/>
          <p:nvPr/>
        </p:nvSpPr>
        <p:spPr>
          <a:xfrm>
            <a:off x="89789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89789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111506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110744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110744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tb"/>
          <p:cNvSpPr txBox="1"/>
          <p:nvPr/>
        </p:nvSpPr>
        <p:spPr>
          <a:xfrm>
            <a:off x="90932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0" name="tb"/>
          <p:cNvSpPr txBox="1"/>
          <p:nvPr/>
        </p:nvSpPr>
        <p:spPr>
          <a:xfrm>
            <a:off x="97536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−0.22</a:t>
            </a:r>
          </a:p>
        </p:txBody>
      </p:sp>
      <p:sp>
        <p:nvSpPr>
          <p:cNvPr id="6061" name="tb"/>
          <p:cNvSpPr txBox="1"/>
          <p:nvPr/>
        </p:nvSpPr>
        <p:spPr>
          <a:xfrm>
            <a:off x="104140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−0.34</a:t>
            </a:r>
          </a:p>
        </p:txBody>
      </p:sp>
      <p:sp>
        <p:nvSpPr>
          <p:cNvPr id="6062" name="tb"/>
          <p:cNvSpPr txBox="1"/>
          <p:nvPr/>
        </p:nvSpPr>
        <p:spPr>
          <a:xfrm>
            <a:off x="90932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−0.22</a:t>
            </a:r>
          </a:p>
        </p:txBody>
      </p:sp>
      <p:sp>
        <p:nvSpPr>
          <p:cNvPr id="6063" name="tb"/>
          <p:cNvSpPr txBox="1"/>
          <p:nvPr/>
        </p:nvSpPr>
        <p:spPr>
          <a:xfrm>
            <a:off x="97536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104140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−0.78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90932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−0.34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7536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−0.78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104140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5588000" y="46482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R</a:t>
            </a:r>
            <a:r>
              <a:rPr lang="en-US" sz="1250" i="1" dirty="0">
                <a:solidFill>
                  <a:srgbClr val="6E6E6E"/>
                </a:solidFill>
              </a:rPr>
              <a:t>ᵢⱼ = </a:t>
            </a:r>
            <a:r>
              <a:rPr lang="en-US" sz="1250" b="1" i="1" dirty="0">
                <a:solidFill>
                  <a:srgbClr val="6E6E6E"/>
                </a:solidFill>
              </a:rPr>
              <a:t>S</a:t>
            </a:r>
            <a:r>
              <a:rPr lang="en-US" sz="1250" i="1" dirty="0">
                <a:solidFill>
                  <a:srgbClr val="6E6E6E"/>
                </a:solidFill>
              </a:rPr>
              <a:t>ᵢⱼ /(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i="1" dirty="0">
                <a:solidFill>
                  <a:srgbClr val="6E6E6E"/>
                </a:solidFill>
              </a:rPr>
              <a:t>ᵢ 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i="1" dirty="0">
                <a:solidFill>
                  <a:srgbClr val="6E6E6E"/>
                </a:solidFill>
              </a:rPr>
              <a:t>ⱼ);  diagonal =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282700" y="1917700"/>
                <a:ext cx="21590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700" y="1917700"/>
                <a:ext cx="21590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30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</a:t>
            </a:r>
            <a:r>
              <a:rPr lang="en-US" sz="1400" b="1" i="1" dirty="0">
                <a:solidFill>
                  <a:srgbClr val="4B2E83"/>
                </a:solidFill>
              </a:rPr>
              <a:t>R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    →  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6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9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</a:t>
            </a:r>
            <a:r>
              <a:rPr lang="en-US" sz="1250" b="1" i="1" dirty="0">
                <a:solidFill>
                  <a:srgbClr val="6E6E6E"/>
                </a:solidFill>
              </a:rPr>
              <a:t>R</a:t>
            </a:r>
            <a:r>
              <a:rPr lang="en-US" sz="1250" dirty="0">
                <a:solidFill>
                  <a:srgbClr val="6E6E6E"/>
                </a:solidFill>
              </a:rPr>
              <a:t>ᵢⱼ = </a:t>
            </a:r>
            <a:r>
              <a:rPr lang="en-US" sz="1250" b="1" i="1" dirty="0">
                <a:solidFill>
                  <a:srgbClr val="6E6E6E"/>
                </a:solidFill>
              </a:rPr>
              <a:t>S</a:t>
            </a:r>
            <a:r>
              <a:rPr lang="en-US" sz="1250" dirty="0">
                <a:solidFill>
                  <a:srgbClr val="6E6E6E"/>
                </a:solidFill>
              </a:rPr>
              <a:t>ᵢⱼ /(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ᵢ 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ⱼ)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52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45730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3.16,  2.24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</a:t>
            </a:r>
            <a:r>
              <a:rPr lang="en-US" sz="1400" b="1" i="1" dirty="0">
                <a:solidFill>
                  <a:srgbClr val="4B2E83"/>
                </a:solidFill>
              </a:rPr>
              <a:t>R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    →  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7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40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0.57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0.57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3.16, 2.24</a:t>
            </a:r>
            <a:r>
              <a:rPr lang="en-US" sz="1250" dirty="0">
                <a:solidFill>
                  <a:srgbClr val="6E6E6E"/>
                </a:solidFill>
              </a:rPr>
              <a:t> )    ·    </a:t>
            </a:r>
            <a:r>
              <a:rPr lang="en-US" sz="1250" b="1" i="1" dirty="0">
                <a:solidFill>
                  <a:srgbClr val="6E6E6E"/>
                </a:solidFill>
              </a:rPr>
              <a:t>R</a:t>
            </a:r>
            <a:r>
              <a:rPr lang="en-US" sz="1250" dirty="0">
                <a:solidFill>
                  <a:srgbClr val="6E6E6E"/>
                </a:solidFill>
              </a:rPr>
              <a:t>ᵢⱼ = </a:t>
            </a:r>
            <a:r>
              <a:rPr lang="en-US" sz="1250" b="1" i="1" dirty="0">
                <a:solidFill>
                  <a:srgbClr val="6E6E6E"/>
                </a:solidFill>
              </a:rPr>
              <a:t>S</a:t>
            </a:r>
            <a:r>
              <a:rPr lang="en-US" sz="1250" dirty="0">
                <a:solidFill>
                  <a:srgbClr val="6E6E6E"/>
                </a:solidFill>
              </a:rPr>
              <a:t>ᵢⱼ /(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ᵢ 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ⱼ)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53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1551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</a:t>
            </a:r>
            <a:r>
              <a:rPr lang="en-US" sz="1400" b="1" i="1" dirty="0">
                <a:solidFill>
                  <a:srgbClr val="595959"/>
                </a:solidFill>
              </a:rPr>
              <a:t>R</a:t>
            </a:r>
            <a:r>
              <a:rPr lang="en-US" sz="1400" i="1" dirty="0">
                <a:solidFill>
                  <a:srgbClr val="595959"/>
                </a:solidFill>
              </a:rPr>
              <a:t> =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</a:t>
            </a:r>
            <a:r>
              <a:rPr lang="en-US" sz="1400" b="1" i="1" dirty="0">
                <a:solidFill>
                  <a:srgbClr val="595959"/>
                </a:solidFill>
              </a:rPr>
              <a:t>S</a:t>
            </a:r>
            <a:r>
              <a:rPr lang="en-US" sz="1400" i="1" dirty="0">
                <a:solidFill>
                  <a:srgbClr val="595959"/>
                </a:solidFill>
              </a:rPr>
              <a:t>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</a:t>
            </a:r>
            <a:r>
              <a:rPr lang="en-US" sz="1400" b="1" i="1" dirty="0">
                <a:solidFill>
                  <a:srgbClr val="4B2E83"/>
                </a:solidFill>
              </a:rPr>
              <a:t>R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ᵀ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/(n−1)    →    </a:t>
            </a:r>
            <a:r>
              <a:rPr lang="en-US" sz="1450" b="1" i="1" dirty="0">
                <a:solidFill>
                  <a:srgbClr val="4B2E83"/>
                </a:solidFill>
              </a:rPr>
              <a:t>R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</a:t>
            </a:r>
            <a:r>
              <a:rPr lang="en-US" sz="1450" b="1" i="1" dirty="0">
                <a:solidFill>
                  <a:srgbClr val="4B2E83"/>
                </a:solidFill>
              </a:rPr>
              <a:t>S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7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40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−0.80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−0.80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</a:t>
            </a:r>
            <a:r>
              <a:rPr lang="en-US" sz="1250" b="1" i="1" dirty="0">
                <a:solidFill>
                  <a:srgbClr val="6E6E6E"/>
                </a:solidFill>
              </a:rPr>
              <a:t>R</a:t>
            </a:r>
            <a:r>
              <a:rPr lang="en-US" sz="1250" dirty="0">
                <a:solidFill>
                  <a:srgbClr val="6E6E6E"/>
                </a:solidFill>
              </a:rPr>
              <a:t>ᵢⱼ = </a:t>
            </a:r>
            <a:r>
              <a:rPr lang="en-US" sz="1250" b="1" i="1" dirty="0">
                <a:solidFill>
                  <a:srgbClr val="6E6E6E"/>
                </a:solidFill>
              </a:rPr>
              <a:t>S</a:t>
            </a:r>
            <a:r>
              <a:rPr lang="en-US" sz="1250" dirty="0">
                <a:solidFill>
                  <a:srgbClr val="6E6E6E"/>
                </a:solidFill>
              </a:rPr>
              <a:t>ᵢⱼ /(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ᵢ </a:t>
            </a:r>
            <a:r>
              <a:rPr lang="en-US" sz="1250" b="1" i="1" dirty="0">
                <a:solidFill>
                  <a:srgbClr val="6E6E6E"/>
                </a:solidFill>
              </a:rPr>
              <a:t>σ</a:t>
            </a:r>
            <a:r>
              <a:rPr lang="en-US" sz="1250" dirty="0">
                <a:solidFill>
                  <a:srgbClr val="6E6E6E"/>
                </a:solidFill>
              </a:rPr>
              <a:t>ⱼ)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700" y="1917700"/>
                <a:ext cx="16002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53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84589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595959"/>
                </a:solidFill>
              </a:rPr>
              <a:t>Z</a:t>
            </a:r>
            <a:r>
              <a:rPr lang="en-US" sz="1400" i="1" dirty="0">
                <a:solidFill>
                  <a:srgbClr val="595959"/>
                </a:solidFill>
              </a:rPr>
              <a:t> = (</a:t>
            </a:r>
            <a:r>
              <a:rPr lang="en-US" sz="1400" b="1" i="1" dirty="0">
                <a:solidFill>
                  <a:srgbClr val="595959"/>
                </a:solidFill>
              </a:rPr>
              <a:t>X</a:t>
            </a:r>
            <a:r>
              <a:rPr lang="en-US" sz="1400" i="1" dirty="0">
                <a:solidFill>
                  <a:srgbClr val="595959"/>
                </a:solidFill>
              </a:rPr>
              <a:t> − 1</a:t>
            </a:r>
            <a:r>
              <a:rPr lang="en-US" sz="1400" b="1" i="1" dirty="0">
                <a:solidFill>
                  <a:srgbClr val="595959"/>
                </a:solidFill>
              </a:rPr>
              <a:t>μ</a:t>
            </a:r>
            <a:r>
              <a:rPr lang="en-US" sz="1400" i="1" dirty="0">
                <a:solidFill>
                  <a:srgbClr val="595959"/>
                </a:solidFill>
              </a:rPr>
              <a:t>ᵀ)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Z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    (z = (x − 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)/</a:t>
            </a:r>
            <a:r>
              <a:rPr lang="en-US" sz="1450" b="1" i="1" dirty="0">
                <a:solidFill>
                  <a:srgbClr val="4B2E83"/>
                </a:solidFill>
              </a:rPr>
              <a:t>σ</a:t>
            </a:r>
            <a:r>
              <a:rPr lang="en-US" sz="1450" b="1" dirty="0">
                <a:solidFill>
                  <a:srgbClr val="4B2E83"/>
                </a:solidFill>
              </a:rPr>
              <a:t>)</a:t>
            </a:r>
            <a:r>
              <a:rPr lang="en-US" sz="1450" dirty="0">
                <a:solidFill>
                  <a:srgbClr val="4B2E83"/>
                </a:solidFill>
              </a:rPr>
              <a:t>  (cols: z₁, z₂)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</a:t>
            </a:r>
            <a:r>
              <a:rPr lang="en-US" sz="1300" b="1" i="1" dirty="0">
                <a:solidFill>
                  <a:srgbClr val="6E6E6E"/>
                </a:solidFill>
              </a:rPr>
              <a:t>Z</a:t>
            </a:r>
            <a:r>
              <a:rPr lang="en-US" sz="1300" i="1" dirty="0">
                <a:solidFill>
                  <a:srgbClr val="6E6E6E"/>
                </a:solidFill>
              </a:rPr>
              <a:t> now has mean 0 and standard deviation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482600" y="1917700"/>
                <a:ext cx="42164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17700"/>
                <a:ext cx="42164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7886700" y="2044700"/>
                <a:ext cx="1701800" cy="2184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−1.34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−0.45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0.45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1.34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700" y="2044700"/>
                <a:ext cx="1701800" cy="218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05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595959"/>
                </a:solidFill>
              </a:rPr>
              <a:t>Z</a:t>
            </a:r>
            <a:r>
              <a:rPr lang="en-US" sz="1400" i="1" dirty="0">
                <a:solidFill>
                  <a:srgbClr val="595959"/>
                </a:solidFill>
              </a:rPr>
              <a:t> = (</a:t>
            </a:r>
            <a:r>
              <a:rPr lang="en-US" sz="1400" b="1" i="1" dirty="0">
                <a:solidFill>
                  <a:srgbClr val="595959"/>
                </a:solidFill>
              </a:rPr>
              <a:t>X</a:t>
            </a:r>
            <a:r>
              <a:rPr lang="en-US" sz="1400" i="1" dirty="0">
                <a:solidFill>
                  <a:srgbClr val="595959"/>
                </a:solidFill>
              </a:rPr>
              <a:t> − 1</a:t>
            </a:r>
            <a:r>
              <a:rPr lang="en-US" sz="1400" b="1" i="1" dirty="0">
                <a:solidFill>
                  <a:srgbClr val="595959"/>
                </a:solidFill>
              </a:rPr>
              <a:t>μ</a:t>
            </a:r>
            <a:r>
              <a:rPr lang="en-US" sz="1400" i="1" dirty="0">
                <a:solidFill>
                  <a:srgbClr val="595959"/>
                </a:solidFill>
              </a:rPr>
              <a:t>ᵀ)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3.16,  2.24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Z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    (z = (x − 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)/</a:t>
            </a:r>
            <a:r>
              <a:rPr lang="en-US" sz="1450" b="1" i="1" dirty="0">
                <a:solidFill>
                  <a:srgbClr val="4B2E83"/>
                </a:solidFill>
              </a:rPr>
              <a:t>σ</a:t>
            </a:r>
            <a:r>
              <a:rPr lang="en-US" sz="1450" b="1" dirty="0">
                <a:solidFill>
                  <a:srgbClr val="4B2E83"/>
                </a:solidFill>
              </a:rPr>
              <a:t>)</a:t>
            </a:r>
            <a:r>
              <a:rPr lang="en-US" sz="1450" dirty="0">
                <a:solidFill>
                  <a:srgbClr val="4B2E83"/>
                </a:solidFill>
              </a:rPr>
              <a:t>  (cols: z₁, z₂)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</a:t>
            </a:r>
            <a:r>
              <a:rPr lang="en-US" sz="1300" b="1" i="1" dirty="0">
                <a:solidFill>
                  <a:srgbClr val="6E6E6E"/>
                </a:solidFill>
              </a:rPr>
              <a:t>Z</a:t>
            </a:r>
            <a:r>
              <a:rPr lang="en-US" sz="1300" i="1" dirty="0">
                <a:solidFill>
                  <a:srgbClr val="6E6E6E"/>
                </a:solidFill>
              </a:rPr>
              <a:t> now has mean 0 and standard deviation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482600" y="1917700"/>
                <a:ext cx="42164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17700"/>
                <a:ext cx="42164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7886700" y="2044700"/>
                <a:ext cx="1701800" cy="2184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−1.26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−0.63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0.63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1.26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700" y="2044700"/>
                <a:ext cx="1701800" cy="218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977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595959"/>
                </a:solidFill>
              </a:rPr>
              <a:t>Z</a:t>
            </a:r>
            <a:r>
              <a:rPr lang="en-US" sz="1400" i="1" dirty="0">
                <a:solidFill>
                  <a:srgbClr val="595959"/>
                </a:solidFill>
              </a:rPr>
              <a:t> = (</a:t>
            </a:r>
            <a:r>
              <a:rPr lang="en-US" sz="1400" b="1" i="1" dirty="0">
                <a:solidFill>
                  <a:srgbClr val="595959"/>
                </a:solidFill>
              </a:rPr>
              <a:t>X</a:t>
            </a:r>
            <a:r>
              <a:rPr lang="en-US" sz="1400" i="1" dirty="0">
                <a:solidFill>
                  <a:srgbClr val="595959"/>
                </a:solidFill>
              </a:rPr>
              <a:t> − 1</a:t>
            </a:r>
            <a:r>
              <a:rPr lang="en-US" sz="1400" b="1" i="1" dirty="0">
                <a:solidFill>
                  <a:srgbClr val="595959"/>
                </a:solidFill>
              </a:rPr>
              <a:t>μ</a:t>
            </a:r>
            <a:r>
              <a:rPr lang="en-US" sz="1400" i="1" dirty="0">
                <a:solidFill>
                  <a:srgbClr val="595959"/>
                </a:solidFill>
              </a:rPr>
              <a:t>ᵀ)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2.55,  3.16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Z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    (z = (x − 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)/</a:t>
            </a:r>
            <a:r>
              <a:rPr lang="en-US" sz="1450" b="1" i="1" dirty="0">
                <a:solidFill>
                  <a:srgbClr val="4B2E83"/>
                </a:solidFill>
              </a:rPr>
              <a:t>σ</a:t>
            </a:r>
            <a:r>
              <a:rPr lang="en-US" sz="1450" b="1" dirty="0">
                <a:solidFill>
                  <a:srgbClr val="4B2E83"/>
                </a:solidFill>
              </a:rPr>
              <a:t>)</a:t>
            </a:r>
            <a:r>
              <a:rPr lang="en-US" sz="1450" dirty="0">
                <a:solidFill>
                  <a:srgbClr val="4B2E83"/>
                </a:solidFill>
              </a:rPr>
              <a:t>  (cols: z₁, z₂)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</a:t>
            </a:r>
            <a:r>
              <a:rPr lang="en-US" sz="1300" b="1" i="1" dirty="0">
                <a:solidFill>
                  <a:srgbClr val="6E6E6E"/>
                </a:solidFill>
              </a:rPr>
              <a:t>Z</a:t>
            </a:r>
            <a:r>
              <a:rPr lang="en-US" sz="1300" i="1" dirty="0">
                <a:solidFill>
                  <a:srgbClr val="6E6E6E"/>
                </a:solidFill>
              </a:rPr>
              <a:t> now has mean 0 and standard deviation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482600" y="1968500"/>
                <a:ext cx="4216400" cy="18923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68500"/>
                <a:ext cx="4216400" cy="1892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257800" y="2095500"/>
                <a:ext cx="6451600" cy="20828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−0.78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0.78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−1.18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0.63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1.18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−0.63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095500"/>
                <a:ext cx="6451600" cy="2082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64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595959"/>
                </a:solidFill>
              </a:rPr>
              <a:t>Z</a:t>
            </a:r>
            <a:r>
              <a:rPr lang="en-US" sz="1400" i="1" dirty="0">
                <a:solidFill>
                  <a:srgbClr val="595959"/>
                </a:solidFill>
              </a:rPr>
              <a:t> = (</a:t>
            </a:r>
            <a:r>
              <a:rPr lang="en-US" sz="1400" b="1" i="1" dirty="0">
                <a:solidFill>
                  <a:srgbClr val="595959"/>
                </a:solidFill>
              </a:rPr>
              <a:t>X</a:t>
            </a:r>
            <a:r>
              <a:rPr lang="en-US" sz="1400" i="1" dirty="0">
                <a:solidFill>
                  <a:srgbClr val="595959"/>
                </a:solidFill>
              </a:rPr>
              <a:t> − 1</a:t>
            </a:r>
            <a:r>
              <a:rPr lang="en-US" sz="1400" b="1" i="1" dirty="0">
                <a:solidFill>
                  <a:srgbClr val="595959"/>
                </a:solidFill>
              </a:rPr>
              <a:t>μ</a:t>
            </a:r>
            <a:r>
              <a:rPr lang="en-US" sz="1400" i="1" dirty="0">
                <a:solidFill>
                  <a:srgbClr val="595959"/>
                </a:solidFill>
              </a:rPr>
              <a:t>ᵀ)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2.24,  3.16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</a:t>
            </a:r>
            <a:r>
              <a:rPr lang="en-US" sz="1400" b="1" i="1" dirty="0">
                <a:solidFill>
                  <a:srgbClr val="4B2E83"/>
                </a:solidFill>
              </a:rPr>
              <a:t>Z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Z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    (z = (x − 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)/</a:t>
            </a:r>
            <a:r>
              <a:rPr lang="en-US" sz="1450" b="1" i="1" dirty="0">
                <a:solidFill>
                  <a:srgbClr val="4B2E83"/>
                </a:solidFill>
              </a:rPr>
              <a:t>σ</a:t>
            </a:r>
            <a:r>
              <a:rPr lang="en-US" sz="1450" b="1" dirty="0">
                <a:solidFill>
                  <a:srgbClr val="4B2E83"/>
                </a:solidFill>
              </a:rPr>
              <a:t>)</a:t>
            </a:r>
            <a:r>
              <a:rPr lang="en-US" sz="1450" dirty="0">
                <a:solidFill>
                  <a:srgbClr val="4B2E83"/>
                </a:solidFill>
              </a:rPr>
              <a:t>  (cols: z₁, z₂)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</a:t>
            </a:r>
            <a:r>
              <a:rPr lang="en-US" sz="1300" b="1" i="1" dirty="0">
                <a:solidFill>
                  <a:srgbClr val="6E6E6E"/>
                </a:solidFill>
              </a:rPr>
              <a:t>Z</a:t>
            </a:r>
            <a:r>
              <a:rPr lang="en-US" sz="1300" i="1" dirty="0">
                <a:solidFill>
                  <a:srgbClr val="6E6E6E"/>
                </a:solidFill>
              </a:rPr>
              <a:t> now has mean 0 and standard deviation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482600" y="1917700"/>
                <a:ext cx="4216400" cy="19939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17700"/>
                <a:ext cx="4216400" cy="199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7886700" y="2044700"/>
                <a:ext cx="1701800" cy="2184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−1.34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−0.63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−0.45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0.45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1.34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0.63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−1.26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700" y="2044700"/>
                <a:ext cx="1701800" cy="218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44421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595959"/>
                </a:solidFill>
              </a:rPr>
              <a:t>Z</a:t>
            </a:r>
            <a:r>
              <a:rPr lang="en-US" sz="1400" i="1" dirty="0">
                <a:solidFill>
                  <a:srgbClr val="595959"/>
                </a:solidFill>
              </a:rPr>
              <a:t> = (</a:t>
            </a:r>
            <a:r>
              <a:rPr lang="en-US" sz="1400" b="1" i="1" dirty="0">
                <a:solidFill>
                  <a:srgbClr val="595959"/>
                </a:solidFill>
              </a:rPr>
              <a:t>X</a:t>
            </a:r>
            <a:r>
              <a:rPr lang="en-US" sz="1400" i="1" dirty="0">
                <a:solidFill>
                  <a:srgbClr val="595959"/>
                </a:solidFill>
              </a:rPr>
              <a:t> − 1</a:t>
            </a:r>
            <a:r>
              <a:rPr lang="en-US" sz="1400" b="1" i="1" dirty="0">
                <a:solidFill>
                  <a:srgbClr val="595959"/>
                </a:solidFill>
              </a:rPr>
              <a:t>μ</a:t>
            </a:r>
            <a:r>
              <a:rPr lang="en-US" sz="1400" i="1" dirty="0">
                <a:solidFill>
                  <a:srgbClr val="595959"/>
                </a:solidFill>
              </a:rPr>
              <a:t>ᵀ)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</a:t>
            </a:r>
            <a:r>
              <a:rPr lang="en-US" sz="1400" b="1" i="1" dirty="0">
                <a:solidFill>
                  <a:srgbClr val="4B2E83"/>
                </a:solidFill>
              </a:rPr>
              <a:t>Z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Z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    (z = (x − 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)/</a:t>
            </a:r>
            <a:r>
              <a:rPr lang="en-US" sz="1450" b="1" i="1" dirty="0">
                <a:solidFill>
                  <a:srgbClr val="4B2E83"/>
                </a:solidFill>
              </a:rPr>
              <a:t>σ</a:t>
            </a:r>
            <a:r>
              <a:rPr lang="en-US" sz="1450" b="1" dirty="0">
                <a:solidFill>
                  <a:srgbClr val="4B2E83"/>
                </a:solidFill>
              </a:rPr>
              <a:t>)</a:t>
            </a:r>
            <a:r>
              <a:rPr lang="en-US" sz="1450" dirty="0">
                <a:solidFill>
                  <a:srgbClr val="4B2E83"/>
                </a:solidFill>
              </a:rPr>
              <a:t>  (cols: z₁, z₂)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</a:t>
            </a:r>
            <a:r>
              <a:rPr lang="en-US" sz="1300" b="1" i="1" dirty="0">
                <a:solidFill>
                  <a:srgbClr val="6E6E6E"/>
                </a:solidFill>
              </a:rPr>
              <a:t>Z</a:t>
            </a:r>
            <a:r>
              <a:rPr lang="en-US" sz="1300" i="1" dirty="0">
                <a:solidFill>
                  <a:srgbClr val="6E6E6E"/>
                </a:solidFill>
              </a:rPr>
              <a:t> now has mean 0 and standard deviation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482600" y="1968500"/>
                <a:ext cx="4216400" cy="18923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68500"/>
                <a:ext cx="4216400" cy="1892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257800" y="2095500"/>
                <a:ext cx="6451600" cy="20828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0.45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−1.34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1.34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−0.45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0.45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095500"/>
                <a:ext cx="6451600" cy="2082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79784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 dirty="0">
                <a:solidFill>
                  <a:srgbClr val="595959"/>
                </a:solidFill>
              </a:rPr>
              <a:t>Z</a:t>
            </a:r>
            <a:r>
              <a:rPr lang="en-US" sz="1400" i="1" dirty="0">
                <a:solidFill>
                  <a:srgbClr val="595959"/>
                </a:solidFill>
              </a:rPr>
              <a:t> = (</a:t>
            </a:r>
            <a:r>
              <a:rPr lang="en-US" sz="1400" b="1" i="1" dirty="0">
                <a:solidFill>
                  <a:srgbClr val="595959"/>
                </a:solidFill>
              </a:rPr>
              <a:t>X</a:t>
            </a:r>
            <a:r>
              <a:rPr lang="en-US" sz="1400" i="1" dirty="0">
                <a:solidFill>
                  <a:srgbClr val="595959"/>
                </a:solidFill>
              </a:rPr>
              <a:t> − 1</a:t>
            </a:r>
            <a:r>
              <a:rPr lang="en-US" sz="1400" b="1" i="1" dirty="0">
                <a:solidFill>
                  <a:srgbClr val="595959"/>
                </a:solidFill>
              </a:rPr>
              <a:t>μ</a:t>
            </a:r>
            <a:r>
              <a:rPr lang="en-US" sz="1400" i="1" dirty="0">
                <a:solidFill>
                  <a:srgbClr val="595959"/>
                </a:solidFill>
              </a:rPr>
              <a:t>ᵀ) </a:t>
            </a:r>
            <a:r>
              <a:rPr lang="en-US" sz="1400" b="1" i="1" dirty="0">
                <a:solidFill>
                  <a:srgbClr val="595959"/>
                </a:solidFill>
              </a:rPr>
              <a:t>D</a:t>
            </a:r>
            <a:r>
              <a:rPr lang="en-US" sz="1400" i="1" dirty="0">
                <a:solidFill>
                  <a:srgbClr val="595959"/>
                </a:solidFill>
              </a:rPr>
              <a:t>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</a:t>
            </a:r>
            <a:r>
              <a:rPr lang="en-US" sz="1450" b="1" i="1" dirty="0">
                <a:solidFill>
                  <a:srgbClr val="4B2E83"/>
                </a:solidFill>
              </a:rPr>
              <a:t>X</a:t>
            </a:r>
            <a:r>
              <a:rPr lang="en-US" sz="1450" b="1" dirty="0">
                <a:solidFill>
                  <a:srgbClr val="4B2E83"/>
                </a:solidFill>
              </a:rPr>
              <a:t>   (n=5, p=2)</a:t>
            </a:r>
            <a:r>
              <a:rPr lang="en-US" sz="1450" dirty="0">
                <a:solidFill>
                  <a:srgbClr val="4B2E83"/>
                </a:solidFill>
              </a:rPr>
              <a:t>  (cols: x₁, x₂)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μ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i="1" dirty="0">
                <a:solidFill>
                  <a:srgbClr val="333333"/>
                </a:solidFill>
              </a:rPr>
              <a:t>σ</a:t>
            </a:r>
            <a:r>
              <a:rPr lang="en-US" sz="1350" b="1" dirty="0">
                <a:solidFill>
                  <a:srgbClr val="333333"/>
                </a:solidFill>
              </a:rPr>
              <a:t> = ( </a:t>
            </a:r>
            <a:r>
              <a:rPr lang="en-US" sz="1350" b="1" dirty="0">
                <a:solidFill>
                  <a:srgbClr val="4B2E83"/>
                </a:solidFill>
              </a:rPr>
              <a:t>3.16,  3.16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</a:t>
            </a:r>
            <a:r>
              <a:rPr lang="en-US" sz="1400" b="1" i="1" dirty="0">
                <a:solidFill>
                  <a:srgbClr val="4B2E83"/>
                </a:solidFill>
              </a:rPr>
              <a:t>Z</a:t>
            </a:r>
            <a:r>
              <a:rPr lang="en-US" sz="1400" b="1" dirty="0">
                <a:solidFill>
                  <a:srgbClr val="4B2E83"/>
                </a:solidFill>
              </a:rPr>
              <a:t>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i="1" dirty="0">
                <a:solidFill>
                  <a:srgbClr val="4B2E83"/>
                </a:solidFill>
              </a:rPr>
              <a:t>Z</a:t>
            </a:r>
            <a:r>
              <a:rPr lang="en-US" sz="1450" b="1" dirty="0">
                <a:solidFill>
                  <a:srgbClr val="4B2E83"/>
                </a:solidFill>
              </a:rPr>
              <a:t> = </a:t>
            </a:r>
            <a:r>
              <a:rPr lang="en-US" sz="1450" b="1" i="1" dirty="0">
                <a:solidFill>
                  <a:srgbClr val="4B2E83"/>
                </a:solidFill>
              </a:rPr>
              <a:t>Xc</a:t>
            </a:r>
            <a:r>
              <a:rPr lang="en-US" sz="1450" b="1" dirty="0">
                <a:solidFill>
                  <a:srgbClr val="4B2E83"/>
                </a:solidFill>
              </a:rPr>
              <a:t> </a:t>
            </a:r>
            <a:r>
              <a:rPr lang="en-US" sz="1450" b="1" i="1" dirty="0">
                <a:solidFill>
                  <a:srgbClr val="4B2E83"/>
                </a:solidFill>
              </a:rPr>
              <a:t>D</a:t>
            </a:r>
            <a:r>
              <a:rPr lang="en-US" sz="1450" b="1" dirty="0">
                <a:solidFill>
                  <a:srgbClr val="4B2E83"/>
                </a:solidFill>
              </a:rPr>
              <a:t>⁻¹     (z = (x − </a:t>
            </a:r>
            <a:r>
              <a:rPr lang="en-US" sz="1450" b="1" i="1" dirty="0">
                <a:solidFill>
                  <a:srgbClr val="4B2E83"/>
                </a:solidFill>
              </a:rPr>
              <a:t>μ</a:t>
            </a:r>
            <a:r>
              <a:rPr lang="en-US" sz="1450" b="1" dirty="0">
                <a:solidFill>
                  <a:srgbClr val="4B2E83"/>
                </a:solidFill>
              </a:rPr>
              <a:t>)/</a:t>
            </a:r>
            <a:r>
              <a:rPr lang="en-US" sz="1450" b="1" i="1" dirty="0">
                <a:solidFill>
                  <a:srgbClr val="4B2E83"/>
                </a:solidFill>
              </a:rPr>
              <a:t>σ</a:t>
            </a:r>
            <a:r>
              <a:rPr lang="en-US" sz="1450" b="1" dirty="0">
                <a:solidFill>
                  <a:srgbClr val="4B2E83"/>
                </a:solidFill>
              </a:rPr>
              <a:t>)</a:t>
            </a:r>
            <a:r>
              <a:rPr lang="en-US" sz="1450" dirty="0">
                <a:solidFill>
                  <a:srgbClr val="4B2E83"/>
                </a:solidFill>
              </a:rPr>
              <a:t>  (cols: z₁, z₂)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</a:t>
            </a:r>
            <a:r>
              <a:rPr lang="en-US" sz="1300" b="1" i="1" dirty="0">
                <a:solidFill>
                  <a:srgbClr val="6E6E6E"/>
                </a:solidFill>
              </a:rPr>
              <a:t>Z</a:t>
            </a:r>
            <a:r>
              <a:rPr lang="en-US" sz="1300" i="1" dirty="0">
                <a:solidFill>
                  <a:srgbClr val="6E6E6E"/>
                </a:solidFill>
              </a:rPr>
              <a:t> now has mean 0 and standard deviation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0" name="mtx"/>
              <p:cNvSpPr txBox="1"/>
              <p:nvPr/>
            </p:nvSpPr>
            <p:spPr>
              <a:xfrm>
                <a:off x="482600" y="1968500"/>
                <a:ext cx="4216400" cy="18923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0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68500"/>
                <a:ext cx="4216400" cy="1892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1" name="mtx"/>
              <p:cNvSpPr txBox="1"/>
              <p:nvPr/>
            </p:nvSpPr>
            <p:spPr>
              <a:xfrm>
                <a:off x="5257800" y="2095500"/>
                <a:ext cx="6451600" cy="20828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−1.26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0.63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1.26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−0.63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−0.63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1.26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0.63</m:t>
                                </m:r>
                              </m:e>
                              <m:e>
                                <m:r>
                                  <a:rPr lang="en-US" sz="140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−1.26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501" name="mt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095500"/>
                <a:ext cx="6451600" cy="2082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54343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0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DISTANCE-BASED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4600" b="1" dirty="0">
                <a:solidFill>
                  <a:srgbClr val="FFFFFF"/>
                </a:solidFill>
              </a:rPr>
              <a:t>KNN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k-Nearest Neighbors — classify and predict from the closest points in feature space.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0" name="kcirc"/>
          <p:cNvSpPr/>
          <p:nvPr/>
        </p:nvSpPr>
        <p:spPr>
          <a:xfrm>
            <a:off x="5537200" y="1600200"/>
            <a:ext cx="1117600" cy="1117600"/>
          </a:xfrm>
          <a:prstGeom prst="ellipse">
            <a:avLst/>
          </a:prstGeom>
          <a:noFill/>
          <a:ln w="22225">
            <a:solidFill>
              <a:srgbClr val="B7A5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01" name="kd"/>
          <p:cNvSpPr/>
          <p:nvPr/>
        </p:nvSpPr>
        <p:spPr>
          <a:xfrm>
            <a:off x="6369050" y="18224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2" name="kd"/>
          <p:cNvSpPr/>
          <p:nvPr/>
        </p:nvSpPr>
        <p:spPr>
          <a:xfrm>
            <a:off x="5683250" y="182245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3" name="kd"/>
          <p:cNvSpPr/>
          <p:nvPr/>
        </p:nvSpPr>
        <p:spPr>
          <a:xfrm>
            <a:off x="5632450" y="23304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4" name="kd"/>
          <p:cNvSpPr/>
          <p:nvPr/>
        </p:nvSpPr>
        <p:spPr>
          <a:xfrm>
            <a:off x="6369050" y="23558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5" name="kd"/>
          <p:cNvSpPr/>
          <p:nvPr/>
        </p:nvSpPr>
        <p:spPr>
          <a:xfrm>
            <a:off x="5988050" y="248285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6" name="kd"/>
          <p:cNvSpPr/>
          <p:nvPr/>
        </p:nvSpPr>
        <p:spPr>
          <a:xfrm>
            <a:off x="5969000" y="2032000"/>
            <a:ext cx="254000" cy="2540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4B2E83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802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What KNN Is Used For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 simple, distance-based method for classification and regression.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KNN predicts from the k closest points — so the distance metric and feature scaling we just covered drive everything.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Classify a new point by its k nearest neighbors</a:t>
            </a:r>
          </a:p>
        </p:txBody>
      </p:sp>
      <p:sp>
        <p:nvSpPr>
          <p:cNvPr id="6002" name="circ"/>
          <p:cNvSpPr/>
          <p:nvPr/>
        </p:nvSpPr>
        <p:spPr>
          <a:xfrm>
            <a:off x="2260600" y="2540000"/>
            <a:ext cx="1625600" cy="1625600"/>
          </a:xfrm>
          <a:prstGeom prst="ellipse">
            <a:avLst/>
          </a:prstGeom>
          <a:noFill/>
          <a:ln w="22225">
            <a:solidFill>
              <a:srgbClr val="00A7B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cxnSp>
        <p:nvCxnSpPr>
          <p:cNvPr id="6003" name="ln"/>
          <p:cNvCxnSpPr/>
          <p:nvPr/>
        </p:nvCxnSpPr>
        <p:spPr>
          <a:xfrm flipV="1">
            <a:off x="3073400" y="2717800"/>
            <a:ext cx="0" cy="63500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cxnSp>
        <p:nvCxnSpPr>
          <p:cNvPr id="6004" name="ln"/>
          <p:cNvCxnSpPr/>
          <p:nvPr/>
        </p:nvCxnSpPr>
        <p:spPr>
          <a:xfrm flipH="1">
            <a:off x="2438400" y="3352800"/>
            <a:ext cx="635000" cy="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cxnSp>
        <p:nvCxnSpPr>
          <p:cNvPr id="6005" name="ln"/>
          <p:cNvCxnSpPr/>
          <p:nvPr/>
        </p:nvCxnSpPr>
        <p:spPr>
          <a:xfrm>
            <a:off x="3073400" y="3352800"/>
            <a:ext cx="635000" cy="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sp>
        <p:nvSpPr>
          <p:cNvPr id="6006" name="dt"/>
          <p:cNvSpPr/>
          <p:nvPr/>
        </p:nvSpPr>
        <p:spPr>
          <a:xfrm>
            <a:off x="1701800" y="1981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7" name="dt"/>
          <p:cNvSpPr/>
          <p:nvPr/>
        </p:nvSpPr>
        <p:spPr>
          <a:xfrm>
            <a:off x="2336800" y="261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8" name="dt"/>
          <p:cNvSpPr/>
          <p:nvPr/>
        </p:nvSpPr>
        <p:spPr>
          <a:xfrm>
            <a:off x="2971800" y="261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9" name="dt"/>
          <p:cNvSpPr/>
          <p:nvPr/>
        </p:nvSpPr>
        <p:spPr>
          <a:xfrm>
            <a:off x="1701800" y="388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0" name="dt"/>
          <p:cNvSpPr/>
          <p:nvPr/>
        </p:nvSpPr>
        <p:spPr>
          <a:xfrm>
            <a:off x="2336800" y="3251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1" name="dt"/>
          <p:cNvSpPr/>
          <p:nvPr/>
        </p:nvSpPr>
        <p:spPr>
          <a:xfrm>
            <a:off x="4241800" y="3886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2" name="dt"/>
          <p:cNvSpPr/>
          <p:nvPr/>
        </p:nvSpPr>
        <p:spPr>
          <a:xfrm>
            <a:off x="3606800" y="452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3" name="dt"/>
          <p:cNvSpPr/>
          <p:nvPr/>
        </p:nvSpPr>
        <p:spPr>
          <a:xfrm>
            <a:off x="4241800" y="2616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4" name="dt"/>
          <p:cNvSpPr/>
          <p:nvPr/>
        </p:nvSpPr>
        <p:spPr>
          <a:xfrm>
            <a:off x="4241800" y="198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5" name="dt"/>
          <p:cNvSpPr/>
          <p:nvPr/>
        </p:nvSpPr>
        <p:spPr>
          <a:xfrm>
            <a:off x="3606800" y="325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6" name="dt"/>
          <p:cNvSpPr/>
          <p:nvPr/>
        </p:nvSpPr>
        <p:spPr>
          <a:xfrm>
            <a:off x="2933700" y="3213100"/>
            <a:ext cx="279400" cy="279400"/>
          </a:xfrm>
          <a:prstGeom prst="ellipse">
            <a:avLst/>
          </a:prstGeom>
          <a:solidFill>
            <a:srgbClr val="B7A57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017" name="dt"/>
          <p:cNvSpPr/>
          <p:nvPr/>
        </p:nvSpPr>
        <p:spPr>
          <a:xfrm>
            <a:off x="673100" y="5524500"/>
            <a:ext cx="177800" cy="1778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914400" y="55245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Class A</a:t>
            </a:r>
          </a:p>
        </p:txBody>
      </p:sp>
      <p:sp>
        <p:nvSpPr>
          <p:cNvPr id="6019" name="dt"/>
          <p:cNvSpPr/>
          <p:nvPr/>
        </p:nvSpPr>
        <p:spPr>
          <a:xfrm>
            <a:off x="2070100" y="5524500"/>
            <a:ext cx="177800" cy="1778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2311400" y="55245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Class B</a:t>
            </a:r>
          </a:p>
        </p:txBody>
      </p:sp>
      <p:sp>
        <p:nvSpPr>
          <p:cNvPr id="6021" name="dt"/>
          <p:cNvSpPr/>
          <p:nvPr/>
        </p:nvSpPr>
        <p:spPr>
          <a:xfrm>
            <a:off x="3467100" y="5524500"/>
            <a:ext cx="177800" cy="177800"/>
          </a:xfrm>
          <a:prstGeom prst="ellipse">
            <a:avLst/>
          </a:prstGeom>
          <a:solidFill>
            <a:srgbClr val="B7A57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708400" y="55245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? new point  (k = 3)</a:t>
            </a:r>
          </a:p>
        </p:txBody>
      </p:sp>
      <p:sp>
        <p:nvSpPr>
          <p:cNvPr id="6023" name="pn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6400800" y="14478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00A7B5"/>
                </a:solidFill>
              </a:rPr>
              <a:t>How it works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400800" y="1778000"/>
            <a:ext cx="53086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Find the k points closest to the new point (by distance).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Vote: take the majority label — or average them for regression.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400800" y="27178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7AB648"/>
                </a:solidFill>
              </a:rPr>
              <a:t>Used for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6400800" y="3048000"/>
            <a:ext cx="53086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Classification and regression.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Recommendation, missing-value imputation, anomaly detection.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6400800" y="39116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D1578A"/>
                </a:solidFill>
              </a:rPr>
              <a:t>Key choices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4241800"/>
            <a:ext cx="5308600" cy="12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k — how many neighbors to poll.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Distance metric </a:t>
            </a:r>
            <a:r>
              <a:rPr lang="en-US" sz="1350" i="1" dirty="0">
                <a:solidFill>
                  <a:srgbClr val="6E6E6E"/>
                </a:solidFill>
              </a:rPr>
              <a:t>(Euclidean — see Distance).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Feature scaling </a:t>
            </a:r>
            <a:r>
              <a:rPr lang="en-US" sz="1350" i="1" dirty="0">
                <a:solidFill>
                  <a:srgbClr val="6E6E6E"/>
                </a:solidFill>
              </a:rPr>
              <a:t>(standardize first — see Standardization).</a:t>
            </a:r>
          </a:p>
        </p:txBody>
      </p:sp>
    </p:spTree>
    <p:extLst>
      <p:ext uri="{BB962C8B-B14F-4D97-AF65-F5344CB8AC3E}">
        <p14:creationId xmlns:p14="http://schemas.microsoft.com/office/powerpoint/2010/main" val="267949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201"/>
          <p:cNvSpPr txBox="1"/>
          <p:nvPr/>
        </p:nvSpPr>
        <p:spPr>
          <a:xfrm>
            <a:off x="723900" y="152400"/>
            <a:ext cx="10515600" cy="889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400" b="1" dirty="0">
                <a:solidFill>
                  <a:srgbClr val="333333"/>
                </a:solidFill>
                <a:latin typeface="Arial"/>
                <a:cs typeface="Arial"/>
              </a:rPr>
              <a:t>K-Nearest Neighbors — Vector &amp; Matrix Formulation</a:t>
            </a:r>
          </a:p>
        </p:txBody>
      </p:sp>
      <p:sp>
        <p:nvSpPr>
          <p:cNvPr id="202" name="r202"/>
          <p:cNvSpPr/>
          <p:nvPr/>
        </p:nvSpPr>
        <p:spPr>
          <a:xfrm>
            <a:off x="508000" y="1003300"/>
            <a:ext cx="11176000" cy="4064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203"/>
              <p:cNvSpPr txBox="1"/>
              <p:nvPr/>
            </p:nvSpPr>
            <p:spPr>
              <a:xfrm>
                <a:off x="508000" y="1041400"/>
                <a:ext cx="11176000" cy="3302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/>
              <a:lstStyle/>
              <a:p>
                <a:pPr algn="l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KNN expressed with the data matrix </a:t>
                </a:r>
                <a14:m>
                  <m:oMath xmlns:m="http://schemas.openxmlformats.org/officeDocument/2006/math">
                    <m:r>
                      <a:rPr lang="en-US" sz="1300" b="1">
                        <a:solidFill>
                          <a:srgbClr val="FFFFFF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en-US" sz="13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, query vector </a:t>
                </a:r>
                <a14:m>
                  <m:oMath xmlns:m="http://schemas.openxmlformats.org/officeDocument/2006/math">
                    <m:r>
                      <a:rPr lang="en-US" sz="1300" b="1">
                        <a:solidFill>
                          <a:srgbClr val="FFFFFF"/>
                        </a:solidFill>
                        <a:latin typeface="Cambria Math"/>
                      </a:rPr>
                      <m:t>𝒒</m:t>
                    </m:r>
                  </m:oMath>
                </a14:m>
                <a:r>
                  <a:rPr lang="en-US" sz="13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, and the row-wise Euclidean norm</a:t>
                </a:r>
                <a:endParaRPr/>
              </a:p>
            </p:txBody>
          </p:sp>
        </mc:Choice>
        <mc:Fallback xmlns="">
          <p:sp>
            <p:nvSpPr>
              <p:cNvPr id="203" name="t2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1041400"/>
                <a:ext cx="11176000" cy="330200"/>
              </a:xfrm>
              <a:prstGeom prst="rect">
                <a:avLst/>
              </a:prstGeom>
              <a:blipFill>
                <a:blip r:embed="rId2"/>
                <a:stretch>
                  <a:fillRect l="-113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r204"/>
          <p:cNvSpPr/>
          <p:nvPr/>
        </p:nvSpPr>
        <p:spPr>
          <a:xfrm>
            <a:off x="508000" y="1498600"/>
            <a:ext cx="7112000" cy="48768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205"/>
              <p:cNvSpPr txBox="1"/>
              <p:nvPr/>
            </p:nvSpPr>
            <p:spPr>
              <a:xfrm>
                <a:off x="685800" y="1600200"/>
                <a:ext cx="6756400" cy="4673600"/>
              </a:xfrm>
              <a:prstGeom prst="rect">
                <a:avLst/>
              </a:prstGeom>
              <a:noFill/>
            </p:spPr>
            <p:txBody>
              <a:bodyPr wrap="square" lIns="114300" tIns="45720" rIns="114300" bIns="45720" anchor="t"/>
              <a:lstStyle/>
              <a:p>
                <a:pPr algn="l">
                  <a:buNone/>
                </a:pPr>
                <a:r>
                  <a:rPr lang="en-US" sz="2000" b="1" dirty="0">
                    <a:solidFill>
                      <a:srgbClr val="4B2E83"/>
                    </a:solidFill>
                    <a:latin typeface="Consolas"/>
                    <a:cs typeface="Consolas"/>
                  </a:rPr>
                  <a:t>Setup</a:t>
                </a:r>
                <a:endParaRPr/>
              </a:p>
              <a:p>
                <a:pPr algn="l">
                  <a:buNone/>
                </a:pPr>
                <a:r>
                  <a:rPr lang="en-US" sz="7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 </a:t>
                </a:r>
                <a:endParaRPr/>
              </a:p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𝑿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∈ </m:t>
                    </m:r>
                    <m:sSup>
                      <m:sSupPr>
                        <m:ctrl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×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   data matrix (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 points,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𝑑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 features)</a:t>
                </a:r>
                <a:endParaRPr/>
              </a:p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𝒚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∈ </m:t>
                    </m:r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A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B</m:t>
                            </m:r>
                          </m:e>
                        </m:d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   label vector</a:t>
                </a:r>
                <a:endParaRPr/>
              </a:p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𝒒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∈ </m:t>
                    </m:r>
                    <m:sSup>
                      <m:sSupPr>
                        <m:ctrl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    query vector</a:t>
                </a:r>
                <a:endParaRPr/>
              </a:p>
              <a:p>
                <a:pPr algn="l">
                  <a:buNone/>
                </a:pPr>
                <a:r>
                  <a:rPr lang="en-US" sz="7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 </a:t>
                </a:r>
                <a:endParaRPr/>
              </a:p>
              <a:p>
                <a:pPr algn="l">
                  <a:buNone/>
                </a:pPr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1.  Distance vector (row norms)</a:t>
                </a:r>
                <a:endParaRPr/>
              </a:p>
              <a:p>
                <a:pPr algn="l">
                  <a:buNone/>
                </a:pPr>
                <a:r>
                  <a:rPr lang="en-US" sz="1400" dirty="0">
                    <a:solidFill>
                      <a:srgbClr val="85754D"/>
                    </a:solidFill>
                    <a:latin typeface="Consolas"/>
                    <a:cs typeface="Consolas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>
                            <a:solidFill>
                              <a:srgbClr val="85754D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>
                            <a:solidFill>
                              <a:srgbClr val="85754D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>
                            <a:solidFill>
                              <a:srgbClr val="85754D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 = 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8575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400" i="1">
                                <a:solidFill>
                                  <a:srgbClr val="85754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40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>
                                <a:solidFill>
                                  <a:srgbClr val="85754D"/>
                                </a:solidFill>
                                <a:latin typeface="Cambria Math"/>
                              </a:rPr>
                              <m:t> − </m:t>
                            </m:r>
                            <m:r>
                              <a:rPr lang="en-US" sz="1400" b="1">
                                <a:solidFill>
                                  <a:srgbClr val="85754D"/>
                                </a:solidFill>
                                <a:latin typeface="Cambria Math"/>
                              </a:rPr>
                              <m:t>𝒒</m:t>
                            </m:r>
                          </m:e>
                        </m:d>
                      </m:e>
                      <m:sub>
                        <m:r>
                          <a:rPr lang="en-US" sz="1400">
                            <a:solidFill>
                              <a:srgbClr val="85754D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85754D"/>
                    </a:solidFill>
                    <a:latin typeface="Consolas"/>
                    <a:cs typeface="Consolas"/>
                  </a:rPr>
                  <a:t>     for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𝑖</m:t>
                    </m:r>
                    <m: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 = 1..</m:t>
                    </m:r>
                    <m: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/>
              </a:p>
              <a:p>
                <a:pPr algn="l">
                  <a:buNone/>
                </a:pPr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2.  Sort ascending</a:t>
                </a:r>
                <a:endParaRPr/>
              </a:p>
              <a:p>
                <a:pPr algn="l">
                  <a:buNone/>
                </a:pPr>
                <a:r>
                  <a:rPr lang="en-US" sz="1400" dirty="0">
                    <a:solidFill>
                      <a:srgbClr val="85754D"/>
                    </a:solidFill>
                    <a:latin typeface="Consolas"/>
                    <a:cs typeface="Consolas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85754D"/>
                        </a:solidFill>
                        <a:latin typeface="Cambria Math"/>
                      </a:rPr>
                      <m:t>𝝅</m:t>
                    </m:r>
                    <m: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 =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argsort</m:t>
                    </m:r>
                    <m:d>
                      <m:dPr>
                        <m:ctrlPr>
                          <a:rPr lang="en-US" sz="1400" b="1">
                            <a:solidFill>
                              <a:srgbClr val="85754D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400" b="1">
                            <a:solidFill>
                              <a:srgbClr val="85754D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</m:oMath>
                </a14:m>
                <a:endParaRPr/>
              </a:p>
              <a:p>
                <a:pPr algn="l">
                  <a:buNone/>
                </a:pPr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3.  Take K nearest indices</a:t>
                </a:r>
                <a:endParaRPr/>
              </a:p>
              <a:p>
                <a:pPr algn="l">
                  <a:buNone/>
                </a:pPr>
                <a:r>
                  <a:rPr lang="en-US" sz="1400" dirty="0">
                    <a:solidFill>
                      <a:srgbClr val="85754D"/>
                    </a:solidFill>
                    <a:latin typeface="Consolas"/>
                    <a:cs typeface="Consolas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N</m:t>
                    </m:r>
                    <m: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 = </m:t>
                    </m:r>
                    <m:r>
                      <a:rPr lang="en-US" sz="1400" b="1">
                        <a:solidFill>
                          <a:srgbClr val="85754D"/>
                        </a:solidFill>
                        <a:latin typeface="Cambria Math"/>
                      </a:rPr>
                      <m:t>𝝅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solidFill>
                              <a:srgbClr val="85754D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85754D"/>
                            </a:solidFill>
                            <a:latin typeface="Cambria Math"/>
                          </a:rPr>
                          <m:t>1:</m:t>
                        </m:r>
                        <m:r>
                          <a:rPr lang="en-US" sz="1400">
                            <a:solidFill>
                              <a:srgbClr val="85754D"/>
                            </a:solidFill>
                            <a:latin typeface="Cambria Math"/>
                          </a:rPr>
                          <m:t>𝐾</m:t>
                        </m:r>
                      </m:e>
                    </m:d>
                  </m:oMath>
                </a14:m>
                <a:endParaRPr/>
              </a:p>
              <a:p>
                <a:pPr algn="l">
                  <a:buNone/>
                </a:pPr>
                <a:r>
                  <a:rPr lang="en-US" sz="15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4.  Majority vote over labels</a:t>
                </a:r>
                <a:endParaRPr/>
              </a:p>
              <a:p>
                <a:pPr algn="l">
                  <a:buNone/>
                </a:pPr>
                <a:r>
                  <a:rPr lang="en-US" sz="1400" dirty="0">
                    <a:solidFill>
                      <a:srgbClr val="85754D"/>
                    </a:solidFill>
                    <a:latin typeface="Consolas"/>
                    <a:cs typeface="Consolas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ŷ =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85754D"/>
                        </a:solidFill>
                        <a:latin typeface="Cambria Math"/>
                      </a:rPr>
                      <m:t>mode</m:t>
                    </m:r>
                    <m:d>
                      <m:dPr>
                        <m:ctrlPr>
                          <a:rPr lang="en-US" sz="1400" b="1">
                            <a:solidFill>
                              <a:srgbClr val="85754D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400" b="1">
                            <a:solidFill>
                              <a:srgbClr val="85754D"/>
                            </a:solidFill>
                            <a:latin typeface="Cambria Math"/>
                          </a:rPr>
                          <m:t>𝒚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>
                                <a:solidFill>
                                  <a:srgbClr val="85754D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rgbClr val="85754D"/>
                                </a:solidFill>
                                <a:latin typeface="Cambria Math"/>
                              </a:rPr>
                              <m:t>N</m:t>
                            </m:r>
                          </m:e>
                        </m:d>
                      </m:e>
                    </m:d>
                  </m:oMath>
                </a14:m>
                <a:endParaRPr/>
              </a:p>
              <a:p>
                <a:pPr algn="l">
                  <a:buNone/>
                </a:pPr>
                <a:r>
                  <a:rPr lang="en-US" sz="7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 </a:t>
                </a:r>
                <a:endParaRPr/>
              </a:p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  <a:latin typeface="Consolas"/>
                    <a:cs typeface="Consolas"/>
                  </a:rPr>
                  <a:t>5.  Return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4B2E83"/>
                        </a:solidFill>
                        <a:latin typeface="Cambria Math"/>
                      </a:rPr>
                      <m:t>ŷ = </m:t>
                    </m:r>
                    <m:sSub>
                      <m:sSubPr>
                        <m:ctrlP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argmax</m:t>
                        </m:r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1500">
                        <a:solidFill>
                          <a:srgbClr val="4B2E83"/>
                        </a:solidFill>
                        <a:latin typeface="Cambria Math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N</m:t>
                        </m:r>
                      </m:sub>
                      <m:sup/>
                      <m:e>
                        <m:r>
                          <a:rPr lang="en-US" sz="1500" b="1">
                            <a:solidFill>
                              <a:srgbClr val="4B2E83"/>
                            </a:solidFill>
                            <a:latin typeface="Cambria Math"/>
                          </a:rPr>
                          <m:t>𝟏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5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 = 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</m:d>
                      </m:e>
                    </m:nary>
                  </m:oMath>
                </a14:m>
                <a:endParaRPr/>
              </a:p>
            </p:txBody>
          </p:sp>
        </mc:Choice>
        <mc:Fallback xmlns="">
          <p:sp>
            <p:nvSpPr>
              <p:cNvPr id="205" name="t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00200"/>
                <a:ext cx="6756400" cy="4673600"/>
              </a:xfrm>
              <a:prstGeom prst="rect">
                <a:avLst/>
              </a:prstGeom>
              <a:blipFill>
                <a:blip r:embed="rId3"/>
                <a:stretch>
                  <a:fillRect l="-750" t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r206"/>
          <p:cNvSpPr/>
          <p:nvPr/>
        </p:nvSpPr>
        <p:spPr>
          <a:xfrm>
            <a:off x="7810500" y="1498600"/>
            <a:ext cx="3873500" cy="4876800"/>
          </a:xfrm>
          <a:prstGeom prst="rect">
            <a:avLst/>
          </a:prstGeom>
          <a:solidFill>
            <a:srgbClr val="FFFFFF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207"/>
              <p:cNvSpPr txBox="1"/>
              <p:nvPr/>
            </p:nvSpPr>
            <p:spPr>
              <a:xfrm>
                <a:off x="7988300" y="1600200"/>
                <a:ext cx="3517900" cy="46736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/>
              <a:lstStyle/>
              <a:p>
                <a:pPr algn="l">
                  <a:buNone/>
                </a:pPr>
                <a:r>
                  <a:rPr lang="en-US" sz="20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Key Concepts</a:t>
                </a:r>
                <a:endParaRPr/>
              </a:p>
              <a:p>
                <a:pPr algn="l">
                  <a:buNone/>
                </a:pPr>
                <a:r>
                  <a:rPr lang="en-US" sz="600" dirty="0">
                    <a:solidFill>
                      <a:srgbClr val="333333"/>
                    </a:solidFill>
                    <a:latin typeface="Arial"/>
                    <a:cs typeface="Arial"/>
                  </a:rPr>
                  <a:t> </a:t>
                </a:r>
                <a:endParaRPr/>
              </a:p>
              <a:p>
                <a:pPr algn="l">
                  <a:buNone/>
                </a:pPr>
                <a:r>
                  <a:rPr lang="en-US" sz="17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▸ Norm choice</a:t>
                </a:r>
                <a:endParaRPr/>
              </a:p>
              <a:p>
                <a:pPr marL="0"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·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Euclidean,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·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Manhattan,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·</m:t>
                            </m:r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Minkowski on the rows of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𝑿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− </m:t>
                    </m:r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𝟏</m:t>
                    </m:r>
                    <m:sSup>
                      <m:sSup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𝒒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endParaRPr/>
              </a:p>
              <a:p>
                <a:pPr algn="l">
                  <a:buNone/>
                </a:pPr>
                <a:r>
                  <a:rPr lang="en-US" sz="17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▸ Vectorized distance</a:t>
                </a:r>
                <a:endParaRPr/>
              </a:p>
              <a:p>
                <a:pPr marL="0" algn="l">
                  <a:buNone/>
                </a:pPr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All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distances are one broadcast subtraction plus a row-wise norm — no Python loop needed</a:t>
                </a:r>
                <a:endParaRPr/>
              </a:p>
              <a:p>
                <a:pPr algn="l">
                  <a:buNone/>
                </a:pPr>
                <a:r>
                  <a:rPr lang="en-US" sz="17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▸ argsort, not full sort</a:t>
                </a:r>
                <a:endParaRPr/>
              </a:p>
              <a:p>
                <a:pPr marL="0" algn="l">
                  <a:buNone/>
                </a:pPr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Only the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𝐾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smallest entries of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are required; a partial argsort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/>
              </a:p>
              <a:p>
                <a:pPr algn="l">
                  <a:buNone/>
                </a:pPr>
                <a:r>
                  <a:rPr lang="en-US" sz="17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▸ Majority vote</a:t>
                </a:r>
                <a:endParaRPr/>
              </a:p>
              <a:p>
                <a:pPr marL="0" algn="l">
                  <a:buNone/>
                </a:pP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ŷ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= mode of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over the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𝐾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nearest rows; odd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𝐾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avoids ties</a:t>
                </a:r>
                <a:endParaRPr/>
              </a:p>
              <a:p>
                <a:pPr algn="l">
                  <a:buNone/>
                </a:pPr>
                <a:r>
                  <a:rPr lang="en-US" sz="17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▸ Lazy learner</a:t>
                </a:r>
                <a:endParaRPr/>
              </a:p>
              <a:p>
                <a:pPr marL="0" algn="l">
                  <a:buNone/>
                </a:pPr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No training: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 are stored; all work is the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𝒒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  <a:latin typeface="Arial"/>
                    <a:cs typeface="Arial"/>
                  </a:rPr>
                  <a:t>-time norm evaluation</a:t>
                </a:r>
                <a:endParaRPr/>
              </a:p>
            </p:txBody>
          </p:sp>
        </mc:Choice>
        <mc:Fallback xmlns="">
          <p:sp>
            <p:nvSpPr>
              <p:cNvPr id="207" name="t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300" y="1600200"/>
                <a:ext cx="3517900" cy="4673600"/>
              </a:xfrm>
              <a:prstGeom prst="rect">
                <a:avLst/>
              </a:prstGeom>
              <a:blipFill>
                <a:blip r:embed="rId4"/>
                <a:stretch>
                  <a:fillRect l="-1434" t="-815" r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86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0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0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2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2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2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2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2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build="p"/>
      <p:bldP spid="207" grpId="0" build="p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301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2" name="t302"/>
              <p:cNvSpPr txBox="1"/>
              <p:nvPr/>
            </p:nvSpPr>
            <p:spPr>
              <a:xfrm>
                <a:off x="533400" y="228600"/>
                <a:ext cx="11125200" cy="381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Curse of dimensionality — Stage 1: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𝑑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 = 1</m:t>
                    </m:r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 (matrix / vector form)</a:t>
                </a:r>
                <a:endParaRPr/>
              </a:p>
            </p:txBody>
          </p:sp>
        </mc:Choice>
        <mc:Fallback>
          <p:sp>
            <p:nvSpPr>
              <p:cNvPr id="302" name="t3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28600"/>
                <a:ext cx="11125200" cy="381000"/>
              </a:xfrm>
              <a:prstGeom prst="rect">
                <a:avLst/>
              </a:prstGeom>
              <a:blipFill>
                <a:blip r:embed="rId2"/>
                <a:stretch>
                  <a:fillRect l="-1254" t="-13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3" name="t303"/>
              <p:cNvSpPr txBox="1"/>
              <p:nvPr/>
            </p:nvSpPr>
            <p:spPr>
              <a:xfrm>
                <a:off x="381000" y="736600"/>
                <a:ext cx="5969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Training set as matrix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4B2E83"/>
                        </a:solidFill>
                        <a:latin typeface="Cambria Math"/>
                      </a:rPr>
                      <m:t>𝑿</m:t>
                    </m:r>
                    <m:r>
                      <a:rPr lang="en-US" sz="1400">
                        <a:solidFill>
                          <a:srgbClr val="4B2E83"/>
                        </a:solidFill>
                        <a:latin typeface="Cambria Math"/>
                      </a:rPr>
                      <m:t> ∈ </m:t>
                    </m:r>
                    <m:sSup>
                      <m:sSupPr>
                        <m:ctrlP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5×1</m:t>
                        </m:r>
                      </m:sup>
                    </m:sSup>
                  </m:oMath>
                </a14:m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   (label vector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4B2E83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)</a:t>
                </a:r>
                <a:endParaRPr/>
              </a:p>
            </p:txBody>
          </p:sp>
        </mc:Choice>
        <mc:Fallback>
          <p:sp>
            <p:nvSpPr>
              <p:cNvPr id="303" name="t3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36600"/>
                <a:ext cx="5969000" cy="228600"/>
              </a:xfrm>
              <a:prstGeom prst="rect">
                <a:avLst/>
              </a:prstGeom>
              <a:blipFill>
                <a:blip r:embed="rId3"/>
                <a:stretch>
                  <a:fillRect l="-1699" t="-33333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b304"/>
          <p:cNvSpPr/>
          <p:nvPr/>
        </p:nvSpPr>
        <p:spPr>
          <a:xfrm>
            <a:off x="381000" y="990600"/>
            <a:ext cx="5969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t305"/>
              <p:cNvSpPr txBox="1"/>
              <p:nvPr/>
            </p:nvSpPr>
            <p:spPr>
              <a:xfrm>
                <a:off x="533400" y="990600"/>
                <a:ext cx="5664200" cy="406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𝑿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1  2  4  7  9</m:t>
                        </m:r>
                      </m:e>
                    </m:d>
                  </m:oMath>
                </a14:m>
                <a:r>
                  <a:rPr lang="en-US" sz="1500" i="1">
                    <a:solidFill>
                      <a:srgbClr val="333333"/>
                    </a:solidFill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333333"/>
                        </a:solidFill>
                        <a:latin typeface="Cambria Math"/>
                      </a:rPr>
                      <m:t>𝒚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A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A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B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B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333333"/>
                            </a:solidFill>
                            <a:latin typeface="Cambria Math"/>
                          </a:rPr>
                          <m:t>B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>
          <p:sp>
            <p:nvSpPr>
              <p:cNvPr id="305" name="t3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990600"/>
                <a:ext cx="5664200" cy="406400"/>
              </a:xfrm>
              <a:prstGeom prst="rect">
                <a:avLst/>
              </a:prstGeom>
              <a:blipFill>
                <a:blip r:embed="rId4"/>
                <a:stretch>
                  <a:fillRect l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6" name="t306"/>
              <p:cNvSpPr txBox="1"/>
              <p:nvPr/>
            </p:nvSpPr>
            <p:spPr>
              <a:xfrm>
                <a:off x="6540500" y="736600"/>
                <a:ext cx="1905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Query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4B2E83"/>
                        </a:solidFill>
                        <a:latin typeface="Cambria Math"/>
                      </a:rPr>
                      <m:t>𝒒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06" name="t3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500" y="736600"/>
                <a:ext cx="1905000" cy="228600"/>
              </a:xfrm>
              <a:prstGeom prst="rect">
                <a:avLst/>
              </a:prstGeom>
              <a:blipFill>
                <a:blip r:embed="rId5"/>
                <a:stretch>
                  <a:fillRect l="-5333" t="-27778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" name="b307"/>
          <p:cNvSpPr/>
          <p:nvPr/>
        </p:nvSpPr>
        <p:spPr>
          <a:xfrm>
            <a:off x="6540500" y="990600"/>
            <a:ext cx="190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308"/>
              <p:cNvSpPr txBox="1"/>
              <p:nvPr/>
            </p:nvSpPr>
            <p:spPr>
              <a:xfrm>
                <a:off x="6692900" y="990600"/>
                <a:ext cx="1600200" cy="406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/>
                        </a:rPr>
                        <m:t>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08" name="t3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900" y="990600"/>
                <a:ext cx="1600200" cy="406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9" name="t309"/>
              <p:cNvSpPr txBox="1"/>
              <p:nvPr/>
            </p:nvSpPr>
            <p:spPr>
              <a:xfrm>
                <a:off x="8636000" y="736600"/>
                <a:ext cx="3175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Metric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400" b="1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00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 − </m:t>
                        </m:r>
                        <m:r>
                          <a:rPr lang="en-US" sz="1400" b="1">
                            <a:solidFill>
                              <a:srgbClr val="4B2E83"/>
                            </a:solidFill>
                            <a:latin typeface="Cambria Math"/>
                          </a:rPr>
                          <m:t>𝒒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>
          <p:sp>
            <p:nvSpPr>
              <p:cNvPr id="309" name="t3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736600"/>
                <a:ext cx="3175000" cy="228600"/>
              </a:xfrm>
              <a:prstGeom prst="rect">
                <a:avLst/>
              </a:prstGeom>
              <a:blipFill>
                <a:blip r:embed="rId7"/>
                <a:stretch>
                  <a:fillRect l="-3187" t="-27778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b310"/>
          <p:cNvSpPr/>
          <p:nvPr/>
        </p:nvSpPr>
        <p:spPr>
          <a:xfrm>
            <a:off x="8636000" y="990600"/>
            <a:ext cx="317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1" name="t311"/>
              <p:cNvSpPr txBox="1"/>
              <p:nvPr/>
            </p:nvSpPr>
            <p:spPr>
              <a:xfrm>
                <a:off x="8788400" y="990600"/>
                <a:ext cx="2870200" cy="406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14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𝒒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4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4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 − </m:t>
                              </m:r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𝒒</m:t>
                              </m:r>
                            </m:e>
                          </m:d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1" name="t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8400" y="990600"/>
                <a:ext cx="2870200" cy="406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2" name="t312"/>
              <p:cNvSpPr txBox="1"/>
              <p:nvPr/>
            </p:nvSpPr>
            <p:spPr>
              <a:xfrm>
                <a:off x="381000" y="1676400"/>
                <a:ext cx="7112000" cy="254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Step 1 — distance vector 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4B2E83"/>
                        </a:solidFill>
                        <a:latin typeface="Cambria Math"/>
                      </a:rPr>
                      <m:t>𝒅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/>
                      </a:rPr>
                      <m:t> = </m:t>
                    </m:r>
                    <m:d>
                      <m:dPr>
                        <m:begChr m:val="‖"/>
                        <m:endChr m:val="‖"/>
                        <m:ctrlPr>
                          <a:rPr lang="en-US" sz="1500" b="1">
                            <a:solidFill>
                              <a:srgbClr val="4B2E8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4B2E83"/>
                            </a:solidFill>
                            <a:latin typeface="Cambria Math"/>
                          </a:rPr>
                          <m:t>𝑿</m:t>
                        </m:r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 − </m:t>
                        </m:r>
                        <m:r>
                          <a:rPr lang="en-US" sz="1500" b="1">
                            <a:solidFill>
                              <a:srgbClr val="4B2E83"/>
                            </a:solidFill>
                            <a:latin typeface="Cambria Math"/>
                          </a:rPr>
                          <m:t>𝟏</m:t>
                        </m:r>
                        <m:sSup>
                          <m:sSupPr>
                            <m:ctrlP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𝒒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5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  (row-wise)</a:t>
                </a:r>
                <a:endParaRPr/>
              </a:p>
            </p:txBody>
          </p:sp>
        </mc:Choice>
        <mc:Fallback>
          <p:sp>
            <p:nvSpPr>
              <p:cNvPr id="312" name="t3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76400"/>
                <a:ext cx="7112000" cy="254000"/>
              </a:xfrm>
              <a:prstGeom prst="rect">
                <a:avLst/>
              </a:prstGeom>
              <a:blipFill>
                <a:blip r:embed="rId9"/>
                <a:stretch>
                  <a:fillRect l="-1429" t="-2381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3" name="t313"/>
              <p:cNvSpPr txBox="1"/>
              <p:nvPr/>
            </p:nvSpPr>
            <p:spPr>
              <a:xfrm>
                <a:off x="508000" y="2159000"/>
                <a:ext cx="3810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𝒒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1 − 5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3" name="t3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159000"/>
                <a:ext cx="3810000" cy="279400"/>
              </a:xfrm>
              <a:prstGeom prst="rect">
                <a:avLst/>
              </a:prstGeom>
              <a:blipFill>
                <a:blip r:embed="rId10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4" name="t314"/>
              <p:cNvSpPr txBox="1"/>
              <p:nvPr/>
            </p:nvSpPr>
            <p:spPr>
              <a:xfrm>
                <a:off x="4572000" y="21590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4" name="t3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159000"/>
                <a:ext cx="698500" cy="279400"/>
              </a:xfrm>
              <a:prstGeom prst="rect">
                <a:avLst/>
              </a:prstGeom>
              <a:blipFill>
                <a:blip r:embed="rId1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5" name="t315"/>
              <p:cNvSpPr txBox="1"/>
              <p:nvPr/>
            </p:nvSpPr>
            <p:spPr>
              <a:xfrm>
                <a:off x="508000" y="2692400"/>
                <a:ext cx="3810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𝒒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2 − 5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5" name="t3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692400"/>
                <a:ext cx="3810000" cy="279400"/>
              </a:xfrm>
              <a:prstGeom prst="rect">
                <a:avLst/>
              </a:prstGeom>
              <a:blipFill>
                <a:blip r:embed="rId12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6" name="t316"/>
              <p:cNvSpPr txBox="1"/>
              <p:nvPr/>
            </p:nvSpPr>
            <p:spPr>
              <a:xfrm>
                <a:off x="4572000" y="26924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6" name="t3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692400"/>
                <a:ext cx="698500" cy="2794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" name="t317"/>
              <p:cNvSpPr txBox="1"/>
              <p:nvPr/>
            </p:nvSpPr>
            <p:spPr>
              <a:xfrm>
                <a:off x="508000" y="3225800"/>
                <a:ext cx="3810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𝒒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4 − 5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7" name="t3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225800"/>
                <a:ext cx="3810000" cy="279400"/>
              </a:xfrm>
              <a:prstGeom prst="rect">
                <a:avLst/>
              </a:prstGeom>
              <a:blipFill>
                <a:blip r:embed="rId14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8" name="t318"/>
              <p:cNvSpPr txBox="1"/>
              <p:nvPr/>
            </p:nvSpPr>
            <p:spPr>
              <a:xfrm>
                <a:off x="4572000" y="32258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8" name="t3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225800"/>
                <a:ext cx="698500" cy="279400"/>
              </a:xfrm>
              <a:prstGeom prst="rect">
                <a:avLst/>
              </a:prstGeom>
              <a:blipFill>
                <a:blip r:embed="rId1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t319"/>
          <p:cNvSpPr txBox="1"/>
          <p:nvPr/>
        </p:nvSpPr>
        <p:spPr>
          <a:xfrm>
            <a:off x="5397500" y="32258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0" name="t320"/>
              <p:cNvSpPr txBox="1"/>
              <p:nvPr/>
            </p:nvSpPr>
            <p:spPr>
              <a:xfrm>
                <a:off x="508000" y="3759200"/>
                <a:ext cx="3810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𝒒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7 − 5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0" name="t3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759200"/>
                <a:ext cx="3810000" cy="279400"/>
              </a:xfrm>
              <a:prstGeom prst="rect">
                <a:avLst/>
              </a:prstGeom>
              <a:blipFill>
                <a:blip r:embed="rId16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t321"/>
              <p:cNvSpPr txBox="1"/>
              <p:nvPr/>
            </p:nvSpPr>
            <p:spPr>
              <a:xfrm>
                <a:off x="4572000" y="37592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1" name="t3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759200"/>
                <a:ext cx="698500" cy="279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t322"/>
          <p:cNvSpPr txBox="1"/>
          <p:nvPr/>
        </p:nvSpPr>
        <p:spPr>
          <a:xfrm>
            <a:off x="5397500" y="37592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3" name="t323"/>
              <p:cNvSpPr txBox="1"/>
              <p:nvPr/>
            </p:nvSpPr>
            <p:spPr>
              <a:xfrm>
                <a:off x="508000" y="4292600"/>
                <a:ext cx="3810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15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𝒒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9 − 5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3" name="t3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4292600"/>
                <a:ext cx="3810000" cy="279400"/>
              </a:xfrm>
              <a:prstGeom prst="rect">
                <a:avLst/>
              </a:prstGeom>
              <a:blipFill>
                <a:blip r:embed="rId18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4" name="t324"/>
              <p:cNvSpPr txBox="1"/>
              <p:nvPr/>
            </p:nvSpPr>
            <p:spPr>
              <a:xfrm>
                <a:off x="4572000" y="42926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4" name="t3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292600"/>
                <a:ext cx="698500" cy="279400"/>
              </a:xfrm>
              <a:prstGeom prst="rect">
                <a:avLst/>
              </a:prstGeom>
              <a:blipFill>
                <a:blip r:embed="rId1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5" name="t325"/>
          <p:cNvSpPr txBox="1"/>
          <p:nvPr/>
        </p:nvSpPr>
        <p:spPr>
          <a:xfrm>
            <a:off x="5397500" y="26924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6" name="t326"/>
          <p:cNvSpPr txBox="1"/>
          <p:nvPr/>
        </p:nvSpPr>
        <p:spPr>
          <a:xfrm>
            <a:off x="7620000" y="1676400"/>
            <a:ext cx="4191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Step 2 — 3-NN majority vote</a:t>
            </a:r>
          </a:p>
        </p:txBody>
      </p:sp>
      <p:sp>
        <p:nvSpPr>
          <p:cNvPr id="327" name="b327"/>
          <p:cNvSpPr/>
          <p:nvPr/>
        </p:nvSpPr>
        <p:spPr>
          <a:xfrm>
            <a:off x="7620000" y="1955800"/>
            <a:ext cx="4191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8" name="t328"/>
              <p:cNvSpPr txBox="1"/>
              <p:nvPr/>
            </p:nvSpPr>
            <p:spPr>
              <a:xfrm>
                <a:off x="7772400" y="2057400"/>
                <a:ext cx="3886200" cy="381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Sort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333333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onsolas"/>
                    <a:cs typeface="Consolas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333333"/>
                        </a:solidFill>
                        <a:latin typeface="Cambria Math"/>
                      </a:rPr>
                      <m:t>𝝅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argsort</m:t>
                    </m:r>
                    <m:d>
                      <m:dPr>
                        <m:ctrlP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3, 4, 2, 1, 5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>
          <p:sp>
            <p:nvSpPr>
              <p:cNvPr id="328" name="t3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057400"/>
                <a:ext cx="3886200" cy="381000"/>
              </a:xfrm>
              <a:prstGeom prst="rect">
                <a:avLst/>
              </a:prstGeom>
              <a:blipFill>
                <a:blip r:embed="rId19"/>
                <a:stretch>
                  <a:fillRect l="-260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9" name="t329"/>
              <p:cNvSpPr txBox="1"/>
              <p:nvPr/>
            </p:nvSpPr>
            <p:spPr>
              <a:xfrm>
                <a:off x="7772400" y="2603500"/>
                <a:ext cx="3886200" cy="508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N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400" b="1">
                          <a:solidFill>
                            <a:srgbClr val="333333"/>
                          </a:solidFill>
                          <a:latin typeface="Cambria Math"/>
                        </a:rPr>
                        <m:t>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1:3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 b="1">
                          <a:solidFill>
                            <a:srgbClr val="333333"/>
                          </a:solidFill>
                          <a:latin typeface="Cambria Math"/>
                        </a:rPr>
                        <m:t>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N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9" name="t3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603500"/>
                <a:ext cx="3886200" cy="508000"/>
              </a:xfrm>
              <a:prstGeom prst="rect">
                <a:avLst/>
              </a:prstGeom>
              <a:blipFill>
                <a:blip r:embed="rId20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t330"/>
              <p:cNvSpPr txBox="1"/>
              <p:nvPr/>
            </p:nvSpPr>
            <p:spPr>
              <a:xfrm>
                <a:off x="7772400" y="3175000"/>
                <a:ext cx="3886200" cy="5588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ŷ =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mode</m:t>
                      </m:r>
                      <m:d>
                        <m:dPr>
                          <m:ctrlPr>
                            <a:rPr lang="en-US" sz="16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</m:d>
                        </m:e>
                      </m:d>
                      <m: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333333"/>
                          </a:solidFill>
                          <a:latin typeface="Cambria Math"/>
                        </a:rPr>
                        <m:t>B</m:t>
                      </m:r>
                    </m:oMath>
                  </m:oMathPara>
                </a14:m>
                <a:endParaRPr/>
              </a:p>
              <a:p>
                <a:pPr algn="l">
                  <a:buNone/>
                </a:pPr>
                <a:r>
                  <a:rPr lang="en-US" sz="1600">
                    <a:solidFill>
                      <a:srgbClr val="333333"/>
                    </a:solidFill>
                    <a:latin typeface="Cambria Math"/>
                  </a:rPr>
                  <a:t>(2 of 3)</a:t>
                </a:r>
                <a:endParaRPr/>
              </a:p>
            </p:txBody>
          </p:sp>
        </mc:Choice>
        <mc:Fallback>
          <p:sp>
            <p:nvSpPr>
              <p:cNvPr id="330" name="t3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3175000"/>
                <a:ext cx="3886200" cy="558800"/>
              </a:xfrm>
              <a:prstGeom prst="rect">
                <a:avLst/>
              </a:prstGeom>
              <a:blipFill>
                <a:blip r:embed="rId21"/>
                <a:stretch>
                  <a:fillRect l="-293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1" name="t331"/>
              <p:cNvSpPr txBox="1"/>
              <p:nvPr/>
            </p:nvSpPr>
            <p:spPr>
              <a:xfrm>
                <a:off x="381000" y="4724400"/>
                <a:ext cx="11430000" cy="254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Distance diagnostic — spread of the norm vector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4B2E83"/>
                        </a:solidFill>
                        <a:latin typeface="Cambria Math"/>
                      </a:rPr>
                      <m:t>𝒅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31" name="t3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724400"/>
                <a:ext cx="11430000" cy="254000"/>
              </a:xfrm>
              <a:prstGeom prst="rect">
                <a:avLst/>
              </a:prstGeom>
              <a:blipFill>
                <a:blip r:embed="rId22"/>
                <a:stretch>
                  <a:fillRect l="-888" t="-2381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2" name="b332"/>
          <p:cNvSpPr/>
          <p:nvPr/>
        </p:nvSpPr>
        <p:spPr>
          <a:xfrm>
            <a:off x="381000" y="5003800"/>
            <a:ext cx="11430000" cy="6096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3" name="t333"/>
              <p:cNvSpPr txBox="1"/>
              <p:nvPr/>
            </p:nvSpPr>
            <p:spPr>
              <a:xfrm>
                <a:off x="571500" y="5080000"/>
                <a:ext cx="11049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max</m:t>
                    </m:r>
                    <m:d>
                      <m:d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4</m:t>
                    </m:r>
                  </m:oMath>
                </a14:m>
                <a:r>
                  <a:rPr lang="en-US" sz="1500">
                    <a:solidFill>
                      <a:srgbClr val="333333"/>
                    </a:solidFill>
                    <a:latin typeface="Cambria Math"/>
                  </a:rPr>
                  <a:t>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min</m:t>
                    </m:r>
                    <m:d>
                      <m:d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1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33" name="t3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5080000"/>
                <a:ext cx="11049000" cy="228600"/>
              </a:xfrm>
              <a:prstGeom prst="rect">
                <a:avLst/>
              </a:prstGeom>
              <a:blipFill>
                <a:blip r:embed="rId23"/>
                <a:stretch>
                  <a:fillRect l="-345" t="-5000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4" name="t334"/>
              <p:cNvSpPr txBox="1"/>
              <p:nvPr/>
            </p:nvSpPr>
            <p:spPr>
              <a:xfrm>
                <a:off x="571500" y="5334000"/>
                <a:ext cx="11049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ratio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max</m:t>
                    </m:r>
                    <m:d>
                      <m:d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/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min</m:t>
                    </m:r>
                    <m:d>
                      <m:d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4.00×</m:t>
                    </m:r>
                  </m:oMath>
                </a14:m>
                <a:r>
                  <a:rPr lang="en-US" sz="1500">
                    <a:solidFill>
                      <a:srgbClr val="333333"/>
                    </a:solidFill>
                    <a:latin typeface="Cambria Math"/>
                  </a:rPr>
                  <a:t>   — the nearest point is 4× closer than the farthest</a:t>
                </a:r>
                <a:endParaRPr/>
              </a:p>
            </p:txBody>
          </p:sp>
        </mc:Choice>
        <mc:Fallback>
          <p:sp>
            <p:nvSpPr>
              <p:cNvPr id="334" name="t3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5334000"/>
                <a:ext cx="11049000" cy="228600"/>
              </a:xfrm>
              <a:prstGeom prst="rect">
                <a:avLst/>
              </a:prstGeom>
              <a:blipFill>
                <a:blip r:embed="rId24"/>
                <a:stretch>
                  <a:fillRect l="-460" t="-26316" b="-4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b335"/>
          <p:cNvSpPr/>
          <p:nvPr/>
        </p:nvSpPr>
        <p:spPr>
          <a:xfrm>
            <a:off x="381000" y="5740400"/>
            <a:ext cx="11430000" cy="7366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6" name="t336"/>
              <p:cNvSpPr txBox="1"/>
              <p:nvPr/>
            </p:nvSpPr>
            <p:spPr>
              <a:xfrm>
                <a:off x="571500" y="5740400"/>
                <a:ext cx="11049000" cy="736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FF"/>
                        </a:solidFill>
                        <a:latin typeface="Cambria Math"/>
                      </a:rPr>
                      <m:t>𝑑</m:t>
                    </m:r>
                    <m:r>
                      <a:rPr lang="en-US" sz="1600">
                        <a:solidFill>
                          <a:srgbClr val="FFFFFF"/>
                        </a:solidFill>
                        <a:latin typeface="Cambria Math"/>
                      </a:rPr>
                      <m:t> = 1</m:t>
                    </m:r>
                  </m:oMath>
                </a14:m>
                <a:r>
                  <a:rPr lang="en-US" sz="16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 the norm vector </a:t>
                </a:r>
                <a14:m>
                  <m:oMath xmlns:m="http://schemas.openxmlformats.org/officeDocument/2006/math">
                    <m:r>
                      <a:rPr lang="en-US" sz="1600" b="1">
                        <a:solidFill>
                          <a:srgbClr val="FFFFFF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16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 is highly discriminative: a 4× gap between nearest and farthest. KNN's similarity signal is strong.</a:t>
                </a:r>
                <a:endParaRPr/>
              </a:p>
            </p:txBody>
          </p:sp>
        </mc:Choice>
        <mc:Fallback>
          <p:sp>
            <p:nvSpPr>
              <p:cNvPr id="336" name="t3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5740400"/>
                <a:ext cx="11049000" cy="7366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49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b331"/>
          <p:cNvSpPr/>
          <p:nvPr/>
        </p:nvSpPr>
        <p:spPr>
          <a:xfrm>
            <a:off x="381000" y="4927600"/>
            <a:ext cx="11430000" cy="6096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301" name="b301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2" name="t302"/>
              <p:cNvSpPr txBox="1"/>
              <p:nvPr/>
            </p:nvSpPr>
            <p:spPr>
              <a:xfrm>
                <a:off x="533400" y="228600"/>
                <a:ext cx="11125200" cy="381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Curse of dimensionality — Stage 2: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𝑑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 = 2</m:t>
                    </m:r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 (matrix / vector form)</a:t>
                </a:r>
                <a:endParaRPr/>
              </a:p>
            </p:txBody>
          </p:sp>
        </mc:Choice>
        <mc:Fallback>
          <p:sp>
            <p:nvSpPr>
              <p:cNvPr id="302" name="t3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28600"/>
                <a:ext cx="11125200" cy="381000"/>
              </a:xfrm>
              <a:prstGeom prst="rect">
                <a:avLst/>
              </a:prstGeom>
              <a:blipFill>
                <a:blip r:embed="rId2"/>
                <a:stretch>
                  <a:fillRect l="-1254" t="-13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3" name="t303"/>
              <p:cNvSpPr txBox="1"/>
              <p:nvPr/>
            </p:nvSpPr>
            <p:spPr>
              <a:xfrm>
                <a:off x="381000" y="736600"/>
                <a:ext cx="5969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Training matrix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4B2E83"/>
                        </a:solidFill>
                        <a:latin typeface="Cambria Math"/>
                      </a:rPr>
                      <m:t>𝑿</m:t>
                    </m:r>
                    <m:r>
                      <a:rPr lang="en-US" sz="1400">
                        <a:solidFill>
                          <a:srgbClr val="4B2E83"/>
                        </a:solidFill>
                        <a:latin typeface="Cambria Math"/>
                      </a:rPr>
                      <m:t> ∈ </m:t>
                    </m:r>
                    <m:sSup>
                      <m:sSupPr>
                        <m:ctrlP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5×2</m:t>
                        </m:r>
                      </m:sup>
                    </m:sSup>
                  </m:oMath>
                </a14:m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   (rows = points)</a:t>
                </a:r>
                <a:endParaRPr/>
              </a:p>
            </p:txBody>
          </p:sp>
        </mc:Choice>
        <mc:Fallback>
          <p:sp>
            <p:nvSpPr>
              <p:cNvPr id="303" name="t3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36600"/>
                <a:ext cx="5969000" cy="228600"/>
              </a:xfrm>
              <a:prstGeom prst="rect">
                <a:avLst/>
              </a:prstGeom>
              <a:blipFill>
                <a:blip r:embed="rId3"/>
                <a:stretch>
                  <a:fillRect l="-1699" t="-33333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b304"/>
          <p:cNvSpPr/>
          <p:nvPr/>
        </p:nvSpPr>
        <p:spPr>
          <a:xfrm>
            <a:off x="381000" y="990600"/>
            <a:ext cx="5969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t305"/>
              <p:cNvSpPr txBox="1"/>
              <p:nvPr/>
            </p:nvSpPr>
            <p:spPr>
              <a:xfrm>
                <a:off x="533400" y="990600"/>
                <a:ext cx="5664200" cy="406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333333"/>
                        </a:solidFill>
                        <a:latin typeface="Cambria Math"/>
                      </a:rPr>
                      <m:t>𝑿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1,2</m:t>
                            </m:r>
                          </m:e>
                        </m:d>
                        <m:d>
                          <m:dPr>
                            <m:ctrlP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2,1</m:t>
                            </m:r>
                          </m:e>
                        </m:d>
                        <m:d>
                          <m:dPr>
                            <m:ctrlP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4,8</m:t>
                            </m:r>
                          </m:e>
                        </m:d>
                        <m:d>
                          <m:dPr>
                            <m:ctrlP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7,5</m:t>
                            </m:r>
                          </m:e>
                        </m:d>
                        <m:d>
                          <m:dPr>
                            <m:ctrlP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>
                                <a:solidFill>
                                  <a:srgbClr val="333333"/>
                                </a:solidFill>
                                <a:latin typeface="Cambria Math"/>
                              </a:rPr>
                              <m:t>9,9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400" b="1">
                    <a:solidFill>
                      <a:srgbClr val="333333"/>
                    </a:solidFill>
                    <a:latin typeface="Cambria Math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333333"/>
                        </a:solidFill>
                        <a:latin typeface="Cambria Math"/>
                      </a:rPr>
                      <m:t>𝒚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A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A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B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B</m:t>
                        </m:r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B</m:t>
                        </m:r>
                      </m:e>
                    </m:d>
                  </m:oMath>
                </a14:m>
                <a:endParaRPr/>
              </a:p>
            </p:txBody>
          </p:sp>
        </mc:Choice>
        <mc:Fallback>
          <p:sp>
            <p:nvSpPr>
              <p:cNvPr id="305" name="t3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990600"/>
                <a:ext cx="5664200" cy="406400"/>
              </a:xfrm>
              <a:prstGeom prst="rect">
                <a:avLst/>
              </a:prstGeom>
              <a:blipFill>
                <a:blip r:embed="rId4"/>
                <a:stretch>
                  <a:fillRect l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6" name="t306"/>
              <p:cNvSpPr txBox="1"/>
              <p:nvPr/>
            </p:nvSpPr>
            <p:spPr>
              <a:xfrm>
                <a:off x="6540500" y="736600"/>
                <a:ext cx="1905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Query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4B2E83"/>
                        </a:solidFill>
                        <a:latin typeface="Cambria Math"/>
                      </a:rPr>
                      <m:t>𝒒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06" name="t3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500" y="736600"/>
                <a:ext cx="1905000" cy="228600"/>
              </a:xfrm>
              <a:prstGeom prst="rect">
                <a:avLst/>
              </a:prstGeom>
              <a:blipFill>
                <a:blip r:embed="rId5"/>
                <a:stretch>
                  <a:fillRect l="-5333" t="-27778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" name="b307"/>
          <p:cNvSpPr/>
          <p:nvPr/>
        </p:nvSpPr>
        <p:spPr>
          <a:xfrm>
            <a:off x="6540500" y="990600"/>
            <a:ext cx="190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308"/>
              <p:cNvSpPr txBox="1"/>
              <p:nvPr/>
            </p:nvSpPr>
            <p:spPr>
              <a:xfrm>
                <a:off x="6692900" y="990600"/>
                <a:ext cx="1600200" cy="406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/>
                        </a:rPr>
                        <m:t>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5, 5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08" name="t3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900" y="990600"/>
                <a:ext cx="1600200" cy="406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9" name="t309"/>
              <p:cNvSpPr txBox="1"/>
              <p:nvPr/>
            </p:nvSpPr>
            <p:spPr>
              <a:xfrm>
                <a:off x="8636000" y="584200"/>
                <a:ext cx="3175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Metric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400" b="1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4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 − </m:t>
                            </m:r>
                            <m:r>
                              <a:rPr lang="en-US" sz="14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𝒒</m:t>
                            </m:r>
                          </m:e>
                        </m:d>
                      </m:e>
                      <m:sub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>
          <p:sp>
            <p:nvSpPr>
              <p:cNvPr id="309" name="t3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584200"/>
                <a:ext cx="3175000" cy="228600"/>
              </a:xfrm>
              <a:prstGeom prst="rect">
                <a:avLst/>
              </a:prstGeom>
              <a:blipFill>
                <a:blip r:embed="rId7"/>
                <a:stretch>
                  <a:fillRect l="-3187" t="-27778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b310"/>
          <p:cNvSpPr/>
          <p:nvPr/>
        </p:nvSpPr>
        <p:spPr>
          <a:xfrm>
            <a:off x="8636000" y="812800"/>
            <a:ext cx="3175000" cy="8382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1" name="t311"/>
              <p:cNvSpPr txBox="1"/>
              <p:nvPr/>
            </p:nvSpPr>
            <p:spPr>
              <a:xfrm>
                <a:off x="8788400" y="838200"/>
                <a:ext cx="2870200" cy="787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11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1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1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11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1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1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1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sz="1100">
                                          <a:solidFill>
                                            <a:srgbClr val="333333"/>
                                          </a:solidFill>
                                          <a:latin typeface="Cambria Math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US" sz="11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11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1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1" name="t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8400" y="838200"/>
                <a:ext cx="2870200" cy="787400"/>
              </a:xfrm>
              <a:prstGeom prst="rect">
                <a:avLst/>
              </a:prstGeom>
              <a:blipFill>
                <a:blip r:embed="rId8"/>
                <a:stretch>
                  <a:fillRect t="-47619" b="-8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2" name="t312"/>
              <p:cNvSpPr txBox="1"/>
              <p:nvPr/>
            </p:nvSpPr>
            <p:spPr>
              <a:xfrm>
                <a:off x="381000" y="1676400"/>
                <a:ext cx="7112000" cy="254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Step 1 — distance vector 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4B2E83"/>
                        </a:solidFill>
                        <a:latin typeface="Cambria Math"/>
                      </a:rPr>
                      <m:t>𝒅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/>
                      </a:rPr>
                      <m:t> = </m:t>
                    </m:r>
                    <m:sSub>
                      <m:sSubPr>
                        <m:ctrlPr>
                          <a:rPr lang="en-US" sz="1500" b="1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 − </m:t>
                            </m:r>
                            <m: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𝟏</m:t>
                            </m:r>
                            <m:sSup>
                              <m:sSupPr>
                                <m:ctrlPr>
                                  <a:rPr lang="en-US" sz="15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15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𝒒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2,</m:t>
                        </m:r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row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>
          <p:sp>
            <p:nvSpPr>
              <p:cNvPr id="312" name="t3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76400"/>
                <a:ext cx="7112000" cy="254000"/>
              </a:xfrm>
              <a:prstGeom prst="rect">
                <a:avLst/>
              </a:prstGeom>
              <a:blipFill>
                <a:blip r:embed="rId9"/>
                <a:stretch>
                  <a:fillRect l="-1429" t="-2381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3" name="t313"/>
              <p:cNvSpPr txBox="1"/>
              <p:nvPr/>
            </p:nvSpPr>
            <p:spPr>
              <a:xfrm>
                <a:off x="508000" y="21590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3" name="t3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159000"/>
                <a:ext cx="3937000" cy="279400"/>
              </a:xfrm>
              <a:prstGeom prst="rect">
                <a:avLst/>
              </a:prstGeom>
              <a:blipFill>
                <a:blip r:embed="rId10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4" name="t314"/>
              <p:cNvSpPr txBox="1"/>
              <p:nvPr/>
            </p:nvSpPr>
            <p:spPr>
              <a:xfrm>
                <a:off x="4572000" y="21590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7AB648"/>
                          </a:solidFill>
                          <a:latin typeface="Cambria Math"/>
                        </a:rPr>
                        <m:t>5.00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4" name="t3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159000"/>
                <a:ext cx="698500" cy="279400"/>
              </a:xfrm>
              <a:prstGeom prst="rect">
                <a:avLst/>
              </a:prstGeom>
              <a:blipFill>
                <a:blip r:embed="rId1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5" name="t315"/>
              <p:cNvSpPr txBox="1"/>
              <p:nvPr/>
            </p:nvSpPr>
            <p:spPr>
              <a:xfrm>
                <a:off x="508000" y="26924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5" name="t3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692400"/>
                <a:ext cx="3937000" cy="279400"/>
              </a:xfrm>
              <a:prstGeom prst="rect">
                <a:avLst/>
              </a:prstGeom>
              <a:blipFill>
                <a:blip r:embed="rId12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6" name="t316"/>
              <p:cNvSpPr txBox="1"/>
              <p:nvPr/>
            </p:nvSpPr>
            <p:spPr>
              <a:xfrm>
                <a:off x="4572000" y="26924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595959"/>
                          </a:solidFill>
                          <a:latin typeface="Cambria Math"/>
                        </a:rPr>
                        <m:t>5.00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6" name="t3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692400"/>
                <a:ext cx="698500" cy="279400"/>
              </a:xfrm>
              <a:prstGeom prst="rect">
                <a:avLst/>
              </a:prstGeom>
              <a:blipFill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" name="t317"/>
              <p:cNvSpPr txBox="1"/>
              <p:nvPr/>
            </p:nvSpPr>
            <p:spPr>
              <a:xfrm>
                <a:off x="508000" y="32258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5−4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7" name="t3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225800"/>
                <a:ext cx="3937000" cy="279400"/>
              </a:xfrm>
              <a:prstGeom prst="rect">
                <a:avLst/>
              </a:prstGeom>
              <a:blipFill>
                <a:blip r:embed="rId14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8" name="t318"/>
              <p:cNvSpPr txBox="1"/>
              <p:nvPr/>
            </p:nvSpPr>
            <p:spPr>
              <a:xfrm>
                <a:off x="4572000" y="32258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7AB648"/>
                          </a:solidFill>
                          <a:latin typeface="Cambria Math"/>
                        </a:rPr>
                        <m:t>3.16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8" name="t3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225800"/>
                <a:ext cx="698500" cy="279400"/>
              </a:xfrm>
              <a:prstGeom prst="rect">
                <a:avLst/>
              </a:prstGeom>
              <a:blipFill>
                <a:blip r:embed="rId1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t319"/>
          <p:cNvSpPr txBox="1"/>
          <p:nvPr/>
        </p:nvSpPr>
        <p:spPr>
          <a:xfrm>
            <a:off x="5397500" y="32258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9319" name="t319"/>
          <p:cNvSpPr txBox="1"/>
          <p:nvPr/>
        </p:nvSpPr>
        <p:spPr>
          <a:xfrm>
            <a:off x="5397500" y="21590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0" name="t320"/>
              <p:cNvSpPr txBox="1"/>
              <p:nvPr/>
            </p:nvSpPr>
            <p:spPr>
              <a:xfrm>
                <a:off x="508000" y="37592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4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0" name="t3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759200"/>
                <a:ext cx="3937000" cy="279400"/>
              </a:xfrm>
              <a:prstGeom prst="rect">
                <a:avLst/>
              </a:prstGeom>
              <a:blipFill>
                <a:blip r:embed="rId16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t321"/>
              <p:cNvSpPr txBox="1"/>
              <p:nvPr/>
            </p:nvSpPr>
            <p:spPr>
              <a:xfrm>
                <a:off x="4572000" y="37592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7AB648"/>
                          </a:solidFill>
                          <a:latin typeface="Cambria Math"/>
                        </a:rPr>
                        <m:t>2.00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1" name="t3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759200"/>
                <a:ext cx="698500" cy="279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t322"/>
          <p:cNvSpPr txBox="1"/>
          <p:nvPr/>
        </p:nvSpPr>
        <p:spPr>
          <a:xfrm>
            <a:off x="5397500" y="37592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3" name="t323"/>
              <p:cNvSpPr txBox="1"/>
              <p:nvPr/>
            </p:nvSpPr>
            <p:spPr>
              <a:xfrm>
                <a:off x="508000" y="42926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5−9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5−9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32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3" name="t3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4292600"/>
                <a:ext cx="3937000" cy="279400"/>
              </a:xfrm>
              <a:prstGeom prst="rect">
                <a:avLst/>
              </a:prstGeom>
              <a:blipFill>
                <a:blip r:embed="rId18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4" name="t324"/>
              <p:cNvSpPr txBox="1"/>
              <p:nvPr/>
            </p:nvSpPr>
            <p:spPr>
              <a:xfrm>
                <a:off x="4572000" y="42926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595959"/>
                          </a:solidFill>
                          <a:latin typeface="Cambria Math"/>
                        </a:rPr>
                        <m:t>5.66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4" name="t3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292600"/>
                <a:ext cx="698500" cy="279400"/>
              </a:xfrm>
              <a:prstGeom prst="rect">
                <a:avLst/>
              </a:prstGeom>
              <a:blipFill>
                <a:blip r:embed="rId1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5" name="t325"/>
          <p:cNvSpPr txBox="1"/>
          <p:nvPr/>
        </p:nvSpPr>
        <p:spPr>
          <a:xfrm>
            <a:off x="7620000" y="1651000"/>
            <a:ext cx="4191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100" b="1" dirty="0">
                <a:solidFill>
                  <a:srgbClr val="4B2E83"/>
                </a:solidFill>
                <a:latin typeface="Arial"/>
                <a:cs typeface="Arial"/>
              </a:rPr>
              <a:t>Step 2 — 3-NN majority vote</a:t>
            </a:r>
          </a:p>
        </p:txBody>
      </p:sp>
      <p:sp>
        <p:nvSpPr>
          <p:cNvPr id="326" name="b326"/>
          <p:cNvSpPr/>
          <p:nvPr/>
        </p:nvSpPr>
        <p:spPr>
          <a:xfrm>
            <a:off x="7620000" y="1905000"/>
            <a:ext cx="4191000" cy="193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 sz="15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" name="t327"/>
              <p:cNvSpPr txBox="1"/>
              <p:nvPr/>
            </p:nvSpPr>
            <p:spPr>
              <a:xfrm>
                <a:off x="7772400" y="2006600"/>
                <a:ext cx="38862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>
                          <a:solidFill>
                            <a:srgbClr val="333333"/>
                          </a:solidFill>
                          <a:latin typeface="Cambria Math"/>
                        </a:rPr>
                        <m:t>𝝅</m:t>
                      </m:r>
                      <m:r>
                        <a:rPr lang="en-US" sz="11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100">
                          <a:solidFill>
                            <a:srgbClr val="333333"/>
                          </a:solidFill>
                          <a:latin typeface="Cambria Math"/>
                        </a:rPr>
                        <m:t>argsort</m:t>
                      </m:r>
                      <m:d>
                        <m:dPr>
                          <m:ctrlPr>
                            <a:rPr lang="en-US" sz="11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𝒅</m:t>
                          </m:r>
                        </m:e>
                      </m:d>
                      <m:r>
                        <a:rPr lang="en-US" sz="11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4, 3, 1, 2, 5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7" name="t3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006600"/>
                <a:ext cx="3886200" cy="279400"/>
              </a:xfrm>
              <a:prstGeom prst="rect">
                <a:avLst/>
              </a:prstGeom>
              <a:blipFill>
                <a:blip r:embed="rId2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8" name="t328"/>
              <p:cNvSpPr txBox="1"/>
              <p:nvPr/>
            </p:nvSpPr>
            <p:spPr>
              <a:xfrm>
                <a:off x="7772400" y="2387600"/>
                <a:ext cx="3886200" cy="5842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N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  <a:p>
                <a:pPr algn="l">
                  <a:buNone/>
                </a:pPr>
                <a:r>
                  <a:rPr lang="en-US" sz="1400">
                    <a:solidFill>
                      <a:srgbClr val="333333"/>
                    </a:solidFill>
                    <a:latin typeface="Cambria Math"/>
                  </a:rPr>
                  <a:t>labels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B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B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400">
                    <a:solidFill>
                      <a:srgbClr val="333333"/>
                    </a:solidFill>
                    <a:latin typeface="Cambria Math"/>
                  </a:rPr>
                  <a:t>  ·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333333"/>
                        </a:solidFill>
                        <a:latin typeface="Cambria Math"/>
                      </a:rPr>
                      <m:t>𝒅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 = 2.00, 3.16, 5.00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28" name="t3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387600"/>
                <a:ext cx="3886200" cy="584200"/>
              </a:xfrm>
              <a:prstGeom prst="rect">
                <a:avLst/>
              </a:prstGeom>
              <a:blipFill>
                <a:blip r:embed="rId21"/>
                <a:stretch>
                  <a:fillRect l="-2606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9" name="t329"/>
              <p:cNvSpPr txBox="1"/>
              <p:nvPr/>
            </p:nvSpPr>
            <p:spPr>
              <a:xfrm>
                <a:off x="7772400" y="3073400"/>
                <a:ext cx="3886200" cy="381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7AB648"/>
                        </a:solidFill>
                        <a:latin typeface="Cambria Math"/>
                      </a:rPr>
                      <m:t>ŷ =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7AB648"/>
                        </a:solidFill>
                        <a:latin typeface="Cambria Math"/>
                      </a:rPr>
                      <m:t>mode</m:t>
                    </m:r>
                    <m:d>
                      <m:dPr>
                        <m:ctrlPr>
                          <a:rPr lang="en-US" sz="1400" b="1">
                            <a:solidFill>
                              <a:srgbClr val="7AB648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400" b="1">
                            <a:solidFill>
                              <a:srgbClr val="7AB648"/>
                            </a:solidFill>
                            <a:latin typeface="Cambria Math"/>
                          </a:rPr>
                          <m:t>𝒚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>
                                <a:solidFill>
                                  <a:srgbClr val="7AB648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rgbClr val="7AB648"/>
                                </a:solidFill>
                                <a:latin typeface="Cambria Math"/>
                              </a:rPr>
                              <m:t>N</m:t>
                            </m:r>
                          </m:e>
                        </m:d>
                      </m:e>
                    </m:d>
                    <m:r>
                      <a:rPr lang="en-US" sz="1400">
                        <a:solidFill>
                          <a:srgbClr val="7AB648"/>
                        </a:solidFill>
                        <a:latin typeface="Cambria Math"/>
                      </a:rPr>
                      <m:t> =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7AB648"/>
                        </a:solidFill>
                        <a:latin typeface="Cambria Math"/>
                      </a:rPr>
                      <m:t>B</m:t>
                    </m:r>
                  </m:oMath>
                </a14:m>
                <a:r>
                  <a:rPr lang="en-US" sz="1400">
                    <a:solidFill>
                      <a:srgbClr val="7AB648"/>
                    </a:solidFill>
                    <a:latin typeface="Cambria Math"/>
                  </a:rPr>
                  <a:t>   (2 of 3)</a:t>
                </a:r>
                <a:endParaRPr/>
              </a:p>
            </p:txBody>
          </p:sp>
        </mc:Choice>
        <mc:Fallback>
          <p:sp>
            <p:nvSpPr>
              <p:cNvPr id="329" name="t3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3073400"/>
                <a:ext cx="3886200" cy="381000"/>
              </a:xfrm>
              <a:prstGeom prst="rect">
                <a:avLst/>
              </a:prstGeom>
              <a:blipFill>
                <a:blip r:embed="rId22"/>
                <a:stretch>
                  <a:fillRect l="-1954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t330"/>
              <p:cNvSpPr txBox="1"/>
              <p:nvPr/>
            </p:nvSpPr>
            <p:spPr>
              <a:xfrm>
                <a:off x="381000" y="4648200"/>
                <a:ext cx="7112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Distance diagnostic — spread of the norm vector </a:t>
                </a:r>
                <a14:m>
                  <m:oMath xmlns:m="http://schemas.openxmlformats.org/officeDocument/2006/math">
                    <m:r>
                      <a:rPr lang="en-US" sz="1600" b="1">
                        <a:solidFill>
                          <a:srgbClr val="4B2E83"/>
                        </a:solidFill>
                        <a:latin typeface="Cambria Math"/>
                      </a:rPr>
                      <m:t>𝒅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30" name="t3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648200"/>
                <a:ext cx="7112000" cy="228600"/>
              </a:xfrm>
              <a:prstGeom prst="rect">
                <a:avLst/>
              </a:prstGeom>
              <a:blipFill>
                <a:blip r:embed="rId23"/>
                <a:stretch>
                  <a:fillRect l="-1607" t="-38889" b="-6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2" name="t332"/>
              <p:cNvSpPr txBox="1"/>
              <p:nvPr/>
            </p:nvSpPr>
            <p:spPr>
              <a:xfrm>
                <a:off x="571500" y="4991100"/>
                <a:ext cx="11049000" cy="254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solidFill>
                          <a:srgbClr val="333333"/>
                        </a:solidFill>
                        <a:latin typeface="Cambria Math"/>
                      </a:rPr>
                      <m:t>max</m:t>
                    </m:r>
                    <m:d>
                      <m:dPr>
                        <m:ctrlPr>
                          <a:rPr lang="en-US" sz="12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200">
                        <a:solidFill>
                          <a:srgbClr val="333333"/>
                        </a:solidFill>
                        <a:latin typeface="Cambria Math"/>
                      </a:rPr>
                      <m:t> = 5.66</m:t>
                    </m:r>
                  </m:oMath>
                </a14:m>
                <a:r>
                  <a:rPr lang="en-US" sz="1200">
                    <a:solidFill>
                      <a:srgbClr val="333333"/>
                    </a:solidFill>
                    <a:latin typeface="Cambria Math"/>
                  </a:rPr>
                  <a:t>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solidFill>
                          <a:srgbClr val="333333"/>
                        </a:solidFill>
                        <a:latin typeface="Cambria Math"/>
                      </a:rPr>
                      <m:t>min</m:t>
                    </m:r>
                    <m:d>
                      <m:dPr>
                        <m:ctrlPr>
                          <a:rPr lang="en-US" sz="12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200">
                        <a:solidFill>
                          <a:srgbClr val="333333"/>
                        </a:solidFill>
                        <a:latin typeface="Cambria Math"/>
                      </a:rPr>
                      <m:t> = 2.00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32" name="t3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991100"/>
                <a:ext cx="11049000" cy="254000"/>
              </a:xfrm>
              <a:prstGeom prst="rect">
                <a:avLst/>
              </a:prstGeom>
              <a:blipFill>
                <a:blip r:embed="rId24"/>
                <a:stretch>
                  <a:fillRect l="-23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3" name="t333"/>
              <p:cNvSpPr txBox="1"/>
              <p:nvPr/>
            </p:nvSpPr>
            <p:spPr>
              <a:xfrm>
                <a:off x="571500" y="5257800"/>
                <a:ext cx="11049000" cy="254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ratio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max</m:t>
                    </m:r>
                    <m:d>
                      <m:d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/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min</m:t>
                    </m:r>
                    <m:d>
                      <m:d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2.83×</m:t>
                    </m:r>
                  </m:oMath>
                </a14:m>
                <a:r>
                  <a:rPr lang="en-US" sz="1500">
                    <a:solidFill>
                      <a:srgbClr val="333333"/>
                    </a:solidFill>
                    <a:latin typeface="Cambria Math"/>
                  </a:rPr>
                  <a:t>   — distances still discriminate, though the gap is shrinking</a:t>
                </a:r>
                <a:endParaRPr/>
              </a:p>
            </p:txBody>
          </p:sp>
        </mc:Choice>
        <mc:Fallback>
          <p:sp>
            <p:nvSpPr>
              <p:cNvPr id="333" name="t3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5257800"/>
                <a:ext cx="11049000" cy="254000"/>
              </a:xfrm>
              <a:prstGeom prst="rect">
                <a:avLst/>
              </a:prstGeom>
              <a:blipFill>
                <a:blip r:embed="rId25"/>
                <a:stretch>
                  <a:fillRect l="-460" t="-20000" b="-4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0" name="b335"/>
          <p:cNvSpPr/>
          <p:nvPr/>
        </p:nvSpPr>
        <p:spPr>
          <a:xfrm>
            <a:off x="381000" y="5740400"/>
            <a:ext cx="11430000" cy="7366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5" name="t335"/>
              <p:cNvSpPr txBox="1"/>
              <p:nvPr/>
            </p:nvSpPr>
            <p:spPr>
              <a:xfrm>
                <a:off x="381000" y="5740400"/>
                <a:ext cx="11430000" cy="736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FFFFFF"/>
                        </a:solidFill>
                        <a:latin typeface="Cambria Math"/>
                      </a:rPr>
                      <m:t>𝑑</m:t>
                    </m:r>
                    <m:r>
                      <a:rPr lang="en-US" sz="1300">
                        <a:solidFill>
                          <a:srgbClr val="FFFFFF"/>
                        </a:solidFill>
                        <a:latin typeface="Cambria Math"/>
                      </a:rPr>
                      <m:t> = 2</m:t>
                    </m:r>
                  </m:oMath>
                </a14:m>
                <a:r>
                  <a:rPr lang="en-US" sz="13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 the nearest neighbor is still 2.83× closer than the farthest. The norm vector remains informative.</a:t>
                </a:r>
                <a:endParaRPr/>
              </a:p>
            </p:txBody>
          </p:sp>
        </mc:Choice>
        <mc:Fallback>
          <p:sp>
            <p:nvSpPr>
              <p:cNvPr id="335" name="t3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740400"/>
                <a:ext cx="11430000" cy="7366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63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335bar">
            <a:extLst>
              <a:ext uri="{FF2B5EF4-FFF2-40B4-BE49-F238E27FC236}">
                <a16:creationId xmlns:a16="http://schemas.microsoft.com/office/drawing/2014/main" id="{F4235733-37BE-C149-8CCA-EBC1FDE8152D}"/>
              </a:ext>
            </a:extLst>
          </p:cNvPr>
          <p:cNvSpPr/>
          <p:nvPr/>
        </p:nvSpPr>
        <p:spPr>
          <a:xfrm>
            <a:off x="381000" y="5740400"/>
            <a:ext cx="11430000" cy="736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1" name="b331"/>
          <p:cNvSpPr/>
          <p:nvPr/>
        </p:nvSpPr>
        <p:spPr>
          <a:xfrm>
            <a:off x="381000" y="4927600"/>
            <a:ext cx="11430000" cy="6096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301" name="b301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2" name="t302"/>
              <p:cNvSpPr txBox="1"/>
              <p:nvPr/>
            </p:nvSpPr>
            <p:spPr>
              <a:xfrm>
                <a:off x="533400" y="228600"/>
                <a:ext cx="11125200" cy="381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Curse of dimensionality — Stage 3: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𝑑</m:t>
                    </m:r>
                    <m:r>
                      <a:rPr lang="en-US" sz="2000">
                        <a:solidFill>
                          <a:srgbClr val="FFFFFF"/>
                        </a:solidFill>
                        <a:latin typeface="Cambria Math"/>
                      </a:rPr>
                      <m:t> = 10</m:t>
                    </m:r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 (matrix / vector form)</a:t>
                </a:r>
                <a:endParaRPr/>
              </a:p>
            </p:txBody>
          </p:sp>
        </mc:Choice>
        <mc:Fallback>
          <p:sp>
            <p:nvSpPr>
              <p:cNvPr id="302" name="t3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28600"/>
                <a:ext cx="11125200" cy="381000"/>
              </a:xfrm>
              <a:prstGeom prst="rect">
                <a:avLst/>
              </a:prstGeom>
              <a:blipFill>
                <a:blip r:embed="rId2"/>
                <a:stretch>
                  <a:fillRect l="-1254" t="-13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3" name="t303"/>
              <p:cNvSpPr txBox="1"/>
              <p:nvPr/>
            </p:nvSpPr>
            <p:spPr>
              <a:xfrm>
                <a:off x="381000" y="736600"/>
                <a:ext cx="5969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Training matrix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4B2E83"/>
                        </a:solidFill>
                        <a:latin typeface="Cambria Math"/>
                      </a:rPr>
                      <m:t>𝑿</m:t>
                    </m:r>
                    <m:r>
                      <a:rPr lang="en-US" sz="1400">
                        <a:solidFill>
                          <a:srgbClr val="4B2E83"/>
                        </a:solidFill>
                        <a:latin typeface="Cambria Math"/>
                      </a:rPr>
                      <m:t> ∈ </m:t>
                    </m:r>
                    <m:sSup>
                      <m:sSupPr>
                        <m:ctrlP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5×10</m:t>
                        </m:r>
                      </m:sup>
                    </m:sSup>
                  </m:oMath>
                </a14:m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   (rows = 10-D points)</a:t>
                </a:r>
                <a:endParaRPr/>
              </a:p>
            </p:txBody>
          </p:sp>
        </mc:Choice>
        <mc:Fallback>
          <p:sp>
            <p:nvSpPr>
              <p:cNvPr id="303" name="t3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36600"/>
                <a:ext cx="5969000" cy="228600"/>
              </a:xfrm>
              <a:prstGeom prst="rect">
                <a:avLst/>
              </a:prstGeom>
              <a:blipFill>
                <a:blip r:embed="rId3"/>
                <a:stretch>
                  <a:fillRect l="-1699" t="-33333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b304"/>
          <p:cNvSpPr/>
          <p:nvPr/>
        </p:nvSpPr>
        <p:spPr>
          <a:xfrm>
            <a:off x="381000" y="990600"/>
            <a:ext cx="5969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t305"/>
              <p:cNvSpPr txBox="1"/>
              <p:nvPr/>
            </p:nvSpPr>
            <p:spPr>
              <a:xfrm>
                <a:off x="533400" y="990600"/>
                <a:ext cx="5664200" cy="406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333333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en-US" sz="1400" b="1">
                    <a:solidFill>
                      <a:srgbClr val="333333"/>
                    </a:solidFill>
                    <a:latin typeface="Cambria Math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 →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400" b="1">
                    <a:solidFill>
                      <a:srgbClr val="333333"/>
                    </a:solidFill>
                    <a:latin typeface="Cambria Math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 →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B</m:t>
                    </m:r>
                  </m:oMath>
                </a14:m>
                <a:r>
                  <a:rPr lang="en-US" sz="1400" b="1">
                    <a:solidFill>
                      <a:srgbClr val="333333"/>
                    </a:solidFill>
                    <a:latin typeface="Cambria Math"/>
                  </a:rPr>
                  <a:t>   (entries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/>
                          </a:rPr>
                          <m:t>0,9</m:t>
                        </m:r>
                      </m:e>
                    </m:d>
                  </m:oMath>
                </a14:m>
                <a:r>
                  <a:rPr lang="en-US" sz="1400" b="1">
                    <a:solidFill>
                      <a:srgbClr val="333333"/>
                    </a:solidFill>
                    <a:latin typeface="Cambria Math"/>
                  </a:rPr>
                  <a:t>)</a:t>
                </a:r>
                <a:endParaRPr/>
              </a:p>
            </p:txBody>
          </p:sp>
        </mc:Choice>
        <mc:Fallback>
          <p:sp>
            <p:nvSpPr>
              <p:cNvPr id="305" name="t3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990600"/>
                <a:ext cx="5664200" cy="406400"/>
              </a:xfrm>
              <a:prstGeom prst="rect">
                <a:avLst/>
              </a:prstGeom>
              <a:blipFill>
                <a:blip r:embed="rId4"/>
                <a:stretch>
                  <a:fillRect l="-895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6" name="t306"/>
              <p:cNvSpPr txBox="1"/>
              <p:nvPr/>
            </p:nvSpPr>
            <p:spPr>
              <a:xfrm>
                <a:off x="6540500" y="736600"/>
                <a:ext cx="1905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Query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4B2E83"/>
                        </a:solidFill>
                        <a:latin typeface="Cambria Math"/>
                      </a:rPr>
                      <m:t>𝒒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06" name="t3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500" y="736600"/>
                <a:ext cx="1905000" cy="228600"/>
              </a:xfrm>
              <a:prstGeom prst="rect">
                <a:avLst/>
              </a:prstGeom>
              <a:blipFill>
                <a:blip r:embed="rId5"/>
                <a:stretch>
                  <a:fillRect l="-5333" t="-27778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" name="b307"/>
          <p:cNvSpPr/>
          <p:nvPr/>
        </p:nvSpPr>
        <p:spPr>
          <a:xfrm>
            <a:off x="6540500" y="990600"/>
            <a:ext cx="190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308"/>
              <p:cNvSpPr txBox="1"/>
              <p:nvPr/>
            </p:nvSpPr>
            <p:spPr>
              <a:xfrm>
                <a:off x="6692900" y="990600"/>
                <a:ext cx="1600200" cy="406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500" b="1">
                          <a:solidFill>
                            <a:srgbClr val="333333"/>
                          </a:solidFill>
                          <a:latin typeface="Cambria Math"/>
                        </a:rPr>
                        <m:t>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5,…,5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08" name="t3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900" y="990600"/>
                <a:ext cx="1600200" cy="406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9" name="t309"/>
              <p:cNvSpPr txBox="1"/>
              <p:nvPr/>
            </p:nvSpPr>
            <p:spPr>
              <a:xfrm>
                <a:off x="8636000" y="635000"/>
                <a:ext cx="3175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Metric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400" b="1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4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 − </m:t>
                            </m:r>
                            <m:r>
                              <a:rPr lang="en-US" sz="14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𝒒</m:t>
                            </m:r>
                          </m:e>
                        </m:d>
                      </m:e>
                      <m:sub>
                        <m:r>
                          <a:rPr lang="en-US" sz="1400">
                            <a:solidFill>
                              <a:srgbClr val="4B2E83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4B2E83"/>
                        </a:solidFill>
                        <a:latin typeface="Cambria Math"/>
                      </a:rPr>
                      <m:t>𝑗</m:t>
                    </m:r>
                    <m:r>
                      <a:rPr lang="en-US" sz="1400">
                        <a:solidFill>
                          <a:srgbClr val="4B2E83"/>
                        </a:solidFill>
                        <a:latin typeface="Cambria Math"/>
                      </a:rPr>
                      <m:t> = 1..10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09" name="t3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0" y="635000"/>
                <a:ext cx="3175000" cy="228600"/>
              </a:xfrm>
              <a:prstGeom prst="rect">
                <a:avLst/>
              </a:prstGeom>
              <a:blipFill>
                <a:blip r:embed="rId7"/>
                <a:stretch>
                  <a:fillRect l="-3187" t="-20000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b310"/>
          <p:cNvSpPr/>
          <p:nvPr/>
        </p:nvSpPr>
        <p:spPr>
          <a:xfrm>
            <a:off x="8636000" y="889000"/>
            <a:ext cx="3175000" cy="7366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1" name="t311"/>
              <p:cNvSpPr txBox="1"/>
              <p:nvPr/>
            </p:nvSpPr>
            <p:spPr>
              <a:xfrm>
                <a:off x="8788400" y="889000"/>
                <a:ext cx="2870200" cy="736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10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4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sz="1400">
                                          <a:solidFill>
                                            <a:srgbClr val="333333"/>
                                          </a:solidFill>
                                          <a:latin typeface="Cambria Math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US" sz="14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333333"/>
                                              </a:solidFill>
                                              <a:latin typeface="Cambria Math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1" name="t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8400" y="889000"/>
                <a:ext cx="2870200" cy="736600"/>
              </a:xfrm>
              <a:prstGeom prst="rect">
                <a:avLst/>
              </a:prstGeom>
              <a:blipFill>
                <a:blip r:embed="rId8"/>
                <a:stretch>
                  <a:fillRect t="-83051" b="-138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2" name="t312"/>
              <p:cNvSpPr txBox="1"/>
              <p:nvPr/>
            </p:nvSpPr>
            <p:spPr>
              <a:xfrm>
                <a:off x="381000" y="1676400"/>
                <a:ext cx="7112000" cy="254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5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Step 1 — distance vector  </a:t>
                </a:r>
                <a14:m>
                  <m:oMath xmlns:m="http://schemas.openxmlformats.org/officeDocument/2006/math">
                    <m:r>
                      <a:rPr lang="en-US" sz="1500" b="1">
                        <a:solidFill>
                          <a:srgbClr val="4B2E83"/>
                        </a:solidFill>
                        <a:latin typeface="Cambria Math"/>
                      </a:rPr>
                      <m:t>𝒅</m:t>
                    </m:r>
                    <m:r>
                      <a:rPr lang="en-US" sz="1500">
                        <a:solidFill>
                          <a:srgbClr val="4B2E83"/>
                        </a:solidFill>
                        <a:latin typeface="Cambria Math"/>
                      </a:rPr>
                      <m:t> = </m:t>
                    </m:r>
                    <m:sSub>
                      <m:sSubPr>
                        <m:ctrlPr>
                          <a:rPr lang="en-US" sz="1500" b="1" i="1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en-US" sz="1500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 − </m:t>
                            </m:r>
                            <m:r>
                              <a:rPr lang="en-US" sz="1500" b="1">
                                <a:solidFill>
                                  <a:srgbClr val="4B2E83"/>
                                </a:solidFill>
                                <a:latin typeface="Cambria Math"/>
                              </a:rPr>
                              <m:t>𝟏</m:t>
                            </m:r>
                            <m:sSup>
                              <m:sSupPr>
                                <m:ctrlPr>
                                  <a:rPr lang="en-US" sz="15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15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𝒒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2,</m:t>
                        </m:r>
                        <m:r>
                          <m:rPr>
                            <m:sty m:val="p"/>
                          </m:rPr>
                          <a:rPr lang="en-US" sz="1500">
                            <a:solidFill>
                              <a:srgbClr val="4B2E83"/>
                            </a:solidFill>
                            <a:latin typeface="Cambria Math"/>
                          </a:rPr>
                          <m:t>row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>
          <p:sp>
            <p:nvSpPr>
              <p:cNvPr id="312" name="t3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76400"/>
                <a:ext cx="7112000" cy="254000"/>
              </a:xfrm>
              <a:prstGeom prst="rect">
                <a:avLst/>
              </a:prstGeom>
              <a:blipFill>
                <a:blip r:embed="rId9"/>
                <a:stretch>
                  <a:fillRect l="-1429" t="-2381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3" name="t313"/>
              <p:cNvSpPr txBox="1"/>
              <p:nvPr/>
            </p:nvSpPr>
            <p:spPr>
              <a:xfrm>
                <a:off x="508000" y="21590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 − </m:t>
                              </m:r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𝒒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68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3" name="t3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159000"/>
                <a:ext cx="3937000" cy="279400"/>
              </a:xfrm>
              <a:prstGeom prst="rect">
                <a:avLst/>
              </a:prstGeom>
              <a:blipFill>
                <a:blip r:embed="rId10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4" name="t314"/>
              <p:cNvSpPr txBox="1"/>
              <p:nvPr/>
            </p:nvSpPr>
            <p:spPr>
              <a:xfrm>
                <a:off x="4572000" y="21590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7AB648"/>
                          </a:solidFill>
                          <a:latin typeface="Cambria Math"/>
                        </a:rPr>
                        <m:t>8.25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4" name="t3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159000"/>
                <a:ext cx="698500" cy="279400"/>
              </a:xfrm>
              <a:prstGeom prst="rect">
                <a:avLst/>
              </a:prstGeom>
              <a:blipFill>
                <a:blip r:embed="rId1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5" name="t315"/>
              <p:cNvSpPr txBox="1"/>
              <p:nvPr/>
            </p:nvSpPr>
            <p:spPr>
              <a:xfrm>
                <a:off x="508000" y="26924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 − </m:t>
                              </m:r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𝒒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70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5" name="t3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692400"/>
                <a:ext cx="3937000" cy="279400"/>
              </a:xfrm>
              <a:prstGeom prst="rect">
                <a:avLst/>
              </a:prstGeom>
              <a:blipFill>
                <a:blip r:embed="rId12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6" name="t316"/>
              <p:cNvSpPr txBox="1"/>
              <p:nvPr/>
            </p:nvSpPr>
            <p:spPr>
              <a:xfrm>
                <a:off x="4572000" y="26924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595959"/>
                          </a:solidFill>
                          <a:latin typeface="Cambria Math"/>
                        </a:rPr>
                        <m:t>8.37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6" name="t3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692400"/>
                <a:ext cx="698500" cy="2794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" name="t317"/>
              <p:cNvSpPr txBox="1"/>
              <p:nvPr/>
            </p:nvSpPr>
            <p:spPr>
              <a:xfrm>
                <a:off x="508000" y="32258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 − </m:t>
                              </m:r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𝒒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65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7" name="t3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225800"/>
                <a:ext cx="3937000" cy="279400"/>
              </a:xfrm>
              <a:prstGeom prst="rect">
                <a:avLst/>
              </a:prstGeom>
              <a:blipFill>
                <a:blip r:embed="rId14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8" name="t318"/>
              <p:cNvSpPr txBox="1"/>
              <p:nvPr/>
            </p:nvSpPr>
            <p:spPr>
              <a:xfrm>
                <a:off x="4572000" y="32258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7AB648"/>
                          </a:solidFill>
                          <a:latin typeface="Cambria Math"/>
                        </a:rPr>
                        <m:t>8.06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18" name="t3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225800"/>
                <a:ext cx="698500" cy="279400"/>
              </a:xfrm>
              <a:prstGeom prst="rect">
                <a:avLst/>
              </a:prstGeom>
              <a:blipFill>
                <a:blip r:embed="rId1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t319"/>
          <p:cNvSpPr txBox="1"/>
          <p:nvPr/>
        </p:nvSpPr>
        <p:spPr>
          <a:xfrm>
            <a:off x="5397500" y="32258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7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0" name="t320"/>
              <p:cNvSpPr txBox="1"/>
              <p:nvPr/>
            </p:nvSpPr>
            <p:spPr>
              <a:xfrm>
                <a:off x="508000" y="37592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 − </m:t>
                              </m:r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𝒒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72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0" name="t3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759200"/>
                <a:ext cx="3937000" cy="279400"/>
              </a:xfrm>
              <a:prstGeom prst="rect">
                <a:avLst/>
              </a:prstGeom>
              <a:blipFill>
                <a:blip r:embed="rId16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t321"/>
              <p:cNvSpPr txBox="1"/>
              <p:nvPr/>
            </p:nvSpPr>
            <p:spPr>
              <a:xfrm>
                <a:off x="4572000" y="37592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595959"/>
                          </a:solidFill>
                          <a:latin typeface="Cambria Math"/>
                        </a:rPr>
                        <m:t>8.49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1" name="t3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759200"/>
                <a:ext cx="698500" cy="2794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2" name="t322"/>
              <p:cNvSpPr txBox="1"/>
              <p:nvPr/>
            </p:nvSpPr>
            <p:spPr>
              <a:xfrm>
                <a:off x="508000" y="4292600"/>
                <a:ext cx="39370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5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5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1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 − </m:t>
                              </m:r>
                              <m:r>
                                <a:rPr lang="en-US" sz="15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𝒒</m:t>
                              </m:r>
                            </m:e>
                          </m:d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67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2" name="t3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4292600"/>
                <a:ext cx="3937000" cy="279400"/>
              </a:xfrm>
              <a:prstGeom prst="rect">
                <a:avLst/>
              </a:prstGeom>
              <a:blipFill>
                <a:blip r:embed="rId18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3" name="t323"/>
              <p:cNvSpPr txBox="1"/>
              <p:nvPr/>
            </p:nvSpPr>
            <p:spPr>
              <a:xfrm>
                <a:off x="4572000" y="4292600"/>
                <a:ext cx="6985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>
                          <a:solidFill>
                            <a:srgbClr val="7AB648"/>
                          </a:solidFill>
                          <a:latin typeface="Cambria Math"/>
                        </a:rPr>
                        <m:t>8.19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3" name="t3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292600"/>
                <a:ext cx="698500" cy="279400"/>
              </a:xfrm>
              <a:prstGeom prst="rect">
                <a:avLst/>
              </a:prstGeom>
              <a:blipFill>
                <a:blip r:embed="rId1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t324"/>
          <p:cNvSpPr txBox="1"/>
          <p:nvPr/>
        </p:nvSpPr>
        <p:spPr>
          <a:xfrm>
            <a:off x="5397500" y="4292600"/>
            <a:ext cx="571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7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9324" name="t324"/>
          <p:cNvSpPr txBox="1"/>
          <p:nvPr/>
        </p:nvSpPr>
        <p:spPr>
          <a:xfrm>
            <a:off x="5397500" y="2159000"/>
            <a:ext cx="571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7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7620000" y="1651000"/>
            <a:ext cx="4191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4B2E83"/>
                </a:solidFill>
                <a:latin typeface="Arial"/>
                <a:cs typeface="Arial"/>
              </a:rPr>
              <a:t>Step 2 — 3-NN majority vote</a:t>
            </a:r>
          </a:p>
        </p:txBody>
      </p:sp>
      <p:sp>
        <p:nvSpPr>
          <p:cNvPr id="326" name="b326"/>
          <p:cNvSpPr/>
          <p:nvPr/>
        </p:nvSpPr>
        <p:spPr>
          <a:xfrm>
            <a:off x="7620000" y="1905000"/>
            <a:ext cx="4191000" cy="193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 sz="15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" name="t327"/>
              <p:cNvSpPr txBox="1"/>
              <p:nvPr/>
            </p:nvSpPr>
            <p:spPr>
              <a:xfrm>
                <a:off x="7772400" y="2006600"/>
                <a:ext cx="3886200" cy="2794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100" b="1">
                          <a:solidFill>
                            <a:srgbClr val="333333"/>
                          </a:solidFill>
                          <a:latin typeface="Cambria Math"/>
                        </a:rPr>
                        <m:t>𝝅</m:t>
                      </m:r>
                      <m:r>
                        <a:rPr lang="en-US" sz="11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1100">
                          <a:solidFill>
                            <a:srgbClr val="333333"/>
                          </a:solidFill>
                          <a:latin typeface="Cambria Math"/>
                        </a:rPr>
                        <m:t>argsort</m:t>
                      </m:r>
                      <m:d>
                        <m:dPr>
                          <m:ctrlPr>
                            <a:rPr lang="en-US" sz="11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 b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𝒅</m:t>
                          </m:r>
                        </m:e>
                      </m:d>
                      <m:r>
                        <a:rPr lang="en-US" sz="11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3, 5, 1, 2, 4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27" name="t3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006600"/>
                <a:ext cx="3886200" cy="279400"/>
              </a:xfrm>
              <a:prstGeom prst="rect">
                <a:avLst/>
              </a:prstGeom>
              <a:blipFill>
                <a:blip r:embed="rId2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8" name="t328"/>
              <p:cNvSpPr txBox="1"/>
              <p:nvPr/>
            </p:nvSpPr>
            <p:spPr>
              <a:xfrm>
                <a:off x="7772400" y="2387600"/>
                <a:ext cx="3886200" cy="5842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N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  <a:p>
                <a:pPr algn="l">
                  <a:buNone/>
                </a:pPr>
                <a:r>
                  <a:rPr lang="en-US" sz="1400">
                    <a:solidFill>
                      <a:srgbClr val="333333"/>
                    </a:solidFill>
                    <a:latin typeface="Cambria Math"/>
                  </a:rPr>
                  <a:t>labels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B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B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400">
                    <a:solidFill>
                      <a:srgbClr val="333333"/>
                    </a:solidFill>
                    <a:latin typeface="Cambria Math"/>
                  </a:rPr>
                  <a:t>  ·  </a:t>
                </a:r>
                <a14:m>
                  <m:oMath xmlns:m="http://schemas.openxmlformats.org/officeDocument/2006/math">
                    <m:r>
                      <a:rPr lang="en-US" sz="1400" b="1">
                        <a:solidFill>
                          <a:srgbClr val="333333"/>
                        </a:solidFill>
                        <a:latin typeface="Cambria Math"/>
                      </a:rPr>
                      <m:t>𝒅</m:t>
                    </m:r>
                    <m:r>
                      <a:rPr lang="en-US" sz="1400">
                        <a:solidFill>
                          <a:srgbClr val="333333"/>
                        </a:solidFill>
                        <a:latin typeface="Cambria Math"/>
                      </a:rPr>
                      <m:t> = 8.06, 8.19, 8.25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28" name="t3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387600"/>
                <a:ext cx="3886200" cy="584200"/>
              </a:xfrm>
              <a:prstGeom prst="rect">
                <a:avLst/>
              </a:prstGeom>
              <a:blipFill>
                <a:blip r:embed="rId21"/>
                <a:stretch>
                  <a:fillRect l="-2606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9" name="t329"/>
              <p:cNvSpPr txBox="1"/>
              <p:nvPr/>
            </p:nvSpPr>
            <p:spPr>
              <a:xfrm>
                <a:off x="7772400" y="3073400"/>
                <a:ext cx="3886200" cy="381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7AB648"/>
                        </a:solidFill>
                        <a:latin typeface="Cambria Math"/>
                      </a:rPr>
                      <m:t>ŷ = 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7AB648"/>
                        </a:solidFill>
                        <a:latin typeface="Cambria Math"/>
                      </a:rPr>
                      <m:t>B</m:t>
                    </m:r>
                  </m:oMath>
                </a14:m>
                <a:r>
                  <a:rPr lang="en-US" sz="1400">
                    <a:solidFill>
                      <a:srgbClr val="7AB648"/>
                    </a:solidFill>
                    <a:latin typeface="Cambria Math"/>
                  </a:rPr>
                  <a:t>  (2 of 3) — margin only 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7AB648"/>
                        </a:solidFill>
                        <a:latin typeface="Cambria Math"/>
                      </a:rPr>
                      <m:t>0.12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29" name="t3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3073400"/>
                <a:ext cx="3886200" cy="381000"/>
              </a:xfrm>
              <a:prstGeom prst="rect">
                <a:avLst/>
              </a:prstGeom>
              <a:blipFill>
                <a:blip r:embed="rId22"/>
                <a:stretch>
                  <a:fillRect l="-1954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t330"/>
              <p:cNvSpPr txBox="1"/>
              <p:nvPr/>
            </p:nvSpPr>
            <p:spPr>
              <a:xfrm>
                <a:off x="381000" y="4648200"/>
                <a:ext cx="7112000" cy="2286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  <a:cs typeface="Arial"/>
                  </a:rPr>
                  <a:t>Distance diagnostic — spread of the norm vector </a:t>
                </a:r>
                <a14:m>
                  <m:oMath xmlns:m="http://schemas.openxmlformats.org/officeDocument/2006/math">
                    <m:r>
                      <a:rPr lang="en-US" sz="1600" b="1">
                        <a:solidFill>
                          <a:srgbClr val="4B2E83"/>
                        </a:solidFill>
                        <a:latin typeface="Cambria Math"/>
                      </a:rPr>
                      <m:t>𝒅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30" name="t3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648200"/>
                <a:ext cx="7112000" cy="228600"/>
              </a:xfrm>
              <a:prstGeom prst="rect">
                <a:avLst/>
              </a:prstGeom>
              <a:blipFill>
                <a:blip r:embed="rId23"/>
                <a:stretch>
                  <a:fillRect l="-1607" t="-38889" b="-6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2" name="t332"/>
              <p:cNvSpPr txBox="1"/>
              <p:nvPr/>
            </p:nvSpPr>
            <p:spPr>
              <a:xfrm>
                <a:off x="571500" y="4991100"/>
                <a:ext cx="11049000" cy="254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solidFill>
                          <a:srgbClr val="333333"/>
                        </a:solidFill>
                        <a:latin typeface="Cambria Math"/>
                      </a:rPr>
                      <m:t>max</m:t>
                    </m:r>
                    <m:d>
                      <m:dPr>
                        <m:ctrlPr>
                          <a:rPr lang="en-US" sz="12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200">
                        <a:solidFill>
                          <a:srgbClr val="333333"/>
                        </a:solidFill>
                        <a:latin typeface="Cambria Math"/>
                      </a:rPr>
                      <m:t> = 8.49</m:t>
                    </m:r>
                  </m:oMath>
                </a14:m>
                <a:r>
                  <a:rPr lang="en-US" sz="1200">
                    <a:solidFill>
                      <a:srgbClr val="333333"/>
                    </a:solidFill>
                    <a:latin typeface="Cambria Math"/>
                  </a:rPr>
                  <a:t>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solidFill>
                          <a:srgbClr val="333333"/>
                        </a:solidFill>
                        <a:latin typeface="Cambria Math"/>
                      </a:rPr>
                      <m:t>min</m:t>
                    </m:r>
                    <m:d>
                      <m:dPr>
                        <m:ctrlPr>
                          <a:rPr lang="en-US" sz="12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200">
                        <a:solidFill>
                          <a:srgbClr val="333333"/>
                        </a:solidFill>
                        <a:latin typeface="Cambria Math"/>
                      </a:rPr>
                      <m:t> = 8.06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332" name="t3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991100"/>
                <a:ext cx="11049000" cy="254000"/>
              </a:xfrm>
              <a:prstGeom prst="rect">
                <a:avLst/>
              </a:prstGeom>
              <a:blipFill>
                <a:blip r:embed="rId24"/>
                <a:stretch>
                  <a:fillRect l="-23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3" name="t333"/>
              <p:cNvSpPr txBox="1"/>
              <p:nvPr/>
            </p:nvSpPr>
            <p:spPr>
              <a:xfrm>
                <a:off x="571500" y="5257800"/>
                <a:ext cx="11049000" cy="254000"/>
              </a:xfrm>
              <a:prstGeom prst="rect">
                <a:avLst/>
              </a:prstGeom>
              <a:noFill/>
            </p:spPr>
            <p:txBody>
              <a:bodyPr wrap="square" lIns="18000" tIns="9000" rIns="9000" bIns="9000" anchor="ctr"/>
              <a:lstStyle/>
              <a:p>
                <a:pPr algn="l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ratio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max</m:t>
                    </m:r>
                    <m:d>
                      <m:d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/ </m:t>
                    </m:r>
                    <m:r>
                      <m:rPr>
                        <m:sty m:val="p"/>
                      </m:rP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min</m:t>
                    </m:r>
                    <m:d>
                      <m:dPr>
                        <m:ctrlP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500" b="1">
                            <a:solidFill>
                              <a:srgbClr val="333333"/>
                            </a:solidFill>
                            <a:latin typeface="Cambria Math"/>
                          </a:rPr>
                          <m:t>𝒅</m:t>
                        </m:r>
                      </m:e>
                    </m:d>
                    <m:r>
                      <a:rPr lang="en-US" sz="1500">
                        <a:solidFill>
                          <a:srgbClr val="333333"/>
                        </a:solidFill>
                        <a:latin typeface="Cambria Math"/>
                      </a:rPr>
                      <m:t> = 1.05×</m:t>
                    </m:r>
                  </m:oMath>
                </a14:m>
                <a:r>
                  <a:rPr lang="en-US" sz="1500">
                    <a:solidFill>
                      <a:srgbClr val="333333"/>
                    </a:solidFill>
                    <a:latin typeface="Cambria Math"/>
                  </a:rPr>
                  <a:t>   — all five neighbors lie within about 5% of each other</a:t>
                </a:r>
                <a:endParaRPr/>
              </a:p>
            </p:txBody>
          </p:sp>
        </mc:Choice>
        <mc:Fallback>
          <p:sp>
            <p:nvSpPr>
              <p:cNvPr id="333" name="t3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5257800"/>
                <a:ext cx="11049000" cy="254000"/>
              </a:xfrm>
              <a:prstGeom prst="rect">
                <a:avLst/>
              </a:prstGeom>
              <a:blipFill>
                <a:blip r:embed="rId25"/>
                <a:stretch>
                  <a:fillRect l="-460" t="-20000" b="-4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t335"/>
          <p:cNvSpPr txBox="1"/>
          <p:nvPr/>
        </p:nvSpPr>
        <p:spPr>
          <a:xfrm>
            <a:off x="381000" y="5740400"/>
            <a:ext cx="11430000" cy="736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/>
                <a:cs typeface="Arial"/>
              </a:rPr>
              <a:t>In d = 10 the norm vector collapses: nearest and farthest differ by only about 5%. The KNN similarity signal is essentially gone — the curse of dimensionality.</a:t>
            </a:r>
          </a:p>
        </p:txBody>
      </p:sp>
    </p:spTree>
    <p:extLst>
      <p:ext uri="{BB962C8B-B14F-4D97-AF65-F5344CB8AC3E}">
        <p14:creationId xmlns:p14="http://schemas.microsoft.com/office/powerpoint/2010/main" val="407046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claude.fileId" value="&quot;9777158b-f629-46ff-aa04-06fe8115a595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BA2E260-5EF8-FF40-BA4B-3BD0C69D1374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f3d4c6a4-8e17-409c-9737-d304e58bfd0b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11576</TotalTime>
  <Words>31574</Words>
  <Application>Microsoft Macintosh PowerPoint</Application>
  <PresentationFormat>Widescreen</PresentationFormat>
  <Paragraphs>4181</Paragraphs>
  <Slides>209</Slides>
  <Notes>0</Notes>
  <HiddenSlides>13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209</vt:i4>
      </vt:variant>
    </vt:vector>
  </HeadingPairs>
  <TitlesOfParts>
    <vt:vector size="215" baseType="lpstr">
      <vt:lpstr>Aptos</vt:lpstr>
      <vt:lpstr>Arial</vt:lpstr>
      <vt:lpstr>Calibri</vt:lpstr>
      <vt:lpstr>Cambria Math</vt:lpstr>
      <vt:lpstr>Consolas</vt:lpstr>
      <vt:lpstr>Office Theme [1775876968803]</vt:lpstr>
      <vt:lpstr>Curse of dimensionality and Linear Algebra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K-Nearest Neighbors (KNN) Algorithm</vt:lpstr>
      <vt:lpstr>PowerPoint Presentation</vt:lpstr>
      <vt:lpstr>KNN Visual Example: K=5 with Two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represent data as matrices and vectors?</vt:lpstr>
      <vt:lpstr>Vectors — Example 1: a student's exam scores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181</cp:revision>
  <dcterms:created xsi:type="dcterms:W3CDTF">2018-06-07T21:39:02Z</dcterms:created>
  <dcterms:modified xsi:type="dcterms:W3CDTF">2026-10-02T17:06:50Z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