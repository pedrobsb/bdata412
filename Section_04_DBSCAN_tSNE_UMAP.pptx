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16"/>
  </p:notesMasterIdLst>
  <p:sldIdLst>
    <p:sldId id="319" r:id="rId86"/>
    <p:sldId id="465" r:id="rId87"/>
    <p:sldId id="466" r:id="rId88"/>
    <p:sldId id="467" r:id="rId89"/>
    <p:sldId id="468" r:id="rId90"/>
    <p:sldId id="469" r:id="rId91"/>
    <p:sldId id="470" r:id="rId92"/>
    <p:sldId id="333" r:id="rId93"/>
    <p:sldId id="471" r:id="rId94"/>
    <p:sldId id="472" r:id="rId95"/>
    <p:sldId id="473" r:id="rId96"/>
    <p:sldId id="474" r:id="rId97"/>
    <p:sldId id="475" r:id="rId98"/>
    <p:sldId id="476" r:id="rId99"/>
    <p:sldId id="346" r:id="rId100"/>
    <p:sldId id="482" r:id="rId101"/>
    <p:sldId id="477" r:id="rId102"/>
    <p:sldId id="478" r:id="rId103"/>
    <p:sldId id="479" r:id="rId104"/>
    <p:sldId id="480" r:id="rId105"/>
    <p:sldId id="481" r:id="rId106"/>
    <p:sldId id="359" r:id="rId107"/>
    <p:sldId id="484" r:id="rId108"/>
    <p:sldId id="485" r:id="rId109"/>
    <p:sldId id="486" r:id="rId110"/>
    <p:sldId id="487" r:id="rId111"/>
    <p:sldId id="488" r:id="rId112"/>
    <p:sldId id="489" r:id="rId113"/>
    <p:sldId id="373" r:id="rId114"/>
    <p:sldId id="428" r:id="rId1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E83"/>
    <a:srgbClr val="D1578A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/>
    <p:restoredTop sz="93827"/>
  </p:normalViewPr>
  <p:slideViewPr>
    <p:cSldViewPr snapToGrid="0" snapToObjects="1">
      <p:cViewPr varScale="1">
        <p:scale>
          <a:sx n="125" d="100"/>
          <a:sy n="125" d="100"/>
        </p:scale>
        <p:origin x="168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6" Type="http://schemas.openxmlformats.org/officeDocument/2006/relationships/slide" Target="slides/slide1.xml"/><Relationship Id="rId87" Type="http://schemas.openxmlformats.org/officeDocument/2006/relationships/slide" Target="slides/slide2.xml"/><Relationship Id="rId88" Type="http://schemas.openxmlformats.org/officeDocument/2006/relationships/slide" Target="slides/slide3.xml"/><Relationship Id="rId89" Type="http://schemas.openxmlformats.org/officeDocument/2006/relationships/slide" Target="slides/slide4.xml"/><Relationship Id="rId90" Type="http://schemas.openxmlformats.org/officeDocument/2006/relationships/slide" Target="slides/slide5.xml"/><Relationship Id="rId91" Type="http://schemas.openxmlformats.org/officeDocument/2006/relationships/slide" Target="slides/slide6.xml"/><Relationship Id="rId92" Type="http://schemas.openxmlformats.org/officeDocument/2006/relationships/slide" Target="slides/slide7.xml"/><Relationship Id="rId93" Type="http://schemas.openxmlformats.org/officeDocument/2006/relationships/slide" Target="slides/slide8.xml"/><Relationship Id="rId94" Type="http://schemas.openxmlformats.org/officeDocument/2006/relationships/slide" Target="slides/slide9.xml"/><Relationship Id="rId95" Type="http://schemas.openxmlformats.org/officeDocument/2006/relationships/slide" Target="slides/slide10.xml"/><Relationship Id="rId96" Type="http://schemas.openxmlformats.org/officeDocument/2006/relationships/slide" Target="slides/slide11.xml"/><Relationship Id="rId97" Type="http://schemas.openxmlformats.org/officeDocument/2006/relationships/slide" Target="slides/slide12.xml"/><Relationship Id="rId98" Type="http://schemas.openxmlformats.org/officeDocument/2006/relationships/slide" Target="slides/slide13.xml"/><Relationship Id="rId99" Type="http://schemas.openxmlformats.org/officeDocument/2006/relationships/slide" Target="slides/slide14.xml"/><Relationship Id="rId100" Type="http://schemas.openxmlformats.org/officeDocument/2006/relationships/slide" Target="slides/slide15.xml"/><Relationship Id="rId101" Type="http://schemas.openxmlformats.org/officeDocument/2006/relationships/slide" Target="slides/slide16.xml"/><Relationship Id="rId102" Type="http://schemas.openxmlformats.org/officeDocument/2006/relationships/slide" Target="slides/slide17.xml"/><Relationship Id="rId103" Type="http://schemas.openxmlformats.org/officeDocument/2006/relationships/slide" Target="slides/slide18.xml"/><Relationship Id="rId104" Type="http://schemas.openxmlformats.org/officeDocument/2006/relationships/slide" Target="slides/slide19.xml"/><Relationship Id="rId105" Type="http://schemas.openxmlformats.org/officeDocument/2006/relationships/slide" Target="slides/slide20.xml"/><Relationship Id="rId106" Type="http://schemas.openxmlformats.org/officeDocument/2006/relationships/slide" Target="slides/slide21.xml"/><Relationship Id="rId107" Type="http://schemas.openxmlformats.org/officeDocument/2006/relationships/slide" Target="slides/slide22.xml"/><Relationship Id="rId108" Type="http://schemas.openxmlformats.org/officeDocument/2006/relationships/slide" Target="slides/slide23.xml"/><Relationship Id="rId109" Type="http://schemas.openxmlformats.org/officeDocument/2006/relationships/slide" Target="slides/slide24.xml"/><Relationship Id="rId110" Type="http://schemas.openxmlformats.org/officeDocument/2006/relationships/slide" Target="slides/slide25.xml"/><Relationship Id="rId111" Type="http://schemas.openxmlformats.org/officeDocument/2006/relationships/slide" Target="slides/slide26.xml"/><Relationship Id="rId112" Type="http://schemas.openxmlformats.org/officeDocument/2006/relationships/slide" Target="slides/slide27.xml"/><Relationship Id="rId113" Type="http://schemas.openxmlformats.org/officeDocument/2006/relationships/slide" Target="slides/slide28.xml"/><Relationship Id="rId114" Type="http://schemas.openxmlformats.org/officeDocument/2006/relationships/slide" Target="slides/slide29.xml"/><Relationship Id="rId115" Type="http://schemas.openxmlformats.org/officeDocument/2006/relationships/slide" Target="slides/slide30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Sorted k-distance graph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k-distance</c:v>
          </c:tx>
          <c:spPr>
            <a:ln w="28575">
              <a:solidFill>
                <a:srgbClr val="85754D"/>
              </a:solidFill>
            </a:ln>
          </c:spPr>
          <c:marker>
            <c:symbol val="circle"/>
            <c:size val="5"/>
          </c:marker>
          <c:cat>
            <c:strLit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strLit>
          </c:cat>
          <c:val>
            <c:numLit>
              <c:formatCode>General</c:formatCode>
              <c:ptCount val="12"/>
              <c:pt idx="0">
                <c:v>3.4</c:v>
              </c:pt>
              <c:pt idx="1">
                <c:v>2.9</c:v>
              </c:pt>
              <c:pt idx="2">
                <c:v>2.5</c:v>
              </c:pt>
              <c:pt idx="3">
                <c:v>2.1</c:v>
              </c:pt>
              <c:pt idx="4">
                <c:v>1.8</c:v>
              </c:pt>
              <c:pt idx="5">
                <c:v>1.55</c:v>
              </c:pt>
              <c:pt idx="6">
                <c:v>1.35</c:v>
              </c:pt>
              <c:pt idx="7">
                <c:v>1.18</c:v>
              </c:pt>
              <c:pt idx="8">
                <c:v>0.95</c:v>
              </c:pt>
              <c:pt idx="9">
                <c:v>0.55000000000000004</c:v>
              </c:pt>
              <c:pt idx="10">
                <c:v>0.35</c:v>
              </c:pt>
              <c:pt idx="11">
                <c:v>0.2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81F-5544-93DE-B2D69F046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400"/>
                  <a:t>points (sorted)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r>
                  <a:rPr lang="en-US" sz="1400"/>
                  <a:t>dk(x)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F-Statistic by Feature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Fj</c:v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Region</c:v>
              </c:pt>
              <c:pt idx="1">
                <c:v>Tenure</c:v>
              </c:pt>
              <c:pt idx="2">
                <c:v>Age</c:v>
              </c:pt>
              <c:pt idx="3">
                <c:v>Income</c:v>
              </c:pt>
            </c:strLit>
          </c:cat>
          <c:val>
            <c:numLit>
              <c:formatCode>General</c:formatCode>
              <c:ptCount val="4"/>
              <c:pt idx="0">
                <c:v>0.7</c:v>
              </c:pt>
              <c:pt idx="1">
                <c:v>3.1</c:v>
              </c:pt>
              <c:pt idx="2">
                <c:v>12.5</c:v>
              </c:pt>
              <c:pt idx="3">
                <c:v>38.200000000000003</c:v>
              </c:pt>
            </c:numLit>
          </c:val>
          <c:extLst>
            <c:ext xmlns:c16="http://schemas.microsoft.com/office/drawing/2014/chart" uri="{C3380CC4-5D6E-409C-BE32-E72D297353CC}">
              <c16:uniqueId val="{00000000-AAE4-234C-B7EC-61FCF6F8F3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F-statistic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9" r:id="rId4"/>
    <p:sldLayoutId id="2147483740" r:id="rId5"/>
    <p:sldLayoutId id="2147483741" r:id="rId6"/>
    <p:sldLayoutId id="214748374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0.png"/><Relationship Id="rId3" Type="http://schemas.openxmlformats.org/officeDocument/2006/relationships/image" Target="../media/image770.png"/><Relationship Id="rId4" Type="http://schemas.openxmlformats.org/officeDocument/2006/relationships/image" Target="../media/image780.png"/><Relationship Id="rId5" Type="http://schemas.openxmlformats.org/officeDocument/2006/relationships/image" Target="../media/image79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0.png"/><Relationship Id="rId3" Type="http://schemas.openxmlformats.org/officeDocument/2006/relationships/image" Target="../media/image8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algn="l"/>
            <a:r>
              <a:rPr lang="en-US" sz="3600" b="1">
                <a:solidFill>
                  <a:srgbClr val="FFFFFF"/>
                </a:solidFill>
                <a:latin typeface="Encode Sans"/>
              </a:rPr>
              <a:t>DBSCAN, t-SNE</a:t>
            </a:r>
          </a:p>
          <a:p>
            <a:pPr algn="l"/>
            <a:r>
              <a:rPr lang="en-US" sz="3600" b="1">
                <a:solidFill>
                  <a:srgbClr val="FFFFFF"/>
                </a:solidFill>
                <a:latin typeface="Encode Sans"/>
              </a:rPr>
              <a:t>and UMAP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en-US" sz="2000">
                <a:solidFill>
                  <a:srgbClr val="FFFFFF"/>
                </a:solidFill>
                <a:latin typeface="Encode Sans"/>
              </a:rPr>
              <a:t>BDATA 412: Advanced Data Visualization</a:t>
            </a:r>
          </a:p>
          <a:p>
            <a:pPr algn="l"/>
            <a:r>
              <a:rPr lang="en-US" sz="1800">
                <a:solidFill>
                  <a:srgbClr val="E8D3FF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4357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BDD4-E90A-14D1-6D20-3C94647C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Density: Core, Border &amp; Noise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852290-B772-0740-AD35-47AC2CB6A77F}"/>
              </a:ext>
            </a:extLst>
          </p:cNvPr>
          <p:cNvSpPr/>
          <p:nvPr/>
        </p:nvSpPr>
        <p:spPr>
          <a:xfrm>
            <a:off x="838200" y="1879600"/>
            <a:ext cx="10515600" cy="7112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9462-0E6C-DA42-AD9C-2670998132D8}"/>
                  </a:ext>
                </a:extLst>
              </p:cNvPr>
              <p:cNvSpPr txBox="1"/>
              <p:nvPr/>
            </p:nvSpPr>
            <p:spPr>
              <a:xfrm>
                <a:off x="1016000" y="2058228"/>
                <a:ext cx="10160000" cy="3539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′∈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1700" dirty="0">
                    <a:solidFill>
                      <a:srgbClr val="FFFFFF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core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d>
                          <m:dPr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MinPts</m:t>
                    </m:r>
                  </m:oMath>
                </a14:m>
                <a:endParaRPr lang="en-US" sz="1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9462-0E6C-DA42-AD9C-267099813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058228"/>
                <a:ext cx="10160000" cy="353943"/>
              </a:xfrm>
              <a:prstGeom prst="rect">
                <a:avLst/>
              </a:prstGeom>
              <a:blipFill>
                <a:blip r:embed="rId2"/>
                <a:stretch>
                  <a:fillRect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0633A1-7D81-434B-B605-2DE0E7C19F3D}"/>
              </a:ext>
            </a:extLst>
          </p:cNvPr>
          <p:cNvSpPr/>
          <p:nvPr/>
        </p:nvSpPr>
        <p:spPr>
          <a:xfrm>
            <a:off x="8382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8E4ED-8D30-E244-964D-1F36521E3905}"/>
              </a:ext>
            </a:extLst>
          </p:cNvPr>
          <p:cNvSpPr/>
          <p:nvPr/>
        </p:nvSpPr>
        <p:spPr>
          <a:xfrm>
            <a:off x="838200" y="2717800"/>
            <a:ext cx="3378200" cy="4826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Core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CCAE0-2A5D-1B4E-AAC8-C032B00F0787}"/>
                  </a:ext>
                </a:extLst>
              </p:cNvPr>
              <p:cNvSpPr txBox="1"/>
              <p:nvPr/>
            </p:nvSpPr>
            <p:spPr>
              <a:xfrm>
                <a:off x="1016000" y="3327400"/>
                <a:ext cx="3022600" cy="11233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Has at least MinPts points (including itself) within distance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Cores seed and grow clusters.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CCAE0-2A5D-1B4E-AAC8-C032B00F0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327400"/>
                <a:ext cx="3022600" cy="1123384"/>
              </a:xfrm>
              <a:prstGeom prst="rect">
                <a:avLst/>
              </a:prstGeom>
              <a:blipFill>
                <a:blip r:embed="rId3"/>
                <a:stretch>
                  <a:fillRect l="-1255" r="-1674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FFAE5B-7D9F-5044-8B93-4451AFF13A73}"/>
              </a:ext>
            </a:extLst>
          </p:cNvPr>
          <p:cNvSpPr/>
          <p:nvPr/>
        </p:nvSpPr>
        <p:spPr>
          <a:xfrm>
            <a:off x="44069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AA772-E109-5A44-8928-658EF275BE8F}"/>
              </a:ext>
            </a:extLst>
          </p:cNvPr>
          <p:cNvSpPr/>
          <p:nvPr/>
        </p:nvSpPr>
        <p:spPr>
          <a:xfrm>
            <a:off x="4406900" y="2717800"/>
            <a:ext cx="3378200" cy="482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Border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480AA-723B-044B-BF39-E50040843639}"/>
                  </a:ext>
                </a:extLst>
              </p:cNvPr>
              <p:cNvSpPr txBox="1"/>
              <p:nvPr/>
            </p:nvSpPr>
            <p:spPr>
              <a:xfrm>
                <a:off x="4584700" y="3327400"/>
                <a:ext cx="3022600" cy="140038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Not dense itself, but lies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a core point. Joins that core's cluster on the edge.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480AA-723B-044B-BF39-E5004084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00" y="3327400"/>
                <a:ext cx="3022600" cy="1400383"/>
              </a:xfrm>
              <a:prstGeom prst="rect">
                <a:avLst/>
              </a:prstGeom>
              <a:blipFill>
                <a:blip r:embed="rId4"/>
                <a:stretch>
                  <a:fillRect l="-833"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BF74B1-FA99-3B49-889E-E84BCCED993E}"/>
              </a:ext>
            </a:extLst>
          </p:cNvPr>
          <p:cNvSpPr/>
          <p:nvPr/>
        </p:nvSpPr>
        <p:spPr>
          <a:xfrm>
            <a:off x="79756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DEC48E-C9C8-2D48-9E3E-50A8564FF30F}"/>
              </a:ext>
            </a:extLst>
          </p:cNvPr>
          <p:cNvSpPr/>
          <p:nvPr/>
        </p:nvSpPr>
        <p:spPr>
          <a:xfrm>
            <a:off x="7975600" y="2717800"/>
            <a:ext cx="3378200" cy="482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Noise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F443D7-993C-3C45-B5DE-643F7EC31F73}"/>
                  </a:ext>
                </a:extLst>
              </p:cNvPr>
              <p:cNvSpPr txBox="1"/>
              <p:nvPr/>
            </p:nvSpPr>
            <p:spPr>
              <a:xfrm>
                <a:off x="8153400" y="3327400"/>
                <a:ext cx="3022600" cy="140038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∄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within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Neither core nor reachable from any core. Labelled noise / outlier — left unclustered.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F443D7-993C-3C45-B5DE-643F7EC31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3327400"/>
                <a:ext cx="3022600" cy="1400383"/>
              </a:xfrm>
              <a:prstGeom prst="rect">
                <a:avLst/>
              </a:prstGeom>
              <a:blipFill>
                <a:blip r:embed="rId5"/>
                <a:stretch>
                  <a:fillRect l="-1261"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58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1D3E-0603-CA1E-2375-E7B01476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DBSCAN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791E18-782F-A34C-A903-451AD18076E9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5588000" cy="181588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Pick an unvisited point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;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MinPts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mark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noise (may be reclaimed later).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Else start a new cluster; add all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to a queue.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Pop each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from queue: if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core,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to the queue.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Repeat until queue empties — the cluster is fully expanded.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Continue until every point is visited.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791E18-782F-A34C-A903-451AD1807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5588000" cy="1815882"/>
              </a:xfrm>
              <a:prstGeom prst="rect">
                <a:avLst/>
              </a:prstGeom>
              <a:blipFill>
                <a:blip r:embed="rId2"/>
                <a:stretch>
                  <a:fillRect l="-909" t="-694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5507B3-221A-CE4B-BD06-CD57E80ED421}"/>
              </a:ext>
            </a:extLst>
          </p:cNvPr>
          <p:cNvSpPr/>
          <p:nvPr/>
        </p:nvSpPr>
        <p:spPr>
          <a:xfrm>
            <a:off x="6502400" y="2032000"/>
            <a:ext cx="4851400" cy="406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E5E35A-BEAE-284A-969F-D86E2AE0B399}"/>
              </a:ext>
            </a:extLst>
          </p:cNvPr>
          <p:cNvSpPr/>
          <p:nvPr/>
        </p:nvSpPr>
        <p:spPr>
          <a:xfrm>
            <a:off x="6502400" y="2032000"/>
            <a:ext cx="4851400" cy="4572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Reachability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FFF07B-C71E-8540-AE51-9FFB24A34EAB}"/>
                  </a:ext>
                </a:extLst>
              </p:cNvPr>
              <p:cNvSpPr txBox="1"/>
              <p:nvPr/>
            </p:nvSpPr>
            <p:spPr>
              <a:xfrm>
                <a:off x="6705600" y="2616200"/>
                <a:ext cx="4470400" cy="207749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Directly density-reachable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if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Density-reachable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chain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→…→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step directly reachable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Density-connected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and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basis of a DBSCAN cluster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FFF07B-C71E-8540-AE51-9FFB24A34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616200"/>
                <a:ext cx="4470400" cy="2077492"/>
              </a:xfrm>
              <a:prstGeom prst="rect">
                <a:avLst/>
              </a:prstGeom>
              <a:blipFill>
                <a:blip r:embed="rId3"/>
                <a:stretch>
                  <a:fillRect l="-852" t="-606" b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77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29D1-E873-A8CB-6059-3E20E9A4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Point Classification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9FCC75-8881-3B45-8B74-C0989CC0C5DB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E081BE-FA23-0441-97FE-99917F3F737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84665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Setup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333333"/>
                          </a:solidFill>
                        </a:rPr>
                        <m:t>A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333333"/>
                          </a:solidFill>
                        </a:rPr>
                        <m:t>B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333333"/>
                          </a:solidFill>
                        </a:rPr>
                        <m:t>C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r>
                  <a:rPr lang="en-US" sz="14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>
                        <a:solidFill>
                          <a:srgbClr val="333333"/>
                        </a:solidFill>
                      </a:rPr>
                      <m:t>D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8,8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333333"/>
                        </a:solidFill>
                      </a:rPr>
                      <m:t>E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8,9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333333"/>
                        </a:solidFill>
                      </a:rPr>
                      <m:t>F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25,25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 dirty="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Parameters: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MinPts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L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norm, classify every point as core, border, or noise.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E081BE-FA23-0441-97FE-99917F3F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846659"/>
              </a:xfrm>
              <a:prstGeom prst="rect">
                <a:avLst/>
              </a:prstGeom>
              <a:blipFill>
                <a:blip r:embed="rId2"/>
                <a:stretch>
                  <a:fillRect l="-730" t="-1370" b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8079C7-2C27-3541-B467-C8C909DE8EBC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632890-C8F6-D140-8B71-48C9B1719F05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38526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Solution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≥3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≥3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≥3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E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E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E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both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&lt;3,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no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NOISE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F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F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&lt;3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NOISE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Cluster 1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; D, E, F are noise (too sparse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632890-C8F6-D140-8B71-48C9B171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385268"/>
              </a:xfrm>
              <a:prstGeom prst="rect">
                <a:avLst/>
              </a:prstGeom>
              <a:blipFill>
                <a:blip r:embed="rId3"/>
                <a:stretch>
                  <a:fillRect l="-539" t="-1064" b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89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B72B-F542-CAD5-F7C3-9990EBCC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Choosing </a:t>
            </a:r>
            <a:r>
              <a:rPr lang="el-GR"/>
              <a:t>ε (</a:t>
            </a:r>
            <a:r>
              <a:rPr lang="en-US"/>
              <a:t>k-distance)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55D709-C0CD-054B-A143-629D54E2451F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69D23-690D-C94A-B2D3-003EBAC18866}"/>
                  </a:ext>
                </a:extLst>
              </p:cNvPr>
              <p:cNvSpPr txBox="1"/>
              <p:nvPr/>
            </p:nvSpPr>
            <p:spPr>
              <a:xfrm>
                <a:off x="838200" y="2311400"/>
                <a:ext cx="4826000" cy="274338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Method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MinPts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For each point compute the distance to its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-th nearest neighbour: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85754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85754D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descending and plot. The 'knee' (point of maximum curvature) marks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that separates dense interiors from sparse tails.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Read-off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Here the curve bends sharply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≈0.9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use that 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69D23-690D-C94A-B2D3-003EBAC18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1400"/>
                <a:ext cx="4826000" cy="2743380"/>
              </a:xfrm>
              <a:prstGeom prst="rect">
                <a:avLst/>
              </a:prstGeom>
              <a:blipFill>
                <a:blip r:embed="rId2"/>
                <a:stretch>
                  <a:fillRect l="-789" t="-461" b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kdist"/>
          <p:cNvGraphicFramePr/>
          <p:nvPr/>
        </p:nvGraphicFramePr>
        <p:xfrm>
          <a:off x="5740400" y="2159000"/>
          <a:ext cx="56134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632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F021-7B11-96F3-FAEE-E0563B79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Non-Convex Shapes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EA0515-C876-9A4F-91FB-12337D422A22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5873E-6186-134F-A07F-53D59EA78FEA}"/>
                  </a:ext>
                </a:extLst>
              </p:cNvPr>
              <p:cNvSpPr txBox="1"/>
              <p:nvPr/>
            </p:nvSpPr>
            <p:spPr>
              <a:xfrm>
                <a:off x="838200" y="2260600"/>
                <a:ext cx="4724400" cy="252376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Setup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Two concentric rings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— an inner disk surrounded by an outer annulus, same centre.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Why k-means fails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Minimises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⇒ convex (Voronoi) cells.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No hyperplane separates nested rings — it splits them by angle.</a:t>
                </a: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Why DBSCAN works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ring is density-connected within itself.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Gaps between rings exceed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⇒ distinct clusters.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5873E-6186-134F-A07F-53D59EA78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60600"/>
                <a:ext cx="4724400" cy="2523768"/>
              </a:xfrm>
              <a:prstGeom prst="rect">
                <a:avLst/>
              </a:prstGeom>
              <a:blipFill>
                <a:blip r:embed="rId2"/>
                <a:stretch>
                  <a:fillRect l="-804" t="-1005" b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25969C-4619-5F48-849F-E05B2A6AD6E6}"/>
                  </a:ext>
                </a:extLst>
              </p:cNvPr>
              <p:cNvSpPr txBox="1"/>
              <p:nvPr/>
            </p:nvSpPr>
            <p:spPr>
              <a:xfrm>
                <a:off x="5740400" y="2260600"/>
                <a:ext cx="2667000" cy="29238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b="1" dirty="0">
                    <a:solidFill>
                      <a:srgbClr val="D1578A"/>
                    </a:solidFill>
                  </a:rPr>
                  <a:t>k-means (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3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300" b="1" dirty="0">
                    <a:solidFill>
                      <a:srgbClr val="D1578A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25969C-4619-5F48-849F-E05B2A6AD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2260600"/>
                <a:ext cx="2667000" cy="292388"/>
              </a:xfrm>
              <a:prstGeom prst="rect">
                <a:avLst/>
              </a:prstGeom>
              <a:blipFill>
                <a:blip r:embed="rId3"/>
                <a:stretch>
                  <a:fillRect l="-476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631276C-74E7-A949-81F2-BA9AEB23F5E5}"/>
              </a:ext>
            </a:extLst>
          </p:cNvPr>
          <p:cNvSpPr txBox="1"/>
          <p:nvPr/>
        </p:nvSpPr>
        <p:spPr>
          <a:xfrm>
            <a:off x="8686800" y="22606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7AB648"/>
                </a:solidFill>
              </a:rPr>
              <a:t>DBSCAN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2A75B8-6CD4-E645-871F-03294EB8028A}"/>
              </a:ext>
            </a:extLst>
          </p:cNvPr>
          <p:cNvSpPr/>
          <p:nvPr/>
        </p:nvSpPr>
        <p:spPr>
          <a:xfrm>
            <a:off x="5740400" y="2540000"/>
            <a:ext cx="2667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B38768-9A54-4240-8960-70E34CD8ED2A}"/>
              </a:ext>
            </a:extLst>
          </p:cNvPr>
          <p:cNvSpPr/>
          <p:nvPr/>
        </p:nvSpPr>
        <p:spPr>
          <a:xfrm>
            <a:off x="8686800" y="2540000"/>
            <a:ext cx="2667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60EEEF-560D-254F-8C8E-EFEE5A76AF17}"/>
              </a:ext>
            </a:extLst>
          </p:cNvPr>
          <p:cNvSpPr/>
          <p:nvPr/>
        </p:nvSpPr>
        <p:spPr>
          <a:xfrm>
            <a:off x="8013700" y="38227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0108F-5701-7349-A43A-DDB908B38972}"/>
              </a:ext>
            </a:extLst>
          </p:cNvPr>
          <p:cNvSpPr/>
          <p:nvPr/>
        </p:nvSpPr>
        <p:spPr>
          <a:xfrm>
            <a:off x="7938295" y="4201786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EA24CF-32DF-AF44-9946-43BDCC197723}"/>
              </a:ext>
            </a:extLst>
          </p:cNvPr>
          <p:cNvSpPr/>
          <p:nvPr/>
        </p:nvSpPr>
        <p:spPr>
          <a:xfrm>
            <a:off x="7723559" y="4523159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D04783-238A-2645-86DD-F7966923EA35}"/>
              </a:ext>
            </a:extLst>
          </p:cNvPr>
          <p:cNvSpPr/>
          <p:nvPr/>
        </p:nvSpPr>
        <p:spPr>
          <a:xfrm>
            <a:off x="7402186" y="4737895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90FC2D-B56E-BF48-A74E-461C54877E80}"/>
              </a:ext>
            </a:extLst>
          </p:cNvPr>
          <p:cNvSpPr/>
          <p:nvPr/>
        </p:nvSpPr>
        <p:spPr>
          <a:xfrm>
            <a:off x="7023100" y="48133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0AFCA3-FB49-8A41-A8D0-673DCB9962A0}"/>
              </a:ext>
            </a:extLst>
          </p:cNvPr>
          <p:cNvSpPr/>
          <p:nvPr/>
        </p:nvSpPr>
        <p:spPr>
          <a:xfrm>
            <a:off x="6644013" y="4737895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F2ED7A-5486-A94B-820B-1E82B8056808}"/>
              </a:ext>
            </a:extLst>
          </p:cNvPr>
          <p:cNvSpPr/>
          <p:nvPr/>
        </p:nvSpPr>
        <p:spPr>
          <a:xfrm>
            <a:off x="6322640" y="4523159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16490F-45B2-6F41-8D9D-628B6064B501}"/>
              </a:ext>
            </a:extLst>
          </p:cNvPr>
          <p:cNvSpPr/>
          <p:nvPr/>
        </p:nvSpPr>
        <p:spPr>
          <a:xfrm>
            <a:off x="6107904" y="4201786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99AF56-E9B1-434E-B8EC-E71E46007114}"/>
              </a:ext>
            </a:extLst>
          </p:cNvPr>
          <p:cNvSpPr/>
          <p:nvPr/>
        </p:nvSpPr>
        <p:spPr>
          <a:xfrm>
            <a:off x="6032500" y="3822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529003-C97C-0F4B-807B-77A72DFD12C2}"/>
              </a:ext>
            </a:extLst>
          </p:cNvPr>
          <p:cNvSpPr/>
          <p:nvPr/>
        </p:nvSpPr>
        <p:spPr>
          <a:xfrm>
            <a:off x="6107904" y="3443613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487733-D987-D94F-A31D-AD6BB72014EC}"/>
              </a:ext>
            </a:extLst>
          </p:cNvPr>
          <p:cNvSpPr/>
          <p:nvPr/>
        </p:nvSpPr>
        <p:spPr>
          <a:xfrm>
            <a:off x="6322640" y="312224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84E480-4572-6242-9E02-C2380AB1659B}"/>
              </a:ext>
            </a:extLst>
          </p:cNvPr>
          <p:cNvSpPr/>
          <p:nvPr/>
        </p:nvSpPr>
        <p:spPr>
          <a:xfrm>
            <a:off x="6644013" y="2907504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6B771-FB12-7048-A4E0-72CABD462572}"/>
              </a:ext>
            </a:extLst>
          </p:cNvPr>
          <p:cNvSpPr/>
          <p:nvPr/>
        </p:nvSpPr>
        <p:spPr>
          <a:xfrm>
            <a:off x="7023100" y="28321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06C5E3-E89D-2142-9CED-0DE33FA99863}"/>
              </a:ext>
            </a:extLst>
          </p:cNvPr>
          <p:cNvSpPr/>
          <p:nvPr/>
        </p:nvSpPr>
        <p:spPr>
          <a:xfrm>
            <a:off x="7402186" y="2907504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5A9869-7290-3F49-A651-6DED5E23D5D3}"/>
              </a:ext>
            </a:extLst>
          </p:cNvPr>
          <p:cNvSpPr/>
          <p:nvPr/>
        </p:nvSpPr>
        <p:spPr>
          <a:xfrm>
            <a:off x="7723559" y="312224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F17B0C-7AE1-B34C-B3D0-3BA8DCFB58F8}"/>
              </a:ext>
            </a:extLst>
          </p:cNvPr>
          <p:cNvSpPr/>
          <p:nvPr/>
        </p:nvSpPr>
        <p:spPr>
          <a:xfrm>
            <a:off x="7938295" y="3443613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AE897F-C19E-434F-9278-DF757E7CD71F}"/>
              </a:ext>
            </a:extLst>
          </p:cNvPr>
          <p:cNvSpPr/>
          <p:nvPr/>
        </p:nvSpPr>
        <p:spPr>
          <a:xfrm>
            <a:off x="7454900" y="38227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72C046-96F7-4F45-B627-4656F7A7291E}"/>
              </a:ext>
            </a:extLst>
          </p:cNvPr>
          <p:cNvSpPr/>
          <p:nvPr/>
        </p:nvSpPr>
        <p:spPr>
          <a:xfrm>
            <a:off x="7353877" y="4100255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4DF8D9-3F68-DE48-9C32-013CC7A5E973}"/>
              </a:ext>
            </a:extLst>
          </p:cNvPr>
          <p:cNvSpPr/>
          <p:nvPr/>
        </p:nvSpPr>
        <p:spPr>
          <a:xfrm>
            <a:off x="7098081" y="4247939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2A79B6F-59F4-CC49-B591-93B2F69F898F}"/>
              </a:ext>
            </a:extLst>
          </p:cNvPr>
          <p:cNvSpPr/>
          <p:nvPr/>
        </p:nvSpPr>
        <p:spPr>
          <a:xfrm>
            <a:off x="6807200" y="4196649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2F2B3F1-2220-764B-A6E9-D95B113F62A7}"/>
              </a:ext>
            </a:extLst>
          </p:cNvPr>
          <p:cNvSpPr/>
          <p:nvPr/>
        </p:nvSpPr>
        <p:spPr>
          <a:xfrm>
            <a:off x="6617340" y="3970384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C346DE9-4228-4E4A-83CE-154D76B02A64}"/>
              </a:ext>
            </a:extLst>
          </p:cNvPr>
          <p:cNvSpPr/>
          <p:nvPr/>
        </p:nvSpPr>
        <p:spPr>
          <a:xfrm>
            <a:off x="6617340" y="3675015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3F5476-7217-074D-B569-0AB530129B4A}"/>
              </a:ext>
            </a:extLst>
          </p:cNvPr>
          <p:cNvSpPr/>
          <p:nvPr/>
        </p:nvSpPr>
        <p:spPr>
          <a:xfrm>
            <a:off x="6807200" y="344875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391D264-157B-E941-9066-87F64A2F7379}"/>
              </a:ext>
            </a:extLst>
          </p:cNvPr>
          <p:cNvSpPr/>
          <p:nvPr/>
        </p:nvSpPr>
        <p:spPr>
          <a:xfrm>
            <a:off x="7098081" y="339746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AED42A-9314-A248-A042-455CE2F0C4C0}"/>
              </a:ext>
            </a:extLst>
          </p:cNvPr>
          <p:cNvSpPr/>
          <p:nvPr/>
        </p:nvSpPr>
        <p:spPr>
          <a:xfrm>
            <a:off x="7353877" y="3545144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4128B2-E9A0-1348-81C1-96F9ABED40CB}"/>
              </a:ext>
            </a:extLst>
          </p:cNvPr>
          <p:cNvSpPr/>
          <p:nvPr/>
        </p:nvSpPr>
        <p:spPr>
          <a:xfrm>
            <a:off x="10960100" y="3822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9EBA865-261F-8D43-9294-DB1C26E03DE6}"/>
              </a:ext>
            </a:extLst>
          </p:cNvPr>
          <p:cNvSpPr/>
          <p:nvPr/>
        </p:nvSpPr>
        <p:spPr>
          <a:xfrm>
            <a:off x="10884695" y="4201786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9E4A4DA-95F0-494C-8B19-1606D6FFE902}"/>
              </a:ext>
            </a:extLst>
          </p:cNvPr>
          <p:cNvSpPr/>
          <p:nvPr/>
        </p:nvSpPr>
        <p:spPr>
          <a:xfrm>
            <a:off x="10669959" y="4523159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407B92E-0964-554F-8FB8-F81F6E7FF3D8}"/>
              </a:ext>
            </a:extLst>
          </p:cNvPr>
          <p:cNvSpPr/>
          <p:nvPr/>
        </p:nvSpPr>
        <p:spPr>
          <a:xfrm>
            <a:off x="10348586" y="4737895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2A4A796-5829-6146-B45B-77696972142A}"/>
              </a:ext>
            </a:extLst>
          </p:cNvPr>
          <p:cNvSpPr/>
          <p:nvPr/>
        </p:nvSpPr>
        <p:spPr>
          <a:xfrm>
            <a:off x="9969500" y="48133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FFD7EC5-AF6C-344E-8459-5A6B9DA5B4C4}"/>
              </a:ext>
            </a:extLst>
          </p:cNvPr>
          <p:cNvSpPr/>
          <p:nvPr/>
        </p:nvSpPr>
        <p:spPr>
          <a:xfrm>
            <a:off x="9590413" y="4737895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B5F9790-5DAC-E54A-928A-9A6D4206731B}"/>
              </a:ext>
            </a:extLst>
          </p:cNvPr>
          <p:cNvSpPr/>
          <p:nvPr/>
        </p:nvSpPr>
        <p:spPr>
          <a:xfrm>
            <a:off x="9269040" y="4523159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522625-7E99-F84A-B549-5C4858165E62}"/>
              </a:ext>
            </a:extLst>
          </p:cNvPr>
          <p:cNvSpPr/>
          <p:nvPr/>
        </p:nvSpPr>
        <p:spPr>
          <a:xfrm>
            <a:off x="9054304" y="4201786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D6ED72C-9815-2C4C-B4DB-2353D4DB1BB8}"/>
              </a:ext>
            </a:extLst>
          </p:cNvPr>
          <p:cNvSpPr/>
          <p:nvPr/>
        </p:nvSpPr>
        <p:spPr>
          <a:xfrm>
            <a:off x="8978900" y="3822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B117CA-420E-1843-895C-5733E2449E8A}"/>
              </a:ext>
            </a:extLst>
          </p:cNvPr>
          <p:cNvSpPr/>
          <p:nvPr/>
        </p:nvSpPr>
        <p:spPr>
          <a:xfrm>
            <a:off x="9054304" y="3443613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3CE3A5-064D-2B48-A688-D71F5E829F09}"/>
              </a:ext>
            </a:extLst>
          </p:cNvPr>
          <p:cNvSpPr/>
          <p:nvPr/>
        </p:nvSpPr>
        <p:spPr>
          <a:xfrm>
            <a:off x="9269040" y="312224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3F9B5DD-B0F2-7E4D-8A52-3140C27F6CA5}"/>
              </a:ext>
            </a:extLst>
          </p:cNvPr>
          <p:cNvSpPr/>
          <p:nvPr/>
        </p:nvSpPr>
        <p:spPr>
          <a:xfrm>
            <a:off x="9590413" y="2907504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23EEFA0-7A4F-F34E-BFFB-E6EC4D3CF6B1}"/>
              </a:ext>
            </a:extLst>
          </p:cNvPr>
          <p:cNvSpPr/>
          <p:nvPr/>
        </p:nvSpPr>
        <p:spPr>
          <a:xfrm>
            <a:off x="9969500" y="28321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A9CCD22-90E7-824F-8A89-D699AF05A736}"/>
              </a:ext>
            </a:extLst>
          </p:cNvPr>
          <p:cNvSpPr/>
          <p:nvPr/>
        </p:nvSpPr>
        <p:spPr>
          <a:xfrm>
            <a:off x="10348586" y="2907504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0BE212B-33D8-F644-84C2-08D9E71274A4}"/>
              </a:ext>
            </a:extLst>
          </p:cNvPr>
          <p:cNvSpPr/>
          <p:nvPr/>
        </p:nvSpPr>
        <p:spPr>
          <a:xfrm>
            <a:off x="10669959" y="312224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FCAFF96-52E0-2044-B555-AF633F13DCE9}"/>
              </a:ext>
            </a:extLst>
          </p:cNvPr>
          <p:cNvSpPr/>
          <p:nvPr/>
        </p:nvSpPr>
        <p:spPr>
          <a:xfrm>
            <a:off x="10884695" y="3443613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386E3C3-0942-574B-96A7-C71A264429D6}"/>
              </a:ext>
            </a:extLst>
          </p:cNvPr>
          <p:cNvSpPr/>
          <p:nvPr/>
        </p:nvSpPr>
        <p:spPr>
          <a:xfrm>
            <a:off x="10401300" y="382270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50B9EE5-D817-264B-A0DB-AF9622085DAF}"/>
              </a:ext>
            </a:extLst>
          </p:cNvPr>
          <p:cNvSpPr/>
          <p:nvPr/>
        </p:nvSpPr>
        <p:spPr>
          <a:xfrm>
            <a:off x="10300277" y="4100255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7DC25FF-625B-D449-AAF4-0560DECACB1E}"/>
              </a:ext>
            </a:extLst>
          </p:cNvPr>
          <p:cNvSpPr/>
          <p:nvPr/>
        </p:nvSpPr>
        <p:spPr>
          <a:xfrm>
            <a:off x="10044481" y="4247939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B523625-7630-274D-9462-65FA75588ECE}"/>
              </a:ext>
            </a:extLst>
          </p:cNvPr>
          <p:cNvSpPr/>
          <p:nvPr/>
        </p:nvSpPr>
        <p:spPr>
          <a:xfrm>
            <a:off x="9753600" y="4196649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7E5E546-C544-5445-AE13-565A30073F6E}"/>
              </a:ext>
            </a:extLst>
          </p:cNvPr>
          <p:cNvSpPr/>
          <p:nvPr/>
        </p:nvSpPr>
        <p:spPr>
          <a:xfrm>
            <a:off x="9563740" y="3970384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2F88675-3EE8-C543-B39A-EBBE442BC12D}"/>
              </a:ext>
            </a:extLst>
          </p:cNvPr>
          <p:cNvSpPr/>
          <p:nvPr/>
        </p:nvSpPr>
        <p:spPr>
          <a:xfrm>
            <a:off x="9563740" y="3675015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1928BC-01E6-1144-A9AD-1DAAA41B80A0}"/>
              </a:ext>
            </a:extLst>
          </p:cNvPr>
          <p:cNvSpPr/>
          <p:nvPr/>
        </p:nvSpPr>
        <p:spPr>
          <a:xfrm>
            <a:off x="9753600" y="344875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B3B5AE-30BD-BE47-B1C6-11A90BE5B886}"/>
              </a:ext>
            </a:extLst>
          </p:cNvPr>
          <p:cNvSpPr/>
          <p:nvPr/>
        </p:nvSpPr>
        <p:spPr>
          <a:xfrm>
            <a:off x="10044481" y="339746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3DAA09F-E150-6940-8AB9-8558E7EFDC7D}"/>
              </a:ext>
            </a:extLst>
          </p:cNvPr>
          <p:cNvSpPr/>
          <p:nvPr/>
        </p:nvSpPr>
        <p:spPr>
          <a:xfrm>
            <a:off x="10300277" y="3545144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A01E92-B747-2C46-9E42-56F061F29B9D}"/>
                  </a:ext>
                </a:extLst>
              </p:cNvPr>
              <p:cNvSpPr txBox="1"/>
              <p:nvPr/>
            </p:nvSpPr>
            <p:spPr>
              <a:xfrm>
                <a:off x="5740400" y="5308600"/>
                <a:ext cx="5613400" cy="55399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500" i="1" dirty="0">
                    <a:solidFill>
                      <a:srgbClr val="595959"/>
                    </a:solidFill>
                  </a:rPr>
                  <a:t>k-means cuts by a linear boundary (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); DBSCAN follows density, recovering each ring.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A01E92-B747-2C46-9E42-56F061F29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5308600"/>
                <a:ext cx="5613400" cy="553998"/>
              </a:xfrm>
              <a:prstGeom prst="rect">
                <a:avLst/>
              </a:prstGeom>
              <a:blipFill>
                <a:blip r:embed="rId4"/>
                <a:stretch>
                  <a:fillRect l="-677" t="-4545" r="-1129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41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AF18-4916-1927-636B-6256CA6B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DBSCAN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31C88A-F61B-A842-BCE0-358CDDF9D380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A7F6DC-1EBE-2E4A-8B22-CD705DB3B865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3E4C9-F678-F24D-A1CA-87B1BB997F4A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E1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5,5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X = {(0,0),(0,1),(1,0),(1,1),(5,5)}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ε = 1.5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MinPts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MinPts = 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label each point core / border / noise using the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L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L₂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norm.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3E4C9-F678-F24D-A1CA-87B1BB997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D5C6D8F6-8C98-F041-BD7F-8CCE9EEEB060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42ADA3-BD1B-2244-B4E1-FC73DE839748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85A1FF-78F4-A049-9DF6-93C589E0180D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E2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has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</m:d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=2&lt;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MinPts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|Nε(p)| = 2 &lt; MinPts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but lies within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ε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of a core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q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Prove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is a border point and assign its cluster. State the reachability definition you use.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85A1FF-78F4-A049-9DF6-93C589E0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1C4C163E-26F6-3E4E-89B5-8C1F3BC1E18F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0C16F9-B415-7443-844D-FA1BA51886C9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F3A78-1A7F-874B-9172-19D962439502}"/>
                  </a:ext>
                </a:extLst>
              </p:cNvPr>
              <p:cNvSpPr txBox="1"/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E3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Explain, using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‖x − μₖ‖²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vs density-connectivity, why DBSCAN finds two clusters on concentric rings while k-means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k=2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 cannot. When would DBSCAN itself fail?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F3A78-1A7F-874B-9172-19D96243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51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8EC2D9-33AB-B241-858F-37B870E957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21F97-ADF0-D649-8070-AC1C52F33C32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0ABBE-2C68-F643-993F-07D38A8FE6FB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5F0EB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E230E-C9BB-FA4C-8898-8849206C3D51}"/>
              </a:ext>
            </a:extLst>
          </p:cNvPr>
          <p:cNvSpPr txBox="1"/>
          <p:nvPr/>
        </p:nvSpPr>
        <p:spPr>
          <a:xfrm>
            <a:off x="787400" y="2857500"/>
            <a:ext cx="965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t-SNE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70AFF-3BA2-8040-8A2E-3B10497330F7}"/>
              </a:ext>
            </a:extLst>
          </p:cNvPr>
          <p:cNvSpPr txBox="1"/>
          <p:nvPr/>
        </p:nvSpPr>
        <p:spPr>
          <a:xfrm>
            <a:off x="838200" y="41910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t-Distributed Stochastic Neighbor Embedding</a:t>
            </a:r>
          </a:p>
        </p:txBody>
      </p:sp>
    </p:spTree>
    <p:extLst>
      <p:ext uri="{BB962C8B-B14F-4D97-AF65-F5344CB8AC3E}">
        <p14:creationId xmlns:p14="http://schemas.microsoft.com/office/powerpoint/2010/main" val="2105962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2B35-41CB-9281-682B-F770B430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t-SNE: High-D vs Low-D Affinities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29BFC3-1D5E-894D-BF83-3BCC811AC56A}"/>
              </a:ext>
            </a:extLst>
          </p:cNvPr>
          <p:cNvSpPr/>
          <p:nvPr/>
        </p:nvSpPr>
        <p:spPr>
          <a:xfrm>
            <a:off x="838200" y="1905000"/>
            <a:ext cx="5143500" cy="304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7D6E3-095C-4E44-AB2B-2542D600F47E}"/>
              </a:ext>
            </a:extLst>
          </p:cNvPr>
          <p:cNvSpPr/>
          <p:nvPr/>
        </p:nvSpPr>
        <p:spPr>
          <a:xfrm>
            <a:off x="838200" y="1905000"/>
            <a:ext cx="5143500" cy="4572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High-dimensional (Gaussian)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35C20-0DA9-8B44-8AD8-6B829D226454}"/>
                  </a:ext>
                </a:extLst>
              </p:cNvPr>
              <p:cNvSpPr txBox="1"/>
              <p:nvPr/>
            </p:nvSpPr>
            <p:spPr>
              <a:xfrm>
                <a:off x="1016000" y="2489200"/>
                <a:ext cx="4787900" cy="19143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Conditional similarity of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4B2E83"/>
                                      </a:solidFill>
                                    </a:rPr>
                                    <m:t>exp</m:t>
                                  </m:r>
                                  <m:d>
                                    <m:d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p(j|i) = exp(−‖xᵢ−xⱼ‖²/2σᵢ²) / Σₖ≠ᵢ exp(...)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set so perplexity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= 2^H(Pᵢ)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matches a target (typ. 5–50).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35C20-0DA9-8B44-8AD8-6B829D226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89200"/>
                <a:ext cx="4787900" cy="1914370"/>
              </a:xfrm>
              <a:prstGeom prst="rect">
                <a:avLst/>
              </a:prstGeom>
              <a:blipFill>
                <a:blip r:embed="rId2"/>
                <a:stretch>
                  <a:fillRect l="-796" t="-658" b="-7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8F4246-86FF-144D-A8E0-09D698E455DF}"/>
              </a:ext>
            </a:extLst>
          </p:cNvPr>
          <p:cNvSpPr/>
          <p:nvPr/>
        </p:nvSpPr>
        <p:spPr>
          <a:xfrm>
            <a:off x="6210300" y="1905000"/>
            <a:ext cx="5143500" cy="304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1FFBC-647D-5142-B6D3-2B38A29DA530}"/>
              </a:ext>
            </a:extLst>
          </p:cNvPr>
          <p:cNvSpPr/>
          <p:nvPr/>
        </p:nvSpPr>
        <p:spPr>
          <a:xfrm>
            <a:off x="6210300" y="1905000"/>
            <a:ext cx="5143500" cy="457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Low-dimensional (Student-t)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367DAC-62FF-A74A-93E2-4DEAED925652}"/>
                  </a:ext>
                </a:extLst>
              </p:cNvPr>
              <p:cNvSpPr txBox="1"/>
              <p:nvPr/>
            </p:nvSpPr>
            <p:spPr>
              <a:xfrm>
                <a:off x="6388100" y="2489200"/>
                <a:ext cx="4787900" cy="162916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Similarity of map points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(heavy tails):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𝑙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(1+‖yᵢ−yⱼ‖²)⁻¹ / Σₖ≠ₗ (...)⁻¹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Student-t (1 df) gives heavy tails → relieves crowding, separates clusters.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367DAC-62FF-A74A-93E2-4DEAED925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2489200"/>
                <a:ext cx="4787900" cy="1629164"/>
              </a:xfrm>
              <a:prstGeom prst="rect">
                <a:avLst/>
              </a:prstGeom>
              <a:blipFill>
                <a:blip r:embed="rId3"/>
                <a:stretch>
                  <a:fillRect l="-531" t="-769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AA151D6-9588-F449-9A25-634D57225C2A}"/>
              </a:ext>
            </a:extLst>
          </p:cNvPr>
          <p:cNvSpPr/>
          <p:nvPr/>
        </p:nvSpPr>
        <p:spPr>
          <a:xfrm>
            <a:off x="838200" y="5130800"/>
            <a:ext cx="10515600" cy="1016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6F3B1A-F8B1-E548-87B1-AA7C147B12B8}"/>
                  </a:ext>
                </a:extLst>
              </p:cNvPr>
              <p:cNvSpPr txBox="1"/>
              <p:nvPr/>
            </p:nvSpPr>
            <p:spPr>
              <a:xfrm>
                <a:off x="838200" y="5257800"/>
                <a:ext cx="10515600" cy="71295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Symmetrize the high-D affinities into a joint distribution: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num>
                          <m:den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pᵢⱼ = (p(j|i)+p(i|j))/2n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     </a:t>
                </a:r>
                <mc:AlternateContent>
                  <mc:Choice Requires="a14"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Σᵢⱼ pᵢⱼ = 1</a:t>
                    </a:r>
                  </mc:Fallback>
                </mc:AlternateContent>
                <a:endParaRPr lang="en-US" sz="1700" dirty="0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6F3B1A-F8B1-E548-87B1-AA7C147B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57800"/>
                <a:ext cx="10515600" cy="712952"/>
              </a:xfrm>
              <a:prstGeom prst="rect">
                <a:avLst/>
              </a:prstGeom>
              <a:blipFill>
                <a:blip r:embed="rId4"/>
                <a:stretch>
                  <a:fillRect l="-362" t="-12500" b="-7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057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7A9E-09C6-D031-A3C6-504B1D0E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t-SNE: Cost &amp;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E7463-1402-6146-888C-B7A943ADD526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29238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300" dirty="0">
                    <a:solidFill>
                      <a:srgbClr val="333333"/>
                    </a:solidFill>
                  </a:rPr>
                  <a:t>Minimize the Kullback–Leibler divergence between the joint distributions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3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300">
                        <a:solidFill>
                          <a:srgbClr val="333333"/>
                        </a:solidFill>
                      </a:rPr>
                      <a:t>P</a:t>
                    </a:r>
                  </mc:Fallback>
                </mc:AlternateContent>
                <a:r>
                  <a:rPr lang="en-US" sz="1300" dirty="0">
                    <a:solidFill>
                      <a:srgbClr val="333333"/>
                    </a:solidFill>
                  </a:rPr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3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𝐐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300">
                        <a:solidFill>
                          <a:srgbClr val="333333"/>
                        </a:solidFill>
                      </a:rPr>
                      <a:t>Q</a:t>
                    </a:r>
                  </mc:Fallback>
                </mc:AlternateContent>
                <a:r>
                  <a:rPr lang="en-US" sz="1300" dirty="0">
                    <a:solidFill>
                      <a:srgbClr val="333333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E7463-1402-6146-888C-B7A943ADD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292388"/>
              </a:xfrm>
              <a:prstGeom prst="rect">
                <a:avLst/>
              </a:prstGeom>
              <a:blipFill>
                <a:blip r:embed="rId2"/>
                <a:stretch>
                  <a:fillRect l="-24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05858B-DCAF-8B45-B4BB-28F58BDDAF87}"/>
              </a:ext>
            </a:extLst>
          </p:cNvPr>
          <p:cNvSpPr/>
          <p:nvPr/>
        </p:nvSpPr>
        <p:spPr>
          <a:xfrm>
            <a:off x="838200" y="2336800"/>
            <a:ext cx="10515600" cy="9144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74FB5C-0BD8-8C44-877A-9C3B885FAF07}"/>
                  </a:ext>
                </a:extLst>
              </p:cNvPr>
              <p:cNvSpPr txBox="1"/>
              <p:nvPr/>
            </p:nvSpPr>
            <p:spPr>
              <a:xfrm>
                <a:off x="1016000" y="2387318"/>
                <a:ext cx="10160000" cy="81336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KL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‖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</m:e>
                          </m:d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solidFill>
                                        <a:srgbClr val="FFFFFF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C = KL(P ‖ Q) = Σᵢ Σⱼ pᵢⱼ log(pᵢⱼ/qᵢⱼ)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74FB5C-0BD8-8C44-877A-9C3B885F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387318"/>
                <a:ext cx="10160000" cy="813364"/>
              </a:xfrm>
              <a:prstGeom prst="rect">
                <a:avLst/>
              </a:prstGeom>
              <a:blipFill>
                <a:blip r:embed="rId3"/>
                <a:stretch>
                  <a:fillRect t="-112308" b="-15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B1658E-4E0F-FF45-806F-84F25006C03A}"/>
              </a:ext>
            </a:extLst>
          </p:cNvPr>
          <p:cNvSpPr/>
          <p:nvPr/>
        </p:nvSpPr>
        <p:spPr>
          <a:xfrm>
            <a:off x="838200" y="3429000"/>
            <a:ext cx="10515600" cy="9144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9C655D-48C6-3B47-9A01-832DD4C5B824}"/>
                  </a:ext>
                </a:extLst>
              </p:cNvPr>
              <p:cNvSpPr txBox="1"/>
              <p:nvPr/>
            </p:nvSpPr>
            <p:spPr>
              <a:xfrm>
                <a:off x="1016000" y="3488270"/>
                <a:ext cx="10160000" cy="79585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∂C/∂yᵢ = 4 Σⱼ (pᵢⱼ−qᵢⱼ)(yᵢ−yⱼ)(1+‖yᵢ−yⱼ‖²)⁻¹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9C655D-48C6-3B47-9A01-832DD4C5B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488270"/>
                <a:ext cx="10160000" cy="795859"/>
              </a:xfrm>
              <a:prstGeom prst="rect">
                <a:avLst/>
              </a:prstGeom>
              <a:blipFill>
                <a:blip r:embed="rId4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733DA0-CDF5-664E-AE61-7C9AD3BDF5DF}"/>
                  </a:ext>
                </a:extLst>
              </p:cNvPr>
              <p:cNvSpPr txBox="1"/>
              <p:nvPr/>
            </p:nvSpPr>
            <p:spPr>
              <a:xfrm>
                <a:off x="838200" y="4572000"/>
                <a:ext cx="10515600" cy="105272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KL is asymmetric: large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pᵢⱼ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modelled by small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qᵢⱼ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penalized heavily → preserves local structure.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Optimized by gradient descent with momentum; early exaggeration multiplies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pᵢⱼ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(×4–12) to form tight clusters first.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Cost is non-convex → different random seeds give different maps. Distances between clusters are not meaningful.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Complexity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O(n²)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; Barnes–Hut approximation reduces it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O(n log n)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733DA0-CDF5-664E-AE61-7C9AD3BDF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72000"/>
                <a:ext cx="10515600" cy="1052724"/>
              </a:xfrm>
              <a:prstGeom prst="rect">
                <a:avLst/>
              </a:prstGeom>
              <a:blipFill>
                <a:blip r:embed="rId5"/>
                <a:stretch>
                  <a:fillRect l="-241" t="-1190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59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7D66-5529-4481-7DE8-8980E4AA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Computing an Affinity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8733E1-7999-024A-8ABE-C9CD3BC5E65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3002B2-5ED8-0F43-B423-068DB436A6BD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7543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 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Squared distances to its 3 neighbors: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=4,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‖xᵢ−x₁‖² = 1,  ‖xᵢ−x₂‖² = 4,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=9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‖xᵢ−x₃‖² = 9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Bandwidth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 (so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2σᵢ² = 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Task: compute the conditional affinities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p(j|i)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3002B2-5ED8-0F43-B423-068DB436A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754326"/>
              </a:xfrm>
              <a:prstGeom prst="rect">
                <a:avLst/>
              </a:prstGeom>
              <a:blipFill>
                <a:blip r:embed="rId2"/>
                <a:stretch>
                  <a:fillRect l="-730" t="-1449" b="-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D0927-092E-334A-B1E4-19474BFC6402}"/>
              </a:ext>
            </a:extLst>
          </p:cNvPr>
          <p:cNvSpPr/>
          <p:nvPr/>
        </p:nvSpPr>
        <p:spPr>
          <a:xfrm>
            <a:off x="6210300" y="2336800"/>
            <a:ext cx="5143500" cy="3759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AA71F-71DE-BD45-BE3B-32E57ABE460D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332206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Unnormalized 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exp(−d²/2)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=0.607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w₁=e^−0.5=0.607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=0.135,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−4.5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=0.011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w₂=e^−2=0.135,  w₃=e^−4.5=0.011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=0.753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Z = 0.753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0.607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p(1|i)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0.135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=0.179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p(2|i)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0.011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=0.015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p(3|i)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Nearest neighbor dominates the distribution.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AA71F-71DE-BD45-BE3B-32E57ABE4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3322063"/>
              </a:xfrm>
              <a:prstGeom prst="rect">
                <a:avLst/>
              </a:prstGeom>
              <a:blipFill>
                <a:blip r:embed="rId3"/>
                <a:stretch>
                  <a:fillRect l="-539" t="-763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236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DE21-9ECF-E480-88E1-3A3E3002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Perplexity &amp; Bandwidth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CEB020-A53A-CC47-B695-05C1236C1BE4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EED10F-0F1B-FC49-A676-C93B2D4BF95A}"/>
                  </a:ext>
                </a:extLst>
              </p:cNvPr>
              <p:cNvSpPr txBox="1"/>
              <p:nvPr/>
            </p:nvSpPr>
            <p:spPr>
              <a:xfrm>
                <a:off x="2540000" y="1870417"/>
                <a:ext cx="8813800" cy="3231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Perplexity sets the effective number of neighbors;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solved so: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EED10F-0F1B-FC49-A676-C93B2D4BF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0" y="1870417"/>
                <a:ext cx="8813800" cy="323165"/>
              </a:xfrm>
              <a:prstGeom prst="rect">
                <a:avLst/>
              </a:prstGeom>
              <a:blipFill>
                <a:blip r:embed="rId2"/>
                <a:stretch>
                  <a:fillRect l="-432" t="-384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B7805A-4572-7B46-BF67-00476591A148}"/>
              </a:ext>
            </a:extLst>
          </p:cNvPr>
          <p:cNvSpPr/>
          <p:nvPr/>
        </p:nvSpPr>
        <p:spPr>
          <a:xfrm>
            <a:off x="838200" y="2387600"/>
            <a:ext cx="10515600" cy="8128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79003-0A57-CB48-BFE3-10C053E43129}"/>
                  </a:ext>
                </a:extLst>
              </p:cNvPr>
              <p:cNvSpPr txBox="1"/>
              <p:nvPr/>
            </p:nvSpPr>
            <p:spPr>
              <a:xfrm>
                <a:off x="1016000" y="2415627"/>
                <a:ext cx="10160000" cy="756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FFFFFF"/>
                              </a:solidFill>
                            </a:rPr>
                            <m:t>Perp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FFFFFF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FFFFFF"/>
                              </a:solidFill>
                            </a:rPr>
                            <m:t>H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FFFFFF"/>
                                  </a:solidFill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FFFFFF"/>
                                  </a:solidFill>
                                </a:rPr>
                                <m:t> </m:t>
                              </m:r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FFFFFF"/>
                        </a:solidFill>
                      </a:rPr>
                      <a:t>Perp(Pᵢ) = 2^H(Pᵢ),   H(Pᵢ) = −Σⱼ p(j|i) log₂ p(j|i)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79003-0A57-CB48-BFE3-10C053E43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15627"/>
                <a:ext cx="10160000" cy="756746"/>
              </a:xfrm>
              <a:prstGeom prst="rect">
                <a:avLst/>
              </a:prstGeom>
              <a:blipFill>
                <a:blip r:embed="rId3"/>
                <a:stretch>
                  <a:fillRect t="-116667" b="-16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E11922-CB90-BD49-A63A-36FA60FECF1D}"/>
              </a:ext>
            </a:extLst>
          </p:cNvPr>
          <p:cNvSpPr/>
          <p:nvPr/>
        </p:nvSpPr>
        <p:spPr>
          <a:xfrm>
            <a:off x="838200" y="3352800"/>
            <a:ext cx="5143500" cy="2743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D48C0-6BFD-CB4C-AB4E-1BAFD5B5CEC4}"/>
                  </a:ext>
                </a:extLst>
              </p:cNvPr>
              <p:cNvSpPr/>
              <p:nvPr/>
            </p:nvSpPr>
            <p:spPr>
              <a:xfrm>
                <a:off x="838200" y="3352800"/>
                <a:ext cx="5143500" cy="431800"/>
              </a:xfrm>
              <a:prstGeom prst="rect">
                <a:avLst/>
              </a:prstGeom>
              <a:solidFill>
                <a:srgbClr val="85754D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Low perplexity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≈5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FFFFFF"/>
                        </a:solidFill>
                      </a:rPr>
                      <a:t>≈5</a:t>
                    </a:r>
                  </mc:Fallback>
                </mc:AlternateContent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)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D48C0-6BFD-CB4C-AB4E-1BAFD5B5C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52800"/>
                <a:ext cx="5143500" cy="431800"/>
              </a:xfrm>
              <a:prstGeom prst="rect">
                <a:avLst/>
              </a:prstGeom>
              <a:blipFill>
                <a:blip r:embed="rId4"/>
                <a:stretch>
                  <a:fillRect l="-24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A9BD99-E319-624D-A39A-13D4EB145CA7}"/>
                  </a:ext>
                </a:extLst>
              </p:cNvPr>
              <p:cNvSpPr txBox="1"/>
              <p:nvPr/>
            </p:nvSpPr>
            <p:spPr>
              <a:xfrm>
                <a:off x="1016000" y="3886200"/>
                <a:ext cx="4787900" cy="12464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Small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→ affinity concentrated on a few nearest points.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Captures fine local structure; map may fragment into many tiny blobs.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Sensitive to noise.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A9BD99-E319-624D-A39A-13D4EB145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886200"/>
                <a:ext cx="4787900" cy="1246495"/>
              </a:xfrm>
              <a:prstGeom prst="rect">
                <a:avLst/>
              </a:prstGeom>
              <a:blipFill>
                <a:blip r:embed="rId5"/>
                <a:stretch>
                  <a:fillRect l="-531" t="-2020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C70063-742D-AF4D-8561-532039EC50D7}"/>
              </a:ext>
            </a:extLst>
          </p:cNvPr>
          <p:cNvSpPr/>
          <p:nvPr/>
        </p:nvSpPr>
        <p:spPr>
          <a:xfrm>
            <a:off x="6210300" y="3352800"/>
            <a:ext cx="5143500" cy="2743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67929-0B30-1F4B-B6F9-AE108566BC19}"/>
                  </a:ext>
                </a:extLst>
              </p:cNvPr>
              <p:cNvSpPr/>
              <p:nvPr/>
            </p:nvSpPr>
            <p:spPr>
              <a:xfrm>
                <a:off x="6210300" y="3352800"/>
                <a:ext cx="5143500" cy="431800"/>
              </a:xfrm>
              <a:prstGeom prst="rect">
                <a:avLst/>
              </a:prstGeom>
              <a:solidFill>
                <a:srgbClr val="4B2E83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High perplexity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≈50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FFFFFF"/>
                        </a:solidFill>
                      </a:rPr>
                      <a:t>≈50</a:t>
                    </a:r>
                  </mc:Fallback>
                </mc:AlternateContent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)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67929-0B30-1F4B-B6F9-AE108566B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3352800"/>
                <a:ext cx="5143500" cy="431800"/>
              </a:xfrm>
              <a:prstGeom prst="rect">
                <a:avLst/>
              </a:prstGeom>
              <a:blipFill>
                <a:blip r:embed="rId6"/>
                <a:stretch>
                  <a:fillRect l="-24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4E9F5E-D2CA-9840-8A66-6E6397B8535C}"/>
                  </a:ext>
                </a:extLst>
              </p:cNvPr>
              <p:cNvSpPr txBox="1"/>
              <p:nvPr/>
            </p:nvSpPr>
            <p:spPr>
              <a:xfrm>
                <a:off x="6388100" y="3886200"/>
                <a:ext cx="4787900" cy="101566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Larger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→ mass spread over many neighbors.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Smoother, more global layout; small clusters may merge.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Rule of thumb: perplexity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5,50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∈ [5, 50]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&gt;3·</m:t>
                        </m:r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perplexity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n &gt; 3·perplexity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4E9F5E-D2CA-9840-8A66-6E6397B85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3886200"/>
                <a:ext cx="4787900" cy="1015663"/>
              </a:xfrm>
              <a:prstGeom prst="rect">
                <a:avLst/>
              </a:prstGeom>
              <a:blipFill>
                <a:blip r:embed="rId7"/>
                <a:stretch>
                  <a:fillRect l="-531" t="-250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56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E4F4-CF58-1C79-1A59-A71D9FD2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One Gradient Step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E40F8B-4D8D-8C4F-90BC-FC86FE72F412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F6628-103A-4D4B-992F-8918E5A22C5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8991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Two map points (1-D for clarity):</a:t>
                </a:r>
              </a:p>
              <a:p>
                <a:pPr>
                  <a:buNone/>
                </a:pPr>
                <a:endParaRPr lang="en-US" sz="2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=0.0,</m:t>
                          </m:r>
                          <m:r>
                            <m:rPr>
                              <m:nor/>
                            </m:rPr>
                            <a:rPr lang="en-US" sz="15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=2.0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yᵢ = 0.0, yⱼ = 2.0</a:t>
                    </a:r>
                  </mc:Fallback>
                </mc:AlternateContent>
                <a:endParaRPr lang="en-US" sz="200"/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Affinities for this pair:</a:t>
                </a:r>
              </a:p>
              <a:p>
                <a:pPr>
                  <a:buNone/>
                </a:pPr>
                <a:endParaRPr lang="en-US" sz="2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=0.40,</m:t>
                          </m:r>
                          <m:r>
                            <m:rPr>
                              <m:nor/>
                            </m:rPr>
                            <a:rPr lang="en-US" sz="15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pᵢⱼ = 0.40, qᵢⱼ = 0.10</a:t>
                    </a:r>
                  </mc:Fallback>
                </mc:AlternateContent>
                <a:endParaRPr lang="en-US" sz="2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Task: compute the pairwise gradient contribution and the updated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with learning rate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η = 100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F6628-103A-4D4B-992F-8918E5A22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899110"/>
              </a:xfrm>
              <a:prstGeom prst="rect">
                <a:avLst/>
              </a:prstGeom>
              <a:blipFill>
                <a:blip r:embed="rId2"/>
                <a:stretch>
                  <a:fillRect l="-730" t="-1333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4FE997-F1EE-174B-A258-12F78321930A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D4511-ECAA-5146-9946-58F7604581D8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4708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Student-t factor: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15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5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5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5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=0.2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(1+‖yᵢ−yⱼ‖²)⁻¹ = (1+4)⁻¹ = 0.2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Pairwise gradient term: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·0.2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4(pᵢⱼ−qᵢⱼ)(yᵢ−yⱼ)·0.2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0.30</m:t>
                              </m:r>
                            </m:e>
                          </m:d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−2.0</m:t>
                              </m:r>
                            </m:e>
                          </m:d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d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=−0.48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= 4(0.30)(−2.0)(0.2) = −0.48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Gradient descent step: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←0.0−100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−0.48</m:t>
                              </m:r>
                            </m:e>
                          </m:d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=0.048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yᵢ ← 0.0 − 100(−0.48)·10⁻³ = 0.048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p&gt;q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→ attractive force pulls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toward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D4511-ECAA-5146-9946-58F76045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470869"/>
              </a:xfrm>
              <a:prstGeom prst="rect">
                <a:avLst/>
              </a:prstGeom>
              <a:blipFill>
                <a:blip r:embed="rId3"/>
                <a:stretch>
                  <a:fillRect l="-539" t="-1026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710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1725-AD53-C14D-AC8F-4C083DC8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t-SNE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356088-7038-A74A-A8AF-D273FEADBA23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9D7A54-F418-C846-959E-F0C85120C229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BEE36-38AD-4C4D-95DD-01B97B44F8B1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Given squared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0.5,2.0,6.0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{0.5, 2.0, 6.0}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from 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σᵢ²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three conditional affinities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p(j|i)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verify they sum to 1.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BEE36-38AD-4C4D-95DD-01B97B44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297C1574-CC2C-824C-B438-5834494AEC06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174562-6004-5443-80D3-BAC9501197AF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8B4B8-3897-2E46-BBF4-B9976F71DDEA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point distribution has entropy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H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=3.0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H(Pᵢ) = 3.0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bits. Find its perplexity. If the target perplexity is 30, should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increase or decrease? Explain.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8B4B8-3897-2E46-BBF4-B9976F71D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479541F9-32E1-0548-AF37-9A5DBE0474A6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72835E-C791-124D-BCB9-F560353E5D2B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52A0E-670D-094D-8F10-35090F426B3A}"/>
                  </a:ext>
                </a:extLst>
              </p:cNvPr>
              <p:cNvSpPr txBox="1"/>
              <p:nvPr/>
            </p:nvSpPr>
            <p:spPr>
              <a:xfrm>
                <a:off x="1854200" y="5387305"/>
                <a:ext cx="9296400" cy="6045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For map points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yᵢ=(0,0)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3,0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yⱼ=(3,0)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=0.05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pᵢⱼ=0.05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=0.20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qᵢⱼ=0.20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Student-t factor and the pairwise gradient. Is the force attractive or repulsive?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52A0E-670D-094D-8F10-35090F426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87305"/>
                <a:ext cx="9296400" cy="604589"/>
              </a:xfrm>
              <a:prstGeom prst="rect">
                <a:avLst/>
              </a:prstGeom>
              <a:blipFill>
                <a:blip r:embed="rId4"/>
                <a:stretch>
                  <a:fillRect l="-273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909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C783D1-FED8-F641-83A7-97BD7BCBEF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0F6BF-DCF7-F744-84B8-FFA0530C5416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2B823-8A60-B542-B77F-9F230961BF0A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5F0EB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952A1-01DE-7B40-AFEB-209C47961368}"/>
              </a:ext>
            </a:extLst>
          </p:cNvPr>
          <p:cNvSpPr txBox="1"/>
          <p:nvPr/>
        </p:nvSpPr>
        <p:spPr>
          <a:xfrm>
            <a:off x="787400" y="2857500"/>
            <a:ext cx="965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UMAP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790BD-7467-4B49-8573-2248BE69279C}"/>
              </a:ext>
            </a:extLst>
          </p:cNvPr>
          <p:cNvSpPr txBox="1"/>
          <p:nvPr/>
        </p:nvSpPr>
        <p:spPr>
          <a:xfrm>
            <a:off x="838200" y="4191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Uniform Manifold Approximation and Projection</a:t>
            </a:r>
          </a:p>
        </p:txBody>
      </p:sp>
    </p:spTree>
    <p:extLst>
      <p:ext uri="{BB962C8B-B14F-4D97-AF65-F5344CB8AC3E}">
        <p14:creationId xmlns:p14="http://schemas.microsoft.com/office/powerpoint/2010/main" val="4182115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D035-9BF5-A882-9AFF-C22226B0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UMAP: High-Dimensional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7EC246-E7C7-4840-9ADF-995AACB4B98E}"/>
                  </a:ext>
                </a:extLst>
              </p:cNvPr>
              <p:cNvSpPr txBox="1"/>
              <p:nvPr/>
            </p:nvSpPr>
            <p:spPr>
              <a:xfrm>
                <a:off x="838200" y="1778000"/>
                <a:ext cx="10515600" cy="3231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UMAP builds a weighted k-NN graph in high-D, then finds a low-D layout with a matching graph. For each point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k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neighbors: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7EC246-E7C7-4840-9ADF-995AACB4B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78000"/>
                <a:ext cx="10515600" cy="323165"/>
              </a:xfrm>
              <a:prstGeom prst="rect">
                <a:avLst/>
              </a:prstGeom>
              <a:blipFill>
                <a:blip r:embed="rId2"/>
                <a:stretch>
                  <a:fillRect l="-362" t="-7692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00EC97-A7B9-5D40-9C6D-73E28DC65C89}"/>
              </a:ext>
            </a:extLst>
          </p:cNvPr>
          <p:cNvSpPr/>
          <p:nvPr/>
        </p:nvSpPr>
        <p:spPr>
          <a:xfrm>
            <a:off x="838200" y="2311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535F43-E6D2-CB4A-825E-E7B00871A896}"/>
                  </a:ext>
                </a:extLst>
              </p:cNvPr>
              <p:cNvSpPr txBox="1"/>
              <p:nvPr/>
            </p:nvSpPr>
            <p:spPr>
              <a:xfrm>
                <a:off x="1016000" y="2396974"/>
                <a:ext cx="10160000" cy="6416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900">
                                <a:solidFill>
                                  <a:srgbClr val="FFFFFF"/>
                                </a:solidFill>
                              </a:rPr>
                              <m:t>min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ρᵢ = minⱼ d(xᵢ,xⱼ)</a:t>
                    </a:r>
                  </mc:Fallback>
                </mc:AlternateContent>
                <a:r>
                  <a:rPr lang="en-US" sz="1900" dirty="0">
                    <a:solidFill>
                      <a:srgbClr val="FFFFFF"/>
                    </a:solidFill>
                  </a:rPr>
                  <a:t>      ;      </a:t>
                </a:r>
                <mc:AlternateContent>
                  <mc:Choice Requires="a14"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m:rPr>
                                <m:nor/>
                              </m:rPr>
                              <a:rPr lang="en-US" sz="1900">
                                <a:solidFill>
                                  <a:srgbClr val="FFFFFF"/>
                                </a:solidFill>
                              </a:rPr>
                              <m:t>exp</m:t>
                            </m:r>
                            <m:d>
                              <m:dPr>
                                <m:ctrlPr>
                                  <a:rPr lang="en-US" sz="19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9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9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900" i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ctrlPr>
                                              <a:rPr lang="en-US" sz="1900" i="1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5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500" i="1">
                                                    <a:solidFill>
                                                      <a:srgbClr val="333333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500" i="1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500">
                                                    <a:solidFill>
                                                      <a:srgbClr val="333333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500" i="1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190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900" i="1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90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90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en-US" sz="1900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900" i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900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US" sz="19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Σⱼ exp(−(d(xᵢ,xⱼ)−ρᵢ)₊/σᵢ) = log₂ k</a:t>
                    </a:r>
                  </mc:Fallback>
                </mc:AlternateContent>
                <a:endParaRPr lang="en-US" sz="19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535F43-E6D2-CB4A-825E-E7B00871A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396974"/>
                <a:ext cx="10160000" cy="641651"/>
              </a:xfrm>
              <a:prstGeom prst="rect">
                <a:avLst/>
              </a:prstGeom>
              <a:blipFill>
                <a:blip r:embed="rId3"/>
                <a:stretch>
                  <a:fillRect t="-44231" b="-8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4800F2-47DC-464C-B706-56C747BA58BC}"/>
              </a:ext>
            </a:extLst>
          </p:cNvPr>
          <p:cNvSpPr/>
          <p:nvPr/>
        </p:nvSpPr>
        <p:spPr>
          <a:xfrm>
            <a:off x="838200" y="3327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E72B8D-1AF4-464F-B447-E40AF87EC4F6}"/>
                  </a:ext>
                </a:extLst>
              </p:cNvPr>
              <p:cNvSpPr txBox="1"/>
              <p:nvPr/>
            </p:nvSpPr>
            <p:spPr>
              <a:xfrm>
                <a:off x="1016000" y="3347893"/>
                <a:ext cx="10160000" cy="77181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9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900">
                              <a:solidFill>
                                <a:srgbClr val="FFFFFF"/>
                              </a:solidFill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1900">
                                      <a:solidFill>
                                        <a:srgbClr val="FFFFFF"/>
                                      </a:solidFill>
                                    </a:rPr>
                                    <m:t>max</m:t>
                                  </m:r>
                                  <m:d>
                                    <m:dPr>
                                      <m:ctrlPr>
                                        <a:rPr lang="en-US" sz="19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d>
                                        <m:dPr>
                                          <m:ctrlPr>
                                            <a:rPr lang="en-US" sz="15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9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sz="19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w(xᵢ,xⱼ) = exp(−max(0, d(xᵢ,xⱼ)−ρᵢ)/σᵢ)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E72B8D-1AF4-464F-B447-E40AF87EC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347893"/>
                <a:ext cx="10160000" cy="77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21EF24-EF8A-3D47-A3FF-B99FF957BC3D}"/>
              </a:ext>
            </a:extLst>
          </p:cNvPr>
          <p:cNvSpPr/>
          <p:nvPr/>
        </p:nvSpPr>
        <p:spPr>
          <a:xfrm>
            <a:off x="838200" y="4343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9B10AB-59A2-5D44-8F08-080B3FF13E9C}"/>
                  </a:ext>
                </a:extLst>
              </p:cNvPr>
              <p:cNvSpPr txBox="1"/>
              <p:nvPr/>
            </p:nvSpPr>
            <p:spPr>
              <a:xfrm>
                <a:off x="1016000" y="4545641"/>
                <a:ext cx="10160000" cy="40831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vᵢⱼ = wᵢⱼ + wⱼᵢ − wᵢⱼ · wⱼᵢ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9B10AB-59A2-5D44-8F08-080B3FF13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545641"/>
                <a:ext cx="10160000" cy="408317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53294-FC2A-5540-8785-595C97F96C70}"/>
                  </a:ext>
                </a:extLst>
              </p:cNvPr>
              <p:cNvSpPr txBox="1"/>
              <p:nvPr/>
            </p:nvSpPr>
            <p:spPr>
              <a:xfrm>
                <a:off x="838200" y="5384800"/>
                <a:ext cx="10515600" cy="78483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(local connectivity): distance to the nearest neighbor — guarantees each point connects to at least one other.</a:t>
                </a:r>
              </a:p>
              <a:p>
                <a:pPr marL="228600" indent="-228600">
                  <a:buFont typeface="Arial"/>
                  <a:buChar char="•"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(bandwidth): solved per point so the row of weights sums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log₂ k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adapts to local density.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Symmetrization combines the two directed edges via the probabilistic t-conorm (fuzzy union).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53294-FC2A-5540-8785-595C97F96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84800"/>
                <a:ext cx="10515600" cy="784830"/>
              </a:xfrm>
              <a:prstGeom prst="rect">
                <a:avLst/>
              </a:prstGeom>
              <a:blipFill>
                <a:blip r:embed="rId6"/>
                <a:stretch>
                  <a:fillRect l="-241" t="-1587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322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CE01-B18C-69ED-72BB-20C9C5AB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UMAP: Low-D Layout &amp;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ACC37C-5E51-C745-9B49-FB6ED1304654}"/>
                  </a:ext>
                </a:extLst>
              </p:cNvPr>
              <p:cNvSpPr txBox="1"/>
              <p:nvPr/>
            </p:nvSpPr>
            <p:spPr>
              <a:xfrm>
                <a:off x="838200" y="1828800"/>
                <a:ext cx="10515600" cy="5861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In the low-D embedding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𝐘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 = [y₁ ... yₙ]ᵀ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edge weights use a smooth differentiable curve with parameters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fit to the min-dist hyperparameter: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ACC37C-5E51-C745-9B49-FB6ED130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800"/>
                <a:ext cx="10515600" cy="586122"/>
              </a:xfrm>
              <a:prstGeom prst="rect">
                <a:avLst/>
              </a:prstGeom>
              <a:blipFill>
                <a:blip r:embed="rId2"/>
                <a:stretch>
                  <a:fillRect l="-362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6049C2-19EB-4C46-8D70-BCD7B4E33AFC}"/>
              </a:ext>
            </a:extLst>
          </p:cNvPr>
          <p:cNvSpPr/>
          <p:nvPr/>
        </p:nvSpPr>
        <p:spPr>
          <a:xfrm>
            <a:off x="838200" y="2540000"/>
            <a:ext cx="10515600" cy="7366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A29B8-553A-E449-95FC-6A1B66E8FFAC}"/>
                  </a:ext>
                </a:extLst>
              </p:cNvPr>
              <p:cNvSpPr txBox="1"/>
              <p:nvPr/>
            </p:nvSpPr>
            <p:spPr>
              <a:xfrm>
                <a:off x="1016000" y="2623062"/>
                <a:ext cx="10160000" cy="5704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qᵢⱼ = (1 + a‖yᵢ − yⱼ‖²ᵇ)⁻¹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A29B8-553A-E449-95FC-6A1B66E8F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623062"/>
                <a:ext cx="10160000" cy="570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5CB3F2-212A-F044-A296-6498CF1F9A63}"/>
              </a:ext>
            </a:extLst>
          </p:cNvPr>
          <p:cNvSpPr/>
          <p:nvPr/>
        </p:nvSpPr>
        <p:spPr>
          <a:xfrm>
            <a:off x="838200" y="34290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743756-1A52-DA4C-B67D-754151C8818C}"/>
                  </a:ext>
                </a:extLst>
              </p:cNvPr>
              <p:cNvSpPr txBox="1"/>
              <p:nvPr/>
            </p:nvSpPr>
            <p:spPr>
              <a:xfrm>
                <a:off x="1016000" y="3488831"/>
                <a:ext cx="10160000" cy="69313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5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5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5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5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5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15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5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5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15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FFFFFF"/>
                        </a:solidFill>
                      </a:rPr>
                      <a:t>C = Σᵢⱼ [vᵢⱼ log(vᵢⱼ/qᵢⱼ) + (1−vᵢⱼ) log((1−vᵢⱼ)/(1−qᵢⱼ))]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743756-1A52-DA4C-B67D-754151C88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488831"/>
                <a:ext cx="10160000" cy="693138"/>
              </a:xfrm>
              <a:prstGeom prst="rect">
                <a:avLst/>
              </a:prstGeom>
              <a:blipFill>
                <a:blip r:embed="rId4"/>
                <a:stretch>
                  <a:fillRect t="-108929" b="-15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C6B7F-8BB6-4041-B54C-580F83815542}"/>
                  </a:ext>
                </a:extLst>
              </p:cNvPr>
              <p:cNvSpPr txBox="1"/>
              <p:nvPr/>
            </p:nvSpPr>
            <p:spPr>
              <a:xfrm>
                <a:off x="838200" y="4419600"/>
                <a:ext cx="10515600" cy="12650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Cost is the fuzzy-set cross-entropy between high-D memberships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and low-D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qᵢⱼ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First term = attractive force (pulls connected points together); second term = repulsive force (pushes non-neighbors apart).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Optimized by stochastic gradient descent with negative sampling — unlike t-SNE, UMAP preserves more global structure and scales near-linearly.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Defaults: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≈1.577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a ≈ 1.577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≈0.895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b ≈ 0.895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for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dist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min_dist = 0.1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C6B7F-8BB6-4041-B54C-580F8381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600"/>
                <a:ext cx="10515600" cy="1265026"/>
              </a:xfrm>
              <a:prstGeom prst="rect">
                <a:avLst/>
              </a:prstGeom>
              <a:blipFill>
                <a:blip r:embed="rId5"/>
                <a:stretch>
                  <a:fillRect l="-241" t="-1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409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82BE-C7CB-81B3-76CF-DD516961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Local Connectivity </a:t>
            </a:r>
            <a:r>
              <a:rPr lang="el-GR"/>
              <a:t>ρ</a:t>
            </a:r>
            <a:r>
              <a:rPr lang="en-US"/>
              <a:t>ᵢ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5A707C-BFBD-DD44-BE42-FD468162DEA5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CF55-F605-BF4D-BECC-E0FF3BAF124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1446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xᵢ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has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 = 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neighbors with Euclidean distances: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0.5,0.8,1.4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d = [0.5, 0.8, 1.4]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1. Find the local connectivity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2. Using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directed 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1600">
                                    <a:solidFill>
                                      <a:srgbClr val="333333"/>
                                    </a:solidFill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w(xᵢ,xⱼ) = exp(−max(0, d−ρᵢ)/σᵢ)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CF55-F605-BF4D-BECC-E0FF3BAF1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144626"/>
              </a:xfrm>
              <a:prstGeom prst="rect">
                <a:avLst/>
              </a:prstGeom>
              <a:blipFill>
                <a:blip r:embed="rId2"/>
                <a:stretch>
                  <a:fillRect l="-730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0B611D3-F8D7-A042-BB82-6CCA39486055}"/>
              </a:ext>
            </a:extLst>
          </p:cNvPr>
          <p:cNvSpPr/>
          <p:nvPr/>
        </p:nvSpPr>
        <p:spPr>
          <a:xfrm>
            <a:off x="6210300" y="2235200"/>
            <a:ext cx="5143500" cy="3886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CD1045-7160-D04E-90FC-4BEF7AB23D00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572000" cy="314810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= nearest-neighbor distance =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min(d)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ρᵢ = 0.5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Shifted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max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max(0, d − ρᵢ)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0.0,0.3,0.9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[0.0, 0.3, 0.9]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1600">
                                    <a:solidFill>
                                      <a:srgbClr val="333333"/>
                                    </a:solidFill>
                                  </a:rPr>
                                  <m:t>shift</m:t>
                                </m:r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 = exp(−shift / 1)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=1.000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w₁ = e⁰ = 1.000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−0.3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=0.741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w₂ = e⁻⁰·³ = 0.741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−0.9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=0.407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w₃ = e⁻⁰·⁹ = 0.407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nearest neighbor always gets weight 1 — this is what local connectivity guarantees.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CD1045-7160-D04E-90FC-4BEF7AB23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572000" cy="3148106"/>
              </a:xfrm>
              <a:prstGeom prst="rect">
                <a:avLst/>
              </a:prstGeom>
              <a:blipFill>
                <a:blip r:embed="rId3"/>
                <a:stretch>
                  <a:fillRect l="-554" t="-806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746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D8A7-C1DF-16F6-C1D3-270A94A7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Fuzzy Union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75A550-59AD-F04B-8D82-829E2742BC3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32FD2A-2D10-CD4F-8A59-46B091C380ED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5414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directed membership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are not equal: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wᵢⱼ = 0.80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=0.50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wⱼᵢ = 0.50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symmetric edge weight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using the probabilistic t-conorm (fuzzy union):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vᵢⱼ = wᵢⱼ + wⱼᵢ − wᵢⱼ·wⱼᵢ</a:t>
                    </a:r>
                  </mc:Fallback>
                </mc:AlternateContent>
                <a:endParaRPr lang="en-US" sz="3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32FD2A-2D10-CD4F-8A59-46B091C38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541465"/>
              </a:xfrm>
              <a:prstGeom prst="rect">
                <a:avLst/>
              </a:prstGeom>
              <a:blipFill>
                <a:blip r:embed="rId2"/>
                <a:stretch>
                  <a:fillRect l="-730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551A63-D97A-1B41-9C97-4A0FEF92124D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8418EF-3867-CA45-8BCD-A084F71D9360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572000" cy="24622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Substitute the two directed weights: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=0.80+0.50−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0.80</m:t>
                              </m:r>
                            </m:e>
                          </m:d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0.50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vᵢⱼ = 0.80 + 0.50 − (0.80)(0.50)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=1.30−0.40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    = 1.30 − 0.40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=0.90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    = 0.90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Interpretation: the fuzzy union is larger than either directed weight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0.90&gt;0.80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0.90 &gt; 0.80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), but stays bounded in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[0, 1]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An edge is strong if either endpoint considers the other a neighbor.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8418EF-3867-CA45-8BCD-A084F71D9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572000" cy="2462213"/>
              </a:xfrm>
              <a:prstGeom prst="rect">
                <a:avLst/>
              </a:prstGeom>
              <a:blipFill>
                <a:blip r:embed="rId3"/>
                <a:stretch>
                  <a:fillRect l="-554" t="-1031" b="-2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468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48C16-A997-1A60-DA5D-13137B42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Low-D Weight qᵢⱼ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7A3468-FA61-124C-97C1-492BBA3C66B9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2246E-D803-5748-BB90-9F26CFB77CAE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2442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Two embedded points are separated by distance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 − yⱼ‖ = 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UMAP default curve parameters: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=1.577,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=0.895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a = 1.577,   b = 0.895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low-D edge weight:</a:t>
                </a: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(1 + a‖yᵢ−yⱼ‖²ᵇ)⁻¹</a:t>
                    </a:r>
                  </mc:Fallback>
                </mc:AlternateContent>
                <a:endParaRPr lang="en-US" sz="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2246E-D803-5748-BB90-9F26CFB77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244269"/>
              </a:xfrm>
              <a:prstGeom prst="rect">
                <a:avLst/>
              </a:prstGeom>
              <a:blipFill>
                <a:blip r:embed="rId2"/>
                <a:stretch>
                  <a:fillRect l="-3650" t="-12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5FA6F5-A639-A141-875A-BA669CE1A8E5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07A65B-B4B7-F445-AD0F-AD3EF6DC6549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445000" cy="329327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Squared distance term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‖yᵢ−yⱼ‖² = 4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Raise to power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0.895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=3.43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4^0.895 = 3.43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Scale by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add 1: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1+1.577·3.43=6.41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1 + 1.577 · 3.43 = 6.41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Invert: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6.41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=0.156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1 / 6.41 = 0.156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Distant points get a small low-D weight; if their high-D membership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is large, the attractive term pulls them closer next step.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07A65B-B4B7-F445-AD0F-AD3EF6DC6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445000" cy="3293274"/>
              </a:xfrm>
              <a:prstGeom prst="rect">
                <a:avLst/>
              </a:prstGeom>
              <a:blipFill>
                <a:blip r:embed="rId3"/>
                <a:stretch>
                  <a:fillRect l="-570" t="-769" r="-285" b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150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102C-85C4-B891-800D-E071126D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C16761-3864-814F-9957-7D97710589D8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29C3E3-3171-ED42-A9AF-4C1AA1347C74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A2CCD-0F8E-5F40-9CD6-84107A2B77E9}"/>
                  </a:ext>
                </a:extLst>
              </p:cNvPr>
              <p:cNvSpPr txBox="1"/>
              <p:nvPr/>
            </p:nvSpPr>
            <p:spPr>
              <a:xfrm>
                <a:off x="1854200" y="2272813"/>
                <a:ext cx="9296400" cy="73757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E1.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has neighbor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0.3,0.6,0.6,1.0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d = [0.3, 0.6, 0.6, 1.0]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 = 4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 With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 = 0.5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find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the four directed 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1600">
                                    <a:solidFill>
                                      <a:srgbClr val="333333"/>
                                    </a:solidFill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w(xᵢ,xⱼ) = exp(−max(0, d−ρᵢ)/σᵢ)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A2CCD-0F8E-5F40-9CD6-84107A2B7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272813"/>
                <a:ext cx="9296400" cy="737574"/>
              </a:xfrm>
              <a:prstGeom prst="rect">
                <a:avLst/>
              </a:prstGeom>
              <a:blipFill>
                <a:blip r:embed="rId2"/>
                <a:stretch>
                  <a:fillRect l="-273" t="-1695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AB39D09E-37AD-2D47-AD4A-A6A1C18BA489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091C73-7B68-D747-83FD-662B904DA6A5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0649B-E642-1A40-BC76-5A07E9EFA951}"/>
                  </a:ext>
                </a:extLst>
              </p:cNvPr>
              <p:cNvSpPr txBox="1"/>
              <p:nvPr/>
            </p:nvSpPr>
            <p:spPr>
              <a:xfrm>
                <a:off x="1854200" y="3853399"/>
                <a:ext cx="9296400" cy="6244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E2.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Two directed memberships are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=0.6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wᵢⱼ = 0.6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=0.9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wⱼᵢ = 0.9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Compute the symmetric weight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 = wᵢⱼ + wⱼᵢ − wᵢⱼ wⱼᵢ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then verify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0≤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0 ≤ vᵢⱼ ≤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0649B-E642-1A40-BC76-5A07E9EFA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53399"/>
                <a:ext cx="9296400" cy="624402"/>
              </a:xfrm>
              <a:prstGeom prst="rect">
                <a:avLst/>
              </a:prstGeom>
              <a:blipFill>
                <a:blip r:embed="rId3"/>
                <a:stretch>
                  <a:fillRect l="-273"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54F03277-5147-8949-B1B8-8070A21EC9B0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B1C93F4-CF36-004A-93B9-B31544F88C5F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396ED8-29F7-FE4F-9826-5C9A4CF8F531}"/>
                  </a:ext>
                </a:extLst>
              </p:cNvPr>
              <p:cNvSpPr txBox="1"/>
              <p:nvPr/>
            </p:nvSpPr>
            <p:spPr>
              <a:xfrm>
                <a:off x="1854200" y="5289073"/>
                <a:ext cx="9296400" cy="8010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E3.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=1.577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 = 1.577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=0.895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 = 0.895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low-D weight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qᵢⱼ = (1 + a‖yᵢ−yⱼ‖²ᵇ)⁻¹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for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‖yᵢ−yⱼ‖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for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‖yᵢ−yⱼ‖ = 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Which pair is pulled together more strongly?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396ED8-29F7-FE4F-9826-5C9A4CF8F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289073"/>
                <a:ext cx="9296400" cy="801053"/>
              </a:xfrm>
              <a:prstGeom prst="rect">
                <a:avLst/>
              </a:prstGeom>
              <a:blipFill>
                <a:blip r:embed="rId4"/>
                <a:stretch>
                  <a:fillRect l="-273"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32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8B6737-7FEA-794D-BDF1-8E6CCF68A0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00E6E-EA68-BB42-B420-090B08CBEAC2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474B3-B77F-294C-BF0D-4AAEB5266739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A914D-F184-794F-A0F9-BC022CB92875}"/>
              </a:ext>
            </a:extLst>
          </p:cNvPr>
          <p:cNvSpPr txBox="1"/>
          <p:nvPr/>
        </p:nvSpPr>
        <p:spPr>
          <a:xfrm>
            <a:off x="787400" y="2857500"/>
            <a:ext cx="1041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Clustering Profiling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07BEA-5180-024E-8C9A-CD06B46859F7}"/>
              </a:ext>
            </a:extLst>
          </p:cNvPr>
          <p:cNvSpPr txBox="1"/>
          <p:nvPr/>
        </p:nvSpPr>
        <p:spPr>
          <a:xfrm>
            <a:off x="838200" y="4191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5F0EB"/>
                </a:solidFill>
                <a:latin typeface="Calibri"/>
                <a:cs typeface="Calibri"/>
              </a:rPr>
              <a:t>Characterizing &amp; Validating Clusters with Matrix Statistics</a:t>
            </a:r>
          </a:p>
        </p:txBody>
      </p:sp>
    </p:spTree>
    <p:extLst>
      <p:ext uri="{BB962C8B-B14F-4D97-AF65-F5344CB8AC3E}">
        <p14:creationId xmlns:p14="http://schemas.microsoft.com/office/powerpoint/2010/main" val="3273570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88FB-7446-8550-219E-490CA4E6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Centroids, Medoids &amp; Profiles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AB0F4-BC45-604C-BE57-01F65A7135D3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cluster profile summarizes each cluster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Cₖ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by a vector of feature statistics over its members.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AB0F4-BC45-604C-BE57-01F65A71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338554"/>
              </a:xfrm>
              <a:prstGeom prst="rect">
                <a:avLst/>
              </a:prstGeom>
              <a:blipFill>
                <a:blip r:embed="rId2"/>
                <a:stretch>
                  <a:fillRect l="-362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035962-F222-5D4C-BB91-BD63711A30C9}"/>
              </a:ext>
            </a:extLst>
          </p:cNvPr>
          <p:cNvSpPr/>
          <p:nvPr/>
        </p:nvSpPr>
        <p:spPr>
          <a:xfrm>
            <a:off x="838200" y="2514600"/>
            <a:ext cx="10515600" cy="7366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9D3CE0-4460-F749-A640-3B7487C3D809}"/>
                  </a:ext>
                </a:extLst>
              </p:cNvPr>
              <p:cNvSpPr txBox="1"/>
              <p:nvPr/>
            </p:nvSpPr>
            <p:spPr>
              <a:xfrm>
                <a:off x="1016000" y="2498244"/>
                <a:ext cx="10160000" cy="7693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Centroid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:  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Centroid:  μₖ = (1/|Cₖ|) Σ xᵢ, i ∈ Cₖ  ∈ ℝᵈ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9D3CE0-4460-F749-A640-3B7487C3D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98244"/>
                <a:ext cx="10160000" cy="769313"/>
              </a:xfrm>
              <a:prstGeom prst="rect">
                <a:avLst/>
              </a:prstGeom>
              <a:blipFill>
                <a:blip r:embed="rId3"/>
                <a:stretch>
                  <a:fillRect t="-119355" b="-16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F9F1DD-4FE2-BF4E-83E7-4993C353761C}"/>
              </a:ext>
            </a:extLst>
          </p:cNvPr>
          <p:cNvSpPr/>
          <p:nvPr/>
        </p:nvSpPr>
        <p:spPr>
          <a:xfrm>
            <a:off x="838200" y="3429000"/>
            <a:ext cx="10515600" cy="7366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02EB46-2E45-DF47-B713-2C5FD82B959C}"/>
                  </a:ext>
                </a:extLst>
              </p:cNvPr>
              <p:cNvSpPr txBox="1"/>
              <p:nvPr/>
            </p:nvSpPr>
            <p:spPr>
              <a:xfrm>
                <a:off x="1016000" y="3610165"/>
                <a:ext cx="10160000" cy="3742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Profile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score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):  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⊘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Profile (z-score):  zₖ = (μₖ − μ) ⊘ σ  ∈ ℝᵈ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02EB46-2E45-DF47-B713-2C5FD82B9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610165"/>
                <a:ext cx="10160000" cy="374270"/>
              </a:xfrm>
              <a:prstGeom prst="rect">
                <a:avLst/>
              </a:prstGeom>
              <a:blipFill>
                <a:blip r:embed="rId4"/>
                <a:stretch>
                  <a:fillRect t="-333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D0F9C3-22E4-884D-B499-2E77D2C009FF}"/>
                  </a:ext>
                </a:extLst>
              </p:cNvPr>
              <p:cNvSpPr txBox="1"/>
              <p:nvPr/>
            </p:nvSpPr>
            <p:spPr>
              <a:xfrm>
                <a:off x="838200" y="4368800"/>
                <a:ext cx="10515600" cy="10527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Medoid: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argmin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mₖ = argminₓ Σ ‖x − xᵢ‖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the most central actual member (robust to outliers).</a:t>
                </a:r>
              </a:p>
              <a:p>
                <a:pPr marL="285750" indent="-285750">
                  <a:buFont typeface="Arial"/>
                  <a:buChar char="•"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the global mean vector,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the global per-feature std;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⊘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element-wise division.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The z-profile shows how many std deviations each feature deviates from the overall mean.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Stacking profiles row-wise gives the profile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Z = [z₁ ⋯ zₖ]ᵀ ∈ ℝᵏˣᵈ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the basis of a heatmap.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D0F9C3-22E4-884D-B499-2E77D2C00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8800"/>
                <a:ext cx="10515600" cy="1052789"/>
              </a:xfrm>
              <a:prstGeom prst="rect">
                <a:avLst/>
              </a:prstGeom>
              <a:blipFill>
                <a:blip r:embed="rId5"/>
                <a:stretch>
                  <a:fillRect l="-241" t="-34940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914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7002-7AA0-DC8E-184D-22575ECC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Validation: Silhouette &amp; F-Statistic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A7D83-2740-2C44-A255-C61C9D81235A}"/>
              </a:ext>
            </a:extLst>
          </p:cNvPr>
          <p:cNvSpPr/>
          <p:nvPr/>
        </p:nvSpPr>
        <p:spPr>
          <a:xfrm>
            <a:off x="838200" y="1905000"/>
            <a:ext cx="10515600" cy="4318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Silhouette — cohesion vs separation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07CC59-2B7A-3642-810B-743F8B3892C1}"/>
                  </a:ext>
                </a:extLst>
              </p:cNvPr>
              <p:cNvSpPr txBox="1"/>
              <p:nvPr/>
            </p:nvSpPr>
            <p:spPr>
              <a:xfrm>
                <a:off x="1016000" y="2438400"/>
                <a:ext cx="10160000" cy="114832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−1,1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s(i) = (b(i) − a(i)) / max(a(i), b(i))   ∈ [−1, 1]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a(i)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= mean distance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others in its own cluster (cohesion);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b(i)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= lowest mean distance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any other cluster (separation). Overall quality =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mean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meanᵢ s(i)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 Values near +1 = well clustered; near 0 = on a boundary; negative = likely misassigned.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07CC59-2B7A-3642-810B-743F8B389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38400"/>
                <a:ext cx="10160000" cy="1148328"/>
              </a:xfrm>
              <a:prstGeom prst="rect">
                <a:avLst/>
              </a:prstGeom>
              <a:blipFill>
                <a:blip r:embed="rId2"/>
                <a:stretch>
                  <a:fillRect l="-375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4EF9B2A-082B-CF43-A670-5A35B8B70320}"/>
              </a:ext>
            </a:extLst>
          </p:cNvPr>
          <p:cNvSpPr/>
          <p:nvPr/>
        </p:nvSpPr>
        <p:spPr>
          <a:xfrm>
            <a:off x="838200" y="4089400"/>
            <a:ext cx="10515600" cy="4318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ANOVA F-statistic — per-feature discriminative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1BF0A-B630-A840-BFFB-B39B4286514B}"/>
                  </a:ext>
                </a:extLst>
              </p:cNvPr>
              <p:cNvSpPr txBox="1"/>
              <p:nvPr/>
            </p:nvSpPr>
            <p:spPr>
              <a:xfrm>
                <a:off x="1016000" y="4622800"/>
                <a:ext cx="10160000" cy="176554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00857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1700" i="1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00" i="1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00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𝑘𝑗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sz="1700" i="1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00" i="1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00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700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𝑖𝑗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𝜇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nary>
                                </m:num>
                                <m:den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00857B"/>
                        </a:solidFill>
                      </a:rPr>
                      <a:t>Fⱼ = [ Σₖ |Cₖ|(μₖⱼ−μⱼ)² / (K−1) ] / [ Σₖ Σᵢ (xᵢⱼ−μₖⱼ)² / (n−K) ]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For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the ratio of between-cluster variance to within-cluster variance. Large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means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separates the clusters well — it ranks which variables drive the partition. This is the per-feature numerator/denominator of one-way ANOVA.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1BF0A-B630-A840-BFFB-B39B4286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622800"/>
                <a:ext cx="10160000" cy="1765548"/>
              </a:xfrm>
              <a:prstGeom prst="rect">
                <a:avLst/>
              </a:prstGeom>
              <a:blipFill>
                <a:blip r:embed="rId3"/>
                <a:stretch>
                  <a:fillRect l="-375" t="-17021" b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327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2FD2-C3F8-D8C2-310A-DCDFABAC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Silhouette of a Point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D0C2A3-E584-154F-8F70-95918E2BE87A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5569F-96AC-DE48-A0C9-527C8EDC8CF9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66199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sits in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Its distances to the two members of its own cluster are 1 and 3. To the nearest other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its mean distance is 6.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the silhouette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s(i)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5569F-96AC-DE48-A0C9-527C8EDC8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661993"/>
              </a:xfrm>
              <a:prstGeom prst="rect">
                <a:avLst/>
              </a:prstGeom>
              <a:blipFill>
                <a:blip r:embed="rId2"/>
                <a:stretch>
                  <a:fillRect l="-730" t="-1527" r="-730" b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D37AC3-4D93-3641-8877-462254F6AAD2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A45F5-86D3-F244-90DF-9F92F20A0B3C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332116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Solution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1+3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a(i) = (1+3)/2 = 2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b(i) = 6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s(i) = (b − a)/max(a,b)</a:t>
                    </a:r>
                  </mc:Fallback>
                </mc:AlternateContent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6−2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2,6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(6 − 2)/max(2,6)</a:t>
                    </a:r>
                  </mc:Fallback>
                </mc:AlternateContent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=0.667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4/6 = 0.667</a:t>
                    </a:r>
                  </mc:Fallback>
                </mc:AlternateContent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≈0.67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s(i) ≈ 0.67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→ the point is well matched to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clearly separated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A45F5-86D3-F244-90DF-9F92F20A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3321166"/>
              </a:xfrm>
              <a:prstGeom prst="rect">
                <a:avLst/>
              </a:prstGeom>
              <a:blipFill>
                <a:blip r:embed="rId3"/>
                <a:stretch>
                  <a:fillRect l="-539" t="-763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860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019A-F94B-0D5D-39A3-D569459C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Centroid z-Profile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EAF23A-178F-1B4D-B3F3-81D53F283D41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746A7-7A98-0046-9B91-BCF60EB2F562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206325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70,0.45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μₖ = [70, 0.45]ᵀ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(cluster mean)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50,0.30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 = [50, 0.30]ᵀ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(global mean)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10,0.05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σ = [10, 0.05]ᵀ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(global std)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standardized profile vector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zₖ = (μₖ − μ) ⊘ 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interpret it.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746A7-7A98-0046-9B91-BCF60EB2F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2063257"/>
              </a:xfrm>
              <a:prstGeom prst="rect">
                <a:avLst/>
              </a:prstGeom>
              <a:blipFill>
                <a:blip r:embed="rId2"/>
                <a:stretch>
                  <a:fillRect l="-748" t="-1227" b="-3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2D5D3B-7201-8F4D-A50A-D860E6DD3CD1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6F68A-8F30-C947-A66E-7B14E1C010D4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65034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20,0.15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μₖ − μ = [20, 0.15]ᵀ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0.15</m:t>
                                      </m:r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0.05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zₖ = [20/10, 0.15/0.05]ᵀ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2.0,3.0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[2.0, 3.0]ᵀ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Feature 1 sits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2σ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above the overall mean; feature 2 sits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3σ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above. Both features are strongly elevated — this cluster is the 'high on both' segment, with feature 2 the more distinctive.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6F68A-8F30-C947-A66E-7B14E1C01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650341"/>
              </a:xfrm>
              <a:prstGeom prst="rect">
                <a:avLst/>
              </a:prstGeom>
              <a:blipFill>
                <a:blip r:embed="rId3"/>
                <a:stretch>
                  <a:fillRect l="-539" t="-957" r="-270" b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110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717B-915A-64D2-D1C8-5513B89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F-Statistic Feature Ranking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7A9918-FAA1-044C-94E6-953C4AA0137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0A2F3-E79E-7745-91D3-E57DE216ED0B}"/>
                  </a:ext>
                </a:extLst>
              </p:cNvPr>
              <p:cNvSpPr txBox="1"/>
              <p:nvPr/>
            </p:nvSpPr>
            <p:spPr>
              <a:xfrm>
                <a:off x="838200" y="2336800"/>
                <a:ext cx="4826000" cy="285687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K=3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clustering on 4 features. Computing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for each feature gives the vector:</a:t>
                </a:r>
              </a:p>
              <a:p>
                <a:pPr>
                  <a:buNone/>
                </a:pPr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38.2,12.5,3.1,0.7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F = [38.2, 12.5, 3.1, 0.7]ᵀ</a:t>
                    </a:r>
                  </mc:Fallback>
                </mc:AlternateContent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Rank features by discriminative power and decide which to keep in the profile.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Reading the chart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Income &amp; Age separate clusters strongly.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Tenure is weak; Region is near-noise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F&lt;1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0A2F3-E79E-7745-91D3-E57DE216E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36800"/>
                <a:ext cx="4826000" cy="2856872"/>
              </a:xfrm>
              <a:prstGeom prst="rect">
                <a:avLst/>
              </a:prstGeom>
              <a:blipFill>
                <a:blip r:embed="rId2"/>
                <a:stretch>
                  <a:fillRect l="-789" t="-442" r="-1579" b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1" name="FChart"/>
          <p:cNvGraphicFramePr/>
          <p:nvPr/>
        </p:nvGraphicFramePr>
        <p:xfrm>
          <a:off x="5969000" y="2311400"/>
          <a:ext cx="53848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15342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003F-9F44-42E4-8B9E-241DC710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Profiling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A19903-6D18-BE4E-8606-5DADAE7D28F2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CE6A08-9E65-854E-830A-5E66FC7753CF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97E28-5669-AD42-8164-87F76151FD74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Silhouette.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has own-cluster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2,4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{2, 4}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nearest other-cluster mean distance 4.5.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a(i)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b(i)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, and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s(i)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97E28-5669-AD42-8164-87F76151F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E3DD2C39-CBB0-8948-85BB-72548D2A5D7D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CC0D2D-E49D-A64D-B8CB-498E9CECC05E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B03E3-2F0B-FB4E-B123-00D2716E4FD4}"/>
                  </a:ext>
                </a:extLst>
              </p:cNvPr>
              <p:cNvSpPr txBox="1"/>
              <p:nvPr/>
            </p:nvSpPr>
            <p:spPr>
              <a:xfrm>
                <a:off x="1854200" y="3856092"/>
                <a:ext cx="9296400" cy="6190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z-Profile.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Cluster mean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120,8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μₖ = [120, 8]ᵀ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global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100,5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μ = [100, 5]ᵀ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std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40,1.5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 = [40, 1.5]ᵀ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Find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zₖ = (μₖ − μ) ⊘ σ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 and say which feature is most distinctive.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B03E3-2F0B-FB4E-B123-00D2716E4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56092"/>
                <a:ext cx="9296400" cy="619016"/>
              </a:xfrm>
              <a:prstGeom prst="rect">
                <a:avLst/>
              </a:prstGeom>
              <a:blipFill>
                <a:blip r:embed="rId3"/>
                <a:stretch>
                  <a:fillRect l="-27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484170AF-4CF0-2947-BD0A-04CBB2043932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997C26-29CC-7F40-A527-683EE7A2E4AF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55160C-07C8-F245-A886-2011A9E88EA0}"/>
                  </a:ext>
                </a:extLst>
              </p:cNvPr>
              <p:cNvSpPr txBox="1"/>
              <p:nvPr/>
            </p:nvSpPr>
            <p:spPr>
              <a:xfrm>
                <a:off x="1854200" y="5247972"/>
                <a:ext cx="9296400" cy="88325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F-Statistic.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Between-cluster var of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= 24.0 (df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K−1=2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); within-cluster var = 4.0 (df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n−K=27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24.0</m:t>
                                </m:r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4.0</m:t>
                                </m:r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den>
                            </m:f>
                          </m:den>
                        </m:f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Fⱼ = (24.0/2)/(4.0/27)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 and judge if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 separates clusters.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55160C-07C8-F245-A886-2011A9E88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247972"/>
                <a:ext cx="9296400" cy="883255"/>
              </a:xfrm>
              <a:prstGeom prst="rect">
                <a:avLst/>
              </a:prstGeom>
              <a:blipFill>
                <a:blip r:embed="rId4"/>
                <a:stretch>
                  <a:fillRect l="-273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852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DFCD-50AF-AF6E-6438-69CE9309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Choosing a Method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B1F6B2-C318-AC43-AB02-E36FB20D8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825785"/>
              </p:ext>
            </p:extLst>
          </p:nvPr>
        </p:nvGraphicFramePr>
        <p:xfrm>
          <a:off x="838200" y="1905000"/>
          <a:ext cx="105156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581772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86137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968337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Best for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 object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14157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K-means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Spherical, balanced clusters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Centroids μₖ, minimize Σ‖x−μₖ‖²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9479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Hierarchical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Nested structure, dendrograms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Linkage on distance matrix D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27794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DBSCAN</a:t>
                      </a:r>
                    </a:p>
                  </a:txBody>
                  <a:tcPr anchor="ctr">
                    <a:solidFill>
                      <a:srgbClr val="8575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Arbitrary shapes, 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ε-neighborhoods, density reachability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07357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t-SNE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2-D visualization, local structure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KL(P∥Q) on affinity matrices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9986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UMAP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Fast embedding, local+global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Cross-entropy on fuzzy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01772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Profiling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Interpreting clusters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z-profiles, silhouette, F-stat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02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686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F8FA-A5C9-1C23-53B7-53F63BE0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Clusters to Personas: Naming Ideas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2B45E-A2B2-EA4A-96E3-59E026FE7866}"/>
              </a:ext>
            </a:extLst>
          </p:cNvPr>
          <p:cNvSpPr txBox="1"/>
          <p:nvPr/>
        </p:nvSpPr>
        <p:spPr>
          <a:xfrm>
            <a:off x="838200" y="1778000"/>
            <a:ext cx="105156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Once clusters are profiled by their z-score signatures, give each a memorable persona name. Six naming strategies, each with example names: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98E1D6-64F1-594F-915D-D5FCAD48E3EC}"/>
              </a:ext>
            </a:extLst>
          </p:cNvPr>
          <p:cNvSpPr/>
          <p:nvPr/>
        </p:nvSpPr>
        <p:spPr>
          <a:xfrm>
            <a:off x="838200" y="23622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FB72A7-2788-A547-A31A-0B020D0274DB}"/>
              </a:ext>
            </a:extLst>
          </p:cNvPr>
          <p:cNvSpPr/>
          <p:nvPr/>
        </p:nvSpPr>
        <p:spPr>
          <a:xfrm>
            <a:off x="838200" y="2362200"/>
            <a:ext cx="3378200" cy="4318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1. Behavior-Based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E2F0D-2D7F-4A4F-AD4E-272142CEB88F}"/>
              </a:ext>
            </a:extLst>
          </p:cNvPr>
          <p:cNvSpPr txBox="1"/>
          <p:nvPr/>
        </p:nvSpPr>
        <p:spPr>
          <a:xfrm>
            <a:off x="990600" y="28702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the dominant action or usage pattern in the cluster.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4B2E83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Power Users, Window Shoppers, Weekend Warriors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622CD71-0004-4149-854B-A82F4E03EDD5}"/>
              </a:ext>
            </a:extLst>
          </p:cNvPr>
          <p:cNvSpPr/>
          <p:nvPr/>
        </p:nvSpPr>
        <p:spPr>
          <a:xfrm>
            <a:off x="4406900" y="23622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3CFA92-6405-1946-8570-0EF2DCC8F059}"/>
              </a:ext>
            </a:extLst>
          </p:cNvPr>
          <p:cNvSpPr/>
          <p:nvPr/>
        </p:nvSpPr>
        <p:spPr>
          <a:xfrm>
            <a:off x="4406900" y="2362200"/>
            <a:ext cx="3378200" cy="4318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2. Value Tier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842ACE-E56F-CC4C-B3FE-5B034026E8C3}"/>
              </a:ext>
            </a:extLst>
          </p:cNvPr>
          <p:cNvSpPr txBox="1"/>
          <p:nvPr/>
        </p:nvSpPr>
        <p:spPr>
          <a:xfrm>
            <a:off x="4559300" y="28702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spend level or lifetime value (high z on revenue features).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A7B5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High Rollers, Budget Seekers, Whales, Casual Spenders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BF0D257-7E18-E04B-AE61-16575C13F6EF}"/>
              </a:ext>
            </a:extLst>
          </p:cNvPr>
          <p:cNvSpPr/>
          <p:nvPr/>
        </p:nvSpPr>
        <p:spPr>
          <a:xfrm>
            <a:off x="7975600" y="23622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4D65A9-6185-334A-ACA8-EE11DA4E4740}"/>
              </a:ext>
            </a:extLst>
          </p:cNvPr>
          <p:cNvSpPr/>
          <p:nvPr/>
        </p:nvSpPr>
        <p:spPr>
          <a:xfrm>
            <a:off x="7975600" y="2362200"/>
            <a:ext cx="33782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3. Lifestage / Demo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0BB3A8-87AE-594C-A976-C0F02BA764F8}"/>
              </a:ext>
            </a:extLst>
          </p:cNvPr>
          <p:cNvSpPr txBox="1"/>
          <p:nvPr/>
        </p:nvSpPr>
        <p:spPr>
          <a:xfrm>
            <a:off x="8128000" y="28702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the standout demographic or life-stage trait.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7AB648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Young Urbanites, Empty Nesters, New Parents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333108-646B-1F42-AB5F-BFF4E17F5463}"/>
              </a:ext>
            </a:extLst>
          </p:cNvPr>
          <p:cNvSpPr/>
          <p:nvPr/>
        </p:nvSpPr>
        <p:spPr>
          <a:xfrm>
            <a:off x="838200" y="43180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339FDC-5558-3540-B019-86353A034B45}"/>
              </a:ext>
            </a:extLst>
          </p:cNvPr>
          <p:cNvSpPr/>
          <p:nvPr/>
        </p:nvSpPr>
        <p:spPr>
          <a:xfrm>
            <a:off x="838200" y="4318000"/>
            <a:ext cx="3378200" cy="4318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4. Archetype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B22A4-0584-3643-B4FF-60024008AF92}"/>
              </a:ext>
            </a:extLst>
          </p:cNvPr>
          <p:cNvSpPr txBox="1"/>
          <p:nvPr/>
        </p:nvSpPr>
        <p:spPr>
          <a:xfrm>
            <a:off x="990600" y="4826000"/>
            <a:ext cx="3073400" cy="72840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Borrow a familiar persona archetype or metaphor.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85754D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The Explorer, The Loyalist, The Skeptic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122D749-639A-9E49-A7F0-678A59B4D8E4}"/>
              </a:ext>
            </a:extLst>
          </p:cNvPr>
          <p:cNvSpPr/>
          <p:nvPr/>
        </p:nvSpPr>
        <p:spPr>
          <a:xfrm>
            <a:off x="4406900" y="43180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CF5E9-0410-4048-8564-8EF930302843}"/>
              </a:ext>
            </a:extLst>
          </p:cNvPr>
          <p:cNvSpPr/>
          <p:nvPr/>
        </p:nvSpPr>
        <p:spPr>
          <a:xfrm>
            <a:off x="4406900" y="4318000"/>
            <a:ext cx="3378200" cy="431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5. Need / Motivation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C57F3-6906-9C47-A18A-AF2F31ECD7D4}"/>
              </a:ext>
            </a:extLst>
          </p:cNvPr>
          <p:cNvSpPr txBox="1"/>
          <p:nvPr/>
        </p:nvSpPr>
        <p:spPr>
          <a:xfrm>
            <a:off x="4559300" y="48260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the core need or job-to-be-done the cluster expresses.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D1578A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Convenience Cravers, Status Seekers, Deal Hunters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355D6F8-BFF9-7F4C-971B-910ED817B541}"/>
              </a:ext>
            </a:extLst>
          </p:cNvPr>
          <p:cNvSpPr/>
          <p:nvPr/>
        </p:nvSpPr>
        <p:spPr>
          <a:xfrm>
            <a:off x="7975600" y="43180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0B8438-8EE7-4042-9BC6-6E5569B47CF2}"/>
              </a:ext>
            </a:extLst>
          </p:cNvPr>
          <p:cNvSpPr/>
          <p:nvPr/>
        </p:nvSpPr>
        <p:spPr>
          <a:xfrm>
            <a:off x="7975600" y="4318000"/>
            <a:ext cx="3378200" cy="4318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6. Feature Signature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E37470-75F1-5B46-BA1F-9DC32652D05D}"/>
              </a:ext>
            </a:extLst>
          </p:cNvPr>
          <p:cNvSpPr txBox="1"/>
          <p:nvPr/>
        </p:nvSpPr>
        <p:spPr>
          <a:xfrm>
            <a:off x="8128000" y="48260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Encode the top one or two z-score features directly in the name.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85754D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High-Freq / Low-Basket, Mobile-First Browsers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F9574A-17AD-AC4D-BD70-49B4C3AB3789}"/>
              </a:ext>
            </a:extLst>
          </p:cNvPr>
          <p:cNvSpPr/>
          <p:nvPr/>
        </p:nvSpPr>
        <p:spPr>
          <a:xfrm>
            <a:off x="838200" y="6121400"/>
            <a:ext cx="10515600" cy="101600"/>
          </a:xfrm>
          <a:prstGeom prst="round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8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6204</TotalTime>
  <Words>9350</Words>
  <Application>Microsoft Macintosh PowerPoint</Application>
  <PresentationFormat>Widescreen</PresentationFormat>
  <Paragraphs>1382</Paragraphs>
  <Slides>111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7" baseType="lpstr">
      <vt:lpstr>Aptos</vt:lpstr>
      <vt:lpstr>Arial</vt:lpstr>
      <vt:lpstr>Calibri</vt:lpstr>
      <vt:lpstr>Cambria Math</vt:lpstr>
      <vt:lpstr>Consolas</vt:lpstr>
      <vt:lpstr>Office Theme [1775876968803]</vt:lpstr>
      <vt:lpstr>Cluster Analysis A Linear-Algebra Approach to Unsupervised Learning</vt:lpstr>
      <vt:lpstr>Course Roadmap</vt:lpstr>
      <vt:lpstr>PowerPoint Presentation</vt:lpstr>
      <vt:lpstr>What Is a Cluster?</vt:lpstr>
      <vt:lpstr>Example: People, Features &amp; Clusters</vt:lpstr>
      <vt:lpstr>Clustering as a Partition</vt:lpstr>
      <vt:lpstr>Exercise: Is It a Valid Clustering?</vt:lpstr>
      <vt:lpstr>The Data Matrix X</vt:lpstr>
      <vt:lpstr>Why Distance Matters</vt:lpstr>
      <vt:lpstr>Distance Metrics &amp; Norms</vt:lpstr>
      <vt:lpstr>The Distance Matrix D</vt:lpstr>
      <vt:lpstr>Squared Distances: The Gram Matrix Trick</vt:lpstr>
      <vt:lpstr>Example: A Distance via the Gram Trick</vt:lpstr>
      <vt:lpstr>Exercise: Build the Distance Matrix</vt:lpstr>
      <vt:lpstr>Solution — Step 1: Squared Norms</vt:lpstr>
      <vt:lpstr>Solution — Step 2: Gram Matrix G = XXᵀ</vt:lpstr>
      <vt:lpstr>Solution — Step 3: Squared Distances D²ᵢⱼ</vt:lpstr>
      <vt:lpstr>Solution — Step 4: Distance Matrix D</vt:lpstr>
      <vt:lpstr>Similarity vs. Dissimilarity</vt:lpstr>
      <vt:lpstr>Standardization</vt:lpstr>
      <vt:lpstr>The Curse of Dimensionality</vt:lpstr>
      <vt:lpstr>Step 1 — Expand the Squared Distance</vt:lpstr>
      <vt:lpstr>Step 2 — Collect Into the Gram Matrix</vt:lpstr>
      <vt:lpstr>Step 3 — Diagonal &amp; Matrix Form</vt:lpstr>
      <vt:lpstr>Step 4 — Plug In and Recover D</vt:lpstr>
      <vt:lpstr>Exercise 1: Standardization in Matrix Form</vt:lpstr>
      <vt:lpstr>Exercise 2 — Step 1: Set Up the Centering</vt:lpstr>
      <vt:lpstr>Exercise 2 — Step 2: Column Means</vt:lpstr>
      <vt:lpstr>Exercise 2 — Step 3: Subtract the Means</vt:lpstr>
      <vt:lpstr>Exercise 2 — Step 4: Check &amp; Standardize</vt:lpstr>
      <vt:lpstr>Exercise 3 — Step 1: Set Up the Scaling</vt:lpstr>
      <vt:lpstr>Exercise 3 — Step 2: Column Standard Deviations</vt:lpstr>
      <vt:lpstr>Exercise 3 — Step 3: Build the Scaling Matrix</vt:lpstr>
      <vt:lpstr>Exercise 3 — Step 4: Scale to Unit Variance</vt:lpstr>
      <vt:lpstr>Foundations — Exercises</vt:lpstr>
      <vt:lpstr>Exercise 1: Distance Matrix — Step 1</vt:lpstr>
      <vt:lpstr>Exercise 1: Distance Matrix — Step 2</vt:lpstr>
      <vt:lpstr>Exercise 1: Distance Matrix — Step 3</vt:lpstr>
      <vt:lpstr>Exercise 2: Metric Comparison — Step 1</vt:lpstr>
      <vt:lpstr>Exercise 2: Metric Comparison — Step 2</vt:lpstr>
      <vt:lpstr>Exercise 2: Metric Comparison — Step 3</vt:lpstr>
      <vt:lpstr>Exercise 3: Standardization — Step 1</vt:lpstr>
      <vt:lpstr>Exercise 3: Standardization — Step 2</vt:lpstr>
      <vt:lpstr>Exercise 3: Standardization — Step 3</vt:lpstr>
      <vt:lpstr>PowerPoint Presentation</vt:lpstr>
      <vt:lpstr>K-Means: The Objective</vt:lpstr>
      <vt:lpstr>Lloyd's Algorithm: History &amp; Intuition</vt:lpstr>
      <vt:lpstr>Lloyd's Algorithm</vt:lpstr>
      <vt:lpstr>Lloyd's Algorithm</vt:lpstr>
      <vt:lpstr>Lloyd's Algorithm</vt:lpstr>
      <vt:lpstr>Lloyd's Algorithm</vt:lpstr>
      <vt:lpstr>Lloyd's Algorithm</vt:lpstr>
      <vt:lpstr>Lloyd's Algorithm</vt:lpstr>
      <vt:lpstr>Initialization: k-means++</vt:lpstr>
      <vt:lpstr>Lloyd Iteration — Step 1: Assignment</vt:lpstr>
      <vt:lpstr>Lloyd Iteration — Step 2: Update Centroids</vt:lpstr>
      <vt:lpstr>Lloyd Iteration — Step 3: Inertia &amp; Convergence</vt:lpstr>
      <vt:lpstr>Matrix Form — Step 1: Stack the Data</vt:lpstr>
      <vt:lpstr>Matrix Form — Step 2: Stack the Centroids</vt:lpstr>
      <vt:lpstr>Distance Matrix — Step 1: The Formula</vt:lpstr>
      <vt:lpstr>Distance Matrix — Step 2: Compute Column 1</vt:lpstr>
      <vt:lpstr>Distance Matrix — Step 3: Assemble D</vt:lpstr>
      <vt:lpstr>Assignment — Step 1: Nearest Centroid (argmin)</vt:lpstr>
      <vt:lpstr>Assignment — Step 2: One-Hot Matrix Z</vt:lpstr>
      <vt:lpstr>Update — Step 1: Cluster Sums ZᵀX</vt:lpstr>
      <vt:lpstr>Update — Step 2: Cluster Sizes &amp; Divide</vt:lpstr>
      <vt:lpstr>Update — Step 3: New Centroids M⁽¹⁾</vt:lpstr>
      <vt:lpstr>Inertia — Step 1: Keep Each Point’s Own Distance</vt:lpstr>
      <vt:lpstr>Inertia — Step 2: Sum to Get J</vt:lpstr>
      <vt:lpstr>Example 2: Choosing k (Elbow)</vt:lpstr>
      <vt:lpstr>Example 3: Scaling Changes Clusters</vt:lpstr>
      <vt:lpstr>K-Means — Exercises</vt:lpstr>
      <vt:lpstr>PowerPoint Presentation</vt:lpstr>
      <vt:lpstr>Agglomerative Clustering</vt:lpstr>
      <vt:lpstr>Types of Linkage</vt:lpstr>
      <vt:lpstr>The Dendrogram</vt:lpstr>
      <vt:lpstr>Updating Distances: Lance–Williams</vt:lpstr>
      <vt:lpstr>Example 1: Single-Linkage by Hand</vt:lpstr>
      <vt:lpstr>Example 2: Ward vs Single Linkage</vt:lpstr>
      <vt:lpstr>Example 3: Cophenetic Correlation</vt:lpstr>
      <vt:lpstr>Hierarchical — Exercises</vt:lpstr>
      <vt:lpstr>PowerPoint Presentation</vt:lpstr>
      <vt:lpstr>Density: Core, Border &amp; Noise</vt:lpstr>
      <vt:lpstr>DBSCAN Algorithm</vt:lpstr>
      <vt:lpstr>Example 1: Point Classification</vt:lpstr>
      <vt:lpstr>Example 2: Choosing ε (k-distance)</vt:lpstr>
      <vt:lpstr>Example 3: Non-Convex Shapes</vt:lpstr>
      <vt:lpstr>DBSCAN — Exercises</vt:lpstr>
      <vt:lpstr>PowerPoint Presentation</vt:lpstr>
      <vt:lpstr>t-SNE: High-D vs Low-D Affinities</vt:lpstr>
      <vt:lpstr>t-SNE: Cost &amp; Gradient</vt:lpstr>
      <vt:lpstr>Example 1: Computing an Affinity</vt:lpstr>
      <vt:lpstr>Example 2: Perplexity &amp; Bandwidth</vt:lpstr>
      <vt:lpstr>Example 3: One Gradient Step</vt:lpstr>
      <vt:lpstr>t-SNE — Exercises</vt:lpstr>
      <vt:lpstr>PowerPoint Presentation</vt:lpstr>
      <vt:lpstr>UMAP: High-Dimensional Graph</vt:lpstr>
      <vt:lpstr>UMAP: Low-D Layout &amp; Cost</vt:lpstr>
      <vt:lpstr>Example 1: Local Connectivity ρᵢ</vt:lpstr>
      <vt:lpstr>Example 2: Fuzzy Union</vt:lpstr>
      <vt:lpstr>Example 3: Low-D Weight qᵢⱼ</vt:lpstr>
      <vt:lpstr>UMAP — Exercises</vt:lpstr>
      <vt:lpstr>PowerPoint Presentation</vt:lpstr>
      <vt:lpstr>Centroids, Medoids &amp; Profiles</vt:lpstr>
      <vt:lpstr>Validation: Silhouette &amp; F-Statistic</vt:lpstr>
      <vt:lpstr>Example 1: Silhouette of a Point</vt:lpstr>
      <vt:lpstr>Example 2: Centroid z-Profile</vt:lpstr>
      <vt:lpstr>Example 3: F-Statistic Feature Ranking</vt:lpstr>
      <vt:lpstr>Clustering Profiling — Exercises</vt:lpstr>
      <vt:lpstr>Choosing a Method</vt:lpstr>
      <vt:lpstr>From Clusters to Personas: Naming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2026-06-11T21:42:17Z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