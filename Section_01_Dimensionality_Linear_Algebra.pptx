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95"/>
  </p:notesMasterIdLst>
  <p:sldIdLst>
    <p:sldId id="1267" r:id="rId95"/>
    <p:sldId id="257" r:id="rId6"/>
    <p:sldId id="1072" r:id="rId7"/>
    <p:sldId id="1081" r:id="rId8"/>
    <p:sldId id="1085" r:id="rId9"/>
    <p:sldId id="1083" r:id="rId10"/>
    <p:sldId id="1086" r:id="rId11"/>
    <p:sldId id="258" r:id="rId12"/>
    <p:sldId id="1022" r:id="rId13"/>
    <p:sldId id="1028" r:id="rId14"/>
    <p:sldId id="1092" r:id="rId15"/>
    <p:sldId id="1095" r:id="rId16"/>
    <p:sldId id="1098" r:id="rId17"/>
    <p:sldId id="1097" r:id="rId18"/>
    <p:sldId id="1192" r:id="rId19"/>
    <p:sldId id="1195" r:id="rId20"/>
    <p:sldId id="1100" r:id="rId21"/>
    <p:sldId id="1102" r:id="rId22"/>
    <p:sldId id="1103" r:id="rId23"/>
    <p:sldId id="1117" r:id="rId24"/>
    <p:sldId id="1118" r:id="rId25"/>
    <p:sldId id="1119" r:id="rId26"/>
    <p:sldId id="1121" r:id="rId27"/>
    <p:sldId id="1197" r:id="rId28"/>
    <p:sldId id="1199" r:id="rId29"/>
    <p:sldId id="1201" r:id="rId30"/>
    <p:sldId id="1203" r:id="rId31"/>
    <p:sldId id="1205" r:id="rId32"/>
    <p:sldId id="1120" r:id="rId33"/>
    <p:sldId id="1209" r:id="rId34"/>
    <p:sldId id="1212" r:id="rId35"/>
    <p:sldId id="1214" r:id="rId36"/>
    <p:sldId id="1216" r:id="rId37"/>
    <p:sldId id="1123" r:id="rId38"/>
    <p:sldId id="1218" r:id="rId39"/>
    <p:sldId id="1220" r:id="rId40"/>
    <p:sldId id="1223" r:id="rId41"/>
    <p:sldId id="1163" r:id="rId42"/>
    <p:sldId id="1124" r:id="rId43"/>
    <p:sldId id="1125" r:id="rId44"/>
    <p:sldId id="1126" r:id="rId45"/>
    <p:sldId id="1127" r:id="rId46"/>
    <p:sldId id="1164" r:id="rId47"/>
    <p:sldId id="1128" r:id="rId48"/>
    <p:sldId id="1129" r:id="rId49"/>
    <p:sldId id="1130" r:id="rId50"/>
    <p:sldId id="1228" r:id="rId51"/>
    <p:sldId id="1230" r:id="rId52"/>
    <p:sldId id="1131" r:id="rId53"/>
    <p:sldId id="1165" r:id="rId54"/>
    <p:sldId id="1132" r:id="rId55"/>
    <p:sldId id="1133" r:id="rId56"/>
    <p:sldId id="1134" r:id="rId57"/>
    <p:sldId id="1233" r:id="rId58"/>
    <p:sldId id="1235" r:id="rId59"/>
    <p:sldId id="1135" r:id="rId60"/>
    <p:sldId id="1166" r:id="rId61"/>
    <p:sldId id="1254" r:id="rId62"/>
    <p:sldId id="1136" r:id="rId63"/>
    <p:sldId id="1137" r:id="rId64"/>
    <p:sldId id="1261" r:id="rId65"/>
    <p:sldId id="1247" r:id="rId66"/>
    <p:sldId id="1249" r:id="rId67"/>
    <p:sldId id="1171" r:id="rId68"/>
    <p:sldId id="1172" r:id="rId69"/>
    <p:sldId id="1173" r:id="rId70"/>
    <p:sldId id="1174" r:id="rId71"/>
    <p:sldId id="1175" r:id="rId72"/>
    <p:sldId id="1169" r:id="rId73"/>
    <p:sldId id="1170" r:id="rId74"/>
    <p:sldId id="1138" r:id="rId75"/>
    <p:sldId id="1139" r:id="rId76"/>
    <p:sldId id="1167" r:id="rId77"/>
    <p:sldId id="1140" r:id="rId78"/>
    <p:sldId id="1141" r:id="rId79"/>
    <p:sldId id="1142" r:id="rId80"/>
    <p:sldId id="1258" r:id="rId81"/>
    <p:sldId id="1260" r:id="rId82"/>
    <p:sldId id="1143" r:id="rId83"/>
    <p:sldId id="1168" r:id="rId84"/>
    <p:sldId id="1144" r:id="rId85"/>
    <p:sldId id="1145" r:id="rId86"/>
    <p:sldId id="1146" r:id="rId87"/>
    <p:sldId id="1177" r:id="rId88"/>
    <p:sldId id="1264" r:id="rId89"/>
    <p:sldId id="1266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2"/>
    <p:restoredTop sz="93806"/>
  </p:normalViewPr>
  <p:slideViewPr>
    <p:cSldViewPr snapToGrid="0" snapToObjects="1">
      <p:cViewPr varScale="1">
        <p:scale>
          <a:sx n="133" d="100"/>
          <a:sy n="133" d="100"/>
        </p:scale>
        <p:origin x="22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5" Type="http://schemas.openxmlformats.org/officeDocument/2006/relationships/slide" Target="slides/slide86.xml"/><Relationship Id="rId195" Type="http://schemas.openxmlformats.org/officeDocument/2006/relationships/notesMaster" Target="notesMasters/notesMaster1.xml"/><Relationship Id="rId196" Type="http://schemas.openxmlformats.org/officeDocument/2006/relationships/presProps" Target="presProps.xml"/><Relationship Id="rId197" Type="http://schemas.openxmlformats.org/officeDocument/2006/relationships/viewProps" Target="viewProps.xml"/><Relationship Id="rId198" Type="http://schemas.openxmlformats.org/officeDocument/2006/relationships/theme" Target="theme/theme1.xml"/><Relationship Id="rId1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 Purpl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3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64.png"/><Relationship Id="rId5" Type="http://schemas.openxmlformats.org/officeDocument/2006/relationships/image" Target="../media/image58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70.png"/><Relationship Id="rId5" Type="http://schemas.openxmlformats.org/officeDocument/2006/relationships/image" Target="../media/image58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560320"/>
            <a:ext cx="9290304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Curse of
Dimensionality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236720"/>
            <a:ext cx="301752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C641-CD7B-C293-21DC-EBB8D64F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38E815-F53F-3295-F1D6-6C651F1F9E3B}"/>
              </a:ext>
            </a:extLst>
          </p:cNvPr>
          <p:cNvSpPr txBox="1"/>
          <p:nvPr/>
        </p:nvSpPr>
        <p:spPr>
          <a:xfrm>
            <a:off x="635000" y="254000"/>
            <a:ext cx="10922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What Is the Curse of Dimensionality?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FD193-F6CA-6843-75C5-D40113C2D31F}"/>
              </a:ext>
            </a:extLst>
          </p:cNvPr>
          <p:cNvSpPr txBox="1"/>
          <p:nvPr/>
        </p:nvSpPr>
        <p:spPr>
          <a:xfrm>
            <a:off x="635000" y="736600"/>
            <a:ext cx="1092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Why more features can mean less information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6F77B0-EC63-6777-3410-C3E08D86E4E0}"/>
              </a:ext>
            </a:extLst>
          </p:cNvPr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urse of dimensionality part 1: Value at Risk">
            <a:extLst>
              <a:ext uri="{FF2B5EF4-FFF2-40B4-BE49-F238E27FC236}">
                <a16:creationId xmlns:a16="http://schemas.microsoft.com/office/drawing/2014/main" id="{FA07E460-E01C-833F-47B5-70D2CB3C1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769" y="1396651"/>
            <a:ext cx="5880795" cy="520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Distance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In high dimensions, "near" and "far" lose their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breaks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Distance-based methods (k-NN, k-means, clustering) lose discriminating power — the contrast between nearest and furthest neighbor diminishes.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Reduce dimensions first (PCA, LDA, UMAP)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Use cosine similarity instead of Euclidean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Switch to tree-based models (Random Forest, XGBoost)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Rule of thumb: if your nearest neighbor and your farthest neighbor are within 10% of each other, distance is no longer a useful signal.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6D1AD-B0DF-8B47-9FE0-EF4069610BFE}"/>
              </a:ext>
            </a:extLst>
          </p:cNvPr>
          <p:cNvSpPr txBox="1"/>
          <p:nvPr/>
        </p:nvSpPr>
        <p:spPr>
          <a:xfrm>
            <a:off x="635000" y="1879600"/>
            <a:ext cx="51943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Low dimensions: distances vary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EFE6A2-85DE-7240-A2E5-551C2099A95E}"/>
              </a:ext>
            </a:extLst>
          </p:cNvPr>
          <p:cNvSpPr/>
          <p:nvPr/>
        </p:nvSpPr>
        <p:spPr>
          <a:xfrm>
            <a:off x="1143000" y="3149600"/>
            <a:ext cx="304800" cy="127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36ACA-F6C8-1141-A35E-29A3CBF387B1}"/>
              </a:ext>
            </a:extLst>
          </p:cNvPr>
          <p:cNvSpPr/>
          <p:nvPr/>
        </p:nvSpPr>
        <p:spPr>
          <a:xfrm>
            <a:off x="1524000" y="2997200"/>
            <a:ext cx="304800" cy="2794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FA686-87D0-C442-8868-535947B575E1}"/>
              </a:ext>
            </a:extLst>
          </p:cNvPr>
          <p:cNvSpPr/>
          <p:nvPr/>
        </p:nvSpPr>
        <p:spPr>
          <a:xfrm>
            <a:off x="1905000" y="2794000"/>
            <a:ext cx="304800" cy="482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1C0353-A6FD-0A48-BEB3-D97306F73E58}"/>
              </a:ext>
            </a:extLst>
          </p:cNvPr>
          <p:cNvSpPr/>
          <p:nvPr/>
        </p:nvSpPr>
        <p:spPr>
          <a:xfrm>
            <a:off x="2286000" y="2514600"/>
            <a:ext cx="304800" cy="762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631DC4-7F9F-3E4D-8839-6B82C1A1CF55}"/>
              </a:ext>
            </a:extLst>
          </p:cNvPr>
          <p:cNvSpPr/>
          <p:nvPr/>
        </p:nvSpPr>
        <p:spPr>
          <a:xfrm>
            <a:off x="2667000" y="2286000"/>
            <a:ext cx="304800" cy="990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C4ECC-468E-EB43-8371-B73E4C7A94C7}"/>
              </a:ext>
            </a:extLst>
          </p:cNvPr>
          <p:cNvSpPr/>
          <p:nvPr/>
        </p:nvSpPr>
        <p:spPr>
          <a:xfrm>
            <a:off x="3048000" y="2387600"/>
            <a:ext cx="304800" cy="889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7E4C50-0A78-204E-97AF-66D75A8A01A6}"/>
              </a:ext>
            </a:extLst>
          </p:cNvPr>
          <p:cNvSpPr/>
          <p:nvPr/>
        </p:nvSpPr>
        <p:spPr>
          <a:xfrm>
            <a:off x="3429000" y="2641600"/>
            <a:ext cx="304800" cy="635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B86E6-9551-DC45-B331-134142694776}"/>
              </a:ext>
            </a:extLst>
          </p:cNvPr>
          <p:cNvSpPr/>
          <p:nvPr/>
        </p:nvSpPr>
        <p:spPr>
          <a:xfrm>
            <a:off x="3810000" y="2895600"/>
            <a:ext cx="304800" cy="381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0F6B5-8D2B-4546-8D5C-CD1143F83EA6}"/>
              </a:ext>
            </a:extLst>
          </p:cNvPr>
          <p:cNvSpPr/>
          <p:nvPr/>
        </p:nvSpPr>
        <p:spPr>
          <a:xfrm>
            <a:off x="4191000" y="3048000"/>
            <a:ext cx="304800" cy="228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5C9EBB-6114-4046-BF94-0EF08571B667}"/>
              </a:ext>
            </a:extLst>
          </p:cNvPr>
          <p:cNvSpPr/>
          <p:nvPr/>
        </p:nvSpPr>
        <p:spPr>
          <a:xfrm>
            <a:off x="4572000" y="3175000"/>
            <a:ext cx="304800" cy="101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528AD0-3685-884C-A225-A501B82005D1}"/>
              </a:ext>
            </a:extLst>
          </p:cNvPr>
          <p:cNvSpPr/>
          <p:nvPr/>
        </p:nvSpPr>
        <p:spPr>
          <a:xfrm>
            <a:off x="1016000" y="3276600"/>
            <a:ext cx="4572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1371A7-918D-1F44-BE5D-E9BF8DE9BE9B}"/>
              </a:ext>
            </a:extLst>
          </p:cNvPr>
          <p:cNvSpPr txBox="1"/>
          <p:nvPr/>
        </p:nvSpPr>
        <p:spPr>
          <a:xfrm>
            <a:off x="635000" y="3327400"/>
            <a:ext cx="51943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666666"/>
                </a:solidFill>
                <a:latin typeface="Arial"/>
                <a:cs typeface="Arial"/>
              </a:rPr>
              <a:t>pairwise distance 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E8A60-F090-8048-A724-802EA391A4B4}"/>
              </a:ext>
            </a:extLst>
          </p:cNvPr>
          <p:cNvSpPr txBox="1"/>
          <p:nvPr/>
        </p:nvSpPr>
        <p:spPr>
          <a:xfrm>
            <a:off x="635000" y="3683000"/>
            <a:ext cx="51943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High dimensions: distances collapse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E356E8-0D7E-CC4C-B956-D92B18C1666C}"/>
              </a:ext>
            </a:extLst>
          </p:cNvPr>
          <p:cNvSpPr/>
          <p:nvPr/>
        </p:nvSpPr>
        <p:spPr>
          <a:xfrm>
            <a:off x="1143000" y="5054600"/>
            <a:ext cx="304800" cy="254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EB738C-9BF7-2B4F-AA78-1F77D5C897F0}"/>
              </a:ext>
            </a:extLst>
          </p:cNvPr>
          <p:cNvSpPr/>
          <p:nvPr/>
        </p:nvSpPr>
        <p:spPr>
          <a:xfrm>
            <a:off x="1524000" y="5029200"/>
            <a:ext cx="304800" cy="508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E5AFE4-4BF9-6246-B760-59F30010914E}"/>
              </a:ext>
            </a:extLst>
          </p:cNvPr>
          <p:cNvSpPr/>
          <p:nvPr/>
        </p:nvSpPr>
        <p:spPr>
          <a:xfrm>
            <a:off x="1905000" y="4978400"/>
            <a:ext cx="304800" cy="1016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C06272-6B9C-684F-BB71-48452E6887CA}"/>
              </a:ext>
            </a:extLst>
          </p:cNvPr>
          <p:cNvSpPr/>
          <p:nvPr/>
        </p:nvSpPr>
        <p:spPr>
          <a:xfrm>
            <a:off x="2286000" y="4851400"/>
            <a:ext cx="304800" cy="2286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665D52-C34A-064A-A113-55B8BCD94467}"/>
              </a:ext>
            </a:extLst>
          </p:cNvPr>
          <p:cNvSpPr/>
          <p:nvPr/>
        </p:nvSpPr>
        <p:spPr>
          <a:xfrm>
            <a:off x="2667000" y="3937000"/>
            <a:ext cx="304800" cy="1143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0AC589-32D4-0C42-A914-3C0E27FA24AB}"/>
              </a:ext>
            </a:extLst>
          </p:cNvPr>
          <p:cNvSpPr/>
          <p:nvPr/>
        </p:nvSpPr>
        <p:spPr>
          <a:xfrm>
            <a:off x="3048000" y="4000500"/>
            <a:ext cx="304800" cy="10795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DEE90F-1D44-6341-9A95-67755D19EDFA}"/>
              </a:ext>
            </a:extLst>
          </p:cNvPr>
          <p:cNvSpPr/>
          <p:nvPr/>
        </p:nvSpPr>
        <p:spPr>
          <a:xfrm>
            <a:off x="3429000" y="4826000"/>
            <a:ext cx="304800" cy="254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F79233-334A-AC45-909E-4EAB85CE2C3D}"/>
              </a:ext>
            </a:extLst>
          </p:cNvPr>
          <p:cNvSpPr/>
          <p:nvPr/>
        </p:nvSpPr>
        <p:spPr>
          <a:xfrm>
            <a:off x="3810000" y="4953000"/>
            <a:ext cx="304800" cy="127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50F251-5AF5-CC4E-B2BF-3F78ADFD146A}"/>
              </a:ext>
            </a:extLst>
          </p:cNvPr>
          <p:cNvSpPr/>
          <p:nvPr/>
        </p:nvSpPr>
        <p:spPr>
          <a:xfrm>
            <a:off x="4191000" y="5016500"/>
            <a:ext cx="304800" cy="635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3B2191-F5A8-5E43-B9EC-8A21BC7E6D3F}"/>
              </a:ext>
            </a:extLst>
          </p:cNvPr>
          <p:cNvSpPr/>
          <p:nvPr/>
        </p:nvSpPr>
        <p:spPr>
          <a:xfrm>
            <a:off x="4572000" y="5054600"/>
            <a:ext cx="304800" cy="254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A83A8A-38BC-A148-9BD1-0079C06B58DD}"/>
              </a:ext>
            </a:extLst>
          </p:cNvPr>
          <p:cNvSpPr/>
          <p:nvPr/>
        </p:nvSpPr>
        <p:spPr>
          <a:xfrm>
            <a:off x="1016000" y="5080000"/>
            <a:ext cx="4572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555646-D1FF-E942-B9DF-5EB0C81CE4BD}"/>
              </a:ext>
            </a:extLst>
          </p:cNvPr>
          <p:cNvSpPr txBox="1"/>
          <p:nvPr/>
        </p:nvSpPr>
        <p:spPr>
          <a:xfrm>
            <a:off x="635000" y="5130800"/>
            <a:ext cx="51943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666666"/>
                </a:solidFill>
                <a:latin typeface="Arial"/>
                <a:cs typeface="Arial"/>
              </a:rPr>
              <a:t>pairwise distance →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B2E38E-96C8-4A43-A652-8304979C0CE8}"/>
              </a:ext>
            </a:extLst>
          </p:cNvPr>
          <p:cNvSpPr txBox="1"/>
          <p:nvPr/>
        </p:nvSpPr>
        <p:spPr>
          <a:xfrm>
            <a:off x="3556000" y="4038600"/>
            <a:ext cx="203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4B2E83"/>
                </a:solidFill>
                <a:latin typeface="Arial"/>
                <a:cs typeface="Arial"/>
              </a:rPr>
              <a:t>nearly all distances
are the same</a:t>
            </a:r>
          </a:p>
        </p:txBody>
      </p:sp>
    </p:spTree>
    <p:extLst>
      <p:ext uri="{BB962C8B-B14F-4D97-AF65-F5344CB8AC3E}">
        <p14:creationId xmlns:p14="http://schemas.microsoft.com/office/powerpoint/2010/main" val="215519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02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02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Sparsity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The volume of high-dimensional space empties out faster than you can fill 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202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The exponential problem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Data needed to cover the sample space grows exponentially with dimensions — usually impractical to collect.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Feature selection: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keep only the most relevant features (preserves interpretability)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Feature extraction: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project to a lower-D space via PCA / LDA (better performance, less interpretable)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Intuition flip: you don't have "too few data points" — you have "too much empty space."</a:t>
            </a:r>
          </a:p>
        </p:txBody>
      </p:sp>
      <p:sp>
        <p:nvSpPr>
          <p:cNvPr id="101" name="L1"/>
          <p:cNvSpPr/>
          <p:nvPr/>
        </p:nvSpPr>
        <p:spPr>
          <a:xfrm>
            <a:off x="571500" y="18669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1D</a:t>
            </a:r>
          </a:p>
        </p:txBody>
      </p:sp>
      <p:sp>
        <p:nvSpPr>
          <p:cNvPr id="102" name="C1"/>
          <p:cNvSpPr/>
          <p:nvPr/>
        </p:nvSpPr>
        <p:spPr>
          <a:xfrm>
            <a:off x="571500" y="20764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cxnSp>
        <p:nvCxnSpPr>
          <p:cNvPr id="103" name="Ln1"/>
          <p:cNvCxnSpPr/>
          <p:nvPr/>
        </p:nvCxnSpPr>
        <p:spPr>
          <a:xfrm>
            <a:off x="1238250" y="1981200"/>
            <a:ext cx="3048000" cy="953"/>
          </a:xfrm>
          <a:prstGeom prst="line">
            <a:avLst/>
          </a:prstGeom>
          <a:ln w="12700">
            <a:solidFill>
              <a:srgbClr val="B7A57A"/>
            </a:solidFill>
          </a:ln>
        </p:spPr>
      </p:cxnSp>
      <p:sp>
        <p:nvSpPr>
          <p:cNvPr id="104" name="d1"/>
          <p:cNvSpPr/>
          <p:nvPr/>
        </p:nvSpPr>
        <p:spPr>
          <a:xfrm>
            <a:off x="132207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d1"/>
          <p:cNvSpPr/>
          <p:nvPr/>
        </p:nvSpPr>
        <p:spPr>
          <a:xfrm>
            <a:off x="159639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d1"/>
          <p:cNvSpPr/>
          <p:nvPr/>
        </p:nvSpPr>
        <p:spPr>
          <a:xfrm>
            <a:off x="18707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d1"/>
          <p:cNvSpPr/>
          <p:nvPr/>
        </p:nvSpPr>
        <p:spPr>
          <a:xfrm>
            <a:off x="21450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d1"/>
          <p:cNvSpPr/>
          <p:nvPr/>
        </p:nvSpPr>
        <p:spPr>
          <a:xfrm>
            <a:off x="24803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d1"/>
          <p:cNvSpPr/>
          <p:nvPr/>
        </p:nvSpPr>
        <p:spPr>
          <a:xfrm>
            <a:off x="27546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d1"/>
          <p:cNvSpPr/>
          <p:nvPr/>
        </p:nvSpPr>
        <p:spPr>
          <a:xfrm>
            <a:off x="30594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d1"/>
          <p:cNvSpPr/>
          <p:nvPr/>
        </p:nvSpPr>
        <p:spPr>
          <a:xfrm>
            <a:off x="33947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d1"/>
          <p:cNvSpPr/>
          <p:nvPr/>
        </p:nvSpPr>
        <p:spPr>
          <a:xfrm>
            <a:off x="376047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d1"/>
          <p:cNvSpPr/>
          <p:nvPr/>
        </p:nvSpPr>
        <p:spPr>
          <a:xfrm>
            <a:off x="409575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L2"/>
          <p:cNvSpPr/>
          <p:nvPr/>
        </p:nvSpPr>
        <p:spPr>
          <a:xfrm>
            <a:off x="571500" y="2600325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2D</a:t>
            </a:r>
          </a:p>
        </p:txBody>
      </p:sp>
      <p:sp>
        <p:nvSpPr>
          <p:cNvPr id="115" name="C2"/>
          <p:cNvSpPr/>
          <p:nvPr/>
        </p:nvSpPr>
        <p:spPr>
          <a:xfrm>
            <a:off x="571500" y="2828925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sp>
        <p:nvSpPr>
          <p:cNvPr id="116" name="Sq2"/>
          <p:cNvSpPr/>
          <p:nvPr/>
        </p:nvSpPr>
        <p:spPr>
          <a:xfrm>
            <a:off x="1428750" y="2428875"/>
            <a:ext cx="7620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d2"/>
          <p:cNvSpPr/>
          <p:nvPr/>
        </p:nvSpPr>
        <p:spPr>
          <a:xfrm>
            <a:off x="1509713" y="25860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d2"/>
          <p:cNvSpPr/>
          <p:nvPr/>
        </p:nvSpPr>
        <p:spPr>
          <a:xfrm>
            <a:off x="1639253" y="29898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d2"/>
          <p:cNvSpPr/>
          <p:nvPr/>
        </p:nvSpPr>
        <p:spPr>
          <a:xfrm>
            <a:off x="1814513" y="25326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d2"/>
          <p:cNvSpPr/>
          <p:nvPr/>
        </p:nvSpPr>
        <p:spPr>
          <a:xfrm>
            <a:off x="1944053" y="286797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d2"/>
          <p:cNvSpPr/>
          <p:nvPr/>
        </p:nvSpPr>
        <p:spPr>
          <a:xfrm>
            <a:off x="2065973" y="26622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d2"/>
          <p:cNvSpPr/>
          <p:nvPr/>
        </p:nvSpPr>
        <p:spPr>
          <a:xfrm>
            <a:off x="1585913" y="28146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d2"/>
          <p:cNvSpPr/>
          <p:nvPr/>
        </p:nvSpPr>
        <p:spPr>
          <a:xfrm>
            <a:off x="1867853" y="30660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d2"/>
          <p:cNvSpPr/>
          <p:nvPr/>
        </p:nvSpPr>
        <p:spPr>
          <a:xfrm>
            <a:off x="1738313" y="27003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d2"/>
          <p:cNvSpPr/>
          <p:nvPr/>
        </p:nvSpPr>
        <p:spPr>
          <a:xfrm>
            <a:off x="2020253" y="29670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d2"/>
          <p:cNvSpPr/>
          <p:nvPr/>
        </p:nvSpPr>
        <p:spPr>
          <a:xfrm>
            <a:off x="1471613" y="30432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L3"/>
          <p:cNvSpPr/>
          <p:nvPr/>
        </p:nvSpPr>
        <p:spPr>
          <a:xfrm>
            <a:off x="571500" y="3719513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3D</a:t>
            </a:r>
          </a:p>
        </p:txBody>
      </p:sp>
      <p:sp>
        <p:nvSpPr>
          <p:cNvPr id="128" name="C3"/>
          <p:cNvSpPr/>
          <p:nvPr/>
        </p:nvSpPr>
        <p:spPr>
          <a:xfrm>
            <a:off x="571500" y="3948113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sp>
        <p:nvSpPr>
          <p:cNvPr id="129" name="CubeF"/>
          <p:cNvSpPr/>
          <p:nvPr/>
        </p:nvSpPr>
        <p:spPr>
          <a:xfrm>
            <a:off x="1381125" y="3743325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30" name="Te1"/>
          <p:cNvCxnSpPr/>
          <p:nvPr/>
        </p:nvCxnSpPr>
        <p:spPr>
          <a:xfrm flipV="1">
            <a:off x="1381125" y="3476625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1" name="Te2"/>
          <p:cNvCxnSpPr/>
          <p:nvPr/>
        </p:nvCxnSpPr>
        <p:spPr>
          <a:xfrm flipV="1">
            <a:off x="2286000" y="3476625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2" name="Te3"/>
          <p:cNvCxnSpPr/>
          <p:nvPr/>
        </p:nvCxnSpPr>
        <p:spPr>
          <a:xfrm>
            <a:off x="1647825" y="3476625"/>
            <a:ext cx="904875" cy="953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3" name="Re1"/>
          <p:cNvCxnSpPr/>
          <p:nvPr/>
        </p:nvCxnSpPr>
        <p:spPr>
          <a:xfrm>
            <a:off x="2552700" y="3476625"/>
            <a:ext cx="953" cy="904875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4" name="Re2"/>
          <p:cNvCxnSpPr/>
          <p:nvPr/>
        </p:nvCxnSpPr>
        <p:spPr>
          <a:xfrm flipV="1">
            <a:off x="2311400" y="4381500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sp>
        <p:nvSpPr>
          <p:cNvPr id="135" name="d3"/>
          <p:cNvSpPr/>
          <p:nvPr/>
        </p:nvSpPr>
        <p:spPr>
          <a:xfrm>
            <a:off x="1640205" y="387953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d3"/>
          <p:cNvSpPr/>
          <p:nvPr/>
        </p:nvSpPr>
        <p:spPr>
          <a:xfrm>
            <a:off x="1948815" y="429482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d3"/>
          <p:cNvSpPr/>
          <p:nvPr/>
        </p:nvSpPr>
        <p:spPr>
          <a:xfrm>
            <a:off x="1927860" y="3953828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d3"/>
          <p:cNvSpPr/>
          <p:nvPr/>
        </p:nvSpPr>
        <p:spPr>
          <a:xfrm>
            <a:off x="2209800" y="3762375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d3"/>
          <p:cNvSpPr/>
          <p:nvPr/>
        </p:nvSpPr>
        <p:spPr>
          <a:xfrm>
            <a:off x="1568291" y="440388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d3"/>
          <p:cNvSpPr/>
          <p:nvPr/>
        </p:nvSpPr>
        <p:spPr>
          <a:xfrm>
            <a:off x="2036921" y="3890010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d3"/>
          <p:cNvSpPr/>
          <p:nvPr/>
        </p:nvSpPr>
        <p:spPr>
          <a:xfrm>
            <a:off x="2071211" y="4217670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d3"/>
          <p:cNvSpPr/>
          <p:nvPr/>
        </p:nvSpPr>
        <p:spPr>
          <a:xfrm>
            <a:off x="1864043" y="3610451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d3"/>
          <p:cNvSpPr/>
          <p:nvPr/>
        </p:nvSpPr>
        <p:spPr>
          <a:xfrm>
            <a:off x="2326958" y="432387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d3"/>
          <p:cNvSpPr/>
          <p:nvPr/>
        </p:nvSpPr>
        <p:spPr>
          <a:xfrm>
            <a:off x="1925003" y="404717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0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Nearest-Neighbor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When everyone is equally far, "nearest" is just noise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breaks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k-NN, k-means and clustering rely on a meaningful gap between nearest and furthest neighbor. In high-D that gap vanishes.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Reduce dimensions before applying distance methods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Pick metrics designed for high-D (cosine, Mahalanobis)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Use tree-based or kernel models that don't need raw distances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If your kNN classifier suddenly stops working when you add features, the geometry is fighting you — not your code.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740A8-5C0A-844F-A609-AD2926A339C9}"/>
              </a:ext>
            </a:extLst>
          </p:cNvPr>
          <p:cNvSpPr txBox="1"/>
          <p:nvPr/>
        </p:nvSpPr>
        <p:spPr>
          <a:xfrm>
            <a:off x="762000" y="1879600"/>
            <a:ext cx="2222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Low dimensions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69305C-0341-E54D-862C-28FDA186C1F0}"/>
              </a:ext>
            </a:extLst>
          </p:cNvPr>
          <p:cNvSpPr/>
          <p:nvPr/>
        </p:nvSpPr>
        <p:spPr>
          <a:xfrm>
            <a:off x="762000" y="2222500"/>
            <a:ext cx="22225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5AF29E-FCB9-D147-BC5E-CE6274BC66BB}"/>
              </a:ext>
            </a:extLst>
          </p:cNvPr>
          <p:cNvSpPr/>
          <p:nvPr/>
        </p:nvSpPr>
        <p:spPr>
          <a:xfrm>
            <a:off x="1809750" y="3270250"/>
            <a:ext cx="127000" cy="127000"/>
          </a:xfrm>
          <a:prstGeom prst="ellipse">
            <a:avLst/>
          </a:prstGeom>
          <a:solidFill>
            <a:srgbClr val="E74C3C"/>
          </a:solidFill>
          <a:ln w="12700" cap="flat" cmpd="sng" algn="ctr">
            <a:solidFill>
              <a:srgbClr val="B33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627BE1-0A08-0944-9584-2653C0E138F4}"/>
              </a:ext>
            </a:extLst>
          </p:cNvPr>
          <p:cNvSpPr/>
          <p:nvPr/>
        </p:nvSpPr>
        <p:spPr>
          <a:xfrm>
            <a:off x="1568450" y="3092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D9780D-02C1-2341-B72E-0ED73325DE75}"/>
              </a:ext>
            </a:extLst>
          </p:cNvPr>
          <p:cNvSpPr/>
          <p:nvPr/>
        </p:nvSpPr>
        <p:spPr>
          <a:xfrm>
            <a:off x="2012950" y="2965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2C5BE5D-3E06-004D-A9A9-8386C1347F7A}"/>
              </a:ext>
            </a:extLst>
          </p:cNvPr>
          <p:cNvSpPr/>
          <p:nvPr/>
        </p:nvSpPr>
        <p:spPr>
          <a:xfrm>
            <a:off x="2266950" y="3663950"/>
            <a:ext cx="101600" cy="101600"/>
          </a:xfrm>
          <a:prstGeom prst="ellipse">
            <a:avLst/>
          </a:prstGeom>
          <a:solidFill>
            <a:srgbClr val="8B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3B887E-D069-0B4A-A2EB-43919B00E4AB}"/>
              </a:ext>
            </a:extLst>
          </p:cNvPr>
          <p:cNvSpPr/>
          <p:nvPr/>
        </p:nvSpPr>
        <p:spPr>
          <a:xfrm>
            <a:off x="1314450" y="3727450"/>
            <a:ext cx="101600" cy="101600"/>
          </a:xfrm>
          <a:prstGeom prst="ellipse">
            <a:avLst/>
          </a:prstGeom>
          <a:solidFill>
            <a:srgbClr val="8B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7F7C84-B3E4-4242-94A8-AF146CF5D842}"/>
              </a:ext>
            </a:extLst>
          </p:cNvPr>
          <p:cNvSpPr/>
          <p:nvPr/>
        </p:nvSpPr>
        <p:spPr>
          <a:xfrm>
            <a:off x="996950" y="26479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1CF5FF-C9D2-3E4E-AB30-51AD5DE85EF3}"/>
              </a:ext>
            </a:extLst>
          </p:cNvPr>
          <p:cNvSpPr/>
          <p:nvPr/>
        </p:nvSpPr>
        <p:spPr>
          <a:xfrm>
            <a:off x="2711450" y="25844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58C76A-B80F-CF46-9955-13BFFA54F573}"/>
              </a:ext>
            </a:extLst>
          </p:cNvPr>
          <p:cNvSpPr/>
          <p:nvPr/>
        </p:nvSpPr>
        <p:spPr>
          <a:xfrm>
            <a:off x="2584450" y="41084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5BB9CC-62F4-6A4A-8216-FD961A3460D2}"/>
              </a:ext>
            </a:extLst>
          </p:cNvPr>
          <p:cNvSpPr/>
          <p:nvPr/>
        </p:nvSpPr>
        <p:spPr>
          <a:xfrm rot="-8587806">
            <a:off x="1873250" y="3327400"/>
            <a:ext cx="317500" cy="127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D3B4CE-2AD4-714A-943B-7B2CE5F63590}"/>
              </a:ext>
            </a:extLst>
          </p:cNvPr>
          <p:cNvSpPr/>
          <p:nvPr/>
        </p:nvSpPr>
        <p:spPr>
          <a:xfrm rot="-3542175">
            <a:off x="1873250" y="3327400"/>
            <a:ext cx="370265" cy="127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04AF85E-3D19-1242-AC37-625CEF6C8CB0}"/>
              </a:ext>
            </a:extLst>
          </p:cNvPr>
          <p:cNvSpPr/>
          <p:nvPr/>
        </p:nvSpPr>
        <p:spPr>
          <a:xfrm>
            <a:off x="933450" y="40449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23FD0-2CD2-494B-A4CF-6DD6AEE6C2C1}"/>
              </a:ext>
            </a:extLst>
          </p:cNvPr>
          <p:cNvSpPr txBox="1"/>
          <p:nvPr/>
        </p:nvSpPr>
        <p:spPr>
          <a:xfrm>
            <a:off x="762000" y="4495800"/>
            <a:ext cx="2222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i="1">
                <a:solidFill>
                  <a:srgbClr val="666666"/>
                </a:solidFill>
                <a:latin typeface="Arial"/>
                <a:cs typeface="Arial"/>
              </a:rPr>
              <a:t>clear nearest neighbors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612142-93D6-E743-8661-8C78016B3D44}"/>
              </a:ext>
            </a:extLst>
          </p:cNvPr>
          <p:cNvSpPr txBox="1"/>
          <p:nvPr/>
        </p:nvSpPr>
        <p:spPr>
          <a:xfrm>
            <a:off x="3302000" y="1879600"/>
            <a:ext cx="2222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High dimensions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CB29E6-0CC9-FD4E-BC88-0D2D6A95D49E}"/>
              </a:ext>
            </a:extLst>
          </p:cNvPr>
          <p:cNvSpPr/>
          <p:nvPr/>
        </p:nvSpPr>
        <p:spPr>
          <a:xfrm>
            <a:off x="3302000" y="2222500"/>
            <a:ext cx="22225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78DB67-7898-A547-A39F-C256BB2F4CD4}"/>
              </a:ext>
            </a:extLst>
          </p:cNvPr>
          <p:cNvSpPr/>
          <p:nvPr/>
        </p:nvSpPr>
        <p:spPr>
          <a:xfrm>
            <a:off x="3587750" y="2508250"/>
            <a:ext cx="1651000" cy="1651000"/>
          </a:xfrm>
          <a:prstGeom prst="ellipse">
            <a:avLst/>
          </a:prstGeom>
          <a:noFill/>
          <a:ln w="19050" cap="flat" cmpd="sng" algn="ctr">
            <a:solidFill>
              <a:srgbClr val="8B7BB8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406A8A-E234-0342-8F8D-DF0240338DAA}"/>
              </a:ext>
            </a:extLst>
          </p:cNvPr>
          <p:cNvSpPr/>
          <p:nvPr/>
        </p:nvSpPr>
        <p:spPr>
          <a:xfrm>
            <a:off x="4349750" y="3270250"/>
            <a:ext cx="127000" cy="127000"/>
          </a:xfrm>
          <a:prstGeom prst="ellipse">
            <a:avLst/>
          </a:prstGeom>
          <a:solidFill>
            <a:srgbClr val="E74C3C"/>
          </a:solidFill>
          <a:ln w="12700" cap="flat" cmpd="sng" algn="ctr">
            <a:solidFill>
              <a:srgbClr val="B33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49AD68-2D5D-E140-86FE-0D3603C572B3}"/>
              </a:ext>
            </a:extLst>
          </p:cNvPr>
          <p:cNvSpPr/>
          <p:nvPr/>
        </p:nvSpPr>
        <p:spPr>
          <a:xfrm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81D6E0C-D49C-0141-94EA-394544F3499F}"/>
              </a:ext>
            </a:extLst>
          </p:cNvPr>
          <p:cNvSpPr/>
          <p:nvPr/>
        </p:nvSpPr>
        <p:spPr>
          <a:xfrm>
            <a:off x="5187950" y="32829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E3BFF1-54F3-3144-A4A1-9478E32F7E77}"/>
              </a:ext>
            </a:extLst>
          </p:cNvPr>
          <p:cNvSpPr/>
          <p:nvPr/>
        </p:nvSpPr>
        <p:spPr>
          <a:xfrm rot="27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8687EB5-84BF-BC46-BBAF-2392014CA672}"/>
              </a:ext>
            </a:extLst>
          </p:cNvPr>
          <p:cNvSpPr/>
          <p:nvPr/>
        </p:nvSpPr>
        <p:spPr>
          <a:xfrm>
            <a:off x="4946166" y="3866666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13BF48-843C-DF4D-BDEF-5512C308FA7F}"/>
              </a:ext>
            </a:extLst>
          </p:cNvPr>
          <p:cNvSpPr/>
          <p:nvPr/>
        </p:nvSpPr>
        <p:spPr>
          <a:xfrm rot="54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CECD74-0158-8A46-A62D-61CFE918F2B5}"/>
              </a:ext>
            </a:extLst>
          </p:cNvPr>
          <p:cNvSpPr/>
          <p:nvPr/>
        </p:nvSpPr>
        <p:spPr>
          <a:xfrm>
            <a:off x="4362450" y="4108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AC24EB-DF27-2747-84BF-4F978FF820D2}"/>
              </a:ext>
            </a:extLst>
          </p:cNvPr>
          <p:cNvSpPr/>
          <p:nvPr/>
        </p:nvSpPr>
        <p:spPr>
          <a:xfrm rot="81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F167469-4022-5D49-9C8A-36ADAD5459A5}"/>
              </a:ext>
            </a:extLst>
          </p:cNvPr>
          <p:cNvSpPr/>
          <p:nvPr/>
        </p:nvSpPr>
        <p:spPr>
          <a:xfrm>
            <a:off x="3778733" y="3866666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72228A-B5DE-0E43-95E6-A95DD07090D6}"/>
              </a:ext>
            </a:extLst>
          </p:cNvPr>
          <p:cNvSpPr/>
          <p:nvPr/>
        </p:nvSpPr>
        <p:spPr>
          <a:xfrm rot="108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4839D7-6E35-D94D-8EC0-4A2916B50958}"/>
              </a:ext>
            </a:extLst>
          </p:cNvPr>
          <p:cNvSpPr/>
          <p:nvPr/>
        </p:nvSpPr>
        <p:spPr>
          <a:xfrm>
            <a:off x="3536950" y="32829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15D79B-941E-8641-8C8A-4009606EDAE0}"/>
              </a:ext>
            </a:extLst>
          </p:cNvPr>
          <p:cNvSpPr/>
          <p:nvPr/>
        </p:nvSpPr>
        <p:spPr>
          <a:xfrm rot="-81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8A4277-400E-1A49-81E7-0D8B64A0A830}"/>
              </a:ext>
            </a:extLst>
          </p:cNvPr>
          <p:cNvSpPr/>
          <p:nvPr/>
        </p:nvSpPr>
        <p:spPr>
          <a:xfrm>
            <a:off x="3778733" y="2699233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A31384-075C-8645-A29D-142C973B322E}"/>
              </a:ext>
            </a:extLst>
          </p:cNvPr>
          <p:cNvSpPr/>
          <p:nvPr/>
        </p:nvSpPr>
        <p:spPr>
          <a:xfrm rot="-54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28DE09F-27C7-3148-876A-B9B241277050}"/>
              </a:ext>
            </a:extLst>
          </p:cNvPr>
          <p:cNvSpPr/>
          <p:nvPr/>
        </p:nvSpPr>
        <p:spPr>
          <a:xfrm>
            <a:off x="4362450" y="2457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37A4ED-0F27-1548-97FF-9E063E2E7B2A}"/>
              </a:ext>
            </a:extLst>
          </p:cNvPr>
          <p:cNvSpPr/>
          <p:nvPr/>
        </p:nvSpPr>
        <p:spPr>
          <a:xfrm rot="-2700000">
            <a:off x="4413250" y="3327400"/>
            <a:ext cx="825499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C299D43-0124-5547-B740-81BC60C1E5CC}"/>
              </a:ext>
            </a:extLst>
          </p:cNvPr>
          <p:cNvSpPr/>
          <p:nvPr/>
        </p:nvSpPr>
        <p:spPr>
          <a:xfrm>
            <a:off x="4946166" y="2699233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0F9621-D95D-B146-B4E3-646AC26D0C76}"/>
              </a:ext>
            </a:extLst>
          </p:cNvPr>
          <p:cNvSpPr txBox="1"/>
          <p:nvPr/>
        </p:nvSpPr>
        <p:spPr>
          <a:xfrm>
            <a:off x="3302000" y="4495800"/>
            <a:ext cx="2222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i="1">
                <a:solidFill>
                  <a:srgbClr val="666666"/>
                </a:solidFill>
                <a:latin typeface="Arial"/>
                <a:cs typeface="Arial"/>
              </a:rPr>
              <a:t>all points ≈ equidistant</a:t>
            </a:r>
          </a:p>
        </p:txBody>
      </p:sp>
    </p:spTree>
    <p:extLst>
      <p:ext uri="{BB962C8B-B14F-4D97-AF65-F5344CB8AC3E}">
        <p14:creationId xmlns:p14="http://schemas.microsoft.com/office/powerpoint/2010/main" val="143590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13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13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Overfitting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With enough features, a model can memorize anything — including noise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Why it happens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More features = more model complexity. The model starts learning noise instead of signal, so it nails training data but fails on new data.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Regularization: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Lasso (L₁) and Ridge (L₂) penalize large coefficients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Robust models: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Random Forests handle high-D well via built-in feature selection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Preprocess: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normalize and standardize so no single feature dominates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If training accuracy is 99% and test accuracy is 60%, the curse isn't in your model — it's in your feature count.</a:t>
            </a:r>
          </a:p>
        </p:txBody>
      </p:sp>
      <p:cxnSp>
        <p:nvCxnSpPr>
          <p:cNvPr id="201" name="Axx"/>
          <p:cNvCxnSpPr/>
          <p:nvPr/>
        </p:nvCxnSpPr>
        <p:spPr>
          <a:xfrm>
            <a:off x="714375" y="3857625"/>
            <a:ext cx="3429000" cy="953"/>
          </a:xfrm>
          <a:prstGeom prst="line">
            <a:avLst/>
          </a:prstGeom>
          <a:ln w="9525">
            <a:solidFill>
              <a:srgbClr val="999999"/>
            </a:solidFill>
          </a:ln>
        </p:spPr>
      </p:cxnSp>
      <p:cxnSp>
        <p:nvCxnSpPr>
          <p:cNvPr id="202" name="Axy"/>
          <p:cNvCxnSpPr/>
          <p:nvPr/>
        </p:nvCxnSpPr>
        <p:spPr>
          <a:xfrm>
            <a:off x="714375" y="1762125"/>
            <a:ext cx="953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</p:cxnSp>
      <p:sp>
        <p:nvSpPr>
          <p:cNvPr id="203" name="XLab"/>
          <p:cNvSpPr/>
          <p:nvPr/>
        </p:nvSpPr>
        <p:spPr>
          <a:xfrm>
            <a:off x="714375" y="3895725"/>
            <a:ext cx="342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000" dirty="0">
                <a:solidFill>
                  <a:srgbClr val="888888"/>
                </a:solidFill>
                <a:latin typeface="Arial"/>
              </a:rPr>
              <a:t>x (feature)</a:t>
            </a:r>
          </a:p>
        </p:txBody>
      </p:sp>
      <p:sp>
        <p:nvSpPr>
          <p:cNvPr id="204" name="GoodFit"/>
          <p:cNvSpPr/>
          <p:nvPr/>
        </p:nvSpPr>
        <p:spPr>
          <a:xfrm>
            <a:off x="714375" y="2303164"/>
            <a:ext cx="3429000" cy="1030586"/>
          </a:xfrm>
          <a:custGeom>
            <a:avLst/>
            <a:gdLst/>
            <a:ahLst/>
            <a:cxnLst/>
            <a:rect l="0" t="0" r="0" b="0"/>
            <a:pathLst>
              <a:path w="3429000" h="1030586">
                <a:moveTo>
                  <a:pt x="0" y="1030586"/>
                </a:moveTo>
                <a:lnTo>
                  <a:pt x="57150" y="991854"/>
                </a:lnTo>
                <a:lnTo>
                  <a:pt x="114300" y="953296"/>
                </a:lnTo>
                <a:lnTo>
                  <a:pt x="171450" y="915082"/>
                </a:lnTo>
                <a:lnTo>
                  <a:pt x="228600" y="877382"/>
                </a:lnTo>
                <a:lnTo>
                  <a:pt x="285750" y="840360"/>
                </a:lnTo>
                <a:lnTo>
                  <a:pt x="342900" y="804174"/>
                </a:lnTo>
                <a:lnTo>
                  <a:pt x="400050" y="768975"/>
                </a:lnTo>
                <a:lnTo>
                  <a:pt x="457200" y="734904"/>
                </a:lnTo>
                <a:lnTo>
                  <a:pt x="514350" y="702094"/>
                </a:lnTo>
                <a:lnTo>
                  <a:pt x="571500" y="670665"/>
                </a:lnTo>
                <a:lnTo>
                  <a:pt x="628650" y="640725"/>
                </a:lnTo>
                <a:lnTo>
                  <a:pt x="685800" y="612371"/>
                </a:lnTo>
                <a:lnTo>
                  <a:pt x="742950" y="585683"/>
                </a:lnTo>
                <a:lnTo>
                  <a:pt x="800100" y="560727"/>
                </a:lnTo>
                <a:lnTo>
                  <a:pt x="857250" y="537555"/>
                </a:lnTo>
                <a:lnTo>
                  <a:pt x="914400" y="516201"/>
                </a:lnTo>
                <a:lnTo>
                  <a:pt x="971550" y="496685"/>
                </a:lnTo>
                <a:lnTo>
                  <a:pt x="1028700" y="479010"/>
                </a:lnTo>
                <a:lnTo>
                  <a:pt x="1085850" y="463162"/>
                </a:lnTo>
                <a:lnTo>
                  <a:pt x="1143000" y="449110"/>
                </a:lnTo>
                <a:lnTo>
                  <a:pt x="1200150" y="436810"/>
                </a:lnTo>
                <a:lnTo>
                  <a:pt x="1257300" y="426200"/>
                </a:lnTo>
                <a:lnTo>
                  <a:pt x="1314450" y="417203"/>
                </a:lnTo>
                <a:lnTo>
                  <a:pt x="1371600" y="409730"/>
                </a:lnTo>
                <a:lnTo>
                  <a:pt x="1428750" y="403675"/>
                </a:lnTo>
                <a:lnTo>
                  <a:pt x="1485900" y="398922"/>
                </a:lnTo>
                <a:lnTo>
                  <a:pt x="1543050" y="395343"/>
                </a:lnTo>
                <a:lnTo>
                  <a:pt x="1600200" y="392799"/>
                </a:lnTo>
                <a:lnTo>
                  <a:pt x="1657350" y="391142"/>
                </a:lnTo>
                <a:lnTo>
                  <a:pt x="1714500" y="390217"/>
                </a:lnTo>
                <a:lnTo>
                  <a:pt x="1771650" y="389860"/>
                </a:lnTo>
                <a:lnTo>
                  <a:pt x="1828800" y="389905"/>
                </a:lnTo>
                <a:lnTo>
                  <a:pt x="1885950" y="390181"/>
                </a:lnTo>
                <a:lnTo>
                  <a:pt x="1943100" y="390515"/>
                </a:lnTo>
                <a:lnTo>
                  <a:pt x="2000250" y="390733"/>
                </a:lnTo>
                <a:lnTo>
                  <a:pt x="2057400" y="390663"/>
                </a:lnTo>
                <a:lnTo>
                  <a:pt x="2114550" y="390135"/>
                </a:lnTo>
                <a:lnTo>
                  <a:pt x="2171700" y="388984"/>
                </a:lnTo>
                <a:lnTo>
                  <a:pt x="2228850" y="387048"/>
                </a:lnTo>
                <a:lnTo>
                  <a:pt x="2286000" y="384175"/>
                </a:lnTo>
                <a:lnTo>
                  <a:pt x="2343150" y="380220"/>
                </a:lnTo>
                <a:lnTo>
                  <a:pt x="2400300" y="375047"/>
                </a:lnTo>
                <a:lnTo>
                  <a:pt x="2457450" y="368531"/>
                </a:lnTo>
                <a:lnTo>
                  <a:pt x="2514600" y="360561"/>
                </a:lnTo>
                <a:lnTo>
                  <a:pt x="2571750" y="351036"/>
                </a:lnTo>
                <a:lnTo>
                  <a:pt x="2628900" y="339870"/>
                </a:lnTo>
                <a:lnTo>
                  <a:pt x="2686050" y="326992"/>
                </a:lnTo>
                <a:lnTo>
                  <a:pt x="2743200" y="312346"/>
                </a:lnTo>
                <a:lnTo>
                  <a:pt x="2800350" y="295891"/>
                </a:lnTo>
                <a:lnTo>
                  <a:pt x="2857500" y="277603"/>
                </a:lnTo>
                <a:lnTo>
                  <a:pt x="2914650" y="257474"/>
                </a:lnTo>
                <a:lnTo>
                  <a:pt x="2971800" y="235511"/>
                </a:lnTo>
                <a:lnTo>
                  <a:pt x="3028950" y="211740"/>
                </a:lnTo>
                <a:lnTo>
                  <a:pt x="3086100" y="186200"/>
                </a:lnTo>
                <a:lnTo>
                  <a:pt x="3143250" y="158948"/>
                </a:lnTo>
                <a:lnTo>
                  <a:pt x="3200400" y="130056"/>
                </a:lnTo>
                <a:lnTo>
                  <a:pt x="3257550" y="99609"/>
                </a:lnTo>
                <a:lnTo>
                  <a:pt x="3314700" y="67707"/>
                </a:lnTo>
                <a:lnTo>
                  <a:pt x="3371850" y="34462"/>
                </a:lnTo>
                <a:lnTo>
                  <a:pt x="3429000" y="0"/>
                </a:lnTo>
              </a:path>
            </a:pathLst>
          </a:custGeom>
          <a:noFill/>
          <a:ln w="28000" cap="rnd">
            <a:solidFill>
              <a:srgbClr val="00A7B5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" name="Overfit"/>
          <p:cNvSpPr/>
          <p:nvPr/>
        </p:nvSpPr>
        <p:spPr>
          <a:xfrm>
            <a:off x="714375" y="2390889"/>
            <a:ext cx="3429000" cy="938464"/>
          </a:xfrm>
          <a:custGeom>
            <a:avLst/>
            <a:gdLst/>
            <a:ahLst/>
            <a:cxnLst/>
            <a:rect l="0" t="0" r="0" b="0"/>
            <a:pathLst>
              <a:path w="3429000" h="938464">
                <a:moveTo>
                  <a:pt x="0" y="938464"/>
                </a:moveTo>
                <a:lnTo>
                  <a:pt x="142875" y="843214"/>
                </a:lnTo>
                <a:lnTo>
                  <a:pt x="285750" y="897122"/>
                </a:lnTo>
                <a:lnTo>
                  <a:pt x="428625" y="684330"/>
                </a:lnTo>
                <a:lnTo>
                  <a:pt x="571500" y="400264"/>
                </a:lnTo>
                <a:lnTo>
                  <a:pt x="714375" y="382897"/>
                </a:lnTo>
                <a:lnTo>
                  <a:pt x="857250" y="482069"/>
                </a:lnTo>
                <a:lnTo>
                  <a:pt x="1000125" y="314541"/>
                </a:lnTo>
                <a:lnTo>
                  <a:pt x="1143000" y="181344"/>
                </a:lnTo>
                <a:lnTo>
                  <a:pt x="1285875" y="314847"/>
                </a:lnTo>
                <a:lnTo>
                  <a:pt x="1428750" y="444950"/>
                </a:lnTo>
                <a:lnTo>
                  <a:pt x="1571625" y="308353"/>
                </a:lnTo>
                <a:lnTo>
                  <a:pt x="1714500" y="101727"/>
                </a:lnTo>
                <a:lnTo>
                  <a:pt x="1857375" y="161801"/>
                </a:lnTo>
                <a:lnTo>
                  <a:pt x="2000250" y="428365"/>
                </a:lnTo>
                <a:lnTo>
                  <a:pt x="2143125" y="428228"/>
                </a:lnTo>
                <a:lnTo>
                  <a:pt x="2286000" y="237789"/>
                </a:lnTo>
                <a:lnTo>
                  <a:pt x="2428875" y="314049"/>
                </a:lnTo>
                <a:lnTo>
                  <a:pt x="2571750" y="391594"/>
                </a:lnTo>
                <a:lnTo>
                  <a:pt x="2714625" y="202439"/>
                </a:lnTo>
                <a:lnTo>
                  <a:pt x="2857500" y="0"/>
                </a:lnTo>
                <a:lnTo>
                  <a:pt x="3000375" y="64261"/>
                </a:lnTo>
                <a:lnTo>
                  <a:pt x="3143250" y="210416"/>
                </a:lnTo>
                <a:lnTo>
                  <a:pt x="3286125" y="89870"/>
                </a:lnTo>
                <a:lnTo>
                  <a:pt x="3429000" y="13670"/>
                </a:lnTo>
              </a:path>
            </a:pathLst>
          </a:custGeom>
          <a:noFill/>
          <a:ln w="22000" cap="rnd">
            <a:solidFill>
              <a:srgbClr val="D1578A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6" name="pt"/>
          <p:cNvSpPr/>
          <p:nvPr/>
        </p:nvSpPr>
        <p:spPr>
          <a:xfrm>
            <a:off x="819150" y="3196003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7" name="pt"/>
          <p:cNvSpPr/>
          <p:nvPr/>
        </p:nvSpPr>
        <p:spPr>
          <a:xfrm>
            <a:off x="1104900" y="3037119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8" name="pt"/>
          <p:cNvSpPr/>
          <p:nvPr/>
        </p:nvSpPr>
        <p:spPr>
          <a:xfrm>
            <a:off x="1390650" y="2735687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pt"/>
          <p:cNvSpPr/>
          <p:nvPr/>
        </p:nvSpPr>
        <p:spPr>
          <a:xfrm>
            <a:off x="1676400" y="2667330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" name="pt"/>
          <p:cNvSpPr/>
          <p:nvPr/>
        </p:nvSpPr>
        <p:spPr>
          <a:xfrm>
            <a:off x="1962150" y="2667637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" name="pt"/>
          <p:cNvSpPr/>
          <p:nvPr/>
        </p:nvSpPr>
        <p:spPr>
          <a:xfrm>
            <a:off x="2247900" y="2661143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" name="pt"/>
          <p:cNvSpPr/>
          <p:nvPr/>
        </p:nvSpPr>
        <p:spPr>
          <a:xfrm>
            <a:off x="2533650" y="2514591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3" name="pt"/>
          <p:cNvSpPr/>
          <p:nvPr/>
        </p:nvSpPr>
        <p:spPr>
          <a:xfrm>
            <a:off x="2819400" y="2781017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4" name="pt"/>
          <p:cNvSpPr/>
          <p:nvPr/>
        </p:nvSpPr>
        <p:spPr>
          <a:xfrm>
            <a:off x="3105150" y="2666838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" name="pt"/>
          <p:cNvSpPr/>
          <p:nvPr/>
        </p:nvSpPr>
        <p:spPr>
          <a:xfrm>
            <a:off x="3390900" y="2555228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6" name="pt"/>
          <p:cNvSpPr/>
          <p:nvPr/>
        </p:nvSpPr>
        <p:spPr>
          <a:xfrm>
            <a:off x="3676650" y="2417051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7" name="pt"/>
          <p:cNvSpPr/>
          <p:nvPr/>
        </p:nvSpPr>
        <p:spPr>
          <a:xfrm>
            <a:off x="3962400" y="2442660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18" name="LgL1"/>
          <p:cNvCxnSpPr/>
          <p:nvPr/>
        </p:nvCxnSpPr>
        <p:spPr>
          <a:xfrm>
            <a:off x="762000" y="2095500"/>
            <a:ext cx="228600" cy="953"/>
          </a:xfrm>
          <a:prstGeom prst="line">
            <a:avLst/>
          </a:prstGeom>
          <a:ln w="28000">
            <a:solidFill>
              <a:srgbClr val="00A7B5"/>
            </a:solidFill>
          </a:ln>
        </p:spPr>
      </p:cxnSp>
      <p:sp>
        <p:nvSpPr>
          <p:cNvPr id="219" name="LgT1"/>
          <p:cNvSpPr/>
          <p:nvPr/>
        </p:nvSpPr>
        <p:spPr>
          <a:xfrm>
            <a:off x="1041400" y="20066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Good fit</a:t>
            </a:r>
          </a:p>
        </p:txBody>
      </p:sp>
      <p:cxnSp>
        <p:nvCxnSpPr>
          <p:cNvPr id="220" name="LgL2"/>
          <p:cNvCxnSpPr/>
          <p:nvPr/>
        </p:nvCxnSpPr>
        <p:spPr>
          <a:xfrm>
            <a:off x="2006600" y="2095500"/>
            <a:ext cx="228600" cy="953"/>
          </a:xfrm>
          <a:prstGeom prst="line">
            <a:avLst/>
          </a:prstGeom>
          <a:ln w="22000">
            <a:solidFill>
              <a:srgbClr val="D1578A"/>
            </a:solidFill>
          </a:ln>
        </p:spPr>
      </p:cxnSp>
      <p:sp>
        <p:nvSpPr>
          <p:cNvPr id="221" name="LgT2"/>
          <p:cNvSpPr/>
          <p:nvPr/>
        </p:nvSpPr>
        <p:spPr>
          <a:xfrm>
            <a:off x="2286000" y="20066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Overfit</a:t>
            </a:r>
          </a:p>
        </p:txBody>
      </p:sp>
      <p:sp>
        <p:nvSpPr>
          <p:cNvPr id="222" name="LgD"/>
          <p:cNvSpPr/>
          <p:nvPr/>
        </p:nvSpPr>
        <p:spPr>
          <a:xfrm>
            <a:off x="3251200" y="2057400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3" name="LgT3"/>
          <p:cNvSpPr/>
          <p:nvPr/>
        </p:nvSpPr>
        <p:spPr>
          <a:xfrm>
            <a:off x="3365500" y="20066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Data</a:t>
            </a:r>
          </a:p>
        </p:txBody>
      </p:sp>
      <p:sp>
        <p:nvSpPr>
          <p:cNvPr id="224" name="Cap"/>
          <p:cNvSpPr/>
          <p:nvPr/>
        </p:nvSpPr>
        <p:spPr>
          <a:xfrm>
            <a:off x="714375" y="4067175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100" dirty="0">
                <a:solidFill>
                  <a:srgbClr val="555555"/>
                </a:solidFill>
                <a:latin typeface="Arial"/>
              </a:rPr>
              <a:t>The wiggly pink curve fits every training point — including the noise — and will fail on new data.</a:t>
            </a:r>
          </a:p>
        </p:txBody>
      </p:sp>
    </p:spTree>
    <p:extLst>
      <p:ext uri="{BB962C8B-B14F-4D97-AF65-F5344CB8AC3E}">
        <p14:creationId xmlns:p14="http://schemas.microsoft.com/office/powerpoint/2010/main" val="35308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84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84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What Is the Curse of Dimensionality?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Why more features can mean less information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DEFINITION &amp; INTUITION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828800"/>
            <a:ext cx="51943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333333"/>
                </a:solidFill>
                <a:latin typeface="Arial"/>
              </a:rPr>
              <a:t>Distance concentration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As dimensions grow, all pairwise distances converge — max ≈ min.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Sparsity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Data points become isolated; need exponentially more data to fill the space.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Nearest-neighbor breakdown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When all points are equidistant, 'nearest' is meaningless.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Overfitting risk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Many features + few samples = model finds spurious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WHEN TO WORRY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333333"/>
                </a:solidFill>
                <a:latin typeface="Arial"/>
              </a:rPr>
              <a:t>p &gt; n datasets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Genomics, NLP bag-of-words, survey data with hundreds of questions.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Adding noise features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Irrelevant variables drown out the signal in useful features.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Computational burden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Distance calculations scale as O(np), storage as O(np).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Mitigation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Feature selection, PCA, regularization, manifold methods.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The Party Analogy: 20 people in a small room feel crowded. The same 20 in a 100D hyper-warehouse are all equally far apart.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FCAF-FDD5-6995-666C-24551C1A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90" y="0"/>
            <a:ext cx="10515600" cy="1325563"/>
          </a:xfrm>
        </p:spPr>
        <p:txBody>
          <a:bodyPr/>
          <a:lstStyle/>
          <a:p>
            <a:r>
              <a:rPr lang="en-US" sz="2400" b="1" dirty="0"/>
              <a:t>K-Nearest Neighbors (KNN) Algorithm</a:t>
            </a:r>
          </a:p>
        </p:txBody>
      </p:sp>
      <p:sp>
        <p:nvSpPr>
          <p:cNvPr id="10" name="AccentBar"/>
          <p:cNvSpPr/>
          <p:nvPr/>
        </p:nvSpPr>
        <p:spPr>
          <a:xfrm>
            <a:off x="508000" y="1003300"/>
            <a:ext cx="11176000" cy="406400"/>
          </a:xfrm>
          <a:prstGeom prst="roundRect">
            <a:avLst>
              <a:gd name="adj" fmla="val 10000"/>
            </a:avLst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Pseudocode — Classification by Majority Vote of K Nearest Neighbors</a:t>
            </a:r>
          </a:p>
        </p:txBody>
      </p:sp>
      <p:sp>
        <p:nvSpPr>
          <p:cNvPr id="11" name="PseudoCode"/>
          <p:cNvSpPr/>
          <p:nvPr/>
        </p:nvSpPr>
        <p:spPr>
          <a:xfrm>
            <a:off x="508000" y="152400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12700">
            <a:solidFill>
              <a:srgbClr val="4B2E83"/>
            </a:solidFill>
          </a:ln>
        </p:spPr>
        <p:txBody>
          <a:bodyPr wrap="square" lIns="182880" tIns="91440" rIns="9144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Consolas"/>
              </a:rPr>
              <a:t>KNN_Classify(training_set, query_point, K):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1.  For each point xᵢ in training_set: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distance[i] ← dist(xᵢ, query_point)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2.  Sort distances in ascending order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3.  Select the K nearest neighbors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neighbors ← top K points from sorted list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4.  Count class votes among neighbors: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For each neighbor in neighbors: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    votes[neighbor.class] += 1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b="1" dirty="0">
                <a:solidFill>
                  <a:srgbClr val="4B2E83"/>
                </a:solidFill>
                <a:latin typeface="Consolas"/>
              </a:rPr>
              <a:t>5.  Return class with maximum votes</a:t>
            </a:r>
          </a:p>
        </p:txBody>
      </p:sp>
      <p:sp>
        <p:nvSpPr>
          <p:cNvPr id="12" name="KeyConcepts"/>
          <p:cNvSpPr/>
          <p:nvPr/>
        </p:nvSpPr>
        <p:spPr>
          <a:xfrm>
            <a:off x="7620000" y="1524000"/>
            <a:ext cx="40640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A57A"/>
            </a:solidFill>
          </a:ln>
        </p:spPr>
        <p:txBody>
          <a:bodyPr wrap="square" lIns="137160" tIns="91440" rIns="9144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Arial"/>
              </a:rPr>
              <a:t>Key Concepts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Distance Metric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Euclidean, Manhattan, or Minkowski distance between feature vectors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Choice of K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Odd K avoids ties; small K = noise-sensitive; large K = smooth boundaries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Majority Vote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The query point is classified to the most frequent class among its K neighbors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No Training Phase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KNN is a lazy learner — all computation happens at prediction time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497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66DD-3404-1ACF-3DC0-61AF7CF2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07" y="68738"/>
            <a:ext cx="10515600" cy="1325563"/>
          </a:xfrm>
        </p:spPr>
        <p:txBody>
          <a:bodyPr/>
          <a:lstStyle/>
          <a:p>
            <a:r>
              <a:rPr lang="en-US" sz="2400" b="1" dirty="0"/>
              <a:t>KNN Visual Example: K=5 with Two Classes</a:t>
            </a:r>
          </a:p>
        </p:txBody>
      </p:sp>
      <p:sp>
        <p:nvSpPr>
          <p:cNvPr id="10" name="AccentBar2"/>
          <p:cNvSpPr/>
          <p:nvPr/>
        </p:nvSpPr>
        <p:spPr>
          <a:xfrm>
            <a:off x="508000" y="1003300"/>
            <a:ext cx="11176000" cy="406400"/>
          </a:xfrm>
          <a:prstGeom prst="roundRect">
            <a:avLst>
              <a:gd name="adj" fmla="val 10000"/>
            </a:avLst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The 5 nearest neighbors vote: 3 Class A (purple) vs 2 Class B (gold) → Query classified as Class A</a:t>
            </a:r>
          </a:p>
        </p:txBody>
      </p:sp>
      <p:sp>
        <p:nvSpPr>
          <p:cNvPr id="40" name="PlotBg"/>
          <p:cNvSpPr/>
          <p:nvPr/>
        </p:nvSpPr>
        <p:spPr>
          <a:xfrm>
            <a:off x="508000" y="1524000"/>
            <a:ext cx="7048500" cy="4826000"/>
          </a:xfrm>
          <a:prstGeom prst="roundRect">
            <a:avLst>
              <a:gd name="adj" fmla="val 2000"/>
            </a:avLst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GridH1"/>
          <p:cNvSpPr/>
          <p:nvPr/>
        </p:nvSpPr>
        <p:spPr>
          <a:xfrm>
            <a:off x="698500" y="27305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2" name="GridH2"/>
          <p:cNvSpPr/>
          <p:nvPr/>
        </p:nvSpPr>
        <p:spPr>
          <a:xfrm>
            <a:off x="698500" y="39370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3" name="GridH3"/>
          <p:cNvSpPr/>
          <p:nvPr/>
        </p:nvSpPr>
        <p:spPr>
          <a:xfrm>
            <a:off x="698500" y="51435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4" name="GridV1"/>
          <p:cNvSpPr/>
          <p:nvPr/>
        </p:nvSpPr>
        <p:spPr>
          <a:xfrm>
            <a:off x="2270125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5" name="GridV2"/>
          <p:cNvSpPr/>
          <p:nvPr/>
        </p:nvSpPr>
        <p:spPr>
          <a:xfrm>
            <a:off x="4032250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6" name="GridV3"/>
          <p:cNvSpPr/>
          <p:nvPr/>
        </p:nvSpPr>
        <p:spPr>
          <a:xfrm>
            <a:off x="5794375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7" name="XAxis"/>
          <p:cNvSpPr/>
          <p:nvPr/>
        </p:nvSpPr>
        <p:spPr>
          <a:xfrm>
            <a:off x="2622550" y="6400800"/>
            <a:ext cx="2819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200" b="1" dirty="0">
                <a:solidFill>
                  <a:srgbClr val="85754D"/>
                </a:solidFill>
                <a:latin typeface="Arial"/>
              </a:rPr>
              <a:t>Feature X₁</a:t>
            </a:r>
          </a:p>
        </p:txBody>
      </p:sp>
      <p:sp>
        <p:nvSpPr>
          <p:cNvPr id="48" name="YAxis"/>
          <p:cNvSpPr/>
          <p:nvPr/>
        </p:nvSpPr>
        <p:spPr>
          <a:xfrm rot="16200000">
            <a:off x="-304800" y="29718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b="1" dirty="0">
                <a:solidFill>
                  <a:srgbClr val="85754D"/>
                </a:solidFill>
                <a:latin typeface="Arial"/>
              </a:rPr>
              <a:t>Feature X₂</a:t>
            </a:r>
          </a:p>
        </p:txBody>
      </p:sp>
      <p:sp>
        <p:nvSpPr>
          <p:cNvPr id="49" name="A0"/>
          <p:cNvSpPr/>
          <p:nvPr/>
        </p:nvSpPr>
        <p:spPr>
          <a:xfrm>
            <a:off x="1455420" y="22047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0" name="A1"/>
          <p:cNvSpPr/>
          <p:nvPr/>
        </p:nvSpPr>
        <p:spPr>
          <a:xfrm>
            <a:off x="1840230" y="26238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1" name="A2"/>
          <p:cNvSpPr/>
          <p:nvPr/>
        </p:nvSpPr>
        <p:spPr>
          <a:xfrm>
            <a:off x="2096770" y="20370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2" name="A3"/>
          <p:cNvSpPr/>
          <p:nvPr/>
        </p:nvSpPr>
        <p:spPr>
          <a:xfrm>
            <a:off x="1198880" y="28752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3" name="A4"/>
          <p:cNvSpPr/>
          <p:nvPr/>
        </p:nvSpPr>
        <p:spPr>
          <a:xfrm>
            <a:off x="2289175" y="24561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4" name="A5"/>
          <p:cNvSpPr/>
          <p:nvPr/>
        </p:nvSpPr>
        <p:spPr>
          <a:xfrm>
            <a:off x="1647825" y="30429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5" name="A6"/>
          <p:cNvSpPr/>
          <p:nvPr/>
        </p:nvSpPr>
        <p:spPr>
          <a:xfrm>
            <a:off x="2070100" y="285115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6" name="A7"/>
          <p:cNvSpPr/>
          <p:nvPr/>
        </p:nvSpPr>
        <p:spPr>
          <a:xfrm>
            <a:off x="1327150" y="254000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7" name="A8"/>
          <p:cNvSpPr/>
          <p:nvPr/>
        </p:nvSpPr>
        <p:spPr>
          <a:xfrm>
            <a:off x="3122930" y="34620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8" name="A9"/>
          <p:cNvSpPr/>
          <p:nvPr/>
        </p:nvSpPr>
        <p:spPr>
          <a:xfrm>
            <a:off x="3379470" y="321056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9" name="A10"/>
          <p:cNvSpPr/>
          <p:nvPr/>
        </p:nvSpPr>
        <p:spPr>
          <a:xfrm>
            <a:off x="2867660" y="37769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60" name="B0"/>
          <p:cNvSpPr/>
          <p:nvPr/>
        </p:nvSpPr>
        <p:spPr>
          <a:xfrm>
            <a:off x="5303520" y="46355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1" name="B1"/>
          <p:cNvSpPr/>
          <p:nvPr/>
        </p:nvSpPr>
        <p:spPr>
          <a:xfrm>
            <a:off x="5688330" y="50546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2" name="B2"/>
          <p:cNvSpPr/>
          <p:nvPr/>
        </p:nvSpPr>
        <p:spPr>
          <a:xfrm>
            <a:off x="5944870" y="455168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3" name="B3"/>
          <p:cNvSpPr/>
          <p:nvPr/>
        </p:nvSpPr>
        <p:spPr>
          <a:xfrm>
            <a:off x="5046980" y="51384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4" name="B4"/>
          <p:cNvSpPr/>
          <p:nvPr/>
        </p:nvSpPr>
        <p:spPr>
          <a:xfrm>
            <a:off x="6137275" y="484505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5" name="B5"/>
          <p:cNvSpPr/>
          <p:nvPr/>
        </p:nvSpPr>
        <p:spPr>
          <a:xfrm>
            <a:off x="5419725" y="534035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6" name="B6"/>
          <p:cNvSpPr/>
          <p:nvPr/>
        </p:nvSpPr>
        <p:spPr>
          <a:xfrm>
            <a:off x="5816600" y="54737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7" name="B7"/>
          <p:cNvSpPr/>
          <p:nvPr/>
        </p:nvSpPr>
        <p:spPr>
          <a:xfrm>
            <a:off x="6431280" y="46431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8" name="B8"/>
          <p:cNvSpPr/>
          <p:nvPr/>
        </p:nvSpPr>
        <p:spPr>
          <a:xfrm>
            <a:off x="4020820" y="38811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9" name="B9"/>
          <p:cNvSpPr/>
          <p:nvPr/>
        </p:nvSpPr>
        <p:spPr>
          <a:xfrm>
            <a:off x="3764280" y="413258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70" name="KCircle"/>
          <p:cNvSpPr/>
          <p:nvPr/>
        </p:nvSpPr>
        <p:spPr>
          <a:xfrm>
            <a:off x="2250440" y="2456180"/>
            <a:ext cx="2794000" cy="2794000"/>
          </a:xfrm>
          <a:prstGeom prst="ellipse">
            <a:avLst/>
          </a:prstGeom>
          <a:solidFill>
            <a:srgbClr val="00A7B5">
              <a:alpha val="8000"/>
            </a:srgbClr>
          </a:solidFill>
          <a:ln w="22225">
            <a:solidFill>
              <a:srgbClr val="00A7B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1" name="Query"/>
          <p:cNvSpPr/>
          <p:nvPr/>
        </p:nvSpPr>
        <p:spPr>
          <a:xfrm>
            <a:off x="3456940" y="3662680"/>
            <a:ext cx="381000" cy="381000"/>
          </a:xfrm>
          <a:prstGeom prst="ellipse">
            <a:avLst/>
          </a:prstGeom>
          <a:solidFill>
            <a:srgbClr val="00A7B5"/>
          </a:solidFill>
          <a:ln w="28575">
            <a:solidFill>
              <a:srgbClr val="FFFFFF"/>
            </a:solidFill>
          </a:ln>
          <a:effectLst>
            <a:outerShdw blurRad="63500" algn="ctr" rotWithShape="0">
              <a:srgbClr val="00A7B5">
                <a:alpha val="40000"/>
              </a:srgbClr>
            </a:outerShdw>
          </a:effectLst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72" name="KLabel"/>
          <p:cNvSpPr/>
          <p:nvPr/>
        </p:nvSpPr>
        <p:spPr>
          <a:xfrm>
            <a:off x="4790440" y="2100580"/>
            <a:ext cx="825500" cy="330200"/>
          </a:xfrm>
          <a:prstGeom prst="roundRect">
            <a:avLst>
              <a:gd name="adj" fmla="val 16667"/>
            </a:avLst>
          </a:prstGeom>
          <a:solidFill>
            <a:srgbClr val="00A7B5"/>
          </a:solidFill>
          <a:ln>
            <a:noFill/>
          </a:ln>
        </p:spPr>
        <p:txBody>
          <a:bodyPr wrap="none" lIns="45720" tIns="18288" rIns="45720" bIns="18288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K = 5</a:t>
            </a:r>
          </a:p>
        </p:txBody>
      </p:sp>
      <p:sp>
        <p:nvSpPr>
          <p:cNvPr id="73" name="Panel"/>
          <p:cNvSpPr/>
          <p:nvPr/>
        </p:nvSpPr>
        <p:spPr>
          <a:xfrm>
            <a:off x="7747000" y="1524000"/>
            <a:ext cx="4000500" cy="495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A57A"/>
            </a:solidFill>
          </a:ln>
        </p:spPr>
        <p:txBody>
          <a:bodyPr wrap="square" lIns="137160" tIns="91440" rIns="91440" bIns="91440" anchor="t"/>
          <a:lstStyle/>
          <a:p>
            <a:pPr algn="l">
              <a:buNone/>
            </a:pPr>
            <a:r>
              <a:rPr lang="en-US" sz="3200" b="1" dirty="0">
                <a:solidFill>
                  <a:srgbClr val="4B2E83"/>
                </a:solidFill>
                <a:latin typeface="Arial"/>
              </a:rPr>
              <a:t>How It Works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1. Compute Distances</a:t>
            </a:r>
          </a:p>
          <a:p>
            <a:pPr algn="l">
              <a:buNone/>
            </a:pPr>
            <a:r>
              <a:rPr lang="en-US" sz="2000" dirty="0">
                <a:solidFill>
                  <a:srgbClr val="333333"/>
                </a:solidFill>
                <a:latin typeface="Arial"/>
              </a:rPr>
              <a:t>Measure distance from query (teal) to every training point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2. Find 5 Nearest</a:t>
            </a:r>
          </a:p>
          <a:p>
            <a:pPr algn="l">
              <a:buNone/>
            </a:pPr>
            <a:r>
              <a:rPr lang="en-US" sz="2000" dirty="0">
                <a:solidFill>
                  <a:srgbClr val="333333"/>
                </a:solidFill>
                <a:latin typeface="Arial"/>
              </a:rPr>
              <a:t>Select K=5 closest points inside the dashed boundary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3. Majority Vote</a:t>
            </a:r>
          </a:p>
          <a:p>
            <a:pPr marL="228600" indent="-228600" algn="l">
              <a:buFont typeface="Arial"/>
              <a:buChar char="▸"/>
            </a:pPr>
            <a:r>
              <a:rPr lang="en-US" sz="2000" b="1" dirty="0">
                <a:solidFill>
                  <a:srgbClr val="4B2E83"/>
                </a:solidFill>
                <a:latin typeface="Arial"/>
              </a:rPr>
              <a:t>Class A (purple):  3 votes</a:t>
            </a:r>
          </a:p>
          <a:p>
            <a:pPr marL="228600" indent="-228600" algn="l">
              <a:buFont typeface="Arial"/>
              <a:buChar char="▸"/>
            </a:pPr>
            <a:r>
              <a:rPr lang="en-US" sz="2000" dirty="0">
                <a:solidFill>
                  <a:srgbClr val="B7A57A"/>
                </a:solidFill>
                <a:latin typeface="Arial"/>
              </a:rPr>
              <a:t>Class B (gold):  2 votes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4. Classification</a:t>
            </a:r>
          </a:p>
          <a:p>
            <a:pPr algn="l">
              <a:buNone/>
            </a:pPr>
            <a:r>
              <a:rPr lang="en-US" sz="2400" b="1" dirty="0">
                <a:solidFill>
                  <a:srgbClr val="4B2E83"/>
                </a:solidFill>
                <a:latin typeface="Arial"/>
              </a:rPr>
              <a:t>Query → Class A</a:t>
            </a:r>
          </a:p>
          <a:p>
            <a:pPr algn="l">
              <a:buNone/>
            </a:pPr>
            <a:r>
              <a:rPr lang="en-US" sz="1600" dirty="0">
                <a:solidFill>
                  <a:srgbClr val="85754D"/>
                </a:solidFill>
                <a:latin typeface="Arial"/>
              </a:rPr>
              <a:t>(majority wins)</a:t>
            </a:r>
          </a:p>
        </p:txBody>
      </p:sp>
      <p:sp>
        <p:nvSpPr>
          <p:cNvPr id="74" name="LegDot0"/>
          <p:cNvSpPr/>
          <p:nvPr/>
        </p:nvSpPr>
        <p:spPr>
          <a:xfrm>
            <a:off x="508000" y="6578600"/>
            <a:ext cx="177800" cy="1778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75" name="LegLabel0"/>
          <p:cNvSpPr/>
          <p:nvPr/>
        </p:nvSpPr>
        <p:spPr>
          <a:xfrm>
            <a:off x="7366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4B2E83"/>
                </a:solidFill>
                <a:latin typeface="Arial"/>
              </a:rPr>
              <a:t>Class A</a:t>
            </a:r>
          </a:p>
        </p:txBody>
      </p:sp>
      <p:sp>
        <p:nvSpPr>
          <p:cNvPr id="76" name="LegDot1"/>
          <p:cNvSpPr/>
          <p:nvPr/>
        </p:nvSpPr>
        <p:spPr>
          <a:xfrm>
            <a:off x="1841500" y="6578600"/>
            <a:ext cx="177800" cy="1778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77" name="LegLabel1"/>
          <p:cNvSpPr/>
          <p:nvPr/>
        </p:nvSpPr>
        <p:spPr>
          <a:xfrm>
            <a:off x="20701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B7A57A"/>
                </a:solidFill>
                <a:latin typeface="Arial"/>
              </a:rPr>
              <a:t>Class B</a:t>
            </a:r>
          </a:p>
        </p:txBody>
      </p:sp>
      <p:sp>
        <p:nvSpPr>
          <p:cNvPr id="78" name="LegDot2"/>
          <p:cNvSpPr/>
          <p:nvPr/>
        </p:nvSpPr>
        <p:spPr>
          <a:xfrm>
            <a:off x="3175000" y="6578600"/>
            <a:ext cx="177800" cy="1778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0A7B5"/>
              </a:solidFill>
            </a:endParaRPr>
          </a:p>
        </p:txBody>
      </p:sp>
      <p:sp>
        <p:nvSpPr>
          <p:cNvPr id="79" name="LegLabel2"/>
          <p:cNvSpPr/>
          <p:nvPr/>
        </p:nvSpPr>
        <p:spPr>
          <a:xfrm>
            <a:off x="34036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00A7B5"/>
                </a:solidFill>
                <a:latin typeface="Arial"/>
              </a:rPr>
              <a:t>Query Point</a:t>
            </a:r>
          </a:p>
        </p:txBody>
      </p:sp>
    </p:spTree>
    <p:extLst>
      <p:ext uri="{BB962C8B-B14F-4D97-AF65-F5344CB8AC3E}">
        <p14:creationId xmlns:p14="http://schemas.microsoft.com/office/powerpoint/2010/main" val="120297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8572500" cy="28575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Curse of dimensionality — Stage 1: d = 1 (one feature)</a:t>
            </a:r>
          </a:p>
        </p:txBody>
      </p:sp>
      <p:sp>
        <p:nvSpPr>
          <p:cNvPr id="502" name="S1Hdr"/>
          <p:cNvSpPr/>
          <p:nvPr/>
        </p:nvSpPr>
        <p:spPr>
          <a:xfrm>
            <a:off x="292100" y="6286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Training set (5 points, labels)</a:t>
            </a:r>
          </a:p>
        </p:txBody>
      </p:sp>
      <p:sp>
        <p:nvSpPr>
          <p:cNvPr id="503" name="S1Box"/>
          <p:cNvSpPr/>
          <p:nvPr/>
        </p:nvSpPr>
        <p:spPr>
          <a:xfrm>
            <a:off x="292100" y="819150"/>
            <a:ext cx="6858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onsolas"/>
              </a:rPr>
              <a:t>x₁=1·A   x₂=2·A   x₃=4·B   x₄=7·B   x₅=9·B</a:t>
            </a:r>
          </a:p>
        </p:txBody>
      </p:sp>
      <p:sp>
        <p:nvSpPr>
          <p:cNvPr id="504" name="S2Hdr"/>
          <p:cNvSpPr/>
          <p:nvPr/>
        </p:nvSpPr>
        <p:spPr>
          <a:xfrm>
            <a:off x="7366000" y="628650"/>
            <a:ext cx="1016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7366000" y="819150"/>
            <a:ext cx="1016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onsolas"/>
              </a:rPr>
              <a:t>x* = 5</a:t>
            </a:r>
          </a:p>
        </p:txBody>
      </p:sp>
      <p:sp>
        <p:nvSpPr>
          <p:cNvPr id="506" name="S3Hdr"/>
          <p:cNvSpPr/>
          <p:nvPr/>
        </p:nvSpPr>
        <p:spPr>
          <a:xfrm>
            <a:off x="8636000" y="628650"/>
            <a:ext cx="317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Distance: |x* − xᵢ|       k = 3 nearest neighbors</a:t>
            </a:r>
          </a:p>
        </p:txBody>
      </p:sp>
      <p:sp>
        <p:nvSpPr>
          <p:cNvPr id="507" name="S3Box"/>
          <p:cNvSpPr/>
          <p:nvPr/>
        </p:nvSpPr>
        <p:spPr>
          <a:xfrm>
            <a:off x="8636000" y="819150"/>
            <a:ext cx="3175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Consolas"/>
              </a:rPr>
              <a:t>d(x*, xᵢ) = | 5 − xᵢ |</a:t>
            </a:r>
          </a:p>
        </p:txBody>
      </p:sp>
      <p:sp>
        <p:nvSpPr>
          <p:cNvPr id="508" name="VizHdr"/>
          <p:cNvSpPr/>
          <p:nvPr/>
        </p:nvSpPr>
        <p:spPr>
          <a:xfrm>
            <a:off x="285750" y="2260600"/>
            <a:ext cx="857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Geometry — points on the number line, query in purple</a:t>
            </a:r>
          </a:p>
        </p:txBody>
      </p:sp>
      <p:cxnSp>
        <p:nvCxnSpPr>
          <p:cNvPr id="509" name="Axis"/>
          <p:cNvCxnSpPr/>
          <p:nvPr/>
        </p:nvCxnSpPr>
        <p:spPr>
          <a:xfrm>
            <a:off x="762000" y="1504950"/>
            <a:ext cx="7810500" cy="953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10" name="Tk"/>
          <p:cNvCxnSpPr/>
          <p:nvPr/>
        </p:nvCxnSpPr>
        <p:spPr>
          <a:xfrm>
            <a:off x="7620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1" name="TL"/>
          <p:cNvSpPr/>
          <p:nvPr/>
        </p:nvSpPr>
        <p:spPr>
          <a:xfrm>
            <a:off x="6667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0</a:t>
            </a:r>
          </a:p>
        </p:txBody>
      </p:sp>
      <p:cxnSp>
        <p:nvCxnSpPr>
          <p:cNvPr id="512" name="Tk"/>
          <p:cNvCxnSpPr/>
          <p:nvPr/>
        </p:nvCxnSpPr>
        <p:spPr>
          <a:xfrm>
            <a:off x="15430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3" name="TL"/>
          <p:cNvSpPr/>
          <p:nvPr/>
        </p:nvSpPr>
        <p:spPr>
          <a:xfrm>
            <a:off x="14478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cxnSp>
        <p:nvCxnSpPr>
          <p:cNvPr id="514" name="Tk"/>
          <p:cNvCxnSpPr/>
          <p:nvPr/>
        </p:nvCxnSpPr>
        <p:spPr>
          <a:xfrm>
            <a:off x="23241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5" name="TL"/>
          <p:cNvSpPr/>
          <p:nvPr/>
        </p:nvSpPr>
        <p:spPr>
          <a:xfrm>
            <a:off x="22288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cxnSp>
        <p:nvCxnSpPr>
          <p:cNvPr id="516" name="Tk"/>
          <p:cNvCxnSpPr/>
          <p:nvPr/>
        </p:nvCxnSpPr>
        <p:spPr>
          <a:xfrm>
            <a:off x="31051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7" name="TL"/>
          <p:cNvSpPr/>
          <p:nvPr/>
        </p:nvSpPr>
        <p:spPr>
          <a:xfrm>
            <a:off x="30099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cxnSp>
        <p:nvCxnSpPr>
          <p:cNvPr id="518" name="Tk"/>
          <p:cNvCxnSpPr/>
          <p:nvPr/>
        </p:nvCxnSpPr>
        <p:spPr>
          <a:xfrm>
            <a:off x="38862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9" name="TL"/>
          <p:cNvSpPr/>
          <p:nvPr/>
        </p:nvSpPr>
        <p:spPr>
          <a:xfrm>
            <a:off x="37909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cxnSp>
        <p:nvCxnSpPr>
          <p:cNvPr id="520" name="Tk"/>
          <p:cNvCxnSpPr/>
          <p:nvPr/>
        </p:nvCxnSpPr>
        <p:spPr>
          <a:xfrm>
            <a:off x="46672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1" name="TL"/>
          <p:cNvSpPr/>
          <p:nvPr/>
        </p:nvSpPr>
        <p:spPr>
          <a:xfrm>
            <a:off x="45720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cxnSp>
        <p:nvCxnSpPr>
          <p:cNvPr id="522" name="Tk"/>
          <p:cNvCxnSpPr/>
          <p:nvPr/>
        </p:nvCxnSpPr>
        <p:spPr>
          <a:xfrm>
            <a:off x="54483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3" name="TL"/>
          <p:cNvSpPr/>
          <p:nvPr/>
        </p:nvSpPr>
        <p:spPr>
          <a:xfrm>
            <a:off x="53530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cxnSp>
        <p:nvCxnSpPr>
          <p:cNvPr id="524" name="Tk"/>
          <p:cNvCxnSpPr/>
          <p:nvPr/>
        </p:nvCxnSpPr>
        <p:spPr>
          <a:xfrm>
            <a:off x="62293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5" name="TL"/>
          <p:cNvSpPr/>
          <p:nvPr/>
        </p:nvSpPr>
        <p:spPr>
          <a:xfrm>
            <a:off x="61341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cxnSp>
        <p:nvCxnSpPr>
          <p:cNvPr id="526" name="Tk"/>
          <p:cNvCxnSpPr/>
          <p:nvPr/>
        </p:nvCxnSpPr>
        <p:spPr>
          <a:xfrm>
            <a:off x="70104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7" name="TL"/>
          <p:cNvSpPr/>
          <p:nvPr/>
        </p:nvSpPr>
        <p:spPr>
          <a:xfrm>
            <a:off x="69151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cxnSp>
        <p:nvCxnSpPr>
          <p:cNvPr id="528" name="Tk"/>
          <p:cNvCxnSpPr/>
          <p:nvPr/>
        </p:nvCxnSpPr>
        <p:spPr>
          <a:xfrm>
            <a:off x="77914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9" name="TL"/>
          <p:cNvSpPr/>
          <p:nvPr/>
        </p:nvSpPr>
        <p:spPr>
          <a:xfrm>
            <a:off x="76962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cxnSp>
        <p:nvCxnSpPr>
          <p:cNvPr id="530" name="Tk"/>
          <p:cNvCxnSpPr/>
          <p:nvPr/>
        </p:nvCxnSpPr>
        <p:spPr>
          <a:xfrm>
            <a:off x="85725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31" name="TL"/>
          <p:cNvSpPr/>
          <p:nvPr/>
        </p:nvSpPr>
        <p:spPr>
          <a:xfrm>
            <a:off x="84772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532" name="Pt"/>
          <p:cNvSpPr/>
          <p:nvPr/>
        </p:nvSpPr>
        <p:spPr>
          <a:xfrm>
            <a:off x="1390650" y="1352550"/>
            <a:ext cx="304800" cy="304800"/>
          </a:xfrm>
          <a:prstGeom prst="ellipse">
            <a:avLst/>
          </a:prstGeom>
          <a:solidFill>
            <a:srgbClr val="B7A57A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3" name="PL"/>
          <p:cNvSpPr/>
          <p:nvPr/>
        </p:nvSpPr>
        <p:spPr>
          <a:xfrm>
            <a:off x="14287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B7A57A"/>
                </a:solidFill>
                <a:latin typeface="Arial"/>
              </a:rPr>
              <a:t>A</a:t>
            </a:r>
          </a:p>
        </p:txBody>
      </p:sp>
      <p:sp>
        <p:nvSpPr>
          <p:cNvPr id="534" name="Pt"/>
          <p:cNvSpPr/>
          <p:nvPr/>
        </p:nvSpPr>
        <p:spPr>
          <a:xfrm>
            <a:off x="2171700" y="1352550"/>
            <a:ext cx="304800" cy="304800"/>
          </a:xfrm>
          <a:prstGeom prst="ellipse">
            <a:avLst/>
          </a:prstGeom>
          <a:solidFill>
            <a:srgbClr val="B7A57A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5" name="PL"/>
          <p:cNvSpPr/>
          <p:nvPr/>
        </p:nvSpPr>
        <p:spPr>
          <a:xfrm>
            <a:off x="220980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B7A57A"/>
                </a:solidFill>
                <a:latin typeface="Arial"/>
              </a:rPr>
              <a:t>A</a:t>
            </a:r>
          </a:p>
        </p:txBody>
      </p:sp>
      <p:sp>
        <p:nvSpPr>
          <p:cNvPr id="536" name="Pt"/>
          <p:cNvSpPr/>
          <p:nvPr/>
        </p:nvSpPr>
        <p:spPr>
          <a:xfrm>
            <a:off x="373380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7" name="PL"/>
          <p:cNvSpPr/>
          <p:nvPr/>
        </p:nvSpPr>
        <p:spPr>
          <a:xfrm>
            <a:off x="377190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38" name="Pt"/>
          <p:cNvSpPr/>
          <p:nvPr/>
        </p:nvSpPr>
        <p:spPr>
          <a:xfrm>
            <a:off x="607695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9" name="PL"/>
          <p:cNvSpPr/>
          <p:nvPr/>
        </p:nvSpPr>
        <p:spPr>
          <a:xfrm>
            <a:off x="61150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40" name="Pt"/>
          <p:cNvSpPr/>
          <p:nvPr/>
        </p:nvSpPr>
        <p:spPr>
          <a:xfrm>
            <a:off x="763905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1" name="PL"/>
          <p:cNvSpPr/>
          <p:nvPr/>
        </p:nvSpPr>
        <p:spPr>
          <a:xfrm>
            <a:off x="76771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42" name="Q"/>
          <p:cNvSpPr/>
          <p:nvPr/>
        </p:nvSpPr>
        <p:spPr>
          <a:xfrm>
            <a:off x="4476750" y="1314450"/>
            <a:ext cx="381000" cy="381000"/>
          </a:xfrm>
          <a:prstGeom prst="ellipse">
            <a:avLst/>
          </a:prstGeom>
          <a:solidFill>
            <a:srgbClr val="4B2E83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3" name="QL"/>
          <p:cNvSpPr/>
          <p:nvPr/>
        </p:nvSpPr>
        <p:spPr>
          <a:xfrm>
            <a:off x="4381500" y="18161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4B2E83"/>
                </a:solidFill>
                <a:latin typeface="Arial"/>
              </a:rPr>
              <a:t>x* = 5</a:t>
            </a:r>
          </a:p>
        </p:txBody>
      </p:sp>
      <p:sp>
        <p:nvSpPr>
          <p:cNvPr id="544" name="Step1Hdr"/>
          <p:cNvSpPr/>
          <p:nvPr/>
        </p:nvSpPr>
        <p:spPr>
          <a:xfrm>
            <a:off x="285750" y="25400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1 — compute distances and sort</a:t>
            </a:r>
          </a:p>
        </p:txBody>
      </p:sp>
      <p:sp>
        <p:nvSpPr>
          <p:cNvPr id="545" name="CalcL"/>
          <p:cNvSpPr/>
          <p:nvPr/>
        </p:nvSpPr>
        <p:spPr>
          <a:xfrm>
            <a:off x="571500" y="28448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1) = |5 − 1| =</a:t>
            </a:r>
          </a:p>
        </p:txBody>
      </p:sp>
      <p:sp>
        <p:nvSpPr>
          <p:cNvPr id="546" name="CalcV"/>
          <p:cNvSpPr/>
          <p:nvPr/>
        </p:nvSpPr>
        <p:spPr>
          <a:xfrm>
            <a:off x="2857500" y="28448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4</a:t>
            </a:r>
          </a:p>
        </p:txBody>
      </p:sp>
      <p:sp>
        <p:nvSpPr>
          <p:cNvPr id="547" name="CalcL"/>
          <p:cNvSpPr/>
          <p:nvPr/>
        </p:nvSpPr>
        <p:spPr>
          <a:xfrm>
            <a:off x="571500" y="31750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2) = |5 − 2| =</a:t>
            </a:r>
          </a:p>
        </p:txBody>
      </p:sp>
      <p:sp>
        <p:nvSpPr>
          <p:cNvPr id="548" name="CalcV"/>
          <p:cNvSpPr/>
          <p:nvPr/>
        </p:nvSpPr>
        <p:spPr>
          <a:xfrm>
            <a:off x="2857500" y="31750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3</a:t>
            </a:r>
          </a:p>
        </p:txBody>
      </p:sp>
      <p:sp>
        <p:nvSpPr>
          <p:cNvPr id="549" name="CalcL"/>
          <p:cNvSpPr/>
          <p:nvPr/>
        </p:nvSpPr>
        <p:spPr>
          <a:xfrm>
            <a:off x="571500" y="35052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4) = |5 − 4| =</a:t>
            </a:r>
          </a:p>
        </p:txBody>
      </p:sp>
      <p:sp>
        <p:nvSpPr>
          <p:cNvPr id="550" name="CalcV"/>
          <p:cNvSpPr/>
          <p:nvPr/>
        </p:nvSpPr>
        <p:spPr>
          <a:xfrm>
            <a:off x="2857500" y="35052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1</a:t>
            </a:r>
          </a:p>
        </p:txBody>
      </p:sp>
      <p:sp>
        <p:nvSpPr>
          <p:cNvPr id="551" name="Tag"/>
          <p:cNvSpPr/>
          <p:nvPr/>
        </p:nvSpPr>
        <p:spPr>
          <a:xfrm>
            <a:off x="3333750" y="35179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2" name="CalcL"/>
          <p:cNvSpPr/>
          <p:nvPr/>
        </p:nvSpPr>
        <p:spPr>
          <a:xfrm>
            <a:off x="571500" y="38354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7) = |5 − 7| =</a:t>
            </a:r>
          </a:p>
        </p:txBody>
      </p:sp>
      <p:sp>
        <p:nvSpPr>
          <p:cNvPr id="553" name="CalcV"/>
          <p:cNvSpPr/>
          <p:nvPr/>
        </p:nvSpPr>
        <p:spPr>
          <a:xfrm>
            <a:off x="2857500" y="38354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2</a:t>
            </a:r>
          </a:p>
        </p:txBody>
      </p:sp>
      <p:sp>
        <p:nvSpPr>
          <p:cNvPr id="554" name="Tag"/>
          <p:cNvSpPr/>
          <p:nvPr/>
        </p:nvSpPr>
        <p:spPr>
          <a:xfrm>
            <a:off x="3333750" y="38481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5" name="CalcL"/>
          <p:cNvSpPr/>
          <p:nvPr/>
        </p:nvSpPr>
        <p:spPr>
          <a:xfrm>
            <a:off x="571500" y="41656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9) = |5 − 9| =</a:t>
            </a:r>
          </a:p>
        </p:txBody>
      </p:sp>
      <p:sp>
        <p:nvSpPr>
          <p:cNvPr id="556" name="CalcV"/>
          <p:cNvSpPr/>
          <p:nvPr/>
        </p:nvSpPr>
        <p:spPr>
          <a:xfrm>
            <a:off x="2857500" y="41656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4</a:t>
            </a:r>
          </a:p>
        </p:txBody>
      </p:sp>
      <p:sp>
        <p:nvSpPr>
          <p:cNvPr id="557" name="Tag"/>
          <p:cNvSpPr/>
          <p:nvPr/>
        </p:nvSpPr>
        <p:spPr>
          <a:xfrm>
            <a:off x="3333750" y="41783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8" name="Step2Hdr"/>
          <p:cNvSpPr/>
          <p:nvPr/>
        </p:nvSpPr>
        <p:spPr>
          <a:xfrm>
            <a:off x="7394714" y="254000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2 — majority vote of 3 nearest</a:t>
            </a:r>
          </a:p>
        </p:txBody>
      </p:sp>
      <p:sp>
        <p:nvSpPr>
          <p:cNvPr id="559" name="VoteBox"/>
          <p:cNvSpPr/>
          <p:nvPr/>
        </p:nvSpPr>
        <p:spPr>
          <a:xfrm>
            <a:off x="7394714" y="2844800"/>
            <a:ext cx="4286250" cy="1168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7489964" y="29464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3 nearest: x₃ (B, d=1),  x₄ (B, d=2),  x₅ (B, d=4)</a:t>
            </a:r>
          </a:p>
        </p:txBody>
      </p:sp>
      <p:sp>
        <p:nvSpPr>
          <p:cNvPr id="561" name="VoteLine2"/>
          <p:cNvSpPr/>
          <p:nvPr/>
        </p:nvSpPr>
        <p:spPr>
          <a:xfrm>
            <a:off x="7489964" y="33020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Votes:  B = 3,   A = 0</a:t>
            </a:r>
          </a:p>
        </p:txBody>
      </p:sp>
      <p:sp>
        <p:nvSpPr>
          <p:cNvPr id="562" name="VoteLine3"/>
          <p:cNvSpPr/>
          <p:nvPr/>
        </p:nvSpPr>
        <p:spPr>
          <a:xfrm>
            <a:off x="7489964" y="36576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Arial"/>
              </a:rPr>
              <a:t>Predicted label  →  B</a:t>
            </a:r>
          </a:p>
        </p:txBody>
      </p:sp>
      <p:sp>
        <p:nvSpPr>
          <p:cNvPr id="563" name="RatHdr"/>
          <p:cNvSpPr/>
          <p:nvPr/>
        </p:nvSpPr>
        <p:spPr>
          <a:xfrm>
            <a:off x="285750" y="45720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 concentration diagnostic</a:t>
            </a:r>
          </a:p>
        </p:txBody>
      </p:sp>
      <p:sp>
        <p:nvSpPr>
          <p:cNvPr id="564" name="RatBox"/>
          <p:cNvSpPr/>
          <p:nvPr/>
        </p:nvSpPr>
        <p:spPr>
          <a:xfrm>
            <a:off x="285749" y="4800600"/>
            <a:ext cx="11813485" cy="7112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476250" y="49022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min distance = 1     max distance = 4</a:t>
            </a:r>
          </a:p>
        </p:txBody>
      </p:sp>
      <p:sp>
        <p:nvSpPr>
          <p:cNvPr id="566" name="R2"/>
          <p:cNvSpPr/>
          <p:nvPr/>
        </p:nvSpPr>
        <p:spPr>
          <a:xfrm>
            <a:off x="476250" y="51816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max / min  =  4 / 1  =  4.0×     →     neighbors are clearly different from far points</a:t>
            </a:r>
          </a:p>
        </p:txBody>
      </p:sp>
      <p:sp>
        <p:nvSpPr>
          <p:cNvPr id="567" name="TkBar"/>
          <p:cNvSpPr/>
          <p:nvPr/>
        </p:nvSpPr>
        <p:spPr>
          <a:xfrm>
            <a:off x="285750" y="5749236"/>
            <a:ext cx="11525250" cy="635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In 1D, the 3 nearest neighbors are 4× closer than the farthest — KNN has plenty of signal to vote on.</a:t>
            </a:r>
          </a:p>
        </p:txBody>
      </p:sp>
    </p:spTree>
    <p:extLst>
      <p:ext uri="{BB962C8B-B14F-4D97-AF65-F5344CB8AC3E}">
        <p14:creationId xmlns:p14="http://schemas.microsoft.com/office/powerpoint/2010/main" val="269193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8572500" cy="28575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2 — d=2 (two features)</a:t>
            </a:r>
          </a:p>
        </p:txBody>
      </p:sp>
      <p:sp>
        <p:nvSpPr>
          <p:cNvPr id="502" name="S1Hdr"/>
          <p:cNvSpPr/>
          <p:nvPr/>
        </p:nvSpPr>
        <p:spPr>
          <a:xfrm>
            <a:off x="285750" y="62865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Training set</a:t>
            </a:r>
          </a:p>
        </p:txBody>
      </p:sp>
      <p:sp>
        <p:nvSpPr>
          <p:cNvPr id="503" name="S1Box"/>
          <p:cNvSpPr/>
          <p:nvPr/>
        </p:nvSpPr>
        <p:spPr>
          <a:xfrm>
            <a:off x="285750" y="819150"/>
            <a:ext cx="5334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onsolas"/>
              </a:rPr>
              <a:t>x₁=(1,2)·A   x₂=(2,1)·A   x₃=(4,8)·B   x₄=(7,5)·B   x₅=(9,9)·B</a:t>
            </a:r>
          </a:p>
        </p:txBody>
      </p:sp>
      <p:sp>
        <p:nvSpPr>
          <p:cNvPr id="504" name="S2Hdr"/>
          <p:cNvSpPr/>
          <p:nvPr/>
        </p:nvSpPr>
        <p:spPr>
          <a:xfrm>
            <a:off x="5842000" y="628650"/>
            <a:ext cx="139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5842000" y="819150"/>
            <a:ext cx="1397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onsolas"/>
              </a:rPr>
              <a:t>x* = (5, 5)</a:t>
            </a:r>
          </a:p>
        </p:txBody>
      </p:sp>
      <p:sp>
        <p:nvSpPr>
          <p:cNvPr id="506" name="S3Hdr"/>
          <p:cNvSpPr/>
          <p:nvPr/>
        </p:nvSpPr>
        <p:spPr>
          <a:xfrm>
            <a:off x="7366000" y="628650"/>
            <a:ext cx="444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Distance formula</a:t>
            </a:r>
          </a:p>
        </p:txBody>
      </p:sp>
      <p:sp>
        <p:nvSpPr>
          <p:cNvPr id="507" name="S3Box"/>
          <p:cNvSpPr/>
          <p:nvPr/>
        </p:nvSpPr>
        <p:spPr>
          <a:xfrm>
            <a:off x="7366000" y="819150"/>
            <a:ext cx="4445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Consolas"/>
              </a:rPr>
              <a:t>d(x,y) = √((x₁−y₁)² + (x₂−y₂)²)</a:t>
            </a:r>
          </a:p>
        </p:txBody>
      </p:sp>
      <p:sp>
        <p:nvSpPr>
          <p:cNvPr id="544" name="Step1Hdr"/>
          <p:cNvSpPr/>
          <p:nvPr/>
        </p:nvSpPr>
        <p:spPr>
          <a:xfrm>
            <a:off x="285750" y="27178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1 — compute distance from x* to every point</a:t>
            </a:r>
          </a:p>
        </p:txBody>
      </p:sp>
      <p:sp>
        <p:nvSpPr>
          <p:cNvPr id="545" name="CalcL"/>
          <p:cNvSpPr/>
          <p:nvPr/>
        </p:nvSpPr>
        <p:spPr>
          <a:xfrm>
            <a:off x="571500" y="30226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x₁) = √((5−1)² + (5−2)²) = √(16+9) = √25</a:t>
            </a:r>
          </a:p>
        </p:txBody>
      </p:sp>
      <p:sp>
        <p:nvSpPr>
          <p:cNvPr id="546" name="CalcV"/>
          <p:cNvSpPr/>
          <p:nvPr/>
        </p:nvSpPr>
        <p:spPr>
          <a:xfrm>
            <a:off x="4064000" y="30226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5.00</a:t>
            </a:r>
          </a:p>
        </p:txBody>
      </p:sp>
      <p:sp>
        <p:nvSpPr>
          <p:cNvPr id="547" name="CalcL"/>
          <p:cNvSpPr/>
          <p:nvPr/>
        </p:nvSpPr>
        <p:spPr>
          <a:xfrm>
            <a:off x="571500" y="33528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x₂) = √((5−2)² + (5−1)²) = √(9+16) = √25</a:t>
            </a:r>
          </a:p>
        </p:txBody>
      </p:sp>
      <p:sp>
        <p:nvSpPr>
          <p:cNvPr id="548" name="CalcV"/>
          <p:cNvSpPr/>
          <p:nvPr/>
        </p:nvSpPr>
        <p:spPr>
          <a:xfrm>
            <a:off x="4064000" y="33528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5.00</a:t>
            </a:r>
          </a:p>
        </p:txBody>
      </p:sp>
      <p:sp>
        <p:nvSpPr>
          <p:cNvPr id="549" name="CalcL"/>
          <p:cNvSpPr/>
          <p:nvPr/>
        </p:nvSpPr>
        <p:spPr>
          <a:xfrm>
            <a:off x="571500" y="36830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x₃) = √((5−4)² + (5−8)²) = √(1+9) = √10</a:t>
            </a:r>
          </a:p>
        </p:txBody>
      </p:sp>
      <p:sp>
        <p:nvSpPr>
          <p:cNvPr id="550" name="CalcV"/>
          <p:cNvSpPr/>
          <p:nvPr/>
        </p:nvSpPr>
        <p:spPr>
          <a:xfrm>
            <a:off x="4064000" y="36830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3.16</a:t>
            </a:r>
          </a:p>
        </p:txBody>
      </p:sp>
      <p:sp>
        <p:nvSpPr>
          <p:cNvPr id="551" name="Tag"/>
          <p:cNvSpPr/>
          <p:nvPr/>
        </p:nvSpPr>
        <p:spPr>
          <a:xfrm>
            <a:off x="4554880" y="365594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2nd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CalcL"/>
          <p:cNvSpPr/>
          <p:nvPr/>
        </p:nvSpPr>
        <p:spPr>
          <a:xfrm>
            <a:off x="571500" y="40132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x₄) = √((5−7)² + (5−5)²) = √(4+0) = √4</a:t>
            </a:r>
          </a:p>
        </p:txBody>
      </p:sp>
      <p:sp>
        <p:nvSpPr>
          <p:cNvPr id="553" name="CalcV"/>
          <p:cNvSpPr/>
          <p:nvPr/>
        </p:nvSpPr>
        <p:spPr>
          <a:xfrm>
            <a:off x="4064000" y="40132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2.00</a:t>
            </a:r>
          </a:p>
        </p:txBody>
      </p:sp>
      <p:sp>
        <p:nvSpPr>
          <p:cNvPr id="554" name="Tag"/>
          <p:cNvSpPr/>
          <p:nvPr/>
        </p:nvSpPr>
        <p:spPr>
          <a:xfrm>
            <a:off x="4554880" y="398614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1st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CalcL"/>
          <p:cNvSpPr/>
          <p:nvPr/>
        </p:nvSpPr>
        <p:spPr>
          <a:xfrm>
            <a:off x="571500" y="43434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x₅) = √((5−9)² + (5−9)²) = √(16+16) = √32</a:t>
            </a:r>
          </a:p>
        </p:txBody>
      </p:sp>
      <p:sp>
        <p:nvSpPr>
          <p:cNvPr id="556" name="CalcV"/>
          <p:cNvSpPr/>
          <p:nvPr/>
        </p:nvSpPr>
        <p:spPr>
          <a:xfrm>
            <a:off x="4064000" y="43434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5.66</a:t>
            </a:r>
          </a:p>
        </p:txBody>
      </p:sp>
      <p:sp>
        <p:nvSpPr>
          <p:cNvPr id="557" name="Tag"/>
          <p:cNvSpPr/>
          <p:nvPr/>
        </p:nvSpPr>
        <p:spPr>
          <a:xfrm>
            <a:off x="4554880" y="431634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tied 3rd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tep2Hdr"/>
          <p:cNvSpPr/>
          <p:nvPr/>
        </p:nvSpPr>
        <p:spPr>
          <a:xfrm>
            <a:off x="7984988" y="2717800"/>
            <a:ext cx="3848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2 — 3-NN majority vote</a:t>
            </a:r>
          </a:p>
        </p:txBody>
      </p:sp>
      <p:sp>
        <p:nvSpPr>
          <p:cNvPr id="559" name="VoteBox"/>
          <p:cNvSpPr/>
          <p:nvPr/>
        </p:nvSpPr>
        <p:spPr>
          <a:xfrm>
            <a:off x="7984988" y="3022600"/>
            <a:ext cx="3848100" cy="1168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8111988" y="31242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1st: x₄=(7,5)·B  at 2.00      2nd: x₃=(4,8)·B  at 3.16</a:t>
            </a:r>
          </a:p>
        </p:txBody>
      </p:sp>
      <p:sp>
        <p:nvSpPr>
          <p:cNvPr id="561" name="VoteLine2"/>
          <p:cNvSpPr/>
          <p:nvPr/>
        </p:nvSpPr>
        <p:spPr>
          <a:xfrm>
            <a:off x="8111988" y="34798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3rd: x₁=(1,2)·A  at 5.00  (tied with x₂; break by index)</a:t>
            </a:r>
          </a:p>
        </p:txBody>
      </p:sp>
      <p:sp>
        <p:nvSpPr>
          <p:cNvPr id="562" name="VoteLine3"/>
          <p:cNvSpPr/>
          <p:nvPr/>
        </p:nvSpPr>
        <p:spPr>
          <a:xfrm>
            <a:off x="8111988" y="38354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Arial"/>
              </a:rPr>
              <a:t>Vote → B (2 of 3)</a:t>
            </a:r>
          </a:p>
        </p:txBody>
      </p:sp>
      <p:sp>
        <p:nvSpPr>
          <p:cNvPr id="563" name="RatHdr"/>
          <p:cNvSpPr/>
          <p:nvPr/>
        </p:nvSpPr>
        <p:spPr>
          <a:xfrm>
            <a:off x="285750" y="49784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 diagnostic — ratio of farthest to nearest neighbor</a:t>
            </a:r>
          </a:p>
        </p:txBody>
      </p:sp>
      <p:sp>
        <p:nvSpPr>
          <p:cNvPr id="564" name="RatBox"/>
          <p:cNvSpPr/>
          <p:nvPr/>
        </p:nvSpPr>
        <p:spPr>
          <a:xfrm>
            <a:off x="285750" y="5207000"/>
            <a:ext cx="11547338" cy="7112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476250" y="53086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max distance = 5.66       min distance = 2.00</a:t>
            </a:r>
          </a:p>
        </p:txBody>
      </p:sp>
      <p:sp>
        <p:nvSpPr>
          <p:cNvPr id="566" name="R2"/>
          <p:cNvSpPr/>
          <p:nvPr/>
        </p:nvSpPr>
        <p:spPr>
          <a:xfrm>
            <a:off x="476250" y="55880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ratio = 5.66 / 2.00 = 2.83×  (still useful — nearest is clearly closer than farthest)</a:t>
            </a:r>
          </a:p>
        </p:txBody>
      </p:sp>
      <p:sp>
        <p:nvSpPr>
          <p:cNvPr id="567" name="TkBar"/>
          <p:cNvSpPr/>
          <p:nvPr/>
        </p:nvSpPr>
        <p:spPr>
          <a:xfrm>
            <a:off x="285749" y="6026428"/>
            <a:ext cx="11547337" cy="33655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In d=2, distances still discriminate well: the nearest neighbor is 2.83× closer than the farthest. KNN's similarity signal is intact.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BC27DA-2A44-7043-A5B9-C7A35FAE90B8}"/>
              </a:ext>
            </a:extLst>
          </p:cNvPr>
          <p:cNvSpPr txBox="1"/>
          <p:nvPr/>
        </p:nvSpPr>
        <p:spPr>
          <a:xfrm>
            <a:off x="279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3E022-6634-2C46-8401-981D18043FDA}"/>
              </a:ext>
            </a:extLst>
          </p:cNvPr>
          <p:cNvSpPr txBox="1"/>
          <p:nvPr/>
        </p:nvSpPr>
        <p:spPr>
          <a:xfrm>
            <a:off x="203200" y="241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FDA62-9FAE-3B49-8AE3-54638A8E9663}"/>
              </a:ext>
            </a:extLst>
          </p:cNvPr>
          <p:cNvSpPr txBox="1"/>
          <p:nvPr/>
        </p:nvSpPr>
        <p:spPr>
          <a:xfrm>
            <a:off x="1676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DFE7B-FAC6-6A4E-A880-9E35219760BC}"/>
              </a:ext>
            </a:extLst>
          </p:cNvPr>
          <p:cNvSpPr txBox="1"/>
          <p:nvPr/>
        </p:nvSpPr>
        <p:spPr>
          <a:xfrm>
            <a:off x="203200" y="1778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DA4D4-BEBA-3046-AA36-9AE2F825972B}"/>
              </a:ext>
            </a:extLst>
          </p:cNvPr>
          <p:cNvSpPr txBox="1"/>
          <p:nvPr/>
        </p:nvSpPr>
        <p:spPr>
          <a:xfrm>
            <a:off x="3073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C60EC-07A5-6E4F-B68F-E0E6E93FDBA7}"/>
              </a:ext>
            </a:extLst>
          </p:cNvPr>
          <p:cNvSpPr txBox="1"/>
          <p:nvPr/>
        </p:nvSpPr>
        <p:spPr>
          <a:xfrm>
            <a:off x="203200" y="114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81DBC5-71DD-A540-8897-F0BC36E540D0}"/>
              </a:ext>
            </a:extLst>
          </p:cNvPr>
          <p:cNvSpPr txBox="1"/>
          <p:nvPr/>
        </p:nvSpPr>
        <p:spPr>
          <a:xfrm>
            <a:off x="1676400" y="26289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8A23C-30E8-784A-A406-5E6FEA01D1A8}"/>
              </a:ext>
            </a:extLst>
          </p:cNvPr>
          <p:cNvSpPr txBox="1"/>
          <p:nvPr/>
        </p:nvSpPr>
        <p:spPr>
          <a:xfrm>
            <a:off x="101600" y="1765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19" name="PlotBox">
            <a:extLst>
              <a:ext uri="{FF2B5EF4-FFF2-40B4-BE49-F238E27FC236}">
                <a16:creationId xmlns:a16="http://schemas.microsoft.com/office/drawing/2014/main" id="{88B08BC7-5E57-AA46-A5ED-BAF991BE5653}"/>
              </a:ext>
            </a:extLst>
          </p:cNvPr>
          <p:cNvSpPr/>
          <p:nvPr/>
        </p:nvSpPr>
        <p:spPr>
          <a:xfrm>
            <a:off x="381000" y="1206500"/>
            <a:ext cx="2794000" cy="12700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Gv">
            <a:extLst>
              <a:ext uri="{FF2B5EF4-FFF2-40B4-BE49-F238E27FC236}">
                <a16:creationId xmlns:a16="http://schemas.microsoft.com/office/drawing/2014/main" id="{1CCEEDDF-5D7B-3642-9444-C5DFF40CBF8E}"/>
              </a:ext>
            </a:extLst>
          </p:cNvPr>
          <p:cNvSpPr/>
          <p:nvPr/>
        </p:nvSpPr>
        <p:spPr>
          <a:xfrm>
            <a:off x="10795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Gh">
            <a:extLst>
              <a:ext uri="{FF2B5EF4-FFF2-40B4-BE49-F238E27FC236}">
                <a16:creationId xmlns:a16="http://schemas.microsoft.com/office/drawing/2014/main" id="{45C90424-6A00-1C4C-AB3D-C65B5B237B81}"/>
              </a:ext>
            </a:extLst>
          </p:cNvPr>
          <p:cNvSpPr/>
          <p:nvPr/>
        </p:nvSpPr>
        <p:spPr>
          <a:xfrm>
            <a:off x="381000" y="21590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Gv">
            <a:extLst>
              <a:ext uri="{FF2B5EF4-FFF2-40B4-BE49-F238E27FC236}">
                <a16:creationId xmlns:a16="http://schemas.microsoft.com/office/drawing/2014/main" id="{FD532913-4B8A-374A-A770-7DD6B6C4792D}"/>
              </a:ext>
            </a:extLst>
          </p:cNvPr>
          <p:cNvSpPr/>
          <p:nvPr/>
        </p:nvSpPr>
        <p:spPr>
          <a:xfrm>
            <a:off x="17780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Gh">
            <a:extLst>
              <a:ext uri="{FF2B5EF4-FFF2-40B4-BE49-F238E27FC236}">
                <a16:creationId xmlns:a16="http://schemas.microsoft.com/office/drawing/2014/main" id="{8C24F012-34C0-4442-A70A-A1C55ADF8089}"/>
              </a:ext>
            </a:extLst>
          </p:cNvPr>
          <p:cNvSpPr/>
          <p:nvPr/>
        </p:nvSpPr>
        <p:spPr>
          <a:xfrm>
            <a:off x="381000" y="18415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Gv">
            <a:extLst>
              <a:ext uri="{FF2B5EF4-FFF2-40B4-BE49-F238E27FC236}">
                <a16:creationId xmlns:a16="http://schemas.microsoft.com/office/drawing/2014/main" id="{C5923017-E320-BE4A-AFE3-60719129ED5A}"/>
              </a:ext>
            </a:extLst>
          </p:cNvPr>
          <p:cNvSpPr/>
          <p:nvPr/>
        </p:nvSpPr>
        <p:spPr>
          <a:xfrm>
            <a:off x="24765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Gh">
            <a:extLst>
              <a:ext uri="{FF2B5EF4-FFF2-40B4-BE49-F238E27FC236}">
                <a16:creationId xmlns:a16="http://schemas.microsoft.com/office/drawing/2014/main" id="{CDD963FC-D62B-C845-8CDD-E18764864350}"/>
              </a:ext>
            </a:extLst>
          </p:cNvPr>
          <p:cNvSpPr/>
          <p:nvPr/>
        </p:nvSpPr>
        <p:spPr>
          <a:xfrm>
            <a:off x="381000" y="15240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AxX">
            <a:extLst>
              <a:ext uri="{FF2B5EF4-FFF2-40B4-BE49-F238E27FC236}">
                <a16:creationId xmlns:a16="http://schemas.microsoft.com/office/drawing/2014/main" id="{0E953B13-B1EC-6349-A915-7529B1ED3ECB}"/>
              </a:ext>
            </a:extLst>
          </p:cNvPr>
          <p:cNvSpPr/>
          <p:nvPr/>
        </p:nvSpPr>
        <p:spPr>
          <a:xfrm>
            <a:off x="381000" y="2476500"/>
            <a:ext cx="27940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AxY">
            <a:extLst>
              <a:ext uri="{FF2B5EF4-FFF2-40B4-BE49-F238E27FC236}">
                <a16:creationId xmlns:a16="http://schemas.microsoft.com/office/drawing/2014/main" id="{6C905D4C-E461-EA4C-8C07-E868922EFDAC}"/>
              </a:ext>
            </a:extLst>
          </p:cNvPr>
          <p:cNvSpPr/>
          <p:nvPr/>
        </p:nvSpPr>
        <p:spPr>
          <a:xfrm>
            <a:off x="381000" y="1206500"/>
            <a:ext cx="12700" cy="12700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Lbl">
            <a:extLst>
              <a:ext uri="{FF2B5EF4-FFF2-40B4-BE49-F238E27FC236}">
                <a16:creationId xmlns:a16="http://schemas.microsoft.com/office/drawing/2014/main" id="{CBE59B16-3B26-9646-B04B-F8F633BEB3F3}"/>
              </a:ext>
            </a:extLst>
          </p:cNvPr>
          <p:cNvSpPr txBox="1"/>
          <p:nvPr/>
        </p:nvSpPr>
        <p:spPr>
          <a:xfrm>
            <a:off x="279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29" name="TLbl">
            <a:extLst>
              <a:ext uri="{FF2B5EF4-FFF2-40B4-BE49-F238E27FC236}">
                <a16:creationId xmlns:a16="http://schemas.microsoft.com/office/drawing/2014/main" id="{41C29D46-E2A0-8C4A-9449-56E74ABCD26E}"/>
              </a:ext>
            </a:extLst>
          </p:cNvPr>
          <p:cNvSpPr txBox="1"/>
          <p:nvPr/>
        </p:nvSpPr>
        <p:spPr>
          <a:xfrm>
            <a:off x="203200" y="241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30" name="TLbl">
            <a:extLst>
              <a:ext uri="{FF2B5EF4-FFF2-40B4-BE49-F238E27FC236}">
                <a16:creationId xmlns:a16="http://schemas.microsoft.com/office/drawing/2014/main" id="{0B2ACC9E-8F01-EF4C-9FFC-CB66CEC097B3}"/>
              </a:ext>
            </a:extLst>
          </p:cNvPr>
          <p:cNvSpPr txBox="1"/>
          <p:nvPr/>
        </p:nvSpPr>
        <p:spPr>
          <a:xfrm>
            <a:off x="1676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1" name="TLbl">
            <a:extLst>
              <a:ext uri="{FF2B5EF4-FFF2-40B4-BE49-F238E27FC236}">
                <a16:creationId xmlns:a16="http://schemas.microsoft.com/office/drawing/2014/main" id="{80A70DD9-1F80-274C-BBAA-F19FD7E37CE5}"/>
              </a:ext>
            </a:extLst>
          </p:cNvPr>
          <p:cNvSpPr txBox="1"/>
          <p:nvPr/>
        </p:nvSpPr>
        <p:spPr>
          <a:xfrm>
            <a:off x="203200" y="1778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2" name="TLbl">
            <a:extLst>
              <a:ext uri="{FF2B5EF4-FFF2-40B4-BE49-F238E27FC236}">
                <a16:creationId xmlns:a16="http://schemas.microsoft.com/office/drawing/2014/main" id="{7A0B2E2C-A84D-8647-B717-E535EC373904}"/>
              </a:ext>
            </a:extLst>
          </p:cNvPr>
          <p:cNvSpPr txBox="1"/>
          <p:nvPr/>
        </p:nvSpPr>
        <p:spPr>
          <a:xfrm>
            <a:off x="3073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3" name="TLbl">
            <a:extLst>
              <a:ext uri="{FF2B5EF4-FFF2-40B4-BE49-F238E27FC236}">
                <a16:creationId xmlns:a16="http://schemas.microsoft.com/office/drawing/2014/main" id="{D8EED82B-995D-7A4E-8E43-7B2F60827402}"/>
              </a:ext>
            </a:extLst>
          </p:cNvPr>
          <p:cNvSpPr txBox="1"/>
          <p:nvPr/>
        </p:nvSpPr>
        <p:spPr>
          <a:xfrm>
            <a:off x="203200" y="114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4" name="TLbl">
            <a:extLst>
              <a:ext uri="{FF2B5EF4-FFF2-40B4-BE49-F238E27FC236}">
                <a16:creationId xmlns:a16="http://schemas.microsoft.com/office/drawing/2014/main" id="{A1A74255-BBE7-264B-9FF8-7DD9C55E371A}"/>
              </a:ext>
            </a:extLst>
          </p:cNvPr>
          <p:cNvSpPr txBox="1"/>
          <p:nvPr/>
        </p:nvSpPr>
        <p:spPr>
          <a:xfrm>
            <a:off x="1651000" y="2438400"/>
            <a:ext cx="203200" cy="101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36" name="NN">
            <a:extLst>
              <a:ext uri="{FF2B5EF4-FFF2-40B4-BE49-F238E27FC236}">
                <a16:creationId xmlns:a16="http://schemas.microsoft.com/office/drawing/2014/main" id="{099FF529-746C-824A-8BC4-AA6F21D38C1E}"/>
              </a:ext>
            </a:extLst>
          </p:cNvPr>
          <p:cNvSpPr/>
          <p:nvPr/>
        </p:nvSpPr>
        <p:spPr>
          <a:xfrm>
            <a:off x="1778000" y="1828800"/>
            <a:ext cx="558800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NN">
            <a:extLst>
              <a:ext uri="{FF2B5EF4-FFF2-40B4-BE49-F238E27FC236}">
                <a16:creationId xmlns:a16="http://schemas.microsoft.com/office/drawing/2014/main" id="{678BB06E-B775-4E4A-B70A-913860D48B37}"/>
              </a:ext>
            </a:extLst>
          </p:cNvPr>
          <p:cNvSpPr/>
          <p:nvPr/>
        </p:nvSpPr>
        <p:spPr>
          <a:xfrm rot="-7575230">
            <a:off x="1402066" y="1638300"/>
            <a:ext cx="472467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NN">
            <a:extLst>
              <a:ext uri="{FF2B5EF4-FFF2-40B4-BE49-F238E27FC236}">
                <a16:creationId xmlns:a16="http://schemas.microsoft.com/office/drawing/2014/main" id="{AC598229-7B52-BC4D-B66B-8721C3644361}"/>
              </a:ext>
            </a:extLst>
          </p:cNvPr>
          <p:cNvSpPr/>
          <p:nvPr/>
        </p:nvSpPr>
        <p:spPr>
          <a:xfrm rot="9670517">
            <a:off x="628820" y="2019300"/>
            <a:ext cx="1180758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Lbl">
            <a:extLst>
              <a:ext uri="{FF2B5EF4-FFF2-40B4-BE49-F238E27FC236}">
                <a16:creationId xmlns:a16="http://schemas.microsoft.com/office/drawing/2014/main" id="{BAD66D91-FC7B-C644-BCB3-EE803B14D505}"/>
              </a:ext>
            </a:extLst>
          </p:cNvPr>
          <p:cNvSpPr txBox="1"/>
          <p:nvPr/>
        </p:nvSpPr>
        <p:spPr>
          <a:xfrm>
            <a:off x="228600" y="1079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39" name="TPt">
            <a:extLst>
              <a:ext uri="{FF2B5EF4-FFF2-40B4-BE49-F238E27FC236}">
                <a16:creationId xmlns:a16="http://schemas.microsoft.com/office/drawing/2014/main" id="{0ABC952F-844B-4C46-8850-003238C75303}"/>
              </a:ext>
            </a:extLst>
          </p:cNvPr>
          <p:cNvSpPr/>
          <p:nvPr/>
        </p:nvSpPr>
        <p:spPr>
          <a:xfrm>
            <a:off x="584200" y="2146300"/>
            <a:ext cx="152400" cy="1524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Lbl">
            <a:extLst>
              <a:ext uri="{FF2B5EF4-FFF2-40B4-BE49-F238E27FC236}">
                <a16:creationId xmlns:a16="http://schemas.microsoft.com/office/drawing/2014/main" id="{C5B5618A-D248-834B-91B1-B15A0B04BDF0}"/>
              </a:ext>
            </a:extLst>
          </p:cNvPr>
          <p:cNvSpPr txBox="1"/>
          <p:nvPr/>
        </p:nvSpPr>
        <p:spPr>
          <a:xfrm>
            <a:off x="1651000" y="2438400"/>
            <a:ext cx="203200" cy="101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00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41" name="TPt">
            <a:extLst>
              <a:ext uri="{FF2B5EF4-FFF2-40B4-BE49-F238E27FC236}">
                <a16:creationId xmlns:a16="http://schemas.microsoft.com/office/drawing/2014/main" id="{8BB3143A-6644-3546-A014-54E464224AF6}"/>
              </a:ext>
            </a:extLst>
          </p:cNvPr>
          <p:cNvSpPr/>
          <p:nvPr/>
        </p:nvSpPr>
        <p:spPr>
          <a:xfrm>
            <a:off x="863600" y="2273300"/>
            <a:ext cx="152400" cy="1524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Lbl">
            <a:extLst>
              <a:ext uri="{FF2B5EF4-FFF2-40B4-BE49-F238E27FC236}">
                <a16:creationId xmlns:a16="http://schemas.microsoft.com/office/drawing/2014/main" id="{0C12F9AF-6425-6A4E-AEB3-4FC9A3566D51}"/>
              </a:ext>
            </a:extLst>
          </p:cNvPr>
          <p:cNvSpPr txBox="1"/>
          <p:nvPr/>
        </p:nvSpPr>
        <p:spPr>
          <a:xfrm>
            <a:off x="228600" y="1079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43" name="TPt">
            <a:extLst>
              <a:ext uri="{FF2B5EF4-FFF2-40B4-BE49-F238E27FC236}">
                <a16:creationId xmlns:a16="http://schemas.microsoft.com/office/drawing/2014/main" id="{D6EB00FC-0DD7-4747-AD11-3712ABE0C4AE}"/>
              </a:ext>
            </a:extLst>
          </p:cNvPr>
          <p:cNvSpPr/>
          <p:nvPr/>
        </p:nvSpPr>
        <p:spPr>
          <a:xfrm>
            <a:off x="1422400" y="1384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Lbl">
            <a:extLst>
              <a:ext uri="{FF2B5EF4-FFF2-40B4-BE49-F238E27FC236}">
                <a16:creationId xmlns:a16="http://schemas.microsoft.com/office/drawing/2014/main" id="{4624C2ED-8143-FA4D-9AB0-4404F365C439}"/>
              </a:ext>
            </a:extLst>
          </p:cNvPr>
          <p:cNvSpPr txBox="1"/>
          <p:nvPr/>
        </p:nvSpPr>
        <p:spPr>
          <a:xfrm>
            <a:off x="1600200" y="1358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x₃</a:t>
            </a:r>
          </a:p>
        </p:txBody>
      </p:sp>
      <p:sp>
        <p:nvSpPr>
          <p:cNvPr id="45" name="TPt">
            <a:extLst>
              <a:ext uri="{FF2B5EF4-FFF2-40B4-BE49-F238E27FC236}">
                <a16:creationId xmlns:a16="http://schemas.microsoft.com/office/drawing/2014/main" id="{7E744250-9AC6-5A42-AA63-E94C1739AD9E}"/>
              </a:ext>
            </a:extLst>
          </p:cNvPr>
          <p:cNvSpPr/>
          <p:nvPr/>
        </p:nvSpPr>
        <p:spPr>
          <a:xfrm>
            <a:off x="2260600" y="1765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Lbl">
            <a:extLst>
              <a:ext uri="{FF2B5EF4-FFF2-40B4-BE49-F238E27FC236}">
                <a16:creationId xmlns:a16="http://schemas.microsoft.com/office/drawing/2014/main" id="{D3358B9C-915C-7C43-A8DB-A9FBFC5855A9}"/>
              </a:ext>
            </a:extLst>
          </p:cNvPr>
          <p:cNvSpPr txBox="1"/>
          <p:nvPr/>
        </p:nvSpPr>
        <p:spPr>
          <a:xfrm>
            <a:off x="2438400" y="1739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x₄</a:t>
            </a:r>
          </a:p>
        </p:txBody>
      </p:sp>
      <p:sp>
        <p:nvSpPr>
          <p:cNvPr id="47" name="TPt">
            <a:extLst>
              <a:ext uri="{FF2B5EF4-FFF2-40B4-BE49-F238E27FC236}">
                <a16:creationId xmlns:a16="http://schemas.microsoft.com/office/drawing/2014/main" id="{38E5136C-CACD-E545-9B82-3C4617D0E212}"/>
              </a:ext>
            </a:extLst>
          </p:cNvPr>
          <p:cNvSpPr/>
          <p:nvPr/>
        </p:nvSpPr>
        <p:spPr>
          <a:xfrm>
            <a:off x="2819400" y="1257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Lbl">
            <a:extLst>
              <a:ext uri="{FF2B5EF4-FFF2-40B4-BE49-F238E27FC236}">
                <a16:creationId xmlns:a16="http://schemas.microsoft.com/office/drawing/2014/main" id="{72CB8294-1FEC-A148-A528-E534F9C62815}"/>
              </a:ext>
            </a:extLst>
          </p:cNvPr>
          <p:cNvSpPr txBox="1"/>
          <p:nvPr/>
        </p:nvSpPr>
        <p:spPr>
          <a:xfrm>
            <a:off x="2997200" y="1231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x₅</a:t>
            </a:r>
          </a:p>
        </p:txBody>
      </p:sp>
      <p:sp>
        <p:nvSpPr>
          <p:cNvPr id="49" name="QPt">
            <a:extLst>
              <a:ext uri="{FF2B5EF4-FFF2-40B4-BE49-F238E27FC236}">
                <a16:creationId xmlns:a16="http://schemas.microsoft.com/office/drawing/2014/main" id="{C0D6C787-9ACF-FC44-B853-D404C5419364}"/>
              </a:ext>
            </a:extLst>
          </p:cNvPr>
          <p:cNvSpPr/>
          <p:nvPr/>
        </p:nvSpPr>
        <p:spPr>
          <a:xfrm>
            <a:off x="1676400" y="1739900"/>
            <a:ext cx="203200" cy="203200"/>
          </a:xfrm>
          <a:prstGeom prst="diamond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Lbl">
            <a:extLst>
              <a:ext uri="{FF2B5EF4-FFF2-40B4-BE49-F238E27FC236}">
                <a16:creationId xmlns:a16="http://schemas.microsoft.com/office/drawing/2014/main" id="{A456C6FE-E20E-BE4D-BB8B-64040CCFEE12}"/>
              </a:ext>
            </a:extLst>
          </p:cNvPr>
          <p:cNvSpPr txBox="1"/>
          <p:nvPr/>
        </p:nvSpPr>
        <p:spPr>
          <a:xfrm>
            <a:off x="1905000" y="1765300"/>
            <a:ext cx="6350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4B2E83"/>
                </a:solidFill>
              </a:rPr>
              <a:t>x*</a:t>
            </a:r>
          </a:p>
        </p:txBody>
      </p:sp>
      <p:sp>
        <p:nvSpPr>
          <p:cNvPr id="51" name="LgDot">
            <a:extLst>
              <a:ext uri="{FF2B5EF4-FFF2-40B4-BE49-F238E27FC236}">
                <a16:creationId xmlns:a16="http://schemas.microsoft.com/office/drawing/2014/main" id="{410A1CAC-6BFA-2840-86CF-4B78807B740C}"/>
              </a:ext>
            </a:extLst>
          </p:cNvPr>
          <p:cNvSpPr/>
          <p:nvPr/>
        </p:nvSpPr>
        <p:spPr>
          <a:xfrm>
            <a:off x="3429000" y="1295400"/>
            <a:ext cx="127000" cy="127000"/>
          </a:xfrm>
          <a:prstGeom prst="ellipse">
            <a:avLst/>
          </a:prstGeom>
          <a:solidFill>
            <a:srgbClr val="B7A57A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Lbl">
            <a:extLst>
              <a:ext uri="{FF2B5EF4-FFF2-40B4-BE49-F238E27FC236}">
                <a16:creationId xmlns:a16="http://schemas.microsoft.com/office/drawing/2014/main" id="{B296086D-23D7-E341-8092-4F0CB6A9A8A7}"/>
              </a:ext>
            </a:extLst>
          </p:cNvPr>
          <p:cNvSpPr txBox="1"/>
          <p:nvPr/>
        </p:nvSpPr>
        <p:spPr>
          <a:xfrm>
            <a:off x="3657600" y="12954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Class A</a:t>
            </a:r>
          </a:p>
        </p:txBody>
      </p:sp>
      <p:sp>
        <p:nvSpPr>
          <p:cNvPr id="53" name="LgDot">
            <a:extLst>
              <a:ext uri="{FF2B5EF4-FFF2-40B4-BE49-F238E27FC236}">
                <a16:creationId xmlns:a16="http://schemas.microsoft.com/office/drawing/2014/main" id="{DA324B21-3534-8249-8E00-B623386A51FD}"/>
              </a:ext>
            </a:extLst>
          </p:cNvPr>
          <p:cNvSpPr/>
          <p:nvPr/>
        </p:nvSpPr>
        <p:spPr>
          <a:xfrm>
            <a:off x="3429000" y="1524000"/>
            <a:ext cx="127000" cy="1270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Lbl">
            <a:extLst>
              <a:ext uri="{FF2B5EF4-FFF2-40B4-BE49-F238E27FC236}">
                <a16:creationId xmlns:a16="http://schemas.microsoft.com/office/drawing/2014/main" id="{4D7CB4F1-546E-EE4A-AEB4-51CF2F7F7B57}"/>
              </a:ext>
            </a:extLst>
          </p:cNvPr>
          <p:cNvSpPr txBox="1"/>
          <p:nvPr/>
        </p:nvSpPr>
        <p:spPr>
          <a:xfrm>
            <a:off x="3657600" y="15240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Class B</a:t>
            </a:r>
          </a:p>
        </p:txBody>
      </p:sp>
      <p:sp>
        <p:nvSpPr>
          <p:cNvPr id="55" name="LgDiam">
            <a:extLst>
              <a:ext uri="{FF2B5EF4-FFF2-40B4-BE49-F238E27FC236}">
                <a16:creationId xmlns:a16="http://schemas.microsoft.com/office/drawing/2014/main" id="{7325507D-D264-BF49-8A27-7B079230BD22}"/>
              </a:ext>
            </a:extLst>
          </p:cNvPr>
          <p:cNvSpPr/>
          <p:nvPr/>
        </p:nvSpPr>
        <p:spPr>
          <a:xfrm>
            <a:off x="3429000" y="1739900"/>
            <a:ext cx="139700" cy="139700"/>
          </a:xfrm>
          <a:prstGeom prst="diamond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Lbl">
            <a:extLst>
              <a:ext uri="{FF2B5EF4-FFF2-40B4-BE49-F238E27FC236}">
                <a16:creationId xmlns:a16="http://schemas.microsoft.com/office/drawing/2014/main" id="{E6AC8449-04F3-1742-9912-B0708622F10E}"/>
              </a:ext>
            </a:extLst>
          </p:cNvPr>
          <p:cNvSpPr txBox="1"/>
          <p:nvPr/>
        </p:nvSpPr>
        <p:spPr>
          <a:xfrm>
            <a:off x="3657600" y="17526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Query x*=(5,5)</a:t>
            </a:r>
          </a:p>
        </p:txBody>
      </p:sp>
      <p:sp>
        <p:nvSpPr>
          <p:cNvPr id="57" name="LgLine">
            <a:extLst>
              <a:ext uri="{FF2B5EF4-FFF2-40B4-BE49-F238E27FC236}">
                <a16:creationId xmlns:a16="http://schemas.microsoft.com/office/drawing/2014/main" id="{83AE7ECD-F641-B74C-AD9C-EA7C56EE7F7A}"/>
              </a:ext>
            </a:extLst>
          </p:cNvPr>
          <p:cNvSpPr/>
          <p:nvPr/>
        </p:nvSpPr>
        <p:spPr>
          <a:xfrm>
            <a:off x="3429000" y="2032000"/>
            <a:ext cx="177800" cy="1905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Lbl">
            <a:extLst>
              <a:ext uri="{FF2B5EF4-FFF2-40B4-BE49-F238E27FC236}">
                <a16:creationId xmlns:a16="http://schemas.microsoft.com/office/drawing/2014/main" id="{093AFB24-B03E-1445-BEBB-C9759E200717}"/>
              </a:ext>
            </a:extLst>
          </p:cNvPr>
          <p:cNvSpPr txBox="1"/>
          <p:nvPr/>
        </p:nvSpPr>
        <p:spPr>
          <a:xfrm>
            <a:off x="3657600" y="19812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3 nearest neighbors</a:t>
            </a:r>
          </a:p>
        </p:txBody>
      </p:sp>
      <p:sp>
        <p:nvSpPr>
          <p:cNvPr id="59" name="VizCap">
            <a:extLst>
              <a:ext uri="{FF2B5EF4-FFF2-40B4-BE49-F238E27FC236}">
                <a16:creationId xmlns:a16="http://schemas.microsoft.com/office/drawing/2014/main" id="{6FF30B41-2193-EE40-8BDA-E09ED3D37205}"/>
              </a:ext>
            </a:extLst>
          </p:cNvPr>
          <p:cNvSpPr txBox="1"/>
          <p:nvPr/>
        </p:nvSpPr>
        <p:spPr>
          <a:xfrm>
            <a:off x="5207000" y="1206500"/>
            <a:ext cx="36195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33333"/>
                </a:solidFill>
              </a:rPr>
              <a:t>Points spread out in a plane. The 3 nearest to x*=(5,5):
• x₄=(7,5) class B — distance 2.00
• x₃=(4,8) class B — distance 3.16
• x₁=(1,2) class A — distance 5.00
Majority vote → B (2 of 3). Signal still strong.</a:t>
            </a:r>
          </a:p>
        </p:txBody>
      </p:sp>
    </p:spTree>
    <p:extLst>
      <p:ext uri="{BB962C8B-B14F-4D97-AF65-F5344CB8AC3E}">
        <p14:creationId xmlns:p14="http://schemas.microsoft.com/office/powerpoint/2010/main" val="3187301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otBox">
            <a:extLst>
              <a:ext uri="{FF2B5EF4-FFF2-40B4-BE49-F238E27FC236}">
                <a16:creationId xmlns:a16="http://schemas.microsoft.com/office/drawing/2014/main" id="{88B08BC7-5E57-AA46-A5ED-BAF991BE5653}"/>
              </a:ext>
            </a:extLst>
          </p:cNvPr>
          <p:cNvSpPr/>
          <p:nvPr/>
        </p:nvSpPr>
        <p:spPr>
          <a:xfrm>
            <a:off x="1313872" y="835662"/>
            <a:ext cx="9652000" cy="5206999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0" name="Gv">
            <a:extLst>
              <a:ext uri="{FF2B5EF4-FFF2-40B4-BE49-F238E27FC236}">
                <a16:creationId xmlns:a16="http://schemas.microsoft.com/office/drawing/2014/main" id="{1CCEEDDF-5D7B-3642-9444-C5DFF40CBF8E}"/>
              </a:ext>
            </a:extLst>
          </p:cNvPr>
          <p:cNvSpPr/>
          <p:nvPr/>
        </p:nvSpPr>
        <p:spPr>
          <a:xfrm>
            <a:off x="3683000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Gh">
            <a:extLst>
              <a:ext uri="{FF2B5EF4-FFF2-40B4-BE49-F238E27FC236}">
                <a16:creationId xmlns:a16="http://schemas.microsoft.com/office/drawing/2014/main" id="{45C90424-6A00-1C4C-AB3D-C65B5B237B81}"/>
              </a:ext>
            </a:extLst>
          </p:cNvPr>
          <p:cNvSpPr/>
          <p:nvPr/>
        </p:nvSpPr>
        <p:spPr>
          <a:xfrm>
            <a:off x="1270000" y="473075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Gv">
            <a:extLst>
              <a:ext uri="{FF2B5EF4-FFF2-40B4-BE49-F238E27FC236}">
                <a16:creationId xmlns:a16="http://schemas.microsoft.com/office/drawing/2014/main" id="{FD532913-4B8A-374A-A770-7DD6B6C4792D}"/>
              </a:ext>
            </a:extLst>
          </p:cNvPr>
          <p:cNvSpPr/>
          <p:nvPr/>
        </p:nvSpPr>
        <p:spPr>
          <a:xfrm>
            <a:off x="6095999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Gh">
            <a:extLst>
              <a:ext uri="{FF2B5EF4-FFF2-40B4-BE49-F238E27FC236}">
                <a16:creationId xmlns:a16="http://schemas.microsoft.com/office/drawing/2014/main" id="{8C24F012-34C0-4442-A70A-A1C55ADF8089}"/>
              </a:ext>
            </a:extLst>
          </p:cNvPr>
          <p:cNvSpPr/>
          <p:nvPr/>
        </p:nvSpPr>
        <p:spPr>
          <a:xfrm>
            <a:off x="1270000" y="342900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Gv">
            <a:extLst>
              <a:ext uri="{FF2B5EF4-FFF2-40B4-BE49-F238E27FC236}">
                <a16:creationId xmlns:a16="http://schemas.microsoft.com/office/drawing/2014/main" id="{C5923017-E320-BE4A-AFE3-60719129ED5A}"/>
              </a:ext>
            </a:extLst>
          </p:cNvPr>
          <p:cNvSpPr/>
          <p:nvPr/>
        </p:nvSpPr>
        <p:spPr>
          <a:xfrm>
            <a:off x="8509000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Gh">
            <a:extLst>
              <a:ext uri="{FF2B5EF4-FFF2-40B4-BE49-F238E27FC236}">
                <a16:creationId xmlns:a16="http://schemas.microsoft.com/office/drawing/2014/main" id="{CDD963FC-D62B-C845-8CDD-E18764864350}"/>
              </a:ext>
            </a:extLst>
          </p:cNvPr>
          <p:cNvSpPr/>
          <p:nvPr/>
        </p:nvSpPr>
        <p:spPr>
          <a:xfrm>
            <a:off x="1270000" y="212725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AxX">
            <a:extLst>
              <a:ext uri="{FF2B5EF4-FFF2-40B4-BE49-F238E27FC236}">
                <a16:creationId xmlns:a16="http://schemas.microsoft.com/office/drawing/2014/main" id="{0E953B13-B1EC-6349-A915-7529B1ED3ECB}"/>
              </a:ext>
            </a:extLst>
          </p:cNvPr>
          <p:cNvSpPr/>
          <p:nvPr/>
        </p:nvSpPr>
        <p:spPr>
          <a:xfrm>
            <a:off x="1270000" y="6032499"/>
            <a:ext cx="9652000" cy="52069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AxY">
            <a:extLst>
              <a:ext uri="{FF2B5EF4-FFF2-40B4-BE49-F238E27FC236}">
                <a16:creationId xmlns:a16="http://schemas.microsoft.com/office/drawing/2014/main" id="{6C905D4C-E461-EA4C-8C07-E868922EFDAC}"/>
              </a:ext>
            </a:extLst>
          </p:cNvPr>
          <p:cNvSpPr/>
          <p:nvPr/>
        </p:nvSpPr>
        <p:spPr>
          <a:xfrm>
            <a:off x="1270000" y="825500"/>
            <a:ext cx="43872" cy="5206999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Lbl">
            <a:extLst>
              <a:ext uri="{FF2B5EF4-FFF2-40B4-BE49-F238E27FC236}">
                <a16:creationId xmlns:a16="http://schemas.microsoft.com/office/drawing/2014/main" id="{CBE59B16-3B26-9646-B04B-F8F633BEB3F3}"/>
              </a:ext>
            </a:extLst>
          </p:cNvPr>
          <p:cNvSpPr txBox="1"/>
          <p:nvPr/>
        </p:nvSpPr>
        <p:spPr>
          <a:xfrm>
            <a:off x="1117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29" name="TLbl">
            <a:extLst>
              <a:ext uri="{FF2B5EF4-FFF2-40B4-BE49-F238E27FC236}">
                <a16:creationId xmlns:a16="http://schemas.microsoft.com/office/drawing/2014/main" id="{41C29D46-E2A0-8C4A-9449-56E74ABCD26E}"/>
              </a:ext>
            </a:extLst>
          </p:cNvPr>
          <p:cNvSpPr txBox="1"/>
          <p:nvPr/>
        </p:nvSpPr>
        <p:spPr>
          <a:xfrm>
            <a:off x="804718" y="59207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30" name="TLbl">
            <a:extLst>
              <a:ext uri="{FF2B5EF4-FFF2-40B4-BE49-F238E27FC236}">
                <a16:creationId xmlns:a16="http://schemas.microsoft.com/office/drawing/2014/main" id="{0B2ACC9E-8F01-EF4C-9FFC-CB66CEC097B3}"/>
              </a:ext>
            </a:extLst>
          </p:cNvPr>
          <p:cNvSpPr txBox="1"/>
          <p:nvPr/>
        </p:nvSpPr>
        <p:spPr>
          <a:xfrm>
            <a:off x="5943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1" name="TLbl">
            <a:extLst>
              <a:ext uri="{FF2B5EF4-FFF2-40B4-BE49-F238E27FC236}">
                <a16:creationId xmlns:a16="http://schemas.microsoft.com/office/drawing/2014/main" id="{80A70DD9-1F80-274C-BBAA-F19FD7E37CE5}"/>
              </a:ext>
            </a:extLst>
          </p:cNvPr>
          <p:cNvSpPr txBox="1"/>
          <p:nvPr/>
        </p:nvSpPr>
        <p:spPr>
          <a:xfrm>
            <a:off x="804718" y="33172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2" name="TLbl">
            <a:extLst>
              <a:ext uri="{FF2B5EF4-FFF2-40B4-BE49-F238E27FC236}">
                <a16:creationId xmlns:a16="http://schemas.microsoft.com/office/drawing/2014/main" id="{7A0B2E2C-A84D-8647-B717-E535EC373904}"/>
              </a:ext>
            </a:extLst>
          </p:cNvPr>
          <p:cNvSpPr txBox="1"/>
          <p:nvPr/>
        </p:nvSpPr>
        <p:spPr>
          <a:xfrm>
            <a:off x="10769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3" name="TLbl">
            <a:extLst>
              <a:ext uri="{FF2B5EF4-FFF2-40B4-BE49-F238E27FC236}">
                <a16:creationId xmlns:a16="http://schemas.microsoft.com/office/drawing/2014/main" id="{D8EED82B-995D-7A4E-8E43-7B2F60827402}"/>
              </a:ext>
            </a:extLst>
          </p:cNvPr>
          <p:cNvSpPr txBox="1"/>
          <p:nvPr/>
        </p:nvSpPr>
        <p:spPr>
          <a:xfrm>
            <a:off x="804718" y="7137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4" name="TLbl">
            <a:extLst>
              <a:ext uri="{FF2B5EF4-FFF2-40B4-BE49-F238E27FC236}">
                <a16:creationId xmlns:a16="http://schemas.microsoft.com/office/drawing/2014/main" id="{A1A74255-BBE7-264B-9FF8-7DD9C55E371A}"/>
              </a:ext>
            </a:extLst>
          </p:cNvPr>
          <p:cNvSpPr txBox="1"/>
          <p:nvPr/>
        </p:nvSpPr>
        <p:spPr>
          <a:xfrm>
            <a:off x="11303000" y="62865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36" name="NN">
            <a:extLst>
              <a:ext uri="{FF2B5EF4-FFF2-40B4-BE49-F238E27FC236}">
                <a16:creationId xmlns:a16="http://schemas.microsoft.com/office/drawing/2014/main" id="{099FF529-746C-824A-8BC4-AA6F21D38C1E}"/>
              </a:ext>
            </a:extLst>
          </p:cNvPr>
          <p:cNvSpPr/>
          <p:nvPr/>
        </p:nvSpPr>
        <p:spPr>
          <a:xfrm>
            <a:off x="5915660" y="3416300"/>
            <a:ext cx="2291079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NN">
            <a:extLst>
              <a:ext uri="{FF2B5EF4-FFF2-40B4-BE49-F238E27FC236}">
                <a16:creationId xmlns:a16="http://schemas.microsoft.com/office/drawing/2014/main" id="{678BB06E-B775-4E4A-B70A-913860D48B37}"/>
              </a:ext>
            </a:extLst>
          </p:cNvPr>
          <p:cNvSpPr/>
          <p:nvPr/>
        </p:nvSpPr>
        <p:spPr>
          <a:xfrm rot="-7575230">
            <a:off x="4644840" y="2635250"/>
            <a:ext cx="1937114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NN">
            <a:extLst>
              <a:ext uri="{FF2B5EF4-FFF2-40B4-BE49-F238E27FC236}">
                <a16:creationId xmlns:a16="http://schemas.microsoft.com/office/drawing/2014/main" id="{AC598229-7B52-BC4D-B66B-8721C3644361}"/>
              </a:ext>
            </a:extLst>
          </p:cNvPr>
          <p:cNvSpPr/>
          <p:nvPr/>
        </p:nvSpPr>
        <p:spPr>
          <a:xfrm rot="9670517">
            <a:off x="1745042" y="4197350"/>
            <a:ext cx="4841107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Lbl">
            <a:extLst>
              <a:ext uri="{FF2B5EF4-FFF2-40B4-BE49-F238E27FC236}">
                <a16:creationId xmlns:a16="http://schemas.microsoft.com/office/drawing/2014/main" id="{BAD66D91-FC7B-C644-BCB3-EE803B14D505}"/>
              </a:ext>
            </a:extLst>
          </p:cNvPr>
          <p:cNvSpPr txBox="1"/>
          <p:nvPr/>
        </p:nvSpPr>
        <p:spPr>
          <a:xfrm>
            <a:off x="762000" y="4826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39" name="TPt">
            <a:extLst>
              <a:ext uri="{FF2B5EF4-FFF2-40B4-BE49-F238E27FC236}">
                <a16:creationId xmlns:a16="http://schemas.microsoft.com/office/drawing/2014/main" id="{0ABC952F-844B-4C46-8850-003238C75303}"/>
              </a:ext>
            </a:extLst>
          </p:cNvPr>
          <p:cNvSpPr/>
          <p:nvPr/>
        </p:nvSpPr>
        <p:spPr>
          <a:xfrm>
            <a:off x="1817180" y="4751751"/>
            <a:ext cx="415636" cy="415636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Pt">
            <a:extLst>
              <a:ext uri="{FF2B5EF4-FFF2-40B4-BE49-F238E27FC236}">
                <a16:creationId xmlns:a16="http://schemas.microsoft.com/office/drawing/2014/main" id="{8BB3143A-6644-3546-A014-54E464224AF6}"/>
              </a:ext>
            </a:extLst>
          </p:cNvPr>
          <p:cNvSpPr/>
          <p:nvPr/>
        </p:nvSpPr>
        <p:spPr>
          <a:xfrm>
            <a:off x="2992581" y="5303981"/>
            <a:ext cx="415636" cy="415636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Pt">
            <a:extLst>
              <a:ext uri="{FF2B5EF4-FFF2-40B4-BE49-F238E27FC236}">
                <a16:creationId xmlns:a16="http://schemas.microsoft.com/office/drawing/2014/main" id="{D6EB00FC-0DD7-4747-AD11-3712ABE0C4AE}"/>
              </a:ext>
            </a:extLst>
          </p:cNvPr>
          <p:cNvSpPr/>
          <p:nvPr/>
        </p:nvSpPr>
        <p:spPr>
          <a:xfrm>
            <a:off x="4922981" y="16590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Lbl">
            <a:extLst>
              <a:ext uri="{FF2B5EF4-FFF2-40B4-BE49-F238E27FC236}">
                <a16:creationId xmlns:a16="http://schemas.microsoft.com/office/drawing/2014/main" id="{4624C2ED-8143-FA4D-9AB0-4404F365C439}"/>
              </a:ext>
            </a:extLst>
          </p:cNvPr>
          <p:cNvSpPr txBox="1"/>
          <p:nvPr/>
        </p:nvSpPr>
        <p:spPr>
          <a:xfrm>
            <a:off x="5655540" y="164846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x₃</a:t>
            </a:r>
          </a:p>
        </p:txBody>
      </p:sp>
      <p:sp>
        <p:nvSpPr>
          <p:cNvPr id="45" name="TPt">
            <a:extLst>
              <a:ext uri="{FF2B5EF4-FFF2-40B4-BE49-F238E27FC236}">
                <a16:creationId xmlns:a16="http://schemas.microsoft.com/office/drawing/2014/main" id="{7E744250-9AC6-5A42-AA63-E94C1739AD9E}"/>
              </a:ext>
            </a:extLst>
          </p:cNvPr>
          <p:cNvSpPr/>
          <p:nvPr/>
        </p:nvSpPr>
        <p:spPr>
          <a:xfrm>
            <a:off x="7818581" y="32211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Lbl">
            <a:extLst>
              <a:ext uri="{FF2B5EF4-FFF2-40B4-BE49-F238E27FC236}">
                <a16:creationId xmlns:a16="http://schemas.microsoft.com/office/drawing/2014/main" id="{D3358B9C-915C-7C43-A8DB-A9FBFC5855A9}"/>
              </a:ext>
            </a:extLst>
          </p:cNvPr>
          <p:cNvSpPr txBox="1"/>
          <p:nvPr/>
        </p:nvSpPr>
        <p:spPr>
          <a:xfrm>
            <a:off x="8551140" y="3210559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x₄</a:t>
            </a:r>
          </a:p>
        </p:txBody>
      </p:sp>
      <p:sp>
        <p:nvSpPr>
          <p:cNvPr id="47" name="TPt">
            <a:extLst>
              <a:ext uri="{FF2B5EF4-FFF2-40B4-BE49-F238E27FC236}">
                <a16:creationId xmlns:a16="http://schemas.microsoft.com/office/drawing/2014/main" id="{38E5136C-CACD-E545-9B82-3C4617D0E212}"/>
              </a:ext>
            </a:extLst>
          </p:cNvPr>
          <p:cNvSpPr/>
          <p:nvPr/>
        </p:nvSpPr>
        <p:spPr>
          <a:xfrm>
            <a:off x="9748981" y="11383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Lbl">
            <a:extLst>
              <a:ext uri="{FF2B5EF4-FFF2-40B4-BE49-F238E27FC236}">
                <a16:creationId xmlns:a16="http://schemas.microsoft.com/office/drawing/2014/main" id="{72CB8294-1FEC-A148-A528-E534F9C62815}"/>
              </a:ext>
            </a:extLst>
          </p:cNvPr>
          <p:cNvSpPr txBox="1"/>
          <p:nvPr/>
        </p:nvSpPr>
        <p:spPr>
          <a:xfrm>
            <a:off x="10481540" y="112776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x₅</a:t>
            </a:r>
          </a:p>
        </p:txBody>
      </p:sp>
      <p:sp>
        <p:nvSpPr>
          <p:cNvPr id="49" name="QPt">
            <a:extLst>
              <a:ext uri="{FF2B5EF4-FFF2-40B4-BE49-F238E27FC236}">
                <a16:creationId xmlns:a16="http://schemas.microsoft.com/office/drawing/2014/main" id="{C0D6C787-9ACF-FC44-B853-D404C5419364}"/>
              </a:ext>
            </a:extLst>
          </p:cNvPr>
          <p:cNvSpPr/>
          <p:nvPr/>
        </p:nvSpPr>
        <p:spPr>
          <a:xfrm>
            <a:off x="5902989" y="3162419"/>
            <a:ext cx="554181" cy="554181"/>
          </a:xfrm>
          <a:prstGeom prst="diamond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Lbl">
            <a:extLst>
              <a:ext uri="{FF2B5EF4-FFF2-40B4-BE49-F238E27FC236}">
                <a16:creationId xmlns:a16="http://schemas.microsoft.com/office/drawing/2014/main" id="{A456C6FE-E20E-BE4D-BB8B-64040CCFEE12}"/>
              </a:ext>
            </a:extLst>
          </p:cNvPr>
          <p:cNvSpPr txBox="1"/>
          <p:nvPr/>
        </p:nvSpPr>
        <p:spPr>
          <a:xfrm>
            <a:off x="5867400" y="37465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x* = (5, 5)</a:t>
            </a:r>
          </a:p>
        </p:txBody>
      </p:sp>
      <p:sp>
        <p:nvSpPr>
          <p:cNvPr id="2" name="FigTitle">
            <a:extLst>
              <a:ext uri="{FF2B5EF4-FFF2-40B4-BE49-F238E27FC236}">
                <a16:creationId xmlns:a16="http://schemas.microsoft.com/office/drawing/2014/main" id="{495DDB9C-7B98-FC4A-95FB-20875792AF90}"/>
              </a:ext>
            </a:extLst>
          </p:cNvPr>
          <p:cNvSpPr txBox="1"/>
          <p:nvPr/>
        </p:nvSpPr>
        <p:spPr>
          <a:xfrm>
            <a:off x="381000" y="2286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</a:rPr>
              <a:t>KNN in 2D — query x*=(5,5) with 3 nearest neighbors</a:t>
            </a:r>
          </a:p>
        </p:txBody>
      </p:sp>
      <p:sp>
        <p:nvSpPr>
          <p:cNvPr id="3" name="TLbl">
            <a:extLst>
              <a:ext uri="{FF2B5EF4-FFF2-40B4-BE49-F238E27FC236}">
                <a16:creationId xmlns:a16="http://schemas.microsoft.com/office/drawing/2014/main" id="{D8BD38AF-22AC-B040-9D95-BAFF10A2F9F1}"/>
              </a:ext>
            </a:extLst>
          </p:cNvPr>
          <p:cNvSpPr txBox="1"/>
          <p:nvPr/>
        </p:nvSpPr>
        <p:spPr>
          <a:xfrm>
            <a:off x="3530600" y="62865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2.5</a:t>
            </a:r>
          </a:p>
        </p:txBody>
      </p:sp>
      <p:sp>
        <p:nvSpPr>
          <p:cNvPr id="4" name="TLbl">
            <a:extLst>
              <a:ext uri="{FF2B5EF4-FFF2-40B4-BE49-F238E27FC236}">
                <a16:creationId xmlns:a16="http://schemas.microsoft.com/office/drawing/2014/main" id="{FD173839-8D04-6243-AF8A-C7364E7AEEBC}"/>
              </a:ext>
            </a:extLst>
          </p:cNvPr>
          <p:cNvSpPr txBox="1"/>
          <p:nvPr/>
        </p:nvSpPr>
        <p:spPr>
          <a:xfrm>
            <a:off x="8356600" y="62865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7.5</a:t>
            </a:r>
          </a:p>
        </p:txBody>
      </p:sp>
      <p:sp>
        <p:nvSpPr>
          <p:cNvPr id="5" name="TLbl">
            <a:extLst>
              <a:ext uri="{FF2B5EF4-FFF2-40B4-BE49-F238E27FC236}">
                <a16:creationId xmlns:a16="http://schemas.microsoft.com/office/drawing/2014/main" id="{39004D1B-6484-E146-A639-5345FA8F52B7}"/>
              </a:ext>
            </a:extLst>
          </p:cNvPr>
          <p:cNvSpPr txBox="1"/>
          <p:nvPr/>
        </p:nvSpPr>
        <p:spPr>
          <a:xfrm>
            <a:off x="673100" y="464185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2.5</a:t>
            </a:r>
          </a:p>
        </p:txBody>
      </p:sp>
      <p:sp>
        <p:nvSpPr>
          <p:cNvPr id="6" name="TLbl">
            <a:extLst>
              <a:ext uri="{FF2B5EF4-FFF2-40B4-BE49-F238E27FC236}">
                <a16:creationId xmlns:a16="http://schemas.microsoft.com/office/drawing/2014/main" id="{BC6FFCEB-7BCB-3342-861D-1725CC444F25}"/>
              </a:ext>
            </a:extLst>
          </p:cNvPr>
          <p:cNvSpPr txBox="1"/>
          <p:nvPr/>
        </p:nvSpPr>
        <p:spPr>
          <a:xfrm>
            <a:off x="673100" y="203835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7.5</a:t>
            </a:r>
          </a:p>
        </p:txBody>
      </p:sp>
      <p:sp>
        <p:nvSpPr>
          <p:cNvPr id="7" name="TLbl">
            <a:extLst>
              <a:ext uri="{FF2B5EF4-FFF2-40B4-BE49-F238E27FC236}">
                <a16:creationId xmlns:a16="http://schemas.microsoft.com/office/drawing/2014/main" id="{50BDEB4D-3762-434E-A93E-FFB29157B58E}"/>
              </a:ext>
            </a:extLst>
          </p:cNvPr>
          <p:cNvSpPr txBox="1"/>
          <p:nvPr/>
        </p:nvSpPr>
        <p:spPr>
          <a:xfrm>
            <a:off x="2540000" y="48260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9" name="NNRing">
            <a:extLst>
              <a:ext uri="{FF2B5EF4-FFF2-40B4-BE49-F238E27FC236}">
                <a16:creationId xmlns:a16="http://schemas.microsoft.com/office/drawing/2014/main" id="{0C73319E-3683-D84F-AD6E-8B0FC6F0997B}"/>
              </a:ext>
            </a:extLst>
          </p:cNvPr>
          <p:cNvSpPr/>
          <p:nvPr/>
        </p:nvSpPr>
        <p:spPr>
          <a:xfrm>
            <a:off x="7696200" y="309880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NNRing">
            <a:extLst>
              <a:ext uri="{FF2B5EF4-FFF2-40B4-BE49-F238E27FC236}">
                <a16:creationId xmlns:a16="http://schemas.microsoft.com/office/drawing/2014/main" id="{FA60ADA8-F819-B940-A8F7-73609E03DBE3}"/>
              </a:ext>
            </a:extLst>
          </p:cNvPr>
          <p:cNvSpPr/>
          <p:nvPr/>
        </p:nvSpPr>
        <p:spPr>
          <a:xfrm>
            <a:off x="4813300" y="154940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NNRing">
            <a:extLst>
              <a:ext uri="{FF2B5EF4-FFF2-40B4-BE49-F238E27FC236}">
                <a16:creationId xmlns:a16="http://schemas.microsoft.com/office/drawing/2014/main" id="{02003702-7D29-5F49-BE25-DA92A000A6D8}"/>
              </a:ext>
            </a:extLst>
          </p:cNvPr>
          <p:cNvSpPr/>
          <p:nvPr/>
        </p:nvSpPr>
        <p:spPr>
          <a:xfrm>
            <a:off x="1707499" y="464207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Lbl">
            <a:extLst>
              <a:ext uri="{FF2B5EF4-FFF2-40B4-BE49-F238E27FC236}">
                <a16:creationId xmlns:a16="http://schemas.microsoft.com/office/drawing/2014/main" id="{FBDA0397-3B6A-644E-B265-6830D160389D}"/>
              </a:ext>
            </a:extLst>
          </p:cNvPr>
          <p:cNvSpPr txBox="1"/>
          <p:nvPr/>
        </p:nvSpPr>
        <p:spPr>
          <a:xfrm>
            <a:off x="3505200" y="53467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61" name="DLbl">
            <a:extLst>
              <a:ext uri="{FF2B5EF4-FFF2-40B4-BE49-F238E27FC236}">
                <a16:creationId xmlns:a16="http://schemas.microsoft.com/office/drawing/2014/main" id="{E54C44CB-6E93-7547-B9F0-C758C6E8ECA0}"/>
              </a:ext>
            </a:extLst>
          </p:cNvPr>
          <p:cNvSpPr txBox="1"/>
          <p:nvPr/>
        </p:nvSpPr>
        <p:spPr>
          <a:xfrm>
            <a:off x="6731000" y="3111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2.0</a:t>
            </a:r>
          </a:p>
        </p:txBody>
      </p:sp>
      <p:sp>
        <p:nvSpPr>
          <p:cNvPr id="62" name="DLbl">
            <a:extLst>
              <a:ext uri="{FF2B5EF4-FFF2-40B4-BE49-F238E27FC236}">
                <a16:creationId xmlns:a16="http://schemas.microsoft.com/office/drawing/2014/main" id="{BFF55D0C-C421-3041-8929-D06CBF06E04E}"/>
              </a:ext>
            </a:extLst>
          </p:cNvPr>
          <p:cNvSpPr txBox="1"/>
          <p:nvPr/>
        </p:nvSpPr>
        <p:spPr>
          <a:xfrm>
            <a:off x="4254500" y="2476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3.16</a:t>
            </a:r>
          </a:p>
        </p:txBody>
      </p:sp>
      <p:sp>
        <p:nvSpPr>
          <p:cNvPr id="63" name="DLbl">
            <a:extLst>
              <a:ext uri="{FF2B5EF4-FFF2-40B4-BE49-F238E27FC236}">
                <a16:creationId xmlns:a16="http://schemas.microsoft.com/office/drawing/2014/main" id="{A544EB54-082B-864C-B7E0-636005381880}"/>
              </a:ext>
            </a:extLst>
          </p:cNvPr>
          <p:cNvSpPr txBox="1"/>
          <p:nvPr/>
        </p:nvSpPr>
        <p:spPr>
          <a:xfrm>
            <a:off x="3619500" y="4419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5.00</a:t>
            </a:r>
          </a:p>
        </p:txBody>
      </p:sp>
      <p:sp>
        <p:nvSpPr>
          <p:cNvPr id="448" name="LegBox">
            <a:extLst>
              <a:ext uri="{FF2B5EF4-FFF2-40B4-BE49-F238E27FC236}">
                <a16:creationId xmlns:a16="http://schemas.microsoft.com/office/drawing/2014/main" id="{48ACC888-190B-3A48-A789-677574151C47}"/>
              </a:ext>
            </a:extLst>
          </p:cNvPr>
          <p:cNvSpPr/>
          <p:nvPr/>
        </p:nvSpPr>
        <p:spPr>
          <a:xfrm>
            <a:off x="8826500" y="952500"/>
            <a:ext cx="2032000" cy="127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9" name="LegDot">
            <a:extLst>
              <a:ext uri="{FF2B5EF4-FFF2-40B4-BE49-F238E27FC236}">
                <a16:creationId xmlns:a16="http://schemas.microsoft.com/office/drawing/2014/main" id="{AB5A6655-DE70-9B47-AEC8-D92D9D00409B}"/>
              </a:ext>
            </a:extLst>
          </p:cNvPr>
          <p:cNvSpPr/>
          <p:nvPr/>
        </p:nvSpPr>
        <p:spPr>
          <a:xfrm>
            <a:off x="8978900" y="1066800"/>
            <a:ext cx="177800" cy="1778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0" name="LegLbl">
            <a:extLst>
              <a:ext uri="{FF2B5EF4-FFF2-40B4-BE49-F238E27FC236}">
                <a16:creationId xmlns:a16="http://schemas.microsoft.com/office/drawing/2014/main" id="{C44F0A94-1BD6-8D4A-A3D6-032C36775E67}"/>
              </a:ext>
            </a:extLst>
          </p:cNvPr>
          <p:cNvSpPr txBox="1"/>
          <p:nvPr/>
        </p:nvSpPr>
        <p:spPr>
          <a:xfrm>
            <a:off x="9245600" y="10668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Class A</a:t>
            </a:r>
          </a:p>
        </p:txBody>
      </p:sp>
      <p:sp>
        <p:nvSpPr>
          <p:cNvPr id="451" name="LegDot">
            <a:extLst>
              <a:ext uri="{FF2B5EF4-FFF2-40B4-BE49-F238E27FC236}">
                <a16:creationId xmlns:a16="http://schemas.microsoft.com/office/drawing/2014/main" id="{9AFD9554-9188-9E43-BE21-B42C28708279}"/>
              </a:ext>
            </a:extLst>
          </p:cNvPr>
          <p:cNvSpPr/>
          <p:nvPr/>
        </p:nvSpPr>
        <p:spPr>
          <a:xfrm>
            <a:off x="8978900" y="13335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2" name="LegLbl">
            <a:extLst>
              <a:ext uri="{FF2B5EF4-FFF2-40B4-BE49-F238E27FC236}">
                <a16:creationId xmlns:a16="http://schemas.microsoft.com/office/drawing/2014/main" id="{81C3F9FF-F436-1648-921B-D0B8A7803C28}"/>
              </a:ext>
            </a:extLst>
          </p:cNvPr>
          <p:cNvSpPr txBox="1"/>
          <p:nvPr/>
        </p:nvSpPr>
        <p:spPr>
          <a:xfrm>
            <a:off x="9245600" y="13335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Class B</a:t>
            </a:r>
          </a:p>
        </p:txBody>
      </p:sp>
      <p:sp>
        <p:nvSpPr>
          <p:cNvPr id="453" name="LegDot">
            <a:extLst>
              <a:ext uri="{FF2B5EF4-FFF2-40B4-BE49-F238E27FC236}">
                <a16:creationId xmlns:a16="http://schemas.microsoft.com/office/drawing/2014/main" id="{240ACE17-EBAB-594F-8E2F-0544C4FE352C}"/>
              </a:ext>
            </a:extLst>
          </p:cNvPr>
          <p:cNvSpPr/>
          <p:nvPr/>
        </p:nvSpPr>
        <p:spPr>
          <a:xfrm>
            <a:off x="8978900" y="1600200"/>
            <a:ext cx="177800" cy="177800"/>
          </a:xfrm>
          <a:prstGeom prst="diamond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4" name="LegLbl">
            <a:extLst>
              <a:ext uri="{FF2B5EF4-FFF2-40B4-BE49-F238E27FC236}">
                <a16:creationId xmlns:a16="http://schemas.microsoft.com/office/drawing/2014/main" id="{4E8149EF-5D90-764B-9B69-BD1E059E652C}"/>
              </a:ext>
            </a:extLst>
          </p:cNvPr>
          <p:cNvSpPr txBox="1"/>
          <p:nvPr/>
        </p:nvSpPr>
        <p:spPr>
          <a:xfrm>
            <a:off x="9245600" y="16002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Query x*</a:t>
            </a:r>
          </a:p>
        </p:txBody>
      </p:sp>
      <p:sp>
        <p:nvSpPr>
          <p:cNvPr id="455" name="LegDot">
            <a:extLst>
              <a:ext uri="{FF2B5EF4-FFF2-40B4-BE49-F238E27FC236}">
                <a16:creationId xmlns:a16="http://schemas.microsoft.com/office/drawing/2014/main" id="{C72D1A7A-14B9-CC4A-BC03-1827EDD054FC}"/>
              </a:ext>
            </a:extLst>
          </p:cNvPr>
          <p:cNvSpPr/>
          <p:nvPr/>
        </p:nvSpPr>
        <p:spPr>
          <a:xfrm>
            <a:off x="8978900" y="1866900"/>
            <a:ext cx="177800" cy="1778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6" name="LegLbl">
            <a:extLst>
              <a:ext uri="{FF2B5EF4-FFF2-40B4-BE49-F238E27FC236}">
                <a16:creationId xmlns:a16="http://schemas.microsoft.com/office/drawing/2014/main" id="{6A814997-51CA-DC44-B987-03AF98E2C4F6}"/>
              </a:ext>
            </a:extLst>
          </p:cNvPr>
          <p:cNvSpPr txBox="1"/>
          <p:nvPr/>
        </p:nvSpPr>
        <p:spPr>
          <a:xfrm>
            <a:off x="9245600" y="18669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3-NN highlight</a:t>
            </a:r>
          </a:p>
        </p:txBody>
      </p:sp>
    </p:spTree>
    <p:extLst>
      <p:ext uri="{BB962C8B-B14F-4D97-AF65-F5344CB8AC3E}">
        <p14:creationId xmlns:p14="http://schemas.microsoft.com/office/powerpoint/2010/main" val="396454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DR_ZBand">
            <a:extLst>
              <a:ext uri="{FF2B5EF4-FFF2-40B4-BE49-F238E27FC236}">
                <a16:creationId xmlns:a16="http://schemas.microsoft.com/office/drawing/2014/main" id="{5E3C042E-0285-1041-9F36-998D20060D60}"/>
              </a:ext>
            </a:extLst>
          </p:cNvPr>
          <p:cNvSpPr/>
          <p:nvPr/>
        </p:nvSpPr>
        <p:spPr>
          <a:xfrm>
            <a:off x="4455160" y="1866900"/>
            <a:ext cx="6443979" cy="457200"/>
          </a:xfrm>
          <a:prstGeom prst="rect">
            <a:avLst/>
          </a:prstGeom>
          <a:solidFill>
            <a:srgbClr val="F8DD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1" name="TitleBar"/>
          <p:cNvSpPr/>
          <p:nvPr/>
        </p:nvSpPr>
        <p:spPr>
          <a:xfrm>
            <a:off x="285750" y="228600"/>
            <a:ext cx="85725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3 — d=10 (ten features)</a:t>
            </a:r>
          </a:p>
        </p:txBody>
      </p:sp>
      <p:sp>
        <p:nvSpPr>
          <p:cNvPr id="502" name="S1Hdr"/>
          <p:cNvSpPr/>
          <p:nvPr/>
        </p:nvSpPr>
        <p:spPr>
          <a:xfrm>
            <a:off x="292100" y="628650"/>
            <a:ext cx="3365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Training set (10-dim vectors)</a:t>
            </a:r>
          </a:p>
        </p:txBody>
      </p:sp>
      <p:sp>
        <p:nvSpPr>
          <p:cNvPr id="503" name="S1Box"/>
          <p:cNvSpPr/>
          <p:nvPr/>
        </p:nvSpPr>
        <p:spPr>
          <a:xfrm>
            <a:off x="292100" y="819150"/>
            <a:ext cx="3365500" cy="43815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onsolas"/>
              </a:rPr>
              <a:t>x₁·A, x₂·A, x₃·B, x₄·B, x₅·B  with each xᵢ ∈ ℝ¹⁰, coords in [0,9]</a:t>
            </a:r>
          </a:p>
        </p:txBody>
      </p:sp>
      <p:sp>
        <p:nvSpPr>
          <p:cNvPr id="504" name="S2Hdr"/>
          <p:cNvSpPr/>
          <p:nvPr/>
        </p:nvSpPr>
        <p:spPr>
          <a:xfrm>
            <a:off x="3746500" y="6286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3746500" y="819150"/>
            <a:ext cx="3429000" cy="4445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onsolas"/>
              </a:rPr>
              <a:t>x* = (5,5,5,5,5,5,5,5,5,5)</a:t>
            </a:r>
          </a:p>
        </p:txBody>
      </p:sp>
      <p:sp>
        <p:nvSpPr>
          <p:cNvPr id="506" name="S3Hdr"/>
          <p:cNvSpPr/>
          <p:nvPr/>
        </p:nvSpPr>
        <p:spPr>
          <a:xfrm>
            <a:off x="7366000" y="628650"/>
            <a:ext cx="444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Distance formula</a:t>
            </a:r>
          </a:p>
        </p:txBody>
      </p:sp>
      <p:sp>
        <p:nvSpPr>
          <p:cNvPr id="507" name="S3Box"/>
          <p:cNvSpPr/>
          <p:nvPr/>
        </p:nvSpPr>
        <p:spPr>
          <a:xfrm>
            <a:off x="7366000" y="819150"/>
            <a:ext cx="4445000" cy="42545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Consolas"/>
              </a:rPr>
              <a:t>d(x,y) = √(Σⱼ₌₁¹⁰ (xⱼ−yⱼ)²)</a:t>
            </a:r>
          </a:p>
        </p:txBody>
      </p:sp>
      <p:sp>
        <p:nvSpPr>
          <p:cNvPr id="544" name="Step1Hdr"/>
          <p:cNvSpPr/>
          <p:nvPr/>
        </p:nvSpPr>
        <p:spPr>
          <a:xfrm>
            <a:off x="285750" y="25400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1 — Euclidean distances to all 5 training points</a:t>
            </a:r>
          </a:p>
        </p:txBody>
      </p:sp>
      <p:sp>
        <p:nvSpPr>
          <p:cNvPr id="545" name="CalcL"/>
          <p:cNvSpPr/>
          <p:nvPr/>
        </p:nvSpPr>
        <p:spPr>
          <a:xfrm>
            <a:off x="571500" y="28448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x₁) = √(Σ (x₁ⱼ − 5)²) = √68</a:t>
            </a:r>
          </a:p>
        </p:txBody>
      </p:sp>
      <p:sp>
        <p:nvSpPr>
          <p:cNvPr id="546" name="CalcV"/>
          <p:cNvSpPr/>
          <p:nvPr/>
        </p:nvSpPr>
        <p:spPr>
          <a:xfrm>
            <a:off x="4064000" y="28448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8.25</a:t>
            </a:r>
          </a:p>
        </p:txBody>
      </p:sp>
      <p:sp>
        <p:nvSpPr>
          <p:cNvPr id="547" name="CalcL"/>
          <p:cNvSpPr/>
          <p:nvPr/>
        </p:nvSpPr>
        <p:spPr>
          <a:xfrm>
            <a:off x="571500" y="31750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x₂) = √(Σ (x₂ⱼ − 5)²) = √70</a:t>
            </a:r>
          </a:p>
        </p:txBody>
      </p:sp>
      <p:sp>
        <p:nvSpPr>
          <p:cNvPr id="548" name="CalcV"/>
          <p:cNvSpPr/>
          <p:nvPr/>
        </p:nvSpPr>
        <p:spPr>
          <a:xfrm>
            <a:off x="4064000" y="31750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8.37</a:t>
            </a:r>
          </a:p>
        </p:txBody>
      </p:sp>
      <p:sp>
        <p:nvSpPr>
          <p:cNvPr id="549" name="CalcL"/>
          <p:cNvSpPr/>
          <p:nvPr/>
        </p:nvSpPr>
        <p:spPr>
          <a:xfrm>
            <a:off x="571500" y="35052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x₃) = √(Σ (x₃ⱼ − 5)²) = √65</a:t>
            </a:r>
          </a:p>
        </p:txBody>
      </p:sp>
      <p:sp>
        <p:nvSpPr>
          <p:cNvPr id="550" name="CalcV"/>
          <p:cNvSpPr/>
          <p:nvPr/>
        </p:nvSpPr>
        <p:spPr>
          <a:xfrm>
            <a:off x="4064000" y="35052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8.06</a:t>
            </a:r>
          </a:p>
        </p:txBody>
      </p:sp>
      <p:sp>
        <p:nvSpPr>
          <p:cNvPr id="551" name="Tag"/>
          <p:cNvSpPr/>
          <p:nvPr/>
        </p:nvSpPr>
        <p:spPr>
          <a:xfrm>
            <a:off x="4597400" y="3517900"/>
            <a:ext cx="419100" cy="17145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1st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CalcL"/>
          <p:cNvSpPr/>
          <p:nvPr/>
        </p:nvSpPr>
        <p:spPr>
          <a:xfrm>
            <a:off x="571500" y="38354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x₄) = √(Σ (x₄ⱼ − 5)²) = √72</a:t>
            </a:r>
          </a:p>
        </p:txBody>
      </p:sp>
      <p:sp>
        <p:nvSpPr>
          <p:cNvPr id="553" name="CalcV"/>
          <p:cNvSpPr/>
          <p:nvPr/>
        </p:nvSpPr>
        <p:spPr>
          <a:xfrm>
            <a:off x="4064000" y="38354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8.49</a:t>
            </a:r>
          </a:p>
        </p:txBody>
      </p:sp>
      <p:sp>
        <p:nvSpPr>
          <p:cNvPr id="554" name="Tag"/>
          <p:cNvSpPr/>
          <p:nvPr/>
        </p:nvSpPr>
        <p:spPr>
          <a:xfrm>
            <a:off x="4597400" y="3848100"/>
            <a:ext cx="419100" cy="17145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≈3rd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CalcL"/>
          <p:cNvSpPr/>
          <p:nvPr/>
        </p:nvSpPr>
        <p:spPr>
          <a:xfrm>
            <a:off x="571500" y="41656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x₅) = √(Σ (x₅ⱼ − 5)²) = √67</a:t>
            </a:r>
          </a:p>
        </p:txBody>
      </p:sp>
      <p:sp>
        <p:nvSpPr>
          <p:cNvPr id="556" name="CalcV"/>
          <p:cNvSpPr/>
          <p:nvPr/>
        </p:nvSpPr>
        <p:spPr>
          <a:xfrm>
            <a:off x="4064000" y="41656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8.19</a:t>
            </a:r>
          </a:p>
        </p:txBody>
      </p:sp>
      <p:sp>
        <p:nvSpPr>
          <p:cNvPr id="557" name="Tag"/>
          <p:cNvSpPr/>
          <p:nvPr/>
        </p:nvSpPr>
        <p:spPr>
          <a:xfrm>
            <a:off x="4597400" y="4178300"/>
            <a:ext cx="419100" cy="17145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2nd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tep2Hdr"/>
          <p:cNvSpPr/>
          <p:nvPr/>
        </p:nvSpPr>
        <p:spPr>
          <a:xfrm>
            <a:off x="7938367" y="2540000"/>
            <a:ext cx="3848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2 — 3-NN majority vote</a:t>
            </a:r>
          </a:p>
        </p:txBody>
      </p:sp>
      <p:sp>
        <p:nvSpPr>
          <p:cNvPr id="559" name="VoteBox"/>
          <p:cNvSpPr/>
          <p:nvPr/>
        </p:nvSpPr>
        <p:spPr>
          <a:xfrm>
            <a:off x="7938367" y="2844800"/>
            <a:ext cx="3848100" cy="1168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8065367" y="29464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>
                <a:solidFill>
                  <a:srgbClr val="333333"/>
                </a:solidFill>
                <a:latin typeface="Consolas"/>
              </a:rPr>
              <a:t>1st: x₃·B at 8.06     2nd: x₅·B at 8.19</a:t>
            </a:r>
            <a:endParaRPr lang="en-US" sz="1100" dirty="0">
              <a:solidFill>
                <a:srgbClr val="333333"/>
              </a:solidFill>
              <a:latin typeface="Consolas"/>
            </a:endParaRPr>
          </a:p>
        </p:txBody>
      </p:sp>
      <p:sp>
        <p:nvSpPr>
          <p:cNvPr id="561" name="VoteLine2"/>
          <p:cNvSpPr/>
          <p:nvPr/>
        </p:nvSpPr>
        <p:spPr>
          <a:xfrm>
            <a:off x="8065367" y="33020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Consolas"/>
              </a:rPr>
              <a:t>3rd: x₁·A at 8.25  (just 0.06 from 4th)</a:t>
            </a:r>
            <a:endParaRPr lang="en-US" sz="1100" b="1" dirty="0">
              <a:solidFill>
                <a:srgbClr val="333333"/>
              </a:solidFill>
              <a:latin typeface="Consolas"/>
            </a:endParaRPr>
          </a:p>
        </p:txBody>
      </p:sp>
      <p:sp>
        <p:nvSpPr>
          <p:cNvPr id="562" name="VoteLine3"/>
          <p:cNvSpPr/>
          <p:nvPr/>
        </p:nvSpPr>
        <p:spPr>
          <a:xfrm>
            <a:off x="8065367" y="36576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>
                <a:solidFill>
                  <a:srgbClr val="7AB648"/>
                </a:solidFill>
                <a:latin typeface="Arial"/>
              </a:rPr>
              <a:t>Vote → B (2 of 3) — but the margin is tiny</a:t>
            </a:r>
            <a:endParaRPr lang="en-US" sz="1300" b="1" dirty="0">
              <a:solidFill>
                <a:srgbClr val="7AB648"/>
              </a:solidFill>
              <a:latin typeface="Arial"/>
            </a:endParaRPr>
          </a:p>
        </p:txBody>
      </p:sp>
      <p:sp>
        <p:nvSpPr>
          <p:cNvPr id="563" name="RatHdr"/>
          <p:cNvSpPr/>
          <p:nvPr/>
        </p:nvSpPr>
        <p:spPr>
          <a:xfrm>
            <a:off x="285750" y="45720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 diagnostic — ratio of farthest to nearest neighbor</a:t>
            </a:r>
          </a:p>
        </p:txBody>
      </p:sp>
      <p:sp>
        <p:nvSpPr>
          <p:cNvPr id="564" name="RatBox"/>
          <p:cNvSpPr/>
          <p:nvPr/>
        </p:nvSpPr>
        <p:spPr>
          <a:xfrm>
            <a:off x="285749" y="4800600"/>
            <a:ext cx="11500717" cy="7112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476250" y="49022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max distance = 8.49       min distance = 8.06</a:t>
            </a:r>
          </a:p>
        </p:txBody>
      </p:sp>
      <p:sp>
        <p:nvSpPr>
          <p:cNvPr id="566" name="R2"/>
          <p:cNvSpPr/>
          <p:nvPr/>
        </p:nvSpPr>
        <p:spPr>
          <a:xfrm>
            <a:off x="476250" y="51816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ratio = 8.49 / 8.06 = 1.05×  (everything looks equidistant — the signal is gone)</a:t>
            </a:r>
          </a:p>
        </p:txBody>
      </p:sp>
      <p:sp>
        <p:nvSpPr>
          <p:cNvPr id="567" name="TkBar"/>
          <p:cNvSpPr/>
          <p:nvPr/>
        </p:nvSpPr>
        <p:spPr>
          <a:xfrm>
            <a:off x="285750" y="5747407"/>
            <a:ext cx="11500716" cy="3683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In d=10, all five neighbors sit within 5% of each other. The 'nearest neighbor' is nearly arbitrary — KNN's core assumption breaks.</a:t>
            </a:r>
          </a:p>
        </p:txBody>
      </p:sp>
      <p:sp>
        <p:nvSpPr>
          <p:cNvPr id="643" name="VizCap"/>
          <p:cNvSpPr/>
          <p:nvPr/>
        </p:nvSpPr>
        <p:spPr>
          <a:xfrm>
            <a:off x="292100" y="1485900"/>
            <a:ext cx="11518900" cy="177800"/>
          </a:xfrm>
          <a:prstGeom prst="rect">
            <a:avLst/>
          </a:prstGeom>
          <a:noFill/>
          <a:ln>
            <a:noFill/>
          </a:ln>
        </p:spPr>
        <p:txBody>
          <a:bodyPr wrap="square" lIns="9000" tIns="3600" rIns="9000" bIns="3600" anchor="t"/>
          <a:lstStyle/>
          <a:p>
            <a:pPr algn="l"/>
            <a:r>
              <a:rPr lang="en-US" sz="1100" i="1">
                <a:solidFill>
                  <a:srgbClr val="333333"/>
                </a:solidFill>
              </a:rPr>
              <a:t>Distance now collapses — all 5 neighbors land in a tiny pink band, so 'nearest' barely beats 'farthest'</a:t>
            </a:r>
            <a:endParaRPr lang="en-US" sz="1100" i="1" dirty="0">
              <a:solidFill>
                <a:srgbClr val="333333"/>
              </a:solidFill>
            </a:endParaRPr>
          </a:p>
        </p:txBody>
      </p:sp>
      <p:sp>
        <p:nvSpPr>
          <p:cNvPr id="484" name="DR_CtxHdr">
            <a:extLst>
              <a:ext uri="{FF2B5EF4-FFF2-40B4-BE49-F238E27FC236}">
                <a16:creationId xmlns:a16="http://schemas.microsoft.com/office/drawing/2014/main" id="{F08AC666-9488-694C-B401-1D59A7A9CA19}"/>
              </a:ext>
            </a:extLst>
          </p:cNvPr>
          <p:cNvSpPr txBox="1"/>
          <p:nvPr/>
        </p:nvSpPr>
        <p:spPr>
          <a:xfrm>
            <a:off x="292100" y="1752600"/>
            <a:ext cx="2438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</a:rPr>
              <a:t>Full scale (0–10)</a:t>
            </a:r>
          </a:p>
        </p:txBody>
      </p:sp>
      <p:sp>
        <p:nvSpPr>
          <p:cNvPr id="485" name="DR_CtxAxis">
            <a:extLst>
              <a:ext uri="{FF2B5EF4-FFF2-40B4-BE49-F238E27FC236}">
                <a16:creationId xmlns:a16="http://schemas.microsoft.com/office/drawing/2014/main" id="{33756A66-64A2-E647-8E66-6B134F7ED3A2}"/>
              </a:ext>
            </a:extLst>
          </p:cNvPr>
          <p:cNvSpPr/>
          <p:nvPr/>
        </p:nvSpPr>
        <p:spPr>
          <a:xfrm>
            <a:off x="444500" y="2095500"/>
            <a:ext cx="20955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6" name="DR_CtxTick">
            <a:extLst>
              <a:ext uri="{FF2B5EF4-FFF2-40B4-BE49-F238E27FC236}">
                <a16:creationId xmlns:a16="http://schemas.microsoft.com/office/drawing/2014/main" id="{8EB46F15-7665-F148-8150-89434FBBA02C}"/>
              </a:ext>
            </a:extLst>
          </p:cNvPr>
          <p:cNvSpPr/>
          <p:nvPr/>
        </p:nvSpPr>
        <p:spPr>
          <a:xfrm>
            <a:off x="444500" y="2095500"/>
            <a:ext cx="12700" cy="381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7" name="DR_CtxTickLbl">
            <a:extLst>
              <a:ext uri="{FF2B5EF4-FFF2-40B4-BE49-F238E27FC236}">
                <a16:creationId xmlns:a16="http://schemas.microsoft.com/office/drawing/2014/main" id="{F3882433-FEA7-F94A-BC46-0235F1F9A13C}"/>
              </a:ext>
            </a:extLst>
          </p:cNvPr>
          <p:cNvSpPr txBox="1"/>
          <p:nvPr/>
        </p:nvSpPr>
        <p:spPr>
          <a:xfrm>
            <a:off x="342900" y="21463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488" name="DR_CtxTick">
            <a:extLst>
              <a:ext uri="{FF2B5EF4-FFF2-40B4-BE49-F238E27FC236}">
                <a16:creationId xmlns:a16="http://schemas.microsoft.com/office/drawing/2014/main" id="{61DA1C6A-765B-6947-8964-56CB52FC250A}"/>
              </a:ext>
            </a:extLst>
          </p:cNvPr>
          <p:cNvSpPr/>
          <p:nvPr/>
        </p:nvSpPr>
        <p:spPr>
          <a:xfrm>
            <a:off x="1492250" y="2095500"/>
            <a:ext cx="12700" cy="381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9" name="DR_CtxTickLbl">
            <a:extLst>
              <a:ext uri="{FF2B5EF4-FFF2-40B4-BE49-F238E27FC236}">
                <a16:creationId xmlns:a16="http://schemas.microsoft.com/office/drawing/2014/main" id="{E84B099F-4FA2-3945-B055-E009B27B2BC2}"/>
              </a:ext>
            </a:extLst>
          </p:cNvPr>
          <p:cNvSpPr txBox="1"/>
          <p:nvPr/>
        </p:nvSpPr>
        <p:spPr>
          <a:xfrm>
            <a:off x="1390650" y="21463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490" name="DR_CtxTick">
            <a:extLst>
              <a:ext uri="{FF2B5EF4-FFF2-40B4-BE49-F238E27FC236}">
                <a16:creationId xmlns:a16="http://schemas.microsoft.com/office/drawing/2014/main" id="{675981EA-8583-F640-98E6-61D73A264F23}"/>
              </a:ext>
            </a:extLst>
          </p:cNvPr>
          <p:cNvSpPr/>
          <p:nvPr/>
        </p:nvSpPr>
        <p:spPr>
          <a:xfrm>
            <a:off x="2540000" y="2095500"/>
            <a:ext cx="12700" cy="381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1" name="DR_CtxTickLbl">
            <a:extLst>
              <a:ext uri="{FF2B5EF4-FFF2-40B4-BE49-F238E27FC236}">
                <a16:creationId xmlns:a16="http://schemas.microsoft.com/office/drawing/2014/main" id="{E968D1DE-B7DD-6940-8DC2-9E57454F6D22}"/>
              </a:ext>
            </a:extLst>
          </p:cNvPr>
          <p:cNvSpPr txBox="1"/>
          <p:nvPr/>
        </p:nvSpPr>
        <p:spPr>
          <a:xfrm>
            <a:off x="2438400" y="21463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492" name="DR_CtxBand">
            <a:extLst>
              <a:ext uri="{FF2B5EF4-FFF2-40B4-BE49-F238E27FC236}">
                <a16:creationId xmlns:a16="http://schemas.microsoft.com/office/drawing/2014/main" id="{C6D04322-D723-524D-B72E-45FDC9297C2B}"/>
              </a:ext>
            </a:extLst>
          </p:cNvPr>
          <p:cNvSpPr/>
          <p:nvPr/>
        </p:nvSpPr>
        <p:spPr>
          <a:xfrm>
            <a:off x="2120773" y="2032000"/>
            <a:ext cx="90106" cy="127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3" name="DR_CtxNote">
            <a:extLst>
              <a:ext uri="{FF2B5EF4-FFF2-40B4-BE49-F238E27FC236}">
                <a16:creationId xmlns:a16="http://schemas.microsoft.com/office/drawing/2014/main" id="{00A7FE79-B530-724F-9630-AD0EA0BA546C}"/>
              </a:ext>
            </a:extLst>
          </p:cNvPr>
          <p:cNvSpPr txBox="1"/>
          <p:nvPr/>
        </p:nvSpPr>
        <p:spPr>
          <a:xfrm>
            <a:off x="317500" y="2286000"/>
            <a:ext cx="2413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D1578A"/>
                </a:solidFill>
              </a:rPr>
              <a:t>← all 5 neighbors fit in this pink dot</a:t>
            </a:r>
          </a:p>
        </p:txBody>
      </p:sp>
      <p:sp>
        <p:nvSpPr>
          <p:cNvPr id="494" name="DR_ZHdr">
            <a:extLst>
              <a:ext uri="{FF2B5EF4-FFF2-40B4-BE49-F238E27FC236}">
                <a16:creationId xmlns:a16="http://schemas.microsoft.com/office/drawing/2014/main" id="{230D9A95-C234-B54F-9885-A7B81E5D6B82}"/>
              </a:ext>
            </a:extLst>
          </p:cNvPr>
          <p:cNvSpPr txBox="1"/>
          <p:nvPr/>
        </p:nvSpPr>
        <p:spPr>
          <a:xfrm>
            <a:off x="9144000" y="1574800"/>
            <a:ext cx="2159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</a:rPr>
              <a:t>Zoomed view (8.0 – 8.5)</a:t>
            </a:r>
          </a:p>
        </p:txBody>
      </p:sp>
      <p:sp>
        <p:nvSpPr>
          <p:cNvPr id="496" name="DR_ZAxis">
            <a:extLst>
              <a:ext uri="{FF2B5EF4-FFF2-40B4-BE49-F238E27FC236}">
                <a16:creationId xmlns:a16="http://schemas.microsoft.com/office/drawing/2014/main" id="{5721351E-BC8F-844F-86A3-9504CD712927}"/>
              </a:ext>
            </a:extLst>
          </p:cNvPr>
          <p:cNvSpPr/>
          <p:nvPr/>
        </p:nvSpPr>
        <p:spPr>
          <a:xfrm>
            <a:off x="3556000" y="2095500"/>
            <a:ext cx="74930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7" name="DR_ZTick">
            <a:extLst>
              <a:ext uri="{FF2B5EF4-FFF2-40B4-BE49-F238E27FC236}">
                <a16:creationId xmlns:a16="http://schemas.microsoft.com/office/drawing/2014/main" id="{34EBB66D-925F-F541-84F4-BF95F650AF09}"/>
              </a:ext>
            </a:extLst>
          </p:cNvPr>
          <p:cNvSpPr/>
          <p:nvPr/>
        </p:nvSpPr>
        <p:spPr>
          <a:xfrm>
            <a:off x="3556000" y="2095500"/>
            <a:ext cx="12700" cy="508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8" name="DR_ZTickLbl">
            <a:extLst>
              <a:ext uri="{FF2B5EF4-FFF2-40B4-BE49-F238E27FC236}">
                <a16:creationId xmlns:a16="http://schemas.microsoft.com/office/drawing/2014/main" id="{2912C975-8A3F-5B4B-B2E4-78C4EF4FC05B}"/>
              </a:ext>
            </a:extLst>
          </p:cNvPr>
          <p:cNvSpPr txBox="1"/>
          <p:nvPr/>
        </p:nvSpPr>
        <p:spPr>
          <a:xfrm>
            <a:off x="3378200" y="2171700"/>
            <a:ext cx="3556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>
                <a:solidFill>
                  <a:srgbClr val="888888"/>
                </a:solidFill>
              </a:rPr>
              <a:t>8.0</a:t>
            </a:r>
          </a:p>
        </p:txBody>
      </p:sp>
      <p:sp>
        <p:nvSpPr>
          <p:cNvPr id="499" name="DR_ZTick">
            <a:extLst>
              <a:ext uri="{FF2B5EF4-FFF2-40B4-BE49-F238E27FC236}">
                <a16:creationId xmlns:a16="http://schemas.microsoft.com/office/drawing/2014/main" id="{F85DA997-9B62-9E43-9495-77EF0E27CD57}"/>
              </a:ext>
            </a:extLst>
          </p:cNvPr>
          <p:cNvSpPr/>
          <p:nvPr/>
        </p:nvSpPr>
        <p:spPr>
          <a:xfrm>
            <a:off x="11049000" y="2095500"/>
            <a:ext cx="12700" cy="508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0" name="DR_ZTickLbl">
            <a:extLst>
              <a:ext uri="{FF2B5EF4-FFF2-40B4-BE49-F238E27FC236}">
                <a16:creationId xmlns:a16="http://schemas.microsoft.com/office/drawing/2014/main" id="{F8DF5354-C622-CC41-A378-03FAD97EEF34}"/>
              </a:ext>
            </a:extLst>
          </p:cNvPr>
          <p:cNvSpPr txBox="1"/>
          <p:nvPr/>
        </p:nvSpPr>
        <p:spPr>
          <a:xfrm>
            <a:off x="10871200" y="2171700"/>
            <a:ext cx="3556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>
                <a:solidFill>
                  <a:srgbClr val="888888"/>
                </a:solidFill>
              </a:rPr>
              <a:t>8.5</a:t>
            </a:r>
          </a:p>
        </p:txBody>
      </p:sp>
      <p:sp>
        <p:nvSpPr>
          <p:cNvPr id="508" name="DR_ZDot">
            <a:extLst>
              <a:ext uri="{FF2B5EF4-FFF2-40B4-BE49-F238E27FC236}">
                <a16:creationId xmlns:a16="http://schemas.microsoft.com/office/drawing/2014/main" id="{773AB9B4-6713-5F49-AC20-52FAEB693537}"/>
              </a:ext>
            </a:extLst>
          </p:cNvPr>
          <p:cNvSpPr/>
          <p:nvPr/>
        </p:nvSpPr>
        <p:spPr>
          <a:xfrm>
            <a:off x="4366260" y="20066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9" name="DR_ZLbl">
            <a:extLst>
              <a:ext uri="{FF2B5EF4-FFF2-40B4-BE49-F238E27FC236}">
                <a16:creationId xmlns:a16="http://schemas.microsoft.com/office/drawing/2014/main" id="{67F5A21C-4049-6244-A0AB-C266911A189A}"/>
              </a:ext>
            </a:extLst>
          </p:cNvPr>
          <p:cNvSpPr txBox="1"/>
          <p:nvPr/>
        </p:nvSpPr>
        <p:spPr>
          <a:xfrm>
            <a:off x="4175760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00A7B5"/>
                </a:solidFill>
              </a:rPr>
              <a:t>d₃
8.06</a:t>
            </a:r>
          </a:p>
        </p:txBody>
      </p:sp>
      <p:sp>
        <p:nvSpPr>
          <p:cNvPr id="510" name="DR_ZDot">
            <a:extLst>
              <a:ext uri="{FF2B5EF4-FFF2-40B4-BE49-F238E27FC236}">
                <a16:creationId xmlns:a16="http://schemas.microsoft.com/office/drawing/2014/main" id="{F54D3196-DE50-A242-98F2-99FDDFD68EAC}"/>
              </a:ext>
            </a:extLst>
          </p:cNvPr>
          <p:cNvSpPr/>
          <p:nvPr/>
        </p:nvSpPr>
        <p:spPr>
          <a:xfrm>
            <a:off x="6314439" y="20066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1" name="DR_ZLbl">
            <a:extLst>
              <a:ext uri="{FF2B5EF4-FFF2-40B4-BE49-F238E27FC236}">
                <a16:creationId xmlns:a16="http://schemas.microsoft.com/office/drawing/2014/main" id="{C892EB5B-8B30-8A41-B50B-14A643EC5275}"/>
              </a:ext>
            </a:extLst>
          </p:cNvPr>
          <p:cNvSpPr txBox="1"/>
          <p:nvPr/>
        </p:nvSpPr>
        <p:spPr>
          <a:xfrm>
            <a:off x="6123939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00A7B5"/>
                </a:solidFill>
              </a:rPr>
              <a:t>d₅
8.19</a:t>
            </a:r>
          </a:p>
        </p:txBody>
      </p:sp>
      <p:sp>
        <p:nvSpPr>
          <p:cNvPr id="512" name="DR_ZDot">
            <a:extLst>
              <a:ext uri="{FF2B5EF4-FFF2-40B4-BE49-F238E27FC236}">
                <a16:creationId xmlns:a16="http://schemas.microsoft.com/office/drawing/2014/main" id="{A0B92E4E-67D9-C641-9E90-81EA7739A81D}"/>
              </a:ext>
            </a:extLst>
          </p:cNvPr>
          <p:cNvSpPr/>
          <p:nvPr/>
        </p:nvSpPr>
        <p:spPr>
          <a:xfrm>
            <a:off x="7213600" y="2006600"/>
            <a:ext cx="177800" cy="1778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3" name="DR_ZLbl">
            <a:extLst>
              <a:ext uri="{FF2B5EF4-FFF2-40B4-BE49-F238E27FC236}">
                <a16:creationId xmlns:a16="http://schemas.microsoft.com/office/drawing/2014/main" id="{C5A28AA1-BC49-5040-8207-0CC7B6F2C4B3}"/>
              </a:ext>
            </a:extLst>
          </p:cNvPr>
          <p:cNvSpPr txBox="1"/>
          <p:nvPr/>
        </p:nvSpPr>
        <p:spPr>
          <a:xfrm>
            <a:off x="7023100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B7A57A"/>
                </a:solidFill>
              </a:rPr>
              <a:t>d₁
8.25</a:t>
            </a:r>
          </a:p>
        </p:txBody>
      </p:sp>
      <p:sp>
        <p:nvSpPr>
          <p:cNvPr id="514" name="DR_ZDot">
            <a:extLst>
              <a:ext uri="{FF2B5EF4-FFF2-40B4-BE49-F238E27FC236}">
                <a16:creationId xmlns:a16="http://schemas.microsoft.com/office/drawing/2014/main" id="{BD5F8093-2D94-1049-83D5-3AFF4B82BEFE}"/>
              </a:ext>
            </a:extLst>
          </p:cNvPr>
          <p:cNvSpPr/>
          <p:nvPr/>
        </p:nvSpPr>
        <p:spPr>
          <a:xfrm>
            <a:off x="9011919" y="2006600"/>
            <a:ext cx="177800" cy="1778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5" name="DR_ZLbl">
            <a:extLst>
              <a:ext uri="{FF2B5EF4-FFF2-40B4-BE49-F238E27FC236}">
                <a16:creationId xmlns:a16="http://schemas.microsoft.com/office/drawing/2014/main" id="{57A9C158-55F1-1F44-9D55-A6E10E2E0BBE}"/>
              </a:ext>
            </a:extLst>
          </p:cNvPr>
          <p:cNvSpPr txBox="1"/>
          <p:nvPr/>
        </p:nvSpPr>
        <p:spPr>
          <a:xfrm>
            <a:off x="8821419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B7A57A"/>
                </a:solidFill>
              </a:rPr>
              <a:t>d₂
8.37</a:t>
            </a:r>
          </a:p>
        </p:txBody>
      </p:sp>
      <p:sp>
        <p:nvSpPr>
          <p:cNvPr id="516" name="DR_ZDot">
            <a:extLst>
              <a:ext uri="{FF2B5EF4-FFF2-40B4-BE49-F238E27FC236}">
                <a16:creationId xmlns:a16="http://schemas.microsoft.com/office/drawing/2014/main" id="{D9A2A49D-BB7C-9E45-93D7-D7DCDC4F669E}"/>
              </a:ext>
            </a:extLst>
          </p:cNvPr>
          <p:cNvSpPr/>
          <p:nvPr/>
        </p:nvSpPr>
        <p:spPr>
          <a:xfrm>
            <a:off x="10810240" y="20066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7" name="DR_ZLbl">
            <a:extLst>
              <a:ext uri="{FF2B5EF4-FFF2-40B4-BE49-F238E27FC236}">
                <a16:creationId xmlns:a16="http://schemas.microsoft.com/office/drawing/2014/main" id="{4075B410-AC05-D344-8BA1-B6FBD3683BE4}"/>
              </a:ext>
            </a:extLst>
          </p:cNvPr>
          <p:cNvSpPr txBox="1"/>
          <p:nvPr/>
        </p:nvSpPr>
        <p:spPr>
          <a:xfrm>
            <a:off x="10619740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00A7B5"/>
                </a:solidFill>
              </a:rPr>
              <a:t>d₄
8.49</a:t>
            </a:r>
          </a:p>
        </p:txBody>
      </p:sp>
      <p:sp>
        <p:nvSpPr>
          <p:cNvPr id="518" name="DR_Anno">
            <a:extLst>
              <a:ext uri="{FF2B5EF4-FFF2-40B4-BE49-F238E27FC236}">
                <a16:creationId xmlns:a16="http://schemas.microsoft.com/office/drawing/2014/main" id="{5BAF80F8-2253-604A-AB1F-8B4F7C7A2250}"/>
              </a:ext>
            </a:extLst>
          </p:cNvPr>
          <p:cNvSpPr txBox="1"/>
          <p:nvPr/>
        </p:nvSpPr>
        <p:spPr>
          <a:xfrm>
            <a:off x="3556000" y="2336800"/>
            <a:ext cx="7493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D1578A"/>
                </a:solidFill>
              </a:rPr>
              <a:t>Total spread: only 0.43 distance units (≈5%) — the signal is gone</a:t>
            </a:r>
          </a:p>
        </p:txBody>
      </p:sp>
    </p:spTree>
    <p:extLst>
      <p:ext uri="{BB962C8B-B14F-4D97-AF65-F5344CB8AC3E}">
        <p14:creationId xmlns:p14="http://schemas.microsoft.com/office/powerpoint/2010/main" val="3518469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Exercise 1 — Find the 1-NN in 2D (k = 1)</a:t>
            </a:r>
          </a:p>
        </p:txBody>
      </p:sp>
      <p:sp>
        <p:nvSpPr>
          <p:cNvPr id="701" name="Ex1_TrainHdr"/>
          <p:cNvSpPr/>
          <p:nvPr/>
        </p:nvSpPr>
        <p:spPr>
          <a:xfrm>
            <a:off x="292100" y="6604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Training set — 2D points (x, y) with class</a:t>
            </a:r>
          </a:p>
        </p:txBody>
      </p:sp>
      <p:sp>
        <p:nvSpPr>
          <p:cNvPr id="702" name="Ex1_TrainBox"/>
          <p:cNvSpPr/>
          <p:nvPr/>
        </p:nvSpPr>
        <p:spPr>
          <a:xfrm>
            <a:off x="292100" y="863600"/>
            <a:ext cx="3810000" cy="2159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Ex1_TrainTbl"/>
          <p:cNvSpPr/>
          <p:nvPr/>
        </p:nvSpPr>
        <p:spPr>
          <a:xfrm>
            <a:off x="444500" y="990600"/>
            <a:ext cx="3505200" cy="19304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Point     x     y     Class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A         2     3  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B         5     4  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C         9     6  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         4     7  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E         8     1      ● Red</a:t>
            </a:r>
          </a:p>
        </p:txBody>
      </p:sp>
      <p:sp>
        <p:nvSpPr>
          <p:cNvPr id="704" name="Ex1_QHdr"/>
          <p:cNvSpPr/>
          <p:nvPr/>
        </p:nvSpPr>
        <p:spPr>
          <a:xfrm>
            <a:off x="292100" y="31496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Query point</a:t>
            </a:r>
          </a:p>
        </p:txBody>
      </p:sp>
      <p:sp>
        <p:nvSpPr>
          <p:cNvPr id="705" name="Ex1_QBox"/>
          <p:cNvSpPr/>
          <p:nvPr/>
        </p:nvSpPr>
        <p:spPr>
          <a:xfrm>
            <a:off x="292100" y="3352800"/>
            <a:ext cx="3810000" cy="660400"/>
          </a:xfrm>
          <a:prstGeom prst="rect">
            <a:avLst/>
          </a:prstGeom>
          <a:solidFill>
            <a:srgbClr val="F0F8FB"/>
          </a:solidFill>
          <a:ln w="127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6" name="Ex1_QTxt"/>
          <p:cNvSpPr/>
          <p:nvPr/>
        </p:nvSpPr>
        <p:spPr>
          <a:xfrm>
            <a:off x="444500" y="3505200"/>
            <a:ext cx="3505200" cy="381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 fontScale="92500" lnSpcReduction="10000"/>
          </a:bodyPr>
          <a:lstStyle/>
          <a:p>
            <a:pPr algn="l"/>
            <a:r>
              <a:rPr lang="en-US" sz="1400" b="1" dirty="0">
                <a:solidFill>
                  <a:srgbClr val="00A7B5"/>
                </a:solidFill>
                <a:latin typeface="Consolas"/>
              </a:rPr>
              <a:t>q* = (6, 5)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Which class does 1-NN assign?</a:t>
            </a:r>
          </a:p>
        </p:txBody>
      </p:sp>
      <p:sp>
        <p:nvSpPr>
          <p:cNvPr id="707" name="Ex1_TaskHdr"/>
          <p:cNvSpPr/>
          <p:nvPr/>
        </p:nvSpPr>
        <p:spPr>
          <a:xfrm>
            <a:off x="4318000" y="660400"/>
            <a:ext cx="747395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Your task</a:t>
            </a:r>
          </a:p>
        </p:txBody>
      </p:sp>
      <p:sp>
        <p:nvSpPr>
          <p:cNvPr id="708" name="Ex1_TaskBox"/>
          <p:cNvSpPr/>
          <p:nvPr/>
        </p:nvSpPr>
        <p:spPr>
          <a:xfrm>
            <a:off x="4318000" y="863600"/>
            <a:ext cx="7473950" cy="2159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9" name="Ex1_TaskTxt"/>
          <p:cNvSpPr/>
          <p:nvPr/>
        </p:nvSpPr>
        <p:spPr>
          <a:xfrm>
            <a:off x="4470400" y="990600"/>
            <a:ext cx="6876034" cy="19304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1.  Compute the Euclidean distance from q*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to each of the five training points.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2.  Identify the single nearest neighbour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(smallest distance).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3.  Assign q* that neighbour's class.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Consolas"/>
              </a:rPr>
              <a:t>Distance:  d = √( (xᵢ−x*)² + (yᵢ−y*)² )</a:t>
            </a:r>
          </a:p>
        </p:txBody>
      </p:sp>
      <p:sp>
        <p:nvSpPr>
          <p:cNvPr id="710" name="Ex1_HintHdr"/>
          <p:cNvSpPr/>
          <p:nvPr/>
        </p:nvSpPr>
        <p:spPr>
          <a:xfrm>
            <a:off x="4318000" y="3149600"/>
            <a:ext cx="747395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Hint</a:t>
            </a:r>
          </a:p>
        </p:txBody>
      </p:sp>
      <p:sp>
        <p:nvSpPr>
          <p:cNvPr id="711" name="Ex1_HintBox"/>
          <p:cNvSpPr/>
          <p:nvPr/>
        </p:nvSpPr>
        <p:spPr>
          <a:xfrm>
            <a:off x="4318000" y="3352800"/>
            <a:ext cx="7473950" cy="660400"/>
          </a:xfrm>
          <a:prstGeom prst="rect">
            <a:avLst/>
          </a:prstGeom>
          <a:solidFill>
            <a:srgbClr val="FBF3F7"/>
          </a:solidFill>
          <a:ln w="12700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Ex1_HintTxt"/>
          <p:cNvSpPr/>
          <p:nvPr/>
        </p:nvSpPr>
        <p:spPr>
          <a:xfrm>
            <a:off x="4470400" y="3454400"/>
            <a:ext cx="6876034" cy="4572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You can compare squared distances — no need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to take square roots to find the minimum.</a:t>
            </a:r>
          </a:p>
        </p:txBody>
      </p:sp>
      <p:sp>
        <p:nvSpPr>
          <p:cNvPr id="713" name="Ex1_SolHdr"/>
          <p:cNvSpPr/>
          <p:nvPr/>
        </p:nvSpPr>
        <p:spPr>
          <a:xfrm>
            <a:off x="292100" y="4140200"/>
            <a:ext cx="85725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</a:t>
            </a:r>
          </a:p>
        </p:txBody>
      </p:sp>
      <p:sp>
        <p:nvSpPr>
          <p:cNvPr id="714" name="Ex1_SolBox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Ex1_SolTxt"/>
          <p:cNvSpPr/>
          <p:nvPr/>
        </p:nvSpPr>
        <p:spPr>
          <a:xfrm>
            <a:off x="482600" y="4445000"/>
            <a:ext cx="11176000" cy="1143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d(q*,A)=√(16+4)=√20≈4.47    d(q*,B)=√(1+1)=√2≈1.41    d(q*,C)=√(9+1)=√10≈3.16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d(q*,D)=√(4+4)=√8≈2.83     d(q*,E)=√(4+16)=√20≈4.47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200" b="1" dirty="0">
                <a:solidFill>
                  <a:srgbClr val="5A8A2A"/>
                </a:solidFill>
                <a:latin typeface="Consolas"/>
              </a:rPr>
              <a:t>Nearest neighbour = B at distance ≈ 1.41  →  1-NN assigns q* the class ● Red</a:t>
            </a:r>
          </a:p>
        </p:txBody>
      </p:sp>
      <p:sp>
        <p:nvSpPr>
          <p:cNvPr id="720" name="Ex1_SolCover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Ex1_SolCoverTxt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🔒  Solution hidden — work it out first, then remove this cover to reveal.</a:t>
            </a:r>
          </a:p>
        </p:txBody>
      </p:sp>
      <p:sp>
        <p:nvSpPr>
          <p:cNvPr id="730" name="Ex1_TkBar"/>
          <p:cNvSpPr/>
          <p:nvPr/>
        </p:nvSpPr>
        <p:spPr>
          <a:xfrm>
            <a:off x="292100" y="5753100"/>
            <a:ext cx="11506200" cy="3683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Ex1_TkTxt"/>
          <p:cNvSpPr/>
          <p:nvPr/>
        </p:nvSpPr>
        <p:spPr>
          <a:xfrm>
            <a:off x="419100" y="5753100"/>
            <a:ext cx="11252200" cy="3683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With k = 1 the decision is just the closest point — in low dimensions distances are well separated and the nearest neighbour is unambiguous.</a:t>
            </a:r>
          </a:p>
        </p:txBody>
      </p:sp>
    </p:spTree>
    <p:extLst>
      <p:ext uri="{BB962C8B-B14F-4D97-AF65-F5344CB8AC3E}">
        <p14:creationId xmlns:p14="http://schemas.microsoft.com/office/powerpoint/2010/main" val="970862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Exercise 2 — Find the 3-NN in 3D (k = 3)</a:t>
            </a:r>
          </a:p>
        </p:txBody>
      </p:sp>
      <p:sp>
        <p:nvSpPr>
          <p:cNvPr id="701" name="Ex2_TrainHdr"/>
          <p:cNvSpPr/>
          <p:nvPr/>
        </p:nvSpPr>
        <p:spPr>
          <a:xfrm>
            <a:off x="292100" y="6604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Training set — 3D points (x, y, z) with class</a:t>
            </a:r>
          </a:p>
        </p:txBody>
      </p:sp>
      <p:sp>
        <p:nvSpPr>
          <p:cNvPr id="702" name="Ex2_TrainBox"/>
          <p:cNvSpPr/>
          <p:nvPr/>
        </p:nvSpPr>
        <p:spPr>
          <a:xfrm>
            <a:off x="292100" y="863600"/>
            <a:ext cx="3810000" cy="22606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Ex2_TrainTbl"/>
          <p:cNvSpPr/>
          <p:nvPr/>
        </p:nvSpPr>
        <p:spPr>
          <a:xfrm>
            <a:off x="444500" y="990600"/>
            <a:ext cx="3505200" cy="2032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Pt    x    y    z    Class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P1    1    2    1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P2    3    3    2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P3    6    5    5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P4    2    4    3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P5    7    6    4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P6    5    2    6    ▲ Blue</a:t>
            </a:r>
          </a:p>
        </p:txBody>
      </p:sp>
      <p:sp>
        <p:nvSpPr>
          <p:cNvPr id="704" name="Ex2_QHdr"/>
          <p:cNvSpPr/>
          <p:nvPr/>
        </p:nvSpPr>
        <p:spPr>
          <a:xfrm>
            <a:off x="292100" y="32258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Query point</a:t>
            </a:r>
          </a:p>
        </p:txBody>
      </p:sp>
      <p:sp>
        <p:nvSpPr>
          <p:cNvPr id="705" name="Ex2_QBox"/>
          <p:cNvSpPr/>
          <p:nvPr/>
        </p:nvSpPr>
        <p:spPr>
          <a:xfrm>
            <a:off x="292100" y="3429000"/>
            <a:ext cx="3810000" cy="660400"/>
          </a:xfrm>
          <a:prstGeom prst="rect">
            <a:avLst/>
          </a:prstGeom>
          <a:solidFill>
            <a:srgbClr val="F0F8FB"/>
          </a:solidFill>
          <a:ln w="127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6" name="Ex2_QTxt"/>
          <p:cNvSpPr/>
          <p:nvPr/>
        </p:nvSpPr>
        <p:spPr>
          <a:xfrm>
            <a:off x="444500" y="3581400"/>
            <a:ext cx="3505200" cy="381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 fontScale="92500" lnSpcReduction="10000"/>
          </a:bodyPr>
          <a:lstStyle/>
          <a:p>
            <a:pPr algn="l"/>
            <a:r>
              <a:rPr lang="en-US" sz="1400" b="1" dirty="0">
                <a:solidFill>
                  <a:srgbClr val="00A7B5"/>
                </a:solidFill>
                <a:latin typeface="Consolas"/>
              </a:rPr>
              <a:t>q* = (3, 4, 2)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Which class wins the 3-NN majority vote?</a:t>
            </a:r>
          </a:p>
        </p:txBody>
      </p:sp>
      <p:sp>
        <p:nvSpPr>
          <p:cNvPr id="707" name="Ex2_TaskHdr"/>
          <p:cNvSpPr/>
          <p:nvPr/>
        </p:nvSpPr>
        <p:spPr>
          <a:xfrm>
            <a:off x="4486164" y="660400"/>
            <a:ext cx="7261335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Your task</a:t>
            </a:r>
          </a:p>
        </p:txBody>
      </p:sp>
      <p:sp>
        <p:nvSpPr>
          <p:cNvPr id="708" name="Ex2_TaskBox"/>
          <p:cNvSpPr/>
          <p:nvPr/>
        </p:nvSpPr>
        <p:spPr>
          <a:xfrm>
            <a:off x="4486164" y="863600"/>
            <a:ext cx="7261335" cy="22606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9" name="Ex2_TaskTxt"/>
          <p:cNvSpPr/>
          <p:nvPr/>
        </p:nvSpPr>
        <p:spPr>
          <a:xfrm>
            <a:off x="4638565" y="990600"/>
            <a:ext cx="6680428" cy="2032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1.  Compute the Euclidean distance from q*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to each of the six training points.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2.  Select the three nearest neighbours.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3.  Take the majority class among those 3.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Distance:</a:t>
            </a: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Consolas"/>
              </a:rPr>
              <a:t>d = √( (xᵢ−x*)²+(yᵢ−y*)²+(zᵢ−z*)² )</a:t>
            </a:r>
          </a:p>
        </p:txBody>
      </p:sp>
      <p:sp>
        <p:nvSpPr>
          <p:cNvPr id="710" name="Ex2_HintHdr"/>
          <p:cNvSpPr/>
          <p:nvPr/>
        </p:nvSpPr>
        <p:spPr>
          <a:xfrm>
            <a:off x="4486164" y="3225800"/>
            <a:ext cx="7261335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Hint</a:t>
            </a:r>
          </a:p>
        </p:txBody>
      </p:sp>
      <p:sp>
        <p:nvSpPr>
          <p:cNvPr id="711" name="Ex2_HintBox"/>
          <p:cNvSpPr/>
          <p:nvPr/>
        </p:nvSpPr>
        <p:spPr>
          <a:xfrm>
            <a:off x="4486164" y="3429000"/>
            <a:ext cx="7261335" cy="660400"/>
          </a:xfrm>
          <a:prstGeom prst="rect">
            <a:avLst/>
          </a:prstGeom>
          <a:solidFill>
            <a:srgbClr val="FBF3F7"/>
          </a:solidFill>
          <a:ln w="12700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Ex2_HintTxt"/>
          <p:cNvSpPr/>
          <p:nvPr/>
        </p:nvSpPr>
        <p:spPr>
          <a:xfrm>
            <a:off x="4638565" y="3530600"/>
            <a:ext cx="6680428" cy="4572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Compare squared distances to rank neighbours;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with k = 3, ties are broken by the closest point.</a:t>
            </a:r>
          </a:p>
        </p:txBody>
      </p:sp>
      <p:sp>
        <p:nvSpPr>
          <p:cNvPr id="713" name="Ex2_SolHdr"/>
          <p:cNvSpPr/>
          <p:nvPr/>
        </p:nvSpPr>
        <p:spPr>
          <a:xfrm>
            <a:off x="292100" y="4191000"/>
            <a:ext cx="85725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</a:t>
            </a:r>
          </a:p>
        </p:txBody>
      </p:sp>
      <p:sp>
        <p:nvSpPr>
          <p:cNvPr id="714" name="Ex2_SolBox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Ex2_SolTxt"/>
          <p:cNvSpPr/>
          <p:nvPr/>
        </p:nvSpPr>
        <p:spPr>
          <a:xfrm>
            <a:off x="482600" y="4483100"/>
            <a:ext cx="11176000" cy="1117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050" dirty="0">
                <a:solidFill>
                  <a:srgbClr val="333333"/>
                </a:solidFill>
                <a:latin typeface="Consolas"/>
              </a:rPr>
              <a:t>d²: P1=8  P2=2  P3=23  P4=2  P5=44  P6=24      →  d: P1≈2.83  P2≈1.41  P4≈1.41  P3≈4.80  P6≈4.90  P5≈6.63</a:t>
            </a:r>
          </a:p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3 nearest = P2 (●Red), P4 (●Red), P1 (●Red)</a:t>
            </a:r>
          </a:p>
          <a:p>
            <a:pPr algn="l"/>
            <a:endParaRPr lang="en-US" sz="1100" b="1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200" b="1" dirty="0">
                <a:solidFill>
                  <a:srgbClr val="5A8A2A"/>
                </a:solidFill>
                <a:latin typeface="Consolas"/>
              </a:rPr>
              <a:t>Majority vote = 3 of 3 Red  →  3-NN assigns q* the class ● Red</a:t>
            </a:r>
          </a:p>
        </p:txBody>
      </p:sp>
      <p:sp>
        <p:nvSpPr>
          <p:cNvPr id="720" name="Ex2_SolCover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Ex2_SolCoverTxt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🔒  Solution hidden — work it out first, then remove this cover to reveal.</a:t>
            </a:r>
          </a:p>
        </p:txBody>
      </p:sp>
      <p:sp>
        <p:nvSpPr>
          <p:cNvPr id="730" name="Ex2_TkBar"/>
          <p:cNvSpPr/>
          <p:nvPr/>
        </p:nvSpPr>
        <p:spPr>
          <a:xfrm>
            <a:off x="292100" y="5753100"/>
            <a:ext cx="11506200" cy="3683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Ex2_TkTxt"/>
          <p:cNvSpPr/>
          <p:nvPr/>
        </p:nvSpPr>
        <p:spPr>
          <a:xfrm>
            <a:off x="419100" y="5753100"/>
            <a:ext cx="11252200" cy="3683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With k = 3 the vote smooths out single odd neighbours — but adding the z-dimension spreads points further apart, so distances must be recomputed in full 3D.</a:t>
            </a:r>
          </a:p>
        </p:txBody>
      </p:sp>
    </p:spTree>
    <p:extLst>
      <p:ext uri="{BB962C8B-B14F-4D97-AF65-F5344CB8AC3E}">
        <p14:creationId xmlns:p14="http://schemas.microsoft.com/office/powerpoint/2010/main" val="3750936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560320"/>
            <a:ext cx="929030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Linear Algebra</a:t>
            </a:r>
            <a:br>
              <a:rPr lang="en-US" sz="4400" b="1" dirty="0">
                <a:solidFill>
                  <a:srgbClr val="FFFFFF"/>
                </a:solidFill>
              </a:rPr>
            </a:br>
            <a:r>
              <a:rPr lang="en-US" sz="2400" b="0" dirty="0">
                <a:solidFill>
                  <a:srgbClr val="FFFFFF"/>
                </a:solidFill>
              </a:rPr>
              <a:t>The language of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236720"/>
            <a:ext cx="301752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16393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E751-6BD9-5057-E269-321D916CF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represent data as matrices and vectors?</a:t>
            </a:r>
          </a:p>
        </p:txBody>
      </p:sp>
      <p:sp>
        <p:nvSpPr>
          <p:cNvPr id="3" name="WhyCard">
            <a:extLst>
              <a:ext uri="{FF2B5EF4-FFF2-40B4-BE49-F238E27FC236}">
                <a16:creationId xmlns:a16="http://schemas.microsoft.com/office/drawing/2014/main" id="{18848BD1-44AA-494D-BFBD-CDD3671C722D}"/>
              </a:ext>
            </a:extLst>
          </p:cNvPr>
          <p:cNvSpPr/>
          <p:nvPr/>
        </p:nvSpPr>
        <p:spPr>
          <a:xfrm>
            <a:off x="50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WhyBar">
            <a:extLst>
              <a:ext uri="{FF2B5EF4-FFF2-40B4-BE49-F238E27FC236}">
                <a16:creationId xmlns:a16="http://schemas.microsoft.com/office/drawing/2014/main" id="{DB000923-7C33-B243-9473-34600502D381}"/>
              </a:ext>
            </a:extLst>
          </p:cNvPr>
          <p:cNvSpPr/>
          <p:nvPr/>
        </p:nvSpPr>
        <p:spPr>
          <a:xfrm>
            <a:off x="508000" y="2070786"/>
            <a:ext cx="3556000" cy="101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WhyNum">
            <a:extLst>
              <a:ext uri="{FF2B5EF4-FFF2-40B4-BE49-F238E27FC236}">
                <a16:creationId xmlns:a16="http://schemas.microsoft.com/office/drawing/2014/main" id="{8E032B3B-BBD8-BF4A-B2EF-7844C9FF5A6C}"/>
              </a:ext>
            </a:extLst>
          </p:cNvPr>
          <p:cNvSpPr/>
          <p:nvPr/>
        </p:nvSpPr>
        <p:spPr>
          <a:xfrm>
            <a:off x="1879600" y="2451100"/>
            <a:ext cx="812800" cy="812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WhyHdr">
            <a:extLst>
              <a:ext uri="{FF2B5EF4-FFF2-40B4-BE49-F238E27FC236}">
                <a16:creationId xmlns:a16="http://schemas.microsoft.com/office/drawing/2014/main" id="{19A9EA7E-3634-0041-B2A0-2FE3A003795B}"/>
              </a:ext>
            </a:extLst>
          </p:cNvPr>
          <p:cNvSpPr txBox="1"/>
          <p:nvPr/>
        </p:nvSpPr>
        <p:spPr>
          <a:xfrm>
            <a:off x="68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Compact notation</a:t>
            </a:r>
          </a:p>
        </p:txBody>
      </p:sp>
      <p:sp>
        <p:nvSpPr>
          <p:cNvPr id="7" name="WhyBody">
            <a:extLst>
              <a:ext uri="{FF2B5EF4-FFF2-40B4-BE49-F238E27FC236}">
                <a16:creationId xmlns:a16="http://schemas.microsoft.com/office/drawing/2014/main" id="{3041FFEA-70F1-2947-B9B5-22954EB11F25}"/>
              </a:ext>
            </a:extLst>
          </p:cNvPr>
          <p:cNvSpPr txBox="1"/>
          <p:nvPr/>
        </p:nvSpPr>
        <p:spPr>
          <a:xfrm>
            <a:off x="73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Instead of writing dozens of equations for each feature, one symbol stands for the whole dataset. Less ink, fewer mistakes, easier to reason about.</a:t>
            </a:r>
          </a:p>
        </p:txBody>
      </p:sp>
      <p:sp>
        <p:nvSpPr>
          <p:cNvPr id="8" name="WhyCard">
            <a:extLst>
              <a:ext uri="{FF2B5EF4-FFF2-40B4-BE49-F238E27FC236}">
                <a16:creationId xmlns:a16="http://schemas.microsoft.com/office/drawing/2014/main" id="{1B34B331-FC04-BD48-83C5-3D22C03233B0}"/>
              </a:ext>
            </a:extLst>
          </p:cNvPr>
          <p:cNvSpPr/>
          <p:nvPr/>
        </p:nvSpPr>
        <p:spPr>
          <a:xfrm>
            <a:off x="431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WhyBar">
            <a:extLst>
              <a:ext uri="{FF2B5EF4-FFF2-40B4-BE49-F238E27FC236}">
                <a16:creationId xmlns:a16="http://schemas.microsoft.com/office/drawing/2014/main" id="{94CCA739-F412-3840-BE3B-761BF58F074C}"/>
              </a:ext>
            </a:extLst>
          </p:cNvPr>
          <p:cNvSpPr/>
          <p:nvPr/>
        </p:nvSpPr>
        <p:spPr>
          <a:xfrm>
            <a:off x="4318000" y="2070786"/>
            <a:ext cx="3556000" cy="101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WhyNum">
            <a:extLst>
              <a:ext uri="{FF2B5EF4-FFF2-40B4-BE49-F238E27FC236}">
                <a16:creationId xmlns:a16="http://schemas.microsoft.com/office/drawing/2014/main" id="{74982DD7-02ED-3546-B895-9D1DD4391A74}"/>
              </a:ext>
            </a:extLst>
          </p:cNvPr>
          <p:cNvSpPr/>
          <p:nvPr/>
        </p:nvSpPr>
        <p:spPr>
          <a:xfrm>
            <a:off x="5689600" y="2451100"/>
            <a:ext cx="812800" cy="812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WhyHdr">
            <a:extLst>
              <a:ext uri="{FF2B5EF4-FFF2-40B4-BE49-F238E27FC236}">
                <a16:creationId xmlns:a16="http://schemas.microsoft.com/office/drawing/2014/main" id="{CD0E5C4E-AF05-EB4F-8F45-8CF652CFA54A}"/>
              </a:ext>
            </a:extLst>
          </p:cNvPr>
          <p:cNvSpPr txBox="1"/>
          <p:nvPr/>
        </p:nvSpPr>
        <p:spPr>
          <a:xfrm>
            <a:off x="449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0A7B5"/>
                </a:solidFill>
              </a:rPr>
              <a:t>Geometry unlocks meaning</a:t>
            </a:r>
          </a:p>
        </p:txBody>
      </p:sp>
      <p:sp>
        <p:nvSpPr>
          <p:cNvPr id="12" name="WhyBody">
            <a:extLst>
              <a:ext uri="{FF2B5EF4-FFF2-40B4-BE49-F238E27FC236}">
                <a16:creationId xmlns:a16="http://schemas.microsoft.com/office/drawing/2014/main" id="{115952D9-45A7-2541-841D-6725BC7BDAB3}"/>
              </a:ext>
            </a:extLst>
          </p:cNvPr>
          <p:cNvSpPr txBox="1"/>
          <p:nvPr/>
        </p:nvSpPr>
        <p:spPr>
          <a:xfrm>
            <a:off x="454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Vectors live in space. Distances, angles, and projections become natural — similarity, clustering, and rotations all become arithmetic.</a:t>
            </a:r>
          </a:p>
        </p:txBody>
      </p:sp>
      <p:sp>
        <p:nvSpPr>
          <p:cNvPr id="13" name="WhyCard">
            <a:extLst>
              <a:ext uri="{FF2B5EF4-FFF2-40B4-BE49-F238E27FC236}">
                <a16:creationId xmlns:a16="http://schemas.microsoft.com/office/drawing/2014/main" id="{6D445EF4-AC54-0C4E-9BA2-7A13BDECC168}"/>
              </a:ext>
            </a:extLst>
          </p:cNvPr>
          <p:cNvSpPr/>
          <p:nvPr/>
        </p:nvSpPr>
        <p:spPr>
          <a:xfrm>
            <a:off x="812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WhyBar">
            <a:extLst>
              <a:ext uri="{FF2B5EF4-FFF2-40B4-BE49-F238E27FC236}">
                <a16:creationId xmlns:a16="http://schemas.microsoft.com/office/drawing/2014/main" id="{D15466B9-72DE-1F4B-8900-C97135CD1DCF}"/>
              </a:ext>
            </a:extLst>
          </p:cNvPr>
          <p:cNvSpPr/>
          <p:nvPr/>
        </p:nvSpPr>
        <p:spPr>
          <a:xfrm>
            <a:off x="8128000" y="2070786"/>
            <a:ext cx="3556000" cy="101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WhyNum">
            <a:extLst>
              <a:ext uri="{FF2B5EF4-FFF2-40B4-BE49-F238E27FC236}">
                <a16:creationId xmlns:a16="http://schemas.microsoft.com/office/drawing/2014/main" id="{FD8B5103-76AA-8345-8E46-961DB36B574D}"/>
              </a:ext>
            </a:extLst>
          </p:cNvPr>
          <p:cNvSpPr/>
          <p:nvPr/>
        </p:nvSpPr>
        <p:spPr>
          <a:xfrm>
            <a:off x="9499600" y="2451100"/>
            <a:ext cx="812800" cy="812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WhyHdr">
            <a:extLst>
              <a:ext uri="{FF2B5EF4-FFF2-40B4-BE49-F238E27FC236}">
                <a16:creationId xmlns:a16="http://schemas.microsoft.com/office/drawing/2014/main" id="{6B955F82-BE95-884E-85F1-8D65EC635B34}"/>
              </a:ext>
            </a:extLst>
          </p:cNvPr>
          <p:cNvSpPr txBox="1"/>
          <p:nvPr/>
        </p:nvSpPr>
        <p:spPr>
          <a:xfrm>
            <a:off x="830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D1578A"/>
                </a:solidFill>
              </a:rPr>
              <a:t>Built for computation</a:t>
            </a:r>
          </a:p>
        </p:txBody>
      </p:sp>
      <p:sp>
        <p:nvSpPr>
          <p:cNvPr id="17" name="WhyBody">
            <a:extLst>
              <a:ext uri="{FF2B5EF4-FFF2-40B4-BE49-F238E27FC236}">
                <a16:creationId xmlns:a16="http://schemas.microsoft.com/office/drawing/2014/main" id="{E85D426F-46A9-C74D-8FD4-3B6D21E8715A}"/>
              </a:ext>
            </a:extLst>
          </p:cNvPr>
          <p:cNvSpPr txBox="1"/>
          <p:nvPr/>
        </p:nvSpPr>
        <p:spPr>
          <a:xfrm>
            <a:off x="835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Matrix operations run on optimized linear algebra libraries (BLAS, GPUs). A single line of code processes millions of rows in parallel.</a:t>
            </a:r>
          </a:p>
        </p:txBody>
      </p:sp>
      <p:sp>
        <p:nvSpPr>
          <p:cNvPr id="18" name="WhyTk">
            <a:extLst>
              <a:ext uri="{FF2B5EF4-FFF2-40B4-BE49-F238E27FC236}">
                <a16:creationId xmlns:a16="http://schemas.microsoft.com/office/drawing/2014/main" id="{D338A279-C16D-CC4C-AC2F-82CD6972C069}"/>
              </a:ext>
            </a:extLst>
          </p:cNvPr>
          <p:cNvSpPr/>
          <p:nvPr/>
        </p:nvSpPr>
        <p:spPr>
          <a:xfrm>
            <a:off x="508000" y="5842000"/>
            <a:ext cx="11176000" cy="50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Vectors and matrices turn data into objects we can measure, transform, and compute with.</a:t>
            </a:r>
          </a:p>
        </p:txBody>
      </p:sp>
    </p:spTree>
    <p:extLst>
      <p:ext uri="{BB962C8B-B14F-4D97-AF65-F5344CB8AC3E}">
        <p14:creationId xmlns:p14="http://schemas.microsoft.com/office/powerpoint/2010/main" val="1042771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3A40-7C5D-99FF-82B9-6EF31B13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Vectors — Example 1: a student's exam scores</a:t>
            </a:r>
          </a:p>
        </p:txBody>
      </p:sp>
      <p:sp>
        <p:nvSpPr>
          <p:cNvPr id="3" name="VLbl">
            <a:extLst>
              <a:ext uri="{FF2B5EF4-FFF2-40B4-BE49-F238E27FC236}">
                <a16:creationId xmlns:a16="http://schemas.microsoft.com/office/drawing/2014/main" id="{19409F87-9F3D-7B47-A079-D0EBDDBB6BC7}"/>
              </a:ext>
            </a:extLst>
          </p:cNvPr>
          <p:cNvSpPr txBox="1"/>
          <p:nvPr/>
        </p:nvSpPr>
        <p:spPr>
          <a:xfrm>
            <a:off x="635000" y="16129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666666"/>
                </a:solidFill>
              </a:rPr>
              <a:t>The raw data</a:t>
            </a:r>
          </a:p>
        </p:txBody>
      </p:sp>
      <p:sp>
        <p:nvSpPr>
          <p:cNvPr id="4" name="VBan">
            <a:extLst>
              <a:ext uri="{FF2B5EF4-FFF2-40B4-BE49-F238E27FC236}">
                <a16:creationId xmlns:a16="http://schemas.microsoft.com/office/drawing/2014/main" id="{78AC1AA5-5F35-D44A-B18B-D92F0C2594CA}"/>
              </a:ext>
            </a:extLst>
          </p:cNvPr>
          <p:cNvSpPr/>
          <p:nvPr/>
        </p:nvSpPr>
        <p:spPr>
          <a:xfrm>
            <a:off x="635000" y="1968500"/>
            <a:ext cx="4826000" cy="457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Student: Alice Chen</a:t>
            </a:r>
          </a:p>
        </p:txBody>
      </p:sp>
      <p:sp>
        <p:nvSpPr>
          <p:cNvPr id="5" name="VRowBg">
            <a:extLst>
              <a:ext uri="{FF2B5EF4-FFF2-40B4-BE49-F238E27FC236}">
                <a16:creationId xmlns:a16="http://schemas.microsoft.com/office/drawing/2014/main" id="{CE0CC059-8064-4145-8714-8B697A84F6A5}"/>
              </a:ext>
            </a:extLst>
          </p:cNvPr>
          <p:cNvSpPr/>
          <p:nvPr/>
        </p:nvSpPr>
        <p:spPr>
          <a:xfrm>
            <a:off x="635000" y="2425700"/>
            <a:ext cx="4826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VRowL">
            <a:extLst>
              <a:ext uri="{FF2B5EF4-FFF2-40B4-BE49-F238E27FC236}">
                <a16:creationId xmlns:a16="http://schemas.microsoft.com/office/drawing/2014/main" id="{0F81D6CE-35FA-0F4C-BE9C-C43A40059BCB}"/>
              </a:ext>
            </a:extLst>
          </p:cNvPr>
          <p:cNvSpPr txBox="1"/>
          <p:nvPr/>
        </p:nvSpPr>
        <p:spPr>
          <a:xfrm>
            <a:off x="838200" y="2527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Math</a:t>
            </a:r>
          </a:p>
        </p:txBody>
      </p:sp>
      <p:sp>
        <p:nvSpPr>
          <p:cNvPr id="7" name="VRowV">
            <a:extLst>
              <a:ext uri="{FF2B5EF4-FFF2-40B4-BE49-F238E27FC236}">
                <a16:creationId xmlns:a16="http://schemas.microsoft.com/office/drawing/2014/main" id="{419E3D93-ACCE-CC48-9C3D-C5773110A262}"/>
              </a:ext>
            </a:extLst>
          </p:cNvPr>
          <p:cNvSpPr txBox="1"/>
          <p:nvPr/>
        </p:nvSpPr>
        <p:spPr>
          <a:xfrm>
            <a:off x="4191000" y="25273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85</a:t>
            </a:r>
          </a:p>
        </p:txBody>
      </p:sp>
      <p:sp>
        <p:nvSpPr>
          <p:cNvPr id="8" name="VRowBg">
            <a:extLst>
              <a:ext uri="{FF2B5EF4-FFF2-40B4-BE49-F238E27FC236}">
                <a16:creationId xmlns:a16="http://schemas.microsoft.com/office/drawing/2014/main" id="{A0EA04CF-7B79-1645-B73E-BB89D1078D19}"/>
              </a:ext>
            </a:extLst>
          </p:cNvPr>
          <p:cNvSpPr/>
          <p:nvPr/>
        </p:nvSpPr>
        <p:spPr>
          <a:xfrm>
            <a:off x="635000" y="2959100"/>
            <a:ext cx="4826000" cy="533400"/>
          </a:xfrm>
          <a:prstGeom prst="rect">
            <a:avLst/>
          </a:prstGeom>
          <a:solidFill>
            <a:srgbClr val="F5F0EB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VRowL">
            <a:extLst>
              <a:ext uri="{FF2B5EF4-FFF2-40B4-BE49-F238E27FC236}">
                <a16:creationId xmlns:a16="http://schemas.microsoft.com/office/drawing/2014/main" id="{255E2DD2-6B15-1749-9149-A66D642722F2}"/>
              </a:ext>
            </a:extLst>
          </p:cNvPr>
          <p:cNvSpPr txBox="1"/>
          <p:nvPr/>
        </p:nvSpPr>
        <p:spPr>
          <a:xfrm>
            <a:off x="838200" y="30607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Physics</a:t>
            </a:r>
          </a:p>
        </p:txBody>
      </p:sp>
      <p:sp>
        <p:nvSpPr>
          <p:cNvPr id="10" name="VRowV">
            <a:extLst>
              <a:ext uri="{FF2B5EF4-FFF2-40B4-BE49-F238E27FC236}">
                <a16:creationId xmlns:a16="http://schemas.microsoft.com/office/drawing/2014/main" id="{D566B9E9-49C5-1943-9C66-393F97C69242}"/>
              </a:ext>
            </a:extLst>
          </p:cNvPr>
          <p:cNvSpPr txBox="1"/>
          <p:nvPr/>
        </p:nvSpPr>
        <p:spPr>
          <a:xfrm>
            <a:off x="4191000" y="30607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92</a:t>
            </a:r>
          </a:p>
        </p:txBody>
      </p:sp>
      <p:sp>
        <p:nvSpPr>
          <p:cNvPr id="11" name="VRowBg">
            <a:extLst>
              <a:ext uri="{FF2B5EF4-FFF2-40B4-BE49-F238E27FC236}">
                <a16:creationId xmlns:a16="http://schemas.microsoft.com/office/drawing/2014/main" id="{AE005F7E-FC38-AD4F-9ED1-53A7390C173C}"/>
              </a:ext>
            </a:extLst>
          </p:cNvPr>
          <p:cNvSpPr/>
          <p:nvPr/>
        </p:nvSpPr>
        <p:spPr>
          <a:xfrm>
            <a:off x="635000" y="3492500"/>
            <a:ext cx="4826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RowL">
            <a:extLst>
              <a:ext uri="{FF2B5EF4-FFF2-40B4-BE49-F238E27FC236}">
                <a16:creationId xmlns:a16="http://schemas.microsoft.com/office/drawing/2014/main" id="{15E93B09-09F3-B34D-9B96-EDD906BEEDC0}"/>
              </a:ext>
            </a:extLst>
          </p:cNvPr>
          <p:cNvSpPr txBox="1"/>
          <p:nvPr/>
        </p:nvSpPr>
        <p:spPr>
          <a:xfrm>
            <a:off x="838200" y="35941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Biology</a:t>
            </a:r>
          </a:p>
        </p:txBody>
      </p:sp>
      <p:sp>
        <p:nvSpPr>
          <p:cNvPr id="13" name="VRowV">
            <a:extLst>
              <a:ext uri="{FF2B5EF4-FFF2-40B4-BE49-F238E27FC236}">
                <a16:creationId xmlns:a16="http://schemas.microsoft.com/office/drawing/2014/main" id="{B7DDC4D3-0B86-9B41-B605-A7A11E8FE07B}"/>
              </a:ext>
            </a:extLst>
          </p:cNvPr>
          <p:cNvSpPr txBox="1"/>
          <p:nvPr/>
        </p:nvSpPr>
        <p:spPr>
          <a:xfrm>
            <a:off x="4191000" y="35941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78</a:t>
            </a:r>
          </a:p>
        </p:txBody>
      </p:sp>
      <p:sp>
        <p:nvSpPr>
          <p:cNvPr id="14" name="VRowBg">
            <a:extLst>
              <a:ext uri="{FF2B5EF4-FFF2-40B4-BE49-F238E27FC236}">
                <a16:creationId xmlns:a16="http://schemas.microsoft.com/office/drawing/2014/main" id="{CC81B5C2-D2D4-FA48-A635-C4BF3DBD99C2}"/>
              </a:ext>
            </a:extLst>
          </p:cNvPr>
          <p:cNvSpPr/>
          <p:nvPr/>
        </p:nvSpPr>
        <p:spPr>
          <a:xfrm>
            <a:off x="635000" y="4025900"/>
            <a:ext cx="4826000" cy="533400"/>
          </a:xfrm>
          <a:prstGeom prst="rect">
            <a:avLst/>
          </a:prstGeom>
          <a:solidFill>
            <a:srgbClr val="F5F0EB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VRowL">
            <a:extLst>
              <a:ext uri="{FF2B5EF4-FFF2-40B4-BE49-F238E27FC236}">
                <a16:creationId xmlns:a16="http://schemas.microsoft.com/office/drawing/2014/main" id="{CC421B14-AD88-424A-A880-441B2D4F58A2}"/>
              </a:ext>
            </a:extLst>
          </p:cNvPr>
          <p:cNvSpPr txBox="1"/>
          <p:nvPr/>
        </p:nvSpPr>
        <p:spPr>
          <a:xfrm>
            <a:off x="838200" y="41275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History</a:t>
            </a:r>
          </a:p>
        </p:txBody>
      </p:sp>
      <p:sp>
        <p:nvSpPr>
          <p:cNvPr id="16" name="VRowV">
            <a:extLst>
              <a:ext uri="{FF2B5EF4-FFF2-40B4-BE49-F238E27FC236}">
                <a16:creationId xmlns:a16="http://schemas.microsoft.com/office/drawing/2014/main" id="{F9B19058-CFF5-E24B-9BA7-A868CDDE5DF8}"/>
              </a:ext>
            </a:extLst>
          </p:cNvPr>
          <p:cNvSpPr txBox="1"/>
          <p:nvPr/>
        </p:nvSpPr>
        <p:spPr>
          <a:xfrm>
            <a:off x="4191000" y="41275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88</a:t>
            </a:r>
          </a:p>
        </p:txBody>
      </p:sp>
      <p:sp>
        <p:nvSpPr>
          <p:cNvPr id="17" name="VArrow">
            <a:extLst>
              <a:ext uri="{FF2B5EF4-FFF2-40B4-BE49-F238E27FC236}">
                <a16:creationId xmlns:a16="http://schemas.microsoft.com/office/drawing/2014/main" id="{763C6C83-0DC3-4948-B02B-8C386B4AD0B8}"/>
              </a:ext>
            </a:extLst>
          </p:cNvPr>
          <p:cNvSpPr/>
          <p:nvPr/>
        </p:nvSpPr>
        <p:spPr>
          <a:xfrm>
            <a:off x="5715000" y="2984500"/>
            <a:ext cx="889000" cy="762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VArrL">
            <a:extLst>
              <a:ext uri="{FF2B5EF4-FFF2-40B4-BE49-F238E27FC236}">
                <a16:creationId xmlns:a16="http://schemas.microsoft.com/office/drawing/2014/main" id="{F8F26C34-7ED7-8844-8F7E-B8EE210A00DA}"/>
              </a:ext>
            </a:extLst>
          </p:cNvPr>
          <p:cNvSpPr txBox="1"/>
          <p:nvPr/>
        </p:nvSpPr>
        <p:spPr>
          <a:xfrm>
            <a:off x="5588000" y="27051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19" name="VLbl">
            <a:extLst>
              <a:ext uri="{FF2B5EF4-FFF2-40B4-BE49-F238E27FC236}">
                <a16:creationId xmlns:a16="http://schemas.microsoft.com/office/drawing/2014/main" id="{E4E1F1A8-810D-5848-84D7-CAD4549BEDB7}"/>
              </a:ext>
            </a:extLst>
          </p:cNvPr>
          <p:cNvSpPr txBox="1"/>
          <p:nvPr/>
        </p:nvSpPr>
        <p:spPr>
          <a:xfrm>
            <a:off x="6921500" y="16129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666666"/>
                </a:solidFill>
              </a:rPr>
              <a:t>As a vector</a:t>
            </a:r>
          </a:p>
        </p:txBody>
      </p:sp>
      <p:sp>
        <p:nvSpPr>
          <p:cNvPr id="28" name="VTk">
            <a:extLst>
              <a:ext uri="{FF2B5EF4-FFF2-40B4-BE49-F238E27FC236}">
                <a16:creationId xmlns:a16="http://schemas.microsoft.com/office/drawing/2014/main" id="{E4CCB6BA-D895-D14F-A235-9FB43509F64E}"/>
              </a:ext>
            </a:extLst>
          </p:cNvPr>
          <p:cNvSpPr/>
          <p:nvPr/>
        </p:nvSpPr>
        <p:spPr>
          <a:xfrm>
            <a:off x="508000" y="5969000"/>
            <a:ext cx="11176000" cy="50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One student becomes one 4-dimensional vector — one number per subject, in a fixed order.</a:t>
            </a:r>
          </a:p>
        </p:txBody>
      </p:sp>
      <p:sp>
        <p:nvSpPr>
          <p:cNvPr id="29" name="VEq">
            <a:extLst>
              <a:ext uri="{FF2B5EF4-FFF2-40B4-BE49-F238E27FC236}">
                <a16:creationId xmlns:a16="http://schemas.microsoft.com/office/drawing/2014/main" id="{A5E750C3-B18B-C94B-8DEC-3646A0316067}"/>
              </a:ext>
            </a:extLst>
          </p:cNvPr>
          <p:cNvSpPr txBox="1"/>
          <p:nvPr/>
        </p:nvSpPr>
        <p:spPr>
          <a:xfrm>
            <a:off x="7759700" y="2761049"/>
            <a:ext cx="635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3600" b="1" i="1" dirty="0">
                <a:solidFill>
                  <a:srgbClr val="4B2E83"/>
                </a:solidFill>
                <a:latin typeface="Cambria Math"/>
                <a:ea typeface="Cambria Math"/>
              </a:rPr>
              <a:t>v =</a:t>
            </a:r>
          </a:p>
        </p:txBody>
      </p:sp>
      <p:sp>
        <p:nvSpPr>
          <p:cNvPr id="30" name="VBr">
            <a:extLst>
              <a:ext uri="{FF2B5EF4-FFF2-40B4-BE49-F238E27FC236}">
                <a16:creationId xmlns:a16="http://schemas.microsoft.com/office/drawing/2014/main" id="{CC26326D-3F00-F04F-B797-E0910DF62DA9}"/>
              </a:ext>
            </a:extLst>
          </p:cNvPr>
          <p:cNvSpPr/>
          <p:nvPr/>
        </p:nvSpPr>
        <p:spPr>
          <a:xfrm>
            <a:off x="8763000" y="2120900"/>
            <a:ext cx="2032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VBr">
            <a:extLst>
              <a:ext uri="{FF2B5EF4-FFF2-40B4-BE49-F238E27FC236}">
                <a16:creationId xmlns:a16="http://schemas.microsoft.com/office/drawing/2014/main" id="{E8228F10-4C65-A54D-9D8C-D01A76E858CD}"/>
              </a:ext>
            </a:extLst>
          </p:cNvPr>
          <p:cNvSpPr/>
          <p:nvPr/>
        </p:nvSpPr>
        <p:spPr>
          <a:xfrm>
            <a:off x="9537700" y="2113005"/>
            <a:ext cx="2032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VVal">
            <a:extLst>
              <a:ext uri="{FF2B5EF4-FFF2-40B4-BE49-F238E27FC236}">
                <a16:creationId xmlns:a16="http://schemas.microsoft.com/office/drawing/2014/main" id="{26E97FD6-F82F-A94B-BE7B-602486E351F0}"/>
              </a:ext>
            </a:extLst>
          </p:cNvPr>
          <p:cNvSpPr txBox="1"/>
          <p:nvPr/>
        </p:nvSpPr>
        <p:spPr>
          <a:xfrm>
            <a:off x="8966200" y="2120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85</a:t>
            </a:r>
          </a:p>
        </p:txBody>
      </p:sp>
      <p:sp>
        <p:nvSpPr>
          <p:cNvPr id="33" name="VVal">
            <a:extLst>
              <a:ext uri="{FF2B5EF4-FFF2-40B4-BE49-F238E27FC236}">
                <a16:creationId xmlns:a16="http://schemas.microsoft.com/office/drawing/2014/main" id="{DBCF0D68-4A9F-654C-9B83-179964C45365}"/>
              </a:ext>
            </a:extLst>
          </p:cNvPr>
          <p:cNvSpPr txBox="1"/>
          <p:nvPr/>
        </p:nvSpPr>
        <p:spPr>
          <a:xfrm>
            <a:off x="8966200" y="2628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92</a:t>
            </a:r>
          </a:p>
        </p:txBody>
      </p:sp>
      <p:sp>
        <p:nvSpPr>
          <p:cNvPr id="34" name="VVal">
            <a:extLst>
              <a:ext uri="{FF2B5EF4-FFF2-40B4-BE49-F238E27FC236}">
                <a16:creationId xmlns:a16="http://schemas.microsoft.com/office/drawing/2014/main" id="{DDC7FDE8-F007-834E-9B77-C5991B5AA7D5}"/>
              </a:ext>
            </a:extLst>
          </p:cNvPr>
          <p:cNvSpPr txBox="1"/>
          <p:nvPr/>
        </p:nvSpPr>
        <p:spPr>
          <a:xfrm>
            <a:off x="8966200" y="3136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78</a:t>
            </a:r>
          </a:p>
        </p:txBody>
      </p:sp>
      <p:sp>
        <p:nvSpPr>
          <p:cNvPr id="35" name="VVal">
            <a:extLst>
              <a:ext uri="{FF2B5EF4-FFF2-40B4-BE49-F238E27FC236}">
                <a16:creationId xmlns:a16="http://schemas.microsoft.com/office/drawing/2014/main" id="{4A510B83-7350-3B48-A841-429D17B60C14}"/>
              </a:ext>
            </a:extLst>
          </p:cNvPr>
          <p:cNvSpPr txBox="1"/>
          <p:nvPr/>
        </p:nvSpPr>
        <p:spPr>
          <a:xfrm>
            <a:off x="8966200" y="3644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88</a:t>
            </a:r>
          </a:p>
        </p:txBody>
      </p:sp>
      <p:sp>
        <p:nvSpPr>
          <p:cNvPr id="36" name="VDim">
            <a:extLst>
              <a:ext uri="{FF2B5EF4-FFF2-40B4-BE49-F238E27FC236}">
                <a16:creationId xmlns:a16="http://schemas.microsoft.com/office/drawing/2014/main" id="{8842D9B2-1422-6C48-8A5E-671261EE8504}"/>
              </a:ext>
            </a:extLst>
          </p:cNvPr>
          <p:cNvSpPr txBox="1"/>
          <p:nvPr/>
        </p:nvSpPr>
        <p:spPr>
          <a:xfrm>
            <a:off x="6921500" y="44069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>
                <a:solidFill>
                  <a:srgbClr val="00A7B5"/>
                </a:solidFill>
              </a:rPr>
              <a:t>v ∈ ℝ⁴       dim(v) = 4</a:t>
            </a:r>
          </a:p>
        </p:txBody>
      </p:sp>
    </p:spTree>
    <p:extLst>
      <p:ext uri="{BB962C8B-B14F-4D97-AF65-F5344CB8AC3E}">
        <p14:creationId xmlns:p14="http://schemas.microsoft.com/office/powerpoint/2010/main" val="789186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950E70F7-19ED-3C42-9FC2-A2E21A12202F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Txt">
            <a:extLst>
              <a:ext uri="{FF2B5EF4-FFF2-40B4-BE49-F238E27FC236}">
                <a16:creationId xmlns:a16="http://schemas.microsoft.com/office/drawing/2014/main" id="{4E505EA8-CCA5-A845-AA68-76D75A045E1B}"/>
              </a:ext>
            </a:extLst>
          </p:cNvPr>
          <p:cNvSpPr txBox="1"/>
          <p:nvPr/>
        </p:nvSpPr>
        <p:spPr>
          <a:xfrm>
            <a:off x="444500" y="3556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Vectors — Example 2: a single pixel in an image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1BDB2B2E-B5F8-6845-8DDA-18C51D8DA384}"/>
              </a:ext>
            </a:extLst>
          </p:cNvPr>
          <p:cNvSpPr txBox="1"/>
          <p:nvPr/>
        </p:nvSpPr>
        <p:spPr>
          <a:xfrm>
            <a:off x="444500" y="863600"/>
            <a:ext cx="1130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A pixel is just three numbers — that's already a 3-D vector</a:t>
            </a:r>
          </a:p>
        </p:txBody>
      </p:sp>
      <p:sp>
        <p:nvSpPr>
          <p:cNvPr id="23" name="LPanel">
            <a:extLst>
              <a:ext uri="{FF2B5EF4-FFF2-40B4-BE49-F238E27FC236}">
                <a16:creationId xmlns:a16="http://schemas.microsoft.com/office/drawing/2014/main" id="{C3284FC8-76BB-6B4C-9F8F-BF9C75EBB984}"/>
              </a:ext>
            </a:extLst>
          </p:cNvPr>
          <p:cNvSpPr/>
          <p:nvPr/>
        </p:nvSpPr>
        <p:spPr>
          <a:xfrm>
            <a:off x="381000" y="1333500"/>
            <a:ext cx="5080000" cy="4064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PixelSquare">
            <a:extLst>
              <a:ext uri="{FF2B5EF4-FFF2-40B4-BE49-F238E27FC236}">
                <a16:creationId xmlns:a16="http://schemas.microsoft.com/office/drawing/2014/main" id="{AAF5AE28-5BBD-9342-9224-D8D441C75C37}"/>
              </a:ext>
            </a:extLst>
          </p:cNvPr>
          <p:cNvSpPr/>
          <p:nvPr/>
        </p:nvSpPr>
        <p:spPr>
          <a:xfrm>
            <a:off x="762000" y="1651000"/>
            <a:ext cx="1651000" cy="1651000"/>
          </a:xfrm>
          <a:prstGeom prst="rect">
            <a:avLst/>
          </a:prstGeom>
          <a:solidFill>
            <a:srgbClr val="3399CC"/>
          </a:solidFill>
          <a:ln w="1587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PixelLbl">
            <a:extLst>
              <a:ext uri="{FF2B5EF4-FFF2-40B4-BE49-F238E27FC236}">
                <a16:creationId xmlns:a16="http://schemas.microsoft.com/office/drawing/2014/main" id="{3844C48F-3CD3-C64A-8845-FF2FBC1F8930}"/>
              </a:ext>
            </a:extLst>
          </p:cNvPr>
          <p:cNvSpPr txBox="1"/>
          <p:nvPr/>
        </p:nvSpPr>
        <p:spPr>
          <a:xfrm>
            <a:off x="762000" y="33401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the pixel</a:t>
            </a:r>
          </a:p>
        </p:txBody>
      </p:sp>
      <p:sp>
        <p:nvSpPr>
          <p:cNvPr id="26" name="ChR0">
            <a:extLst>
              <a:ext uri="{FF2B5EF4-FFF2-40B4-BE49-F238E27FC236}">
                <a16:creationId xmlns:a16="http://schemas.microsoft.com/office/drawing/2014/main" id="{B1E1DCFA-96FF-CC41-8D53-454ECD707EAC}"/>
              </a:ext>
            </a:extLst>
          </p:cNvPr>
          <p:cNvSpPr/>
          <p:nvPr/>
        </p:nvSpPr>
        <p:spPr>
          <a:xfrm>
            <a:off x="2730500" y="1612900"/>
            <a:ext cx="2476500" cy="406400"/>
          </a:xfrm>
          <a:prstGeom prst="rect">
            <a:avLst/>
          </a:prstGeom>
          <a:solidFill>
            <a:srgbClr val="F4B5B5"/>
          </a:solidFill>
          <a:ln w="15875" cap="flat" cmpd="sng" algn="ctr">
            <a:solidFill>
              <a:srgbClr val="C73F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hLbl0">
            <a:extLst>
              <a:ext uri="{FF2B5EF4-FFF2-40B4-BE49-F238E27FC236}">
                <a16:creationId xmlns:a16="http://schemas.microsoft.com/office/drawing/2014/main" id="{FF6146EC-1AD5-1641-BB1F-B9DE639B9AD8}"/>
              </a:ext>
            </a:extLst>
          </p:cNvPr>
          <p:cNvSpPr txBox="1"/>
          <p:nvPr/>
        </p:nvSpPr>
        <p:spPr>
          <a:xfrm>
            <a:off x="2857500" y="1714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8C1A1A"/>
                </a:solidFill>
              </a:rPr>
              <a:t>Red</a:t>
            </a:r>
          </a:p>
        </p:txBody>
      </p:sp>
      <p:sp>
        <p:nvSpPr>
          <p:cNvPr id="37" name="ChVal0">
            <a:extLst>
              <a:ext uri="{FF2B5EF4-FFF2-40B4-BE49-F238E27FC236}">
                <a16:creationId xmlns:a16="http://schemas.microsoft.com/office/drawing/2014/main" id="{853C5FAF-531F-DF42-AEAC-CF89F77F3ACB}"/>
              </a:ext>
            </a:extLst>
          </p:cNvPr>
          <p:cNvSpPr txBox="1"/>
          <p:nvPr/>
        </p:nvSpPr>
        <p:spPr>
          <a:xfrm>
            <a:off x="4381500" y="17145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8C1A1A"/>
                </a:solidFill>
                <a:latin typeface="Cambria Math"/>
                <a:ea typeface="Cambria Math"/>
              </a:rPr>
              <a:t>51</a:t>
            </a:r>
          </a:p>
        </p:txBody>
      </p:sp>
      <p:sp>
        <p:nvSpPr>
          <p:cNvPr id="38" name="ChR1">
            <a:extLst>
              <a:ext uri="{FF2B5EF4-FFF2-40B4-BE49-F238E27FC236}">
                <a16:creationId xmlns:a16="http://schemas.microsoft.com/office/drawing/2014/main" id="{90937FDF-9544-C648-ACCE-B5E3237062CE}"/>
              </a:ext>
            </a:extLst>
          </p:cNvPr>
          <p:cNvSpPr/>
          <p:nvPr/>
        </p:nvSpPr>
        <p:spPr>
          <a:xfrm>
            <a:off x="2730500" y="2146300"/>
            <a:ext cx="2476500" cy="406400"/>
          </a:xfrm>
          <a:prstGeom prst="rect">
            <a:avLst/>
          </a:prstGeom>
          <a:solidFill>
            <a:srgbClr val="BFE4BF"/>
          </a:solidFill>
          <a:ln w="15875" cap="flat" cmpd="sng" algn="ctr">
            <a:solidFill>
              <a:srgbClr val="3E8E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ChLbl1">
            <a:extLst>
              <a:ext uri="{FF2B5EF4-FFF2-40B4-BE49-F238E27FC236}">
                <a16:creationId xmlns:a16="http://schemas.microsoft.com/office/drawing/2014/main" id="{7F1F4EA3-8423-AD4B-A964-8ED5F43C78E8}"/>
              </a:ext>
            </a:extLst>
          </p:cNvPr>
          <p:cNvSpPr txBox="1"/>
          <p:nvPr/>
        </p:nvSpPr>
        <p:spPr>
          <a:xfrm>
            <a:off x="2857500" y="22479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E5A1E"/>
                </a:solidFill>
              </a:rPr>
              <a:t>Green</a:t>
            </a:r>
          </a:p>
        </p:txBody>
      </p:sp>
      <p:sp>
        <p:nvSpPr>
          <p:cNvPr id="40" name="ChVal1">
            <a:extLst>
              <a:ext uri="{FF2B5EF4-FFF2-40B4-BE49-F238E27FC236}">
                <a16:creationId xmlns:a16="http://schemas.microsoft.com/office/drawing/2014/main" id="{81CE3861-3F2B-964A-9C1B-C7B340F3C4E6}"/>
              </a:ext>
            </a:extLst>
          </p:cNvPr>
          <p:cNvSpPr txBox="1"/>
          <p:nvPr/>
        </p:nvSpPr>
        <p:spPr>
          <a:xfrm>
            <a:off x="4381500" y="22479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E5A1E"/>
                </a:solidFill>
                <a:latin typeface="Cambria Math"/>
                <a:ea typeface="Cambria Math"/>
              </a:rPr>
              <a:t>153</a:t>
            </a:r>
          </a:p>
        </p:txBody>
      </p:sp>
      <p:sp>
        <p:nvSpPr>
          <p:cNvPr id="41" name="ChR2">
            <a:extLst>
              <a:ext uri="{FF2B5EF4-FFF2-40B4-BE49-F238E27FC236}">
                <a16:creationId xmlns:a16="http://schemas.microsoft.com/office/drawing/2014/main" id="{F68941DF-EBD9-4C41-8221-95E156A03CD2}"/>
              </a:ext>
            </a:extLst>
          </p:cNvPr>
          <p:cNvSpPr/>
          <p:nvPr/>
        </p:nvSpPr>
        <p:spPr>
          <a:xfrm>
            <a:off x="2730500" y="2679700"/>
            <a:ext cx="2476500" cy="406400"/>
          </a:xfrm>
          <a:prstGeom prst="rect">
            <a:avLst/>
          </a:prstGeom>
          <a:solidFill>
            <a:srgbClr val="B5CFEC"/>
          </a:solidFill>
          <a:ln w="15875" cap="flat" cmpd="sng" algn="ctr">
            <a:solidFill>
              <a:srgbClr val="2E6F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hLbl2">
            <a:extLst>
              <a:ext uri="{FF2B5EF4-FFF2-40B4-BE49-F238E27FC236}">
                <a16:creationId xmlns:a16="http://schemas.microsoft.com/office/drawing/2014/main" id="{744AC8B0-9192-4845-A9E2-125D55272C44}"/>
              </a:ext>
            </a:extLst>
          </p:cNvPr>
          <p:cNvSpPr txBox="1"/>
          <p:nvPr/>
        </p:nvSpPr>
        <p:spPr>
          <a:xfrm>
            <a:off x="2857500" y="27813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A3D74"/>
                </a:solidFill>
              </a:rPr>
              <a:t>Blue</a:t>
            </a:r>
          </a:p>
        </p:txBody>
      </p:sp>
      <p:sp>
        <p:nvSpPr>
          <p:cNvPr id="43" name="ChVal2">
            <a:extLst>
              <a:ext uri="{FF2B5EF4-FFF2-40B4-BE49-F238E27FC236}">
                <a16:creationId xmlns:a16="http://schemas.microsoft.com/office/drawing/2014/main" id="{F6A66D4A-82DF-DD4A-8963-C37BFBA1CFC4}"/>
              </a:ext>
            </a:extLst>
          </p:cNvPr>
          <p:cNvSpPr txBox="1"/>
          <p:nvPr/>
        </p:nvSpPr>
        <p:spPr>
          <a:xfrm>
            <a:off x="4381500" y="27813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A3D74"/>
                </a:solidFill>
                <a:latin typeface="Cambria Math"/>
                <a:ea typeface="Cambria Math"/>
              </a:rPr>
              <a:t>204</a:t>
            </a:r>
          </a:p>
        </p:txBody>
      </p:sp>
      <p:sp>
        <p:nvSpPr>
          <p:cNvPr id="44" name="BitNote">
            <a:extLst>
              <a:ext uri="{FF2B5EF4-FFF2-40B4-BE49-F238E27FC236}">
                <a16:creationId xmlns:a16="http://schemas.microsoft.com/office/drawing/2014/main" id="{A2643239-D5F7-D64C-A478-C51E913D0A12}"/>
              </a:ext>
            </a:extLst>
          </p:cNvPr>
          <p:cNvSpPr txBox="1"/>
          <p:nvPr/>
        </p:nvSpPr>
        <p:spPr>
          <a:xfrm>
            <a:off x="571500" y="4635500"/>
            <a:ext cx="469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Each channel: 8-bit integer in [0, 255]</a:t>
            </a:r>
          </a:p>
        </p:txBody>
      </p:sp>
      <p:sp>
        <p:nvSpPr>
          <p:cNvPr id="45" name="PixCount">
            <a:extLst>
              <a:ext uri="{FF2B5EF4-FFF2-40B4-BE49-F238E27FC236}">
                <a16:creationId xmlns:a16="http://schemas.microsoft.com/office/drawing/2014/main" id="{ECCB0346-0F1E-C74B-B234-5822DB500CF4}"/>
              </a:ext>
            </a:extLst>
          </p:cNvPr>
          <p:cNvSpPr txBox="1"/>
          <p:nvPr/>
        </p:nvSpPr>
        <p:spPr>
          <a:xfrm>
            <a:off x="571500" y="4953000"/>
            <a:ext cx="469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(a 4K image has 8.3 million such pixels — each a vector in ℝ³)</a:t>
            </a:r>
          </a:p>
        </p:txBody>
      </p:sp>
      <p:sp>
        <p:nvSpPr>
          <p:cNvPr id="46" name="EncArrow">
            <a:extLst>
              <a:ext uri="{FF2B5EF4-FFF2-40B4-BE49-F238E27FC236}">
                <a16:creationId xmlns:a16="http://schemas.microsoft.com/office/drawing/2014/main" id="{591B517E-60D1-9143-B942-582DE8418128}"/>
              </a:ext>
            </a:extLst>
          </p:cNvPr>
          <p:cNvSpPr/>
          <p:nvPr/>
        </p:nvSpPr>
        <p:spPr>
          <a:xfrm>
            <a:off x="5715000" y="2984500"/>
            <a:ext cx="1016000" cy="635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EncLbl">
            <a:extLst>
              <a:ext uri="{FF2B5EF4-FFF2-40B4-BE49-F238E27FC236}">
                <a16:creationId xmlns:a16="http://schemas.microsoft.com/office/drawing/2014/main" id="{41D4CFBA-DCB9-EF48-BA93-CCB6DDA0C39E}"/>
              </a:ext>
            </a:extLst>
          </p:cNvPr>
          <p:cNvSpPr txBox="1"/>
          <p:nvPr/>
        </p:nvSpPr>
        <p:spPr>
          <a:xfrm>
            <a:off x="5715000" y="2730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48" name="RPanel">
            <a:extLst>
              <a:ext uri="{FF2B5EF4-FFF2-40B4-BE49-F238E27FC236}">
                <a16:creationId xmlns:a16="http://schemas.microsoft.com/office/drawing/2014/main" id="{7398F4CF-640A-EA4B-B033-D29C5F27180C}"/>
              </a:ext>
            </a:extLst>
          </p:cNvPr>
          <p:cNvSpPr/>
          <p:nvPr/>
        </p:nvSpPr>
        <p:spPr>
          <a:xfrm>
            <a:off x="6921500" y="1333500"/>
            <a:ext cx="4978400" cy="4064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Eq">
            <a:extLst>
              <a:ext uri="{FF2B5EF4-FFF2-40B4-BE49-F238E27FC236}">
                <a16:creationId xmlns:a16="http://schemas.microsoft.com/office/drawing/2014/main" id="{BEDB6581-C5ED-B84F-A53C-A1A3ADCC5037}"/>
              </a:ext>
            </a:extLst>
          </p:cNvPr>
          <p:cNvSpPr txBox="1"/>
          <p:nvPr/>
        </p:nvSpPr>
        <p:spPr>
          <a:xfrm>
            <a:off x="7302500" y="29210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i="1">
                <a:solidFill>
                  <a:srgbClr val="4B2E83"/>
                </a:solidFill>
                <a:latin typeface="Cambria Math"/>
                <a:ea typeface="Cambria Math"/>
              </a:rPr>
              <a:t>p =</a:t>
            </a:r>
          </a:p>
        </p:txBody>
      </p:sp>
      <p:sp>
        <p:nvSpPr>
          <p:cNvPr id="50" name="LBrak">
            <a:extLst>
              <a:ext uri="{FF2B5EF4-FFF2-40B4-BE49-F238E27FC236}">
                <a16:creationId xmlns:a16="http://schemas.microsoft.com/office/drawing/2014/main" id="{9E90C537-7C97-494C-803D-7D65B2E614BC}"/>
              </a:ext>
            </a:extLst>
          </p:cNvPr>
          <p:cNvSpPr/>
          <p:nvPr/>
        </p:nvSpPr>
        <p:spPr>
          <a:xfrm>
            <a:off x="8509000" y="2286000"/>
            <a:ext cx="2286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RBrak">
            <a:extLst>
              <a:ext uri="{FF2B5EF4-FFF2-40B4-BE49-F238E27FC236}">
                <a16:creationId xmlns:a16="http://schemas.microsoft.com/office/drawing/2014/main" id="{5943F84A-C9CA-8D49-9067-7753DC6D9409}"/>
              </a:ext>
            </a:extLst>
          </p:cNvPr>
          <p:cNvSpPr/>
          <p:nvPr/>
        </p:nvSpPr>
        <p:spPr>
          <a:xfrm>
            <a:off x="9436100" y="2286000"/>
            <a:ext cx="2286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al0">
            <a:extLst>
              <a:ext uri="{FF2B5EF4-FFF2-40B4-BE49-F238E27FC236}">
                <a16:creationId xmlns:a16="http://schemas.microsoft.com/office/drawing/2014/main" id="{D27B0E8A-85B1-ED40-B6B1-6CF8DC6037FC}"/>
              </a:ext>
            </a:extLst>
          </p:cNvPr>
          <p:cNvSpPr txBox="1"/>
          <p:nvPr/>
        </p:nvSpPr>
        <p:spPr>
          <a:xfrm>
            <a:off x="8737600" y="24765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8C1A1A"/>
                </a:solidFill>
                <a:latin typeface="Cambria Math"/>
                <a:ea typeface="Cambria Math"/>
              </a:rPr>
              <a:t>51</a:t>
            </a:r>
          </a:p>
        </p:txBody>
      </p:sp>
      <p:sp>
        <p:nvSpPr>
          <p:cNvPr id="53" name="Val1">
            <a:extLst>
              <a:ext uri="{FF2B5EF4-FFF2-40B4-BE49-F238E27FC236}">
                <a16:creationId xmlns:a16="http://schemas.microsoft.com/office/drawing/2014/main" id="{D8F609B7-75D8-D34D-B0A3-00393593769B}"/>
              </a:ext>
            </a:extLst>
          </p:cNvPr>
          <p:cNvSpPr txBox="1"/>
          <p:nvPr/>
        </p:nvSpPr>
        <p:spPr>
          <a:xfrm>
            <a:off x="8737600" y="29591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E5A1E"/>
                </a:solidFill>
                <a:latin typeface="Cambria Math"/>
                <a:ea typeface="Cambria Math"/>
              </a:rPr>
              <a:t>153</a:t>
            </a:r>
          </a:p>
        </p:txBody>
      </p:sp>
      <p:sp>
        <p:nvSpPr>
          <p:cNvPr id="54" name="Val2">
            <a:extLst>
              <a:ext uri="{FF2B5EF4-FFF2-40B4-BE49-F238E27FC236}">
                <a16:creationId xmlns:a16="http://schemas.microsoft.com/office/drawing/2014/main" id="{92B9EDB5-C3C1-A74D-A126-D35503364A8E}"/>
              </a:ext>
            </a:extLst>
          </p:cNvPr>
          <p:cNvSpPr txBox="1"/>
          <p:nvPr/>
        </p:nvSpPr>
        <p:spPr>
          <a:xfrm>
            <a:off x="8737600" y="34417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A3D74"/>
                </a:solidFill>
                <a:latin typeface="Cambria Math"/>
                <a:ea typeface="Cambria Math"/>
              </a:rPr>
              <a:t>204</a:t>
            </a:r>
          </a:p>
        </p:txBody>
      </p:sp>
      <p:sp>
        <p:nvSpPr>
          <p:cNvPr id="55" name="DimCap">
            <a:extLst>
              <a:ext uri="{FF2B5EF4-FFF2-40B4-BE49-F238E27FC236}">
                <a16:creationId xmlns:a16="http://schemas.microsoft.com/office/drawing/2014/main" id="{41430987-5A1C-5F49-A6B5-60C8BD25E0F5}"/>
              </a:ext>
            </a:extLst>
          </p:cNvPr>
          <p:cNvSpPr txBox="1"/>
          <p:nvPr/>
        </p:nvSpPr>
        <p:spPr>
          <a:xfrm>
            <a:off x="7302500" y="4572000"/>
            <a:ext cx="421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00A7B5"/>
                </a:solidFill>
              </a:rPr>
              <a:t>p ∈ ℝ³     dim(p) = 3</a:t>
            </a:r>
          </a:p>
        </p:txBody>
      </p:sp>
      <p:sp>
        <p:nvSpPr>
          <p:cNvPr id="56" name="InterpCap">
            <a:extLst>
              <a:ext uri="{FF2B5EF4-FFF2-40B4-BE49-F238E27FC236}">
                <a16:creationId xmlns:a16="http://schemas.microsoft.com/office/drawing/2014/main" id="{3A3F98B7-8F65-FD4E-A545-B56B5D9C62AE}"/>
              </a:ext>
            </a:extLst>
          </p:cNvPr>
          <p:cNvSpPr txBox="1"/>
          <p:nvPr/>
        </p:nvSpPr>
        <p:spPr>
          <a:xfrm>
            <a:off x="7302500" y="4953000"/>
            <a:ext cx="421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(Red, Green, Blue intensities of one pixel)</a:t>
            </a:r>
          </a:p>
        </p:txBody>
      </p:sp>
      <p:sp>
        <p:nvSpPr>
          <p:cNvPr id="57" name="TkBar">
            <a:extLst>
              <a:ext uri="{FF2B5EF4-FFF2-40B4-BE49-F238E27FC236}">
                <a16:creationId xmlns:a16="http://schemas.microsoft.com/office/drawing/2014/main" id="{9E9F5574-FB99-C34A-B56B-86951E69CFDF}"/>
              </a:ext>
            </a:extLst>
          </p:cNvPr>
          <p:cNvSpPr/>
          <p:nvPr/>
        </p:nvSpPr>
        <p:spPr>
          <a:xfrm>
            <a:off x="292100" y="5842000"/>
            <a:ext cx="116078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kTxt">
            <a:extLst>
              <a:ext uri="{FF2B5EF4-FFF2-40B4-BE49-F238E27FC236}">
                <a16:creationId xmlns:a16="http://schemas.microsoft.com/office/drawing/2014/main" id="{1FBD78DA-A3B5-7A40-9348-362EB05BEF9E}"/>
              </a:ext>
            </a:extLst>
          </p:cNvPr>
          <p:cNvSpPr txBox="1"/>
          <p:nvPr/>
        </p:nvSpPr>
        <p:spPr>
          <a:xfrm>
            <a:off x="444500" y="5918200"/>
            <a:ext cx="11303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Any pixel — and therefore any image — lives in a high-dimensional vector space.</a:t>
            </a:r>
          </a:p>
        </p:txBody>
      </p:sp>
    </p:spTree>
    <p:extLst>
      <p:ext uri="{BB962C8B-B14F-4D97-AF65-F5344CB8AC3E}">
        <p14:creationId xmlns:p14="http://schemas.microsoft.com/office/powerpoint/2010/main" val="267762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0375481C-9C85-FB43-AD53-CF625903D96B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52DFAF-FF28-034C-AA3F-7EF440CA2E94}"/>
              </a:ext>
            </a:extLst>
          </p:cNvPr>
          <p:cNvSpPr txBox="1"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Vectors — Example 3: a temperature sensor's daily readings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F42484D-FF8A-BF4E-99C8-EBABF48A2984}"/>
              </a:ext>
            </a:extLst>
          </p:cNvPr>
          <p:cNvSpPr txBox="1"/>
          <p:nvPr/>
        </p:nvSpPr>
        <p:spPr>
          <a:xfrm>
            <a:off x="381000" y="8636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Same idea — order matters: each component is one moment in time.</a:t>
            </a:r>
          </a:p>
        </p:txBody>
      </p:sp>
      <p:sp>
        <p:nvSpPr>
          <p:cNvPr id="5" name="LBg">
            <a:extLst>
              <a:ext uri="{FF2B5EF4-FFF2-40B4-BE49-F238E27FC236}">
                <a16:creationId xmlns:a16="http://schemas.microsoft.com/office/drawing/2014/main" id="{9C30F0AD-D016-3048-9459-A92ACEACC56F}"/>
              </a:ext>
            </a:extLst>
          </p:cNvPr>
          <p:cNvSpPr/>
          <p:nvPr/>
        </p:nvSpPr>
        <p:spPr>
          <a:xfrm>
            <a:off x="381000" y="1270000"/>
            <a:ext cx="5080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LHdr">
            <a:extLst>
              <a:ext uri="{FF2B5EF4-FFF2-40B4-BE49-F238E27FC236}">
                <a16:creationId xmlns:a16="http://schemas.microsoft.com/office/drawing/2014/main" id="{07A75DBF-B686-C344-8D50-AA30984AD1BF}"/>
              </a:ext>
            </a:extLst>
          </p:cNvPr>
          <p:cNvSpPr txBox="1"/>
          <p:nvPr/>
        </p:nvSpPr>
        <p:spPr>
          <a:xfrm>
            <a:off x="508000" y="1371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Sensor: weather station #12 — hourly reading</a:t>
            </a:r>
          </a:p>
        </p:txBody>
      </p:sp>
      <p:sp>
        <p:nvSpPr>
          <p:cNvPr id="7" name="Axx">
            <a:extLst>
              <a:ext uri="{FF2B5EF4-FFF2-40B4-BE49-F238E27FC236}">
                <a16:creationId xmlns:a16="http://schemas.microsoft.com/office/drawing/2014/main" id="{7673578E-54F8-BE41-950B-175ADF3FD302}"/>
              </a:ext>
            </a:extLst>
          </p:cNvPr>
          <p:cNvSpPr/>
          <p:nvPr/>
        </p:nvSpPr>
        <p:spPr>
          <a:xfrm>
            <a:off x="889000" y="4191000"/>
            <a:ext cx="4191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Axy">
            <a:extLst>
              <a:ext uri="{FF2B5EF4-FFF2-40B4-BE49-F238E27FC236}">
                <a16:creationId xmlns:a16="http://schemas.microsoft.com/office/drawing/2014/main" id="{B88F9C2B-F7CA-3A48-BA27-7B93037D4144}"/>
              </a:ext>
            </a:extLst>
          </p:cNvPr>
          <p:cNvSpPr/>
          <p:nvPr/>
        </p:nvSpPr>
        <p:spPr>
          <a:xfrm>
            <a:off x="889000" y="1905000"/>
            <a:ext cx="12700" cy="2286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YLbl">
            <a:extLst>
              <a:ext uri="{FF2B5EF4-FFF2-40B4-BE49-F238E27FC236}">
                <a16:creationId xmlns:a16="http://schemas.microsoft.com/office/drawing/2014/main" id="{0404683E-22E1-454C-B255-2823963CD2CD}"/>
              </a:ext>
            </a:extLst>
          </p:cNvPr>
          <p:cNvSpPr txBox="1"/>
          <p:nvPr/>
        </p:nvSpPr>
        <p:spPr>
          <a:xfrm>
            <a:off x="482600" y="2946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°C</a:t>
            </a:r>
          </a:p>
        </p:txBody>
      </p:sp>
      <p:sp>
        <p:nvSpPr>
          <p:cNvPr id="10" name="XLbl">
            <a:extLst>
              <a:ext uri="{FF2B5EF4-FFF2-40B4-BE49-F238E27FC236}">
                <a16:creationId xmlns:a16="http://schemas.microsoft.com/office/drawing/2014/main" id="{32F3D8B5-90B7-CE4E-B343-4BD086FD2049}"/>
              </a:ext>
            </a:extLst>
          </p:cNvPr>
          <p:cNvSpPr txBox="1"/>
          <p:nvPr/>
        </p:nvSpPr>
        <p:spPr>
          <a:xfrm>
            <a:off x="4445000" y="4241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hour →</a:t>
            </a:r>
          </a:p>
        </p:txBody>
      </p:sp>
      <p:sp>
        <p:nvSpPr>
          <p:cNvPr id="11" name="LnSeg">
            <a:extLst>
              <a:ext uri="{FF2B5EF4-FFF2-40B4-BE49-F238E27FC236}">
                <a16:creationId xmlns:a16="http://schemas.microsoft.com/office/drawing/2014/main" id="{67F65C49-4706-FC41-8BFB-5F3FEDB363D8}"/>
              </a:ext>
            </a:extLst>
          </p:cNvPr>
          <p:cNvSpPr/>
          <p:nvPr/>
        </p:nvSpPr>
        <p:spPr>
          <a:xfrm rot="-1277184">
            <a:off x="858314" y="3688442"/>
            <a:ext cx="899571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LnSeg">
            <a:extLst>
              <a:ext uri="{FF2B5EF4-FFF2-40B4-BE49-F238E27FC236}">
                <a16:creationId xmlns:a16="http://schemas.microsoft.com/office/drawing/2014/main" id="{AD54E646-8C26-704A-80F9-6F7F15C45031}"/>
              </a:ext>
            </a:extLst>
          </p:cNvPr>
          <p:cNvSpPr/>
          <p:nvPr/>
        </p:nvSpPr>
        <p:spPr>
          <a:xfrm rot="-2275588">
            <a:off x="1614986" y="3198585"/>
            <a:ext cx="1062626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LnSeg">
            <a:extLst>
              <a:ext uri="{FF2B5EF4-FFF2-40B4-BE49-F238E27FC236}">
                <a16:creationId xmlns:a16="http://schemas.microsoft.com/office/drawing/2014/main" id="{0AA2D3C3-6B0E-3844-B5B4-0EF1B5BCC739}"/>
              </a:ext>
            </a:extLst>
          </p:cNvPr>
          <p:cNvSpPr/>
          <p:nvPr/>
        </p:nvSpPr>
        <p:spPr>
          <a:xfrm rot="-2275588">
            <a:off x="2453186" y="2545442"/>
            <a:ext cx="1062626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LnSeg">
            <a:extLst>
              <a:ext uri="{FF2B5EF4-FFF2-40B4-BE49-F238E27FC236}">
                <a16:creationId xmlns:a16="http://schemas.microsoft.com/office/drawing/2014/main" id="{CE969EC9-D6A3-0B46-944B-18DD92AF3DDC}"/>
              </a:ext>
            </a:extLst>
          </p:cNvPr>
          <p:cNvSpPr/>
          <p:nvPr/>
        </p:nvSpPr>
        <p:spPr>
          <a:xfrm rot="1818161">
            <a:off x="3337277" y="2463800"/>
            <a:ext cx="970844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LnSeg">
            <a:extLst>
              <a:ext uri="{FF2B5EF4-FFF2-40B4-BE49-F238E27FC236}">
                <a16:creationId xmlns:a16="http://schemas.microsoft.com/office/drawing/2014/main" id="{AD96F9C3-FBDF-3447-93B0-BC9BB51880A9}"/>
              </a:ext>
            </a:extLst>
          </p:cNvPr>
          <p:cNvSpPr/>
          <p:nvPr/>
        </p:nvSpPr>
        <p:spPr>
          <a:xfrm rot="2654769">
            <a:off x="4075849" y="3116942"/>
            <a:ext cx="1170100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Pt">
            <a:extLst>
              <a:ext uri="{FF2B5EF4-FFF2-40B4-BE49-F238E27FC236}">
                <a16:creationId xmlns:a16="http://schemas.microsoft.com/office/drawing/2014/main" id="{A6E6E74C-CD3E-3646-A303-D4813895EA5A}"/>
              </a:ext>
            </a:extLst>
          </p:cNvPr>
          <p:cNvSpPr/>
          <p:nvPr/>
        </p:nvSpPr>
        <p:spPr>
          <a:xfrm>
            <a:off x="812800" y="3788228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PtL">
            <a:extLst>
              <a:ext uri="{FF2B5EF4-FFF2-40B4-BE49-F238E27FC236}">
                <a16:creationId xmlns:a16="http://schemas.microsoft.com/office/drawing/2014/main" id="{CC8859E2-FDD0-F24C-9A61-468F09B4CB85}"/>
              </a:ext>
            </a:extLst>
          </p:cNvPr>
          <p:cNvSpPr txBox="1"/>
          <p:nvPr/>
        </p:nvSpPr>
        <p:spPr>
          <a:xfrm>
            <a:off x="711200" y="3585028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12°</a:t>
            </a:r>
          </a:p>
        </p:txBody>
      </p:sp>
      <p:sp>
        <p:nvSpPr>
          <p:cNvPr id="18" name="HrL">
            <a:extLst>
              <a:ext uri="{FF2B5EF4-FFF2-40B4-BE49-F238E27FC236}">
                <a16:creationId xmlns:a16="http://schemas.microsoft.com/office/drawing/2014/main" id="{E6EDF79C-9201-8A44-91E4-5AF953949093}"/>
              </a:ext>
            </a:extLst>
          </p:cNvPr>
          <p:cNvSpPr txBox="1"/>
          <p:nvPr/>
        </p:nvSpPr>
        <p:spPr>
          <a:xfrm>
            <a:off x="7366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00h</a:t>
            </a:r>
          </a:p>
        </p:txBody>
      </p:sp>
      <p:sp>
        <p:nvSpPr>
          <p:cNvPr id="19" name="Pt">
            <a:extLst>
              <a:ext uri="{FF2B5EF4-FFF2-40B4-BE49-F238E27FC236}">
                <a16:creationId xmlns:a16="http://schemas.microsoft.com/office/drawing/2014/main" id="{25FEADF9-7468-F743-998D-6CA5A7CE93B4}"/>
              </a:ext>
            </a:extLst>
          </p:cNvPr>
          <p:cNvSpPr/>
          <p:nvPr/>
        </p:nvSpPr>
        <p:spPr>
          <a:xfrm>
            <a:off x="1651000" y="3461657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PtL">
            <a:extLst>
              <a:ext uri="{FF2B5EF4-FFF2-40B4-BE49-F238E27FC236}">
                <a16:creationId xmlns:a16="http://schemas.microsoft.com/office/drawing/2014/main" id="{96A3C040-0FED-E441-9219-3C77DB18946C}"/>
              </a:ext>
            </a:extLst>
          </p:cNvPr>
          <p:cNvSpPr txBox="1"/>
          <p:nvPr/>
        </p:nvSpPr>
        <p:spPr>
          <a:xfrm>
            <a:off x="1549400" y="3258457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14°</a:t>
            </a:r>
          </a:p>
        </p:txBody>
      </p:sp>
      <p:sp>
        <p:nvSpPr>
          <p:cNvPr id="29" name="HrL">
            <a:extLst>
              <a:ext uri="{FF2B5EF4-FFF2-40B4-BE49-F238E27FC236}">
                <a16:creationId xmlns:a16="http://schemas.microsoft.com/office/drawing/2014/main" id="{6D95B1F6-0AE0-5C4E-A1BA-D85EB4928E69}"/>
              </a:ext>
            </a:extLst>
          </p:cNvPr>
          <p:cNvSpPr txBox="1"/>
          <p:nvPr/>
        </p:nvSpPr>
        <p:spPr>
          <a:xfrm>
            <a:off x="15748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04h</a:t>
            </a:r>
          </a:p>
        </p:txBody>
      </p:sp>
      <p:sp>
        <p:nvSpPr>
          <p:cNvPr id="30" name="Pt">
            <a:extLst>
              <a:ext uri="{FF2B5EF4-FFF2-40B4-BE49-F238E27FC236}">
                <a16:creationId xmlns:a16="http://schemas.microsoft.com/office/drawing/2014/main" id="{6157834B-93C1-364D-96C4-BE1FF6A3ACCE}"/>
              </a:ext>
            </a:extLst>
          </p:cNvPr>
          <p:cNvSpPr/>
          <p:nvPr/>
        </p:nvSpPr>
        <p:spPr>
          <a:xfrm>
            <a:off x="2489200" y="2808514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PtL">
            <a:extLst>
              <a:ext uri="{FF2B5EF4-FFF2-40B4-BE49-F238E27FC236}">
                <a16:creationId xmlns:a16="http://schemas.microsoft.com/office/drawing/2014/main" id="{8C6D26CE-913B-3B48-87AA-86647D6F2D0E}"/>
              </a:ext>
            </a:extLst>
          </p:cNvPr>
          <p:cNvSpPr txBox="1"/>
          <p:nvPr/>
        </p:nvSpPr>
        <p:spPr>
          <a:xfrm>
            <a:off x="2387600" y="2605314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18°</a:t>
            </a:r>
          </a:p>
        </p:txBody>
      </p:sp>
      <p:sp>
        <p:nvSpPr>
          <p:cNvPr id="32" name="HrL">
            <a:extLst>
              <a:ext uri="{FF2B5EF4-FFF2-40B4-BE49-F238E27FC236}">
                <a16:creationId xmlns:a16="http://schemas.microsoft.com/office/drawing/2014/main" id="{4C44A9BC-F309-C444-812E-45D692BDEB6D}"/>
              </a:ext>
            </a:extLst>
          </p:cNvPr>
          <p:cNvSpPr txBox="1"/>
          <p:nvPr/>
        </p:nvSpPr>
        <p:spPr>
          <a:xfrm>
            <a:off x="24130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08h</a:t>
            </a:r>
          </a:p>
        </p:txBody>
      </p:sp>
      <p:sp>
        <p:nvSpPr>
          <p:cNvPr id="33" name="Pt">
            <a:extLst>
              <a:ext uri="{FF2B5EF4-FFF2-40B4-BE49-F238E27FC236}">
                <a16:creationId xmlns:a16="http://schemas.microsoft.com/office/drawing/2014/main" id="{E48E79D3-81BE-4B4D-B7A9-EB3B3E3E23D9}"/>
              </a:ext>
            </a:extLst>
          </p:cNvPr>
          <p:cNvSpPr/>
          <p:nvPr/>
        </p:nvSpPr>
        <p:spPr>
          <a:xfrm>
            <a:off x="3327400" y="2155371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tL">
            <a:extLst>
              <a:ext uri="{FF2B5EF4-FFF2-40B4-BE49-F238E27FC236}">
                <a16:creationId xmlns:a16="http://schemas.microsoft.com/office/drawing/2014/main" id="{EC626D9C-6ECA-4A47-9D56-0DF364280828}"/>
              </a:ext>
            </a:extLst>
          </p:cNvPr>
          <p:cNvSpPr txBox="1"/>
          <p:nvPr/>
        </p:nvSpPr>
        <p:spPr>
          <a:xfrm>
            <a:off x="3225800" y="1952171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22°</a:t>
            </a:r>
          </a:p>
        </p:txBody>
      </p:sp>
      <p:sp>
        <p:nvSpPr>
          <p:cNvPr id="35" name="HrL">
            <a:extLst>
              <a:ext uri="{FF2B5EF4-FFF2-40B4-BE49-F238E27FC236}">
                <a16:creationId xmlns:a16="http://schemas.microsoft.com/office/drawing/2014/main" id="{F6948F5B-F28B-CA49-A77D-09CF0B66F4D3}"/>
              </a:ext>
            </a:extLst>
          </p:cNvPr>
          <p:cNvSpPr txBox="1"/>
          <p:nvPr/>
        </p:nvSpPr>
        <p:spPr>
          <a:xfrm>
            <a:off x="32512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12h</a:t>
            </a:r>
          </a:p>
        </p:txBody>
      </p:sp>
      <p:sp>
        <p:nvSpPr>
          <p:cNvPr id="36" name="Pt">
            <a:extLst>
              <a:ext uri="{FF2B5EF4-FFF2-40B4-BE49-F238E27FC236}">
                <a16:creationId xmlns:a16="http://schemas.microsoft.com/office/drawing/2014/main" id="{DA415931-28E7-CB4E-AF32-CF8304E02147}"/>
              </a:ext>
            </a:extLst>
          </p:cNvPr>
          <p:cNvSpPr/>
          <p:nvPr/>
        </p:nvSpPr>
        <p:spPr>
          <a:xfrm>
            <a:off x="4165600" y="2645228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PtL">
            <a:extLst>
              <a:ext uri="{FF2B5EF4-FFF2-40B4-BE49-F238E27FC236}">
                <a16:creationId xmlns:a16="http://schemas.microsoft.com/office/drawing/2014/main" id="{C53E64E3-8BBE-E04C-BBC9-155000373F28}"/>
              </a:ext>
            </a:extLst>
          </p:cNvPr>
          <p:cNvSpPr txBox="1"/>
          <p:nvPr/>
        </p:nvSpPr>
        <p:spPr>
          <a:xfrm>
            <a:off x="4064000" y="2442028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19°</a:t>
            </a:r>
          </a:p>
        </p:txBody>
      </p:sp>
      <p:sp>
        <p:nvSpPr>
          <p:cNvPr id="60" name="HrL">
            <a:extLst>
              <a:ext uri="{FF2B5EF4-FFF2-40B4-BE49-F238E27FC236}">
                <a16:creationId xmlns:a16="http://schemas.microsoft.com/office/drawing/2014/main" id="{6F4011BE-84D4-CB48-B697-764EC345941D}"/>
              </a:ext>
            </a:extLst>
          </p:cNvPr>
          <p:cNvSpPr txBox="1"/>
          <p:nvPr/>
        </p:nvSpPr>
        <p:spPr>
          <a:xfrm>
            <a:off x="40894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16h</a:t>
            </a:r>
          </a:p>
        </p:txBody>
      </p:sp>
      <p:sp>
        <p:nvSpPr>
          <p:cNvPr id="61" name="Pt">
            <a:extLst>
              <a:ext uri="{FF2B5EF4-FFF2-40B4-BE49-F238E27FC236}">
                <a16:creationId xmlns:a16="http://schemas.microsoft.com/office/drawing/2014/main" id="{CB777E6D-1ED2-B248-ABAD-629074CCE41D}"/>
              </a:ext>
            </a:extLst>
          </p:cNvPr>
          <p:cNvSpPr/>
          <p:nvPr/>
        </p:nvSpPr>
        <p:spPr>
          <a:xfrm>
            <a:off x="5003800" y="3461657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PtL">
            <a:extLst>
              <a:ext uri="{FF2B5EF4-FFF2-40B4-BE49-F238E27FC236}">
                <a16:creationId xmlns:a16="http://schemas.microsoft.com/office/drawing/2014/main" id="{5573F9A4-C187-F642-AA8B-27F49E99263C}"/>
              </a:ext>
            </a:extLst>
          </p:cNvPr>
          <p:cNvSpPr txBox="1"/>
          <p:nvPr/>
        </p:nvSpPr>
        <p:spPr>
          <a:xfrm>
            <a:off x="4902200" y="3258457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14°</a:t>
            </a:r>
          </a:p>
        </p:txBody>
      </p:sp>
      <p:sp>
        <p:nvSpPr>
          <p:cNvPr id="63" name="HrL">
            <a:extLst>
              <a:ext uri="{FF2B5EF4-FFF2-40B4-BE49-F238E27FC236}">
                <a16:creationId xmlns:a16="http://schemas.microsoft.com/office/drawing/2014/main" id="{3150EADD-074B-B140-9BC7-CDF7244C0AB2}"/>
              </a:ext>
            </a:extLst>
          </p:cNvPr>
          <p:cNvSpPr txBox="1"/>
          <p:nvPr/>
        </p:nvSpPr>
        <p:spPr>
          <a:xfrm>
            <a:off x="49276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20h</a:t>
            </a:r>
          </a:p>
        </p:txBody>
      </p:sp>
      <p:sp>
        <p:nvSpPr>
          <p:cNvPr id="64" name="LCap">
            <a:extLst>
              <a:ext uri="{FF2B5EF4-FFF2-40B4-BE49-F238E27FC236}">
                <a16:creationId xmlns:a16="http://schemas.microsoft.com/office/drawing/2014/main" id="{628C8C15-63D9-B74F-813D-92C4D63182AC}"/>
              </a:ext>
            </a:extLst>
          </p:cNvPr>
          <p:cNvSpPr txBox="1"/>
          <p:nvPr/>
        </p:nvSpPr>
        <p:spPr>
          <a:xfrm>
            <a:off x="508000" y="4495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</a:rPr>
              <a:t>6 readings over a day — every 4 hours</a:t>
            </a:r>
          </a:p>
        </p:txBody>
      </p:sp>
      <p:sp>
        <p:nvSpPr>
          <p:cNvPr id="65" name="Arr">
            <a:extLst>
              <a:ext uri="{FF2B5EF4-FFF2-40B4-BE49-F238E27FC236}">
                <a16:creationId xmlns:a16="http://schemas.microsoft.com/office/drawing/2014/main" id="{E60851DA-D64D-084E-A4DC-9C2BAE692B21}"/>
              </a:ext>
            </a:extLst>
          </p:cNvPr>
          <p:cNvSpPr/>
          <p:nvPr/>
        </p:nvSpPr>
        <p:spPr>
          <a:xfrm>
            <a:off x="5638800" y="2921000"/>
            <a:ext cx="762000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ArrLbl">
            <a:extLst>
              <a:ext uri="{FF2B5EF4-FFF2-40B4-BE49-F238E27FC236}">
                <a16:creationId xmlns:a16="http://schemas.microsoft.com/office/drawing/2014/main" id="{478DD27A-1639-F74C-9187-230140093A34}"/>
              </a:ext>
            </a:extLst>
          </p:cNvPr>
          <p:cNvSpPr txBox="1"/>
          <p:nvPr/>
        </p:nvSpPr>
        <p:spPr>
          <a:xfrm>
            <a:off x="5638800" y="3403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67" name="RBg">
            <a:extLst>
              <a:ext uri="{FF2B5EF4-FFF2-40B4-BE49-F238E27FC236}">
                <a16:creationId xmlns:a16="http://schemas.microsoft.com/office/drawing/2014/main" id="{037B6923-F1CA-A64C-8771-1B28C8A5F2BC}"/>
              </a:ext>
            </a:extLst>
          </p:cNvPr>
          <p:cNvSpPr/>
          <p:nvPr/>
        </p:nvSpPr>
        <p:spPr>
          <a:xfrm>
            <a:off x="6667500" y="1270000"/>
            <a:ext cx="5207000" cy="355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RHdr">
            <a:extLst>
              <a:ext uri="{FF2B5EF4-FFF2-40B4-BE49-F238E27FC236}">
                <a16:creationId xmlns:a16="http://schemas.microsoft.com/office/drawing/2014/main" id="{C5AB8CA5-0903-1648-86D5-FC69E14CD0DA}"/>
              </a:ext>
            </a:extLst>
          </p:cNvPr>
          <p:cNvSpPr txBox="1"/>
          <p:nvPr/>
        </p:nvSpPr>
        <p:spPr>
          <a:xfrm>
            <a:off x="6819900" y="13716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Vector form</a:t>
            </a:r>
          </a:p>
        </p:txBody>
      </p:sp>
      <p:sp>
        <p:nvSpPr>
          <p:cNvPr id="69" name="VLbl">
            <a:extLst>
              <a:ext uri="{FF2B5EF4-FFF2-40B4-BE49-F238E27FC236}">
                <a16:creationId xmlns:a16="http://schemas.microsoft.com/office/drawing/2014/main" id="{F64652DC-6948-B547-9228-2F6F1136965E}"/>
              </a:ext>
            </a:extLst>
          </p:cNvPr>
          <p:cNvSpPr txBox="1"/>
          <p:nvPr/>
        </p:nvSpPr>
        <p:spPr>
          <a:xfrm>
            <a:off x="7429500" y="2819400"/>
            <a:ext cx="14605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i="1" dirty="0">
                <a:solidFill>
                  <a:srgbClr val="4B2E83"/>
                </a:solidFill>
                <a:latin typeface="Cambria Math"/>
                <a:ea typeface="Cambria Math"/>
              </a:rPr>
              <a:t>t  =</a:t>
            </a:r>
          </a:p>
        </p:txBody>
      </p:sp>
      <p:sp>
        <p:nvSpPr>
          <p:cNvPr id="70" name="LB">
            <a:extLst>
              <a:ext uri="{FF2B5EF4-FFF2-40B4-BE49-F238E27FC236}">
                <a16:creationId xmlns:a16="http://schemas.microsoft.com/office/drawing/2014/main" id="{2AB4B3A9-084B-E049-B43A-85FC37FED5C1}"/>
              </a:ext>
            </a:extLst>
          </p:cNvPr>
          <p:cNvSpPr/>
          <p:nvPr/>
        </p:nvSpPr>
        <p:spPr>
          <a:xfrm>
            <a:off x="8382000" y="2159000"/>
            <a:ext cx="2032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RB">
            <a:extLst>
              <a:ext uri="{FF2B5EF4-FFF2-40B4-BE49-F238E27FC236}">
                <a16:creationId xmlns:a16="http://schemas.microsoft.com/office/drawing/2014/main" id="{F68B3FFC-001C-7C47-A0A2-1B1542A0534D}"/>
              </a:ext>
            </a:extLst>
          </p:cNvPr>
          <p:cNvSpPr/>
          <p:nvPr/>
        </p:nvSpPr>
        <p:spPr>
          <a:xfrm>
            <a:off x="9271000" y="2159000"/>
            <a:ext cx="2032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Vv0">
            <a:extLst>
              <a:ext uri="{FF2B5EF4-FFF2-40B4-BE49-F238E27FC236}">
                <a16:creationId xmlns:a16="http://schemas.microsoft.com/office/drawing/2014/main" id="{C2C18EAB-B277-1546-917B-BC1E5E350329}"/>
              </a:ext>
            </a:extLst>
          </p:cNvPr>
          <p:cNvSpPr txBox="1"/>
          <p:nvPr/>
        </p:nvSpPr>
        <p:spPr>
          <a:xfrm>
            <a:off x="8636000" y="2260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12</a:t>
            </a:r>
          </a:p>
        </p:txBody>
      </p:sp>
      <p:sp>
        <p:nvSpPr>
          <p:cNvPr id="73" name="Vv1">
            <a:extLst>
              <a:ext uri="{FF2B5EF4-FFF2-40B4-BE49-F238E27FC236}">
                <a16:creationId xmlns:a16="http://schemas.microsoft.com/office/drawing/2014/main" id="{631600ED-FED0-0E4C-BAF2-2F9EF169346E}"/>
              </a:ext>
            </a:extLst>
          </p:cNvPr>
          <p:cNvSpPr txBox="1"/>
          <p:nvPr/>
        </p:nvSpPr>
        <p:spPr>
          <a:xfrm>
            <a:off x="8636000" y="2565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14</a:t>
            </a:r>
          </a:p>
        </p:txBody>
      </p:sp>
      <p:sp>
        <p:nvSpPr>
          <p:cNvPr id="74" name="Vv2">
            <a:extLst>
              <a:ext uri="{FF2B5EF4-FFF2-40B4-BE49-F238E27FC236}">
                <a16:creationId xmlns:a16="http://schemas.microsoft.com/office/drawing/2014/main" id="{E64AEE56-D042-3449-8B8E-8517B92B4770}"/>
              </a:ext>
            </a:extLst>
          </p:cNvPr>
          <p:cNvSpPr txBox="1"/>
          <p:nvPr/>
        </p:nvSpPr>
        <p:spPr>
          <a:xfrm>
            <a:off x="8636000" y="2870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18</a:t>
            </a:r>
          </a:p>
        </p:txBody>
      </p:sp>
      <p:sp>
        <p:nvSpPr>
          <p:cNvPr id="75" name="Vv3">
            <a:extLst>
              <a:ext uri="{FF2B5EF4-FFF2-40B4-BE49-F238E27FC236}">
                <a16:creationId xmlns:a16="http://schemas.microsoft.com/office/drawing/2014/main" id="{89E73BC8-F1E7-5848-8DC3-25D2F62FB32E}"/>
              </a:ext>
            </a:extLst>
          </p:cNvPr>
          <p:cNvSpPr txBox="1"/>
          <p:nvPr/>
        </p:nvSpPr>
        <p:spPr>
          <a:xfrm>
            <a:off x="8636000" y="31750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22</a:t>
            </a:r>
          </a:p>
        </p:txBody>
      </p:sp>
      <p:sp>
        <p:nvSpPr>
          <p:cNvPr id="76" name="Vv4">
            <a:extLst>
              <a:ext uri="{FF2B5EF4-FFF2-40B4-BE49-F238E27FC236}">
                <a16:creationId xmlns:a16="http://schemas.microsoft.com/office/drawing/2014/main" id="{B3D0E008-608B-4A46-9691-99F2F39AC615}"/>
              </a:ext>
            </a:extLst>
          </p:cNvPr>
          <p:cNvSpPr txBox="1"/>
          <p:nvPr/>
        </p:nvSpPr>
        <p:spPr>
          <a:xfrm>
            <a:off x="8636000" y="34798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19</a:t>
            </a:r>
          </a:p>
        </p:txBody>
      </p:sp>
      <p:sp>
        <p:nvSpPr>
          <p:cNvPr id="77" name="Vv5">
            <a:extLst>
              <a:ext uri="{FF2B5EF4-FFF2-40B4-BE49-F238E27FC236}">
                <a16:creationId xmlns:a16="http://schemas.microsoft.com/office/drawing/2014/main" id="{9806B65D-4FD2-9D45-8289-1CA828BD3164}"/>
              </a:ext>
            </a:extLst>
          </p:cNvPr>
          <p:cNvSpPr txBox="1"/>
          <p:nvPr/>
        </p:nvSpPr>
        <p:spPr>
          <a:xfrm>
            <a:off x="8636000" y="3784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14</a:t>
            </a:r>
          </a:p>
        </p:txBody>
      </p:sp>
      <p:sp>
        <p:nvSpPr>
          <p:cNvPr id="78" name="DimCap">
            <a:extLst>
              <a:ext uri="{FF2B5EF4-FFF2-40B4-BE49-F238E27FC236}">
                <a16:creationId xmlns:a16="http://schemas.microsoft.com/office/drawing/2014/main" id="{5E2A8DBD-A8FF-C940-9C76-67245AD7A620}"/>
              </a:ext>
            </a:extLst>
          </p:cNvPr>
          <p:cNvSpPr txBox="1"/>
          <p:nvPr/>
        </p:nvSpPr>
        <p:spPr>
          <a:xfrm>
            <a:off x="7048500" y="42418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00A7B5"/>
                </a:solidFill>
                <a:latin typeface="Cambria Math"/>
                <a:ea typeface="Cambria Math"/>
              </a:rPr>
              <a:t>t ∈ ℝ⁶,   dim(t) = 6</a:t>
            </a:r>
          </a:p>
        </p:txBody>
      </p:sp>
      <p:sp>
        <p:nvSpPr>
          <p:cNvPr id="79" name="TkBar">
            <a:extLst>
              <a:ext uri="{FF2B5EF4-FFF2-40B4-BE49-F238E27FC236}">
                <a16:creationId xmlns:a16="http://schemas.microsoft.com/office/drawing/2014/main" id="{2E6CDC0D-5A1F-964E-82C1-3A0BF9708E1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TkText">
            <a:extLst>
              <a:ext uri="{FF2B5EF4-FFF2-40B4-BE49-F238E27FC236}">
                <a16:creationId xmlns:a16="http://schemas.microsoft.com/office/drawing/2014/main" id="{25D7792A-80A2-5745-A11B-B27AE8004CC2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A vector can encode a sequence — its components are the values in order.</a:t>
            </a:r>
          </a:p>
        </p:txBody>
      </p:sp>
    </p:spTree>
    <p:extLst>
      <p:ext uri="{BB962C8B-B14F-4D97-AF65-F5344CB8AC3E}">
        <p14:creationId xmlns:p14="http://schemas.microsoft.com/office/powerpoint/2010/main" val="3190552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9D5DEB80-2CA1-1540-A51C-4F238244EFF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Text">
            <a:extLst>
              <a:ext uri="{FF2B5EF4-FFF2-40B4-BE49-F238E27FC236}">
                <a16:creationId xmlns:a16="http://schemas.microsoft.com/office/drawing/2014/main" id="{C869C7BE-FCD3-8443-ADAD-E4A64C43152E}"/>
              </a:ext>
            </a:extLst>
          </p:cNvPr>
          <p:cNvSpPr txBox="1"/>
          <p:nvPr/>
        </p:nvSpPr>
        <p:spPr>
          <a:xfrm>
            <a:off x="3048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1: a class roster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C1AE3F3B-9CE3-564F-8BC4-7EA36730E87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Calibri"/>
                <a:cs typeface="Calibri"/>
              </a:rPr>
              <a:t>Each row = one student. Each column = one subject. The matrix holds everyone at once.</a:t>
            </a:r>
          </a:p>
        </p:txBody>
      </p:sp>
      <p:sp>
        <p:nvSpPr>
          <p:cNvPr id="23" name="LBox">
            <a:extLst>
              <a:ext uri="{FF2B5EF4-FFF2-40B4-BE49-F238E27FC236}">
                <a16:creationId xmlns:a16="http://schemas.microsoft.com/office/drawing/2014/main" id="{483D7735-5349-BF4B-BA7E-BD6160843228}"/>
              </a:ext>
            </a:extLst>
          </p:cNvPr>
          <p:cNvSpPr/>
          <p:nvPr/>
        </p:nvSpPr>
        <p:spPr>
          <a:xfrm>
            <a:off x="381000" y="1270000"/>
            <a:ext cx="55880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Hdr">
            <a:extLst>
              <a:ext uri="{FF2B5EF4-FFF2-40B4-BE49-F238E27FC236}">
                <a16:creationId xmlns:a16="http://schemas.microsoft.com/office/drawing/2014/main" id="{70E2358D-7D75-5E4D-8F17-28DF4EA036AC}"/>
              </a:ext>
            </a:extLst>
          </p:cNvPr>
          <p:cNvSpPr txBox="1"/>
          <p:nvPr/>
        </p:nvSpPr>
        <p:spPr>
          <a:xfrm>
            <a:off x="533400" y="13716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Class: STA 380 — final exam scores</a:t>
            </a:r>
          </a:p>
        </p:txBody>
      </p:sp>
      <p:sp>
        <p:nvSpPr>
          <p:cNvPr id="25" name="MH_0">
            <a:extLst>
              <a:ext uri="{FF2B5EF4-FFF2-40B4-BE49-F238E27FC236}">
                <a16:creationId xmlns:a16="http://schemas.microsoft.com/office/drawing/2014/main" id="{65839833-AD7B-224E-B879-AAE99AE55E63}"/>
              </a:ext>
            </a:extLst>
          </p:cNvPr>
          <p:cNvSpPr/>
          <p:nvPr/>
        </p:nvSpPr>
        <p:spPr>
          <a:xfrm>
            <a:off x="558800" y="1727200"/>
            <a:ext cx="1397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MHL_0">
            <a:extLst>
              <a:ext uri="{FF2B5EF4-FFF2-40B4-BE49-F238E27FC236}">
                <a16:creationId xmlns:a16="http://schemas.microsoft.com/office/drawing/2014/main" id="{9754B75F-BAA3-ED41-AB64-EFF89E14100D}"/>
              </a:ext>
            </a:extLst>
          </p:cNvPr>
          <p:cNvSpPr txBox="1"/>
          <p:nvPr/>
        </p:nvSpPr>
        <p:spPr>
          <a:xfrm>
            <a:off x="558800" y="17272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</a:p>
        </p:txBody>
      </p:sp>
      <p:sp>
        <p:nvSpPr>
          <p:cNvPr id="27" name="MH_1">
            <a:extLst>
              <a:ext uri="{FF2B5EF4-FFF2-40B4-BE49-F238E27FC236}">
                <a16:creationId xmlns:a16="http://schemas.microsoft.com/office/drawing/2014/main" id="{3A320FF8-E504-3745-A910-500410AA3430}"/>
              </a:ext>
            </a:extLst>
          </p:cNvPr>
          <p:cNvSpPr/>
          <p:nvPr/>
        </p:nvSpPr>
        <p:spPr>
          <a:xfrm>
            <a:off x="1955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MHL_1">
            <a:extLst>
              <a:ext uri="{FF2B5EF4-FFF2-40B4-BE49-F238E27FC236}">
                <a16:creationId xmlns:a16="http://schemas.microsoft.com/office/drawing/2014/main" id="{85F661C7-DD4F-184C-9405-CE15E9DBAEC6}"/>
              </a:ext>
            </a:extLst>
          </p:cNvPr>
          <p:cNvSpPr txBox="1"/>
          <p:nvPr/>
        </p:nvSpPr>
        <p:spPr>
          <a:xfrm>
            <a:off x="1955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Math</a:t>
            </a:r>
          </a:p>
        </p:txBody>
      </p:sp>
      <p:sp>
        <p:nvSpPr>
          <p:cNvPr id="38" name="MH_2">
            <a:extLst>
              <a:ext uri="{FF2B5EF4-FFF2-40B4-BE49-F238E27FC236}">
                <a16:creationId xmlns:a16="http://schemas.microsoft.com/office/drawing/2014/main" id="{C9396874-EE98-6A47-A31E-2F14DD706D8E}"/>
              </a:ext>
            </a:extLst>
          </p:cNvPr>
          <p:cNvSpPr/>
          <p:nvPr/>
        </p:nvSpPr>
        <p:spPr>
          <a:xfrm>
            <a:off x="2844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MHL_2">
            <a:extLst>
              <a:ext uri="{FF2B5EF4-FFF2-40B4-BE49-F238E27FC236}">
                <a16:creationId xmlns:a16="http://schemas.microsoft.com/office/drawing/2014/main" id="{4EE158CA-8D75-0A42-8542-D4BD2932B96E}"/>
              </a:ext>
            </a:extLst>
          </p:cNvPr>
          <p:cNvSpPr txBox="1"/>
          <p:nvPr/>
        </p:nvSpPr>
        <p:spPr>
          <a:xfrm>
            <a:off x="2844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Phys</a:t>
            </a:r>
          </a:p>
        </p:txBody>
      </p:sp>
      <p:sp>
        <p:nvSpPr>
          <p:cNvPr id="40" name="MH_3">
            <a:extLst>
              <a:ext uri="{FF2B5EF4-FFF2-40B4-BE49-F238E27FC236}">
                <a16:creationId xmlns:a16="http://schemas.microsoft.com/office/drawing/2014/main" id="{BBFA9528-E085-A246-95C1-D64EBFDD2C6A}"/>
              </a:ext>
            </a:extLst>
          </p:cNvPr>
          <p:cNvSpPr/>
          <p:nvPr/>
        </p:nvSpPr>
        <p:spPr>
          <a:xfrm>
            <a:off x="3733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MHL_3">
            <a:extLst>
              <a:ext uri="{FF2B5EF4-FFF2-40B4-BE49-F238E27FC236}">
                <a16:creationId xmlns:a16="http://schemas.microsoft.com/office/drawing/2014/main" id="{38AF65ED-78F8-E14F-AFF9-CC8E8ACDC56A}"/>
              </a:ext>
            </a:extLst>
          </p:cNvPr>
          <p:cNvSpPr txBox="1"/>
          <p:nvPr/>
        </p:nvSpPr>
        <p:spPr>
          <a:xfrm>
            <a:off x="3733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Bio</a:t>
            </a:r>
          </a:p>
        </p:txBody>
      </p:sp>
      <p:sp>
        <p:nvSpPr>
          <p:cNvPr id="42" name="MH_4">
            <a:extLst>
              <a:ext uri="{FF2B5EF4-FFF2-40B4-BE49-F238E27FC236}">
                <a16:creationId xmlns:a16="http://schemas.microsoft.com/office/drawing/2014/main" id="{A70BA28B-797C-6240-89EF-05050C393AEF}"/>
              </a:ext>
            </a:extLst>
          </p:cNvPr>
          <p:cNvSpPr/>
          <p:nvPr/>
        </p:nvSpPr>
        <p:spPr>
          <a:xfrm>
            <a:off x="4622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MHL_4">
            <a:extLst>
              <a:ext uri="{FF2B5EF4-FFF2-40B4-BE49-F238E27FC236}">
                <a16:creationId xmlns:a16="http://schemas.microsoft.com/office/drawing/2014/main" id="{177392B9-60F5-FA4D-9644-31ECEBCE975D}"/>
              </a:ext>
            </a:extLst>
          </p:cNvPr>
          <p:cNvSpPr txBox="1"/>
          <p:nvPr/>
        </p:nvSpPr>
        <p:spPr>
          <a:xfrm>
            <a:off x="4622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Hist</a:t>
            </a:r>
          </a:p>
        </p:txBody>
      </p:sp>
      <p:sp>
        <p:nvSpPr>
          <p:cNvPr id="44" name="MC_0_0">
            <a:extLst>
              <a:ext uri="{FF2B5EF4-FFF2-40B4-BE49-F238E27FC236}">
                <a16:creationId xmlns:a16="http://schemas.microsoft.com/office/drawing/2014/main" id="{8373B0DF-9DFE-394A-A41E-452AC1DC2241}"/>
              </a:ext>
            </a:extLst>
          </p:cNvPr>
          <p:cNvSpPr/>
          <p:nvPr/>
        </p:nvSpPr>
        <p:spPr>
          <a:xfrm>
            <a:off x="558800" y="2108200"/>
            <a:ext cx="1397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MCL_0_0">
            <a:extLst>
              <a:ext uri="{FF2B5EF4-FFF2-40B4-BE49-F238E27FC236}">
                <a16:creationId xmlns:a16="http://schemas.microsoft.com/office/drawing/2014/main" id="{8D6B191E-B9BC-8C44-B814-14B706EA5DB7}"/>
              </a:ext>
            </a:extLst>
          </p:cNvPr>
          <p:cNvSpPr txBox="1"/>
          <p:nvPr/>
        </p:nvSpPr>
        <p:spPr>
          <a:xfrm>
            <a:off x="558800" y="21082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Alice</a:t>
            </a:r>
          </a:p>
        </p:txBody>
      </p:sp>
      <p:sp>
        <p:nvSpPr>
          <p:cNvPr id="46" name="MC_0_1">
            <a:extLst>
              <a:ext uri="{FF2B5EF4-FFF2-40B4-BE49-F238E27FC236}">
                <a16:creationId xmlns:a16="http://schemas.microsoft.com/office/drawing/2014/main" id="{084BAEA9-16E7-384A-B556-5F587F19AB45}"/>
              </a:ext>
            </a:extLst>
          </p:cNvPr>
          <p:cNvSpPr/>
          <p:nvPr/>
        </p:nvSpPr>
        <p:spPr>
          <a:xfrm>
            <a:off x="1955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MCL_0_1">
            <a:extLst>
              <a:ext uri="{FF2B5EF4-FFF2-40B4-BE49-F238E27FC236}">
                <a16:creationId xmlns:a16="http://schemas.microsoft.com/office/drawing/2014/main" id="{39BF5FAF-1665-FA43-B248-8815F24DA795}"/>
              </a:ext>
            </a:extLst>
          </p:cNvPr>
          <p:cNvSpPr txBox="1"/>
          <p:nvPr/>
        </p:nvSpPr>
        <p:spPr>
          <a:xfrm>
            <a:off x="1955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85</a:t>
            </a:r>
          </a:p>
        </p:txBody>
      </p:sp>
      <p:sp>
        <p:nvSpPr>
          <p:cNvPr id="48" name="MC_0_2">
            <a:extLst>
              <a:ext uri="{FF2B5EF4-FFF2-40B4-BE49-F238E27FC236}">
                <a16:creationId xmlns:a16="http://schemas.microsoft.com/office/drawing/2014/main" id="{AFCC6B81-ACC3-7443-B548-463FB20B0897}"/>
              </a:ext>
            </a:extLst>
          </p:cNvPr>
          <p:cNvSpPr/>
          <p:nvPr/>
        </p:nvSpPr>
        <p:spPr>
          <a:xfrm>
            <a:off x="2844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MCL_0_2">
            <a:extLst>
              <a:ext uri="{FF2B5EF4-FFF2-40B4-BE49-F238E27FC236}">
                <a16:creationId xmlns:a16="http://schemas.microsoft.com/office/drawing/2014/main" id="{042A4311-428C-8848-9EC9-DF1E11431A94}"/>
              </a:ext>
            </a:extLst>
          </p:cNvPr>
          <p:cNvSpPr txBox="1"/>
          <p:nvPr/>
        </p:nvSpPr>
        <p:spPr>
          <a:xfrm>
            <a:off x="2844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92</a:t>
            </a:r>
          </a:p>
        </p:txBody>
      </p:sp>
      <p:sp>
        <p:nvSpPr>
          <p:cNvPr id="50" name="MC_0_3">
            <a:extLst>
              <a:ext uri="{FF2B5EF4-FFF2-40B4-BE49-F238E27FC236}">
                <a16:creationId xmlns:a16="http://schemas.microsoft.com/office/drawing/2014/main" id="{03D4959A-43D8-1140-A3DD-060EAC528716}"/>
              </a:ext>
            </a:extLst>
          </p:cNvPr>
          <p:cNvSpPr/>
          <p:nvPr/>
        </p:nvSpPr>
        <p:spPr>
          <a:xfrm>
            <a:off x="3733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MCL_0_3">
            <a:extLst>
              <a:ext uri="{FF2B5EF4-FFF2-40B4-BE49-F238E27FC236}">
                <a16:creationId xmlns:a16="http://schemas.microsoft.com/office/drawing/2014/main" id="{2230FC13-28F8-FE47-8102-D3D12686335B}"/>
              </a:ext>
            </a:extLst>
          </p:cNvPr>
          <p:cNvSpPr txBox="1"/>
          <p:nvPr/>
        </p:nvSpPr>
        <p:spPr>
          <a:xfrm>
            <a:off x="3733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78</a:t>
            </a:r>
          </a:p>
        </p:txBody>
      </p:sp>
      <p:sp>
        <p:nvSpPr>
          <p:cNvPr id="52" name="MC_0_4">
            <a:extLst>
              <a:ext uri="{FF2B5EF4-FFF2-40B4-BE49-F238E27FC236}">
                <a16:creationId xmlns:a16="http://schemas.microsoft.com/office/drawing/2014/main" id="{96EBBC5E-58BD-F749-9E08-8091D1B3318A}"/>
              </a:ext>
            </a:extLst>
          </p:cNvPr>
          <p:cNvSpPr/>
          <p:nvPr/>
        </p:nvSpPr>
        <p:spPr>
          <a:xfrm>
            <a:off x="4622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MCL_0_4">
            <a:extLst>
              <a:ext uri="{FF2B5EF4-FFF2-40B4-BE49-F238E27FC236}">
                <a16:creationId xmlns:a16="http://schemas.microsoft.com/office/drawing/2014/main" id="{41B78B89-4388-9D41-8096-309A2E4574BF}"/>
              </a:ext>
            </a:extLst>
          </p:cNvPr>
          <p:cNvSpPr txBox="1"/>
          <p:nvPr/>
        </p:nvSpPr>
        <p:spPr>
          <a:xfrm>
            <a:off x="4622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88</a:t>
            </a:r>
          </a:p>
        </p:txBody>
      </p:sp>
      <p:sp>
        <p:nvSpPr>
          <p:cNvPr id="54" name="MC_1_0">
            <a:extLst>
              <a:ext uri="{FF2B5EF4-FFF2-40B4-BE49-F238E27FC236}">
                <a16:creationId xmlns:a16="http://schemas.microsoft.com/office/drawing/2014/main" id="{2358EF80-FB5B-054B-BB3F-483570B020F7}"/>
              </a:ext>
            </a:extLst>
          </p:cNvPr>
          <p:cNvSpPr/>
          <p:nvPr/>
        </p:nvSpPr>
        <p:spPr>
          <a:xfrm>
            <a:off x="558800" y="2565400"/>
            <a:ext cx="1397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MCL_1_0">
            <a:extLst>
              <a:ext uri="{FF2B5EF4-FFF2-40B4-BE49-F238E27FC236}">
                <a16:creationId xmlns:a16="http://schemas.microsoft.com/office/drawing/2014/main" id="{F94EB961-0226-6541-A496-2A2FB4279EA2}"/>
              </a:ext>
            </a:extLst>
          </p:cNvPr>
          <p:cNvSpPr txBox="1"/>
          <p:nvPr/>
        </p:nvSpPr>
        <p:spPr>
          <a:xfrm>
            <a:off x="558800" y="25654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Bob</a:t>
            </a:r>
          </a:p>
        </p:txBody>
      </p:sp>
      <p:sp>
        <p:nvSpPr>
          <p:cNvPr id="56" name="MC_1_1">
            <a:extLst>
              <a:ext uri="{FF2B5EF4-FFF2-40B4-BE49-F238E27FC236}">
                <a16:creationId xmlns:a16="http://schemas.microsoft.com/office/drawing/2014/main" id="{D91C3AE6-198C-1045-83E9-20D755A1DEA8}"/>
              </a:ext>
            </a:extLst>
          </p:cNvPr>
          <p:cNvSpPr/>
          <p:nvPr/>
        </p:nvSpPr>
        <p:spPr>
          <a:xfrm>
            <a:off x="1955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MCL_1_1">
            <a:extLst>
              <a:ext uri="{FF2B5EF4-FFF2-40B4-BE49-F238E27FC236}">
                <a16:creationId xmlns:a16="http://schemas.microsoft.com/office/drawing/2014/main" id="{9984FA6C-2F57-7C46-89ED-559C1179BAA3}"/>
              </a:ext>
            </a:extLst>
          </p:cNvPr>
          <p:cNvSpPr txBox="1"/>
          <p:nvPr/>
        </p:nvSpPr>
        <p:spPr>
          <a:xfrm>
            <a:off x="1955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76</a:t>
            </a:r>
          </a:p>
        </p:txBody>
      </p:sp>
      <p:sp>
        <p:nvSpPr>
          <p:cNvPr id="58" name="MC_1_2">
            <a:extLst>
              <a:ext uri="{FF2B5EF4-FFF2-40B4-BE49-F238E27FC236}">
                <a16:creationId xmlns:a16="http://schemas.microsoft.com/office/drawing/2014/main" id="{3DA6E1CB-0441-6744-A014-598A0B4EA415}"/>
              </a:ext>
            </a:extLst>
          </p:cNvPr>
          <p:cNvSpPr/>
          <p:nvPr/>
        </p:nvSpPr>
        <p:spPr>
          <a:xfrm>
            <a:off x="2844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MCL_1_2">
            <a:extLst>
              <a:ext uri="{FF2B5EF4-FFF2-40B4-BE49-F238E27FC236}">
                <a16:creationId xmlns:a16="http://schemas.microsoft.com/office/drawing/2014/main" id="{4CF1A7E3-B3EA-F947-997D-BAB60705C928}"/>
              </a:ext>
            </a:extLst>
          </p:cNvPr>
          <p:cNvSpPr txBox="1"/>
          <p:nvPr/>
        </p:nvSpPr>
        <p:spPr>
          <a:xfrm>
            <a:off x="2844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81</a:t>
            </a:r>
          </a:p>
        </p:txBody>
      </p:sp>
      <p:sp>
        <p:nvSpPr>
          <p:cNvPr id="82" name="MC_1_3">
            <a:extLst>
              <a:ext uri="{FF2B5EF4-FFF2-40B4-BE49-F238E27FC236}">
                <a16:creationId xmlns:a16="http://schemas.microsoft.com/office/drawing/2014/main" id="{E9478667-B56D-BE4E-ABC1-C8EEC8A5D778}"/>
              </a:ext>
            </a:extLst>
          </p:cNvPr>
          <p:cNvSpPr/>
          <p:nvPr/>
        </p:nvSpPr>
        <p:spPr>
          <a:xfrm>
            <a:off x="3733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3" name="MCL_1_3">
            <a:extLst>
              <a:ext uri="{FF2B5EF4-FFF2-40B4-BE49-F238E27FC236}">
                <a16:creationId xmlns:a16="http://schemas.microsoft.com/office/drawing/2014/main" id="{389F017E-A639-0744-8005-C4A1DB0590DB}"/>
              </a:ext>
            </a:extLst>
          </p:cNvPr>
          <p:cNvSpPr txBox="1"/>
          <p:nvPr/>
        </p:nvSpPr>
        <p:spPr>
          <a:xfrm>
            <a:off x="3733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85</a:t>
            </a:r>
          </a:p>
        </p:txBody>
      </p:sp>
      <p:sp>
        <p:nvSpPr>
          <p:cNvPr id="84" name="MC_1_4">
            <a:extLst>
              <a:ext uri="{FF2B5EF4-FFF2-40B4-BE49-F238E27FC236}">
                <a16:creationId xmlns:a16="http://schemas.microsoft.com/office/drawing/2014/main" id="{FAFE4085-8DD7-0B4B-88B3-7C1711E19F5D}"/>
              </a:ext>
            </a:extLst>
          </p:cNvPr>
          <p:cNvSpPr/>
          <p:nvPr/>
        </p:nvSpPr>
        <p:spPr>
          <a:xfrm>
            <a:off x="4622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5" name="MCL_1_4">
            <a:extLst>
              <a:ext uri="{FF2B5EF4-FFF2-40B4-BE49-F238E27FC236}">
                <a16:creationId xmlns:a16="http://schemas.microsoft.com/office/drawing/2014/main" id="{77A30C38-B96A-A64F-B342-14FC518F8C28}"/>
              </a:ext>
            </a:extLst>
          </p:cNvPr>
          <p:cNvSpPr txBox="1"/>
          <p:nvPr/>
        </p:nvSpPr>
        <p:spPr>
          <a:xfrm>
            <a:off x="4622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70</a:t>
            </a:r>
          </a:p>
        </p:txBody>
      </p:sp>
      <p:sp>
        <p:nvSpPr>
          <p:cNvPr id="86" name="MC_2_0">
            <a:extLst>
              <a:ext uri="{FF2B5EF4-FFF2-40B4-BE49-F238E27FC236}">
                <a16:creationId xmlns:a16="http://schemas.microsoft.com/office/drawing/2014/main" id="{FA4E1ADB-212B-8144-BC3C-74DABDC11F84}"/>
              </a:ext>
            </a:extLst>
          </p:cNvPr>
          <p:cNvSpPr/>
          <p:nvPr/>
        </p:nvSpPr>
        <p:spPr>
          <a:xfrm>
            <a:off x="558800" y="3022600"/>
            <a:ext cx="1397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MCL_2_0">
            <a:extLst>
              <a:ext uri="{FF2B5EF4-FFF2-40B4-BE49-F238E27FC236}">
                <a16:creationId xmlns:a16="http://schemas.microsoft.com/office/drawing/2014/main" id="{4D221D22-D6E2-3240-9F7F-1B2FDE346748}"/>
              </a:ext>
            </a:extLst>
          </p:cNvPr>
          <p:cNvSpPr txBox="1"/>
          <p:nvPr/>
        </p:nvSpPr>
        <p:spPr>
          <a:xfrm>
            <a:off x="558800" y="30226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Carol</a:t>
            </a:r>
          </a:p>
        </p:txBody>
      </p:sp>
      <p:sp>
        <p:nvSpPr>
          <p:cNvPr id="88" name="MC_2_1">
            <a:extLst>
              <a:ext uri="{FF2B5EF4-FFF2-40B4-BE49-F238E27FC236}">
                <a16:creationId xmlns:a16="http://schemas.microsoft.com/office/drawing/2014/main" id="{2F6BC8A9-28E7-DA4B-A9EE-3E322E9CFBB6}"/>
              </a:ext>
            </a:extLst>
          </p:cNvPr>
          <p:cNvSpPr/>
          <p:nvPr/>
        </p:nvSpPr>
        <p:spPr>
          <a:xfrm>
            <a:off x="1955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MCL_2_1">
            <a:extLst>
              <a:ext uri="{FF2B5EF4-FFF2-40B4-BE49-F238E27FC236}">
                <a16:creationId xmlns:a16="http://schemas.microsoft.com/office/drawing/2014/main" id="{C7780764-DE93-2A46-9217-E5D68B163369}"/>
              </a:ext>
            </a:extLst>
          </p:cNvPr>
          <p:cNvSpPr txBox="1"/>
          <p:nvPr/>
        </p:nvSpPr>
        <p:spPr>
          <a:xfrm>
            <a:off x="1955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92</a:t>
            </a:r>
          </a:p>
        </p:txBody>
      </p:sp>
      <p:sp>
        <p:nvSpPr>
          <p:cNvPr id="90" name="MC_2_2">
            <a:extLst>
              <a:ext uri="{FF2B5EF4-FFF2-40B4-BE49-F238E27FC236}">
                <a16:creationId xmlns:a16="http://schemas.microsoft.com/office/drawing/2014/main" id="{26D32D77-AC73-5D4C-AF45-0C0D9F9C45A2}"/>
              </a:ext>
            </a:extLst>
          </p:cNvPr>
          <p:cNvSpPr/>
          <p:nvPr/>
        </p:nvSpPr>
        <p:spPr>
          <a:xfrm>
            <a:off x="2844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MCL_2_2">
            <a:extLst>
              <a:ext uri="{FF2B5EF4-FFF2-40B4-BE49-F238E27FC236}">
                <a16:creationId xmlns:a16="http://schemas.microsoft.com/office/drawing/2014/main" id="{71E0BB21-1EEE-0140-AA87-4BE2570FD425}"/>
              </a:ext>
            </a:extLst>
          </p:cNvPr>
          <p:cNvSpPr txBox="1"/>
          <p:nvPr/>
        </p:nvSpPr>
        <p:spPr>
          <a:xfrm>
            <a:off x="2844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88</a:t>
            </a:r>
          </a:p>
        </p:txBody>
      </p:sp>
      <p:sp>
        <p:nvSpPr>
          <p:cNvPr id="92" name="MC_2_3">
            <a:extLst>
              <a:ext uri="{FF2B5EF4-FFF2-40B4-BE49-F238E27FC236}">
                <a16:creationId xmlns:a16="http://schemas.microsoft.com/office/drawing/2014/main" id="{F5269A11-96DF-C743-BEC0-D67CF9B639DA}"/>
              </a:ext>
            </a:extLst>
          </p:cNvPr>
          <p:cNvSpPr/>
          <p:nvPr/>
        </p:nvSpPr>
        <p:spPr>
          <a:xfrm>
            <a:off x="3733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MCL_2_3">
            <a:extLst>
              <a:ext uri="{FF2B5EF4-FFF2-40B4-BE49-F238E27FC236}">
                <a16:creationId xmlns:a16="http://schemas.microsoft.com/office/drawing/2014/main" id="{664EAE51-C8DF-1141-87DA-51580DD913D5}"/>
              </a:ext>
            </a:extLst>
          </p:cNvPr>
          <p:cNvSpPr txBox="1"/>
          <p:nvPr/>
        </p:nvSpPr>
        <p:spPr>
          <a:xfrm>
            <a:off x="3733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90</a:t>
            </a:r>
          </a:p>
        </p:txBody>
      </p:sp>
      <p:sp>
        <p:nvSpPr>
          <p:cNvPr id="94" name="MC_2_4">
            <a:extLst>
              <a:ext uri="{FF2B5EF4-FFF2-40B4-BE49-F238E27FC236}">
                <a16:creationId xmlns:a16="http://schemas.microsoft.com/office/drawing/2014/main" id="{DB1BD85A-B3FD-4747-A3DF-B2FDA8F6BB6D}"/>
              </a:ext>
            </a:extLst>
          </p:cNvPr>
          <p:cNvSpPr/>
          <p:nvPr/>
        </p:nvSpPr>
        <p:spPr>
          <a:xfrm>
            <a:off x="4622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5" name="MCL_2_4">
            <a:extLst>
              <a:ext uri="{FF2B5EF4-FFF2-40B4-BE49-F238E27FC236}">
                <a16:creationId xmlns:a16="http://schemas.microsoft.com/office/drawing/2014/main" id="{388ADFCC-6DE8-BB47-ACF2-742495221DDD}"/>
              </a:ext>
            </a:extLst>
          </p:cNvPr>
          <p:cNvSpPr txBox="1"/>
          <p:nvPr/>
        </p:nvSpPr>
        <p:spPr>
          <a:xfrm>
            <a:off x="4622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94</a:t>
            </a:r>
          </a:p>
        </p:txBody>
      </p:sp>
      <p:sp>
        <p:nvSpPr>
          <p:cNvPr id="96" name="MC_3_0">
            <a:extLst>
              <a:ext uri="{FF2B5EF4-FFF2-40B4-BE49-F238E27FC236}">
                <a16:creationId xmlns:a16="http://schemas.microsoft.com/office/drawing/2014/main" id="{906F4811-6FC9-BE4A-8DB9-B19AC87625DE}"/>
              </a:ext>
            </a:extLst>
          </p:cNvPr>
          <p:cNvSpPr/>
          <p:nvPr/>
        </p:nvSpPr>
        <p:spPr>
          <a:xfrm>
            <a:off x="558800" y="3479800"/>
            <a:ext cx="1397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CL_3_0">
            <a:extLst>
              <a:ext uri="{FF2B5EF4-FFF2-40B4-BE49-F238E27FC236}">
                <a16:creationId xmlns:a16="http://schemas.microsoft.com/office/drawing/2014/main" id="{DFD2FF56-7021-9E44-83D6-81FD2500E4F6}"/>
              </a:ext>
            </a:extLst>
          </p:cNvPr>
          <p:cNvSpPr txBox="1"/>
          <p:nvPr/>
        </p:nvSpPr>
        <p:spPr>
          <a:xfrm>
            <a:off x="558800" y="34798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David</a:t>
            </a:r>
          </a:p>
        </p:txBody>
      </p:sp>
      <p:sp>
        <p:nvSpPr>
          <p:cNvPr id="98" name="MC_3_1">
            <a:extLst>
              <a:ext uri="{FF2B5EF4-FFF2-40B4-BE49-F238E27FC236}">
                <a16:creationId xmlns:a16="http://schemas.microsoft.com/office/drawing/2014/main" id="{4779A0A5-433E-5347-86B5-0BE749A9AB68}"/>
              </a:ext>
            </a:extLst>
          </p:cNvPr>
          <p:cNvSpPr/>
          <p:nvPr/>
        </p:nvSpPr>
        <p:spPr>
          <a:xfrm>
            <a:off x="1955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9" name="MCL_3_1">
            <a:extLst>
              <a:ext uri="{FF2B5EF4-FFF2-40B4-BE49-F238E27FC236}">
                <a16:creationId xmlns:a16="http://schemas.microsoft.com/office/drawing/2014/main" id="{0FE56E0D-9D55-5443-9600-D471FE840F2F}"/>
              </a:ext>
            </a:extLst>
          </p:cNvPr>
          <p:cNvSpPr txBox="1"/>
          <p:nvPr/>
        </p:nvSpPr>
        <p:spPr>
          <a:xfrm>
            <a:off x="1955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68</a:t>
            </a:r>
          </a:p>
        </p:txBody>
      </p:sp>
      <p:sp>
        <p:nvSpPr>
          <p:cNvPr id="100" name="MC_3_2">
            <a:extLst>
              <a:ext uri="{FF2B5EF4-FFF2-40B4-BE49-F238E27FC236}">
                <a16:creationId xmlns:a16="http://schemas.microsoft.com/office/drawing/2014/main" id="{0FBF0B9A-6085-FF49-91AA-55736FC24EBA}"/>
              </a:ext>
            </a:extLst>
          </p:cNvPr>
          <p:cNvSpPr/>
          <p:nvPr/>
        </p:nvSpPr>
        <p:spPr>
          <a:xfrm>
            <a:off x="2844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1" name="MCL_3_2">
            <a:extLst>
              <a:ext uri="{FF2B5EF4-FFF2-40B4-BE49-F238E27FC236}">
                <a16:creationId xmlns:a16="http://schemas.microsoft.com/office/drawing/2014/main" id="{03EC048D-2707-FD42-B53E-FC04E68BC683}"/>
              </a:ext>
            </a:extLst>
          </p:cNvPr>
          <p:cNvSpPr txBox="1"/>
          <p:nvPr/>
        </p:nvSpPr>
        <p:spPr>
          <a:xfrm>
            <a:off x="2844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74</a:t>
            </a:r>
          </a:p>
        </p:txBody>
      </p:sp>
      <p:sp>
        <p:nvSpPr>
          <p:cNvPr id="102" name="MC_3_3">
            <a:extLst>
              <a:ext uri="{FF2B5EF4-FFF2-40B4-BE49-F238E27FC236}">
                <a16:creationId xmlns:a16="http://schemas.microsoft.com/office/drawing/2014/main" id="{229561F7-4ADB-F348-9CD7-E9C6039DD99A}"/>
              </a:ext>
            </a:extLst>
          </p:cNvPr>
          <p:cNvSpPr/>
          <p:nvPr/>
        </p:nvSpPr>
        <p:spPr>
          <a:xfrm>
            <a:off x="3733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3" name="MCL_3_3">
            <a:extLst>
              <a:ext uri="{FF2B5EF4-FFF2-40B4-BE49-F238E27FC236}">
                <a16:creationId xmlns:a16="http://schemas.microsoft.com/office/drawing/2014/main" id="{4728675B-CA7A-3240-B539-03F22F073814}"/>
              </a:ext>
            </a:extLst>
          </p:cNvPr>
          <p:cNvSpPr txBox="1"/>
          <p:nvPr/>
        </p:nvSpPr>
        <p:spPr>
          <a:xfrm>
            <a:off x="3733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72</a:t>
            </a:r>
          </a:p>
        </p:txBody>
      </p:sp>
      <p:sp>
        <p:nvSpPr>
          <p:cNvPr id="104" name="MC_3_4">
            <a:extLst>
              <a:ext uri="{FF2B5EF4-FFF2-40B4-BE49-F238E27FC236}">
                <a16:creationId xmlns:a16="http://schemas.microsoft.com/office/drawing/2014/main" id="{8893EA0F-BB0A-0645-8DF9-2CA7AF5A99F3}"/>
              </a:ext>
            </a:extLst>
          </p:cNvPr>
          <p:cNvSpPr/>
          <p:nvPr/>
        </p:nvSpPr>
        <p:spPr>
          <a:xfrm>
            <a:off x="4622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MCL_3_4">
            <a:extLst>
              <a:ext uri="{FF2B5EF4-FFF2-40B4-BE49-F238E27FC236}">
                <a16:creationId xmlns:a16="http://schemas.microsoft.com/office/drawing/2014/main" id="{EC8B3057-1997-AD45-B818-99EB7F336BFD}"/>
              </a:ext>
            </a:extLst>
          </p:cNvPr>
          <p:cNvSpPr txBox="1"/>
          <p:nvPr/>
        </p:nvSpPr>
        <p:spPr>
          <a:xfrm>
            <a:off x="4622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80</a:t>
            </a:r>
          </a:p>
        </p:txBody>
      </p:sp>
      <p:sp>
        <p:nvSpPr>
          <p:cNvPr id="106" name="LCap">
            <a:extLst>
              <a:ext uri="{FF2B5EF4-FFF2-40B4-BE49-F238E27FC236}">
                <a16:creationId xmlns:a16="http://schemas.microsoft.com/office/drawing/2014/main" id="{166B5DE5-0018-E84C-A8D8-8A3D133DC791}"/>
              </a:ext>
            </a:extLst>
          </p:cNvPr>
          <p:cNvSpPr txBox="1"/>
          <p:nvPr/>
        </p:nvSpPr>
        <p:spPr>
          <a:xfrm>
            <a:off x="558800" y="4038600"/>
            <a:ext cx="523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4 students × 4 subjects = 16 numbers</a:t>
            </a:r>
          </a:p>
        </p:txBody>
      </p:sp>
      <p:sp>
        <p:nvSpPr>
          <p:cNvPr id="107" name="EncArrow">
            <a:extLst>
              <a:ext uri="{FF2B5EF4-FFF2-40B4-BE49-F238E27FC236}">
                <a16:creationId xmlns:a16="http://schemas.microsoft.com/office/drawing/2014/main" id="{651FA2A3-9C5F-2745-BE28-A2E7A238F229}"/>
              </a:ext>
            </a:extLst>
          </p:cNvPr>
          <p:cNvSpPr/>
          <p:nvPr/>
        </p:nvSpPr>
        <p:spPr>
          <a:xfrm>
            <a:off x="6070600" y="2984500"/>
            <a:ext cx="698500" cy="635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8" name="EncLbl">
            <a:extLst>
              <a:ext uri="{FF2B5EF4-FFF2-40B4-BE49-F238E27FC236}">
                <a16:creationId xmlns:a16="http://schemas.microsoft.com/office/drawing/2014/main" id="{379C81B1-56DC-2E42-B5D9-93B626E5EE32}"/>
              </a:ext>
            </a:extLst>
          </p:cNvPr>
          <p:cNvSpPr txBox="1"/>
          <p:nvPr/>
        </p:nvSpPr>
        <p:spPr>
          <a:xfrm>
            <a:off x="6070600" y="3683000"/>
            <a:ext cx="698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109" name="RBox">
            <a:extLst>
              <a:ext uri="{FF2B5EF4-FFF2-40B4-BE49-F238E27FC236}">
                <a16:creationId xmlns:a16="http://schemas.microsoft.com/office/drawing/2014/main" id="{4B2AC2F6-18E2-784A-A8BF-44896155E28F}"/>
              </a:ext>
            </a:extLst>
          </p:cNvPr>
          <p:cNvSpPr/>
          <p:nvPr/>
        </p:nvSpPr>
        <p:spPr>
          <a:xfrm>
            <a:off x="6921500" y="1270000"/>
            <a:ext cx="49784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0" name="RHdr">
            <a:extLst>
              <a:ext uri="{FF2B5EF4-FFF2-40B4-BE49-F238E27FC236}">
                <a16:creationId xmlns:a16="http://schemas.microsoft.com/office/drawing/2014/main" id="{10F7603D-5F0C-8047-A49B-3CA90672FFC3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111" name="SEq">
            <a:extLst>
              <a:ext uri="{FF2B5EF4-FFF2-40B4-BE49-F238E27FC236}">
                <a16:creationId xmlns:a16="http://schemas.microsoft.com/office/drawing/2014/main" id="{F13E921B-1AF6-0942-B706-162A70B6BC75}"/>
              </a:ext>
            </a:extLst>
          </p:cNvPr>
          <p:cNvSpPr txBox="1"/>
          <p:nvPr/>
        </p:nvSpPr>
        <p:spPr>
          <a:xfrm>
            <a:off x="7150100" y="2667000"/>
            <a:ext cx="863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b="1" i="1">
                <a:solidFill>
                  <a:srgbClr val="4B2E83"/>
                </a:solidFill>
                <a:latin typeface="Cambria Math"/>
                <a:ea typeface="Cambria Math"/>
              </a:rPr>
              <a:t>S =</a:t>
            </a:r>
          </a:p>
        </p:txBody>
      </p:sp>
      <p:sp>
        <p:nvSpPr>
          <p:cNvPr id="112" name="BrL">
            <a:extLst>
              <a:ext uri="{FF2B5EF4-FFF2-40B4-BE49-F238E27FC236}">
                <a16:creationId xmlns:a16="http://schemas.microsoft.com/office/drawing/2014/main" id="{6DFACD56-F2E2-B742-8752-B4123698A8E0}"/>
              </a:ext>
            </a:extLst>
          </p:cNvPr>
          <p:cNvSpPr/>
          <p:nvPr/>
        </p:nvSpPr>
        <p:spPr>
          <a:xfrm>
            <a:off x="8128000" y="2032000"/>
            <a:ext cx="228600" cy="2667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3" name="BrR">
            <a:extLst>
              <a:ext uri="{FF2B5EF4-FFF2-40B4-BE49-F238E27FC236}">
                <a16:creationId xmlns:a16="http://schemas.microsoft.com/office/drawing/2014/main" id="{BBF89AD9-F90A-1647-9BE8-6CF7A96E814F}"/>
              </a:ext>
            </a:extLst>
          </p:cNvPr>
          <p:cNvSpPr/>
          <p:nvPr/>
        </p:nvSpPr>
        <p:spPr>
          <a:xfrm>
            <a:off x="11544300" y="2032000"/>
            <a:ext cx="228600" cy="2667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4" name="ME_0_0">
            <a:extLst>
              <a:ext uri="{FF2B5EF4-FFF2-40B4-BE49-F238E27FC236}">
                <a16:creationId xmlns:a16="http://schemas.microsoft.com/office/drawing/2014/main" id="{730AF2D2-0B44-4346-A345-19412B03AF7C}"/>
              </a:ext>
            </a:extLst>
          </p:cNvPr>
          <p:cNvSpPr txBox="1"/>
          <p:nvPr/>
        </p:nvSpPr>
        <p:spPr>
          <a:xfrm>
            <a:off x="8407400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85</a:t>
            </a:r>
          </a:p>
        </p:txBody>
      </p:sp>
      <p:sp>
        <p:nvSpPr>
          <p:cNvPr id="115" name="ME_0_1">
            <a:extLst>
              <a:ext uri="{FF2B5EF4-FFF2-40B4-BE49-F238E27FC236}">
                <a16:creationId xmlns:a16="http://schemas.microsoft.com/office/drawing/2014/main" id="{A968204B-8599-0D44-AEC3-B340A87CC262}"/>
              </a:ext>
            </a:extLst>
          </p:cNvPr>
          <p:cNvSpPr txBox="1"/>
          <p:nvPr/>
        </p:nvSpPr>
        <p:spPr>
          <a:xfrm>
            <a:off x="9191625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92</a:t>
            </a:r>
          </a:p>
        </p:txBody>
      </p:sp>
      <p:sp>
        <p:nvSpPr>
          <p:cNvPr id="116" name="ME_0_2">
            <a:extLst>
              <a:ext uri="{FF2B5EF4-FFF2-40B4-BE49-F238E27FC236}">
                <a16:creationId xmlns:a16="http://schemas.microsoft.com/office/drawing/2014/main" id="{90A4AD50-C728-D14C-BB43-8D53BF805870}"/>
              </a:ext>
            </a:extLst>
          </p:cNvPr>
          <p:cNvSpPr txBox="1"/>
          <p:nvPr/>
        </p:nvSpPr>
        <p:spPr>
          <a:xfrm>
            <a:off x="9975850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78</a:t>
            </a:r>
          </a:p>
        </p:txBody>
      </p:sp>
      <p:sp>
        <p:nvSpPr>
          <p:cNvPr id="117" name="ME_0_3">
            <a:extLst>
              <a:ext uri="{FF2B5EF4-FFF2-40B4-BE49-F238E27FC236}">
                <a16:creationId xmlns:a16="http://schemas.microsoft.com/office/drawing/2014/main" id="{B9AA1EC1-3D85-D144-874D-0CB8B077A647}"/>
              </a:ext>
            </a:extLst>
          </p:cNvPr>
          <p:cNvSpPr txBox="1"/>
          <p:nvPr/>
        </p:nvSpPr>
        <p:spPr>
          <a:xfrm>
            <a:off x="10760075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88</a:t>
            </a:r>
          </a:p>
        </p:txBody>
      </p:sp>
      <p:sp>
        <p:nvSpPr>
          <p:cNvPr id="118" name="ME_1_0">
            <a:extLst>
              <a:ext uri="{FF2B5EF4-FFF2-40B4-BE49-F238E27FC236}">
                <a16:creationId xmlns:a16="http://schemas.microsoft.com/office/drawing/2014/main" id="{74E53186-966C-2349-8E58-5ED2C9048A1F}"/>
              </a:ext>
            </a:extLst>
          </p:cNvPr>
          <p:cNvSpPr txBox="1"/>
          <p:nvPr/>
        </p:nvSpPr>
        <p:spPr>
          <a:xfrm>
            <a:off x="8407400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76</a:t>
            </a:r>
          </a:p>
        </p:txBody>
      </p:sp>
      <p:sp>
        <p:nvSpPr>
          <p:cNvPr id="119" name="ME_1_1">
            <a:extLst>
              <a:ext uri="{FF2B5EF4-FFF2-40B4-BE49-F238E27FC236}">
                <a16:creationId xmlns:a16="http://schemas.microsoft.com/office/drawing/2014/main" id="{9E9673BA-0AFB-E54A-9ECF-C9D630E2E40E}"/>
              </a:ext>
            </a:extLst>
          </p:cNvPr>
          <p:cNvSpPr txBox="1"/>
          <p:nvPr/>
        </p:nvSpPr>
        <p:spPr>
          <a:xfrm>
            <a:off x="9191625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81</a:t>
            </a:r>
          </a:p>
        </p:txBody>
      </p:sp>
      <p:sp>
        <p:nvSpPr>
          <p:cNvPr id="120" name="ME_1_2">
            <a:extLst>
              <a:ext uri="{FF2B5EF4-FFF2-40B4-BE49-F238E27FC236}">
                <a16:creationId xmlns:a16="http://schemas.microsoft.com/office/drawing/2014/main" id="{598BB2C2-0835-5842-83C1-2C7DF52D5D8D}"/>
              </a:ext>
            </a:extLst>
          </p:cNvPr>
          <p:cNvSpPr txBox="1"/>
          <p:nvPr/>
        </p:nvSpPr>
        <p:spPr>
          <a:xfrm>
            <a:off x="9975850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85</a:t>
            </a:r>
          </a:p>
        </p:txBody>
      </p:sp>
      <p:sp>
        <p:nvSpPr>
          <p:cNvPr id="121" name="ME_1_3">
            <a:extLst>
              <a:ext uri="{FF2B5EF4-FFF2-40B4-BE49-F238E27FC236}">
                <a16:creationId xmlns:a16="http://schemas.microsoft.com/office/drawing/2014/main" id="{ED795ACF-512B-1043-9CC2-E89063853FA5}"/>
              </a:ext>
            </a:extLst>
          </p:cNvPr>
          <p:cNvSpPr txBox="1"/>
          <p:nvPr/>
        </p:nvSpPr>
        <p:spPr>
          <a:xfrm>
            <a:off x="10760075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70</a:t>
            </a:r>
          </a:p>
        </p:txBody>
      </p:sp>
      <p:sp>
        <p:nvSpPr>
          <p:cNvPr id="122" name="ME_2_0">
            <a:extLst>
              <a:ext uri="{FF2B5EF4-FFF2-40B4-BE49-F238E27FC236}">
                <a16:creationId xmlns:a16="http://schemas.microsoft.com/office/drawing/2014/main" id="{5F7E8BE0-ECF1-834D-B076-4CD71CE2902C}"/>
              </a:ext>
            </a:extLst>
          </p:cNvPr>
          <p:cNvSpPr txBox="1"/>
          <p:nvPr/>
        </p:nvSpPr>
        <p:spPr>
          <a:xfrm>
            <a:off x="8407400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92</a:t>
            </a:r>
          </a:p>
        </p:txBody>
      </p:sp>
      <p:sp>
        <p:nvSpPr>
          <p:cNvPr id="123" name="ME_2_1">
            <a:extLst>
              <a:ext uri="{FF2B5EF4-FFF2-40B4-BE49-F238E27FC236}">
                <a16:creationId xmlns:a16="http://schemas.microsoft.com/office/drawing/2014/main" id="{A5EEFD21-6F34-CE43-BC0F-113E8D38707C}"/>
              </a:ext>
            </a:extLst>
          </p:cNvPr>
          <p:cNvSpPr txBox="1"/>
          <p:nvPr/>
        </p:nvSpPr>
        <p:spPr>
          <a:xfrm>
            <a:off x="9191625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88</a:t>
            </a:r>
          </a:p>
        </p:txBody>
      </p:sp>
      <p:sp>
        <p:nvSpPr>
          <p:cNvPr id="124" name="ME_2_2">
            <a:extLst>
              <a:ext uri="{FF2B5EF4-FFF2-40B4-BE49-F238E27FC236}">
                <a16:creationId xmlns:a16="http://schemas.microsoft.com/office/drawing/2014/main" id="{6896215B-C03F-744C-892C-89F0346DDC2E}"/>
              </a:ext>
            </a:extLst>
          </p:cNvPr>
          <p:cNvSpPr txBox="1"/>
          <p:nvPr/>
        </p:nvSpPr>
        <p:spPr>
          <a:xfrm>
            <a:off x="9975850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90</a:t>
            </a:r>
          </a:p>
        </p:txBody>
      </p:sp>
      <p:sp>
        <p:nvSpPr>
          <p:cNvPr id="125" name="ME_2_3">
            <a:extLst>
              <a:ext uri="{FF2B5EF4-FFF2-40B4-BE49-F238E27FC236}">
                <a16:creationId xmlns:a16="http://schemas.microsoft.com/office/drawing/2014/main" id="{1A23386D-C56B-264A-943C-40DEC87C4ADD}"/>
              </a:ext>
            </a:extLst>
          </p:cNvPr>
          <p:cNvSpPr txBox="1"/>
          <p:nvPr/>
        </p:nvSpPr>
        <p:spPr>
          <a:xfrm>
            <a:off x="10760075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94</a:t>
            </a:r>
          </a:p>
        </p:txBody>
      </p:sp>
      <p:sp>
        <p:nvSpPr>
          <p:cNvPr id="126" name="ME_3_0">
            <a:extLst>
              <a:ext uri="{FF2B5EF4-FFF2-40B4-BE49-F238E27FC236}">
                <a16:creationId xmlns:a16="http://schemas.microsoft.com/office/drawing/2014/main" id="{5191536F-4503-BA4A-953E-89930E4BFB64}"/>
              </a:ext>
            </a:extLst>
          </p:cNvPr>
          <p:cNvSpPr txBox="1"/>
          <p:nvPr/>
        </p:nvSpPr>
        <p:spPr>
          <a:xfrm>
            <a:off x="8407400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68</a:t>
            </a:r>
          </a:p>
        </p:txBody>
      </p:sp>
      <p:sp>
        <p:nvSpPr>
          <p:cNvPr id="127" name="ME_3_1">
            <a:extLst>
              <a:ext uri="{FF2B5EF4-FFF2-40B4-BE49-F238E27FC236}">
                <a16:creationId xmlns:a16="http://schemas.microsoft.com/office/drawing/2014/main" id="{D9E3B7D3-36C4-0C45-B796-11AFC128E283}"/>
              </a:ext>
            </a:extLst>
          </p:cNvPr>
          <p:cNvSpPr txBox="1"/>
          <p:nvPr/>
        </p:nvSpPr>
        <p:spPr>
          <a:xfrm>
            <a:off x="9191625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74</a:t>
            </a:r>
          </a:p>
        </p:txBody>
      </p:sp>
      <p:sp>
        <p:nvSpPr>
          <p:cNvPr id="128" name="ME_3_2">
            <a:extLst>
              <a:ext uri="{FF2B5EF4-FFF2-40B4-BE49-F238E27FC236}">
                <a16:creationId xmlns:a16="http://schemas.microsoft.com/office/drawing/2014/main" id="{DAEA94AF-D1B0-3748-BFFC-A346BC5AEA8A}"/>
              </a:ext>
            </a:extLst>
          </p:cNvPr>
          <p:cNvSpPr txBox="1"/>
          <p:nvPr/>
        </p:nvSpPr>
        <p:spPr>
          <a:xfrm>
            <a:off x="9975850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72</a:t>
            </a:r>
          </a:p>
        </p:txBody>
      </p:sp>
      <p:sp>
        <p:nvSpPr>
          <p:cNvPr id="129" name="ME_3_3">
            <a:extLst>
              <a:ext uri="{FF2B5EF4-FFF2-40B4-BE49-F238E27FC236}">
                <a16:creationId xmlns:a16="http://schemas.microsoft.com/office/drawing/2014/main" id="{D43956B0-CCED-304B-B14C-EB9A0BA531A0}"/>
              </a:ext>
            </a:extLst>
          </p:cNvPr>
          <p:cNvSpPr txBox="1"/>
          <p:nvPr/>
        </p:nvSpPr>
        <p:spPr>
          <a:xfrm>
            <a:off x="10760075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80</a:t>
            </a:r>
          </a:p>
        </p:txBody>
      </p:sp>
      <p:sp>
        <p:nvSpPr>
          <p:cNvPr id="130" name="DimCap">
            <a:extLst>
              <a:ext uri="{FF2B5EF4-FFF2-40B4-BE49-F238E27FC236}">
                <a16:creationId xmlns:a16="http://schemas.microsoft.com/office/drawing/2014/main" id="{EE924246-DEB0-BD48-BFE1-C5CA7BAE6284}"/>
              </a:ext>
            </a:extLst>
          </p:cNvPr>
          <p:cNvSpPr txBox="1"/>
          <p:nvPr/>
        </p:nvSpPr>
        <p:spPr>
          <a:xfrm>
            <a:off x="7099300" y="4851400"/>
            <a:ext cx="4622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i="1">
                <a:solidFill>
                  <a:srgbClr val="00A7B5"/>
                </a:solidFill>
                <a:latin typeface="Cambria Math"/>
                <a:ea typeface="Cambria Math"/>
              </a:rPr>
              <a:t>S ∈ ℝ⁴ˣ⁴   dim(S) = 4 × 4   (rows × cols)</a:t>
            </a:r>
          </a:p>
        </p:txBody>
      </p:sp>
      <p:sp>
        <p:nvSpPr>
          <p:cNvPr id="131" name="TkBar">
            <a:extLst>
              <a:ext uri="{FF2B5EF4-FFF2-40B4-BE49-F238E27FC236}">
                <a16:creationId xmlns:a16="http://schemas.microsoft.com/office/drawing/2014/main" id="{F1DFC84D-80C5-034B-818D-F26D2307583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2" name="TkText">
            <a:extLst>
              <a:ext uri="{FF2B5EF4-FFF2-40B4-BE49-F238E27FC236}">
                <a16:creationId xmlns:a16="http://schemas.microsoft.com/office/drawing/2014/main" id="{C1163522-55C0-D943-8B9B-0973CBF4CF72}"/>
              </a:ext>
            </a:extLst>
          </p:cNvPr>
          <p:cNvSpPr txBox="1"/>
          <p:nvPr/>
        </p:nvSpPr>
        <p:spPr>
          <a:xfrm>
            <a:off x="508000" y="5969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A matrix stacks vectors: each row is one student's profile, each column is one subject across the class.</a:t>
            </a:r>
          </a:p>
        </p:txBody>
      </p:sp>
    </p:spTree>
    <p:extLst>
      <p:ext uri="{BB962C8B-B14F-4D97-AF65-F5344CB8AC3E}">
        <p14:creationId xmlns:p14="http://schemas.microsoft.com/office/powerpoint/2010/main" val="2361445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3: a term-document matrix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Each row = one word. Each column = one document. Each cell = how often the word appears.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Corpus: 3 short documents</a:t>
            </a:r>
          </a:p>
        </p:txBody>
      </p:sp>
      <p:sp>
        <p:nvSpPr>
          <p:cNvPr id="25" name="DocBox">
            <a:extLst>
              <a:ext uri="{FF2B5EF4-FFF2-40B4-BE49-F238E27FC236}">
                <a16:creationId xmlns:a16="http://schemas.microsoft.com/office/drawing/2014/main" id="{4342DF31-CED6-0740-AEC5-FEB5F73844AB}"/>
              </a:ext>
            </a:extLst>
          </p:cNvPr>
          <p:cNvSpPr/>
          <p:nvPr/>
        </p:nvSpPr>
        <p:spPr>
          <a:xfrm>
            <a:off x="558800" y="17272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DocId">
            <a:extLst>
              <a:ext uri="{FF2B5EF4-FFF2-40B4-BE49-F238E27FC236}">
                <a16:creationId xmlns:a16="http://schemas.microsoft.com/office/drawing/2014/main" id="{082C06C7-798A-F447-B6C0-C5C5193F13DA}"/>
              </a:ext>
            </a:extLst>
          </p:cNvPr>
          <p:cNvSpPr txBox="1"/>
          <p:nvPr/>
        </p:nvSpPr>
        <p:spPr>
          <a:xfrm>
            <a:off x="660400" y="18288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27" name="DocTxt">
            <a:extLst>
              <a:ext uri="{FF2B5EF4-FFF2-40B4-BE49-F238E27FC236}">
                <a16:creationId xmlns:a16="http://schemas.microsoft.com/office/drawing/2014/main" id="{43A54500-D6C4-A849-A3F7-CB9291762237}"/>
              </a:ext>
            </a:extLst>
          </p:cNvPr>
          <p:cNvSpPr txBox="1"/>
          <p:nvPr/>
        </p:nvSpPr>
        <p:spPr>
          <a:xfrm>
            <a:off x="1143000" y="18288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"cat sat mat"</a:t>
            </a:r>
          </a:p>
        </p:txBody>
      </p:sp>
      <p:sp>
        <p:nvSpPr>
          <p:cNvPr id="37" name="DocBox">
            <a:extLst>
              <a:ext uri="{FF2B5EF4-FFF2-40B4-BE49-F238E27FC236}">
                <a16:creationId xmlns:a16="http://schemas.microsoft.com/office/drawing/2014/main" id="{C17BD9CF-8E57-A04D-B8D6-0D11CB050004}"/>
              </a:ext>
            </a:extLst>
          </p:cNvPr>
          <p:cNvSpPr/>
          <p:nvPr/>
        </p:nvSpPr>
        <p:spPr>
          <a:xfrm>
            <a:off x="558800" y="22606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DocId">
            <a:extLst>
              <a:ext uri="{FF2B5EF4-FFF2-40B4-BE49-F238E27FC236}">
                <a16:creationId xmlns:a16="http://schemas.microsoft.com/office/drawing/2014/main" id="{4F8BD640-D4AD-2F47-ACA3-1B4605C12EFF}"/>
              </a:ext>
            </a:extLst>
          </p:cNvPr>
          <p:cNvSpPr txBox="1"/>
          <p:nvPr/>
        </p:nvSpPr>
        <p:spPr>
          <a:xfrm>
            <a:off x="660400" y="2362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39" name="DocTxt">
            <a:extLst>
              <a:ext uri="{FF2B5EF4-FFF2-40B4-BE49-F238E27FC236}">
                <a16:creationId xmlns:a16="http://schemas.microsoft.com/office/drawing/2014/main" id="{C469C8C1-0C4A-664D-9500-12C8DB6F196A}"/>
              </a:ext>
            </a:extLst>
          </p:cNvPr>
          <p:cNvSpPr txBox="1"/>
          <p:nvPr/>
        </p:nvSpPr>
        <p:spPr>
          <a:xfrm>
            <a:off x="1143000" y="23622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"dog ran fast cat"</a:t>
            </a:r>
          </a:p>
        </p:txBody>
      </p:sp>
      <p:sp>
        <p:nvSpPr>
          <p:cNvPr id="40" name="DocBox">
            <a:extLst>
              <a:ext uri="{FF2B5EF4-FFF2-40B4-BE49-F238E27FC236}">
                <a16:creationId xmlns:a16="http://schemas.microsoft.com/office/drawing/2014/main" id="{7FC9D4AE-6727-E949-BB19-E54ACDFE46D3}"/>
              </a:ext>
            </a:extLst>
          </p:cNvPr>
          <p:cNvSpPr/>
          <p:nvPr/>
        </p:nvSpPr>
        <p:spPr>
          <a:xfrm>
            <a:off x="558800" y="27940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DocId">
            <a:extLst>
              <a:ext uri="{FF2B5EF4-FFF2-40B4-BE49-F238E27FC236}">
                <a16:creationId xmlns:a16="http://schemas.microsoft.com/office/drawing/2014/main" id="{2213798B-3586-D049-8E04-CD8B518D7B1C}"/>
              </a:ext>
            </a:extLst>
          </p:cNvPr>
          <p:cNvSpPr txBox="1"/>
          <p:nvPr/>
        </p:nvSpPr>
        <p:spPr>
          <a:xfrm>
            <a:off x="660400" y="28956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42" name="DocTxt">
            <a:extLst>
              <a:ext uri="{FF2B5EF4-FFF2-40B4-BE49-F238E27FC236}">
                <a16:creationId xmlns:a16="http://schemas.microsoft.com/office/drawing/2014/main" id="{074A539B-946C-6243-A5E9-2192A685D50D}"/>
              </a:ext>
            </a:extLst>
          </p:cNvPr>
          <p:cNvSpPr txBox="1"/>
          <p:nvPr/>
        </p:nvSpPr>
        <p:spPr>
          <a:xfrm>
            <a:off x="1143000" y="28956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"cat dog sat"</a:t>
            </a:r>
          </a:p>
        </p:txBody>
      </p:sp>
      <p:sp>
        <p:nvSpPr>
          <p:cNvPr id="43" name="HdrWord">
            <a:extLst>
              <a:ext uri="{FF2B5EF4-FFF2-40B4-BE49-F238E27FC236}">
                <a16:creationId xmlns:a16="http://schemas.microsoft.com/office/drawing/2014/main" id="{C4CAC0DF-4885-2849-898E-3BDF1F1D4026}"/>
              </a:ext>
            </a:extLst>
          </p:cNvPr>
          <p:cNvSpPr txBox="1"/>
          <p:nvPr/>
        </p:nvSpPr>
        <p:spPr>
          <a:xfrm>
            <a:off x="558800" y="345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libri"/>
                <a:cs typeface="Calibri"/>
              </a:rPr>
              <a:t>word</a:t>
            </a:r>
          </a:p>
        </p:txBody>
      </p:sp>
      <p:sp>
        <p:nvSpPr>
          <p:cNvPr id="44" name="HdrDoc">
            <a:extLst>
              <a:ext uri="{FF2B5EF4-FFF2-40B4-BE49-F238E27FC236}">
                <a16:creationId xmlns:a16="http://schemas.microsoft.com/office/drawing/2014/main" id="{563CCE0B-D929-A14D-9DEB-1FCB3F063ABD}"/>
              </a:ext>
            </a:extLst>
          </p:cNvPr>
          <p:cNvSpPr txBox="1"/>
          <p:nvPr/>
        </p:nvSpPr>
        <p:spPr>
          <a:xfrm>
            <a:off x="1574800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45" name="HdrDoc">
            <a:extLst>
              <a:ext uri="{FF2B5EF4-FFF2-40B4-BE49-F238E27FC236}">
                <a16:creationId xmlns:a16="http://schemas.microsoft.com/office/drawing/2014/main" id="{058A3122-0082-F54E-8698-07F5BF115B84}"/>
              </a:ext>
            </a:extLst>
          </p:cNvPr>
          <p:cNvSpPr txBox="1"/>
          <p:nvPr/>
        </p:nvSpPr>
        <p:spPr>
          <a:xfrm>
            <a:off x="2853266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46" name="HdrDoc">
            <a:extLst>
              <a:ext uri="{FF2B5EF4-FFF2-40B4-BE49-F238E27FC236}">
                <a16:creationId xmlns:a16="http://schemas.microsoft.com/office/drawing/2014/main" id="{A4E0D0B0-6180-C348-A9CB-B08244D0288A}"/>
              </a:ext>
            </a:extLst>
          </p:cNvPr>
          <p:cNvSpPr txBox="1"/>
          <p:nvPr/>
        </p:nvSpPr>
        <p:spPr>
          <a:xfrm>
            <a:off x="4131733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47" name="WordLbl">
            <a:extLst>
              <a:ext uri="{FF2B5EF4-FFF2-40B4-BE49-F238E27FC236}">
                <a16:creationId xmlns:a16="http://schemas.microsoft.com/office/drawing/2014/main" id="{16F8F940-6EBF-904F-853A-78E874D1AD04}"/>
              </a:ext>
            </a:extLst>
          </p:cNvPr>
          <p:cNvSpPr txBox="1"/>
          <p:nvPr/>
        </p:nvSpPr>
        <p:spPr>
          <a:xfrm>
            <a:off x="558800" y="3733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cat</a:t>
            </a:r>
          </a:p>
        </p:txBody>
      </p:sp>
      <p:sp>
        <p:nvSpPr>
          <p:cNvPr id="48" name="CntCell">
            <a:extLst>
              <a:ext uri="{FF2B5EF4-FFF2-40B4-BE49-F238E27FC236}">
                <a16:creationId xmlns:a16="http://schemas.microsoft.com/office/drawing/2014/main" id="{598845F4-2BB4-0A41-8289-544148396550}"/>
              </a:ext>
            </a:extLst>
          </p:cNvPr>
          <p:cNvSpPr txBox="1"/>
          <p:nvPr/>
        </p:nvSpPr>
        <p:spPr>
          <a:xfrm>
            <a:off x="1574800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9" name="CntCell">
            <a:extLst>
              <a:ext uri="{FF2B5EF4-FFF2-40B4-BE49-F238E27FC236}">
                <a16:creationId xmlns:a16="http://schemas.microsoft.com/office/drawing/2014/main" id="{7D4565C2-0C8C-AA4F-AB66-0DFB145EEF84}"/>
              </a:ext>
            </a:extLst>
          </p:cNvPr>
          <p:cNvSpPr txBox="1"/>
          <p:nvPr/>
        </p:nvSpPr>
        <p:spPr>
          <a:xfrm>
            <a:off x="2853266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0" name="CntCell">
            <a:extLst>
              <a:ext uri="{FF2B5EF4-FFF2-40B4-BE49-F238E27FC236}">
                <a16:creationId xmlns:a16="http://schemas.microsoft.com/office/drawing/2014/main" id="{9E8DD1FC-8DB5-D04C-B758-BCF73561115E}"/>
              </a:ext>
            </a:extLst>
          </p:cNvPr>
          <p:cNvSpPr txBox="1"/>
          <p:nvPr/>
        </p:nvSpPr>
        <p:spPr>
          <a:xfrm>
            <a:off x="4131733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1" name="WordLbl">
            <a:extLst>
              <a:ext uri="{FF2B5EF4-FFF2-40B4-BE49-F238E27FC236}">
                <a16:creationId xmlns:a16="http://schemas.microsoft.com/office/drawing/2014/main" id="{A17C3288-EAC1-344F-A486-87416B21B98A}"/>
              </a:ext>
            </a:extLst>
          </p:cNvPr>
          <p:cNvSpPr txBox="1"/>
          <p:nvPr/>
        </p:nvSpPr>
        <p:spPr>
          <a:xfrm>
            <a:off x="558800" y="393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dog</a:t>
            </a:r>
          </a:p>
        </p:txBody>
      </p:sp>
      <p:sp>
        <p:nvSpPr>
          <p:cNvPr id="52" name="CntCell">
            <a:extLst>
              <a:ext uri="{FF2B5EF4-FFF2-40B4-BE49-F238E27FC236}">
                <a16:creationId xmlns:a16="http://schemas.microsoft.com/office/drawing/2014/main" id="{48C003B6-8B26-7340-ADA7-3FC64BFDF03D}"/>
              </a:ext>
            </a:extLst>
          </p:cNvPr>
          <p:cNvSpPr txBox="1"/>
          <p:nvPr/>
        </p:nvSpPr>
        <p:spPr>
          <a:xfrm>
            <a:off x="1574800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53" name="CntCell">
            <a:extLst>
              <a:ext uri="{FF2B5EF4-FFF2-40B4-BE49-F238E27FC236}">
                <a16:creationId xmlns:a16="http://schemas.microsoft.com/office/drawing/2014/main" id="{D343A877-5355-544D-BB0E-DA47D0EED626}"/>
              </a:ext>
            </a:extLst>
          </p:cNvPr>
          <p:cNvSpPr txBox="1"/>
          <p:nvPr/>
        </p:nvSpPr>
        <p:spPr>
          <a:xfrm>
            <a:off x="2853266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4" name="CntCell">
            <a:extLst>
              <a:ext uri="{FF2B5EF4-FFF2-40B4-BE49-F238E27FC236}">
                <a16:creationId xmlns:a16="http://schemas.microsoft.com/office/drawing/2014/main" id="{712A9647-943D-8C4E-9ABA-E81BE4EE72B3}"/>
              </a:ext>
            </a:extLst>
          </p:cNvPr>
          <p:cNvSpPr txBox="1"/>
          <p:nvPr/>
        </p:nvSpPr>
        <p:spPr>
          <a:xfrm>
            <a:off x="4131733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5" name="WordLbl">
            <a:extLst>
              <a:ext uri="{FF2B5EF4-FFF2-40B4-BE49-F238E27FC236}">
                <a16:creationId xmlns:a16="http://schemas.microsoft.com/office/drawing/2014/main" id="{056FA463-195D-CF45-972D-73C264B6E2AC}"/>
              </a:ext>
            </a:extLst>
          </p:cNvPr>
          <p:cNvSpPr txBox="1"/>
          <p:nvPr/>
        </p:nvSpPr>
        <p:spPr>
          <a:xfrm>
            <a:off x="558800" y="41402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sat</a:t>
            </a:r>
          </a:p>
        </p:txBody>
      </p:sp>
      <p:sp>
        <p:nvSpPr>
          <p:cNvPr id="56" name="CntCell">
            <a:extLst>
              <a:ext uri="{FF2B5EF4-FFF2-40B4-BE49-F238E27FC236}">
                <a16:creationId xmlns:a16="http://schemas.microsoft.com/office/drawing/2014/main" id="{76347049-E45B-DA4D-A0C9-0D265E80F859}"/>
              </a:ext>
            </a:extLst>
          </p:cNvPr>
          <p:cNvSpPr txBox="1"/>
          <p:nvPr/>
        </p:nvSpPr>
        <p:spPr>
          <a:xfrm>
            <a:off x="1574800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7" name="CntCell">
            <a:extLst>
              <a:ext uri="{FF2B5EF4-FFF2-40B4-BE49-F238E27FC236}">
                <a16:creationId xmlns:a16="http://schemas.microsoft.com/office/drawing/2014/main" id="{FE23C10E-B69B-5140-891D-5EEA8AA6EF4D}"/>
              </a:ext>
            </a:extLst>
          </p:cNvPr>
          <p:cNvSpPr txBox="1"/>
          <p:nvPr/>
        </p:nvSpPr>
        <p:spPr>
          <a:xfrm>
            <a:off x="2853266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58" name="CntCell">
            <a:extLst>
              <a:ext uri="{FF2B5EF4-FFF2-40B4-BE49-F238E27FC236}">
                <a16:creationId xmlns:a16="http://schemas.microsoft.com/office/drawing/2014/main" id="{E7ACBB96-850E-F148-ACD7-F334EBE0246B}"/>
              </a:ext>
            </a:extLst>
          </p:cNvPr>
          <p:cNvSpPr txBox="1"/>
          <p:nvPr/>
        </p:nvSpPr>
        <p:spPr>
          <a:xfrm>
            <a:off x="4131733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1" name="WordLbl">
            <a:extLst>
              <a:ext uri="{FF2B5EF4-FFF2-40B4-BE49-F238E27FC236}">
                <a16:creationId xmlns:a16="http://schemas.microsoft.com/office/drawing/2014/main" id="{CF99966A-9C15-4A45-91AE-DE26F8A37DD2}"/>
              </a:ext>
            </a:extLst>
          </p:cNvPr>
          <p:cNvSpPr txBox="1"/>
          <p:nvPr/>
        </p:nvSpPr>
        <p:spPr>
          <a:xfrm>
            <a:off x="558800" y="4343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mat</a:t>
            </a:r>
          </a:p>
        </p:txBody>
      </p:sp>
      <p:sp>
        <p:nvSpPr>
          <p:cNvPr id="82" name="CntCell">
            <a:extLst>
              <a:ext uri="{FF2B5EF4-FFF2-40B4-BE49-F238E27FC236}">
                <a16:creationId xmlns:a16="http://schemas.microsoft.com/office/drawing/2014/main" id="{B6205BC6-DBC7-ED4B-A9BC-521697383573}"/>
              </a:ext>
            </a:extLst>
          </p:cNvPr>
          <p:cNvSpPr txBox="1"/>
          <p:nvPr/>
        </p:nvSpPr>
        <p:spPr>
          <a:xfrm>
            <a:off x="1574800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3" name="CntCell">
            <a:extLst>
              <a:ext uri="{FF2B5EF4-FFF2-40B4-BE49-F238E27FC236}">
                <a16:creationId xmlns:a16="http://schemas.microsoft.com/office/drawing/2014/main" id="{C9460973-449B-A447-8C77-49A1EA2EF03E}"/>
              </a:ext>
            </a:extLst>
          </p:cNvPr>
          <p:cNvSpPr txBox="1"/>
          <p:nvPr/>
        </p:nvSpPr>
        <p:spPr>
          <a:xfrm>
            <a:off x="2853266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4" name="CntCell">
            <a:extLst>
              <a:ext uri="{FF2B5EF4-FFF2-40B4-BE49-F238E27FC236}">
                <a16:creationId xmlns:a16="http://schemas.microsoft.com/office/drawing/2014/main" id="{39E2AA0C-24FF-9A4F-8660-81B6687E5115}"/>
              </a:ext>
            </a:extLst>
          </p:cNvPr>
          <p:cNvSpPr txBox="1"/>
          <p:nvPr/>
        </p:nvSpPr>
        <p:spPr>
          <a:xfrm>
            <a:off x="4131733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5" name="WordLbl">
            <a:extLst>
              <a:ext uri="{FF2B5EF4-FFF2-40B4-BE49-F238E27FC236}">
                <a16:creationId xmlns:a16="http://schemas.microsoft.com/office/drawing/2014/main" id="{B5704F7C-2CEF-E74F-9503-8733C73322B1}"/>
              </a:ext>
            </a:extLst>
          </p:cNvPr>
          <p:cNvSpPr txBox="1"/>
          <p:nvPr/>
        </p:nvSpPr>
        <p:spPr>
          <a:xfrm>
            <a:off x="558800" y="4546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ran</a:t>
            </a:r>
          </a:p>
        </p:txBody>
      </p:sp>
      <p:sp>
        <p:nvSpPr>
          <p:cNvPr id="86" name="CntCell">
            <a:extLst>
              <a:ext uri="{FF2B5EF4-FFF2-40B4-BE49-F238E27FC236}">
                <a16:creationId xmlns:a16="http://schemas.microsoft.com/office/drawing/2014/main" id="{09F7CE8D-3163-254E-9594-BA2435AAC4C8}"/>
              </a:ext>
            </a:extLst>
          </p:cNvPr>
          <p:cNvSpPr txBox="1"/>
          <p:nvPr/>
        </p:nvSpPr>
        <p:spPr>
          <a:xfrm>
            <a:off x="1574800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7" name="CntCell">
            <a:extLst>
              <a:ext uri="{FF2B5EF4-FFF2-40B4-BE49-F238E27FC236}">
                <a16:creationId xmlns:a16="http://schemas.microsoft.com/office/drawing/2014/main" id="{C97F068D-D24F-4244-80B7-21ACE746AD9A}"/>
              </a:ext>
            </a:extLst>
          </p:cNvPr>
          <p:cNvSpPr txBox="1"/>
          <p:nvPr/>
        </p:nvSpPr>
        <p:spPr>
          <a:xfrm>
            <a:off x="2853266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8" name="CntCell">
            <a:extLst>
              <a:ext uri="{FF2B5EF4-FFF2-40B4-BE49-F238E27FC236}">
                <a16:creationId xmlns:a16="http://schemas.microsoft.com/office/drawing/2014/main" id="{864A696F-A6FC-B94A-A80D-9C4591030A35}"/>
              </a:ext>
            </a:extLst>
          </p:cNvPr>
          <p:cNvSpPr txBox="1"/>
          <p:nvPr/>
        </p:nvSpPr>
        <p:spPr>
          <a:xfrm>
            <a:off x="4131733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9" name="WordLbl">
            <a:extLst>
              <a:ext uri="{FF2B5EF4-FFF2-40B4-BE49-F238E27FC236}">
                <a16:creationId xmlns:a16="http://schemas.microsoft.com/office/drawing/2014/main" id="{FD969F15-2E9B-DA4A-BDF4-4167685B3493}"/>
              </a:ext>
            </a:extLst>
          </p:cNvPr>
          <p:cNvSpPr txBox="1"/>
          <p:nvPr/>
        </p:nvSpPr>
        <p:spPr>
          <a:xfrm>
            <a:off x="558800" y="4749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fast</a:t>
            </a:r>
          </a:p>
        </p:txBody>
      </p:sp>
      <p:sp>
        <p:nvSpPr>
          <p:cNvPr id="90" name="CntCell">
            <a:extLst>
              <a:ext uri="{FF2B5EF4-FFF2-40B4-BE49-F238E27FC236}">
                <a16:creationId xmlns:a16="http://schemas.microsoft.com/office/drawing/2014/main" id="{D276A5B1-6005-E54D-8F9C-D33AE1239602}"/>
              </a:ext>
            </a:extLst>
          </p:cNvPr>
          <p:cNvSpPr txBox="1"/>
          <p:nvPr/>
        </p:nvSpPr>
        <p:spPr>
          <a:xfrm>
            <a:off x="1574800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91" name="CntCell">
            <a:extLst>
              <a:ext uri="{FF2B5EF4-FFF2-40B4-BE49-F238E27FC236}">
                <a16:creationId xmlns:a16="http://schemas.microsoft.com/office/drawing/2014/main" id="{52A7F2A3-C9BA-464A-9242-B997D86EDBF5}"/>
              </a:ext>
            </a:extLst>
          </p:cNvPr>
          <p:cNvSpPr txBox="1"/>
          <p:nvPr/>
        </p:nvSpPr>
        <p:spPr>
          <a:xfrm>
            <a:off x="2853266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92" name="CntCell">
            <a:extLst>
              <a:ext uri="{FF2B5EF4-FFF2-40B4-BE49-F238E27FC236}">
                <a16:creationId xmlns:a16="http://schemas.microsoft.com/office/drawing/2014/main" id="{78E4C320-03EF-964E-ADE1-52254037719F}"/>
              </a:ext>
            </a:extLst>
          </p:cNvPr>
          <p:cNvSpPr txBox="1"/>
          <p:nvPr/>
        </p:nvSpPr>
        <p:spPr>
          <a:xfrm>
            <a:off x="4131733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97" name="Mname">
            <a:extLst>
              <a:ext uri="{FF2B5EF4-FFF2-40B4-BE49-F238E27FC236}">
                <a16:creationId xmlns:a16="http://schemas.microsoft.com/office/drawing/2014/main" id="{FD4B0AD0-3E13-CD40-B9F4-57C82D580E93}"/>
              </a:ext>
            </a:extLst>
          </p:cNvPr>
          <p:cNvSpPr txBox="1"/>
          <p:nvPr/>
        </p:nvSpPr>
        <p:spPr>
          <a:xfrm>
            <a:off x="6858000" y="34290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 i="1" dirty="0">
                <a:solidFill>
                  <a:srgbClr val="4B2E83"/>
                </a:solidFill>
                <a:latin typeface="Cambria Math"/>
                <a:ea typeface="Cambria Math"/>
              </a:rPr>
              <a:t>M =</a:t>
            </a:r>
          </a:p>
        </p:txBody>
      </p:sp>
      <p:sp>
        <p:nvSpPr>
          <p:cNvPr id="98" name="LeftBracket">
            <a:extLst>
              <a:ext uri="{FF2B5EF4-FFF2-40B4-BE49-F238E27FC236}">
                <a16:creationId xmlns:a16="http://schemas.microsoft.com/office/drawing/2014/main" id="{947BCC6A-8259-D74E-B25E-8EDFF8B6F729}"/>
              </a:ext>
            </a:extLst>
          </p:cNvPr>
          <p:cNvSpPr/>
          <p:nvPr/>
        </p:nvSpPr>
        <p:spPr>
          <a:xfrm>
            <a:off x="8267700" y="2159000"/>
            <a:ext cx="203200" cy="2794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9" name="RightBracket">
            <a:extLst>
              <a:ext uri="{FF2B5EF4-FFF2-40B4-BE49-F238E27FC236}">
                <a16:creationId xmlns:a16="http://schemas.microsoft.com/office/drawing/2014/main" id="{9EF9AFFF-CC8F-1948-A60A-17163E6F2178}"/>
              </a:ext>
            </a:extLst>
          </p:cNvPr>
          <p:cNvSpPr/>
          <p:nvPr/>
        </p:nvSpPr>
        <p:spPr>
          <a:xfrm>
            <a:off x="11137900" y="2159000"/>
            <a:ext cx="203200" cy="2794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0" name="WordLbl2">
            <a:extLst>
              <a:ext uri="{FF2B5EF4-FFF2-40B4-BE49-F238E27FC236}">
                <a16:creationId xmlns:a16="http://schemas.microsoft.com/office/drawing/2014/main" id="{F4759493-D8BB-9D4E-B332-F73112F9B396}"/>
              </a:ext>
            </a:extLst>
          </p:cNvPr>
          <p:cNvSpPr txBox="1"/>
          <p:nvPr/>
        </p:nvSpPr>
        <p:spPr>
          <a:xfrm>
            <a:off x="7404100" y="2349500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cat</a:t>
            </a:r>
          </a:p>
        </p:txBody>
      </p:sp>
      <p:sp>
        <p:nvSpPr>
          <p:cNvPr id="101" name="Mval">
            <a:extLst>
              <a:ext uri="{FF2B5EF4-FFF2-40B4-BE49-F238E27FC236}">
                <a16:creationId xmlns:a16="http://schemas.microsoft.com/office/drawing/2014/main" id="{C3BBD91E-D10A-FD4F-B987-4E73941B92A4}"/>
              </a:ext>
            </a:extLst>
          </p:cNvPr>
          <p:cNvSpPr txBox="1"/>
          <p:nvPr/>
        </p:nvSpPr>
        <p:spPr>
          <a:xfrm>
            <a:off x="8496300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2" name="Mval">
            <a:extLst>
              <a:ext uri="{FF2B5EF4-FFF2-40B4-BE49-F238E27FC236}">
                <a16:creationId xmlns:a16="http://schemas.microsoft.com/office/drawing/2014/main" id="{EAFBB8B7-2B8D-FC4C-AA8C-E8289E9AFA4B}"/>
              </a:ext>
            </a:extLst>
          </p:cNvPr>
          <p:cNvSpPr txBox="1"/>
          <p:nvPr/>
        </p:nvSpPr>
        <p:spPr>
          <a:xfrm>
            <a:off x="9376833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3" name="Mval">
            <a:extLst>
              <a:ext uri="{FF2B5EF4-FFF2-40B4-BE49-F238E27FC236}">
                <a16:creationId xmlns:a16="http://schemas.microsoft.com/office/drawing/2014/main" id="{67B25117-4E6E-DC46-9FC2-544884809A61}"/>
              </a:ext>
            </a:extLst>
          </p:cNvPr>
          <p:cNvSpPr txBox="1"/>
          <p:nvPr/>
        </p:nvSpPr>
        <p:spPr>
          <a:xfrm>
            <a:off x="10257366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4" name="WordLbl2">
            <a:extLst>
              <a:ext uri="{FF2B5EF4-FFF2-40B4-BE49-F238E27FC236}">
                <a16:creationId xmlns:a16="http://schemas.microsoft.com/office/drawing/2014/main" id="{4FFED0D9-F694-1648-AE91-11A26FACB54B}"/>
              </a:ext>
            </a:extLst>
          </p:cNvPr>
          <p:cNvSpPr txBox="1"/>
          <p:nvPr/>
        </p:nvSpPr>
        <p:spPr>
          <a:xfrm>
            <a:off x="7404100" y="2751666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dog</a:t>
            </a:r>
          </a:p>
        </p:txBody>
      </p:sp>
      <p:sp>
        <p:nvSpPr>
          <p:cNvPr id="105" name="Mval">
            <a:extLst>
              <a:ext uri="{FF2B5EF4-FFF2-40B4-BE49-F238E27FC236}">
                <a16:creationId xmlns:a16="http://schemas.microsoft.com/office/drawing/2014/main" id="{4DCEA596-F0C6-6047-B6B0-53BB4B73F331}"/>
              </a:ext>
            </a:extLst>
          </p:cNvPr>
          <p:cNvSpPr txBox="1"/>
          <p:nvPr/>
        </p:nvSpPr>
        <p:spPr>
          <a:xfrm>
            <a:off x="8496300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06" name="Mval">
            <a:extLst>
              <a:ext uri="{FF2B5EF4-FFF2-40B4-BE49-F238E27FC236}">
                <a16:creationId xmlns:a16="http://schemas.microsoft.com/office/drawing/2014/main" id="{575B8B83-D6EC-3647-B0D0-10384CD84236}"/>
              </a:ext>
            </a:extLst>
          </p:cNvPr>
          <p:cNvSpPr txBox="1"/>
          <p:nvPr/>
        </p:nvSpPr>
        <p:spPr>
          <a:xfrm>
            <a:off x="9376833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7" name="Mval">
            <a:extLst>
              <a:ext uri="{FF2B5EF4-FFF2-40B4-BE49-F238E27FC236}">
                <a16:creationId xmlns:a16="http://schemas.microsoft.com/office/drawing/2014/main" id="{1914026A-2802-A242-B697-DDF9EC772E8E}"/>
              </a:ext>
            </a:extLst>
          </p:cNvPr>
          <p:cNvSpPr txBox="1"/>
          <p:nvPr/>
        </p:nvSpPr>
        <p:spPr>
          <a:xfrm>
            <a:off x="10257366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8" name="WordLbl2">
            <a:extLst>
              <a:ext uri="{FF2B5EF4-FFF2-40B4-BE49-F238E27FC236}">
                <a16:creationId xmlns:a16="http://schemas.microsoft.com/office/drawing/2014/main" id="{AEF067BA-F335-BD44-AB55-7423FB786B29}"/>
              </a:ext>
            </a:extLst>
          </p:cNvPr>
          <p:cNvSpPr txBox="1"/>
          <p:nvPr/>
        </p:nvSpPr>
        <p:spPr>
          <a:xfrm>
            <a:off x="7404100" y="3153833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sat</a:t>
            </a:r>
          </a:p>
        </p:txBody>
      </p:sp>
      <p:sp>
        <p:nvSpPr>
          <p:cNvPr id="109" name="Mval">
            <a:extLst>
              <a:ext uri="{FF2B5EF4-FFF2-40B4-BE49-F238E27FC236}">
                <a16:creationId xmlns:a16="http://schemas.microsoft.com/office/drawing/2014/main" id="{BFD02649-A732-BE44-9BAF-AF48BA891B32}"/>
              </a:ext>
            </a:extLst>
          </p:cNvPr>
          <p:cNvSpPr txBox="1"/>
          <p:nvPr/>
        </p:nvSpPr>
        <p:spPr>
          <a:xfrm>
            <a:off x="8496300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0" name="Mval">
            <a:extLst>
              <a:ext uri="{FF2B5EF4-FFF2-40B4-BE49-F238E27FC236}">
                <a16:creationId xmlns:a16="http://schemas.microsoft.com/office/drawing/2014/main" id="{9DF70E5E-8785-DB49-9017-32500EB14E45}"/>
              </a:ext>
            </a:extLst>
          </p:cNvPr>
          <p:cNvSpPr txBox="1"/>
          <p:nvPr/>
        </p:nvSpPr>
        <p:spPr>
          <a:xfrm>
            <a:off x="9376833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1" name="Mval">
            <a:extLst>
              <a:ext uri="{FF2B5EF4-FFF2-40B4-BE49-F238E27FC236}">
                <a16:creationId xmlns:a16="http://schemas.microsoft.com/office/drawing/2014/main" id="{89DD9F2E-9781-C446-AB33-3543B02A6419}"/>
              </a:ext>
            </a:extLst>
          </p:cNvPr>
          <p:cNvSpPr txBox="1"/>
          <p:nvPr/>
        </p:nvSpPr>
        <p:spPr>
          <a:xfrm>
            <a:off x="10257366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2" name="WordLbl2">
            <a:extLst>
              <a:ext uri="{FF2B5EF4-FFF2-40B4-BE49-F238E27FC236}">
                <a16:creationId xmlns:a16="http://schemas.microsoft.com/office/drawing/2014/main" id="{B312F368-58E6-7C4C-B76C-0C6253A9FEE7}"/>
              </a:ext>
            </a:extLst>
          </p:cNvPr>
          <p:cNvSpPr txBox="1"/>
          <p:nvPr/>
        </p:nvSpPr>
        <p:spPr>
          <a:xfrm>
            <a:off x="7404100" y="3556000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mat</a:t>
            </a:r>
          </a:p>
        </p:txBody>
      </p:sp>
      <p:sp>
        <p:nvSpPr>
          <p:cNvPr id="113" name="Mval">
            <a:extLst>
              <a:ext uri="{FF2B5EF4-FFF2-40B4-BE49-F238E27FC236}">
                <a16:creationId xmlns:a16="http://schemas.microsoft.com/office/drawing/2014/main" id="{0F40868F-9E05-9644-ABBB-69CE57D614F8}"/>
              </a:ext>
            </a:extLst>
          </p:cNvPr>
          <p:cNvSpPr txBox="1"/>
          <p:nvPr/>
        </p:nvSpPr>
        <p:spPr>
          <a:xfrm>
            <a:off x="8496300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4" name="Mval">
            <a:extLst>
              <a:ext uri="{FF2B5EF4-FFF2-40B4-BE49-F238E27FC236}">
                <a16:creationId xmlns:a16="http://schemas.microsoft.com/office/drawing/2014/main" id="{5EB89E6D-AC26-6C41-93F8-7375ED61D8DC}"/>
              </a:ext>
            </a:extLst>
          </p:cNvPr>
          <p:cNvSpPr txBox="1"/>
          <p:nvPr/>
        </p:nvSpPr>
        <p:spPr>
          <a:xfrm>
            <a:off x="9376833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5" name="Mval">
            <a:extLst>
              <a:ext uri="{FF2B5EF4-FFF2-40B4-BE49-F238E27FC236}">
                <a16:creationId xmlns:a16="http://schemas.microsoft.com/office/drawing/2014/main" id="{DF377784-95C8-F14D-890C-F375E5C1C5BE}"/>
              </a:ext>
            </a:extLst>
          </p:cNvPr>
          <p:cNvSpPr txBox="1"/>
          <p:nvPr/>
        </p:nvSpPr>
        <p:spPr>
          <a:xfrm>
            <a:off x="10257366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6" name="WordLbl2">
            <a:extLst>
              <a:ext uri="{FF2B5EF4-FFF2-40B4-BE49-F238E27FC236}">
                <a16:creationId xmlns:a16="http://schemas.microsoft.com/office/drawing/2014/main" id="{CDD26442-089C-574D-96C7-B01C268D04A4}"/>
              </a:ext>
            </a:extLst>
          </p:cNvPr>
          <p:cNvSpPr txBox="1"/>
          <p:nvPr/>
        </p:nvSpPr>
        <p:spPr>
          <a:xfrm>
            <a:off x="7404100" y="3958166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ran</a:t>
            </a:r>
          </a:p>
        </p:txBody>
      </p:sp>
      <p:sp>
        <p:nvSpPr>
          <p:cNvPr id="117" name="Mval">
            <a:extLst>
              <a:ext uri="{FF2B5EF4-FFF2-40B4-BE49-F238E27FC236}">
                <a16:creationId xmlns:a16="http://schemas.microsoft.com/office/drawing/2014/main" id="{C027C50B-BA6D-C54F-997B-175C875C8CA9}"/>
              </a:ext>
            </a:extLst>
          </p:cNvPr>
          <p:cNvSpPr txBox="1"/>
          <p:nvPr/>
        </p:nvSpPr>
        <p:spPr>
          <a:xfrm>
            <a:off x="8496300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8" name="Mval">
            <a:extLst>
              <a:ext uri="{FF2B5EF4-FFF2-40B4-BE49-F238E27FC236}">
                <a16:creationId xmlns:a16="http://schemas.microsoft.com/office/drawing/2014/main" id="{FAEF12ED-1C22-9846-84B0-70158852600E}"/>
              </a:ext>
            </a:extLst>
          </p:cNvPr>
          <p:cNvSpPr txBox="1"/>
          <p:nvPr/>
        </p:nvSpPr>
        <p:spPr>
          <a:xfrm>
            <a:off x="9376833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9" name="Mval">
            <a:extLst>
              <a:ext uri="{FF2B5EF4-FFF2-40B4-BE49-F238E27FC236}">
                <a16:creationId xmlns:a16="http://schemas.microsoft.com/office/drawing/2014/main" id="{93FE4986-FB3C-8046-BE00-501D82474DCB}"/>
              </a:ext>
            </a:extLst>
          </p:cNvPr>
          <p:cNvSpPr txBox="1"/>
          <p:nvPr/>
        </p:nvSpPr>
        <p:spPr>
          <a:xfrm>
            <a:off x="10257366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0" name="WordLbl2">
            <a:extLst>
              <a:ext uri="{FF2B5EF4-FFF2-40B4-BE49-F238E27FC236}">
                <a16:creationId xmlns:a16="http://schemas.microsoft.com/office/drawing/2014/main" id="{16AE9C3F-4351-1348-84B4-9CBC170A734C}"/>
              </a:ext>
            </a:extLst>
          </p:cNvPr>
          <p:cNvSpPr txBox="1"/>
          <p:nvPr/>
        </p:nvSpPr>
        <p:spPr>
          <a:xfrm>
            <a:off x="7404100" y="4360333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fast</a:t>
            </a:r>
          </a:p>
        </p:txBody>
      </p:sp>
      <p:sp>
        <p:nvSpPr>
          <p:cNvPr id="121" name="Mval">
            <a:extLst>
              <a:ext uri="{FF2B5EF4-FFF2-40B4-BE49-F238E27FC236}">
                <a16:creationId xmlns:a16="http://schemas.microsoft.com/office/drawing/2014/main" id="{FF28CD41-8A9A-8245-92B9-88CD93CBB57F}"/>
              </a:ext>
            </a:extLst>
          </p:cNvPr>
          <p:cNvSpPr txBox="1"/>
          <p:nvPr/>
        </p:nvSpPr>
        <p:spPr>
          <a:xfrm>
            <a:off x="8496300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2" name="Mval">
            <a:extLst>
              <a:ext uri="{FF2B5EF4-FFF2-40B4-BE49-F238E27FC236}">
                <a16:creationId xmlns:a16="http://schemas.microsoft.com/office/drawing/2014/main" id="{8ED27523-0893-9446-B553-E21851061431}"/>
              </a:ext>
            </a:extLst>
          </p:cNvPr>
          <p:cNvSpPr txBox="1"/>
          <p:nvPr/>
        </p:nvSpPr>
        <p:spPr>
          <a:xfrm>
            <a:off x="9376833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23" name="Mval">
            <a:extLst>
              <a:ext uri="{FF2B5EF4-FFF2-40B4-BE49-F238E27FC236}">
                <a16:creationId xmlns:a16="http://schemas.microsoft.com/office/drawing/2014/main" id="{DB2FCEFD-B010-294F-9209-D4B2532E98FD}"/>
              </a:ext>
            </a:extLst>
          </p:cNvPr>
          <p:cNvSpPr txBox="1"/>
          <p:nvPr/>
        </p:nvSpPr>
        <p:spPr>
          <a:xfrm>
            <a:off x="10257366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4" name="DocHdr">
            <a:extLst>
              <a:ext uri="{FF2B5EF4-FFF2-40B4-BE49-F238E27FC236}">
                <a16:creationId xmlns:a16="http://schemas.microsoft.com/office/drawing/2014/main" id="{801844B6-3A9E-4C45-A90A-C7583A78EE11}"/>
              </a:ext>
            </a:extLst>
          </p:cNvPr>
          <p:cNvSpPr txBox="1"/>
          <p:nvPr/>
        </p:nvSpPr>
        <p:spPr>
          <a:xfrm>
            <a:off x="8496300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125" name="DocHdr">
            <a:extLst>
              <a:ext uri="{FF2B5EF4-FFF2-40B4-BE49-F238E27FC236}">
                <a16:creationId xmlns:a16="http://schemas.microsoft.com/office/drawing/2014/main" id="{31DA8472-1C6B-754C-86A0-AD4E17D96384}"/>
              </a:ext>
            </a:extLst>
          </p:cNvPr>
          <p:cNvSpPr txBox="1"/>
          <p:nvPr/>
        </p:nvSpPr>
        <p:spPr>
          <a:xfrm>
            <a:off x="9376833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126" name="DocHdr">
            <a:extLst>
              <a:ext uri="{FF2B5EF4-FFF2-40B4-BE49-F238E27FC236}">
                <a16:creationId xmlns:a16="http://schemas.microsoft.com/office/drawing/2014/main" id="{EDF2D684-21C5-DC45-9BB1-2F1027A086DE}"/>
              </a:ext>
            </a:extLst>
          </p:cNvPr>
          <p:cNvSpPr txBox="1"/>
          <p:nvPr/>
        </p:nvSpPr>
        <p:spPr>
          <a:xfrm>
            <a:off x="10257366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M ∈ ℝ⁶ˣ³,   dim(M) = 6 × 3   (words × documents)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Text becomes numbers: a corpus is a matrix, and similar documents become nearby columns.</a:t>
            </a:r>
          </a:p>
        </p:txBody>
      </p:sp>
    </p:spTree>
    <p:extLst>
      <p:ext uri="{BB962C8B-B14F-4D97-AF65-F5344CB8AC3E}">
        <p14:creationId xmlns:p14="http://schemas.microsoft.com/office/powerpoint/2010/main" val="3034019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1 — Build a vector from real data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week of step counts as a single vector, then state its dimension.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daily step count — one week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vector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vector's length is its dimension — 7 ordered values give a vector in ℝ⁷.</a:t>
            </a:r>
          </a:p>
        </p:txBody>
      </p:sp>
      <p:sp>
        <p:nvSpPr>
          <p:cNvPr id="201" name="Ex1_DataBox"/>
          <p:cNvSpPr/>
          <p:nvPr/>
        </p:nvSpPr>
        <p:spPr>
          <a:xfrm>
            <a:off x="558800" y="1778000"/>
            <a:ext cx="4851400" cy="2540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1_DataHdr"/>
          <p:cNvSpPr/>
          <p:nvPr/>
        </p:nvSpPr>
        <p:spPr>
          <a:xfrm>
            <a:off x="736600" y="19050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Fitness tracker — steps walked each day</a:t>
            </a:r>
          </a:p>
        </p:txBody>
      </p:sp>
      <p:sp>
        <p:nvSpPr>
          <p:cNvPr id="203" name="Ex1_DataTbl"/>
          <p:cNvSpPr/>
          <p:nvPr/>
        </p:nvSpPr>
        <p:spPr>
          <a:xfrm>
            <a:off x="736600" y="2235200"/>
            <a:ext cx="4495800" cy="1905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Day        Steps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Mon         6 200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Tue         8 100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Wed         5 400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Thu         9 300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Fri        10 050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Sat        12 800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Sun         7 600</a:t>
            </a:r>
          </a:p>
        </p:txBody>
      </p:sp>
      <p:sp>
        <p:nvSpPr>
          <p:cNvPr id="204" name="Ex1_DataNote"/>
          <p:cNvSpPr/>
          <p:nvPr/>
        </p:nvSpPr>
        <p:spPr>
          <a:xfrm>
            <a:off x="736600" y="4419600"/>
            <a:ext cx="4495800" cy="508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7 days, recorded in order Mon → Sun.</a:t>
            </a:r>
          </a:p>
        </p:txBody>
      </p:sp>
      <p:sp>
        <p:nvSpPr>
          <p:cNvPr id="210" name="Ex1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Stack the 7 daily values into one column.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Keep them in day order (Mon first).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s = (…) and state dim(s).</a:t>
            </a:r>
          </a:p>
        </p:txBody>
      </p:sp>
      <p:sp>
        <p:nvSpPr>
          <p:cNvPr id="220" name="Ex1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1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s = ( 6200, 8100, 5400, 9300, 10050, 12800, 7600 )ᵀ</a:t>
            </a:r>
          </a:p>
          <a:p>
            <a:pPr algn="l"/>
            <a:endParaRPr lang="en-US" sz="1200" b="1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A 7-component column vector.</a:t>
            </a:r>
          </a:p>
          <a:p>
            <a:pPr algn="l"/>
            <a:r>
              <a:rPr lang="en-US" sz="1500" b="1" dirty="0">
                <a:solidFill>
                  <a:srgbClr val="5A8A2A"/>
                </a:solidFill>
                <a:latin typeface="Cambria Math"/>
                <a:ea typeface="Cambria Math"/>
              </a:rPr>
              <a:t>s ∈ ℝ⁷   →   dim(s) = 7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vector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260224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2 — Build a matrix from a data table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sales table as a matrix, then state its dimension (rows × cols).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weekly units sold — stores × products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matrix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A ∈ ℝ³ˣ⁴,   dim(A) = 3 × 4   (stores × products)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Rows × columns gives the shape — 3 stores by 4 products is a 3 × 4 matrix.</a:t>
            </a:r>
          </a:p>
        </p:txBody>
      </p:sp>
      <p:sp>
        <p:nvSpPr>
          <p:cNvPr id="201" name="Ex2_DataBox"/>
          <p:cNvSpPr/>
          <p:nvPr/>
        </p:nvSpPr>
        <p:spPr>
          <a:xfrm>
            <a:off x="558800" y="1778000"/>
            <a:ext cx="4851400" cy="2667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2_DataHdr"/>
          <p:cNvSpPr/>
          <p:nvPr/>
        </p:nvSpPr>
        <p:spPr>
          <a:xfrm>
            <a:off x="736600" y="18796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Retail chain — units sold last week</a:t>
            </a:r>
          </a:p>
        </p:txBody>
      </p:sp>
      <p:sp>
        <p:nvSpPr>
          <p:cNvPr id="203" name="Ex2_DataTbl"/>
          <p:cNvSpPr/>
          <p:nvPr/>
        </p:nvSpPr>
        <p:spPr>
          <a:xfrm>
            <a:off x="736600" y="2235200"/>
            <a:ext cx="4495800" cy="1905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Store     Soda  Chips  Candy  Water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North      120    90    60     150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East        80   140    70     110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West       100    75    95     130</a:t>
            </a:r>
          </a:p>
        </p:txBody>
      </p:sp>
      <p:sp>
        <p:nvSpPr>
          <p:cNvPr id="204" name="Ex2_DataNote"/>
          <p:cNvSpPr/>
          <p:nvPr/>
        </p:nvSpPr>
        <p:spPr>
          <a:xfrm>
            <a:off x="736600" y="4216400"/>
            <a:ext cx="4495800" cy="558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3 stores (rows) and 4 products (columns).</a:t>
            </a:r>
          </a:p>
        </p:txBody>
      </p:sp>
      <p:sp>
        <p:nvSpPr>
          <p:cNvPr id="210" name="Ex2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Put each store on its own row.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Put each product in its own column.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A = […], state dim(A) = rows × cols.</a:t>
            </a:r>
          </a:p>
        </p:txBody>
      </p:sp>
      <p:sp>
        <p:nvSpPr>
          <p:cNvPr id="220" name="Ex2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2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      ⎡ 120   90   60  150 ⎤</a:t>
            </a:r>
          </a:p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A  =  ⎢  80  140   70  110 ⎥</a:t>
            </a:r>
          </a:p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      ⎣ 100   75   95  130 ⎦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3 rows × 4 columns = 12 entries</a:t>
            </a:r>
          </a:p>
          <a:p>
            <a:pPr algn="l"/>
            <a:r>
              <a:rPr lang="en-US" sz="1450" b="1" dirty="0">
                <a:solidFill>
                  <a:srgbClr val="5A8A2A"/>
                </a:solidFill>
                <a:latin typeface="Cambria Math"/>
                <a:ea typeface="Cambria Math"/>
              </a:rPr>
              <a:t>A ∈ ℝ³ˣ⁴   →   dim(A) = 3 × 4</a:t>
            </a:r>
          </a:p>
        </p:txBody>
      </p:sp>
      <p:sp>
        <p:nvSpPr>
          <p:cNvPr id="230" name="Ex2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2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matrix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872920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3 — Build a matrix from an image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3×3 grayscale tile as a matrix of pixel values, then state its dimension.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3×3 grayscale tile (0 = black, 255 = white)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matrix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G ∈ ℝ³ˣ³,   dim(G) = 3 × 3   (height × width)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Every image is a matrix of pixel intensities — a 3×3 tile is a 3 × 3 matrix.</a:t>
            </a:r>
          </a:p>
        </p:txBody>
      </p:sp>
      <p:sp>
        <p:nvSpPr>
          <p:cNvPr id="201" name="Ex3_DataBox"/>
          <p:cNvSpPr/>
          <p:nvPr/>
        </p:nvSpPr>
        <p:spPr>
          <a:xfrm>
            <a:off x="558800" y="1778000"/>
            <a:ext cx="4851400" cy="3175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3_DataHdr"/>
          <p:cNvSpPr/>
          <p:nvPr/>
        </p:nvSpPr>
        <p:spPr>
          <a:xfrm>
            <a:off x="736600" y="18796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Pixel brightness grid</a:t>
            </a:r>
          </a:p>
        </p:txBody>
      </p:sp>
      <p:sp>
        <p:nvSpPr>
          <p:cNvPr id="300" name="Px"/>
          <p:cNvSpPr/>
          <p:nvPr/>
        </p:nvSpPr>
        <p:spPr>
          <a:xfrm>
            <a:off x="1524000" y="2311400"/>
            <a:ext cx="736600" cy="736600"/>
          </a:xfrm>
          <a:prstGeom prst="rect">
            <a:avLst/>
          </a:prstGeom>
          <a:solidFill>
            <a:srgbClr val="323232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</a:p>
        </p:txBody>
      </p:sp>
      <p:sp>
        <p:nvSpPr>
          <p:cNvPr id="301" name="Px"/>
          <p:cNvSpPr/>
          <p:nvPr/>
        </p:nvSpPr>
        <p:spPr>
          <a:xfrm>
            <a:off x="2260600" y="2311400"/>
            <a:ext cx="736600" cy="736600"/>
          </a:xfrm>
          <a:prstGeom prst="rect">
            <a:avLst/>
          </a:prstGeom>
          <a:solidFill>
            <a:srgbClr val="787878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120</a:t>
            </a:r>
          </a:p>
        </p:txBody>
      </p:sp>
      <p:sp>
        <p:nvSpPr>
          <p:cNvPr id="302" name="Px"/>
          <p:cNvSpPr/>
          <p:nvPr/>
        </p:nvSpPr>
        <p:spPr>
          <a:xfrm>
            <a:off x="2997200" y="2311400"/>
            <a:ext cx="736600" cy="73660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200</a:t>
            </a:r>
          </a:p>
        </p:txBody>
      </p:sp>
      <p:sp>
        <p:nvSpPr>
          <p:cNvPr id="303" name="Px"/>
          <p:cNvSpPr/>
          <p:nvPr/>
        </p:nvSpPr>
        <p:spPr>
          <a:xfrm>
            <a:off x="1524000" y="3048000"/>
            <a:ext cx="736600" cy="736600"/>
          </a:xfrm>
          <a:prstGeom prst="rect">
            <a:avLst/>
          </a:prstGeom>
          <a:solidFill>
            <a:srgbClr val="64646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</a:p>
        </p:txBody>
      </p:sp>
      <p:sp>
        <p:nvSpPr>
          <p:cNvPr id="304" name="Px"/>
          <p:cNvSpPr/>
          <p:nvPr/>
        </p:nvSpPr>
        <p:spPr>
          <a:xfrm>
            <a:off x="2260600" y="3048000"/>
            <a:ext cx="736600" cy="736600"/>
          </a:xfrm>
          <a:prstGeom prst="rect">
            <a:avLst/>
          </a:prstGeom>
          <a:solidFill>
            <a:srgbClr val="B4B4B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180</a:t>
            </a:r>
          </a:p>
        </p:txBody>
      </p:sp>
      <p:sp>
        <p:nvSpPr>
          <p:cNvPr id="305" name="Px"/>
          <p:cNvSpPr/>
          <p:nvPr/>
        </p:nvSpPr>
        <p:spPr>
          <a:xfrm>
            <a:off x="2997200" y="3048000"/>
            <a:ext cx="736600" cy="736600"/>
          </a:xfrm>
          <a:prstGeom prst="rect">
            <a:avLst/>
          </a:prstGeom>
          <a:solidFill>
            <a:srgbClr val="DCDCDC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220</a:t>
            </a:r>
          </a:p>
        </p:txBody>
      </p:sp>
      <p:sp>
        <p:nvSpPr>
          <p:cNvPr id="306" name="Px"/>
          <p:cNvSpPr/>
          <p:nvPr/>
        </p:nvSpPr>
        <p:spPr>
          <a:xfrm>
            <a:off x="1524000" y="3784600"/>
            <a:ext cx="736600" cy="736600"/>
          </a:xfrm>
          <a:prstGeom prst="rect">
            <a:avLst/>
          </a:prstGeom>
          <a:solidFill>
            <a:srgbClr val="969696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150</a:t>
            </a:r>
          </a:p>
        </p:txBody>
      </p:sp>
      <p:sp>
        <p:nvSpPr>
          <p:cNvPr id="307" name="Px"/>
          <p:cNvSpPr/>
          <p:nvPr/>
        </p:nvSpPr>
        <p:spPr>
          <a:xfrm>
            <a:off x="2260600" y="3784600"/>
            <a:ext cx="736600" cy="736600"/>
          </a:xfrm>
          <a:prstGeom prst="rect">
            <a:avLst/>
          </a:prstGeom>
          <a:solidFill>
            <a:srgbClr val="D2D2D2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210</a:t>
            </a:r>
          </a:p>
        </p:txBody>
      </p:sp>
      <p:sp>
        <p:nvSpPr>
          <p:cNvPr id="308" name="Px"/>
          <p:cNvSpPr/>
          <p:nvPr/>
        </p:nvSpPr>
        <p:spPr>
          <a:xfrm>
            <a:off x="2997200" y="3784600"/>
            <a:ext cx="7366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255</a:t>
            </a:r>
          </a:p>
        </p:txBody>
      </p:sp>
      <p:sp>
        <p:nvSpPr>
          <p:cNvPr id="204" name="Ex3_DataNote"/>
          <p:cNvSpPr/>
          <p:nvPr/>
        </p:nvSpPr>
        <p:spPr>
          <a:xfrm>
            <a:off x="736600" y="4648200"/>
            <a:ext cx="4495800" cy="25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lnSpcReduction="10000"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9 pixels — each a brightness value in [0, 255].</a:t>
            </a:r>
          </a:p>
        </p:txBody>
      </p:sp>
      <p:sp>
        <p:nvSpPr>
          <p:cNvPr id="210" name="Ex3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Row r, column c → pixel at (r, c).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Copy each brightness into its cell.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G = […], state dim(G) = H × W.</a:t>
            </a:r>
          </a:p>
        </p:txBody>
      </p:sp>
      <p:sp>
        <p:nvSpPr>
          <p:cNvPr id="220" name="Ex3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3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      ⎡  50  120  200 ⎤</a:t>
            </a: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G  =  ⎢ 100  180  220 ⎥</a:t>
            </a: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      ⎣ 150  210  255 ⎦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3 rows × 3 cols = 9 pixels</a:t>
            </a:r>
          </a:p>
          <a:p>
            <a:pPr algn="l"/>
            <a:r>
              <a:rPr lang="en-US" sz="1450" b="1" dirty="0">
                <a:solidFill>
                  <a:srgbClr val="5A8A2A"/>
                </a:solidFill>
                <a:latin typeface="Cambria Math"/>
                <a:ea typeface="Cambria Math"/>
              </a:rPr>
              <a:t>G ∈ ℝ³ˣ³   →   dim(G) = 3 × 3</a:t>
            </a:r>
          </a:p>
        </p:txBody>
      </p:sp>
      <p:sp>
        <p:nvSpPr>
          <p:cNvPr id="230" name="Ex3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3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matrix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768962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4 — Plot four vectors in 2D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Plot each vector as a point (and arrow from the origin) on the grid, then check against the hidden solution.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Vectors to plot — and your blank grid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plot on the grid at left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1300" i="1">
              <a:solidFill>
                <a:srgbClr val="00A7B5"/>
              </a:solidFill>
              <a:latin typeface="Cambria Math"/>
              <a:ea typeface="Cambria Math"/>
            </a:endParaRP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2D vector is an ordered pair (x, y) — its head sits x across and y up from the origin.</a:t>
            </a:r>
          </a:p>
        </p:txBody>
      </p:sp>
      <p:sp>
        <p:nvSpPr>
          <p:cNvPr id="202" name="Ex4_DataHdr"/>
          <p:cNvSpPr/>
          <p:nvPr/>
        </p:nvSpPr>
        <p:spPr>
          <a:xfrm>
            <a:off x="558800" y="1752600"/>
            <a:ext cx="317500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Arial"/>
              </a:rPr>
              <a:t>Vectors to plot</a:t>
            </a:r>
          </a:p>
        </p:txBody>
      </p:sp>
      <p:sp>
        <p:nvSpPr>
          <p:cNvPr id="205" name="Ex4_VecBox"/>
          <p:cNvSpPr/>
          <p:nvPr/>
        </p:nvSpPr>
        <p:spPr>
          <a:xfrm>
            <a:off x="558800" y="2057400"/>
            <a:ext cx="19050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Ex4_VecList"/>
          <p:cNvSpPr/>
          <p:nvPr/>
        </p:nvSpPr>
        <p:spPr>
          <a:xfrm>
            <a:off x="685800" y="2159000"/>
            <a:ext cx="1651000" cy="1778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C0392B"/>
                </a:solidFill>
                <a:latin typeface="Consolas"/>
              </a:rPr>
              <a:t>a = ( 3,  1)</a:t>
            </a:r>
          </a:p>
          <a:p>
            <a:pPr algn="l"/>
            <a:r>
              <a:rPr lang="en-US" sz="1300" b="1" dirty="0">
                <a:solidFill>
                  <a:srgbClr val="1F77B4"/>
                </a:solidFill>
                <a:latin typeface="Consolas"/>
              </a:rPr>
              <a:t>b = (-2,  2)</a:t>
            </a:r>
          </a:p>
          <a:p>
            <a:pPr algn="l"/>
            <a:r>
              <a:rPr lang="en-US" sz="1300" b="1" dirty="0">
                <a:solidFill>
                  <a:srgbClr val="2CA02C"/>
                </a:solidFill>
                <a:latin typeface="Consolas"/>
              </a:rPr>
              <a:t>c = ( 1, -3)</a:t>
            </a:r>
          </a:p>
          <a:p>
            <a:pPr algn="l"/>
            <a:r>
              <a:rPr lang="en-US" sz="1300" b="1" dirty="0">
                <a:solidFill>
                  <a:srgbClr val="9467BD"/>
                </a:solidFill>
                <a:latin typeface="Consolas"/>
              </a:rPr>
              <a:t>d = (-1, -2)</a:t>
            </a:r>
          </a:p>
        </p:txBody>
      </p:sp>
      <p:sp>
        <p:nvSpPr>
          <p:cNvPr id="250" name="Ex4_GridBox"/>
          <p:cNvSpPr/>
          <p:nvPr/>
        </p:nvSpPr>
        <p:spPr>
          <a:xfrm>
            <a:off x="2514600" y="2006600"/>
            <a:ext cx="2641600" cy="26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400" name="Ex4b_gv"/>
          <p:cNvCxnSpPr/>
          <p:nvPr/>
        </p:nvCxnSpPr>
        <p:spPr>
          <a:xfrm>
            <a:off x="26670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1" name="Ex4b_gh"/>
          <p:cNvCxnSpPr/>
          <p:nvPr/>
        </p:nvCxnSpPr>
        <p:spPr>
          <a:xfrm>
            <a:off x="2667000" y="21590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2" name="Ex4b_gv"/>
          <p:cNvCxnSpPr/>
          <p:nvPr/>
        </p:nvCxnSpPr>
        <p:spPr>
          <a:xfrm>
            <a:off x="29591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3" name="Ex4b_gh"/>
          <p:cNvCxnSpPr/>
          <p:nvPr/>
        </p:nvCxnSpPr>
        <p:spPr>
          <a:xfrm>
            <a:off x="2667000" y="24511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4" name="Ex4b_gv"/>
          <p:cNvCxnSpPr/>
          <p:nvPr/>
        </p:nvCxnSpPr>
        <p:spPr>
          <a:xfrm>
            <a:off x="32512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5" name="Ex4b_gh"/>
          <p:cNvCxnSpPr/>
          <p:nvPr/>
        </p:nvCxnSpPr>
        <p:spPr>
          <a:xfrm>
            <a:off x="2667000" y="27432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6" name="Ex4b_gv"/>
          <p:cNvCxnSpPr/>
          <p:nvPr/>
        </p:nvCxnSpPr>
        <p:spPr>
          <a:xfrm>
            <a:off x="35433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7" name="Ex4b_gh"/>
          <p:cNvCxnSpPr/>
          <p:nvPr/>
        </p:nvCxnSpPr>
        <p:spPr>
          <a:xfrm>
            <a:off x="2667000" y="30353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8" name="Ex4b_gv"/>
          <p:cNvCxnSpPr/>
          <p:nvPr/>
        </p:nvCxnSpPr>
        <p:spPr>
          <a:xfrm>
            <a:off x="3835400" y="2159000"/>
            <a:ext cx="0" cy="23368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9" name="Ex4b_gh"/>
          <p:cNvCxnSpPr/>
          <p:nvPr/>
        </p:nvCxnSpPr>
        <p:spPr>
          <a:xfrm>
            <a:off x="2667000" y="3327400"/>
            <a:ext cx="2336800" cy="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10" name="Ex4b_gv"/>
          <p:cNvCxnSpPr/>
          <p:nvPr/>
        </p:nvCxnSpPr>
        <p:spPr>
          <a:xfrm>
            <a:off x="41275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1" name="Ex4b_gh"/>
          <p:cNvCxnSpPr/>
          <p:nvPr/>
        </p:nvCxnSpPr>
        <p:spPr>
          <a:xfrm>
            <a:off x="2667000" y="36195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2" name="Ex4b_gv"/>
          <p:cNvCxnSpPr/>
          <p:nvPr/>
        </p:nvCxnSpPr>
        <p:spPr>
          <a:xfrm>
            <a:off x="44196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3" name="Ex4b_gh"/>
          <p:cNvCxnSpPr/>
          <p:nvPr/>
        </p:nvCxnSpPr>
        <p:spPr>
          <a:xfrm>
            <a:off x="2667000" y="39116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4" name="Ex4b_gv"/>
          <p:cNvCxnSpPr/>
          <p:nvPr/>
        </p:nvCxnSpPr>
        <p:spPr>
          <a:xfrm>
            <a:off x="47117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5" name="Ex4b_gh"/>
          <p:cNvCxnSpPr/>
          <p:nvPr/>
        </p:nvCxnSpPr>
        <p:spPr>
          <a:xfrm>
            <a:off x="2667000" y="42037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6" name="Ex4b_gv"/>
          <p:cNvCxnSpPr/>
          <p:nvPr/>
        </p:nvCxnSpPr>
        <p:spPr>
          <a:xfrm>
            <a:off x="50038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7" name="Ex4b_gh"/>
          <p:cNvCxnSpPr/>
          <p:nvPr/>
        </p:nvCxnSpPr>
        <p:spPr>
          <a:xfrm>
            <a:off x="2667000" y="44958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sp>
        <p:nvSpPr>
          <p:cNvPr id="418" name="Ex4b_lx"/>
          <p:cNvSpPr/>
          <p:nvPr/>
        </p:nvSpPr>
        <p:spPr>
          <a:xfrm>
            <a:off x="4927600" y="33528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419" name="Ex4b_ly"/>
          <p:cNvSpPr/>
          <p:nvPr/>
        </p:nvSpPr>
        <p:spPr>
          <a:xfrm>
            <a:off x="3873500" y="21336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290" name="Ex4_GridCap"/>
          <p:cNvSpPr/>
          <p:nvPr/>
        </p:nvSpPr>
        <p:spPr>
          <a:xfrm>
            <a:off x="2514600" y="4673600"/>
            <a:ext cx="2641600" cy="177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Arial"/>
              </a:rPr>
              <a:t>Blank grid — plot a, b, c, d here.</a:t>
            </a:r>
          </a:p>
        </p:txBody>
      </p:sp>
      <p:sp>
        <p:nvSpPr>
          <p:cNvPr id="210" name="Ex4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1.  Plot each vector as a point (x, y).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2.  Draw an arrow from the origin to it.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3.  Note which quadrant each lands in.</a:t>
            </a:r>
          </a:p>
          <a:p>
            <a:pPr algn="l"/>
            <a:endParaRPr lang="en-US" sz="12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</a:rPr>
              <a:t>Then reveal the solution grid to check.</a:t>
            </a:r>
          </a:p>
        </p:txBody>
      </p:sp>
      <p:sp>
        <p:nvSpPr>
          <p:cNvPr id="220" name="Ex4_SolBox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500" name="Ex4s_gv"/>
          <p:cNvCxnSpPr/>
          <p:nvPr/>
        </p:nvCxnSpPr>
        <p:spPr>
          <a:xfrm>
            <a:off x="69596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1" name="Ex4s_gh"/>
          <p:cNvCxnSpPr/>
          <p:nvPr/>
        </p:nvCxnSpPr>
        <p:spPr>
          <a:xfrm>
            <a:off x="6959600" y="32258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2" name="Ex4s_gv"/>
          <p:cNvCxnSpPr/>
          <p:nvPr/>
        </p:nvCxnSpPr>
        <p:spPr>
          <a:xfrm>
            <a:off x="72517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3" name="Ex4s_gh"/>
          <p:cNvCxnSpPr/>
          <p:nvPr/>
        </p:nvCxnSpPr>
        <p:spPr>
          <a:xfrm>
            <a:off x="6959600" y="35179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4" name="Ex4s_gv"/>
          <p:cNvCxnSpPr/>
          <p:nvPr/>
        </p:nvCxnSpPr>
        <p:spPr>
          <a:xfrm>
            <a:off x="75438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5" name="Ex4s_gh"/>
          <p:cNvCxnSpPr/>
          <p:nvPr/>
        </p:nvCxnSpPr>
        <p:spPr>
          <a:xfrm>
            <a:off x="6959600" y="38100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6" name="Ex4s_gv"/>
          <p:cNvCxnSpPr/>
          <p:nvPr/>
        </p:nvCxnSpPr>
        <p:spPr>
          <a:xfrm>
            <a:off x="78359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7" name="Ex4s_gh"/>
          <p:cNvCxnSpPr/>
          <p:nvPr/>
        </p:nvCxnSpPr>
        <p:spPr>
          <a:xfrm>
            <a:off x="6959600" y="41021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8" name="Ex4s_gv"/>
          <p:cNvCxnSpPr/>
          <p:nvPr/>
        </p:nvCxnSpPr>
        <p:spPr>
          <a:xfrm>
            <a:off x="8128000" y="3225800"/>
            <a:ext cx="0" cy="23368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9" name="Ex4s_gh"/>
          <p:cNvCxnSpPr/>
          <p:nvPr/>
        </p:nvCxnSpPr>
        <p:spPr>
          <a:xfrm>
            <a:off x="6959600" y="4394200"/>
            <a:ext cx="2336800" cy="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10" name="Ex4s_gv"/>
          <p:cNvCxnSpPr/>
          <p:nvPr/>
        </p:nvCxnSpPr>
        <p:spPr>
          <a:xfrm>
            <a:off x="84201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1" name="Ex4s_gh"/>
          <p:cNvCxnSpPr/>
          <p:nvPr/>
        </p:nvCxnSpPr>
        <p:spPr>
          <a:xfrm>
            <a:off x="6959600" y="46863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2" name="Ex4s_gv"/>
          <p:cNvCxnSpPr/>
          <p:nvPr/>
        </p:nvCxnSpPr>
        <p:spPr>
          <a:xfrm>
            <a:off x="87122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3" name="Ex4s_gh"/>
          <p:cNvCxnSpPr/>
          <p:nvPr/>
        </p:nvCxnSpPr>
        <p:spPr>
          <a:xfrm>
            <a:off x="6959600" y="49784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4" name="Ex4s_gv"/>
          <p:cNvCxnSpPr/>
          <p:nvPr/>
        </p:nvCxnSpPr>
        <p:spPr>
          <a:xfrm>
            <a:off x="90043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5" name="Ex4s_gh"/>
          <p:cNvCxnSpPr/>
          <p:nvPr/>
        </p:nvCxnSpPr>
        <p:spPr>
          <a:xfrm>
            <a:off x="6959600" y="52705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6" name="Ex4s_gv"/>
          <p:cNvCxnSpPr/>
          <p:nvPr/>
        </p:nvCxnSpPr>
        <p:spPr>
          <a:xfrm>
            <a:off x="92964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7" name="Ex4s_gh"/>
          <p:cNvCxnSpPr/>
          <p:nvPr/>
        </p:nvCxnSpPr>
        <p:spPr>
          <a:xfrm>
            <a:off x="6959600" y="55626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sp>
        <p:nvSpPr>
          <p:cNvPr id="518" name="Ex4s_lx"/>
          <p:cNvSpPr/>
          <p:nvPr/>
        </p:nvSpPr>
        <p:spPr>
          <a:xfrm>
            <a:off x="9220200" y="44196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519" name="Ex4s_ly"/>
          <p:cNvSpPr/>
          <p:nvPr/>
        </p:nvSpPr>
        <p:spPr>
          <a:xfrm>
            <a:off x="8166100" y="32004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cxnSp>
        <p:nvCxnSpPr>
          <p:cNvPr id="520" name="Ex4s_arr"/>
          <p:cNvCxnSpPr/>
          <p:nvPr/>
        </p:nvCxnSpPr>
        <p:spPr>
          <a:xfrm flipV="1">
            <a:off x="8128000" y="4102100"/>
            <a:ext cx="876300" cy="292100"/>
          </a:xfrm>
          <a:prstGeom prst="line">
            <a:avLst/>
          </a:prstGeom>
          <a:ln w="19050">
            <a:solidFill>
              <a:srgbClr val="C0392B"/>
            </a:solidFill>
          </a:ln>
        </p:spPr>
      </p:cxnSp>
      <p:sp>
        <p:nvSpPr>
          <p:cNvPr id="521" name="Ex4s_dot"/>
          <p:cNvSpPr/>
          <p:nvPr/>
        </p:nvSpPr>
        <p:spPr>
          <a:xfrm>
            <a:off x="8959850" y="4057650"/>
            <a:ext cx="88900" cy="889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2" name="Ex4s_lbl"/>
          <p:cNvSpPr/>
          <p:nvPr/>
        </p:nvSpPr>
        <p:spPr>
          <a:xfrm>
            <a:off x="9042400" y="39370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C0392B"/>
                </a:solidFill>
                <a:latin typeface="Arial"/>
              </a:rPr>
              <a:t>a</a:t>
            </a:r>
          </a:p>
        </p:txBody>
      </p:sp>
      <p:cxnSp>
        <p:nvCxnSpPr>
          <p:cNvPr id="523" name="Ex4s_arr"/>
          <p:cNvCxnSpPr/>
          <p:nvPr/>
        </p:nvCxnSpPr>
        <p:spPr>
          <a:xfrm flipH="1" flipV="1">
            <a:off x="7543800" y="3810000"/>
            <a:ext cx="584200" cy="584200"/>
          </a:xfrm>
          <a:prstGeom prst="line">
            <a:avLst/>
          </a:prstGeom>
          <a:ln w="19050">
            <a:solidFill>
              <a:srgbClr val="1F77B4"/>
            </a:solidFill>
          </a:ln>
        </p:spPr>
      </p:cxnSp>
      <p:sp>
        <p:nvSpPr>
          <p:cNvPr id="524" name="Ex4s_dot"/>
          <p:cNvSpPr/>
          <p:nvPr/>
        </p:nvSpPr>
        <p:spPr>
          <a:xfrm>
            <a:off x="7499350" y="3765550"/>
            <a:ext cx="88900" cy="8890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5" name="Ex4s_lbl"/>
          <p:cNvSpPr/>
          <p:nvPr/>
        </p:nvSpPr>
        <p:spPr>
          <a:xfrm>
            <a:off x="7353300" y="36449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1F77B4"/>
                </a:solidFill>
                <a:latin typeface="Arial"/>
              </a:rPr>
              <a:t>b</a:t>
            </a:r>
          </a:p>
        </p:txBody>
      </p:sp>
      <p:cxnSp>
        <p:nvCxnSpPr>
          <p:cNvPr id="526" name="Ex4s_arr"/>
          <p:cNvCxnSpPr/>
          <p:nvPr/>
        </p:nvCxnSpPr>
        <p:spPr>
          <a:xfrm>
            <a:off x="8128000" y="4394200"/>
            <a:ext cx="292100" cy="876300"/>
          </a:xfrm>
          <a:prstGeom prst="line">
            <a:avLst/>
          </a:prstGeom>
          <a:ln w="19050">
            <a:solidFill>
              <a:srgbClr val="2CA02C"/>
            </a:solidFill>
          </a:ln>
        </p:spPr>
      </p:cxnSp>
      <p:sp>
        <p:nvSpPr>
          <p:cNvPr id="527" name="Ex4s_dot"/>
          <p:cNvSpPr/>
          <p:nvPr/>
        </p:nvSpPr>
        <p:spPr>
          <a:xfrm>
            <a:off x="8375650" y="5226050"/>
            <a:ext cx="88900" cy="88900"/>
          </a:xfrm>
          <a:prstGeom prst="ellipse">
            <a:avLst/>
          </a:prstGeom>
          <a:solidFill>
            <a:srgbClr val="2CA0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8" name="Ex4s_lbl"/>
          <p:cNvSpPr/>
          <p:nvPr/>
        </p:nvSpPr>
        <p:spPr>
          <a:xfrm>
            <a:off x="8458200" y="52832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2CA02C"/>
                </a:solidFill>
                <a:latin typeface="Arial"/>
              </a:rPr>
              <a:t>c</a:t>
            </a:r>
          </a:p>
        </p:txBody>
      </p:sp>
      <p:cxnSp>
        <p:nvCxnSpPr>
          <p:cNvPr id="529" name="Ex4s_arr"/>
          <p:cNvCxnSpPr/>
          <p:nvPr/>
        </p:nvCxnSpPr>
        <p:spPr>
          <a:xfrm flipH="1">
            <a:off x="7835900" y="4394200"/>
            <a:ext cx="292100" cy="584200"/>
          </a:xfrm>
          <a:prstGeom prst="line">
            <a:avLst/>
          </a:prstGeom>
          <a:ln w="19050">
            <a:solidFill>
              <a:srgbClr val="9467BD"/>
            </a:solidFill>
          </a:ln>
        </p:spPr>
      </p:cxnSp>
      <p:sp>
        <p:nvSpPr>
          <p:cNvPr id="530" name="Ex4s_dot"/>
          <p:cNvSpPr/>
          <p:nvPr/>
        </p:nvSpPr>
        <p:spPr>
          <a:xfrm>
            <a:off x="7791450" y="4933950"/>
            <a:ext cx="88900" cy="88900"/>
          </a:xfrm>
          <a:prstGeom prst="ellipse">
            <a:avLst/>
          </a:prstGeom>
          <a:solidFill>
            <a:srgbClr val="9467B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1" name="Ex4s_lbl"/>
          <p:cNvSpPr/>
          <p:nvPr/>
        </p:nvSpPr>
        <p:spPr>
          <a:xfrm>
            <a:off x="7645400" y="49911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9467BD"/>
                </a:solidFill>
                <a:latin typeface="Arial"/>
              </a:rPr>
              <a:t>d</a:t>
            </a:r>
          </a:p>
        </p:txBody>
      </p:sp>
      <p:sp>
        <p:nvSpPr>
          <p:cNvPr id="225" name="Ex4_SolCap"/>
          <p:cNvSpPr/>
          <p:nvPr/>
        </p:nvSpPr>
        <p:spPr>
          <a:xfrm>
            <a:off x="9448800" y="3378200"/>
            <a:ext cx="1905000" cy="2032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l"/>
            <a:r>
              <a:rPr lang="en-US" sz="1200" b="1" dirty="0">
                <a:solidFill>
                  <a:srgbClr val="5A8A2A"/>
                </a:solidFill>
                <a:latin typeface="Arial"/>
              </a:rPr>
              <a:t>Solution</a:t>
            </a:r>
          </a:p>
          <a:p>
            <a:pPr algn="l"/>
            <a:r>
              <a:rPr lang="en-US" sz="1100" b="1" dirty="0">
                <a:solidFill>
                  <a:srgbClr val="C0392B"/>
                </a:solidFill>
                <a:latin typeface="Consolas"/>
              </a:rPr>
              <a:t>a → Q1</a:t>
            </a:r>
          </a:p>
          <a:p>
            <a:pPr algn="l"/>
            <a:r>
              <a:rPr lang="en-US" sz="1100" b="1" dirty="0">
                <a:solidFill>
                  <a:srgbClr val="1F77B4"/>
                </a:solidFill>
                <a:latin typeface="Consolas"/>
              </a:rPr>
              <a:t>b → Q2</a:t>
            </a:r>
          </a:p>
          <a:p>
            <a:pPr algn="l"/>
            <a:r>
              <a:rPr lang="en-US" sz="1100" b="1" dirty="0">
                <a:solidFill>
                  <a:srgbClr val="2CA02C"/>
                </a:solidFill>
                <a:latin typeface="Consolas"/>
              </a:rPr>
              <a:t>c → Q4</a:t>
            </a:r>
          </a:p>
          <a:p>
            <a:pPr algn="l"/>
            <a:r>
              <a:rPr lang="en-US" sz="1100" b="1" dirty="0">
                <a:solidFill>
                  <a:srgbClr val="9467BD"/>
                </a:solidFill>
                <a:latin typeface="Consolas"/>
              </a:rPr>
              <a:t>d → Q3</a:t>
            </a:r>
          </a:p>
        </p:txBody>
      </p:sp>
      <p:sp>
        <p:nvSpPr>
          <p:cNvPr id="230" name="Ex4_SolCover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4_SolCoverTxt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🔒  Solution hidden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Arial"/>
              </a:rPr>
              <a:t>Plot the four vectors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932652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5 — Plot two vectors in 3D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Sketch each vector on the 3D axes (x, y, z), then check against the hidden solution.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Vectors to plot — and your blank 3D axes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sketch on the axes at left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1300" i="1">
              <a:solidFill>
                <a:srgbClr val="00A7B5"/>
              </a:solidFill>
              <a:latin typeface="Cambria Math"/>
              <a:ea typeface="Cambria Math"/>
            </a:endParaRP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3D vector is an ordered triple (x, y, z) — three coordinates locate one point in space.</a:t>
            </a:r>
          </a:p>
        </p:txBody>
      </p:sp>
      <p:sp>
        <p:nvSpPr>
          <p:cNvPr id="202" name="Ex5_DataHdr"/>
          <p:cNvSpPr/>
          <p:nvPr/>
        </p:nvSpPr>
        <p:spPr>
          <a:xfrm>
            <a:off x="558800" y="1752600"/>
            <a:ext cx="317500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Arial"/>
              </a:rPr>
              <a:t>Vectors to plot</a:t>
            </a:r>
          </a:p>
        </p:txBody>
      </p:sp>
      <p:sp>
        <p:nvSpPr>
          <p:cNvPr id="205" name="Ex5_VecBox"/>
          <p:cNvSpPr/>
          <p:nvPr/>
        </p:nvSpPr>
        <p:spPr>
          <a:xfrm>
            <a:off x="558800" y="2082800"/>
            <a:ext cx="1905000" cy="11684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Ex5_VecList"/>
          <p:cNvSpPr/>
          <p:nvPr/>
        </p:nvSpPr>
        <p:spPr>
          <a:xfrm>
            <a:off x="685800" y="2184400"/>
            <a:ext cx="1651000" cy="1016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C0392B"/>
                </a:solidFill>
                <a:latin typeface="Consolas"/>
              </a:rPr>
              <a:t>u = (2, 3, 1)</a:t>
            </a:r>
          </a:p>
          <a:p>
            <a:pPr algn="l"/>
            <a:endParaRPr lang="en-US" sz="1300" b="1" dirty="0">
              <a:solidFill>
                <a:srgbClr val="C0392B"/>
              </a:solidFill>
              <a:latin typeface="Consolas"/>
            </a:endParaRPr>
          </a:p>
          <a:p>
            <a:pPr algn="l"/>
            <a:r>
              <a:rPr lang="en-US" sz="1300" b="1" dirty="0">
                <a:solidFill>
                  <a:srgbClr val="1F77B4"/>
                </a:solidFill>
                <a:latin typeface="Consolas"/>
              </a:rPr>
              <a:t>v = (-2, 1, 2)</a:t>
            </a:r>
          </a:p>
        </p:txBody>
      </p:sp>
      <p:sp>
        <p:nvSpPr>
          <p:cNvPr id="250" name="Ex5_AxBox"/>
          <p:cNvSpPr/>
          <p:nvPr/>
        </p:nvSpPr>
        <p:spPr>
          <a:xfrm>
            <a:off x="2616200" y="2133600"/>
            <a:ext cx="2667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400" name="Ex5b_xn"/>
          <p:cNvCxnSpPr/>
          <p:nvPr/>
        </p:nvCxnSpPr>
        <p:spPr>
          <a:xfrm flipV="1">
            <a:off x="3810000" y="4457700"/>
            <a:ext cx="190500" cy="1143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401" name="Ex5b_yn"/>
          <p:cNvCxnSpPr/>
          <p:nvPr/>
        </p:nvCxnSpPr>
        <p:spPr>
          <a:xfrm flipH="1">
            <a:off x="3505200" y="4572000"/>
            <a:ext cx="304800" cy="127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402" name="Ex5b_x"/>
          <p:cNvCxnSpPr/>
          <p:nvPr/>
        </p:nvCxnSpPr>
        <p:spPr>
          <a:xfrm flipH="1">
            <a:off x="3048000" y="4572000"/>
            <a:ext cx="762000" cy="4572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3" name="Ex5b_y"/>
          <p:cNvCxnSpPr/>
          <p:nvPr/>
        </p:nvCxnSpPr>
        <p:spPr>
          <a:xfrm>
            <a:off x="3810000" y="4572000"/>
            <a:ext cx="1219200" cy="127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4" name="Ex5b_z"/>
          <p:cNvCxnSpPr/>
          <p:nvPr/>
        </p:nvCxnSpPr>
        <p:spPr>
          <a:xfrm flipV="1">
            <a:off x="3810000" y="3454400"/>
            <a:ext cx="12700" cy="11176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sp>
        <p:nvSpPr>
          <p:cNvPr id="405" name="Ex5b_lx"/>
          <p:cNvSpPr/>
          <p:nvPr/>
        </p:nvSpPr>
        <p:spPr>
          <a:xfrm>
            <a:off x="2819400" y="50546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406" name="Ex5b_ly"/>
          <p:cNvSpPr/>
          <p:nvPr/>
        </p:nvSpPr>
        <p:spPr>
          <a:xfrm>
            <a:off x="5054600" y="4495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407" name="Ex5b_lz"/>
          <p:cNvSpPr/>
          <p:nvPr/>
        </p:nvSpPr>
        <p:spPr>
          <a:xfrm>
            <a:off x="3759200" y="32766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z</a:t>
            </a:r>
          </a:p>
        </p:txBody>
      </p:sp>
      <p:sp>
        <p:nvSpPr>
          <p:cNvPr id="408" name="Ex5b_tx"/>
          <p:cNvSpPr/>
          <p:nvPr/>
        </p:nvSpPr>
        <p:spPr>
          <a:xfrm>
            <a:off x="3600450" y="46672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Ex5b_ty"/>
          <p:cNvSpPr/>
          <p:nvPr/>
        </p:nvSpPr>
        <p:spPr>
          <a:xfrm>
            <a:off x="40957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Ex5b_tz"/>
          <p:cNvSpPr/>
          <p:nvPr/>
        </p:nvSpPr>
        <p:spPr>
          <a:xfrm>
            <a:off x="3790950" y="4273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Ex5b_tx"/>
          <p:cNvSpPr/>
          <p:nvPr/>
        </p:nvSpPr>
        <p:spPr>
          <a:xfrm>
            <a:off x="3409950" y="4781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2" name="Ex5b_ty"/>
          <p:cNvSpPr/>
          <p:nvPr/>
        </p:nvSpPr>
        <p:spPr>
          <a:xfrm>
            <a:off x="44005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3" name="Ex5b_tz"/>
          <p:cNvSpPr/>
          <p:nvPr/>
        </p:nvSpPr>
        <p:spPr>
          <a:xfrm>
            <a:off x="3790950" y="3994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4" name="Ex5b_tx"/>
          <p:cNvSpPr/>
          <p:nvPr/>
        </p:nvSpPr>
        <p:spPr>
          <a:xfrm>
            <a:off x="3219450" y="48958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5" name="Ex5b_ty"/>
          <p:cNvSpPr/>
          <p:nvPr/>
        </p:nvSpPr>
        <p:spPr>
          <a:xfrm>
            <a:off x="47053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6" name="Ex5b_tz"/>
          <p:cNvSpPr/>
          <p:nvPr/>
        </p:nvSpPr>
        <p:spPr>
          <a:xfrm>
            <a:off x="3790950" y="3714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7" name="Ex5b_tx"/>
          <p:cNvSpPr/>
          <p:nvPr/>
        </p:nvSpPr>
        <p:spPr>
          <a:xfrm>
            <a:off x="3028950" y="5010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8" name="Ex5b_ty"/>
          <p:cNvSpPr/>
          <p:nvPr/>
        </p:nvSpPr>
        <p:spPr>
          <a:xfrm>
            <a:off x="50101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9" name="Ex5b_tz"/>
          <p:cNvSpPr/>
          <p:nvPr/>
        </p:nvSpPr>
        <p:spPr>
          <a:xfrm>
            <a:off x="3790950" y="3435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0" name="Ex5_AxCap"/>
          <p:cNvSpPr/>
          <p:nvPr/>
        </p:nvSpPr>
        <p:spPr>
          <a:xfrm>
            <a:off x="2616200" y="5334000"/>
            <a:ext cx="2667000" cy="177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Arial"/>
              </a:rPr>
              <a:t>Blank 3D axes — sketch u and v here.</a:t>
            </a:r>
          </a:p>
        </p:txBody>
      </p:sp>
      <p:sp>
        <p:nvSpPr>
          <p:cNvPr id="210" name="Ex5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1.  For each vector, step x along x, y along y,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     then z up — mark the head point.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2.  Draw an arrow from the origin to it.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3.  Use dashed guides to show the height.</a:t>
            </a:r>
          </a:p>
          <a:p>
            <a:pPr algn="l"/>
            <a:endParaRPr lang="en-US" sz="115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</a:rPr>
              <a:t>Then reveal the solution to check.</a:t>
            </a:r>
          </a:p>
        </p:txBody>
      </p:sp>
      <p:sp>
        <p:nvSpPr>
          <p:cNvPr id="220" name="Ex5_SolBox"/>
          <p:cNvSpPr/>
          <p:nvPr/>
        </p:nvSpPr>
        <p:spPr>
          <a:xfrm>
            <a:off x="6858000" y="3327400"/>
            <a:ext cx="5041900" cy="22860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500" name="Ex5s_xn"/>
          <p:cNvCxnSpPr/>
          <p:nvPr/>
        </p:nvCxnSpPr>
        <p:spPr>
          <a:xfrm flipV="1">
            <a:off x="8763000" y="4787900"/>
            <a:ext cx="190500" cy="1143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501" name="Ex5s_yn"/>
          <p:cNvCxnSpPr/>
          <p:nvPr/>
        </p:nvCxnSpPr>
        <p:spPr>
          <a:xfrm flipH="1">
            <a:off x="8458200" y="4902200"/>
            <a:ext cx="304800" cy="127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502" name="Ex5s_x"/>
          <p:cNvCxnSpPr/>
          <p:nvPr/>
        </p:nvCxnSpPr>
        <p:spPr>
          <a:xfrm flipH="1">
            <a:off x="8001000" y="4902200"/>
            <a:ext cx="762000" cy="4572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3" name="Ex5s_y"/>
          <p:cNvCxnSpPr/>
          <p:nvPr/>
        </p:nvCxnSpPr>
        <p:spPr>
          <a:xfrm>
            <a:off x="8763000" y="4902200"/>
            <a:ext cx="1219200" cy="127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4" name="Ex5s_z"/>
          <p:cNvCxnSpPr/>
          <p:nvPr/>
        </p:nvCxnSpPr>
        <p:spPr>
          <a:xfrm flipV="1">
            <a:off x="8763000" y="3784600"/>
            <a:ext cx="12700" cy="11176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sp>
        <p:nvSpPr>
          <p:cNvPr id="505" name="Ex5s_lx"/>
          <p:cNvSpPr/>
          <p:nvPr/>
        </p:nvSpPr>
        <p:spPr>
          <a:xfrm>
            <a:off x="7772400" y="5384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506" name="Ex5s_ly"/>
          <p:cNvSpPr/>
          <p:nvPr/>
        </p:nvSpPr>
        <p:spPr>
          <a:xfrm>
            <a:off x="10007600" y="48260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507" name="Ex5s_lz"/>
          <p:cNvSpPr/>
          <p:nvPr/>
        </p:nvSpPr>
        <p:spPr>
          <a:xfrm>
            <a:off x="8712200" y="3606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z</a:t>
            </a:r>
          </a:p>
        </p:txBody>
      </p:sp>
      <p:sp>
        <p:nvSpPr>
          <p:cNvPr id="508" name="Ex5s_tx"/>
          <p:cNvSpPr/>
          <p:nvPr/>
        </p:nvSpPr>
        <p:spPr>
          <a:xfrm>
            <a:off x="8553450" y="49974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9" name="Ex5s_ty"/>
          <p:cNvSpPr/>
          <p:nvPr/>
        </p:nvSpPr>
        <p:spPr>
          <a:xfrm>
            <a:off x="90487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Ex5s_tz"/>
          <p:cNvSpPr/>
          <p:nvPr/>
        </p:nvSpPr>
        <p:spPr>
          <a:xfrm>
            <a:off x="8743950" y="4603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Ex5s_tx"/>
          <p:cNvSpPr/>
          <p:nvPr/>
        </p:nvSpPr>
        <p:spPr>
          <a:xfrm>
            <a:off x="8362950" y="5111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2" name="Ex5s_ty"/>
          <p:cNvSpPr/>
          <p:nvPr/>
        </p:nvSpPr>
        <p:spPr>
          <a:xfrm>
            <a:off x="93535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Ex5s_tz"/>
          <p:cNvSpPr/>
          <p:nvPr/>
        </p:nvSpPr>
        <p:spPr>
          <a:xfrm>
            <a:off x="8743950" y="4324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4" name="Ex5s_tx"/>
          <p:cNvSpPr/>
          <p:nvPr/>
        </p:nvSpPr>
        <p:spPr>
          <a:xfrm>
            <a:off x="8172450" y="52260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Ex5s_ty"/>
          <p:cNvSpPr/>
          <p:nvPr/>
        </p:nvSpPr>
        <p:spPr>
          <a:xfrm>
            <a:off x="96583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6" name="Ex5s_tz"/>
          <p:cNvSpPr/>
          <p:nvPr/>
        </p:nvSpPr>
        <p:spPr>
          <a:xfrm>
            <a:off x="8743950" y="4044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7" name="Ex5s_tx"/>
          <p:cNvSpPr/>
          <p:nvPr/>
        </p:nvSpPr>
        <p:spPr>
          <a:xfrm>
            <a:off x="7981950" y="5340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8" name="Ex5s_ty"/>
          <p:cNvSpPr/>
          <p:nvPr/>
        </p:nvSpPr>
        <p:spPr>
          <a:xfrm>
            <a:off x="99631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9" name="Ex5s_tz"/>
          <p:cNvSpPr/>
          <p:nvPr/>
        </p:nvSpPr>
        <p:spPr>
          <a:xfrm>
            <a:off x="8743950" y="3765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520" name="Ex5s_gf"/>
          <p:cNvCxnSpPr/>
          <p:nvPr/>
        </p:nvCxnSpPr>
        <p:spPr>
          <a:xfrm>
            <a:off x="8763000" y="4902200"/>
            <a:ext cx="533400" cy="228600"/>
          </a:xfrm>
          <a:prstGeom prst="line">
            <a:avLst/>
          </a:prstGeom>
          <a:ln w="9525">
            <a:solidFill>
              <a:srgbClr val="C0392B"/>
            </a:solidFill>
            <a:prstDash val="dash"/>
          </a:ln>
        </p:spPr>
      </p:cxnSp>
      <p:cxnSp>
        <p:nvCxnSpPr>
          <p:cNvPr id="521" name="Ex5s_gu"/>
          <p:cNvCxnSpPr/>
          <p:nvPr/>
        </p:nvCxnSpPr>
        <p:spPr>
          <a:xfrm flipV="1">
            <a:off x="9296400" y="4851400"/>
            <a:ext cx="12700" cy="279400"/>
          </a:xfrm>
          <a:prstGeom prst="line">
            <a:avLst/>
          </a:prstGeom>
          <a:ln w="9525">
            <a:solidFill>
              <a:srgbClr val="C0392B"/>
            </a:solidFill>
            <a:prstDash val="dash"/>
          </a:ln>
        </p:spPr>
      </p:cxnSp>
      <p:cxnSp>
        <p:nvCxnSpPr>
          <p:cNvPr id="522" name="Ex5s_arr"/>
          <p:cNvCxnSpPr/>
          <p:nvPr/>
        </p:nvCxnSpPr>
        <p:spPr>
          <a:xfrm flipV="1">
            <a:off x="8763000" y="4851400"/>
            <a:ext cx="533400" cy="50800"/>
          </a:xfrm>
          <a:prstGeom prst="line">
            <a:avLst/>
          </a:prstGeom>
          <a:ln w="28575">
            <a:solidFill>
              <a:srgbClr val="C0392B"/>
            </a:solidFill>
          </a:ln>
        </p:spPr>
      </p:cxnSp>
      <p:sp>
        <p:nvSpPr>
          <p:cNvPr id="523" name="Ex5s_dot"/>
          <p:cNvSpPr/>
          <p:nvPr/>
        </p:nvSpPr>
        <p:spPr>
          <a:xfrm>
            <a:off x="9251950" y="4806950"/>
            <a:ext cx="88900" cy="889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4" name="Ex5s_lbl"/>
          <p:cNvSpPr/>
          <p:nvPr/>
        </p:nvSpPr>
        <p:spPr>
          <a:xfrm>
            <a:off x="9347200" y="4699000"/>
            <a:ext cx="5080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200" b="1" dirty="0">
                <a:solidFill>
                  <a:srgbClr val="C0392B"/>
                </a:solidFill>
                <a:latin typeface="Arial"/>
              </a:rPr>
              <a:t>u</a:t>
            </a:r>
          </a:p>
        </p:txBody>
      </p:sp>
      <p:cxnSp>
        <p:nvCxnSpPr>
          <p:cNvPr id="525" name="Ex5s_gf"/>
          <p:cNvCxnSpPr/>
          <p:nvPr/>
        </p:nvCxnSpPr>
        <p:spPr>
          <a:xfrm flipV="1">
            <a:off x="8763000" y="4673600"/>
            <a:ext cx="685800" cy="228600"/>
          </a:xfrm>
          <a:prstGeom prst="line">
            <a:avLst/>
          </a:prstGeom>
          <a:ln w="9525">
            <a:solidFill>
              <a:srgbClr val="1F77B4"/>
            </a:solidFill>
            <a:prstDash val="dash"/>
          </a:ln>
        </p:spPr>
      </p:cxnSp>
      <p:cxnSp>
        <p:nvCxnSpPr>
          <p:cNvPr id="526" name="Ex5s_gu"/>
          <p:cNvCxnSpPr/>
          <p:nvPr/>
        </p:nvCxnSpPr>
        <p:spPr>
          <a:xfrm flipV="1">
            <a:off x="9448800" y="4114800"/>
            <a:ext cx="12700" cy="558800"/>
          </a:xfrm>
          <a:prstGeom prst="line">
            <a:avLst/>
          </a:prstGeom>
          <a:ln w="9525">
            <a:solidFill>
              <a:srgbClr val="1F77B4"/>
            </a:solidFill>
            <a:prstDash val="dash"/>
          </a:ln>
        </p:spPr>
      </p:cxnSp>
      <p:cxnSp>
        <p:nvCxnSpPr>
          <p:cNvPr id="527" name="Ex5s_arr"/>
          <p:cNvCxnSpPr/>
          <p:nvPr/>
        </p:nvCxnSpPr>
        <p:spPr>
          <a:xfrm flipV="1">
            <a:off x="8763000" y="4114800"/>
            <a:ext cx="685800" cy="787400"/>
          </a:xfrm>
          <a:prstGeom prst="line">
            <a:avLst/>
          </a:prstGeom>
          <a:ln w="28575">
            <a:solidFill>
              <a:srgbClr val="1F77B4"/>
            </a:solidFill>
          </a:ln>
        </p:spPr>
      </p:cxnSp>
      <p:sp>
        <p:nvSpPr>
          <p:cNvPr id="528" name="Ex5s_dot"/>
          <p:cNvSpPr/>
          <p:nvPr/>
        </p:nvSpPr>
        <p:spPr>
          <a:xfrm>
            <a:off x="9404350" y="4070350"/>
            <a:ext cx="88900" cy="8890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9" name="Ex5s_lbl"/>
          <p:cNvSpPr/>
          <p:nvPr/>
        </p:nvSpPr>
        <p:spPr>
          <a:xfrm>
            <a:off x="9499600" y="3962400"/>
            <a:ext cx="5080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200" b="1" dirty="0">
                <a:solidFill>
                  <a:srgbClr val="1F77B4"/>
                </a:solidFill>
                <a:latin typeface="Arial"/>
              </a:rPr>
              <a:t>v</a:t>
            </a:r>
          </a:p>
        </p:txBody>
      </p:sp>
      <p:sp>
        <p:nvSpPr>
          <p:cNvPr id="225" name="Ex5_SolCap"/>
          <p:cNvSpPr/>
          <p:nvPr/>
        </p:nvSpPr>
        <p:spPr>
          <a:xfrm>
            <a:off x="6959600" y="3403600"/>
            <a:ext cx="2286000" cy="508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 — heads at:</a:t>
            </a:r>
          </a:p>
          <a:p>
            <a:pPr algn="l"/>
            <a:r>
              <a:rPr lang="en-US" sz="1050" b="1" dirty="0">
                <a:solidFill>
                  <a:srgbClr val="333333"/>
                </a:solidFill>
                <a:latin typeface="Consolas"/>
              </a:rPr>
              <a:t>u=(2,3,1)  v=(-2,1,2)</a:t>
            </a:r>
          </a:p>
        </p:txBody>
      </p:sp>
      <p:sp>
        <p:nvSpPr>
          <p:cNvPr id="230" name="Ex5_SolCover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5_SolCoverTxt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🔒  Solution hidden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Arial"/>
              </a:rPr>
              <a:t>Sketch both vectors on the axes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3821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01DCDD78-BF3A-9F40-97F2-E58A0D5FA9B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A2E863-7308-5D49-9E5B-17E3FF58BF07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2: a grayscale image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65C98DF-E3C6-E043-BD61-103585B5FE4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Each row = pixel row. Each column = pixel column. Each cell = brightness (0=black, 255=white).</a:t>
            </a:r>
          </a:p>
        </p:txBody>
      </p:sp>
      <p:sp>
        <p:nvSpPr>
          <p:cNvPr id="5" name="LeftPanel">
            <a:extLst>
              <a:ext uri="{FF2B5EF4-FFF2-40B4-BE49-F238E27FC236}">
                <a16:creationId xmlns:a16="http://schemas.microsoft.com/office/drawing/2014/main" id="{1BAD9B53-E389-6946-91A8-4E749ADA093F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LeftHdr">
            <a:extLst>
              <a:ext uri="{FF2B5EF4-FFF2-40B4-BE49-F238E27FC236}">
                <a16:creationId xmlns:a16="http://schemas.microsoft.com/office/drawing/2014/main" id="{FFFD23BA-8A50-414E-B275-7B14BD08A322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Image: 4×4 grayscale tile</a:t>
            </a:r>
          </a:p>
        </p:txBody>
      </p:sp>
      <p:sp>
        <p:nvSpPr>
          <p:cNvPr id="7" name="Pixel">
            <a:extLst>
              <a:ext uri="{FF2B5EF4-FFF2-40B4-BE49-F238E27FC236}">
                <a16:creationId xmlns:a16="http://schemas.microsoft.com/office/drawing/2014/main" id="{024ED204-1AAC-2344-AD6F-8BF481326C6E}"/>
              </a:ext>
            </a:extLst>
          </p:cNvPr>
          <p:cNvSpPr/>
          <p:nvPr/>
        </p:nvSpPr>
        <p:spPr>
          <a:xfrm>
            <a:off x="1143000" y="1727200"/>
            <a:ext cx="711200" cy="711200"/>
          </a:xfrm>
          <a:prstGeom prst="rect">
            <a:avLst/>
          </a:prstGeom>
          <a:solidFill>
            <a:srgbClr val="1E1E1E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PxLbl">
            <a:extLst>
              <a:ext uri="{FF2B5EF4-FFF2-40B4-BE49-F238E27FC236}">
                <a16:creationId xmlns:a16="http://schemas.microsoft.com/office/drawing/2014/main" id="{EE4F0FF4-8B21-494B-B83B-23AF5E1E574C}"/>
              </a:ext>
            </a:extLst>
          </p:cNvPr>
          <p:cNvSpPr txBox="1"/>
          <p:nvPr/>
        </p:nvSpPr>
        <p:spPr>
          <a:xfrm>
            <a:off x="11430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9" name="Pixel">
            <a:extLst>
              <a:ext uri="{FF2B5EF4-FFF2-40B4-BE49-F238E27FC236}">
                <a16:creationId xmlns:a16="http://schemas.microsoft.com/office/drawing/2014/main" id="{C0691969-52CA-634A-B61F-8CCE1BEFABE0}"/>
              </a:ext>
            </a:extLst>
          </p:cNvPr>
          <p:cNvSpPr/>
          <p:nvPr/>
        </p:nvSpPr>
        <p:spPr>
          <a:xfrm>
            <a:off x="1854200" y="1727200"/>
            <a:ext cx="711200" cy="711200"/>
          </a:xfrm>
          <a:prstGeom prst="rect">
            <a:avLst/>
          </a:prstGeom>
          <a:solidFill>
            <a:srgbClr val="3C3C3C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PxLbl">
            <a:extLst>
              <a:ext uri="{FF2B5EF4-FFF2-40B4-BE49-F238E27FC236}">
                <a16:creationId xmlns:a16="http://schemas.microsoft.com/office/drawing/2014/main" id="{19F4D6BE-D5BD-D44D-B4BC-585DBD517181}"/>
              </a:ext>
            </a:extLst>
          </p:cNvPr>
          <p:cNvSpPr txBox="1"/>
          <p:nvPr/>
        </p:nvSpPr>
        <p:spPr>
          <a:xfrm>
            <a:off x="18542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11" name="Pixel">
            <a:extLst>
              <a:ext uri="{FF2B5EF4-FFF2-40B4-BE49-F238E27FC236}">
                <a16:creationId xmlns:a16="http://schemas.microsoft.com/office/drawing/2014/main" id="{65C114EC-353D-2B48-AFFB-606F080313A4}"/>
              </a:ext>
            </a:extLst>
          </p:cNvPr>
          <p:cNvSpPr/>
          <p:nvPr/>
        </p:nvSpPr>
        <p:spPr>
          <a:xfrm>
            <a:off x="2565400" y="17272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PxLbl">
            <a:extLst>
              <a:ext uri="{FF2B5EF4-FFF2-40B4-BE49-F238E27FC236}">
                <a16:creationId xmlns:a16="http://schemas.microsoft.com/office/drawing/2014/main" id="{C0425E46-C26F-DB40-9CCF-9F0B4478517A}"/>
              </a:ext>
            </a:extLst>
          </p:cNvPr>
          <p:cNvSpPr txBox="1"/>
          <p:nvPr/>
        </p:nvSpPr>
        <p:spPr>
          <a:xfrm>
            <a:off x="25654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3" name="Pixel">
            <a:extLst>
              <a:ext uri="{FF2B5EF4-FFF2-40B4-BE49-F238E27FC236}">
                <a16:creationId xmlns:a16="http://schemas.microsoft.com/office/drawing/2014/main" id="{0B3DF4F2-7047-B54A-ACBB-321621C97B9A}"/>
              </a:ext>
            </a:extLst>
          </p:cNvPr>
          <p:cNvSpPr/>
          <p:nvPr/>
        </p:nvSpPr>
        <p:spPr>
          <a:xfrm>
            <a:off x="3276600" y="17272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PxLbl">
            <a:extLst>
              <a:ext uri="{FF2B5EF4-FFF2-40B4-BE49-F238E27FC236}">
                <a16:creationId xmlns:a16="http://schemas.microsoft.com/office/drawing/2014/main" id="{544A07BA-FC4E-BD46-92B9-255E97812405}"/>
              </a:ext>
            </a:extLst>
          </p:cNvPr>
          <p:cNvSpPr txBox="1"/>
          <p:nvPr/>
        </p:nvSpPr>
        <p:spPr>
          <a:xfrm>
            <a:off x="32766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15" name="Pixel">
            <a:extLst>
              <a:ext uri="{FF2B5EF4-FFF2-40B4-BE49-F238E27FC236}">
                <a16:creationId xmlns:a16="http://schemas.microsoft.com/office/drawing/2014/main" id="{3C8113E3-C0F1-7D44-AF87-42360518F6DF}"/>
              </a:ext>
            </a:extLst>
          </p:cNvPr>
          <p:cNvSpPr/>
          <p:nvPr/>
        </p:nvSpPr>
        <p:spPr>
          <a:xfrm>
            <a:off x="1143000" y="2438400"/>
            <a:ext cx="711200" cy="711200"/>
          </a:xfrm>
          <a:prstGeom prst="rect">
            <a:avLst/>
          </a:prstGeom>
          <a:solidFill>
            <a:srgbClr val="3C3C3C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PxLbl">
            <a:extLst>
              <a:ext uri="{FF2B5EF4-FFF2-40B4-BE49-F238E27FC236}">
                <a16:creationId xmlns:a16="http://schemas.microsoft.com/office/drawing/2014/main" id="{C41C11FD-D229-C345-A1FF-1DFCFB7D2226}"/>
              </a:ext>
            </a:extLst>
          </p:cNvPr>
          <p:cNvSpPr txBox="1"/>
          <p:nvPr/>
        </p:nvSpPr>
        <p:spPr>
          <a:xfrm>
            <a:off x="11430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17" name="Pixel">
            <a:extLst>
              <a:ext uri="{FF2B5EF4-FFF2-40B4-BE49-F238E27FC236}">
                <a16:creationId xmlns:a16="http://schemas.microsoft.com/office/drawing/2014/main" id="{69EC5820-DD40-704B-985B-92813B704218}"/>
              </a:ext>
            </a:extLst>
          </p:cNvPr>
          <p:cNvSpPr/>
          <p:nvPr/>
        </p:nvSpPr>
        <p:spPr>
          <a:xfrm>
            <a:off x="1854200" y="24384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PxLbl">
            <a:extLst>
              <a:ext uri="{FF2B5EF4-FFF2-40B4-BE49-F238E27FC236}">
                <a16:creationId xmlns:a16="http://schemas.microsoft.com/office/drawing/2014/main" id="{C1488ABD-C0A3-554E-8A44-46A64D2ABBB6}"/>
              </a:ext>
            </a:extLst>
          </p:cNvPr>
          <p:cNvSpPr txBox="1"/>
          <p:nvPr/>
        </p:nvSpPr>
        <p:spPr>
          <a:xfrm>
            <a:off x="18542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9" name="Pixel">
            <a:extLst>
              <a:ext uri="{FF2B5EF4-FFF2-40B4-BE49-F238E27FC236}">
                <a16:creationId xmlns:a16="http://schemas.microsoft.com/office/drawing/2014/main" id="{BFDBF3F7-DB8B-2044-932D-97B116CBD4D2}"/>
              </a:ext>
            </a:extLst>
          </p:cNvPr>
          <p:cNvSpPr/>
          <p:nvPr/>
        </p:nvSpPr>
        <p:spPr>
          <a:xfrm>
            <a:off x="2565400" y="24384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PxLbl">
            <a:extLst>
              <a:ext uri="{FF2B5EF4-FFF2-40B4-BE49-F238E27FC236}">
                <a16:creationId xmlns:a16="http://schemas.microsoft.com/office/drawing/2014/main" id="{EBA3B4C9-7E7F-C943-AA3A-1F8F1F9F5A69}"/>
              </a:ext>
            </a:extLst>
          </p:cNvPr>
          <p:cNvSpPr txBox="1"/>
          <p:nvPr/>
        </p:nvSpPr>
        <p:spPr>
          <a:xfrm>
            <a:off x="25654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29" name="Pixel">
            <a:extLst>
              <a:ext uri="{FF2B5EF4-FFF2-40B4-BE49-F238E27FC236}">
                <a16:creationId xmlns:a16="http://schemas.microsoft.com/office/drawing/2014/main" id="{35640BD8-875E-6E43-9BA6-4E0DDCB5CA78}"/>
              </a:ext>
            </a:extLst>
          </p:cNvPr>
          <p:cNvSpPr/>
          <p:nvPr/>
        </p:nvSpPr>
        <p:spPr>
          <a:xfrm>
            <a:off x="3276600" y="24384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PxLbl">
            <a:extLst>
              <a:ext uri="{FF2B5EF4-FFF2-40B4-BE49-F238E27FC236}">
                <a16:creationId xmlns:a16="http://schemas.microsoft.com/office/drawing/2014/main" id="{A3FFF1E1-1B78-3F42-8C6A-8DFE44DFFA06}"/>
              </a:ext>
            </a:extLst>
          </p:cNvPr>
          <p:cNvSpPr txBox="1"/>
          <p:nvPr/>
        </p:nvSpPr>
        <p:spPr>
          <a:xfrm>
            <a:off x="32766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31" name="Pixel">
            <a:extLst>
              <a:ext uri="{FF2B5EF4-FFF2-40B4-BE49-F238E27FC236}">
                <a16:creationId xmlns:a16="http://schemas.microsoft.com/office/drawing/2014/main" id="{608AC2E1-8907-3243-9AD4-2A11E42B1F6C}"/>
              </a:ext>
            </a:extLst>
          </p:cNvPr>
          <p:cNvSpPr/>
          <p:nvPr/>
        </p:nvSpPr>
        <p:spPr>
          <a:xfrm>
            <a:off x="1143000" y="31496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PxLbl">
            <a:extLst>
              <a:ext uri="{FF2B5EF4-FFF2-40B4-BE49-F238E27FC236}">
                <a16:creationId xmlns:a16="http://schemas.microsoft.com/office/drawing/2014/main" id="{64D5712D-F0B8-7847-A5FB-1AB1FE136B9B}"/>
              </a:ext>
            </a:extLst>
          </p:cNvPr>
          <p:cNvSpPr txBox="1"/>
          <p:nvPr/>
        </p:nvSpPr>
        <p:spPr>
          <a:xfrm>
            <a:off x="11430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33" name="Pixel">
            <a:extLst>
              <a:ext uri="{FF2B5EF4-FFF2-40B4-BE49-F238E27FC236}">
                <a16:creationId xmlns:a16="http://schemas.microsoft.com/office/drawing/2014/main" id="{13BA719D-68DC-C949-BA5E-4FA4FDBAC3A9}"/>
              </a:ext>
            </a:extLst>
          </p:cNvPr>
          <p:cNvSpPr/>
          <p:nvPr/>
        </p:nvSpPr>
        <p:spPr>
          <a:xfrm>
            <a:off x="1854200" y="31496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xLbl">
            <a:extLst>
              <a:ext uri="{FF2B5EF4-FFF2-40B4-BE49-F238E27FC236}">
                <a16:creationId xmlns:a16="http://schemas.microsoft.com/office/drawing/2014/main" id="{B6D0850D-4042-124D-9E79-FF13464C2CC0}"/>
              </a:ext>
            </a:extLst>
          </p:cNvPr>
          <p:cNvSpPr txBox="1"/>
          <p:nvPr/>
        </p:nvSpPr>
        <p:spPr>
          <a:xfrm>
            <a:off x="18542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35" name="Pixel">
            <a:extLst>
              <a:ext uri="{FF2B5EF4-FFF2-40B4-BE49-F238E27FC236}">
                <a16:creationId xmlns:a16="http://schemas.microsoft.com/office/drawing/2014/main" id="{511D5ABE-4694-334A-B99D-6DCC421C3760}"/>
              </a:ext>
            </a:extLst>
          </p:cNvPr>
          <p:cNvSpPr/>
          <p:nvPr/>
        </p:nvSpPr>
        <p:spPr>
          <a:xfrm>
            <a:off x="2565400" y="31496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PxLbl">
            <a:extLst>
              <a:ext uri="{FF2B5EF4-FFF2-40B4-BE49-F238E27FC236}">
                <a16:creationId xmlns:a16="http://schemas.microsoft.com/office/drawing/2014/main" id="{2584AE8D-CECC-0340-9721-1EA6213E0641}"/>
              </a:ext>
            </a:extLst>
          </p:cNvPr>
          <p:cNvSpPr txBox="1"/>
          <p:nvPr/>
        </p:nvSpPr>
        <p:spPr>
          <a:xfrm>
            <a:off x="25654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59" name="Pixel">
            <a:extLst>
              <a:ext uri="{FF2B5EF4-FFF2-40B4-BE49-F238E27FC236}">
                <a16:creationId xmlns:a16="http://schemas.microsoft.com/office/drawing/2014/main" id="{DFE4969B-FAC6-2245-BFA7-7E69A94FB908}"/>
              </a:ext>
            </a:extLst>
          </p:cNvPr>
          <p:cNvSpPr/>
          <p:nvPr/>
        </p:nvSpPr>
        <p:spPr>
          <a:xfrm>
            <a:off x="3276600" y="3149600"/>
            <a:ext cx="711200" cy="7112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PxLbl">
            <a:extLst>
              <a:ext uri="{FF2B5EF4-FFF2-40B4-BE49-F238E27FC236}">
                <a16:creationId xmlns:a16="http://schemas.microsoft.com/office/drawing/2014/main" id="{8E80CD18-E5AE-B441-9ED5-98708E10EFE7}"/>
              </a:ext>
            </a:extLst>
          </p:cNvPr>
          <p:cNvSpPr txBox="1"/>
          <p:nvPr/>
        </p:nvSpPr>
        <p:spPr>
          <a:xfrm>
            <a:off x="32766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250</a:t>
            </a:r>
          </a:p>
        </p:txBody>
      </p:sp>
      <p:sp>
        <p:nvSpPr>
          <p:cNvPr id="61" name="Pixel">
            <a:extLst>
              <a:ext uri="{FF2B5EF4-FFF2-40B4-BE49-F238E27FC236}">
                <a16:creationId xmlns:a16="http://schemas.microsoft.com/office/drawing/2014/main" id="{C3C7156B-B5D9-C140-A634-3EE3C11ED0F4}"/>
              </a:ext>
            </a:extLst>
          </p:cNvPr>
          <p:cNvSpPr/>
          <p:nvPr/>
        </p:nvSpPr>
        <p:spPr>
          <a:xfrm>
            <a:off x="1143000" y="38608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PxLbl">
            <a:extLst>
              <a:ext uri="{FF2B5EF4-FFF2-40B4-BE49-F238E27FC236}">
                <a16:creationId xmlns:a16="http://schemas.microsoft.com/office/drawing/2014/main" id="{7215A3AE-0C37-4947-B313-B15B1F4267DF}"/>
              </a:ext>
            </a:extLst>
          </p:cNvPr>
          <p:cNvSpPr txBox="1"/>
          <p:nvPr/>
        </p:nvSpPr>
        <p:spPr>
          <a:xfrm>
            <a:off x="11430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63" name="Pixel">
            <a:extLst>
              <a:ext uri="{FF2B5EF4-FFF2-40B4-BE49-F238E27FC236}">
                <a16:creationId xmlns:a16="http://schemas.microsoft.com/office/drawing/2014/main" id="{0B46A0E7-3674-5C40-8BBE-9C2152047D6F}"/>
              </a:ext>
            </a:extLst>
          </p:cNvPr>
          <p:cNvSpPr/>
          <p:nvPr/>
        </p:nvSpPr>
        <p:spPr>
          <a:xfrm>
            <a:off x="1854200" y="38608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PxLbl">
            <a:extLst>
              <a:ext uri="{FF2B5EF4-FFF2-40B4-BE49-F238E27FC236}">
                <a16:creationId xmlns:a16="http://schemas.microsoft.com/office/drawing/2014/main" id="{A65F658F-0433-3B49-B5F7-61F8123429F8}"/>
              </a:ext>
            </a:extLst>
          </p:cNvPr>
          <p:cNvSpPr txBox="1"/>
          <p:nvPr/>
        </p:nvSpPr>
        <p:spPr>
          <a:xfrm>
            <a:off x="18542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65" name="Pixel">
            <a:extLst>
              <a:ext uri="{FF2B5EF4-FFF2-40B4-BE49-F238E27FC236}">
                <a16:creationId xmlns:a16="http://schemas.microsoft.com/office/drawing/2014/main" id="{4506CDC1-DE9C-A449-817E-40750F642D34}"/>
              </a:ext>
            </a:extLst>
          </p:cNvPr>
          <p:cNvSpPr/>
          <p:nvPr/>
        </p:nvSpPr>
        <p:spPr>
          <a:xfrm>
            <a:off x="2565400" y="3860800"/>
            <a:ext cx="711200" cy="7112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PxLbl">
            <a:extLst>
              <a:ext uri="{FF2B5EF4-FFF2-40B4-BE49-F238E27FC236}">
                <a16:creationId xmlns:a16="http://schemas.microsoft.com/office/drawing/2014/main" id="{EA9C7F20-8EFF-624F-87B3-F74D53473139}"/>
              </a:ext>
            </a:extLst>
          </p:cNvPr>
          <p:cNvSpPr txBox="1"/>
          <p:nvPr/>
        </p:nvSpPr>
        <p:spPr>
          <a:xfrm>
            <a:off x="25654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250</a:t>
            </a:r>
          </a:p>
        </p:txBody>
      </p:sp>
      <p:sp>
        <p:nvSpPr>
          <p:cNvPr id="67" name="Pixel">
            <a:extLst>
              <a:ext uri="{FF2B5EF4-FFF2-40B4-BE49-F238E27FC236}">
                <a16:creationId xmlns:a16="http://schemas.microsoft.com/office/drawing/2014/main" id="{2BEC8A51-9E61-954E-BAD7-378625B698A1}"/>
              </a:ext>
            </a:extLst>
          </p:cNvPr>
          <p:cNvSpPr/>
          <p:nvPr/>
        </p:nvSpPr>
        <p:spPr>
          <a:xfrm>
            <a:off x="3276600" y="3860800"/>
            <a:ext cx="711200" cy="7112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PxLbl">
            <a:extLst>
              <a:ext uri="{FF2B5EF4-FFF2-40B4-BE49-F238E27FC236}">
                <a16:creationId xmlns:a16="http://schemas.microsoft.com/office/drawing/2014/main" id="{6736375A-1ECE-114E-B4BF-585E1102A746}"/>
              </a:ext>
            </a:extLst>
          </p:cNvPr>
          <p:cNvSpPr txBox="1"/>
          <p:nvPr/>
        </p:nvSpPr>
        <p:spPr>
          <a:xfrm>
            <a:off x="32766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255</a:t>
            </a:r>
          </a:p>
        </p:txBody>
      </p:sp>
      <p:sp>
        <p:nvSpPr>
          <p:cNvPr id="69" name="ColIdx">
            <a:extLst>
              <a:ext uri="{FF2B5EF4-FFF2-40B4-BE49-F238E27FC236}">
                <a16:creationId xmlns:a16="http://schemas.microsoft.com/office/drawing/2014/main" id="{2ABDEEEC-C445-6C4D-A432-E778E323BE87}"/>
              </a:ext>
            </a:extLst>
          </p:cNvPr>
          <p:cNvSpPr txBox="1"/>
          <p:nvPr/>
        </p:nvSpPr>
        <p:spPr>
          <a:xfrm>
            <a:off x="11430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0" name="ColIdx">
            <a:extLst>
              <a:ext uri="{FF2B5EF4-FFF2-40B4-BE49-F238E27FC236}">
                <a16:creationId xmlns:a16="http://schemas.microsoft.com/office/drawing/2014/main" id="{98D4B928-DD02-1541-8E2E-B0686981989E}"/>
              </a:ext>
            </a:extLst>
          </p:cNvPr>
          <p:cNvSpPr txBox="1"/>
          <p:nvPr/>
        </p:nvSpPr>
        <p:spPr>
          <a:xfrm>
            <a:off x="18542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1" name="ColIdx">
            <a:extLst>
              <a:ext uri="{FF2B5EF4-FFF2-40B4-BE49-F238E27FC236}">
                <a16:creationId xmlns:a16="http://schemas.microsoft.com/office/drawing/2014/main" id="{A1044346-5628-0846-9C5A-BA248C79AD80}"/>
              </a:ext>
            </a:extLst>
          </p:cNvPr>
          <p:cNvSpPr txBox="1"/>
          <p:nvPr/>
        </p:nvSpPr>
        <p:spPr>
          <a:xfrm>
            <a:off x="25654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2" name="ColIdx">
            <a:extLst>
              <a:ext uri="{FF2B5EF4-FFF2-40B4-BE49-F238E27FC236}">
                <a16:creationId xmlns:a16="http://schemas.microsoft.com/office/drawing/2014/main" id="{DE7D8F5A-ED18-D94C-BEFA-EA7234D2E1DD}"/>
              </a:ext>
            </a:extLst>
          </p:cNvPr>
          <p:cNvSpPr txBox="1"/>
          <p:nvPr/>
        </p:nvSpPr>
        <p:spPr>
          <a:xfrm>
            <a:off x="32766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3" name="RowIdx">
            <a:extLst>
              <a:ext uri="{FF2B5EF4-FFF2-40B4-BE49-F238E27FC236}">
                <a16:creationId xmlns:a16="http://schemas.microsoft.com/office/drawing/2014/main" id="{50D4BC6B-DB4B-C24A-8046-DDF4FADE4ED0}"/>
              </a:ext>
            </a:extLst>
          </p:cNvPr>
          <p:cNvSpPr txBox="1"/>
          <p:nvPr/>
        </p:nvSpPr>
        <p:spPr>
          <a:xfrm>
            <a:off x="863600" y="19939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4" name="RowIdx">
            <a:extLst>
              <a:ext uri="{FF2B5EF4-FFF2-40B4-BE49-F238E27FC236}">
                <a16:creationId xmlns:a16="http://schemas.microsoft.com/office/drawing/2014/main" id="{166E64C8-6482-FC4C-8C7C-152FEB720101}"/>
              </a:ext>
            </a:extLst>
          </p:cNvPr>
          <p:cNvSpPr txBox="1"/>
          <p:nvPr/>
        </p:nvSpPr>
        <p:spPr>
          <a:xfrm>
            <a:off x="863600" y="27051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5" name="RowIdx">
            <a:extLst>
              <a:ext uri="{FF2B5EF4-FFF2-40B4-BE49-F238E27FC236}">
                <a16:creationId xmlns:a16="http://schemas.microsoft.com/office/drawing/2014/main" id="{31522774-8BF9-EA4C-BC5E-45182FE56E27}"/>
              </a:ext>
            </a:extLst>
          </p:cNvPr>
          <p:cNvSpPr txBox="1"/>
          <p:nvPr/>
        </p:nvSpPr>
        <p:spPr>
          <a:xfrm>
            <a:off x="863600" y="34163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6" name="RowIdx">
            <a:extLst>
              <a:ext uri="{FF2B5EF4-FFF2-40B4-BE49-F238E27FC236}">
                <a16:creationId xmlns:a16="http://schemas.microsoft.com/office/drawing/2014/main" id="{CC20BB85-B523-0943-AD34-EADE1147C61C}"/>
              </a:ext>
            </a:extLst>
          </p:cNvPr>
          <p:cNvSpPr txBox="1"/>
          <p:nvPr/>
        </p:nvSpPr>
        <p:spPr>
          <a:xfrm>
            <a:off x="863600" y="41275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7" name="GridCap">
            <a:extLst>
              <a:ext uri="{FF2B5EF4-FFF2-40B4-BE49-F238E27FC236}">
                <a16:creationId xmlns:a16="http://schemas.microsoft.com/office/drawing/2014/main" id="{BC96EC8C-A2A4-8A4D-B76F-5CEB2A09A6E0}"/>
              </a:ext>
            </a:extLst>
          </p:cNvPr>
          <p:cNvSpPr txBox="1"/>
          <p:nvPr/>
        </p:nvSpPr>
        <p:spPr>
          <a:xfrm>
            <a:off x="558800" y="52832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16 pixels — each one a brightness value in [0, 255]</a:t>
            </a:r>
          </a:p>
        </p:txBody>
      </p:sp>
      <p:sp>
        <p:nvSpPr>
          <p:cNvPr id="78" name="EncodeArrow">
            <a:extLst>
              <a:ext uri="{FF2B5EF4-FFF2-40B4-BE49-F238E27FC236}">
                <a16:creationId xmlns:a16="http://schemas.microsoft.com/office/drawing/2014/main" id="{335FABD7-2911-F545-86B3-18CFA9F2EF28}"/>
              </a:ext>
            </a:extLst>
          </p:cNvPr>
          <p:cNvSpPr/>
          <p:nvPr/>
        </p:nvSpPr>
        <p:spPr>
          <a:xfrm>
            <a:off x="5715000" y="2984500"/>
            <a:ext cx="1016000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9" name="ArrowLbl">
            <a:extLst>
              <a:ext uri="{FF2B5EF4-FFF2-40B4-BE49-F238E27FC236}">
                <a16:creationId xmlns:a16="http://schemas.microsoft.com/office/drawing/2014/main" id="{DFC8017A-125F-EF4D-8EA6-A2E439B266EE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80" name="RightPanel">
            <a:extLst>
              <a:ext uri="{FF2B5EF4-FFF2-40B4-BE49-F238E27FC236}">
                <a16:creationId xmlns:a16="http://schemas.microsoft.com/office/drawing/2014/main" id="{D3BA3FC4-3708-384E-8243-9CB54ADA24C0}"/>
              </a:ext>
            </a:extLst>
          </p:cNvPr>
          <p:cNvSpPr/>
          <p:nvPr/>
        </p:nvSpPr>
        <p:spPr>
          <a:xfrm>
            <a:off x="6921500" y="1270000"/>
            <a:ext cx="49784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3" name="RightHdr">
            <a:extLst>
              <a:ext uri="{FF2B5EF4-FFF2-40B4-BE49-F238E27FC236}">
                <a16:creationId xmlns:a16="http://schemas.microsoft.com/office/drawing/2014/main" id="{D8504769-A737-9346-80B9-5493F7D0B2E7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134" name="Gname">
            <a:extLst>
              <a:ext uri="{FF2B5EF4-FFF2-40B4-BE49-F238E27FC236}">
                <a16:creationId xmlns:a16="http://schemas.microsoft.com/office/drawing/2014/main" id="{2BA65315-A3C5-B44A-AEAD-593E8ACFC83A}"/>
              </a:ext>
            </a:extLst>
          </p:cNvPr>
          <p:cNvSpPr txBox="1"/>
          <p:nvPr/>
        </p:nvSpPr>
        <p:spPr>
          <a:xfrm>
            <a:off x="7150100" y="2667000"/>
            <a:ext cx="101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i="1">
                <a:solidFill>
                  <a:srgbClr val="4B2E83"/>
                </a:solidFill>
                <a:latin typeface="Cambria Math"/>
                <a:ea typeface="Cambria Math"/>
              </a:rPr>
              <a:t>G =</a:t>
            </a:r>
          </a:p>
        </p:txBody>
      </p:sp>
      <p:sp>
        <p:nvSpPr>
          <p:cNvPr id="135" name="LeftBracket">
            <a:extLst>
              <a:ext uri="{FF2B5EF4-FFF2-40B4-BE49-F238E27FC236}">
                <a16:creationId xmlns:a16="http://schemas.microsoft.com/office/drawing/2014/main" id="{B8D3D65D-A54D-9045-806C-CAAA39E72596}"/>
              </a:ext>
            </a:extLst>
          </p:cNvPr>
          <p:cNvSpPr/>
          <p:nvPr/>
        </p:nvSpPr>
        <p:spPr>
          <a:xfrm>
            <a:off x="8318500" y="2159000"/>
            <a:ext cx="203200" cy="2540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6" name="RightBracket">
            <a:extLst>
              <a:ext uri="{FF2B5EF4-FFF2-40B4-BE49-F238E27FC236}">
                <a16:creationId xmlns:a16="http://schemas.microsoft.com/office/drawing/2014/main" id="{FB8E815A-8F46-BC4E-B95E-E01098DD166D}"/>
              </a:ext>
            </a:extLst>
          </p:cNvPr>
          <p:cNvSpPr/>
          <p:nvPr/>
        </p:nvSpPr>
        <p:spPr>
          <a:xfrm>
            <a:off x="11417300" y="2159000"/>
            <a:ext cx="203200" cy="2540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7" name="Mval">
            <a:extLst>
              <a:ext uri="{FF2B5EF4-FFF2-40B4-BE49-F238E27FC236}">
                <a16:creationId xmlns:a16="http://schemas.microsoft.com/office/drawing/2014/main" id="{D7853FA0-84F3-5D4F-A1CD-575164270E1F}"/>
              </a:ext>
            </a:extLst>
          </p:cNvPr>
          <p:cNvSpPr txBox="1"/>
          <p:nvPr/>
        </p:nvSpPr>
        <p:spPr>
          <a:xfrm>
            <a:off x="85725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30</a:t>
            </a:r>
          </a:p>
        </p:txBody>
      </p:sp>
      <p:sp>
        <p:nvSpPr>
          <p:cNvPr id="138" name="Mval">
            <a:extLst>
              <a:ext uri="{FF2B5EF4-FFF2-40B4-BE49-F238E27FC236}">
                <a16:creationId xmlns:a16="http://schemas.microsoft.com/office/drawing/2014/main" id="{44840FE9-5F31-E246-AB47-7F38D4E41299}"/>
              </a:ext>
            </a:extLst>
          </p:cNvPr>
          <p:cNvSpPr txBox="1"/>
          <p:nvPr/>
        </p:nvSpPr>
        <p:spPr>
          <a:xfrm>
            <a:off x="92837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60</a:t>
            </a:r>
          </a:p>
        </p:txBody>
      </p:sp>
      <p:sp>
        <p:nvSpPr>
          <p:cNvPr id="139" name="Mval">
            <a:extLst>
              <a:ext uri="{FF2B5EF4-FFF2-40B4-BE49-F238E27FC236}">
                <a16:creationId xmlns:a16="http://schemas.microsoft.com/office/drawing/2014/main" id="{50C4103A-C5D6-AA4D-A077-A57B6B160377}"/>
              </a:ext>
            </a:extLst>
          </p:cNvPr>
          <p:cNvSpPr txBox="1"/>
          <p:nvPr/>
        </p:nvSpPr>
        <p:spPr>
          <a:xfrm>
            <a:off x="99949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0" name="Mval">
            <a:extLst>
              <a:ext uri="{FF2B5EF4-FFF2-40B4-BE49-F238E27FC236}">
                <a16:creationId xmlns:a16="http://schemas.microsoft.com/office/drawing/2014/main" id="{05B26381-1931-A14B-892B-9E21EAE4FB72}"/>
              </a:ext>
            </a:extLst>
          </p:cNvPr>
          <p:cNvSpPr txBox="1"/>
          <p:nvPr/>
        </p:nvSpPr>
        <p:spPr>
          <a:xfrm>
            <a:off x="107061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1" name="Mval">
            <a:extLst>
              <a:ext uri="{FF2B5EF4-FFF2-40B4-BE49-F238E27FC236}">
                <a16:creationId xmlns:a16="http://schemas.microsoft.com/office/drawing/2014/main" id="{D75CF460-D958-9644-A626-51222730F09E}"/>
              </a:ext>
            </a:extLst>
          </p:cNvPr>
          <p:cNvSpPr txBox="1"/>
          <p:nvPr/>
        </p:nvSpPr>
        <p:spPr>
          <a:xfrm>
            <a:off x="85725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60</a:t>
            </a:r>
          </a:p>
        </p:txBody>
      </p:sp>
      <p:sp>
        <p:nvSpPr>
          <p:cNvPr id="142" name="Mval">
            <a:extLst>
              <a:ext uri="{FF2B5EF4-FFF2-40B4-BE49-F238E27FC236}">
                <a16:creationId xmlns:a16="http://schemas.microsoft.com/office/drawing/2014/main" id="{0427AEFF-A807-D242-A0B1-C540EC975E7A}"/>
              </a:ext>
            </a:extLst>
          </p:cNvPr>
          <p:cNvSpPr txBox="1"/>
          <p:nvPr/>
        </p:nvSpPr>
        <p:spPr>
          <a:xfrm>
            <a:off x="92837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3" name="Mval">
            <a:extLst>
              <a:ext uri="{FF2B5EF4-FFF2-40B4-BE49-F238E27FC236}">
                <a16:creationId xmlns:a16="http://schemas.microsoft.com/office/drawing/2014/main" id="{3EC976DC-93C8-2C4B-BB30-4026B0A3980F}"/>
              </a:ext>
            </a:extLst>
          </p:cNvPr>
          <p:cNvSpPr txBox="1"/>
          <p:nvPr/>
        </p:nvSpPr>
        <p:spPr>
          <a:xfrm>
            <a:off x="99949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4" name="Mval">
            <a:extLst>
              <a:ext uri="{FF2B5EF4-FFF2-40B4-BE49-F238E27FC236}">
                <a16:creationId xmlns:a16="http://schemas.microsoft.com/office/drawing/2014/main" id="{9A904985-F1BE-BD47-B910-1B57C6D60C2F}"/>
              </a:ext>
            </a:extLst>
          </p:cNvPr>
          <p:cNvSpPr txBox="1"/>
          <p:nvPr/>
        </p:nvSpPr>
        <p:spPr>
          <a:xfrm>
            <a:off x="107061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45" name="Mval">
            <a:extLst>
              <a:ext uri="{FF2B5EF4-FFF2-40B4-BE49-F238E27FC236}">
                <a16:creationId xmlns:a16="http://schemas.microsoft.com/office/drawing/2014/main" id="{13EEF463-E912-634E-8239-028C7EC2E494}"/>
              </a:ext>
            </a:extLst>
          </p:cNvPr>
          <p:cNvSpPr txBox="1"/>
          <p:nvPr/>
        </p:nvSpPr>
        <p:spPr>
          <a:xfrm>
            <a:off x="85725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6" name="Mval">
            <a:extLst>
              <a:ext uri="{FF2B5EF4-FFF2-40B4-BE49-F238E27FC236}">
                <a16:creationId xmlns:a16="http://schemas.microsoft.com/office/drawing/2014/main" id="{8A39B1F1-F352-3349-8F89-47106BD0E73C}"/>
              </a:ext>
            </a:extLst>
          </p:cNvPr>
          <p:cNvSpPr txBox="1"/>
          <p:nvPr/>
        </p:nvSpPr>
        <p:spPr>
          <a:xfrm>
            <a:off x="92837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7" name="Mval">
            <a:extLst>
              <a:ext uri="{FF2B5EF4-FFF2-40B4-BE49-F238E27FC236}">
                <a16:creationId xmlns:a16="http://schemas.microsoft.com/office/drawing/2014/main" id="{ED4C4D48-8C09-5442-AB0C-210866A91B94}"/>
              </a:ext>
            </a:extLst>
          </p:cNvPr>
          <p:cNvSpPr txBox="1"/>
          <p:nvPr/>
        </p:nvSpPr>
        <p:spPr>
          <a:xfrm>
            <a:off x="99949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48" name="Mval">
            <a:extLst>
              <a:ext uri="{FF2B5EF4-FFF2-40B4-BE49-F238E27FC236}">
                <a16:creationId xmlns:a16="http://schemas.microsoft.com/office/drawing/2014/main" id="{66355710-23BB-D944-9855-BA6AE317151A}"/>
              </a:ext>
            </a:extLst>
          </p:cNvPr>
          <p:cNvSpPr txBox="1"/>
          <p:nvPr/>
        </p:nvSpPr>
        <p:spPr>
          <a:xfrm>
            <a:off x="107061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250</a:t>
            </a:r>
          </a:p>
        </p:txBody>
      </p:sp>
      <p:sp>
        <p:nvSpPr>
          <p:cNvPr id="149" name="Mval">
            <a:extLst>
              <a:ext uri="{FF2B5EF4-FFF2-40B4-BE49-F238E27FC236}">
                <a16:creationId xmlns:a16="http://schemas.microsoft.com/office/drawing/2014/main" id="{32DED92E-A0F4-CB4C-BDB9-02724E649352}"/>
              </a:ext>
            </a:extLst>
          </p:cNvPr>
          <p:cNvSpPr txBox="1"/>
          <p:nvPr/>
        </p:nvSpPr>
        <p:spPr>
          <a:xfrm>
            <a:off x="85725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50" name="Mval">
            <a:extLst>
              <a:ext uri="{FF2B5EF4-FFF2-40B4-BE49-F238E27FC236}">
                <a16:creationId xmlns:a16="http://schemas.microsoft.com/office/drawing/2014/main" id="{ECA8874B-ABF3-AE4A-BB31-5220699BCD5A}"/>
              </a:ext>
            </a:extLst>
          </p:cNvPr>
          <p:cNvSpPr txBox="1"/>
          <p:nvPr/>
        </p:nvSpPr>
        <p:spPr>
          <a:xfrm>
            <a:off x="92837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51" name="Mval">
            <a:extLst>
              <a:ext uri="{FF2B5EF4-FFF2-40B4-BE49-F238E27FC236}">
                <a16:creationId xmlns:a16="http://schemas.microsoft.com/office/drawing/2014/main" id="{4C46E4C0-E058-8444-A6A6-F4D563370DFC}"/>
              </a:ext>
            </a:extLst>
          </p:cNvPr>
          <p:cNvSpPr txBox="1"/>
          <p:nvPr/>
        </p:nvSpPr>
        <p:spPr>
          <a:xfrm>
            <a:off x="99949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250</a:t>
            </a:r>
          </a:p>
        </p:txBody>
      </p:sp>
      <p:sp>
        <p:nvSpPr>
          <p:cNvPr id="152" name="Mval">
            <a:extLst>
              <a:ext uri="{FF2B5EF4-FFF2-40B4-BE49-F238E27FC236}">
                <a16:creationId xmlns:a16="http://schemas.microsoft.com/office/drawing/2014/main" id="{EF9CB73E-CB62-3B45-9BD7-FDD0B7FA87AE}"/>
              </a:ext>
            </a:extLst>
          </p:cNvPr>
          <p:cNvSpPr txBox="1"/>
          <p:nvPr/>
        </p:nvSpPr>
        <p:spPr>
          <a:xfrm>
            <a:off x="107061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255</a:t>
            </a:r>
          </a:p>
        </p:txBody>
      </p:sp>
      <p:sp>
        <p:nvSpPr>
          <p:cNvPr id="153" name="DimCap">
            <a:extLst>
              <a:ext uri="{FF2B5EF4-FFF2-40B4-BE49-F238E27FC236}">
                <a16:creationId xmlns:a16="http://schemas.microsoft.com/office/drawing/2014/main" id="{3C360AC8-6D3C-AD4D-932F-4A36B9E5FF7B}"/>
              </a:ext>
            </a:extLst>
          </p:cNvPr>
          <p:cNvSpPr txBox="1"/>
          <p:nvPr/>
        </p:nvSpPr>
        <p:spPr>
          <a:xfrm>
            <a:off x="7099300" y="50800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00A7B5"/>
                </a:solidFill>
                <a:latin typeface="Cambria Math"/>
                <a:ea typeface="Cambria Math"/>
              </a:rPr>
              <a:t>G ∈ ℝ⁴ˣ⁴,   dim(G) = 4 × 4   (height × width)</a:t>
            </a:r>
          </a:p>
        </p:txBody>
      </p:sp>
      <p:sp>
        <p:nvSpPr>
          <p:cNvPr id="154" name="Interp">
            <a:extLst>
              <a:ext uri="{FF2B5EF4-FFF2-40B4-BE49-F238E27FC236}">
                <a16:creationId xmlns:a16="http://schemas.microsoft.com/office/drawing/2014/main" id="{3FAC2293-04FE-2040-A057-6B34F9C57A1B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Row r, column c → brightness of pixel at (r, c)</a:t>
            </a:r>
          </a:p>
        </p:txBody>
      </p:sp>
      <p:sp>
        <p:nvSpPr>
          <p:cNvPr id="155" name="TkBar">
            <a:extLst>
              <a:ext uri="{FF2B5EF4-FFF2-40B4-BE49-F238E27FC236}">
                <a16:creationId xmlns:a16="http://schemas.microsoft.com/office/drawing/2014/main" id="{9B881893-7925-5244-93DA-8CAE5DEFAC9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6" name="TkText">
            <a:extLst>
              <a:ext uri="{FF2B5EF4-FFF2-40B4-BE49-F238E27FC236}">
                <a16:creationId xmlns:a16="http://schemas.microsoft.com/office/drawing/2014/main" id="{33B17D2F-B7B5-1040-AD78-D96304FA8C6E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An image is a matrix of pixel intensities — every digital photo, MRI scan or satellite tile is one of these.</a:t>
            </a:r>
          </a:p>
        </p:txBody>
      </p:sp>
    </p:spTree>
    <p:extLst>
      <p:ext uri="{BB962C8B-B14F-4D97-AF65-F5344CB8AC3E}">
        <p14:creationId xmlns:p14="http://schemas.microsoft.com/office/powerpoint/2010/main" val="2810242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0DB6C51-F151-9143-A79D-0AEBF4AE6C8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1618D6F-D5BD-D142-B2CD-14E2A134DCD1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Notation conventions — how we write vectors and matrices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66824262-C59A-DC4A-9D72-A8D5B47CE0B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A small set of typographic habits that saves a lot of confusion later.</a:t>
            </a:r>
          </a:p>
        </p:txBody>
      </p:sp>
      <p:sp>
        <p:nvSpPr>
          <p:cNvPr id="5" name="ScalarCard">
            <a:extLst>
              <a:ext uri="{FF2B5EF4-FFF2-40B4-BE49-F238E27FC236}">
                <a16:creationId xmlns:a16="http://schemas.microsoft.com/office/drawing/2014/main" id="{94679332-3E5A-D940-AE6A-FE8872187A64}"/>
              </a:ext>
            </a:extLst>
          </p:cNvPr>
          <p:cNvSpPr/>
          <p:nvPr/>
        </p:nvSpPr>
        <p:spPr>
          <a:xfrm>
            <a:off x="3810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ScalarHdr">
            <a:extLst>
              <a:ext uri="{FF2B5EF4-FFF2-40B4-BE49-F238E27FC236}">
                <a16:creationId xmlns:a16="http://schemas.microsoft.com/office/drawing/2014/main" id="{95CB9452-8B84-1B48-A169-3372FBB63BBD}"/>
              </a:ext>
            </a:extLst>
          </p:cNvPr>
          <p:cNvSpPr/>
          <p:nvPr/>
        </p:nvSpPr>
        <p:spPr>
          <a:xfrm>
            <a:off x="381000" y="1270000"/>
            <a:ext cx="37465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ScalarHdrT">
            <a:extLst>
              <a:ext uri="{FF2B5EF4-FFF2-40B4-BE49-F238E27FC236}">
                <a16:creationId xmlns:a16="http://schemas.microsoft.com/office/drawing/2014/main" id="{34D6E679-EBB7-4F40-8EBE-EC0CED0025AC}"/>
              </a:ext>
            </a:extLst>
          </p:cNvPr>
          <p:cNvSpPr txBox="1"/>
          <p:nvPr/>
        </p:nvSpPr>
        <p:spPr>
          <a:xfrm>
            <a:off x="3810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Scalar</a:t>
            </a:r>
          </a:p>
        </p:txBody>
      </p:sp>
      <p:sp>
        <p:nvSpPr>
          <p:cNvPr id="8" name="ScalarSym">
            <a:extLst>
              <a:ext uri="{FF2B5EF4-FFF2-40B4-BE49-F238E27FC236}">
                <a16:creationId xmlns:a16="http://schemas.microsoft.com/office/drawing/2014/main" id="{803D0CF1-F00B-4B43-BA24-4AC92A449FEF}"/>
              </a:ext>
            </a:extLst>
          </p:cNvPr>
          <p:cNvSpPr txBox="1"/>
          <p:nvPr/>
        </p:nvSpPr>
        <p:spPr>
          <a:xfrm>
            <a:off x="381000" y="1905000"/>
            <a:ext cx="37465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i="1" dirty="0">
                <a:solidFill>
                  <a:srgbClr val="B7A57A"/>
                </a:solidFill>
                <a:latin typeface="Cambria Math"/>
                <a:ea typeface="Cambria Math"/>
              </a:rPr>
              <a:t>c</a:t>
            </a:r>
          </a:p>
        </p:txBody>
      </p:sp>
      <p:sp>
        <p:nvSpPr>
          <p:cNvPr id="9" name="ScalarRule">
            <a:extLst>
              <a:ext uri="{FF2B5EF4-FFF2-40B4-BE49-F238E27FC236}">
                <a16:creationId xmlns:a16="http://schemas.microsoft.com/office/drawing/2014/main" id="{3EC40318-FE1D-B34E-BBFC-F0E5BF25E792}"/>
              </a:ext>
            </a:extLst>
          </p:cNvPr>
          <p:cNvSpPr txBox="1"/>
          <p:nvPr/>
        </p:nvSpPr>
        <p:spPr>
          <a:xfrm>
            <a:off x="5588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lowercase italic</a:t>
            </a:r>
          </a:p>
        </p:txBody>
      </p:sp>
      <p:sp>
        <p:nvSpPr>
          <p:cNvPr id="10" name="ScalarEx1">
            <a:extLst>
              <a:ext uri="{FF2B5EF4-FFF2-40B4-BE49-F238E27FC236}">
                <a16:creationId xmlns:a16="http://schemas.microsoft.com/office/drawing/2014/main" id="{A1544D8E-22E0-2945-825B-83893FFF2195}"/>
              </a:ext>
            </a:extLst>
          </p:cNvPr>
          <p:cNvSpPr txBox="1"/>
          <p:nvPr/>
        </p:nvSpPr>
        <p:spPr>
          <a:xfrm>
            <a:off x="558800" y="3048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mbria Math"/>
                <a:ea typeface="Cambria Math"/>
              </a:rPr>
              <a:t>c= 3.14,  </a:t>
            </a:r>
            <a:r>
              <a:rPr lang="el-GR" sz="1300" i="1" dirty="0">
                <a:solidFill>
                  <a:srgbClr val="333333"/>
                </a:solidFill>
                <a:latin typeface="Cambria Math"/>
                <a:ea typeface="Cambria Math"/>
              </a:rPr>
              <a:t>α = 0.5,  </a:t>
            </a:r>
            <a:r>
              <a:rPr lang="en-US" sz="1300" i="1" dirty="0">
                <a:solidFill>
                  <a:srgbClr val="333333"/>
                </a:solidFill>
                <a:latin typeface="Cambria Math"/>
                <a:ea typeface="Cambria Math"/>
              </a:rPr>
              <a:t>n =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calarType">
                <a:extLst>
                  <a:ext uri="{FF2B5EF4-FFF2-40B4-BE49-F238E27FC236}">
                    <a16:creationId xmlns:a16="http://schemas.microsoft.com/office/drawing/2014/main" id="{BDEB7122-BA95-114D-A500-533239656CE5}"/>
                  </a:ext>
                </a:extLst>
              </p:cNvPr>
              <p:cNvSpPr txBox="1"/>
              <p:nvPr/>
            </p:nvSpPr>
            <p:spPr>
              <a:xfrm>
                <a:off x="5588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𝑐</m:t>
                      </m:r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∈</m:t>
                      </m:r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ℝ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ScalarType">
                <a:extLst>
                  <a:ext uri="{FF2B5EF4-FFF2-40B4-BE49-F238E27FC236}">
                    <a16:creationId xmlns:a16="http://schemas.microsoft.com/office/drawing/2014/main" id="{BDEB7122-BA95-114D-A500-533239656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365500"/>
                <a:ext cx="3390900" cy="254000"/>
              </a:xfrm>
              <a:prstGeom prst="rect">
                <a:avLst/>
              </a:prstGeom>
              <a:blipFill>
                <a:blip r:embed="rId2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calarDim">
            <a:extLst>
              <a:ext uri="{FF2B5EF4-FFF2-40B4-BE49-F238E27FC236}">
                <a16:creationId xmlns:a16="http://schemas.microsoft.com/office/drawing/2014/main" id="{9F11B54D-06D5-2241-AFF1-FB409A42404C}"/>
              </a:ext>
            </a:extLst>
          </p:cNvPr>
          <p:cNvSpPr txBox="1"/>
          <p:nvPr/>
        </p:nvSpPr>
        <p:spPr>
          <a:xfrm>
            <a:off x="5588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dim(x) = 1   (one number)</a:t>
            </a:r>
          </a:p>
        </p:txBody>
      </p:sp>
      <p:sp>
        <p:nvSpPr>
          <p:cNvPr id="13" name="VecCard">
            <a:extLst>
              <a:ext uri="{FF2B5EF4-FFF2-40B4-BE49-F238E27FC236}">
                <a16:creationId xmlns:a16="http://schemas.microsoft.com/office/drawing/2014/main" id="{294E67EE-02CC-8C48-B2FB-CCB93D4AB93A}"/>
              </a:ext>
            </a:extLst>
          </p:cNvPr>
          <p:cNvSpPr/>
          <p:nvPr/>
        </p:nvSpPr>
        <p:spPr>
          <a:xfrm>
            <a:off x="42799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Hdr">
            <a:extLst>
              <a:ext uri="{FF2B5EF4-FFF2-40B4-BE49-F238E27FC236}">
                <a16:creationId xmlns:a16="http://schemas.microsoft.com/office/drawing/2014/main" id="{8A68B115-3401-854B-98BC-D80720074773}"/>
              </a:ext>
            </a:extLst>
          </p:cNvPr>
          <p:cNvSpPr/>
          <p:nvPr/>
        </p:nvSpPr>
        <p:spPr>
          <a:xfrm>
            <a:off x="4279900" y="1270000"/>
            <a:ext cx="37465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VecHdrT">
            <a:extLst>
              <a:ext uri="{FF2B5EF4-FFF2-40B4-BE49-F238E27FC236}">
                <a16:creationId xmlns:a16="http://schemas.microsoft.com/office/drawing/2014/main" id="{3DBE0741-99A7-0740-BDFC-D9262E796218}"/>
              </a:ext>
            </a:extLst>
          </p:cNvPr>
          <p:cNvSpPr txBox="1"/>
          <p:nvPr/>
        </p:nvSpPr>
        <p:spPr>
          <a:xfrm>
            <a:off x="42799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Vector</a:t>
            </a:r>
          </a:p>
        </p:txBody>
      </p:sp>
      <p:sp>
        <p:nvSpPr>
          <p:cNvPr id="16" name="VecSym">
            <a:extLst>
              <a:ext uri="{FF2B5EF4-FFF2-40B4-BE49-F238E27FC236}">
                <a16:creationId xmlns:a16="http://schemas.microsoft.com/office/drawing/2014/main" id="{EA8AEDFA-3B4D-D34D-9696-353698EFED87}"/>
              </a:ext>
            </a:extLst>
          </p:cNvPr>
          <p:cNvSpPr txBox="1"/>
          <p:nvPr/>
        </p:nvSpPr>
        <p:spPr>
          <a:xfrm>
            <a:off x="4279900" y="1854200"/>
            <a:ext cx="3746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b="1">
                <a:solidFill>
                  <a:srgbClr val="00A7B5"/>
                </a:solidFill>
                <a:latin typeface="Cambria Math"/>
                <a:ea typeface="Cambria Math"/>
              </a:rPr>
              <a:t>𝐯</a:t>
            </a:r>
          </a:p>
        </p:txBody>
      </p:sp>
      <p:sp>
        <p:nvSpPr>
          <p:cNvPr id="17" name="VecRule">
            <a:extLst>
              <a:ext uri="{FF2B5EF4-FFF2-40B4-BE49-F238E27FC236}">
                <a16:creationId xmlns:a16="http://schemas.microsoft.com/office/drawing/2014/main" id="{E8AB2F51-3228-FF40-8EEA-241882B640BE}"/>
              </a:ext>
            </a:extLst>
          </p:cNvPr>
          <p:cNvSpPr txBox="1"/>
          <p:nvPr/>
        </p:nvSpPr>
        <p:spPr>
          <a:xfrm>
            <a:off x="44577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bold lowercase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VecEx1">
                <a:extLst>
                  <a:ext uri="{FF2B5EF4-FFF2-40B4-BE49-F238E27FC236}">
                    <a16:creationId xmlns:a16="http://schemas.microsoft.com/office/drawing/2014/main" id="{3B564558-F176-CB41-8C29-3C278783345D}"/>
                  </a:ext>
                </a:extLst>
              </p:cNvPr>
              <p:cNvSpPr txBox="1"/>
              <p:nvPr/>
            </p:nvSpPr>
            <p:spPr>
              <a:xfrm>
                <a:off x="4457700" y="3048000"/>
                <a:ext cx="3390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=(3,−4),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𝒙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VecEx1">
                <a:extLst>
                  <a:ext uri="{FF2B5EF4-FFF2-40B4-BE49-F238E27FC236}">
                    <a16:creationId xmlns:a16="http://schemas.microsoft.com/office/drawing/2014/main" id="{3B564558-F176-CB41-8C29-3C2787833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3048000"/>
                <a:ext cx="3390900" cy="228600"/>
              </a:xfrm>
              <a:prstGeom prst="rect">
                <a:avLst/>
              </a:prstGeom>
              <a:blipFill>
                <a:blip r:embed="rId3"/>
                <a:stretch>
                  <a:fillRect b="-7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VecType">
                <a:extLst>
                  <a:ext uri="{FF2B5EF4-FFF2-40B4-BE49-F238E27FC236}">
                    <a16:creationId xmlns:a16="http://schemas.microsoft.com/office/drawing/2014/main" id="{84A418E0-DECC-5643-B896-0112205DE470}"/>
                  </a:ext>
                </a:extLst>
              </p:cNvPr>
              <p:cNvSpPr txBox="1"/>
              <p:nvPr/>
            </p:nvSpPr>
            <p:spPr>
              <a:xfrm>
                <a:off x="44577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VecType">
                <a:extLst>
                  <a:ext uri="{FF2B5EF4-FFF2-40B4-BE49-F238E27FC236}">
                    <a16:creationId xmlns:a16="http://schemas.microsoft.com/office/drawing/2014/main" id="{84A418E0-DECC-5643-B896-0112205DE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3365500"/>
                <a:ext cx="3390900" cy="254000"/>
              </a:xfrm>
              <a:prstGeom prst="rect">
                <a:avLst/>
              </a:prstGeom>
              <a:blipFill>
                <a:blip r:embed="rId4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VecDim">
            <a:extLst>
              <a:ext uri="{FF2B5EF4-FFF2-40B4-BE49-F238E27FC236}">
                <a16:creationId xmlns:a16="http://schemas.microsoft.com/office/drawing/2014/main" id="{B9037F46-B578-E949-9EBC-0BBD1ACAA606}"/>
              </a:ext>
            </a:extLst>
          </p:cNvPr>
          <p:cNvSpPr txBox="1"/>
          <p:nvPr/>
        </p:nvSpPr>
        <p:spPr>
          <a:xfrm>
            <a:off x="44577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dim(𝐯) = n   (n numbers in order)</a:t>
            </a:r>
          </a:p>
        </p:txBody>
      </p:sp>
      <p:sp>
        <p:nvSpPr>
          <p:cNvPr id="29" name="MatCard">
            <a:extLst>
              <a:ext uri="{FF2B5EF4-FFF2-40B4-BE49-F238E27FC236}">
                <a16:creationId xmlns:a16="http://schemas.microsoft.com/office/drawing/2014/main" id="{CD3FC1A8-73B4-BD4D-8707-54BA474DBED8}"/>
              </a:ext>
            </a:extLst>
          </p:cNvPr>
          <p:cNvSpPr/>
          <p:nvPr/>
        </p:nvSpPr>
        <p:spPr>
          <a:xfrm>
            <a:off x="81788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MatHdr">
            <a:extLst>
              <a:ext uri="{FF2B5EF4-FFF2-40B4-BE49-F238E27FC236}">
                <a16:creationId xmlns:a16="http://schemas.microsoft.com/office/drawing/2014/main" id="{1224BEC4-BE06-1440-8205-37F909013A03}"/>
              </a:ext>
            </a:extLst>
          </p:cNvPr>
          <p:cNvSpPr/>
          <p:nvPr/>
        </p:nvSpPr>
        <p:spPr>
          <a:xfrm>
            <a:off x="8178800" y="1270000"/>
            <a:ext cx="37465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MatHdrT">
            <a:extLst>
              <a:ext uri="{FF2B5EF4-FFF2-40B4-BE49-F238E27FC236}">
                <a16:creationId xmlns:a16="http://schemas.microsoft.com/office/drawing/2014/main" id="{08C5B3DC-B19A-FC49-9FA2-C8D97A8F0E70}"/>
              </a:ext>
            </a:extLst>
          </p:cNvPr>
          <p:cNvSpPr txBox="1"/>
          <p:nvPr/>
        </p:nvSpPr>
        <p:spPr>
          <a:xfrm>
            <a:off x="81788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</a:p>
        </p:txBody>
      </p:sp>
      <p:sp>
        <p:nvSpPr>
          <p:cNvPr id="32" name="MatSym">
            <a:extLst>
              <a:ext uri="{FF2B5EF4-FFF2-40B4-BE49-F238E27FC236}">
                <a16:creationId xmlns:a16="http://schemas.microsoft.com/office/drawing/2014/main" id="{8A1E3985-28BD-754E-ADDB-3A7FFBA94F3E}"/>
              </a:ext>
            </a:extLst>
          </p:cNvPr>
          <p:cNvSpPr txBox="1"/>
          <p:nvPr/>
        </p:nvSpPr>
        <p:spPr>
          <a:xfrm>
            <a:off x="8178800" y="1854200"/>
            <a:ext cx="3746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b="1">
                <a:solidFill>
                  <a:srgbClr val="4B2E83"/>
                </a:solidFill>
                <a:latin typeface="Cambria Math"/>
                <a:ea typeface="Cambria Math"/>
              </a:rPr>
              <a:t>𝐀</a:t>
            </a:r>
          </a:p>
        </p:txBody>
      </p:sp>
      <p:sp>
        <p:nvSpPr>
          <p:cNvPr id="33" name="MatRule">
            <a:extLst>
              <a:ext uri="{FF2B5EF4-FFF2-40B4-BE49-F238E27FC236}">
                <a16:creationId xmlns:a16="http://schemas.microsoft.com/office/drawing/2014/main" id="{A865EB41-01B5-0D42-9134-5A2A2605DF61}"/>
              </a:ext>
            </a:extLst>
          </p:cNvPr>
          <p:cNvSpPr txBox="1"/>
          <p:nvPr/>
        </p:nvSpPr>
        <p:spPr>
          <a:xfrm>
            <a:off x="83566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bold uppercase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MatEx1">
                <a:extLst>
                  <a:ext uri="{FF2B5EF4-FFF2-40B4-BE49-F238E27FC236}">
                    <a16:creationId xmlns:a16="http://schemas.microsoft.com/office/drawing/2014/main" id="{FDB15DD8-5DCF-D547-B654-EBBB907AEC07}"/>
                  </a:ext>
                </a:extLst>
              </p:cNvPr>
              <p:cNvSpPr txBox="1"/>
              <p:nvPr/>
            </p:nvSpPr>
            <p:spPr>
              <a:xfrm>
                <a:off x="8356600" y="3048000"/>
                <a:ext cx="3390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),  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𝑿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𝑴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𝜮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MatEx1">
                <a:extLst>
                  <a:ext uri="{FF2B5EF4-FFF2-40B4-BE49-F238E27FC236}">
                    <a16:creationId xmlns:a16="http://schemas.microsoft.com/office/drawing/2014/main" id="{FDB15DD8-5DCF-D547-B654-EBBB907AE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3048000"/>
                <a:ext cx="3390900" cy="228600"/>
              </a:xfrm>
              <a:prstGeom prst="rect">
                <a:avLst/>
              </a:prstGeom>
              <a:blipFill>
                <a:blip r:embed="rId5"/>
                <a:stretch>
                  <a:fillRect b="-7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MatType">
                <a:extLst>
                  <a:ext uri="{FF2B5EF4-FFF2-40B4-BE49-F238E27FC236}">
                    <a16:creationId xmlns:a16="http://schemas.microsoft.com/office/drawing/2014/main" id="{9B5EE70D-4EF5-924A-A3BB-6674B8A92AEE}"/>
                  </a:ext>
                </a:extLst>
              </p:cNvPr>
              <p:cNvSpPr txBox="1"/>
              <p:nvPr/>
            </p:nvSpPr>
            <p:spPr>
              <a:xfrm>
                <a:off x="83566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MatType">
                <a:extLst>
                  <a:ext uri="{FF2B5EF4-FFF2-40B4-BE49-F238E27FC236}">
                    <a16:creationId xmlns:a16="http://schemas.microsoft.com/office/drawing/2014/main" id="{9B5EE70D-4EF5-924A-A3BB-6674B8A92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3365500"/>
                <a:ext cx="3390900" cy="254000"/>
              </a:xfrm>
              <a:prstGeom prst="rect">
                <a:avLst/>
              </a:prstGeom>
              <a:blipFill>
                <a:blip r:embed="rId6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MatDim">
            <a:extLst>
              <a:ext uri="{FF2B5EF4-FFF2-40B4-BE49-F238E27FC236}">
                <a16:creationId xmlns:a16="http://schemas.microsoft.com/office/drawing/2014/main" id="{B66A76E1-D098-BF45-9FC0-1A8A8ED61A8C}"/>
              </a:ext>
            </a:extLst>
          </p:cNvPr>
          <p:cNvSpPr txBox="1"/>
          <p:nvPr/>
        </p:nvSpPr>
        <p:spPr>
          <a:xfrm>
            <a:off x="83566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dim(𝐀) = m × n   (rows × cols)</a:t>
            </a:r>
          </a:p>
        </p:txBody>
      </p:sp>
      <p:sp>
        <p:nvSpPr>
          <p:cNvPr id="59" name="IdxBar">
            <a:extLst>
              <a:ext uri="{FF2B5EF4-FFF2-40B4-BE49-F238E27FC236}">
                <a16:creationId xmlns:a16="http://schemas.microsoft.com/office/drawing/2014/main" id="{9378AF76-676F-3448-B66E-42849DFDFEAF}"/>
              </a:ext>
            </a:extLst>
          </p:cNvPr>
          <p:cNvSpPr/>
          <p:nvPr/>
        </p:nvSpPr>
        <p:spPr>
          <a:xfrm>
            <a:off x="0" y="4191000"/>
            <a:ext cx="12192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IdxHdr">
            <a:extLst>
              <a:ext uri="{FF2B5EF4-FFF2-40B4-BE49-F238E27FC236}">
                <a16:creationId xmlns:a16="http://schemas.microsoft.com/office/drawing/2014/main" id="{14AEC263-5D18-3E49-8A20-1BA8F3B4BDFE}"/>
              </a:ext>
            </a:extLst>
          </p:cNvPr>
          <p:cNvSpPr txBox="1"/>
          <p:nvPr/>
        </p:nvSpPr>
        <p:spPr>
          <a:xfrm>
            <a:off x="381000" y="4254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Index conventions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Idx1L">
                <a:extLst>
                  <a:ext uri="{FF2B5EF4-FFF2-40B4-BE49-F238E27FC236}">
                    <a16:creationId xmlns:a16="http://schemas.microsoft.com/office/drawing/2014/main" id="{C8C86FD3-2D3D-D847-AAEE-D0DB215571F3}"/>
                  </a:ext>
                </a:extLst>
              </p:cNvPr>
              <p:cNvSpPr txBox="1"/>
              <p:nvPr/>
            </p:nvSpPr>
            <p:spPr>
              <a:xfrm>
                <a:off x="508000" y="4635500"/>
                <a:ext cx="762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1" name="Idx1L">
                <a:extLst>
                  <a:ext uri="{FF2B5EF4-FFF2-40B4-BE49-F238E27FC236}">
                    <a16:creationId xmlns:a16="http://schemas.microsoft.com/office/drawing/2014/main" id="{C8C86FD3-2D3D-D847-AAEE-D0DB21557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4635500"/>
                <a:ext cx="7620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Idx1R">
            <a:extLst>
              <a:ext uri="{FF2B5EF4-FFF2-40B4-BE49-F238E27FC236}">
                <a16:creationId xmlns:a16="http://schemas.microsoft.com/office/drawing/2014/main" id="{A261F3E5-BE1A-E04A-A809-769A7E4C8139}"/>
              </a:ext>
            </a:extLst>
          </p:cNvPr>
          <p:cNvSpPr txBox="1"/>
          <p:nvPr/>
        </p:nvSpPr>
        <p:spPr>
          <a:xfrm>
            <a:off x="1270000" y="4699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i-th component of vector 𝐯  (scalar)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Idx2L">
                <a:extLst>
                  <a:ext uri="{FF2B5EF4-FFF2-40B4-BE49-F238E27FC236}">
                    <a16:creationId xmlns:a16="http://schemas.microsoft.com/office/drawing/2014/main" id="{00E1A7A9-BFDE-E94B-ACCD-14C72E772897}"/>
                  </a:ext>
                </a:extLst>
              </p:cNvPr>
              <p:cNvSpPr txBox="1"/>
              <p:nvPr/>
            </p:nvSpPr>
            <p:spPr>
              <a:xfrm>
                <a:off x="4572000" y="4635500"/>
                <a:ext cx="762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3" name="Idx2L">
                <a:extLst>
                  <a:ext uri="{FF2B5EF4-FFF2-40B4-BE49-F238E27FC236}">
                    <a16:creationId xmlns:a16="http://schemas.microsoft.com/office/drawing/2014/main" id="{00E1A7A9-BFDE-E94B-ACCD-14C72E772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635500"/>
                <a:ext cx="7620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Idx2R">
            <a:extLst>
              <a:ext uri="{FF2B5EF4-FFF2-40B4-BE49-F238E27FC236}">
                <a16:creationId xmlns:a16="http://schemas.microsoft.com/office/drawing/2014/main" id="{EF17265A-C27E-5149-819D-0283BF5B16FA}"/>
              </a:ext>
            </a:extLst>
          </p:cNvPr>
          <p:cNvSpPr txBox="1"/>
          <p:nvPr/>
        </p:nvSpPr>
        <p:spPr>
          <a:xfrm>
            <a:off x="5334000" y="4699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entry at row i, column j of 𝐀 (scalar)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Idx3L">
                <a:extLst>
                  <a:ext uri="{FF2B5EF4-FFF2-40B4-BE49-F238E27FC236}">
                    <a16:creationId xmlns:a16="http://schemas.microsoft.com/office/drawing/2014/main" id="{5392D303-BDFD-6940-947E-5477AA02EF23}"/>
                  </a:ext>
                </a:extLst>
              </p:cNvPr>
              <p:cNvSpPr txBox="1"/>
              <p:nvPr/>
            </p:nvSpPr>
            <p:spPr>
              <a:xfrm>
                <a:off x="8636000" y="4635500"/>
                <a:ext cx="635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5" name="Idx3L">
                <a:extLst>
                  <a:ext uri="{FF2B5EF4-FFF2-40B4-BE49-F238E27FC236}">
                    <a16:creationId xmlns:a16="http://schemas.microsoft.com/office/drawing/2014/main" id="{5392D303-BDFD-6940-947E-5477AA02E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4635500"/>
                <a:ext cx="6350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Idx3R">
            <a:extLst>
              <a:ext uri="{FF2B5EF4-FFF2-40B4-BE49-F238E27FC236}">
                <a16:creationId xmlns:a16="http://schemas.microsoft.com/office/drawing/2014/main" id="{BAD768AC-45E2-184F-AAB4-F64521074782}"/>
              </a:ext>
            </a:extLst>
          </p:cNvPr>
          <p:cNvSpPr txBox="1"/>
          <p:nvPr/>
        </p:nvSpPr>
        <p:spPr>
          <a:xfrm>
            <a:off x="9334500" y="4699000"/>
            <a:ext cx="2730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i-th row of 𝐀 (a vector)</a:t>
            </a:r>
          </a:p>
        </p:txBody>
      </p:sp>
      <p:sp>
        <p:nvSpPr>
          <p:cNvPr id="67" name="TestBar">
            <a:extLst>
              <a:ext uri="{FF2B5EF4-FFF2-40B4-BE49-F238E27FC236}">
                <a16:creationId xmlns:a16="http://schemas.microsoft.com/office/drawing/2014/main" id="{89B47C31-B33D-354E-BBAD-BCED4763C745}"/>
              </a:ext>
            </a:extLst>
          </p:cNvPr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stHdr">
            <a:extLst>
              <a:ext uri="{FF2B5EF4-FFF2-40B4-BE49-F238E27FC236}">
                <a16:creationId xmlns:a16="http://schemas.microsoft.com/office/drawing/2014/main" id="{DE4F2D14-7F0B-EF42-B5E6-D3D330F8A34A}"/>
              </a:ext>
            </a:extLst>
          </p:cNvPr>
          <p:cNvSpPr txBox="1"/>
          <p:nvPr/>
        </p:nvSpPr>
        <p:spPr>
          <a:xfrm>
            <a:off x="381000" y="5359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D1578A"/>
                </a:solidFill>
                <a:latin typeface="Calibri"/>
                <a:cs typeface="Calibri"/>
              </a:rPr>
              <a:t>Quick test —  spot the type: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stEx">
                <a:extLst>
                  <a:ext uri="{FF2B5EF4-FFF2-40B4-BE49-F238E27FC236}">
                    <a16:creationId xmlns:a16="http://schemas.microsoft.com/office/drawing/2014/main" id="{D7675A97-5B8E-5F48-B107-EF542942B3E3}"/>
                  </a:ext>
                </a:extLst>
              </p:cNvPr>
              <p:cNvSpPr txBox="1"/>
              <p:nvPr/>
            </p:nvSpPr>
            <p:spPr>
              <a:xfrm>
                <a:off x="3302000" y="5359400"/>
                <a:ext cx="850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𝜆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ℝ</m:t>
                    </m:r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(scalar) · 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𝒘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(vector, 5 entries) · 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𝑴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3×7</m:t>
                        </m:r>
                      </m:sup>
                    </m:sSup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(matrix, 3 rows × 7 cols, 21 entries)</a:t>
                </a:r>
              </a:p>
            </p:txBody>
          </p:sp>
        </mc:Choice>
        <mc:Fallback xmlns="">
          <p:sp>
            <p:nvSpPr>
              <p:cNvPr id="69" name="TestEx">
                <a:extLst>
                  <a:ext uri="{FF2B5EF4-FFF2-40B4-BE49-F238E27FC236}">
                    <a16:creationId xmlns:a16="http://schemas.microsoft.com/office/drawing/2014/main" id="{D7675A97-5B8E-5F48-B107-EF542942B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0" y="5359400"/>
                <a:ext cx="8509000" cy="228600"/>
              </a:xfrm>
              <a:prstGeom prst="rect">
                <a:avLst/>
              </a:prstGeom>
              <a:blipFill>
                <a:blip r:embed="rId10"/>
                <a:stretch>
                  <a:fillRect b="-6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kBar">
            <a:extLst>
              <a:ext uri="{FF2B5EF4-FFF2-40B4-BE49-F238E27FC236}">
                <a16:creationId xmlns:a16="http://schemas.microsoft.com/office/drawing/2014/main" id="{D9EA5B58-9324-EA4B-82B5-6ECA18BAD0D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kText">
            <a:extLst>
              <a:ext uri="{FF2B5EF4-FFF2-40B4-BE49-F238E27FC236}">
                <a16:creationId xmlns:a16="http://schemas.microsoft.com/office/drawing/2014/main" id="{11FE417F-B69C-CB44-8941-A1E9692A1B9D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Lowercase italic = scalar. Bold lowercase = vector. Bold uppercase = matrix. dim() tells you the shape.</a:t>
            </a:r>
          </a:p>
        </p:txBody>
      </p:sp>
    </p:spTree>
    <p:extLst>
      <p:ext uri="{BB962C8B-B14F-4D97-AF65-F5344CB8AC3E}">
        <p14:creationId xmlns:p14="http://schemas.microsoft.com/office/powerpoint/2010/main" val="967099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4 — Identify vector elements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Read off individual components of a vector using subscript notation.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vector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element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Subscript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selects the i-th component — counting starts at 1, so the first entry is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v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₁.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=(4, −2, 7, 0, 5, 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six-component vector. Index the entries left to right as </a:t>
            </a:r>
            <a:r>
              <a:rPr lang="en-US" sz="1200" i="1" dirty="0">
                <a:solidFill>
                  <a:srgbClr val="00A7B5"/>
                </a:solidFill>
                <a:latin typeface="Cambria Math"/>
              </a:rPr>
              <a:t>v</a:t>
            </a:r>
            <a:r>
              <a:rPr lang="en-US" sz="1100" i="1" dirty="0">
                <a:solidFill>
                  <a:srgbClr val="00A7B5"/>
                </a:solidFill>
                <a:latin typeface="Calibri"/>
              </a:rPr>
              <a:t>₁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through </a:t>
            </a:r>
            <a:r>
              <a:rPr lang="en-US" sz="1200" i="1" dirty="0">
                <a:solidFill>
                  <a:srgbClr val="00A7B5"/>
                </a:solidFill>
                <a:latin typeface="Cambria Math"/>
              </a:rPr>
              <a:t>v</a:t>
            </a:r>
            <a:r>
              <a:rPr lang="en-US" sz="1100" i="1" dirty="0">
                <a:solidFill>
                  <a:srgbClr val="00A7B5"/>
                </a:solidFill>
                <a:latin typeface="Calibri"/>
              </a:rPr>
              <a:t>₆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the value of each element: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b="1" dirty="0">
                    <a:solidFill>
                      <a:srgbClr val="5A8A2A"/>
                    </a:solidFill>
                    <a:latin typeface="Calibri"/>
                  </a:rPr>
                  <a:t>Solution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=4   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=7</m:t>
                      </m:r>
                    </m:oMath>
                  </m:oMathPara>
                </a14:m>
                <a:endParaRPr lang="en-US" sz="1200" b="1" dirty="0">
                  <a:solidFill>
                    <a:srgbClr val="5A8A2A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   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n-US" sz="1200" b="1" dirty="0">
                  <a:solidFill>
                    <a:srgbClr val="5A8A2A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0"/>
                </a:solidFill>
                <a:latin typeface="Calibri"/>
              </a:rPr>
              <a:t>Identify each element first, then remove this cover to reveal.</a:t>
            </a:r>
          </a:p>
        </p:txBody>
      </p:sp>
    </p:spTree>
    <p:extLst>
      <p:ext uri="{BB962C8B-B14F-4D97-AF65-F5344CB8AC3E}">
        <p14:creationId xmlns:p14="http://schemas.microsoft.com/office/powerpoint/2010/main" val="3733018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5 — Identify matrix elements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Locate individual entries of a matrix using double-subscript notation.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matrix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element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Entry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a</a:t>
            </a: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ᵢⱼ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sits in row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, column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j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— row index always comes first.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3 × 4 matrix: 3 rows, 4 columns. Read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a</a:t>
            </a:r>
            <a:r>
              <a:rPr lang="en-US" sz="1100" i="1" dirty="0">
                <a:solidFill>
                  <a:srgbClr val="4B2E83"/>
                </a:solidFill>
                <a:latin typeface="Calibri"/>
              </a:rPr>
              <a:t>ᵢⱼ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as (row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, column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j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the value of each entry: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14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=9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Count down to the row first, then across to the column.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identify each entry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2808741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6 — Identify matrix rows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Use bold subscript notation to pull out an entire row vector of a matrix.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matrix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row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Bold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A</a:t>
            </a: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ᵢ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denotes the whole i-th row vector, while a</a:t>
            </a: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ᵢⱼ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is a single scalar entry.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3 × 4 matrix. Row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is written </a:t>
            </a:r>
            <a:r>
              <a:rPr lang="en-US" sz="1200" b="1" i="1" dirty="0">
                <a:solidFill>
                  <a:srgbClr val="4B2E83"/>
                </a:solidFill>
                <a:latin typeface="Cambria Math"/>
              </a:rPr>
              <a:t>A</a:t>
            </a:r>
            <a:r>
              <a:rPr lang="en-US" sz="1100" i="1" dirty="0">
                <a:solidFill>
                  <a:srgbClr val="4B2E83"/>
                </a:solidFill>
                <a:latin typeface="Calibri"/>
              </a:rPr>
              <a:t>ᵢ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(bold).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out each row vector, then the element: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 8, 1, 6)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=(7, 0, 2, 1)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identify each entry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1163791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3D9AE5FB-1633-B24B-84D1-DF229822716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D2ABC624-139F-F645-81DF-3C2C8722F07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Multiplication of a Vector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D4CED5F5-7F69-2C46-8115-D520974F244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Scaling a vector — multiply every entry by the same number</a:t>
            </a:r>
          </a:p>
        </p:txBody>
      </p:sp>
      <p:sp>
        <p:nvSpPr>
          <p:cNvPr id="23" name="DefBox">
            <a:extLst>
              <a:ext uri="{FF2B5EF4-FFF2-40B4-BE49-F238E27FC236}">
                <a16:creationId xmlns:a16="http://schemas.microsoft.com/office/drawing/2014/main" id="{BE2C42CE-3F3B-1F47-A8E1-432F506CE61A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Lbl">
            <a:extLst>
              <a:ext uri="{FF2B5EF4-FFF2-40B4-BE49-F238E27FC236}">
                <a16:creationId xmlns:a16="http://schemas.microsoft.com/office/drawing/2014/main" id="{3D02A259-8AA6-4243-9CBA-3235CFBA4FA1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5" name="DefEq">
            <a:extLst>
              <a:ext uri="{FF2B5EF4-FFF2-40B4-BE49-F238E27FC236}">
                <a16:creationId xmlns:a16="http://schemas.microsoft.com/office/drawing/2014/main" id="{A2602BFC-8B29-6543-BD89-4644D9B2B19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  =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(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v₁, v₂, ..., vₙ)  =  (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v₁,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v₂, ...,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vₙ)</a:t>
            </a:r>
          </a:p>
        </p:txBody>
      </p:sp>
      <p:sp>
        <p:nvSpPr>
          <p:cNvPr id="26" name="DefNote">
            <a:extLst>
              <a:ext uri="{FF2B5EF4-FFF2-40B4-BE49-F238E27FC236}">
                <a16:creationId xmlns:a16="http://schemas.microsoft.com/office/drawing/2014/main" id="{BB0DCA07-6588-8C42-9B25-F6BC5A068ACE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200" i="1">
                <a:solidFill>
                  <a:srgbClr val="777777"/>
                </a:solidFill>
                <a:latin typeface="Arial"/>
                <a:cs typeface="Arial"/>
              </a:rPr>
              <a:t>α ∈ ℝ </a:t>
            </a:r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is a scalar;   v ∈ ℝⁿ is a vector;   result has the same dimension as v.</a:t>
            </a:r>
          </a:p>
        </p:txBody>
      </p:sp>
      <p:sp>
        <p:nvSpPr>
          <p:cNvPr id="27" name="Card30">
            <a:extLst>
              <a:ext uri="{FF2B5EF4-FFF2-40B4-BE49-F238E27FC236}">
                <a16:creationId xmlns:a16="http://schemas.microsoft.com/office/drawing/2014/main" id="{AED5A97F-556E-2C4D-8BB7-C4CA275D6503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CardHdr30">
            <a:extLst>
              <a:ext uri="{FF2B5EF4-FFF2-40B4-BE49-F238E27FC236}">
                <a16:creationId xmlns:a16="http://schemas.microsoft.com/office/drawing/2014/main" id="{53BE29B5-DBE0-D946-B86E-7744AF6A3E1C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Title30">
            <a:extLst>
              <a:ext uri="{FF2B5EF4-FFF2-40B4-BE49-F238E27FC236}">
                <a16:creationId xmlns:a16="http://schemas.microsoft.com/office/drawing/2014/main" id="{16EF275E-C15C-6142-AFC8-D5BFC63FE6A5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39" name="CardBody30">
            <a:extLst>
              <a:ext uri="{FF2B5EF4-FFF2-40B4-BE49-F238E27FC236}">
                <a16:creationId xmlns:a16="http://schemas.microsoft.com/office/drawing/2014/main" id="{48A4E44F-66A0-0645-AB51-08E18A48D08F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Stretches or shrinks the vector.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&gt; 1: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stretches (longer)
• 0 &lt;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&lt; 1: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shrinks (shorter)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=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collapses to origin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&lt;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flips direction</a:t>
            </a:r>
          </a:p>
        </p:txBody>
      </p:sp>
      <p:sp>
        <p:nvSpPr>
          <p:cNvPr id="40" name="Card335">
            <a:extLst>
              <a:ext uri="{FF2B5EF4-FFF2-40B4-BE49-F238E27FC236}">
                <a16:creationId xmlns:a16="http://schemas.microsoft.com/office/drawing/2014/main" id="{C697593B-7C08-B042-9A82-3586C52FB38D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CardHdr335">
            <a:extLst>
              <a:ext uri="{FF2B5EF4-FFF2-40B4-BE49-F238E27FC236}">
                <a16:creationId xmlns:a16="http://schemas.microsoft.com/office/drawing/2014/main" id="{013DA8D3-E087-5941-81A8-6C0AE6B5B9CB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ardTitle335">
            <a:extLst>
              <a:ext uri="{FF2B5EF4-FFF2-40B4-BE49-F238E27FC236}">
                <a16:creationId xmlns:a16="http://schemas.microsoft.com/office/drawing/2014/main" id="{7C5A7025-2B24-014D-815B-170D95ED1A39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43" name="CardBody335">
            <a:extLst>
              <a:ext uri="{FF2B5EF4-FFF2-40B4-BE49-F238E27FC236}">
                <a16:creationId xmlns:a16="http://schemas.microsoft.com/office/drawing/2014/main" id="{0D28F2B6-66FF-684E-AF45-20D0AFEDA4C0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Direction is preserved
(or reversed if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α&lt;0).
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Magnitude scales by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α|:
   ‖α·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 =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 · ‖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</a:t>
            </a:r>
          </a:p>
        </p:txBody>
      </p:sp>
      <p:sp>
        <p:nvSpPr>
          <p:cNvPr id="44" name="Card640">
            <a:extLst>
              <a:ext uri="{FF2B5EF4-FFF2-40B4-BE49-F238E27FC236}">
                <a16:creationId xmlns:a16="http://schemas.microsoft.com/office/drawing/2014/main" id="{0BA535BE-CFEC-D847-BAF3-EA9C8B5B51B0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CardHdr640">
            <a:extLst>
              <a:ext uri="{FF2B5EF4-FFF2-40B4-BE49-F238E27FC236}">
                <a16:creationId xmlns:a16="http://schemas.microsoft.com/office/drawing/2014/main" id="{B5C0D322-3364-E144-929F-C6E94B83C123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CardTitle640">
            <a:extLst>
              <a:ext uri="{FF2B5EF4-FFF2-40B4-BE49-F238E27FC236}">
                <a16:creationId xmlns:a16="http://schemas.microsoft.com/office/drawing/2014/main" id="{DC2A4F4D-8CD6-2D40-B0CB-6395DCF8F8D0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47" name="CardBody640">
            <a:extLst>
              <a:ext uri="{FF2B5EF4-FFF2-40B4-BE49-F238E27FC236}">
                <a16:creationId xmlns:a16="http://schemas.microsoft.com/office/drawing/2014/main" id="{6299879A-BC90-3A4B-90D7-F5287B7460CC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Building block for:
• Linear combinations
• Gradient updates: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 − η·∇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L
• Normalization: v / ‖v‖
• Rescaling features</a:t>
            </a:r>
          </a:p>
        </p:txBody>
      </p:sp>
      <p:sp>
        <p:nvSpPr>
          <p:cNvPr id="48" name="FormStrip">
            <a:extLst>
              <a:ext uri="{FF2B5EF4-FFF2-40B4-BE49-F238E27FC236}">
                <a16:creationId xmlns:a16="http://schemas.microsoft.com/office/drawing/2014/main" id="{D509D365-3C16-5C43-A415-E7667D715E5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FormStripT">
            <a:extLst>
              <a:ext uri="{FF2B5EF4-FFF2-40B4-BE49-F238E27FC236}">
                <a16:creationId xmlns:a16="http://schemas.microsoft.com/office/drawing/2014/main" id="{50DFAAC9-C49A-C74F-B1AD-6CD20F1C7EE1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Key property:   ‖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α · 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v‖ = |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α| · ‖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v‖     —     scaling a vector scales its magnitude.</a:t>
            </a:r>
          </a:p>
        </p:txBody>
      </p:sp>
      <p:sp>
        <p:nvSpPr>
          <p:cNvPr id="50" name="TkBar">
            <a:extLst>
              <a:ext uri="{FF2B5EF4-FFF2-40B4-BE49-F238E27FC236}">
                <a16:creationId xmlns:a16="http://schemas.microsoft.com/office/drawing/2014/main" id="{E2FC7A64-D903-714A-BAE1-5DB76A9474E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kText">
            <a:extLst>
              <a:ext uri="{FF2B5EF4-FFF2-40B4-BE49-F238E27FC236}">
                <a16:creationId xmlns:a16="http://schemas.microsoft.com/office/drawing/2014/main" id="{97244AA7-FF58-CB4F-BD90-90F762727264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Scalar multiplication = uniform stretch/shrink/flip applied to every coordinate</a:t>
            </a:r>
          </a:p>
        </p:txBody>
      </p:sp>
    </p:spTree>
    <p:extLst>
      <p:ext uri="{BB962C8B-B14F-4D97-AF65-F5344CB8AC3E}">
        <p14:creationId xmlns:p14="http://schemas.microsoft.com/office/powerpoint/2010/main" val="1402817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7 — Scale a vector: miles to kilometres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Multiply a real-data vector by a single scalar to convert every entry.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weekly run (miles per day)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scale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Scaling by a positive constant stretches the whole vector uniformly — every day's distance grows by the same factor.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A runner logs distance each weekday: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𝒎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 5, 4, 8, 6)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Units: miles.  Convert to kilometres using 1 mile = 1.609 km.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converted vector: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𝒌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=1.609·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𝒎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Distribute the scalar over every entry; round to 1 decimal.</a:t>
                </a: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𝒌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=1.609·(3, 5, 4, 8, 6)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=(4.8, 8.0, 6.4, 12.9, 9.7)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Same dimension as m; every distance scaled by 1.609.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59608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8 — Scale a vector: 20% markdown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discount applies the same factor to every price — a scalar multiply.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store prices ($)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scale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0 &lt; α &lt; 1 shrinks the vector — every price drops by the same proportion while their ratios stay fixed.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Four catalogue prices, in dollars: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𝒑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=(25, 40, 15, 60)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storewide sale takes 20% off, so each price is multiplied by 0.8.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sale-price vector: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𝒔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=0.8·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Apply the scalar 0.8 to every component.</a:t>
                </a: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𝒔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=0.8·(25, 40, 15, 60)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=(20, 32, 12, 48)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Each price falls 20%; the vector keeps its ℝ⁴ shape.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2360238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9 — Scale a vector: one gradient-descent step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negative scalar flips direction and shrinks — the core of a gradient update.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loss gradient at current weights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step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A negative learning rate flips the gradient and shrinks it — direction reverses, length scales by |α|.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Back-prop returns the loss gradient: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=(20, −50, 30, −10)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Learning rate η = 0.1.  The weight update subtracts a scaled gradient.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update step: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𝜟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𝒘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=−0.1·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Distribute −0.1 over every entry; note the sign flips.</a:t>
                </a: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𝜟</m:t>
                      </m:r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𝒘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=−0.1·(20, −50, 30, −10)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=(−</m:t>
                      </m:r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2, 5, −3, 1)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Direction reversed (signs flip), magnitude shrunk 10×; same dimension as g.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189634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C0FDB392-0728-5E49-AAF5-FA73AD91BDB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4DD2665-427C-4448-BE4C-D4972726145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Visual — Scalar Multiplication in 2D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17D16113-5C77-FA46-A122-D66AB65415C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300" i="1">
                <a:solidFill>
                  <a:srgbClr val="777777"/>
                </a:solidFill>
                <a:latin typeface="Arial"/>
                <a:cs typeface="Arial"/>
              </a:rPr>
              <a:t>α·</a:t>
            </a:r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v stretches, shrinks, or flips a vector — direction is preserved (or reversed)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AB7CA7C3-CAC7-E442-8733-2FD8DC91CEC6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XAxis">
            <a:extLst>
              <a:ext uri="{FF2B5EF4-FFF2-40B4-BE49-F238E27FC236}">
                <a16:creationId xmlns:a16="http://schemas.microsoft.com/office/drawing/2014/main" id="{32A243D6-A2BD-2D4D-9D8E-A7B509F02662}"/>
              </a:ext>
            </a:extLst>
          </p:cNvPr>
          <p:cNvSpPr/>
          <p:nvPr/>
        </p:nvSpPr>
        <p:spPr>
          <a:xfrm>
            <a:off x="762000" y="3429000"/>
            <a:ext cx="7112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YAxis">
            <a:extLst>
              <a:ext uri="{FF2B5EF4-FFF2-40B4-BE49-F238E27FC236}">
                <a16:creationId xmlns:a16="http://schemas.microsoft.com/office/drawing/2014/main" id="{B3DE9E4F-48C1-F141-95B6-A6B5CB9A5B16}"/>
              </a:ext>
            </a:extLst>
          </p:cNvPr>
          <p:cNvSpPr/>
          <p:nvPr/>
        </p:nvSpPr>
        <p:spPr>
          <a:xfrm>
            <a:off x="4318000" y="1270000"/>
            <a:ext cx="12700" cy="4318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rigin">
            <a:extLst>
              <a:ext uri="{FF2B5EF4-FFF2-40B4-BE49-F238E27FC236}">
                <a16:creationId xmlns:a16="http://schemas.microsoft.com/office/drawing/2014/main" id="{55182B88-5D86-0149-8802-22BC4052600A}"/>
              </a:ext>
            </a:extLst>
          </p:cNvPr>
          <p:cNvSpPr txBox="1"/>
          <p:nvPr/>
        </p:nvSpPr>
        <p:spPr>
          <a:xfrm>
            <a:off x="4368800" y="34544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XLab">
            <a:extLst>
              <a:ext uri="{FF2B5EF4-FFF2-40B4-BE49-F238E27FC236}">
                <a16:creationId xmlns:a16="http://schemas.microsoft.com/office/drawing/2014/main" id="{5DB54522-E541-9340-822B-FD6DB85D6EBB}"/>
              </a:ext>
            </a:extLst>
          </p:cNvPr>
          <p:cNvSpPr txBox="1"/>
          <p:nvPr/>
        </p:nvSpPr>
        <p:spPr>
          <a:xfrm>
            <a:off x="7721600" y="3479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10" name="YLab">
            <a:extLst>
              <a:ext uri="{FF2B5EF4-FFF2-40B4-BE49-F238E27FC236}">
                <a16:creationId xmlns:a16="http://schemas.microsoft.com/office/drawing/2014/main" id="{9125EA7C-50D6-6944-B68D-7EEE9AC24378}"/>
              </a:ext>
            </a:extLst>
          </p:cNvPr>
          <p:cNvSpPr txBox="1"/>
          <p:nvPr/>
        </p:nvSpPr>
        <p:spPr>
          <a:xfrm>
            <a:off x="4368800" y="12954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11" name="Vec_v">
            <a:extLst>
              <a:ext uri="{FF2B5EF4-FFF2-40B4-BE49-F238E27FC236}">
                <a16:creationId xmlns:a16="http://schemas.microsoft.com/office/drawing/2014/main" id="{1E6A4FEA-4C83-8B42-A9BE-0FE4B80F0BFF}"/>
              </a:ext>
            </a:extLst>
          </p:cNvPr>
          <p:cNvSpPr/>
          <p:nvPr/>
        </p:nvSpPr>
        <p:spPr>
          <a:xfrm rot="-1593903">
            <a:off x="4250543" y="3117850"/>
            <a:ext cx="1277912" cy="508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ec_vLbl">
            <a:extLst>
              <a:ext uri="{FF2B5EF4-FFF2-40B4-BE49-F238E27FC236}">
                <a16:creationId xmlns:a16="http://schemas.microsoft.com/office/drawing/2014/main" id="{BE737962-D636-7647-8C24-A8230CEDB6E7}"/>
              </a:ext>
            </a:extLst>
          </p:cNvPr>
          <p:cNvSpPr txBox="1"/>
          <p:nvPr/>
        </p:nvSpPr>
        <p:spPr>
          <a:xfrm>
            <a:off x="5283200" y="30353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13" name="Vec_2v">
            <a:extLst>
              <a:ext uri="{FF2B5EF4-FFF2-40B4-BE49-F238E27FC236}">
                <a16:creationId xmlns:a16="http://schemas.microsoft.com/office/drawing/2014/main" id="{637FFFA6-1774-E64C-A9C8-62EEBEFA74D6}"/>
              </a:ext>
            </a:extLst>
          </p:cNvPr>
          <p:cNvSpPr/>
          <p:nvPr/>
        </p:nvSpPr>
        <p:spPr>
          <a:xfrm rot="-1593903">
            <a:off x="4183087" y="2825750"/>
            <a:ext cx="2555825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_2vLbl">
            <a:extLst>
              <a:ext uri="{FF2B5EF4-FFF2-40B4-BE49-F238E27FC236}">
                <a16:creationId xmlns:a16="http://schemas.microsoft.com/office/drawing/2014/main" id="{61CAA43D-E4E3-0240-A7C0-1922A267EBC5}"/>
              </a:ext>
            </a:extLst>
          </p:cNvPr>
          <p:cNvSpPr txBox="1"/>
          <p:nvPr/>
        </p:nvSpPr>
        <p:spPr>
          <a:xfrm>
            <a:off x="6680200" y="20574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2·v = (4, 2)</a:t>
            </a:r>
          </a:p>
        </p:txBody>
      </p:sp>
      <p:sp>
        <p:nvSpPr>
          <p:cNvPr id="15" name="Vec_05v">
            <a:extLst>
              <a:ext uri="{FF2B5EF4-FFF2-40B4-BE49-F238E27FC236}">
                <a16:creationId xmlns:a16="http://schemas.microsoft.com/office/drawing/2014/main" id="{9907ADB5-3B5C-2B4B-B15E-131DAA76F170}"/>
              </a:ext>
            </a:extLst>
          </p:cNvPr>
          <p:cNvSpPr/>
          <p:nvPr/>
        </p:nvSpPr>
        <p:spPr>
          <a:xfrm rot="-1593903">
            <a:off x="4284271" y="3260725"/>
            <a:ext cx="638956" cy="50800"/>
          </a:xfrm>
          <a:prstGeom prst="rightArrow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c_05vLbl">
            <a:extLst>
              <a:ext uri="{FF2B5EF4-FFF2-40B4-BE49-F238E27FC236}">
                <a16:creationId xmlns:a16="http://schemas.microsoft.com/office/drawing/2014/main" id="{DAA5263B-6102-7E47-8652-DE29A6210DD8}"/>
              </a:ext>
            </a:extLst>
          </p:cNvPr>
          <p:cNvSpPr txBox="1"/>
          <p:nvPr/>
        </p:nvSpPr>
        <p:spPr>
          <a:xfrm>
            <a:off x="4965700" y="319405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½·v = (1, 0.5)</a:t>
            </a:r>
          </a:p>
        </p:txBody>
      </p:sp>
      <p:sp>
        <p:nvSpPr>
          <p:cNvPr id="17" name="Vec_negv">
            <a:extLst>
              <a:ext uri="{FF2B5EF4-FFF2-40B4-BE49-F238E27FC236}">
                <a16:creationId xmlns:a16="http://schemas.microsoft.com/office/drawing/2014/main" id="{E49C3749-1E16-0045-BA25-D1586E17310C}"/>
              </a:ext>
            </a:extLst>
          </p:cNvPr>
          <p:cNvSpPr/>
          <p:nvPr/>
        </p:nvSpPr>
        <p:spPr>
          <a:xfrm rot="9206097">
            <a:off x="3107543" y="3689350"/>
            <a:ext cx="1277912" cy="508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Vec_negvLbl">
            <a:extLst>
              <a:ext uri="{FF2B5EF4-FFF2-40B4-BE49-F238E27FC236}">
                <a16:creationId xmlns:a16="http://schemas.microsoft.com/office/drawing/2014/main" id="{F1AB0E08-3D5D-444D-B7BD-5A77EB6DDE9C}"/>
              </a:ext>
            </a:extLst>
          </p:cNvPr>
          <p:cNvSpPr txBox="1"/>
          <p:nvPr/>
        </p:nvSpPr>
        <p:spPr>
          <a:xfrm>
            <a:off x="1905000" y="40513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Arial"/>
                <a:cs typeface="Arial"/>
              </a:rPr>
              <a:t>−v = (−2, −1)</a:t>
            </a:r>
          </a:p>
        </p:txBody>
      </p:sp>
      <p:sp>
        <p:nvSpPr>
          <p:cNvPr id="19" name="LegCard">
            <a:extLst>
              <a:ext uri="{FF2B5EF4-FFF2-40B4-BE49-F238E27FC236}">
                <a16:creationId xmlns:a16="http://schemas.microsoft.com/office/drawing/2014/main" id="{F0171DA4-5B84-5F44-B54E-7093C71A9115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LegHdr">
            <a:extLst>
              <a:ext uri="{FF2B5EF4-FFF2-40B4-BE49-F238E27FC236}">
                <a16:creationId xmlns:a16="http://schemas.microsoft.com/office/drawing/2014/main" id="{28F79A1B-2655-1345-ACF4-EE76AB4AA76A}"/>
              </a:ext>
            </a:extLst>
          </p:cNvPr>
          <p:cNvSpPr txBox="1"/>
          <p:nvPr/>
        </p:nvSpPr>
        <p:spPr>
          <a:xfrm>
            <a:off x="8280400" y="1397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What's happening</a:t>
            </a:r>
          </a:p>
        </p:txBody>
      </p:sp>
      <p:sp>
        <p:nvSpPr>
          <p:cNvPr id="29" name="Leg1">
            <a:extLst>
              <a:ext uri="{FF2B5EF4-FFF2-40B4-BE49-F238E27FC236}">
                <a16:creationId xmlns:a16="http://schemas.microsoft.com/office/drawing/2014/main" id="{01D5BF96-3840-8744-AE88-57E56500B7F5}"/>
              </a:ext>
            </a:extLst>
          </p:cNvPr>
          <p:cNvSpPr txBox="1"/>
          <p:nvPr/>
        </p:nvSpPr>
        <p:spPr>
          <a:xfrm>
            <a:off x="8305800" y="1778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Cambria Math"/>
                <a:ea typeface="Cambria Math"/>
              </a:rPr>
              <a:t>Base:  v = (2, 1)</a:t>
            </a:r>
          </a:p>
        </p:txBody>
      </p:sp>
      <p:sp>
        <p:nvSpPr>
          <p:cNvPr id="30" name="Leg1n">
            <a:extLst>
              <a:ext uri="{FF2B5EF4-FFF2-40B4-BE49-F238E27FC236}">
                <a16:creationId xmlns:a16="http://schemas.microsoft.com/office/drawing/2014/main" id="{D89966CC-DCFB-B74D-95E0-B80F871C21C5}"/>
              </a:ext>
            </a:extLst>
          </p:cNvPr>
          <p:cNvSpPr txBox="1"/>
          <p:nvPr/>
        </p:nvSpPr>
        <p:spPr>
          <a:xfrm>
            <a:off x="8305800" y="2006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the reference vector</a:t>
            </a:r>
          </a:p>
        </p:txBody>
      </p:sp>
      <p:sp>
        <p:nvSpPr>
          <p:cNvPr id="31" name="Leg2">
            <a:extLst>
              <a:ext uri="{FF2B5EF4-FFF2-40B4-BE49-F238E27FC236}">
                <a16:creationId xmlns:a16="http://schemas.microsoft.com/office/drawing/2014/main" id="{2B2DDC62-9ECA-4F42-A9C3-1C811BCB41E0}"/>
              </a:ext>
            </a:extLst>
          </p:cNvPr>
          <p:cNvSpPr txBox="1"/>
          <p:nvPr/>
        </p:nvSpPr>
        <p:spPr>
          <a:xfrm>
            <a:off x="8305800" y="2286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mbria Math"/>
                <a:ea typeface="Cambria Math"/>
              </a:rPr>
              <a:t>2·v = (4, 2)</a:t>
            </a:r>
          </a:p>
        </p:txBody>
      </p:sp>
      <p:sp>
        <p:nvSpPr>
          <p:cNvPr id="32" name="Leg2n">
            <a:extLst>
              <a:ext uri="{FF2B5EF4-FFF2-40B4-BE49-F238E27FC236}">
                <a16:creationId xmlns:a16="http://schemas.microsoft.com/office/drawing/2014/main" id="{29927CF5-163B-A748-B443-3C4BFEC19642}"/>
              </a:ext>
            </a:extLst>
          </p:cNvPr>
          <p:cNvSpPr txBox="1"/>
          <p:nvPr/>
        </p:nvSpPr>
        <p:spPr>
          <a:xfrm>
            <a:off x="8305800" y="2514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stretched 2× — same direction</a:t>
            </a:r>
          </a:p>
        </p:txBody>
      </p:sp>
      <p:sp>
        <p:nvSpPr>
          <p:cNvPr id="33" name="Leg3">
            <a:extLst>
              <a:ext uri="{FF2B5EF4-FFF2-40B4-BE49-F238E27FC236}">
                <a16:creationId xmlns:a16="http://schemas.microsoft.com/office/drawing/2014/main" id="{7E1C6883-5B32-884F-AF91-C8BF0FB6D273}"/>
              </a:ext>
            </a:extLst>
          </p:cNvPr>
          <p:cNvSpPr txBox="1"/>
          <p:nvPr/>
        </p:nvSpPr>
        <p:spPr>
          <a:xfrm>
            <a:off x="8305800" y="2794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  <a:latin typeface="Cambria Math"/>
                <a:ea typeface="Cambria Math"/>
              </a:rPr>
              <a:t>½·v = (1, 0.5)</a:t>
            </a:r>
          </a:p>
        </p:txBody>
      </p:sp>
      <p:sp>
        <p:nvSpPr>
          <p:cNvPr id="34" name="Leg3n">
            <a:extLst>
              <a:ext uri="{FF2B5EF4-FFF2-40B4-BE49-F238E27FC236}">
                <a16:creationId xmlns:a16="http://schemas.microsoft.com/office/drawing/2014/main" id="{C0C4ABA2-0760-0B44-AE94-478DACE491CD}"/>
              </a:ext>
            </a:extLst>
          </p:cNvPr>
          <p:cNvSpPr txBox="1"/>
          <p:nvPr/>
        </p:nvSpPr>
        <p:spPr>
          <a:xfrm>
            <a:off x="8305800" y="3022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shrunk to half length</a:t>
            </a:r>
          </a:p>
        </p:txBody>
      </p:sp>
      <p:sp>
        <p:nvSpPr>
          <p:cNvPr id="35" name="Leg4">
            <a:extLst>
              <a:ext uri="{FF2B5EF4-FFF2-40B4-BE49-F238E27FC236}">
                <a16:creationId xmlns:a16="http://schemas.microsoft.com/office/drawing/2014/main" id="{E1176C62-61F8-D643-814A-1FF9C2B583B6}"/>
              </a:ext>
            </a:extLst>
          </p:cNvPr>
          <p:cNvSpPr txBox="1"/>
          <p:nvPr/>
        </p:nvSpPr>
        <p:spPr>
          <a:xfrm>
            <a:off x="8305800" y="3302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Cambria Math"/>
                <a:ea typeface="Cambria Math"/>
              </a:rPr>
              <a:t>−v = (−2, −1)</a:t>
            </a:r>
          </a:p>
        </p:txBody>
      </p:sp>
      <p:sp>
        <p:nvSpPr>
          <p:cNvPr id="36" name="Leg4n">
            <a:extLst>
              <a:ext uri="{FF2B5EF4-FFF2-40B4-BE49-F238E27FC236}">
                <a16:creationId xmlns:a16="http://schemas.microsoft.com/office/drawing/2014/main" id="{3E836E0E-7668-B44C-A81C-4CBF8F15E2A2}"/>
              </a:ext>
            </a:extLst>
          </p:cNvPr>
          <p:cNvSpPr txBox="1"/>
          <p:nvPr/>
        </p:nvSpPr>
        <p:spPr>
          <a:xfrm>
            <a:off x="8305800" y="3530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flipped 180° — opposite direction</a:t>
            </a:r>
          </a:p>
        </p:txBody>
      </p:sp>
      <p:sp>
        <p:nvSpPr>
          <p:cNvPr id="52" name="LegRule">
            <a:extLst>
              <a:ext uri="{FF2B5EF4-FFF2-40B4-BE49-F238E27FC236}">
                <a16:creationId xmlns:a16="http://schemas.microsoft.com/office/drawing/2014/main" id="{45190E47-1811-2E44-8C82-F07E8E1D2952}"/>
              </a:ext>
            </a:extLst>
          </p:cNvPr>
          <p:cNvSpPr txBox="1"/>
          <p:nvPr/>
        </p:nvSpPr>
        <p:spPr>
          <a:xfrm>
            <a:off x="8305800" y="4000500"/>
            <a:ext cx="3327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Rule:   ‖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v‖ = |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α|·‖</a:t>
            </a:r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v‖</a:t>
            </a:r>
          </a:p>
        </p:txBody>
      </p:sp>
      <p:sp>
        <p:nvSpPr>
          <p:cNvPr id="53" name="LegRuleN">
            <a:extLst>
              <a:ext uri="{FF2B5EF4-FFF2-40B4-BE49-F238E27FC236}">
                <a16:creationId xmlns:a16="http://schemas.microsoft.com/office/drawing/2014/main" id="{CCED3700-FD23-8A4D-B74C-865C7518ED60}"/>
              </a:ext>
            </a:extLst>
          </p:cNvPr>
          <p:cNvSpPr txBox="1"/>
          <p:nvPr/>
        </p:nvSpPr>
        <p:spPr>
          <a:xfrm>
            <a:off x="8305800" y="4318000"/>
            <a:ext cx="3327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magnitude scales by |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α|; </a:t>
            </a:r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sign of 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α </a:t>
            </a:r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controls direction.</a:t>
            </a:r>
          </a:p>
        </p:txBody>
      </p:sp>
      <p:sp>
        <p:nvSpPr>
          <p:cNvPr id="54" name="LegPin">
            <a:extLst>
              <a:ext uri="{FF2B5EF4-FFF2-40B4-BE49-F238E27FC236}">
                <a16:creationId xmlns:a16="http://schemas.microsoft.com/office/drawing/2014/main" id="{9E40D28E-0716-534F-8EFB-545EFD40D24A}"/>
              </a:ext>
            </a:extLst>
          </p:cNvPr>
          <p:cNvSpPr txBox="1"/>
          <p:nvPr/>
        </p:nvSpPr>
        <p:spPr>
          <a:xfrm>
            <a:off x="8305800" y="5016500"/>
            <a:ext cx="3327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4B2E83"/>
                </a:solidFill>
                <a:latin typeface="Arial"/>
                <a:cs typeface="Arial"/>
              </a:rPr>
              <a:t>All scaled vectors lie on the same line through the origin.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24528A34-FE17-CB4A-A930-89E87EFDF59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04387395-368C-F94D-86AA-AE3208782E3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Scalar multiplication = uniform stretch / shrink / flip along the vector's direction</a:t>
            </a:r>
          </a:p>
        </p:txBody>
      </p:sp>
    </p:spTree>
    <p:extLst>
      <p:ext uri="{BB962C8B-B14F-4D97-AF65-F5344CB8AC3E}">
        <p14:creationId xmlns:p14="http://schemas.microsoft.com/office/powerpoint/2010/main" val="3959384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A7D357B-0A18-9440-A945-ACE8A08478B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0D75A9C-81FA-384A-8340-1176567C4E0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Multiplication — Example 1 of 3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57684AD-6EAB-394C-891B-D34062EA24E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Compute the result of scaling a 3-dimensional vector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8C8B8B4-9A5D-3F42-B32F-5D84370C85E4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2BB79C53-95F3-2049-B524-12E972F6B15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7363A83A-C6D7-FC47-8AD3-2702D15CABBA}"/>
              </a:ext>
            </a:extLst>
          </p:cNvPr>
          <p:cNvSpPr txBox="1"/>
          <p:nvPr/>
        </p:nvSpPr>
        <p:spPr>
          <a:xfrm>
            <a:off x="558800" y="13335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8482B3EA-034D-274E-A2DB-7462BCCB7E18}"/>
              </a:ext>
            </a:extLst>
          </p:cNvPr>
          <p:cNvSpPr txBox="1"/>
          <p:nvPr/>
        </p:nvSpPr>
        <p:spPr>
          <a:xfrm>
            <a:off x="635000" y="1778000"/>
            <a:ext cx="11176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3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and  v = (2, −1, 4).
Compute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F55DC78C-695D-FB4A-8EFF-DA5B81D70AC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6722F0FC-8B15-FE42-92C2-CD719A1DF251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87BBF16-9BC6-204B-8AE6-3FA58C93E062}"/>
              </a:ext>
            </a:extLst>
          </p:cNvPr>
          <p:cNvSpPr txBox="1"/>
          <p:nvPr/>
        </p:nvSpPr>
        <p:spPr>
          <a:xfrm>
            <a:off x="558800" y="3175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FFFFFF"/>
                </a:solidFill>
                <a:latin typeface="Arial"/>
                <a:cs typeface="Arial"/>
              </a:rPr>
              <a:t>Solution  (hidden — click or reveal in presentation mode)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292B912F-5983-0948-87C4-13A8CCA8F878}"/>
              </a:ext>
            </a:extLst>
          </p:cNvPr>
          <p:cNvSpPr txBox="1"/>
          <p:nvPr/>
        </p:nvSpPr>
        <p:spPr>
          <a:xfrm>
            <a:off x="635000" y="35560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Apply the scalar to each component: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B2F8B061-A9A7-BD40-A83C-A22B9D5E70E8}"/>
              </a:ext>
            </a:extLst>
          </p:cNvPr>
          <p:cNvSpPr txBox="1"/>
          <p:nvPr/>
        </p:nvSpPr>
        <p:spPr>
          <a:xfrm>
            <a:off x="635000" y="387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B0B0B0"/>
                </a:solidFill>
                <a:latin typeface="Cambria Math"/>
                <a:ea typeface="Cambria Math"/>
              </a:rPr>
              <a:t>3 · (2, −1, 4)  =  (3·2,  3·(−1),  3·4)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668F35CE-3957-D043-99F5-E2152A6606DF}"/>
              </a:ext>
            </a:extLst>
          </p:cNvPr>
          <p:cNvSpPr txBox="1"/>
          <p:nvPr/>
        </p:nvSpPr>
        <p:spPr>
          <a:xfrm>
            <a:off x="635000" y="4254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B0B0B0"/>
                </a:solidFill>
                <a:latin typeface="Cambria Math"/>
                <a:ea typeface="Cambria Math"/>
              </a:rPr>
              <a:t>                  =  (6,  −3,  12)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595FB724-FDC3-314A-A699-2C454497198C}"/>
              </a:ext>
            </a:extLst>
          </p:cNvPr>
          <p:cNvSpPr txBox="1"/>
          <p:nvPr/>
        </p:nvSpPr>
        <p:spPr>
          <a:xfrm>
            <a:off x="635000" y="4699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Check magnitude:   ‖v‖ = √(4+1+16) = √21   →   ‖3v‖ = 3√21 = √189 ✓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D27087B9-432B-CB44-B0F1-153136DD726F}"/>
              </a:ext>
            </a:extLst>
          </p:cNvPr>
          <p:cNvSpPr txBox="1"/>
          <p:nvPr/>
        </p:nvSpPr>
        <p:spPr>
          <a:xfrm>
            <a:off x="635000" y="49784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77777"/>
                </a:solidFill>
                <a:latin typeface="Arial"/>
                <a:cs typeface="Arial"/>
              </a:rPr>
              <a:t>Answer:   </a:t>
            </a:r>
            <a:r>
              <a:rPr lang="el-GR" sz="1300" b="1">
                <a:solidFill>
                  <a:srgbClr val="777777"/>
                </a:solidFill>
                <a:latin typeface="Arial"/>
                <a:cs typeface="Arial"/>
              </a:rPr>
              <a:t>α · </a:t>
            </a:r>
            <a:r>
              <a:rPr lang="en-US" sz="1300" b="1">
                <a:solidFill>
                  <a:srgbClr val="777777"/>
                </a:solidFill>
                <a:latin typeface="Arial"/>
                <a:cs typeface="Arial"/>
              </a:rPr>
              <a:t>v = (6, −3, 12)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B870DB80-2487-6F4C-AA89-CF92A07BFC6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D2ACBE7E-D5C1-8D43-846A-C34E650362E5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Each entry multiplied by </a:t>
            </a:r>
            <a:r>
              <a:rPr lang="el-GR" sz="1400" b="1" i="1">
                <a:solidFill>
                  <a:srgbClr val="FFFFFF"/>
                </a:solidFill>
                <a:latin typeface="Arial"/>
                <a:cs typeface="Arial"/>
              </a:rPr>
              <a:t>α = 3 — </a:t>
            </a:r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direction unchanged, length tripled</a:t>
            </a:r>
          </a:p>
        </p:txBody>
      </p:sp>
    </p:spTree>
    <p:extLst>
      <p:ext uri="{BB962C8B-B14F-4D97-AF65-F5344CB8AC3E}">
        <p14:creationId xmlns:p14="http://schemas.microsoft.com/office/powerpoint/2010/main" val="2657186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4A177C16-FFCF-0F44-8E29-60231FCD06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2AEA8CA7-E994-F345-A9AE-3B7962335A6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Scalar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003AA85B-1149-BF4E-9BCA-3C74D684584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Scaling a probability-like vector by ½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7B409B7C-F0B1-A34C-A7A8-BC7233592E3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CB4884A3-78C4-884F-ACA1-53169E6FB3F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6A89AC9B-4591-B64C-BDC4-498E7940CCF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A53B9F14-745D-AD43-B3BD-EF49C70445B1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v   where 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½ 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and   v = (0.6, 0.8, 0.4)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6226148A-681A-F442-AB1C-DE0411AB6C3D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301271F3-D298-854F-B624-A73370B8350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515F3CBF-7ECD-CA49-A667-73137FFF90C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Step1">
            <a:extLst>
              <a:ext uri="{FF2B5EF4-FFF2-40B4-BE49-F238E27FC236}">
                <a16:creationId xmlns:a16="http://schemas.microsoft.com/office/drawing/2014/main" id="{7CE262B3-1F51-184F-B7A3-BE6D01447D93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Apply the scalar to each component:</a:t>
            </a:r>
          </a:p>
        </p:txBody>
      </p:sp>
      <p:sp>
        <p:nvSpPr>
          <p:cNvPr id="30" name="SStep2">
            <a:extLst>
              <a:ext uri="{FF2B5EF4-FFF2-40B4-BE49-F238E27FC236}">
                <a16:creationId xmlns:a16="http://schemas.microsoft.com/office/drawing/2014/main" id="{0F2634F9-0B54-F64A-8828-12958AD308DC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α · </a:t>
            </a:r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v  =  ½ · (0.6, 0.8, 0.4)  =  (½·0.6,  ½·0.8,  ½·0.4)</a:t>
            </a:r>
          </a:p>
        </p:txBody>
      </p:sp>
      <p:sp>
        <p:nvSpPr>
          <p:cNvPr id="31" name="SStep3">
            <a:extLst>
              <a:ext uri="{FF2B5EF4-FFF2-40B4-BE49-F238E27FC236}">
                <a16:creationId xmlns:a16="http://schemas.microsoft.com/office/drawing/2014/main" id="{E7F3934F-659F-2741-B1FA-194935DCDE38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=  (0.3, 0.4, 0.2)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1CD13A9F-D6F8-FE4D-9ABC-2EE72CE3C561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magnitude:   ‖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α·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v‖ = |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α|·‖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v‖ = ½·√(0.36+0.64+0.16) = ½·√1.16 ≈ 0.539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F5070D4F-C6C8-0A4B-BBAA-B8930D066FC2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· </a:t>
            </a:r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v = (0.3, 0.4, 0.2)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F7C2F1F6-1675-EB46-8874-5EB2A0D3E80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0BB35AA-01AE-994B-9CD8-18287ED6275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Halving every entry halves the vector's magnitude — direction preserved</a:t>
            </a:r>
          </a:p>
        </p:txBody>
      </p:sp>
    </p:spTree>
    <p:extLst>
      <p:ext uri="{BB962C8B-B14F-4D97-AF65-F5344CB8AC3E}">
        <p14:creationId xmlns:p14="http://schemas.microsoft.com/office/powerpoint/2010/main" val="2383416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4A547F9-733D-6E4D-A3CC-4796DF2D0CC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24E654A-D476-8544-A912-D1927B02D20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Scalar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C863FBA-A592-F64D-BDFB-EA4579449F8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Negative scalar — flipping direction in a gradient-descent step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C6867DA7-EDBD-804C-A75E-74F2128C874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FCCF202B-16B9-604C-94AC-3F3243F0A74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E93FEA9-DC7A-9B4E-A57D-F57551A1E8DF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DA8AAB4-9AF1-704D-8BB6-E7D28D181E05}"/>
              </a:ext>
            </a:extLst>
          </p:cNvPr>
          <p:cNvSpPr txBox="1"/>
          <p:nvPr/>
        </p:nvSpPr>
        <p:spPr>
          <a:xfrm>
            <a:off x="558800" y="17526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 gradient step uses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= −0.1 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and  ∇L = (5, −2, 3, 1).
Compute the update vector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∇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L  (i.e.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θ_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new −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θ_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old).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17809978-A3A8-F942-B9C7-F0982170BF1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B7A207DD-7166-9B44-B70F-591F0540C74F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418155AC-5020-1843-92D1-E3429F97F4E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BECF18E2-1D6E-C340-BE93-36032C27218A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each component by −0.1: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20FCACA5-5FBD-3F43-BDEA-4D40C5B3E956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−0.1 · (5, −2, 3, 1)  =  (−0.1·5,  −0.1·(−2),  −0.1·3,  −0.1·1)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5B2F0945-2E07-FD43-AB7F-B4A508510C0E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=  (−0.5,  0.2,  −0.3,  −0.1)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A45AEA0E-1CB2-3D4A-B2DB-4B12C67B1678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note: the negative sign flips the gradient direction — we step downhill.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24E6956-5989-534F-8BB1-A605708679FB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· ∇</a:t>
            </a:r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L = (−0.5, 0.2, −0.3, −0.1)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FFB43F27-37BD-934E-A15A-B9A85F616C1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6FD30F82-E816-6049-A51E-3C6006137AB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Negative scalars reverse direction — this is exactly how gradient descent moves opposite the gradient</a:t>
            </a:r>
          </a:p>
        </p:txBody>
      </p:sp>
    </p:spTree>
    <p:extLst>
      <p:ext uri="{BB962C8B-B14F-4D97-AF65-F5344CB8AC3E}">
        <p14:creationId xmlns:p14="http://schemas.microsoft.com/office/powerpoint/2010/main" val="2109843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C8C0B8B-F474-1B43-98F2-EF4DCDCF6EE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35056D96-89A8-F240-9542-233000D7713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Addition / Subtraction with a Vector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0E9D19C0-91AD-614D-86AC-06FFCDBB3C1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Broadcasting — add (or subtract) the same number to every entry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3F31A55B-9FCA-0845-BFD9-6B4333231413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570A7A50-9BD8-EC42-B47C-3D34CDB57845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(broadcasted operation)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BA9AD71-1A6C-804E-8E48-E8CCB72AE905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  =  (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v₁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v₂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...,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vₙ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α)        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  =  (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v₁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v₂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...,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vₙ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α)</a:t>
            </a:r>
            <a:endParaRPr lang="en-US" sz="16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FD2D7A37-7A15-4D4F-941D-554FC20E0889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Strictly, this is broadcasting — not a textbook vector-space op. NumPy/PyTorch/TensorFlow all support it.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8F200A55-F7EB-CA4D-98A5-C541513786B7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6F4CE84E-DE0C-EB4D-8005-E663120E56D1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92BEAB9F-3B24-2943-8E0E-7072A6CC0D9E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221D16A8-BE38-F34C-A425-B3ADFA99E516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Adds (or subtracts) the same constant to every component.
Result dimension = same as v.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EDAF93BE-601F-C94E-9668-51E157E707B7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CA6307AE-B7F6-8F41-8E53-633FF6D56ED9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CDEDF238-AF6C-4340-96E2-FB5EBACF07EB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87D234EF-9011-844C-9CDF-67B2757F5A04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Translates the vector by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along the all-ones direction (1,1,...,1).
Direction and magnitude both change.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2F00FC4D-2F15-C142-8812-094CE1EBFE57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768BF404-7F4B-E648-9424-F3E261663AF3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56CE6469-C530-C448-9529-E52786C0E718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AFB65F2C-0828-8642-9035-36D971E4BF0F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Used for:
• Mean-centering: x −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μ
•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Bias addition in neural nets
• Image brightness shift
• Affine transformations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17A095CB-9960-9E44-B7B1-9FC7B090572F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827AFCB5-450A-5F46-B48A-BF21A390B0F9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Key idea:   v ±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α  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shifts every coordinate by the same amount — it's a translation, not a scaling.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7199379A-B9C4-3C4F-80A5-36A4EFF0287C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B6B8EC56-2FBF-7E40-A848-99ED1B19E32A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Adding a scalar = uniform shift on every entry (broadcasting)</a:t>
            </a:r>
          </a:p>
        </p:txBody>
      </p:sp>
    </p:spTree>
    <p:extLst>
      <p:ext uri="{BB962C8B-B14F-4D97-AF65-F5344CB8AC3E}">
        <p14:creationId xmlns:p14="http://schemas.microsoft.com/office/powerpoint/2010/main" val="11180063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C674A34D-32B1-484C-AC8D-B22F6397348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9358FEF-2394-684F-A0E0-75A2000421F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Addition / Subtraction — 2D Visual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E45E11F-8BFB-2843-942B-BBBC96C74C3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Adding a scalar to a vector shifts every coordinate equally — a uniform translation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08A4EA67-F880-8F46-8D92-8A60B48B88CF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BA3BCEB7-90FF-CC47-81B3-1E4B59CDADA1}"/>
              </a:ext>
            </a:extLst>
          </p:cNvPr>
          <p:cNvSpPr/>
          <p:nvPr/>
        </p:nvSpPr>
        <p:spPr>
          <a:xfrm>
            <a:off x="825500" y="3429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4725D937-933B-2048-AC7C-98AAF74AE90E}"/>
              </a:ext>
            </a:extLst>
          </p:cNvPr>
          <p:cNvSpPr/>
          <p:nvPr/>
        </p:nvSpPr>
        <p:spPr>
          <a:xfrm>
            <a:off x="431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-5">
            <a:extLst>
              <a:ext uri="{FF2B5EF4-FFF2-40B4-BE49-F238E27FC236}">
                <a16:creationId xmlns:a16="http://schemas.microsoft.com/office/drawing/2014/main" id="{B1F997B9-8F4A-0546-944B-C6F781824315}"/>
              </a:ext>
            </a:extLst>
          </p:cNvPr>
          <p:cNvSpPr/>
          <p:nvPr/>
        </p:nvSpPr>
        <p:spPr>
          <a:xfrm>
            <a:off x="1460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-4">
            <a:extLst>
              <a:ext uri="{FF2B5EF4-FFF2-40B4-BE49-F238E27FC236}">
                <a16:creationId xmlns:a16="http://schemas.microsoft.com/office/drawing/2014/main" id="{A706AED7-841F-D843-81F6-12E0A516CFEC}"/>
              </a:ext>
            </a:extLst>
          </p:cNvPr>
          <p:cNvSpPr/>
          <p:nvPr/>
        </p:nvSpPr>
        <p:spPr>
          <a:xfrm>
            <a:off x="203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-3">
            <a:extLst>
              <a:ext uri="{FF2B5EF4-FFF2-40B4-BE49-F238E27FC236}">
                <a16:creationId xmlns:a16="http://schemas.microsoft.com/office/drawing/2014/main" id="{0141F719-1C11-5D41-8801-6C27FB3DE127}"/>
              </a:ext>
            </a:extLst>
          </p:cNvPr>
          <p:cNvSpPr/>
          <p:nvPr/>
        </p:nvSpPr>
        <p:spPr>
          <a:xfrm>
            <a:off x="2603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Y-3">
            <a:extLst>
              <a:ext uri="{FF2B5EF4-FFF2-40B4-BE49-F238E27FC236}">
                <a16:creationId xmlns:a16="http://schemas.microsoft.com/office/drawing/2014/main" id="{F177CCFC-1775-864D-A65C-5D04B2C6FD47}"/>
              </a:ext>
            </a:extLst>
          </p:cNvPr>
          <p:cNvSpPr/>
          <p:nvPr/>
        </p:nvSpPr>
        <p:spPr>
          <a:xfrm>
            <a:off x="4279900" y="5143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-2">
            <a:extLst>
              <a:ext uri="{FF2B5EF4-FFF2-40B4-BE49-F238E27FC236}">
                <a16:creationId xmlns:a16="http://schemas.microsoft.com/office/drawing/2014/main" id="{C22F5FEF-9221-954A-B3B6-F603DB7F6E50}"/>
              </a:ext>
            </a:extLst>
          </p:cNvPr>
          <p:cNvSpPr/>
          <p:nvPr/>
        </p:nvSpPr>
        <p:spPr>
          <a:xfrm>
            <a:off x="3175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Y-2">
            <a:extLst>
              <a:ext uri="{FF2B5EF4-FFF2-40B4-BE49-F238E27FC236}">
                <a16:creationId xmlns:a16="http://schemas.microsoft.com/office/drawing/2014/main" id="{58749CE3-7E85-E248-B6E8-59333EC1A355}"/>
              </a:ext>
            </a:extLst>
          </p:cNvPr>
          <p:cNvSpPr/>
          <p:nvPr/>
        </p:nvSpPr>
        <p:spPr>
          <a:xfrm>
            <a:off x="4279900" y="4572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-1">
            <a:extLst>
              <a:ext uri="{FF2B5EF4-FFF2-40B4-BE49-F238E27FC236}">
                <a16:creationId xmlns:a16="http://schemas.microsoft.com/office/drawing/2014/main" id="{FDAE2319-5C30-994C-B5A3-F6D487CB5C79}"/>
              </a:ext>
            </a:extLst>
          </p:cNvPr>
          <p:cNvSpPr/>
          <p:nvPr/>
        </p:nvSpPr>
        <p:spPr>
          <a:xfrm>
            <a:off x="3746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Y-1">
            <a:extLst>
              <a:ext uri="{FF2B5EF4-FFF2-40B4-BE49-F238E27FC236}">
                <a16:creationId xmlns:a16="http://schemas.microsoft.com/office/drawing/2014/main" id="{92880C77-3ED3-AE48-8BC2-A6ABBA7B3B1A}"/>
              </a:ext>
            </a:extLst>
          </p:cNvPr>
          <p:cNvSpPr/>
          <p:nvPr/>
        </p:nvSpPr>
        <p:spPr>
          <a:xfrm>
            <a:off x="4279900" y="4000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X1">
            <a:extLst>
              <a:ext uri="{FF2B5EF4-FFF2-40B4-BE49-F238E27FC236}">
                <a16:creationId xmlns:a16="http://schemas.microsoft.com/office/drawing/2014/main" id="{89F5B06E-A57C-A348-9F0A-9323AA3B6CCD}"/>
              </a:ext>
            </a:extLst>
          </p:cNvPr>
          <p:cNvSpPr/>
          <p:nvPr/>
        </p:nvSpPr>
        <p:spPr>
          <a:xfrm>
            <a:off x="4889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1">
            <a:extLst>
              <a:ext uri="{FF2B5EF4-FFF2-40B4-BE49-F238E27FC236}">
                <a16:creationId xmlns:a16="http://schemas.microsoft.com/office/drawing/2014/main" id="{B309B559-6719-454B-A0C4-7E894A6251E8}"/>
              </a:ext>
            </a:extLst>
          </p:cNvPr>
          <p:cNvSpPr/>
          <p:nvPr/>
        </p:nvSpPr>
        <p:spPr>
          <a:xfrm>
            <a:off x="4279900" y="2857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X2">
            <a:extLst>
              <a:ext uri="{FF2B5EF4-FFF2-40B4-BE49-F238E27FC236}">
                <a16:creationId xmlns:a16="http://schemas.microsoft.com/office/drawing/2014/main" id="{9D2A2532-7688-1349-9C86-7580E8A46151}"/>
              </a:ext>
            </a:extLst>
          </p:cNvPr>
          <p:cNvSpPr/>
          <p:nvPr/>
        </p:nvSpPr>
        <p:spPr>
          <a:xfrm>
            <a:off x="5461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2">
            <a:extLst>
              <a:ext uri="{FF2B5EF4-FFF2-40B4-BE49-F238E27FC236}">
                <a16:creationId xmlns:a16="http://schemas.microsoft.com/office/drawing/2014/main" id="{08ED1143-80E9-6D48-A2E4-A4E22DCF96D5}"/>
              </a:ext>
            </a:extLst>
          </p:cNvPr>
          <p:cNvSpPr/>
          <p:nvPr/>
        </p:nvSpPr>
        <p:spPr>
          <a:xfrm>
            <a:off x="4279900" y="228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X3">
            <a:extLst>
              <a:ext uri="{FF2B5EF4-FFF2-40B4-BE49-F238E27FC236}">
                <a16:creationId xmlns:a16="http://schemas.microsoft.com/office/drawing/2014/main" id="{4CCEF1D6-5ED7-0A4C-B80E-DF83F9EEA919}"/>
              </a:ext>
            </a:extLst>
          </p:cNvPr>
          <p:cNvSpPr/>
          <p:nvPr/>
        </p:nvSpPr>
        <p:spPr>
          <a:xfrm>
            <a:off x="6032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kY3">
            <a:extLst>
              <a:ext uri="{FF2B5EF4-FFF2-40B4-BE49-F238E27FC236}">
                <a16:creationId xmlns:a16="http://schemas.microsoft.com/office/drawing/2014/main" id="{D7188986-079B-9C42-9FA8-505C7777DA69}"/>
              </a:ext>
            </a:extLst>
          </p:cNvPr>
          <p:cNvSpPr/>
          <p:nvPr/>
        </p:nvSpPr>
        <p:spPr>
          <a:xfrm>
            <a:off x="4279900" y="1714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kX4">
            <a:extLst>
              <a:ext uri="{FF2B5EF4-FFF2-40B4-BE49-F238E27FC236}">
                <a16:creationId xmlns:a16="http://schemas.microsoft.com/office/drawing/2014/main" id="{CBAEF0CF-54F7-6D44-8EEC-CB86FCA991B4}"/>
              </a:ext>
            </a:extLst>
          </p:cNvPr>
          <p:cNvSpPr/>
          <p:nvPr/>
        </p:nvSpPr>
        <p:spPr>
          <a:xfrm>
            <a:off x="660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kX5">
            <a:extLst>
              <a:ext uri="{FF2B5EF4-FFF2-40B4-BE49-F238E27FC236}">
                <a16:creationId xmlns:a16="http://schemas.microsoft.com/office/drawing/2014/main" id="{A61D0B23-A396-BE45-AFC0-393C8EAFEC71}"/>
              </a:ext>
            </a:extLst>
          </p:cNvPr>
          <p:cNvSpPr/>
          <p:nvPr/>
        </p:nvSpPr>
        <p:spPr>
          <a:xfrm>
            <a:off x="7175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Vec_v">
            <a:extLst>
              <a:ext uri="{FF2B5EF4-FFF2-40B4-BE49-F238E27FC236}">
                <a16:creationId xmlns:a16="http://schemas.microsoft.com/office/drawing/2014/main" id="{5EB265E4-32FB-0B4E-9816-F20E5936AAA3}"/>
              </a:ext>
            </a:extLst>
          </p:cNvPr>
          <p:cNvSpPr/>
          <p:nvPr/>
        </p:nvSpPr>
        <p:spPr>
          <a:xfrm rot="-1593903">
            <a:off x="4250543" y="3111500"/>
            <a:ext cx="1277912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ec_vLbl">
            <a:extLst>
              <a:ext uri="{FF2B5EF4-FFF2-40B4-BE49-F238E27FC236}">
                <a16:creationId xmlns:a16="http://schemas.microsoft.com/office/drawing/2014/main" id="{4F44E105-6D5F-0946-8C00-D0579DBB7E2F}"/>
              </a:ext>
            </a:extLst>
          </p:cNvPr>
          <p:cNvSpPr txBox="1"/>
          <p:nvPr/>
        </p:nvSpPr>
        <p:spPr>
          <a:xfrm>
            <a:off x="5562600" y="27559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49" name="Vec_va">
            <a:extLst>
              <a:ext uri="{FF2B5EF4-FFF2-40B4-BE49-F238E27FC236}">
                <a16:creationId xmlns:a16="http://schemas.microsoft.com/office/drawing/2014/main" id="{CB8D0F1B-4B54-B04E-A712-E1883B8CC8A4}"/>
              </a:ext>
            </a:extLst>
          </p:cNvPr>
          <p:cNvSpPr/>
          <p:nvPr/>
        </p:nvSpPr>
        <p:spPr>
          <a:xfrm rot="-2212194">
            <a:off x="4032250" y="2540000"/>
            <a:ext cx="2857500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Vec_vaLbl">
            <a:extLst>
              <a:ext uri="{FF2B5EF4-FFF2-40B4-BE49-F238E27FC236}">
                <a16:creationId xmlns:a16="http://schemas.microsoft.com/office/drawing/2014/main" id="{E85FBC36-1428-534A-8931-859F39E69F13}"/>
              </a:ext>
            </a:extLst>
          </p:cNvPr>
          <p:cNvSpPr txBox="1"/>
          <p:nvPr/>
        </p:nvSpPr>
        <p:spPr>
          <a:xfrm>
            <a:off x="6705600" y="16129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+ 2 = (4, 3)</a:t>
            </a:r>
          </a:p>
        </p:txBody>
      </p:sp>
      <p:sp>
        <p:nvSpPr>
          <p:cNvPr id="51" name="Vec_vs">
            <a:extLst>
              <a:ext uri="{FF2B5EF4-FFF2-40B4-BE49-F238E27FC236}">
                <a16:creationId xmlns:a16="http://schemas.microsoft.com/office/drawing/2014/main" id="{16ED1DCE-EB64-8543-878E-0C60AA01725A}"/>
              </a:ext>
            </a:extLst>
          </p:cNvPr>
          <p:cNvSpPr/>
          <p:nvPr/>
        </p:nvSpPr>
        <p:spPr>
          <a:xfrm rot="5400000">
            <a:off x="4032250" y="3683000"/>
            <a:ext cx="571500" cy="635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ec_vsLbl">
            <a:extLst>
              <a:ext uri="{FF2B5EF4-FFF2-40B4-BE49-F238E27FC236}">
                <a16:creationId xmlns:a16="http://schemas.microsoft.com/office/drawing/2014/main" id="{54264C11-0BB0-3543-91F1-7403279EF40C}"/>
              </a:ext>
            </a:extLst>
          </p:cNvPr>
          <p:cNvSpPr txBox="1"/>
          <p:nvPr/>
        </p:nvSpPr>
        <p:spPr>
          <a:xfrm>
            <a:off x="4419600" y="40513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Arial"/>
                <a:cs typeface="Arial"/>
              </a:rPr>
              <a:t>v − 2 = (0, −1)</a:t>
            </a:r>
          </a:p>
        </p:txBody>
      </p:sp>
      <p:sp>
        <p:nvSpPr>
          <p:cNvPr id="53" name="DashH">
            <a:extLst>
              <a:ext uri="{FF2B5EF4-FFF2-40B4-BE49-F238E27FC236}">
                <a16:creationId xmlns:a16="http://schemas.microsoft.com/office/drawing/2014/main" id="{16255824-2859-7744-A717-F75EA232BE99}"/>
              </a:ext>
            </a:extLst>
          </p:cNvPr>
          <p:cNvSpPr/>
          <p:nvPr/>
        </p:nvSpPr>
        <p:spPr>
          <a:xfrm>
            <a:off x="5461000" y="2844800"/>
            <a:ext cx="1143000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DashV">
            <a:extLst>
              <a:ext uri="{FF2B5EF4-FFF2-40B4-BE49-F238E27FC236}">
                <a16:creationId xmlns:a16="http://schemas.microsoft.com/office/drawing/2014/main" id="{01696E2A-EE87-D747-9919-7C8E17320609}"/>
              </a:ext>
            </a:extLst>
          </p:cNvPr>
          <p:cNvSpPr/>
          <p:nvPr/>
        </p:nvSpPr>
        <p:spPr>
          <a:xfrm>
            <a:off x="6591300" y="1714500"/>
            <a:ext cx="25400" cy="1143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ShiftLbl">
            <a:extLst>
              <a:ext uri="{FF2B5EF4-FFF2-40B4-BE49-F238E27FC236}">
                <a16:creationId xmlns:a16="http://schemas.microsoft.com/office/drawing/2014/main" id="{B714E2DF-3B19-0F4F-9592-19F7577D1365}"/>
              </a:ext>
            </a:extLst>
          </p:cNvPr>
          <p:cNvSpPr txBox="1"/>
          <p:nvPr/>
        </p:nvSpPr>
        <p:spPr>
          <a:xfrm>
            <a:off x="5588000" y="29083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000" i="1">
                <a:solidFill>
                  <a:srgbClr val="B7A57A"/>
                </a:solidFill>
                <a:latin typeface="Arial"/>
                <a:cs typeface="Arial"/>
              </a:rPr>
              <a:t>+α </a:t>
            </a:r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in x</a:t>
            </a:r>
          </a:p>
        </p:txBody>
      </p:sp>
      <p:sp>
        <p:nvSpPr>
          <p:cNvPr id="56" name="ShiftLbl2">
            <a:extLst>
              <a:ext uri="{FF2B5EF4-FFF2-40B4-BE49-F238E27FC236}">
                <a16:creationId xmlns:a16="http://schemas.microsoft.com/office/drawing/2014/main" id="{FD4AA341-C6FF-B946-8D05-644FA0BFC183}"/>
              </a:ext>
            </a:extLst>
          </p:cNvPr>
          <p:cNvSpPr txBox="1"/>
          <p:nvPr/>
        </p:nvSpPr>
        <p:spPr>
          <a:xfrm>
            <a:off x="6654800" y="2286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000" i="1">
                <a:solidFill>
                  <a:srgbClr val="B7A57A"/>
                </a:solidFill>
                <a:latin typeface="Arial"/>
                <a:cs typeface="Arial"/>
              </a:rPr>
              <a:t>+α </a:t>
            </a:r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in y</a:t>
            </a:r>
          </a:p>
        </p:txBody>
      </p:sp>
      <p:sp>
        <p:nvSpPr>
          <p:cNvPr id="57" name="LegCard">
            <a:extLst>
              <a:ext uri="{FF2B5EF4-FFF2-40B4-BE49-F238E27FC236}">
                <a16:creationId xmlns:a16="http://schemas.microsoft.com/office/drawing/2014/main" id="{018E3B1E-7C9E-D643-8F4A-9763FE1721C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LegHdr">
            <a:extLst>
              <a:ext uri="{FF2B5EF4-FFF2-40B4-BE49-F238E27FC236}">
                <a16:creationId xmlns:a16="http://schemas.microsoft.com/office/drawing/2014/main" id="{3E64A284-092A-4349-8983-8B9AE9A89E2D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LegHdrT">
            <a:extLst>
              <a:ext uri="{FF2B5EF4-FFF2-40B4-BE49-F238E27FC236}">
                <a16:creationId xmlns:a16="http://schemas.microsoft.com/office/drawing/2014/main" id="{081E9A60-A931-0C4C-8746-87C5AE03F28C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Geometry of v ± </a:t>
            </a:r>
            <a:r>
              <a:rPr lang="el-GR" sz="1300" b="1">
                <a:solidFill>
                  <a:srgbClr val="FFFFFF"/>
                </a:solidFill>
                <a:latin typeface="Arial"/>
                <a:cs typeface="Arial"/>
              </a:rPr>
              <a:t>α</a:t>
            </a: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0" name="Leg1">
            <a:extLst>
              <a:ext uri="{FF2B5EF4-FFF2-40B4-BE49-F238E27FC236}">
                <a16:creationId xmlns:a16="http://schemas.microsoft.com/office/drawing/2014/main" id="{4213BD51-6F6A-2A44-BFBD-659E1AF0AAD1}"/>
              </a:ext>
            </a:extLst>
          </p:cNvPr>
          <p:cNvSpPr txBox="1"/>
          <p:nvPr/>
        </p:nvSpPr>
        <p:spPr>
          <a:xfrm>
            <a:off x="8382000" y="184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Original vector</a:t>
            </a:r>
          </a:p>
        </p:txBody>
      </p:sp>
      <p:sp>
        <p:nvSpPr>
          <p:cNvPr id="61" name="Leg1V">
            <a:extLst>
              <a:ext uri="{FF2B5EF4-FFF2-40B4-BE49-F238E27FC236}">
                <a16:creationId xmlns:a16="http://schemas.microsoft.com/office/drawing/2014/main" id="{22377EB8-DAD3-2148-83EA-432EAA7135CC}"/>
              </a:ext>
            </a:extLst>
          </p:cNvPr>
          <p:cNvSpPr txBox="1"/>
          <p:nvPr/>
        </p:nvSpPr>
        <p:spPr>
          <a:xfrm>
            <a:off x="8382000" y="205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62" name="Leg2">
            <a:extLst>
              <a:ext uri="{FF2B5EF4-FFF2-40B4-BE49-F238E27FC236}">
                <a16:creationId xmlns:a16="http://schemas.microsoft.com/office/drawing/2014/main" id="{CC31884D-A9D0-3A49-9982-689BB70A25FD}"/>
              </a:ext>
            </a:extLst>
          </p:cNvPr>
          <p:cNvSpPr txBox="1"/>
          <p:nvPr/>
        </p:nvSpPr>
        <p:spPr>
          <a:xfrm>
            <a:off x="8382000" y="2476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Add scalar </a:t>
            </a:r>
            <a:r>
              <a:rPr lang="el-GR" sz="1100">
                <a:solidFill>
                  <a:srgbClr val="777777"/>
                </a:solidFill>
                <a:latin typeface="Arial"/>
                <a:cs typeface="Arial"/>
              </a:rPr>
              <a:t>α = 2</a:t>
            </a:r>
            <a:endParaRPr lang="en-US" sz="1100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63" name="Leg2V">
            <a:extLst>
              <a:ext uri="{FF2B5EF4-FFF2-40B4-BE49-F238E27FC236}">
                <a16:creationId xmlns:a16="http://schemas.microsoft.com/office/drawing/2014/main" id="{F047017E-FCDD-9E42-B71D-389387D48A04}"/>
              </a:ext>
            </a:extLst>
          </p:cNvPr>
          <p:cNvSpPr txBox="1"/>
          <p:nvPr/>
        </p:nvSpPr>
        <p:spPr>
          <a:xfrm>
            <a:off x="8382000" y="2692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Arial"/>
                <a:cs typeface="Arial"/>
              </a:rPr>
              <a:t>v + 2 = (4, 3)</a:t>
            </a:r>
          </a:p>
        </p:txBody>
      </p:sp>
      <p:sp>
        <p:nvSpPr>
          <p:cNvPr id="64" name="Leg3">
            <a:extLst>
              <a:ext uri="{FF2B5EF4-FFF2-40B4-BE49-F238E27FC236}">
                <a16:creationId xmlns:a16="http://schemas.microsoft.com/office/drawing/2014/main" id="{3D065642-F79F-F84E-84C3-8C592B135DE6}"/>
              </a:ext>
            </a:extLst>
          </p:cNvPr>
          <p:cNvSpPr txBox="1"/>
          <p:nvPr/>
        </p:nvSpPr>
        <p:spPr>
          <a:xfrm>
            <a:off x="8382000" y="311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Subtract scalar </a:t>
            </a:r>
            <a:r>
              <a:rPr lang="el-GR" sz="1100">
                <a:solidFill>
                  <a:srgbClr val="777777"/>
                </a:solidFill>
                <a:latin typeface="Arial"/>
                <a:cs typeface="Arial"/>
              </a:rPr>
              <a:t>α = 2</a:t>
            </a:r>
            <a:endParaRPr lang="en-US" sz="1100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65" name="Leg3V">
            <a:extLst>
              <a:ext uri="{FF2B5EF4-FFF2-40B4-BE49-F238E27FC236}">
                <a16:creationId xmlns:a16="http://schemas.microsoft.com/office/drawing/2014/main" id="{8392C318-CCB6-2D4B-9475-8DED6A851A0B}"/>
              </a:ext>
            </a:extLst>
          </p:cNvPr>
          <p:cNvSpPr txBox="1"/>
          <p:nvPr/>
        </p:nvSpPr>
        <p:spPr>
          <a:xfrm>
            <a:off x="8382000" y="332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v − 2 = (0, −1)</a:t>
            </a:r>
          </a:p>
        </p:txBody>
      </p:sp>
      <p:sp>
        <p:nvSpPr>
          <p:cNvPr id="66" name="LegRuleBox">
            <a:extLst>
              <a:ext uri="{FF2B5EF4-FFF2-40B4-BE49-F238E27FC236}">
                <a16:creationId xmlns:a16="http://schemas.microsoft.com/office/drawing/2014/main" id="{F24686C5-384F-E64F-8C26-7294104E3097}"/>
              </a:ext>
            </a:extLst>
          </p:cNvPr>
          <p:cNvSpPr/>
          <p:nvPr/>
        </p:nvSpPr>
        <p:spPr>
          <a:xfrm>
            <a:off x="8382000" y="3746500"/>
            <a:ext cx="3175000" cy="16764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LegRule">
            <a:extLst>
              <a:ext uri="{FF2B5EF4-FFF2-40B4-BE49-F238E27FC236}">
                <a16:creationId xmlns:a16="http://schemas.microsoft.com/office/drawing/2014/main" id="{F51BECDC-273F-7540-938F-0BBEF010C476}"/>
              </a:ext>
            </a:extLst>
          </p:cNvPr>
          <p:cNvSpPr txBox="1"/>
          <p:nvPr/>
        </p:nvSpPr>
        <p:spPr>
          <a:xfrm>
            <a:off x="8483600" y="3810000"/>
            <a:ext cx="2971800" cy="154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Broadcasting:
</a:t>
            </a:r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is added to every component
of v — neither direction nor
shape is preserved, the entire
vector shifts uniformly
along (1, 1, …, 1).</a:t>
            </a:r>
          </a:p>
        </p:txBody>
      </p:sp>
      <p:sp>
        <p:nvSpPr>
          <p:cNvPr id="68" name="TkBar">
            <a:extLst>
              <a:ext uri="{FF2B5EF4-FFF2-40B4-BE49-F238E27FC236}">
                <a16:creationId xmlns:a16="http://schemas.microsoft.com/office/drawing/2014/main" id="{62083F41-455D-6E4E-AE2C-8E4B9F05B62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kText">
            <a:extLst>
              <a:ext uri="{FF2B5EF4-FFF2-40B4-BE49-F238E27FC236}">
                <a16:creationId xmlns:a16="http://schemas.microsoft.com/office/drawing/2014/main" id="{8972F856-CD01-3647-85A5-D2E731F1F27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v ± </a:t>
            </a:r>
            <a:r>
              <a:rPr lang="el-GR" sz="1400" b="1" i="1">
                <a:solidFill>
                  <a:srgbClr val="FFFFFF"/>
                </a:solidFill>
                <a:latin typeface="Arial"/>
                <a:cs typeface="Arial"/>
              </a:rPr>
              <a:t>α = </a:t>
            </a:r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uniform translation along the diagonal — every coordinate moves by the same amount</a:t>
            </a:r>
          </a:p>
        </p:txBody>
      </p:sp>
    </p:spTree>
    <p:extLst>
      <p:ext uri="{BB962C8B-B14F-4D97-AF65-F5344CB8AC3E}">
        <p14:creationId xmlns:p14="http://schemas.microsoft.com/office/powerpoint/2010/main" val="20022812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AD9DA24-478A-2B4C-994A-2BDD4A99DF8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87E5A7D-5D12-6F45-AAE8-2928BF91CB0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Scalar Addition to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4D7CCA3-2BEE-624D-8AD5-940C9CCD7F05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Centering by adding a scalar to every coordinate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76DF9FD-02FA-9141-8E69-4931A58288E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55891C80-FCC7-334B-990A-68459AD9FFED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5368CA7-46C9-2F4C-BFE6-765587F0B5A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CBA0995-9863-DE46-AED7-6E0B27415D7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v +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where   v = (3, 7, 1, 5)   and 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-4</a:t>
            </a:r>
            <a:endParaRPr lang="en-US" sz="20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86AA489-B532-EE48-A27B-52D6F91784D7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B4B7FE1-2DDF-BB44-A2A5-961E3A4ADC8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3458EFC-EEC5-9B43-B38D-46AC14BE7F6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C4499D75-C2C9-0649-A8AA-8E2B1D4D9A5D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Add the scalar (-4) to each component (broadcasting):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59D04A1C-E877-CA4F-BCB6-14543D2C53F8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v + </a:t>
            </a:r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α  =  (3 + (-4),  7 + (-4),  1 + (-4),  5 + (-4))</a:t>
            </a:r>
            <a:endParaRPr lang="en-US" sz="1600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97F38F93-F3F0-6A43-9C32-727C171812E1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=  (-1, 3, -3, 1)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9D7E0A79-5C5D-4044-8D6C-CC140D78C96E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reading: every entry shifted left by 4 — same vector translated, magnitude changes.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1B22D8D-09DA-4B4C-9F5D-7BF4200BDF02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v +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= (-1, 3, -3, 1)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2654407E-8E0A-5444-AD63-A25A31D52F6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1806F0F-AF3A-EB4C-9774-79A82038296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Adding a scalar = uniform shift along every dimension</a:t>
            </a:r>
          </a:p>
        </p:txBody>
      </p:sp>
    </p:spTree>
    <p:extLst>
      <p:ext uri="{BB962C8B-B14F-4D97-AF65-F5344CB8AC3E}">
        <p14:creationId xmlns:p14="http://schemas.microsoft.com/office/powerpoint/2010/main" val="3307662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3BCEB65-2137-2E44-8716-8C7988EB6D1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6E7A4AF-3118-6741-B6E6-CD8EFB27F34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Scalar Add/Sub with a Vector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814EB7C-00A9-9645-8EA7-090E975680BD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Mean-centering: subtract the mean from every entry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25B5DE3B-1EDF-5345-B532-7F4AD789E75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F987E94C-5DBF-0542-B233-CBF4DD7D9517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A8C600F5-F67C-D045-8D1C-EA94FB09287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7DC0EDA9-D1FC-2E45-AD47-2E34FA524407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Center the score vector  s = (8, 6, 10, 4)  by subtracting its mean.
Compute  s −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μ 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where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μ =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mean(s).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2FB9671C-5A37-CD48-868E-F2359D478EB9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AD80D77D-23F6-3045-8180-CA252ED51EE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B0AE6141-7363-2E47-B0EB-97EDD28ABC8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2032CCC5-17A3-D746-AE74-2FA2A9ED5469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Mean:  </a:t>
            </a:r>
            <a:r>
              <a:rPr lang="el-GR" sz="1300" i="1">
                <a:solidFill>
                  <a:srgbClr val="B0B0B0"/>
                </a:solidFill>
                <a:latin typeface="Cambria Math"/>
                <a:ea typeface="Cambria Math"/>
              </a:rPr>
              <a:t>μ = (8+6+10+4)/4  =  28/4  =  7.</a:t>
            </a:r>
            <a:endParaRPr lang="en-US" sz="1300" i="1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4F465C0A-5843-8440-892F-1C24CCC28C7A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Subtract </a:t>
            </a:r>
            <a:r>
              <a:rPr lang="el-GR" sz="1200" i="1">
                <a:solidFill>
                  <a:srgbClr val="B0B0B0"/>
                </a:solidFill>
                <a:latin typeface="Arial"/>
                <a:cs typeface="Arial"/>
              </a:rPr>
              <a:t>μ </a:t>
            </a:r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from each entry: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BD24D784-0623-9F43-8941-6ED5E4A249CD}"/>
              </a:ext>
            </a:extLst>
          </p:cNvPr>
          <p:cNvSpPr txBox="1"/>
          <p:nvPr/>
        </p:nvSpPr>
        <p:spPr>
          <a:xfrm>
            <a:off x="558800" y="4089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 − </a:t>
            </a:r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μ  =  (8−7, 6−7, 10−7, 4−7)  =  (1, −1, 3, −3)</a:t>
            </a:r>
            <a:endParaRPr lang="en-US" sz="1600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D07E4F62-4DEF-744D-AFBE-8B6B13953A38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Check:  the entries of the centered vector sum to 0  (1 − 1 + 3 − 3 = 0). ✓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7942AB4F-A94C-334B-8384-289EC98E6979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s −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μ = (1, −1, 3, −3)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9C1F7092-895B-A545-B98F-747F24B764C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5F0E3E78-9C2C-9346-B8EA-70BCF7EC4A7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Subtracting the mean shifts a feature so it's centered at zero — a standard preprocessing step</a:t>
            </a:r>
          </a:p>
        </p:txBody>
      </p:sp>
    </p:spTree>
    <p:extLst>
      <p:ext uri="{BB962C8B-B14F-4D97-AF65-F5344CB8AC3E}">
        <p14:creationId xmlns:p14="http://schemas.microsoft.com/office/powerpoint/2010/main" val="11955513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E10E14B-4474-0949-9D4F-E84714AA898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A5015F-E308-E54D-9C26-BE8865FA990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Scalar Add/Sub with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C1FAEE68-20C4-A145-82B7-059C16B1221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Shifting temperature data: convert °C → °F midpoint shift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8A38F65-FF1A-9448-BF00-923F059ED48A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696CCF9-4BCD-6B49-AF20-4F0696D1337E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0223E030-CD18-A340-9A1C-69D6F6ED58EC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0BB6597B-6A8F-4544-83C8-4318A797B8A3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Daily highs (°C):  t = (18, 21, 19, 22, 20).  Add 32 to every entry to shift to a new scale.
Compute  t + 32.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51A0553-8C5D-6F42-9490-F4697196F75E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D082627-82B2-1749-AC4B-678722DD5D5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0E1DA0F-4678-164D-812C-24EB2CEA6DA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0ACB102-1AAA-6248-AC1C-B62AD90D054E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Broadcast the scalar to a vector of equal length: 32 → (32, 32, 32, 32, 32).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C34EBE73-C216-084C-85C6-42A5E69E2B09}"/>
              </a:ext>
            </a:extLst>
          </p:cNvPr>
          <p:cNvSpPr txBox="1"/>
          <p:nvPr/>
        </p:nvSpPr>
        <p:spPr>
          <a:xfrm>
            <a:off x="558800" y="3835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element-wise: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B5D4A938-E91E-544C-A5F3-DDC5203E7737}"/>
              </a:ext>
            </a:extLst>
          </p:cNvPr>
          <p:cNvSpPr txBox="1"/>
          <p:nvPr/>
        </p:nvSpPr>
        <p:spPr>
          <a:xfrm>
            <a:off x="558800" y="4064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t + 32  =  (18+32, 21+32, 19+32, 22+32, 20+32)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6CD81871-0698-4040-808C-D36E2B6B7D58}"/>
              </a:ext>
            </a:extLst>
          </p:cNvPr>
          <p:cNvSpPr txBox="1"/>
          <p:nvPr/>
        </p:nvSpPr>
        <p:spPr>
          <a:xfrm>
            <a:off x="558800" y="4368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          =  (50, 53, 51, 54, 52)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CFEBC5AE-71CA-9642-883D-F00BDA5FAC7E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t + 32 = (50, 53, 51, 54, 52)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4E65EE38-CDE5-F546-83A6-C029BA6F94F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F9B116CD-289F-BA47-8F92-E70459B608F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FFFFFF"/>
                </a:solidFill>
                <a:latin typeface="Arial"/>
                <a:cs typeface="Arial"/>
              </a:rPr>
              <a:t>Adding a scalar shifts every entry by the same amount — direction and shape are preserved, location moves</a:t>
            </a:r>
          </a:p>
        </p:txBody>
      </p:sp>
    </p:spTree>
    <p:extLst>
      <p:ext uri="{BB962C8B-B14F-4D97-AF65-F5344CB8AC3E}">
        <p14:creationId xmlns:p14="http://schemas.microsoft.com/office/powerpoint/2010/main" val="648132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Exercise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Broadcasting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plot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b="-9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the three original vectors on the BEFORE grid, then plot each shifted vector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6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Adding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scalar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shifts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every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point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diagonally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by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(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, 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)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up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and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right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keeping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the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cloud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′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shape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4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C0392B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=(1, 2)   </m:t>
                      </m:r>
                      <m:r>
                        <a:rPr lang="en-US">
                          <a:solidFill>
                            <a:srgbClr val="2E5FB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=(2, 1)   </m:t>
                      </m:r>
                      <m:r>
                        <a:rPr lang="en-US">
                          <a:solidFill>
                            <a:srgbClr val="C77E0A"/>
                          </a:solidFill>
                          <a:latin typeface="Cambria Math"/>
                        </a:rPr>
                        <m:t>𝒄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=(0, 3)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5"/>
                <a:stretch>
                  <a:fillRect t="-4348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Ex1_Alpha"/>
              <p:cNvSpPr/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0" name="Ex1_Alph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for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each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on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AFTER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grid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7"/>
                <a:stretch>
                  <a:fillRect l="-238" t="-4348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you plot a, b, c here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00A7B5"/>
                </a:solidFill>
                <a:latin typeface="Calibri"/>
              </a:rPr>
              <a:t>AFTER — solution: a+α, b+α, c+α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700" name="SolDot"/>
          <p:cNvSpPr/>
          <p:nvPr/>
        </p:nvSpPr>
        <p:spPr>
          <a:xfrm>
            <a:off x="8667750" y="3092450"/>
            <a:ext cx="165100" cy="1651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1" name="SolDotLbl"/>
          <p:cNvSpPr/>
          <p:nvPr/>
        </p:nvSpPr>
        <p:spPr>
          <a:xfrm>
            <a:off x="8851900" y="29591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C0392B"/>
                </a:solidFill>
                <a:latin typeface="Calibri"/>
              </a:rPr>
              <a:t>a+α</a:t>
            </a:r>
          </a:p>
        </p:txBody>
      </p:sp>
      <p:sp>
        <p:nvSpPr>
          <p:cNvPr id="702" name="SolDot"/>
          <p:cNvSpPr/>
          <p:nvPr/>
        </p:nvSpPr>
        <p:spPr>
          <a:xfrm>
            <a:off x="9150350" y="3575050"/>
            <a:ext cx="165100" cy="165100"/>
          </a:xfrm>
          <a:prstGeom prst="ellipse">
            <a:avLst/>
          </a:prstGeom>
          <a:solidFill>
            <a:srgbClr val="2E5FB0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SolDotLbl"/>
          <p:cNvSpPr/>
          <p:nvPr/>
        </p:nvSpPr>
        <p:spPr>
          <a:xfrm>
            <a:off x="9334500" y="34417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2E5FB0"/>
                </a:solidFill>
                <a:latin typeface="Calibri"/>
              </a:rPr>
              <a:t>b+α</a:t>
            </a:r>
          </a:p>
        </p:txBody>
      </p:sp>
      <p:sp>
        <p:nvSpPr>
          <p:cNvPr id="704" name="SolDot"/>
          <p:cNvSpPr/>
          <p:nvPr/>
        </p:nvSpPr>
        <p:spPr>
          <a:xfrm>
            <a:off x="8185150" y="26098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5" name="SolDotLbl"/>
          <p:cNvSpPr/>
          <p:nvPr/>
        </p:nvSpPr>
        <p:spPr>
          <a:xfrm>
            <a:off x="8369300" y="24765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C77E0A"/>
                </a:solidFill>
                <a:latin typeface="Calibri"/>
              </a:rPr>
              <a:t>c+α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4462309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Broadcasting: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−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𝜶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the three original vectors on the BEFORE grid, then plot each shifted vector v − α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1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Subtracting a scalar from every component shifts the whole point diagonally by (−α, −α) — here down-and-left — preserving the shape of the cloud.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4)   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3)   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5)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Ex1_Alpha"/>
              <p:cNvSpPr/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𝛼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0" name="Ex1_Alph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𝜶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for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each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shifted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points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plot a, b, c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00A7B5"/>
                </a:solidFill>
                <a:latin typeface="Calibri"/>
              </a:rPr>
              <a:t>AFTER — plot a−α, b−α, c−α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700" name="SolDot"/>
          <p:cNvSpPr/>
          <p:nvPr/>
        </p:nvSpPr>
        <p:spPr>
          <a:xfrm>
            <a:off x="7702550" y="4057650"/>
            <a:ext cx="165100" cy="1651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1" name="SolDotLbl"/>
              <p:cNvSpPr/>
              <p:nvPr/>
            </p:nvSpPr>
            <p:spPr>
              <a:xfrm>
                <a:off x="7880350" y="39179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1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350" y="3917950"/>
                <a:ext cx="5842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2" name="SolDot"/>
          <p:cNvSpPr/>
          <p:nvPr/>
        </p:nvSpPr>
        <p:spPr>
          <a:xfrm>
            <a:off x="8185150" y="4540250"/>
            <a:ext cx="165100" cy="165100"/>
          </a:xfrm>
          <a:prstGeom prst="ellipse">
            <a:avLst/>
          </a:prstGeom>
          <a:solidFill>
            <a:srgbClr val="2E5FB0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3" name="SolDotLbl"/>
              <p:cNvSpPr/>
              <p:nvPr/>
            </p:nvSpPr>
            <p:spPr>
              <a:xfrm>
                <a:off x="8362950" y="44005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3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4400550"/>
                <a:ext cx="5842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4" name="SolDot"/>
          <p:cNvSpPr/>
          <p:nvPr/>
        </p:nvSpPr>
        <p:spPr>
          <a:xfrm>
            <a:off x="7219950" y="35750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7397750" y="34353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750" y="3435350"/>
                <a:ext cx="584200" cy="203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64114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E255D3C-F388-E541-83BF-2E61D43AE5F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432EB1F-7DB1-F64F-8955-4F29AADF060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Vector Addition &amp; Subtraction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D71FDC7-F06A-2740-BCA4-89CAF25152F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Combining two vectors entry-by-entry — only defined when dimensions match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3B0A236B-663D-6E48-9AB7-4BB2BEBAAD40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E7C8E37D-AC87-E14F-BEE2-8712E513EEB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7626C3D-F242-9B4A-B5D0-74C64EB0A566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+ v  =  (u₁+v₁, u₂+v₂, ..., uₙ+vₙ)     u, v ∈ ℝⁿ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A5B8620B-3208-0340-9FF2-799E3AD1358B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Same shape in → same shape out.  Subtraction is u − v = u + (−1)·v.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DB2E8C5D-A843-0246-A204-B411C97222DB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4226C9AA-E3FF-B14E-9754-DF3CE1AA7917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54CBE192-C33E-D947-91A9-15FD077664FE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411F40DC-3FD3-3749-AE73-591BC482C738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 two vectors component-by-component.
• Add: element-wise sum
• Subtract: element-wise difference
Result lives in the same ℝⁿ.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F442E0D5-FE53-7740-9AD1-ECD6153FD73C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C39EB0D6-DC76-B044-B9CF-657AEFD048B9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23E10120-D821-3D40-9888-105377C60E1A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0BAF3E81-7E56-524A-B4B0-59E457BFAE58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Parallelogram rule:
 place v at the tip of u
 — resulting tip is u + v.
u − v points from v's tip
to u's tip.
Commutative: u + v = v + u.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6CB24F0-05F3-C045-A3FE-12B0D60D416F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3B696AAE-B2EC-8C43-A778-BADEF941EE50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45AF9253-D564-8A4F-90E1-5E7CEAD32C2F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73BD100D-5F1B-004D-900A-8DC38642F6D8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Building block for:
• Mean &amp; sum of vectors
• Differences between
  observations
• Translating embeddings
• Residuals: y − ŷ
• Gradient + parameter update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A5ED3B2B-96A1-6C4E-86DC-97FE29F2101E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1909B131-F619-6F4B-AF78-9CB0C9B6A64F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Constraint:   u and v must have the same dimension n.   Result ∈ ℝⁿ.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B4B885A1-B906-A24A-849B-1A3215932AB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D46A78DC-1650-2347-AF84-8C4BA2763032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Vector addition is the engine of every linear combination</a:t>
            </a:r>
          </a:p>
        </p:txBody>
      </p:sp>
    </p:spTree>
    <p:extLst>
      <p:ext uri="{BB962C8B-B14F-4D97-AF65-F5344CB8AC3E}">
        <p14:creationId xmlns:p14="http://schemas.microsoft.com/office/powerpoint/2010/main" val="21204122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074B585-9F4A-A541-8480-C972B2DE148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11C99CB-F75E-3446-A46A-41D41CFA762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Vector Addition — Parallelogram Rule (2D)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E1ED503-605D-2C44-8A81-86F484EBACA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+ v completes the parallelogram with u and v as two sides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205E2C2-DAFC-E64C-9E0D-5A64FEB0D781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69818881-A6E0-864A-8137-CAEBEB0F6437}"/>
              </a:ext>
            </a:extLst>
          </p:cNvPr>
          <p:cNvSpPr/>
          <p:nvPr/>
        </p:nvSpPr>
        <p:spPr>
          <a:xfrm>
            <a:off x="825500" y="3429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1D593E52-AADF-3043-9F73-A0A492F90254}"/>
              </a:ext>
            </a:extLst>
          </p:cNvPr>
          <p:cNvSpPr/>
          <p:nvPr/>
        </p:nvSpPr>
        <p:spPr>
          <a:xfrm>
            <a:off x="431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-6">
            <a:extLst>
              <a:ext uri="{FF2B5EF4-FFF2-40B4-BE49-F238E27FC236}">
                <a16:creationId xmlns:a16="http://schemas.microsoft.com/office/drawing/2014/main" id="{03333C3E-FB1D-CB42-8502-4B27594F65D6}"/>
              </a:ext>
            </a:extLst>
          </p:cNvPr>
          <p:cNvSpPr/>
          <p:nvPr/>
        </p:nvSpPr>
        <p:spPr>
          <a:xfrm>
            <a:off x="127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-5">
            <a:extLst>
              <a:ext uri="{FF2B5EF4-FFF2-40B4-BE49-F238E27FC236}">
                <a16:creationId xmlns:a16="http://schemas.microsoft.com/office/drawing/2014/main" id="{01C55A50-9640-7043-AFAF-8F6FD884BC27}"/>
              </a:ext>
            </a:extLst>
          </p:cNvPr>
          <p:cNvSpPr/>
          <p:nvPr/>
        </p:nvSpPr>
        <p:spPr>
          <a:xfrm>
            <a:off x="1778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-4">
            <a:extLst>
              <a:ext uri="{FF2B5EF4-FFF2-40B4-BE49-F238E27FC236}">
                <a16:creationId xmlns:a16="http://schemas.microsoft.com/office/drawing/2014/main" id="{1107E133-1901-C94A-AF4A-DCFA9F62401A}"/>
              </a:ext>
            </a:extLst>
          </p:cNvPr>
          <p:cNvSpPr/>
          <p:nvPr/>
        </p:nvSpPr>
        <p:spPr>
          <a:xfrm>
            <a:off x="228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-3">
            <a:extLst>
              <a:ext uri="{FF2B5EF4-FFF2-40B4-BE49-F238E27FC236}">
                <a16:creationId xmlns:a16="http://schemas.microsoft.com/office/drawing/2014/main" id="{08595112-372D-3F44-8D30-1DF8AC2269B0}"/>
              </a:ext>
            </a:extLst>
          </p:cNvPr>
          <p:cNvSpPr/>
          <p:nvPr/>
        </p:nvSpPr>
        <p:spPr>
          <a:xfrm>
            <a:off x="279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Y-3">
            <a:extLst>
              <a:ext uri="{FF2B5EF4-FFF2-40B4-BE49-F238E27FC236}">
                <a16:creationId xmlns:a16="http://schemas.microsoft.com/office/drawing/2014/main" id="{79E778B5-81CA-C746-86B7-D4E02D8FBE3C}"/>
              </a:ext>
            </a:extLst>
          </p:cNvPr>
          <p:cNvSpPr/>
          <p:nvPr/>
        </p:nvSpPr>
        <p:spPr>
          <a:xfrm>
            <a:off x="4279900" y="495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-2">
            <a:extLst>
              <a:ext uri="{FF2B5EF4-FFF2-40B4-BE49-F238E27FC236}">
                <a16:creationId xmlns:a16="http://schemas.microsoft.com/office/drawing/2014/main" id="{275BA4A6-78AC-964B-A55F-2139855099F3}"/>
              </a:ext>
            </a:extLst>
          </p:cNvPr>
          <p:cNvSpPr/>
          <p:nvPr/>
        </p:nvSpPr>
        <p:spPr>
          <a:xfrm>
            <a:off x="330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Y-2">
            <a:extLst>
              <a:ext uri="{FF2B5EF4-FFF2-40B4-BE49-F238E27FC236}">
                <a16:creationId xmlns:a16="http://schemas.microsoft.com/office/drawing/2014/main" id="{223B7429-2275-C24D-9929-913A668DB6F2}"/>
              </a:ext>
            </a:extLst>
          </p:cNvPr>
          <p:cNvSpPr/>
          <p:nvPr/>
        </p:nvSpPr>
        <p:spPr>
          <a:xfrm>
            <a:off x="4279900" y="4445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X-1">
            <a:extLst>
              <a:ext uri="{FF2B5EF4-FFF2-40B4-BE49-F238E27FC236}">
                <a16:creationId xmlns:a16="http://schemas.microsoft.com/office/drawing/2014/main" id="{F2C0805F-8472-FC4B-94B1-FC9778F7A0D5}"/>
              </a:ext>
            </a:extLst>
          </p:cNvPr>
          <p:cNvSpPr/>
          <p:nvPr/>
        </p:nvSpPr>
        <p:spPr>
          <a:xfrm>
            <a:off x="381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-1">
            <a:extLst>
              <a:ext uri="{FF2B5EF4-FFF2-40B4-BE49-F238E27FC236}">
                <a16:creationId xmlns:a16="http://schemas.microsoft.com/office/drawing/2014/main" id="{CAE7B590-FBD2-2345-9B64-C771B07ABDB3}"/>
              </a:ext>
            </a:extLst>
          </p:cNvPr>
          <p:cNvSpPr/>
          <p:nvPr/>
        </p:nvSpPr>
        <p:spPr>
          <a:xfrm>
            <a:off x="4279900" y="3937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X1">
            <a:extLst>
              <a:ext uri="{FF2B5EF4-FFF2-40B4-BE49-F238E27FC236}">
                <a16:creationId xmlns:a16="http://schemas.microsoft.com/office/drawing/2014/main" id="{BFA0CD33-14D6-2848-A25F-72C6D45C60DB}"/>
              </a:ext>
            </a:extLst>
          </p:cNvPr>
          <p:cNvSpPr/>
          <p:nvPr/>
        </p:nvSpPr>
        <p:spPr>
          <a:xfrm>
            <a:off x="482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1">
            <a:extLst>
              <a:ext uri="{FF2B5EF4-FFF2-40B4-BE49-F238E27FC236}">
                <a16:creationId xmlns:a16="http://schemas.microsoft.com/office/drawing/2014/main" id="{E7D9165D-7006-BE4F-9373-83F227D3B9F7}"/>
              </a:ext>
            </a:extLst>
          </p:cNvPr>
          <p:cNvSpPr/>
          <p:nvPr/>
        </p:nvSpPr>
        <p:spPr>
          <a:xfrm>
            <a:off x="4279900" y="292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X2">
            <a:extLst>
              <a:ext uri="{FF2B5EF4-FFF2-40B4-BE49-F238E27FC236}">
                <a16:creationId xmlns:a16="http://schemas.microsoft.com/office/drawing/2014/main" id="{563E8B07-3BF4-F742-805B-A456871A4756}"/>
              </a:ext>
            </a:extLst>
          </p:cNvPr>
          <p:cNvSpPr/>
          <p:nvPr/>
        </p:nvSpPr>
        <p:spPr>
          <a:xfrm>
            <a:off x="533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Y2">
            <a:extLst>
              <a:ext uri="{FF2B5EF4-FFF2-40B4-BE49-F238E27FC236}">
                <a16:creationId xmlns:a16="http://schemas.microsoft.com/office/drawing/2014/main" id="{BC730889-BCFB-D84C-8B31-89153477088C}"/>
              </a:ext>
            </a:extLst>
          </p:cNvPr>
          <p:cNvSpPr/>
          <p:nvPr/>
        </p:nvSpPr>
        <p:spPr>
          <a:xfrm>
            <a:off x="4279900" y="241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kX3">
            <a:extLst>
              <a:ext uri="{FF2B5EF4-FFF2-40B4-BE49-F238E27FC236}">
                <a16:creationId xmlns:a16="http://schemas.microsoft.com/office/drawing/2014/main" id="{202021F3-514F-9B49-8B43-E0251D7E11B2}"/>
              </a:ext>
            </a:extLst>
          </p:cNvPr>
          <p:cNvSpPr/>
          <p:nvPr/>
        </p:nvSpPr>
        <p:spPr>
          <a:xfrm>
            <a:off x="584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kY3">
            <a:extLst>
              <a:ext uri="{FF2B5EF4-FFF2-40B4-BE49-F238E27FC236}">
                <a16:creationId xmlns:a16="http://schemas.microsoft.com/office/drawing/2014/main" id="{F9799D3D-A318-B545-90D4-2CA5D593907A}"/>
              </a:ext>
            </a:extLst>
          </p:cNvPr>
          <p:cNvSpPr/>
          <p:nvPr/>
        </p:nvSpPr>
        <p:spPr>
          <a:xfrm>
            <a:off x="4279900" y="1905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kX4">
            <a:extLst>
              <a:ext uri="{FF2B5EF4-FFF2-40B4-BE49-F238E27FC236}">
                <a16:creationId xmlns:a16="http://schemas.microsoft.com/office/drawing/2014/main" id="{B5891B64-D40E-EF48-898D-BEB2F3569367}"/>
              </a:ext>
            </a:extLst>
          </p:cNvPr>
          <p:cNvSpPr/>
          <p:nvPr/>
        </p:nvSpPr>
        <p:spPr>
          <a:xfrm>
            <a:off x="635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kX5">
            <a:extLst>
              <a:ext uri="{FF2B5EF4-FFF2-40B4-BE49-F238E27FC236}">
                <a16:creationId xmlns:a16="http://schemas.microsoft.com/office/drawing/2014/main" id="{CAAC8C3F-BE8D-5748-9FB6-42046B7E8A40}"/>
              </a:ext>
            </a:extLst>
          </p:cNvPr>
          <p:cNvSpPr/>
          <p:nvPr/>
        </p:nvSpPr>
        <p:spPr>
          <a:xfrm>
            <a:off x="6858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kX6">
            <a:extLst>
              <a:ext uri="{FF2B5EF4-FFF2-40B4-BE49-F238E27FC236}">
                <a16:creationId xmlns:a16="http://schemas.microsoft.com/office/drawing/2014/main" id="{EF5E3855-58A7-3E4A-9A58-66B593E66BC6}"/>
              </a:ext>
            </a:extLst>
          </p:cNvPr>
          <p:cNvSpPr/>
          <p:nvPr/>
        </p:nvSpPr>
        <p:spPr>
          <a:xfrm>
            <a:off x="736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Vec_u">
            <a:extLst>
              <a:ext uri="{FF2B5EF4-FFF2-40B4-BE49-F238E27FC236}">
                <a16:creationId xmlns:a16="http://schemas.microsoft.com/office/drawing/2014/main" id="{B1B0DCA2-2545-624B-BD86-DA20A1D8C98B}"/>
              </a:ext>
            </a:extLst>
          </p:cNvPr>
          <p:cNvSpPr/>
          <p:nvPr/>
        </p:nvSpPr>
        <p:spPr>
          <a:xfrm rot="-1106097">
            <a:off x="4276781" y="3143250"/>
            <a:ext cx="1606437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Vec_uLbl">
            <a:extLst>
              <a:ext uri="{FF2B5EF4-FFF2-40B4-BE49-F238E27FC236}">
                <a16:creationId xmlns:a16="http://schemas.microsoft.com/office/drawing/2014/main" id="{0232BFD7-A315-4D47-89D1-13173444D79A}"/>
              </a:ext>
            </a:extLst>
          </p:cNvPr>
          <p:cNvSpPr txBox="1"/>
          <p:nvPr/>
        </p:nvSpPr>
        <p:spPr>
          <a:xfrm>
            <a:off x="4699000" y="3251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u = (3, 1)</a:t>
            </a:r>
          </a:p>
        </p:txBody>
      </p:sp>
      <p:sp>
        <p:nvSpPr>
          <p:cNvPr id="51" name="Vec_v">
            <a:extLst>
              <a:ext uri="{FF2B5EF4-FFF2-40B4-BE49-F238E27FC236}">
                <a16:creationId xmlns:a16="http://schemas.microsoft.com/office/drawing/2014/main" id="{5B5AA585-07B1-7F47-8113-F6AF985AD262}"/>
              </a:ext>
            </a:extLst>
          </p:cNvPr>
          <p:cNvSpPr/>
          <p:nvPr/>
        </p:nvSpPr>
        <p:spPr>
          <a:xfrm rot="-4293903">
            <a:off x="3768781" y="2635250"/>
            <a:ext cx="1606437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ec_vLbl">
            <a:extLst>
              <a:ext uri="{FF2B5EF4-FFF2-40B4-BE49-F238E27FC236}">
                <a16:creationId xmlns:a16="http://schemas.microsoft.com/office/drawing/2014/main" id="{6CE3A61E-731E-C145-902D-D21FC82BDBF7}"/>
              </a:ext>
            </a:extLst>
          </p:cNvPr>
          <p:cNvSpPr txBox="1"/>
          <p:nvPr/>
        </p:nvSpPr>
        <p:spPr>
          <a:xfrm>
            <a:off x="3683000" y="25908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= (1, 3)</a:t>
            </a:r>
          </a:p>
        </p:txBody>
      </p:sp>
      <p:sp>
        <p:nvSpPr>
          <p:cNvPr id="53" name="Vec_v2">
            <a:extLst>
              <a:ext uri="{FF2B5EF4-FFF2-40B4-BE49-F238E27FC236}">
                <a16:creationId xmlns:a16="http://schemas.microsoft.com/office/drawing/2014/main" id="{573F07FC-D301-694B-87ED-6A4E7DA5CEEA}"/>
              </a:ext>
            </a:extLst>
          </p:cNvPr>
          <p:cNvSpPr/>
          <p:nvPr/>
        </p:nvSpPr>
        <p:spPr>
          <a:xfrm rot="-4293903">
            <a:off x="5292781" y="2139950"/>
            <a:ext cx="1606437" cy="381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Vec_v2Lbl">
            <a:extLst>
              <a:ext uri="{FF2B5EF4-FFF2-40B4-BE49-F238E27FC236}">
                <a16:creationId xmlns:a16="http://schemas.microsoft.com/office/drawing/2014/main" id="{D206A20E-01BD-8649-AE3B-2E4D3D9B30CC}"/>
              </a:ext>
            </a:extLst>
          </p:cNvPr>
          <p:cNvSpPr txBox="1"/>
          <p:nvPr/>
        </p:nvSpPr>
        <p:spPr>
          <a:xfrm>
            <a:off x="5994400" y="2057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4B2E83"/>
                </a:solidFill>
                <a:latin typeface="Arial"/>
                <a:cs typeface="Arial"/>
              </a:rPr>
              <a:t>v (shifted)</a:t>
            </a:r>
          </a:p>
        </p:txBody>
      </p:sp>
      <p:sp>
        <p:nvSpPr>
          <p:cNvPr id="55" name="Vec_u2">
            <a:extLst>
              <a:ext uri="{FF2B5EF4-FFF2-40B4-BE49-F238E27FC236}">
                <a16:creationId xmlns:a16="http://schemas.microsoft.com/office/drawing/2014/main" id="{CA365EA5-6210-1948-8C8B-8D8E41909ECB}"/>
              </a:ext>
            </a:extLst>
          </p:cNvPr>
          <p:cNvSpPr/>
          <p:nvPr/>
        </p:nvSpPr>
        <p:spPr>
          <a:xfrm rot="-1106097">
            <a:off x="4784781" y="1631950"/>
            <a:ext cx="1606437" cy="381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Vec_u2Lbl">
            <a:extLst>
              <a:ext uri="{FF2B5EF4-FFF2-40B4-BE49-F238E27FC236}">
                <a16:creationId xmlns:a16="http://schemas.microsoft.com/office/drawing/2014/main" id="{3D6BEACF-0626-2D48-8F9C-20D968FA875B}"/>
              </a:ext>
            </a:extLst>
          </p:cNvPr>
          <p:cNvSpPr txBox="1"/>
          <p:nvPr/>
        </p:nvSpPr>
        <p:spPr>
          <a:xfrm>
            <a:off x="5080000" y="1676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00A7B5"/>
                </a:solidFill>
                <a:latin typeface="Arial"/>
                <a:cs typeface="Arial"/>
              </a:rPr>
              <a:t>u (shifted)</a:t>
            </a:r>
          </a:p>
        </p:txBody>
      </p:sp>
      <p:sp>
        <p:nvSpPr>
          <p:cNvPr id="57" name="Vec_sum">
            <a:extLst>
              <a:ext uri="{FF2B5EF4-FFF2-40B4-BE49-F238E27FC236}">
                <a16:creationId xmlns:a16="http://schemas.microsoft.com/office/drawing/2014/main" id="{B3EF9FCB-A489-C54E-A1C8-8F538F44BEFC}"/>
              </a:ext>
            </a:extLst>
          </p:cNvPr>
          <p:cNvSpPr/>
          <p:nvPr/>
        </p:nvSpPr>
        <p:spPr>
          <a:xfrm rot="-2700000">
            <a:off x="3897159" y="2374900"/>
            <a:ext cx="2873681" cy="762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Vec_sumLbl">
            <a:extLst>
              <a:ext uri="{FF2B5EF4-FFF2-40B4-BE49-F238E27FC236}">
                <a16:creationId xmlns:a16="http://schemas.microsoft.com/office/drawing/2014/main" id="{B09260BD-E17D-DF4F-B1AA-E1FF51EBE8EE}"/>
              </a:ext>
            </a:extLst>
          </p:cNvPr>
          <p:cNvSpPr txBox="1"/>
          <p:nvPr/>
        </p:nvSpPr>
        <p:spPr>
          <a:xfrm>
            <a:off x="6451600" y="1270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u + v = (4, 4)</a:t>
            </a:r>
          </a:p>
        </p:txBody>
      </p:sp>
      <p:sp>
        <p:nvSpPr>
          <p:cNvPr id="59" name="OriginDot">
            <a:extLst>
              <a:ext uri="{FF2B5EF4-FFF2-40B4-BE49-F238E27FC236}">
                <a16:creationId xmlns:a16="http://schemas.microsoft.com/office/drawing/2014/main" id="{A4FA5B0F-63F3-FB48-A63C-1B7589CC377D}"/>
              </a:ext>
            </a:extLst>
          </p:cNvPr>
          <p:cNvSpPr/>
          <p:nvPr/>
        </p:nvSpPr>
        <p:spPr>
          <a:xfrm>
            <a:off x="4267200" y="3378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riginLbl">
            <a:extLst>
              <a:ext uri="{FF2B5EF4-FFF2-40B4-BE49-F238E27FC236}">
                <a16:creationId xmlns:a16="http://schemas.microsoft.com/office/drawing/2014/main" id="{2383C2C8-DC89-7548-BC6A-5BA6DAE0574F}"/>
              </a:ext>
            </a:extLst>
          </p:cNvPr>
          <p:cNvSpPr txBox="1"/>
          <p:nvPr/>
        </p:nvSpPr>
        <p:spPr>
          <a:xfrm>
            <a:off x="4127500" y="3479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61" name="LegCard">
            <a:extLst>
              <a:ext uri="{FF2B5EF4-FFF2-40B4-BE49-F238E27FC236}">
                <a16:creationId xmlns:a16="http://schemas.microsoft.com/office/drawing/2014/main" id="{1CC03E9A-775F-8946-A257-6F005B64BBEE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LegHdr">
            <a:extLst>
              <a:ext uri="{FF2B5EF4-FFF2-40B4-BE49-F238E27FC236}">
                <a16:creationId xmlns:a16="http://schemas.microsoft.com/office/drawing/2014/main" id="{0CED9F8D-8562-C347-8263-E665E7EAA860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LegHdrT">
            <a:extLst>
              <a:ext uri="{FF2B5EF4-FFF2-40B4-BE49-F238E27FC236}">
                <a16:creationId xmlns:a16="http://schemas.microsoft.com/office/drawing/2014/main" id="{FF1B0A5B-63E5-A74A-A99E-4C8FB19603C7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Parallelogram rule</a:t>
            </a:r>
          </a:p>
        </p:txBody>
      </p:sp>
      <p:sp>
        <p:nvSpPr>
          <p:cNvPr id="64" name="R1">
            <a:extLst>
              <a:ext uri="{FF2B5EF4-FFF2-40B4-BE49-F238E27FC236}">
                <a16:creationId xmlns:a16="http://schemas.microsoft.com/office/drawing/2014/main" id="{58E20F1E-02EA-1E42-BD2D-99D32BD01CD4}"/>
              </a:ext>
            </a:extLst>
          </p:cNvPr>
          <p:cNvSpPr txBox="1"/>
          <p:nvPr/>
        </p:nvSpPr>
        <p:spPr>
          <a:xfrm>
            <a:off x="8356600" y="1841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1.  Draw both vectors from origin O.</a:t>
            </a:r>
          </a:p>
        </p:txBody>
      </p:sp>
      <p:sp>
        <p:nvSpPr>
          <p:cNvPr id="65" name="R2">
            <a:extLst>
              <a:ext uri="{FF2B5EF4-FFF2-40B4-BE49-F238E27FC236}">
                <a16:creationId xmlns:a16="http://schemas.microsoft.com/office/drawing/2014/main" id="{43D2B188-4A83-534C-AA71-1772B55AD4AB}"/>
              </a:ext>
            </a:extLst>
          </p:cNvPr>
          <p:cNvSpPr txBox="1"/>
          <p:nvPr/>
        </p:nvSpPr>
        <p:spPr>
          <a:xfrm>
            <a:off x="8356600" y="21336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2.  Translate v to start at tip of u
            (or u to tip of v).</a:t>
            </a:r>
          </a:p>
        </p:txBody>
      </p:sp>
      <p:sp>
        <p:nvSpPr>
          <p:cNvPr id="66" name="R3">
            <a:extLst>
              <a:ext uri="{FF2B5EF4-FFF2-40B4-BE49-F238E27FC236}">
                <a16:creationId xmlns:a16="http://schemas.microsoft.com/office/drawing/2014/main" id="{99D0F661-FB50-E44A-86D8-FC762C599C97}"/>
              </a:ext>
            </a:extLst>
          </p:cNvPr>
          <p:cNvSpPr txBox="1"/>
          <p:nvPr/>
        </p:nvSpPr>
        <p:spPr>
          <a:xfrm>
            <a:off x="8356600" y="26289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3.  The sum u + v points from O to
            the far corner of the parallelogram.</a:t>
            </a:r>
          </a:p>
        </p:txBody>
      </p:sp>
      <p:sp>
        <p:nvSpPr>
          <p:cNvPr id="67" name="FormBox">
            <a:extLst>
              <a:ext uri="{FF2B5EF4-FFF2-40B4-BE49-F238E27FC236}">
                <a16:creationId xmlns:a16="http://schemas.microsoft.com/office/drawing/2014/main" id="{AD22F3DA-A86A-A441-9DD5-80AB4875F6EF}"/>
              </a:ext>
            </a:extLst>
          </p:cNvPr>
          <p:cNvSpPr/>
          <p:nvPr/>
        </p:nvSpPr>
        <p:spPr>
          <a:xfrm>
            <a:off x="8356600" y="3200400"/>
            <a:ext cx="3225800" cy="635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FormT">
            <a:extLst>
              <a:ext uri="{FF2B5EF4-FFF2-40B4-BE49-F238E27FC236}">
                <a16:creationId xmlns:a16="http://schemas.microsoft.com/office/drawing/2014/main" id="{685A8C22-D9AB-5F4F-96F5-E3AD05A84C9A}"/>
              </a:ext>
            </a:extLst>
          </p:cNvPr>
          <p:cNvSpPr txBox="1"/>
          <p:nvPr/>
        </p:nvSpPr>
        <p:spPr>
          <a:xfrm>
            <a:off x="8432800" y="3263900"/>
            <a:ext cx="3098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Cambria Math"/>
                <a:ea typeface="Cambria Math"/>
              </a:rPr>
              <a:t>Algebraically:
(u₁+v₁, u₂+v₂) = (3+1, 1+3) = (4, 4)</a:t>
            </a:r>
          </a:p>
        </p:txBody>
      </p:sp>
      <p:sp>
        <p:nvSpPr>
          <p:cNvPr id="69" name="Note">
            <a:extLst>
              <a:ext uri="{FF2B5EF4-FFF2-40B4-BE49-F238E27FC236}">
                <a16:creationId xmlns:a16="http://schemas.microsoft.com/office/drawing/2014/main" id="{DEDACDA2-0318-6C4A-9F40-BB59F2764D53}"/>
              </a:ext>
            </a:extLst>
          </p:cNvPr>
          <p:cNvSpPr txBox="1"/>
          <p:nvPr/>
        </p:nvSpPr>
        <p:spPr>
          <a:xfrm>
            <a:off x="8356600" y="3962400"/>
            <a:ext cx="3429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Subtraction u − v works the same way
but translates −v instead of v.
Commutative: u + v = v + u
Associative: (u+v)+w = u+(v+w)</a:t>
            </a:r>
          </a:p>
        </p:txBody>
      </p:sp>
      <p:sp>
        <p:nvSpPr>
          <p:cNvPr id="70" name="TkBar">
            <a:extLst>
              <a:ext uri="{FF2B5EF4-FFF2-40B4-BE49-F238E27FC236}">
                <a16:creationId xmlns:a16="http://schemas.microsoft.com/office/drawing/2014/main" id="{B465ED55-A646-7E44-B3B7-4B78A2327F0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kText">
            <a:extLst>
              <a:ext uri="{FF2B5EF4-FFF2-40B4-BE49-F238E27FC236}">
                <a16:creationId xmlns:a16="http://schemas.microsoft.com/office/drawing/2014/main" id="{49402AF3-72FF-284C-A203-33880128D67A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Vector addition = tip-to-tail translation — the sum closes the parallelogram</a:t>
            </a:r>
          </a:p>
        </p:txBody>
      </p:sp>
    </p:spTree>
    <p:extLst>
      <p:ext uri="{BB962C8B-B14F-4D97-AF65-F5344CB8AC3E}">
        <p14:creationId xmlns:p14="http://schemas.microsoft.com/office/powerpoint/2010/main" val="21098232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E0DF9BB2-AF2B-F549-A6EB-A030D4A983C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53D2C76-054A-2E46-BF7C-6FE3FA5F21A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Vector Addition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202102D4-64BC-7C4F-84CA-7A4F6500153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Adding two 3-dimensional vectors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AAD54D3-1CF8-6342-B485-5443BE905841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9E647815-7DBF-EC41-8741-B7371E22B08F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004835A-158F-2E4C-A5D9-9BC3D2C3F74F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5DE8E2E6-0CC7-1444-B9F8-1DEF9B636B49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u = (2, 5, −1)  and  v = (4, −3, 7).
Compute  u + 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0F471C5-D233-F748-B77B-72F16245100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1DE26B8-27EB-1447-BF72-7CA36159BF4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63FA5C36-31DB-1649-A33E-BCC8ED4C6EA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5597BFCA-2C27-3D49-A5FF-4B14D2E4CB2E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Check dimensions:  dim(u) = dim(v) = 3.  ✓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ED5251B7-0E4A-2442-9890-FCEC88B423F1}"/>
              </a:ext>
            </a:extLst>
          </p:cNvPr>
          <p:cNvSpPr txBox="1"/>
          <p:nvPr/>
        </p:nvSpPr>
        <p:spPr>
          <a:xfrm>
            <a:off x="558800" y="3835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entry-by-entry: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23D6E6D5-9FC1-804E-8266-E977D6616482}"/>
              </a:ext>
            </a:extLst>
          </p:cNvPr>
          <p:cNvSpPr txBox="1"/>
          <p:nvPr/>
        </p:nvSpPr>
        <p:spPr>
          <a:xfrm>
            <a:off x="558800" y="4089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u + v  =  (2+4,  5+(−3),  −1+7)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5D444A8-7878-C24F-AE3D-A6430E6A595D}"/>
              </a:ext>
            </a:extLst>
          </p:cNvPr>
          <p:cNvSpPr txBox="1"/>
          <p:nvPr/>
        </p:nvSpPr>
        <p:spPr>
          <a:xfrm>
            <a:off x="558800" y="4394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=  (6, 2, 6)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782ABF31-01EC-0141-9430-2A6CF8EB3079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+ v = (6, 2, 6)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092B251-A1F1-AA44-965C-8CBA2631B86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F3F32CF-C20E-A24A-9523-C45D8BF5870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Same dimension in, same dimension out — combine coordinates entry-by-entry</a:t>
            </a:r>
          </a:p>
        </p:txBody>
      </p:sp>
    </p:spTree>
    <p:extLst>
      <p:ext uri="{BB962C8B-B14F-4D97-AF65-F5344CB8AC3E}">
        <p14:creationId xmlns:p14="http://schemas.microsoft.com/office/powerpoint/2010/main" val="3912702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9C91D86-02AD-8B46-B671-76014919E17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22B8131-8FDC-A344-A41E-D37F69F2A98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Vector Subtraction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FB3B15E-839A-5E4F-8F65-C6D0175CC78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Residuals — predicted vs. actual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EAE4FC94-FFF7-9445-8312-0FBDAF9184F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EDE03BCE-8953-4242-8576-78E234046A5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B783448D-A17C-E44E-B138-7175B995DAF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04675A21-8DA3-6846-B28E-DEACEB0BFC21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>
                <a:solidFill>
                  <a:srgbClr val="333333"/>
                </a:solidFill>
                <a:latin typeface="Cambria Math"/>
                <a:ea typeface="Cambria Math"/>
              </a:rPr>
              <a:t>True labels:  y = (3.0, 5.5, 2.0, 4.5).   Predictions:  ŷ = (2.8, 5.0, 2.3, 4.6).
Compute the residual vector  r = y − ŷ.</a:t>
            </a:r>
            <a:endParaRPr lang="en-US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AD25C16D-86FA-0840-9AA8-554A99D318B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27E115D0-8CB0-C847-8275-B552F15B303D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683D8A6F-5EC2-CC4F-B681-1F0C5EA61B0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6F0143AB-29C7-AA4A-85A4-05B22242BC62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Both vectors are in ℝ⁴ — subtraction is well-defined.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0A94EDA0-8D3E-F94B-8A4A-D248294A4269}"/>
              </a:ext>
            </a:extLst>
          </p:cNvPr>
          <p:cNvSpPr txBox="1"/>
          <p:nvPr/>
        </p:nvSpPr>
        <p:spPr>
          <a:xfrm>
            <a:off x="558800" y="38100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Subtract entry-by-entry: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80E7614D-663F-EE4A-9436-3BAF682AFCEC}"/>
              </a:ext>
            </a:extLst>
          </p:cNvPr>
          <p:cNvSpPr txBox="1"/>
          <p:nvPr/>
        </p:nvSpPr>
        <p:spPr>
          <a:xfrm>
            <a:off x="558800" y="4038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r  =  (3.0−2.8, 5.5−5.0, 2.0−2.3, 4.5−4.6)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1F6B0793-A420-5A4E-99A2-6B0D1F8673A6}"/>
              </a:ext>
            </a:extLst>
          </p:cNvPr>
          <p:cNvSpPr txBox="1"/>
          <p:nvPr/>
        </p:nvSpPr>
        <p:spPr>
          <a:xfrm>
            <a:off x="558800" y="4343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   =  (0.2, 0.5, −0.3, −0.1)</a:t>
            </a:r>
          </a:p>
        </p:txBody>
      </p:sp>
      <p:sp>
        <p:nvSpPr>
          <p:cNvPr id="33" name="SCheck">
            <a:extLst>
              <a:ext uri="{FF2B5EF4-FFF2-40B4-BE49-F238E27FC236}">
                <a16:creationId xmlns:a16="http://schemas.microsoft.com/office/drawing/2014/main" id="{FE5AFE19-7947-D042-95DB-12C2F5663C5A}"/>
              </a:ext>
            </a:extLst>
          </p:cNvPr>
          <p:cNvSpPr txBox="1"/>
          <p:nvPr/>
        </p:nvSpPr>
        <p:spPr>
          <a:xfrm>
            <a:off x="558800" y="4648200"/>
            <a:ext cx="1104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positive r means prediction was too low; negative means too high.</a:t>
            </a:r>
          </a:p>
        </p:txBody>
      </p:sp>
      <p:sp>
        <p:nvSpPr>
          <p:cNvPr id="34" name="SAns">
            <a:extLst>
              <a:ext uri="{FF2B5EF4-FFF2-40B4-BE49-F238E27FC236}">
                <a16:creationId xmlns:a16="http://schemas.microsoft.com/office/drawing/2014/main" id="{D892E0D8-A110-3B49-BE05-51FD9356A710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cy-GB" sz="1600" b="1">
                <a:solidFill>
                  <a:srgbClr val="4B2E83"/>
                </a:solidFill>
                <a:latin typeface="Cambria Math"/>
                <a:ea typeface="Cambria Math"/>
              </a:rPr>
              <a:t>Answer:   r = y − ŷ = (0.2, 0.5, −0.3, −0.1)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35" name="TkBar">
            <a:extLst>
              <a:ext uri="{FF2B5EF4-FFF2-40B4-BE49-F238E27FC236}">
                <a16:creationId xmlns:a16="http://schemas.microsoft.com/office/drawing/2014/main" id="{91B270E3-9FCA-4D48-A6A3-1A790CE40361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703D1D2A-BF4C-574D-AFA6-EA1E9AE8BB1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FFFFFF"/>
                </a:solidFill>
                <a:latin typeface="Arial"/>
                <a:cs typeface="Arial"/>
              </a:rPr>
              <a:t>Vector subtraction gives the residual — exactly what regression and gradient descent operate on</a:t>
            </a:r>
          </a:p>
        </p:txBody>
      </p:sp>
    </p:spTree>
    <p:extLst>
      <p:ext uri="{BB962C8B-B14F-4D97-AF65-F5344CB8AC3E}">
        <p14:creationId xmlns:p14="http://schemas.microsoft.com/office/powerpoint/2010/main" val="1057463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4187AD8-710B-4B48-BA56-D0F42D72149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D0979E4-4721-BB4D-B8AE-0C268F326DA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Linear Combination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8A0E419-24E5-E04E-AFE0-7A93F7E7B96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Scalar multiplication + addition working together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6F5068B5-5E42-984B-A5CD-AF3B254C910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3EECA4E2-C0E9-C64E-84F7-289556B33D4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5695D692-6760-6541-A963-810D8B2A584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CA160A8C-0164-1A4F-876B-3E38A3AB3F52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u = (1, 2),  v = (3, −1).   Compute the linear combination
2·u + 3·v.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670B048-CA42-0346-908E-1BE17465330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F4FF5FF-42C1-844A-9F36-F0AA64E88E0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F4B8614-DAB9-1146-B1DA-C47764B9287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134BE722-25F3-6341-884F-C93122360953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Scale each vector first: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37B5D9F-B06A-D943-A675-7296C6127202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2·u = 2·(1, 2) = (2, 4)            3·v = 3·(3, −1) = (9, −3)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48D9DB10-CC40-C945-A6DE-2133A2FC2906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the scaled vectors: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4863BE22-7ABB-9843-8DFB-619DB9067C19}"/>
              </a:ext>
            </a:extLst>
          </p:cNvPr>
          <p:cNvSpPr txBox="1"/>
          <p:nvPr/>
        </p:nvSpPr>
        <p:spPr>
          <a:xfrm>
            <a:off x="558800" y="4368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2·u + 3·v  =  (2+9, 4+(−3))  =  (11, 1)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88A87D2E-E814-384D-8BD9-D9E3DFCF02AC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2·u + 3·v = (11, 1)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1CE43688-BFCE-3B48-ABFF-92DAA2C1439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6AB2632F-E319-7F4C-89AF-40D694E4E74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Every linear model output is a linear combination of input feature vectors</a:t>
            </a:r>
          </a:p>
        </p:txBody>
      </p:sp>
    </p:spTree>
    <p:extLst>
      <p:ext uri="{BB962C8B-B14F-4D97-AF65-F5344CB8AC3E}">
        <p14:creationId xmlns:p14="http://schemas.microsoft.com/office/powerpoint/2010/main" val="1716079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Vector addition: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+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u and v from the origin on the GIVEN grid, then add them tip-to-tail and plot u + v on the SUM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Tip-to-tail: slide v so its tail sits on u's tip — the arrow from the origin to that new tip is u + v, the diagonal of the parallelogram.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GIVEN — plot u, v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SUM — draw u + v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657600"/>
            <a:ext cx="482600" cy="1447800"/>
          </a:xfrm>
          <a:prstGeom prst="line">
            <a:avLst/>
          </a:prstGeom>
          <a:ln w="31750" cap="rnd">
            <a:solidFill>
              <a:srgbClr val="4B2E83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1" name="SolArr801"/>
          <p:cNvCxnSpPr/>
          <p:nvPr/>
        </p:nvCxnSpPr>
        <p:spPr>
          <a:xfrm flipV="1">
            <a:off x="7302500" y="4622800"/>
            <a:ext cx="1930400" cy="482600"/>
          </a:xfrm>
          <a:prstGeom prst="line">
            <a:avLst/>
          </a:prstGeom>
          <a:ln w="31750" cap="rnd">
            <a:solidFill>
              <a:srgbClr val="00A7B5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2" name="SolArr802"/>
          <p:cNvCxnSpPr/>
          <p:nvPr/>
        </p:nvCxnSpPr>
        <p:spPr>
          <a:xfrm flipV="1">
            <a:off x="7785100" y="3175000"/>
            <a:ext cx="1930400" cy="482600"/>
          </a:xfrm>
          <a:prstGeom prst="line">
            <a:avLst/>
          </a:prstGeom>
          <a:ln w="22225" cap="rnd">
            <a:solidFill>
              <a:srgbClr val="00A7B5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3" name="SolArr803"/>
          <p:cNvCxnSpPr/>
          <p:nvPr/>
        </p:nvCxnSpPr>
        <p:spPr>
          <a:xfrm flipV="1">
            <a:off x="9232900" y="3175000"/>
            <a:ext cx="482600" cy="1447800"/>
          </a:xfrm>
          <a:prstGeom prst="line">
            <a:avLst/>
          </a:prstGeom>
          <a:ln w="22225" cap="rnd">
            <a:solidFill>
              <a:srgbClr val="4B2E83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4" name="SolArr804"/>
          <p:cNvCxnSpPr/>
          <p:nvPr/>
        </p:nvCxnSpPr>
        <p:spPr>
          <a:xfrm flipV="1">
            <a:off x="7302500" y="3175000"/>
            <a:ext cx="2413000" cy="19304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9632950" y="30924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9810750" y="29400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750" y="2940050"/>
                <a:ext cx="5842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1942411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Vector addition: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+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u and v from the origin on the GIVEN grid, then add them tip-to-tail and plot u + v on the SUM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Tip-to-tail: slide v so its tail sits on u's tip — the arrow from the origin to that new tip is u + v, the diagonal of the parallelogram.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1)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GIVEN — plot u, v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SUM — draw u + v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4622800"/>
            <a:ext cx="965200" cy="482600"/>
          </a:xfrm>
          <a:prstGeom prst="line">
            <a:avLst/>
          </a:prstGeom>
          <a:ln w="31750" cap="rnd">
            <a:solidFill>
              <a:srgbClr val="4B2E83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1" name="SolArr801"/>
          <p:cNvCxnSpPr/>
          <p:nvPr/>
        </p:nvCxnSpPr>
        <p:spPr>
          <a:xfrm flipV="1">
            <a:off x="7302500" y="3175000"/>
            <a:ext cx="482600" cy="1930400"/>
          </a:xfrm>
          <a:prstGeom prst="line">
            <a:avLst/>
          </a:prstGeom>
          <a:ln w="31750" cap="rnd">
            <a:solidFill>
              <a:srgbClr val="00A7B5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2" name="SolArr802"/>
          <p:cNvCxnSpPr/>
          <p:nvPr/>
        </p:nvCxnSpPr>
        <p:spPr>
          <a:xfrm flipV="1">
            <a:off x="8267700" y="2692400"/>
            <a:ext cx="482600" cy="1930400"/>
          </a:xfrm>
          <a:prstGeom prst="line">
            <a:avLst/>
          </a:prstGeom>
          <a:ln w="22225" cap="rnd">
            <a:solidFill>
              <a:srgbClr val="00A7B5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3" name="SolArr803"/>
          <p:cNvCxnSpPr/>
          <p:nvPr/>
        </p:nvCxnSpPr>
        <p:spPr>
          <a:xfrm flipV="1">
            <a:off x="7785100" y="2692400"/>
            <a:ext cx="965200" cy="482600"/>
          </a:xfrm>
          <a:prstGeom prst="line">
            <a:avLst/>
          </a:prstGeom>
          <a:ln w="22225" cap="rnd">
            <a:solidFill>
              <a:srgbClr val="4B2E83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4" name="SolArr804"/>
          <p:cNvCxnSpPr/>
          <p:nvPr/>
        </p:nvCxnSpPr>
        <p:spPr>
          <a:xfrm flipV="1">
            <a:off x="7302500" y="2692400"/>
            <a:ext cx="1447800" cy="24130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8667750" y="26098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8845550" y="24574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550" y="2457450"/>
                <a:ext cx="5842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1788568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E028062B-E029-C347-8C88-CDBC6896804E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D1F56F55-2DB4-D341-944C-55BE5C77D74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Dot Product  (Inner Product)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4D0D8D42-91B0-1B44-9E35-AD5BF6B42DC0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Multiplying two vectors to get one number — the most-used operation in ML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DD4E72F3-41C9-3245-9BD3-CF67B1C99B9D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7F629244-F285-C340-AE69-8EE5B35D97C6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46ACB5C8-7426-2D4D-88B2-806E83AC541C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· v  =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ᵢ uᵢ vᵢ  =  u₁v₁ + u₂v₂ + ... + uₙvₙ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40F7FDA0-9915-7A44-98D3-B78D18B81221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u, v ∈ ℝⁿ (same dimension);   result is a scalar in ℝ;   geometrically:  u·v = ‖u‖·‖v‖·cos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6E598654-27B0-0148-8A43-309F8938E388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9FDE846E-1DD3-3744-8875-DA1F74523814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00613C28-72E1-FC41-8125-A1CCC7DD8C69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84003926-0F76-EE48-ADAB-AE3CC433A0ED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Combines two vectors into a single scalar.
• Pairs entries by index
• Multiplies pairs
• Sums them all up
Measures alignment.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EB0267F2-F269-4843-B33D-46B1457F3A20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BED24C73-F9CA-DA49-B1E9-9CA0C4C69CA6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41C658E0-2D7E-2240-96A5-AFB9F58FEC4B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F6E72C1B-5C1B-4247-B683-263B42E7252B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 · v = ‖u‖·‖v‖·cos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
• &gt;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vectors point similar way
• = 0: vectors orthogonal (90°)
• &lt; 0: point opposite ways
Projection of u onto v.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A6B72B5-DF76-704C-8B09-1546CECB1A65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F7284172-3D0A-BB47-8A3B-17720CA84C75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0C40535A-1C79-B241-A6E4-AF35833A2A81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08274C8E-F4CA-584D-89F0-87928EE228D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Used in:
• Cosine similarity (recsys, NLP)
• Neural net weighted sums
• Loss functions (MSE expands)
• Projections, attention scores
• Linear regression: ŷ = x ·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6ABC3355-6E4B-8B46-9A2A-9A239131DD33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09806655-8AC6-D24C-AEEC-A85A8030F4EA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θ = (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u · v) / (‖u‖ · ‖v‖)   —   normalized dot product gives cosine similarity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99F5FF50-00D1-A242-A430-94F2242FFE2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33DA7840-1505-EA4A-86A6-BCE902EDDF6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The dot product converts a pair of vectors into a single number that measures their alignment</a:t>
            </a:r>
          </a:p>
        </p:txBody>
      </p:sp>
    </p:spTree>
    <p:extLst>
      <p:ext uri="{BB962C8B-B14F-4D97-AF65-F5344CB8AC3E}">
        <p14:creationId xmlns:p14="http://schemas.microsoft.com/office/powerpoint/2010/main" val="1118169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69021F2-4638-574D-A83B-9C02347078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440B62E-679D-AE4B-90CD-74EB439D713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Dot Product — Projection View (2D)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F9F6FC5-7EB9-0147-9A1C-23E5242C1DE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· v = ‖u‖·‖v‖·cos </a:t>
            </a:r>
            <a:r>
              <a:rPr lang="el-GR" sz="1300" i="1">
                <a:solidFill>
                  <a:srgbClr val="777777"/>
                </a:solidFill>
                <a:latin typeface="Arial"/>
                <a:cs typeface="Arial"/>
              </a:rPr>
              <a:t>θ — </a:t>
            </a:r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geometrically, projection of one vector onto the other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9A7C3FB-5871-F448-96D2-552731A90FFE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F2361E90-D4E2-304F-BD25-0340C47B1A0F}"/>
              </a:ext>
            </a:extLst>
          </p:cNvPr>
          <p:cNvSpPr/>
          <p:nvPr/>
        </p:nvSpPr>
        <p:spPr>
          <a:xfrm>
            <a:off x="825500" y="4826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3CBEC1B7-F4D4-974B-81A6-7B66A83286FB}"/>
              </a:ext>
            </a:extLst>
          </p:cNvPr>
          <p:cNvSpPr/>
          <p:nvPr/>
        </p:nvSpPr>
        <p:spPr>
          <a:xfrm>
            <a:off x="2032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1">
            <a:extLst>
              <a:ext uri="{FF2B5EF4-FFF2-40B4-BE49-F238E27FC236}">
                <a16:creationId xmlns:a16="http://schemas.microsoft.com/office/drawing/2014/main" id="{B67FB590-1BCC-9043-BC9D-85D4EEF5A77A}"/>
              </a:ext>
            </a:extLst>
          </p:cNvPr>
          <p:cNvSpPr/>
          <p:nvPr/>
        </p:nvSpPr>
        <p:spPr>
          <a:xfrm>
            <a:off x="266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2">
            <a:extLst>
              <a:ext uri="{FF2B5EF4-FFF2-40B4-BE49-F238E27FC236}">
                <a16:creationId xmlns:a16="http://schemas.microsoft.com/office/drawing/2014/main" id="{04ED93BC-369B-9241-BD2A-E91DCA5A5A99}"/>
              </a:ext>
            </a:extLst>
          </p:cNvPr>
          <p:cNvSpPr/>
          <p:nvPr/>
        </p:nvSpPr>
        <p:spPr>
          <a:xfrm>
            <a:off x="330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3">
            <a:extLst>
              <a:ext uri="{FF2B5EF4-FFF2-40B4-BE49-F238E27FC236}">
                <a16:creationId xmlns:a16="http://schemas.microsoft.com/office/drawing/2014/main" id="{BBF8DBEE-AE6D-5F45-9972-FB907EE5C502}"/>
              </a:ext>
            </a:extLst>
          </p:cNvPr>
          <p:cNvSpPr/>
          <p:nvPr/>
        </p:nvSpPr>
        <p:spPr>
          <a:xfrm>
            <a:off x="393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4">
            <a:extLst>
              <a:ext uri="{FF2B5EF4-FFF2-40B4-BE49-F238E27FC236}">
                <a16:creationId xmlns:a16="http://schemas.microsoft.com/office/drawing/2014/main" id="{5BD805E0-D09B-D448-963C-DC2C74845A95}"/>
              </a:ext>
            </a:extLst>
          </p:cNvPr>
          <p:cNvSpPr/>
          <p:nvPr/>
        </p:nvSpPr>
        <p:spPr>
          <a:xfrm>
            <a:off x="457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5">
            <a:extLst>
              <a:ext uri="{FF2B5EF4-FFF2-40B4-BE49-F238E27FC236}">
                <a16:creationId xmlns:a16="http://schemas.microsoft.com/office/drawing/2014/main" id="{E4B65A0E-CE53-5C4C-B22D-737F20C3F3D0}"/>
              </a:ext>
            </a:extLst>
          </p:cNvPr>
          <p:cNvSpPr/>
          <p:nvPr/>
        </p:nvSpPr>
        <p:spPr>
          <a:xfrm>
            <a:off x="520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6">
            <a:extLst>
              <a:ext uri="{FF2B5EF4-FFF2-40B4-BE49-F238E27FC236}">
                <a16:creationId xmlns:a16="http://schemas.microsoft.com/office/drawing/2014/main" id="{F46F2B50-E7B2-7E46-8088-5A790945883C}"/>
              </a:ext>
            </a:extLst>
          </p:cNvPr>
          <p:cNvSpPr/>
          <p:nvPr/>
        </p:nvSpPr>
        <p:spPr>
          <a:xfrm>
            <a:off x="584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7">
            <a:extLst>
              <a:ext uri="{FF2B5EF4-FFF2-40B4-BE49-F238E27FC236}">
                <a16:creationId xmlns:a16="http://schemas.microsoft.com/office/drawing/2014/main" id="{6CC03F8A-25DB-FA43-8614-BED298AF60C2}"/>
              </a:ext>
            </a:extLst>
          </p:cNvPr>
          <p:cNvSpPr/>
          <p:nvPr/>
        </p:nvSpPr>
        <p:spPr>
          <a:xfrm>
            <a:off x="647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Y1">
            <a:extLst>
              <a:ext uri="{FF2B5EF4-FFF2-40B4-BE49-F238E27FC236}">
                <a16:creationId xmlns:a16="http://schemas.microsoft.com/office/drawing/2014/main" id="{CA4C6B2E-B27E-3D4F-B0B1-41B005E8762A}"/>
              </a:ext>
            </a:extLst>
          </p:cNvPr>
          <p:cNvSpPr/>
          <p:nvPr/>
        </p:nvSpPr>
        <p:spPr>
          <a:xfrm>
            <a:off x="1993900" y="419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2">
            <a:extLst>
              <a:ext uri="{FF2B5EF4-FFF2-40B4-BE49-F238E27FC236}">
                <a16:creationId xmlns:a16="http://schemas.microsoft.com/office/drawing/2014/main" id="{7DA4A493-3090-5146-BEC9-327AE47F9D11}"/>
              </a:ext>
            </a:extLst>
          </p:cNvPr>
          <p:cNvSpPr/>
          <p:nvPr/>
        </p:nvSpPr>
        <p:spPr>
          <a:xfrm>
            <a:off x="1993900" y="355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3">
            <a:extLst>
              <a:ext uri="{FF2B5EF4-FFF2-40B4-BE49-F238E27FC236}">
                <a16:creationId xmlns:a16="http://schemas.microsoft.com/office/drawing/2014/main" id="{490B733E-5957-BD42-A1A5-CC093E92197A}"/>
              </a:ext>
            </a:extLst>
          </p:cNvPr>
          <p:cNvSpPr/>
          <p:nvPr/>
        </p:nvSpPr>
        <p:spPr>
          <a:xfrm>
            <a:off x="1993900" y="292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4">
            <a:extLst>
              <a:ext uri="{FF2B5EF4-FFF2-40B4-BE49-F238E27FC236}">
                <a16:creationId xmlns:a16="http://schemas.microsoft.com/office/drawing/2014/main" id="{31943E7D-4936-6C48-B2A7-6C167AAFFDAD}"/>
              </a:ext>
            </a:extLst>
          </p:cNvPr>
          <p:cNvSpPr/>
          <p:nvPr/>
        </p:nvSpPr>
        <p:spPr>
          <a:xfrm>
            <a:off x="1993900" y="228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5">
            <a:extLst>
              <a:ext uri="{FF2B5EF4-FFF2-40B4-BE49-F238E27FC236}">
                <a16:creationId xmlns:a16="http://schemas.microsoft.com/office/drawing/2014/main" id="{F811496C-D831-CF4F-BBDB-4A1CFEB2A63C}"/>
              </a:ext>
            </a:extLst>
          </p:cNvPr>
          <p:cNvSpPr/>
          <p:nvPr/>
        </p:nvSpPr>
        <p:spPr>
          <a:xfrm>
            <a:off x="1993900" y="165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Vec_u">
            <a:extLst>
              <a:ext uri="{FF2B5EF4-FFF2-40B4-BE49-F238E27FC236}">
                <a16:creationId xmlns:a16="http://schemas.microsoft.com/office/drawing/2014/main" id="{8C5CD2BB-EEAD-6842-8C8C-26E0D7AEE1A9}"/>
              </a:ext>
            </a:extLst>
          </p:cNvPr>
          <p:cNvSpPr/>
          <p:nvPr/>
        </p:nvSpPr>
        <p:spPr>
          <a:xfrm rot="-2212194">
            <a:off x="1714500" y="3835400"/>
            <a:ext cx="3175000" cy="76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ec_uLbl">
            <a:extLst>
              <a:ext uri="{FF2B5EF4-FFF2-40B4-BE49-F238E27FC236}">
                <a16:creationId xmlns:a16="http://schemas.microsoft.com/office/drawing/2014/main" id="{BFD56AA4-1F1F-4B40-A8BD-2A203929C48E}"/>
              </a:ext>
            </a:extLst>
          </p:cNvPr>
          <p:cNvSpPr txBox="1"/>
          <p:nvPr/>
        </p:nvSpPr>
        <p:spPr>
          <a:xfrm>
            <a:off x="4673600" y="2768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Arial"/>
                <a:cs typeface="Arial"/>
              </a:rPr>
              <a:t>u = (4, 3)</a:t>
            </a:r>
          </a:p>
        </p:txBody>
      </p:sp>
      <p:sp>
        <p:nvSpPr>
          <p:cNvPr id="45" name="Vec_v">
            <a:extLst>
              <a:ext uri="{FF2B5EF4-FFF2-40B4-BE49-F238E27FC236}">
                <a16:creationId xmlns:a16="http://schemas.microsoft.com/office/drawing/2014/main" id="{991BE025-F39C-9B47-9801-D3ACDC1933EE}"/>
              </a:ext>
            </a:extLst>
          </p:cNvPr>
          <p:cNvSpPr/>
          <p:nvPr/>
        </p:nvSpPr>
        <p:spPr>
          <a:xfrm rot="-678596">
            <a:off x="2000561" y="4470400"/>
            <a:ext cx="3237877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Vec_vLbl">
            <a:extLst>
              <a:ext uri="{FF2B5EF4-FFF2-40B4-BE49-F238E27FC236}">
                <a16:creationId xmlns:a16="http://schemas.microsoft.com/office/drawing/2014/main" id="{AA404BA1-2537-2740-ABEB-E997A38C433C}"/>
              </a:ext>
            </a:extLst>
          </p:cNvPr>
          <p:cNvSpPr txBox="1"/>
          <p:nvPr/>
        </p:nvSpPr>
        <p:spPr>
          <a:xfrm>
            <a:off x="4826000" y="4318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Arial"/>
                <a:cs typeface="Arial"/>
              </a:rPr>
              <a:t>v = (5, 1)</a:t>
            </a:r>
          </a:p>
        </p:txBody>
      </p:sp>
      <p:sp>
        <p:nvSpPr>
          <p:cNvPr id="47" name="Vec_proj">
            <a:extLst>
              <a:ext uri="{FF2B5EF4-FFF2-40B4-BE49-F238E27FC236}">
                <a16:creationId xmlns:a16="http://schemas.microsoft.com/office/drawing/2014/main" id="{889A34EA-04D3-4449-A711-8161E3A1192F}"/>
              </a:ext>
            </a:extLst>
          </p:cNvPr>
          <p:cNvSpPr/>
          <p:nvPr/>
        </p:nvSpPr>
        <p:spPr>
          <a:xfrm rot="-678596">
            <a:off x="2004188" y="4494334"/>
            <a:ext cx="2864276" cy="1016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ec_projLbl">
            <a:extLst>
              <a:ext uri="{FF2B5EF4-FFF2-40B4-BE49-F238E27FC236}">
                <a16:creationId xmlns:a16="http://schemas.microsoft.com/office/drawing/2014/main" id="{4BF14913-21B2-6B49-8158-03843622C463}"/>
              </a:ext>
            </a:extLst>
          </p:cNvPr>
          <p:cNvSpPr txBox="1"/>
          <p:nvPr/>
        </p:nvSpPr>
        <p:spPr>
          <a:xfrm>
            <a:off x="3182326" y="4697534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i="1">
                <a:solidFill>
                  <a:srgbClr val="D1578A"/>
                </a:solidFill>
                <a:latin typeface="Arial"/>
                <a:cs typeface="Arial"/>
              </a:rPr>
              <a:t>proj_v(u)</a:t>
            </a:r>
          </a:p>
        </p:txBody>
      </p:sp>
      <p:sp>
        <p:nvSpPr>
          <p:cNvPr id="49" name="PerpDash">
            <a:extLst>
              <a:ext uri="{FF2B5EF4-FFF2-40B4-BE49-F238E27FC236}">
                <a16:creationId xmlns:a16="http://schemas.microsoft.com/office/drawing/2014/main" id="{1633AF81-C269-9A41-A02A-908F6CB45ABC}"/>
              </a:ext>
            </a:extLst>
          </p:cNvPr>
          <p:cNvSpPr/>
          <p:nvPr/>
        </p:nvSpPr>
        <p:spPr>
          <a:xfrm rot="4721404">
            <a:off x="4021391" y="3579934"/>
            <a:ext cx="1369871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tAngleMk">
            <a:extLst>
              <a:ext uri="{FF2B5EF4-FFF2-40B4-BE49-F238E27FC236}">
                <a16:creationId xmlns:a16="http://schemas.microsoft.com/office/drawing/2014/main" id="{24ED4892-2D80-F347-8881-E1A218BD08E8}"/>
              </a:ext>
            </a:extLst>
          </p:cNvPr>
          <p:cNvSpPr/>
          <p:nvPr/>
        </p:nvSpPr>
        <p:spPr>
          <a:xfrm rot="-678596">
            <a:off x="4751753" y="4175369"/>
            <a:ext cx="127000" cy="127000"/>
          </a:xfrm>
          <a:prstGeom prst="rect">
            <a:avLst/>
          </a:prstGeom>
          <a:noFill/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riginDot">
            <a:extLst>
              <a:ext uri="{FF2B5EF4-FFF2-40B4-BE49-F238E27FC236}">
                <a16:creationId xmlns:a16="http://schemas.microsoft.com/office/drawing/2014/main" id="{1AD4D2C3-0657-5546-9D7C-81F29EF3E199}"/>
              </a:ext>
            </a:extLst>
          </p:cNvPr>
          <p:cNvSpPr/>
          <p:nvPr/>
        </p:nvSpPr>
        <p:spPr>
          <a:xfrm>
            <a:off x="1981200" y="4775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riginLbl">
            <a:extLst>
              <a:ext uri="{FF2B5EF4-FFF2-40B4-BE49-F238E27FC236}">
                <a16:creationId xmlns:a16="http://schemas.microsoft.com/office/drawing/2014/main" id="{E44E1F91-6CEE-F44C-A961-24634BB8B4AB}"/>
              </a:ext>
            </a:extLst>
          </p:cNvPr>
          <p:cNvSpPr txBox="1"/>
          <p:nvPr/>
        </p:nvSpPr>
        <p:spPr>
          <a:xfrm>
            <a:off x="1841500" y="485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53" name="ThetaLbl">
            <a:extLst>
              <a:ext uri="{FF2B5EF4-FFF2-40B4-BE49-F238E27FC236}">
                <a16:creationId xmlns:a16="http://schemas.microsoft.com/office/drawing/2014/main" id="{A82C0D78-FE0B-1F47-B201-57F4BE3622C4}"/>
              </a:ext>
            </a:extLst>
          </p:cNvPr>
          <p:cNvSpPr txBox="1"/>
          <p:nvPr/>
        </p:nvSpPr>
        <p:spPr>
          <a:xfrm>
            <a:off x="2185465" y="4483357"/>
            <a:ext cx="254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400" b="1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400" b="1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A77B711F-9414-574D-A4DF-E95DCE0A07F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F042D2FD-38D6-3845-B997-1F78E98134CF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FA34E61F-314B-BE49-9120-6A793677B293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Geometric meaning</a:t>
            </a:r>
          </a:p>
        </p:txBody>
      </p:sp>
      <p:sp>
        <p:nvSpPr>
          <p:cNvPr id="57" name="R1">
            <a:extLst>
              <a:ext uri="{FF2B5EF4-FFF2-40B4-BE49-F238E27FC236}">
                <a16:creationId xmlns:a16="http://schemas.microsoft.com/office/drawing/2014/main" id="{59880F07-1E4D-174B-96BC-BB4D2FEE3FA4}"/>
              </a:ext>
            </a:extLst>
          </p:cNvPr>
          <p:cNvSpPr txBox="1"/>
          <p:nvPr/>
        </p:nvSpPr>
        <p:spPr>
          <a:xfrm>
            <a:off x="8356600" y="1841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u · v  =  ‖u‖ · ‖v‖ · cos 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θ</a:t>
            </a:r>
            <a:endParaRPr lang="en-US" sz="1400" b="1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58" name="R1b">
            <a:extLst>
              <a:ext uri="{FF2B5EF4-FFF2-40B4-BE49-F238E27FC236}">
                <a16:creationId xmlns:a16="http://schemas.microsoft.com/office/drawing/2014/main" id="{A3777CB1-7B3E-014B-B7F1-79BB0A2DD82F}"/>
              </a:ext>
            </a:extLst>
          </p:cNvPr>
          <p:cNvSpPr txBox="1"/>
          <p:nvPr/>
        </p:nvSpPr>
        <p:spPr>
          <a:xfrm>
            <a:off x="8356600" y="21844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= length of u's shadow along v
   × length of v</a:t>
            </a:r>
          </a:p>
        </p:txBody>
      </p:sp>
      <p:sp>
        <p:nvSpPr>
          <p:cNvPr id="59" name="CalcBox">
            <a:extLst>
              <a:ext uri="{FF2B5EF4-FFF2-40B4-BE49-F238E27FC236}">
                <a16:creationId xmlns:a16="http://schemas.microsoft.com/office/drawing/2014/main" id="{BBE4EDCF-2FC9-6040-BB21-FD26A2765045}"/>
              </a:ext>
            </a:extLst>
          </p:cNvPr>
          <p:cNvSpPr/>
          <p:nvPr/>
        </p:nvSpPr>
        <p:spPr>
          <a:xfrm>
            <a:off x="8356600" y="2730500"/>
            <a:ext cx="3225800" cy="1397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CalcT">
            <a:extLst>
              <a:ext uri="{FF2B5EF4-FFF2-40B4-BE49-F238E27FC236}">
                <a16:creationId xmlns:a16="http://schemas.microsoft.com/office/drawing/2014/main" id="{0B97E347-9E2D-EE4D-B77C-B33ADC48E256}"/>
              </a:ext>
            </a:extLst>
          </p:cNvPr>
          <p:cNvSpPr txBox="1"/>
          <p:nvPr/>
        </p:nvSpPr>
        <p:spPr>
          <a:xfrm>
            <a:off x="8432800" y="2794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u=(4,3), v=(5,1):</a:t>
            </a:r>
          </a:p>
        </p:txBody>
      </p:sp>
      <p:sp>
        <p:nvSpPr>
          <p:cNvPr id="61" name="CalcEq1">
            <a:extLst>
              <a:ext uri="{FF2B5EF4-FFF2-40B4-BE49-F238E27FC236}">
                <a16:creationId xmlns:a16="http://schemas.microsoft.com/office/drawing/2014/main" id="{ECC67CED-C4DC-F246-8781-F96282C121F4}"/>
              </a:ext>
            </a:extLst>
          </p:cNvPr>
          <p:cNvSpPr txBox="1"/>
          <p:nvPr/>
        </p:nvSpPr>
        <p:spPr>
          <a:xfrm>
            <a:off x="8432800" y="30480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u · v = 4·5 + 3·1 = 23</a:t>
            </a:r>
          </a:p>
        </p:txBody>
      </p:sp>
      <p:sp>
        <p:nvSpPr>
          <p:cNvPr id="62" name="CalcEq2">
            <a:extLst>
              <a:ext uri="{FF2B5EF4-FFF2-40B4-BE49-F238E27FC236}">
                <a16:creationId xmlns:a16="http://schemas.microsoft.com/office/drawing/2014/main" id="{1F972A12-D056-2A4B-A27D-578381A2C437}"/>
              </a:ext>
            </a:extLst>
          </p:cNvPr>
          <p:cNvSpPr txBox="1"/>
          <p:nvPr/>
        </p:nvSpPr>
        <p:spPr>
          <a:xfrm>
            <a:off x="8432800" y="33274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‖u‖ = 5,  ‖v‖ ≈ 5.10</a:t>
            </a:r>
          </a:p>
        </p:txBody>
      </p:sp>
      <p:sp>
        <p:nvSpPr>
          <p:cNvPr id="63" name="CalcEq3">
            <a:extLst>
              <a:ext uri="{FF2B5EF4-FFF2-40B4-BE49-F238E27FC236}">
                <a16:creationId xmlns:a16="http://schemas.microsoft.com/office/drawing/2014/main" id="{91D63277-B01C-7448-BC6E-0614CCD47E08}"/>
              </a:ext>
            </a:extLst>
          </p:cNvPr>
          <p:cNvSpPr txBox="1"/>
          <p:nvPr/>
        </p:nvSpPr>
        <p:spPr>
          <a:xfrm>
            <a:off x="8432800" y="36068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cos </a:t>
            </a:r>
            <a:r>
              <a:rPr lang="el-GR" sz="1200">
                <a:solidFill>
                  <a:srgbClr val="333333"/>
                </a:solidFill>
                <a:latin typeface="Cambria Math"/>
                <a:ea typeface="Cambria Math"/>
              </a:rPr>
              <a:t>θ = 23/(5·5.10) ≈ 0.902
θ ≈ 25.6°</a:t>
            </a:r>
            <a:endParaRPr lang="en-US" sz="12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64" name="Sign">
            <a:extLst>
              <a:ext uri="{FF2B5EF4-FFF2-40B4-BE49-F238E27FC236}">
                <a16:creationId xmlns:a16="http://schemas.microsoft.com/office/drawing/2014/main" id="{3CE7E407-3790-D249-9FCD-5BA15BBF4B92}"/>
              </a:ext>
            </a:extLst>
          </p:cNvPr>
          <p:cNvSpPr txBox="1"/>
          <p:nvPr/>
        </p:nvSpPr>
        <p:spPr>
          <a:xfrm>
            <a:off x="8356600" y="4292600"/>
            <a:ext cx="34290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Sign tells us:
• u·v &gt; 0  →  acute (same side)
• u·v = 0  →  perpendicular
• u·v &lt; 0  →  obtuse (opposite)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C2789630-AC17-6B44-B4EC-C5B104E7946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12B4E87B-8C90-1547-B805-365AFCD32D6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Dot product = how much of u points in the direction of v, scaled by ‖v‖</a:t>
            </a:r>
          </a:p>
        </p:txBody>
      </p:sp>
    </p:spTree>
    <p:extLst>
      <p:ext uri="{BB962C8B-B14F-4D97-AF65-F5344CB8AC3E}">
        <p14:creationId xmlns:p14="http://schemas.microsoft.com/office/powerpoint/2010/main" val="14876507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69021F2-4638-574D-A83B-9C02347078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">
                <a:extLst>
                  <a:ext uri="{FF2B5EF4-FFF2-40B4-BE49-F238E27FC236}">
                    <a16:creationId xmlns:a16="http://schemas.microsoft.com/office/drawing/2014/main" id="{7440B62E-679D-AE4B-90CD-74EB439D713C}"/>
                  </a:ext>
                </a:extLst>
              </p:cNvPr>
              <p:cNvSpPr txBox="1"/>
              <p:nvPr/>
            </p:nvSpPr>
            <p:spPr>
              <a:xfrm>
                <a:off x="381000" y="342900"/>
                <a:ext cx="11430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Arial"/>
                  </a:rPr>
                  <a:t>Proof: 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D1578A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D1578A"/>
                        </a:solidFill>
                        <a:latin typeface="Cambria Math"/>
                      </a:rPr>
                      <m:t>𝒃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cos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" name="Title">
                <a:extLst>
                  <a:ext uri="{FF2B5EF4-FFF2-40B4-BE49-F238E27FC236}">
                    <a16:creationId xmlns:a16="http://schemas.microsoft.com/office/drawing/2014/main" id="{7440B62E-679D-AE4B-90CD-74EB439D7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42900"/>
                <a:ext cx="11430000" cy="406400"/>
              </a:xfrm>
              <a:prstGeom prst="rect">
                <a:avLst/>
              </a:prstGeom>
              <a:blipFill>
                <a:blip r:embed="rId2"/>
                <a:stretch>
                  <a:fillRect l="-666" t="-8824" b="-29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">
            <a:extLst>
              <a:ext uri="{FF2B5EF4-FFF2-40B4-BE49-F238E27FC236}">
                <a16:creationId xmlns:a16="http://schemas.microsoft.com/office/drawing/2014/main" id="{DF9F6FC5-7EB9-0147-9A1C-23E5242C1DE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Arial"/>
              </a:rPr>
              <a:t>Two routes to the same scalar — the algebraic definition and the Law of Cosines must agree.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9A7C3FB-5871-F448-96D2-552731A90FFE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A77B711F-9414-574D-A4DF-E95DCE0A07F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F042D2FD-38D6-3845-B997-1F78E98134CF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FA34E61F-314B-BE49-9120-6A793677B293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C2789630-AC17-6B44-B4EC-C5B104E7946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12B4E87B-8C90-1547-B805-365AFCD32D6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</a:rPr>
              <a:t>Computing the squared length of a − b two ways forces the algebraic and geometric dot products to coincide.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ProofSteps"/>
              <p:cNvSpPr/>
              <p:nvPr/>
            </p:nvSpPr>
            <p:spPr>
              <a:xfrm>
                <a:off x="762000" y="1371600"/>
                <a:ext cx="7112000" cy="4191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1.  Law of Cosines on the triangle with sides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a, b, a−b: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−2‖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US" sz="16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2.  Expand the same length using the algebraic dot product: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)·(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−2(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3.  Set the two expansions equal and cancel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‖a‖²</a:t>
                </a:r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 and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‖b‖²</a:t>
                </a:r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−2(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)=−2‖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4.  Divide by −2: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=‖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2000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20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cos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𝜃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    ∎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0" name="ProofStep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371600"/>
                <a:ext cx="7112000" cy="4191000"/>
              </a:xfrm>
              <a:prstGeom prst="rect">
                <a:avLst/>
              </a:prstGeom>
              <a:blipFill>
                <a:blip r:embed="rId3"/>
                <a:stretch>
                  <a:fillRect l="-535" t="-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0" name="Side_ amb"/>
          <p:cNvCxnSpPr/>
          <p:nvPr/>
        </p:nvCxnSpPr>
        <p:spPr>
          <a:xfrm>
            <a:off x="10160000" y="2349500"/>
            <a:ext cx="1168400" cy="2222500"/>
          </a:xfrm>
          <a:prstGeom prst="line">
            <a:avLst/>
          </a:prstGeom>
          <a:ln w="317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Vec_a"/>
          <p:cNvCxnSpPr/>
          <p:nvPr/>
        </p:nvCxnSpPr>
        <p:spPr>
          <a:xfrm flipV="1">
            <a:off x="8890000" y="4572000"/>
            <a:ext cx="2438400" cy="444500"/>
          </a:xfrm>
          <a:prstGeom prst="line">
            <a:avLst/>
          </a:prstGeom>
          <a:ln w="3492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Vec_b"/>
          <p:cNvCxnSpPr/>
          <p:nvPr/>
        </p:nvCxnSpPr>
        <p:spPr>
          <a:xfrm flipV="1">
            <a:off x="8890000" y="2349500"/>
            <a:ext cx="1270000" cy="2667000"/>
          </a:xfrm>
          <a:prstGeom prst="line">
            <a:avLst/>
          </a:prstGeom>
          <a:ln w="3492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hetaArc"/>
          <p:cNvSpPr/>
          <p:nvPr/>
        </p:nvSpPr>
        <p:spPr>
          <a:xfrm rot="689481">
            <a:off x="8927660" y="4594334"/>
            <a:ext cx="584200" cy="584200"/>
          </a:xfrm>
          <a:prstGeom prst="arc">
            <a:avLst>
              <a:gd name="adj1" fmla="val 14000000"/>
              <a:gd name="adj2" fmla="val 21000000"/>
            </a:avLst>
          </a:prstGeom>
          <a:ln w="19050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4" name="Vtx"/>
          <p:cNvSpPr/>
          <p:nvPr/>
        </p:nvSpPr>
        <p:spPr>
          <a:xfrm>
            <a:off x="8845550" y="4972050"/>
            <a:ext cx="88900" cy="889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La"/>
              <p:cNvSpPr/>
              <p:nvPr/>
            </p:nvSpPr>
            <p:spPr>
              <a:xfrm>
                <a:off x="10769600" y="46482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5" name="L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9600" y="4648200"/>
                <a:ext cx="508000" cy="228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Lb"/>
              <p:cNvSpPr/>
              <p:nvPr/>
            </p:nvSpPr>
            <p:spPr>
              <a:xfrm>
                <a:off x="9779000" y="22733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6" name="L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0" y="2273300"/>
                <a:ext cx="508000" cy="228600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Lamb"/>
              <p:cNvSpPr/>
              <p:nvPr/>
            </p:nvSpPr>
            <p:spPr>
              <a:xfrm>
                <a:off x="10820400" y="313055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7" name="Lam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0" y="3130550"/>
                <a:ext cx="508000" cy="228600"/>
              </a:xfrm>
              <a:prstGeom prst="rect">
                <a:avLst/>
              </a:prstGeom>
              <a:blipFill>
                <a:blip r:embed="rId6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Ltheta"/>
              <p:cNvSpPr/>
              <p:nvPr/>
            </p:nvSpPr>
            <p:spPr>
              <a:xfrm>
                <a:off x="9093200" y="46355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8" name="Lthet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200" y="4635500"/>
                <a:ext cx="508000" cy="228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LO"/>
          <p:cNvSpPr/>
          <p:nvPr/>
        </p:nvSpPr>
        <p:spPr>
          <a:xfrm>
            <a:off x="8686800" y="5067300"/>
            <a:ext cx="2286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alibri"/>
              </a:rPr>
              <a:t>O</a:t>
            </a:r>
          </a:p>
        </p:txBody>
      </p:sp>
      <p:sp>
        <p:nvSpPr>
          <p:cNvPr id="320" name="TriCap"/>
          <p:cNvSpPr/>
          <p:nvPr/>
        </p:nvSpPr>
        <p:spPr>
          <a:xfrm>
            <a:off x="8318500" y="52070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The third side is a−b; θ is the angle at O.</a:t>
            </a:r>
          </a:p>
        </p:txBody>
      </p:sp>
      <p:sp>
        <p:nvSpPr>
          <p:cNvPr id="329" name="WhyBox"/>
          <p:cNvSpPr/>
          <p:nvPr/>
        </p:nvSpPr>
        <p:spPr>
          <a:xfrm>
            <a:off x="965200" y="4394200"/>
            <a:ext cx="6705600" cy="1016000"/>
          </a:xfrm>
          <a:prstGeom prst="roundRect">
            <a:avLst>
              <a:gd name="adj" fmla="val 6000"/>
            </a:avLst>
          </a:prstGeom>
          <a:solidFill>
            <a:srgbClr val="F3F0F8"/>
          </a:solidFill>
          <a:ln w="12700">
            <a:solidFill>
              <a:srgbClr val="C9B8E0"/>
            </a:solidFill>
          </a:ln>
        </p:spPr>
        <p:txBody>
          <a:bodyPr wrap="square" lIns="109728" tIns="45720" rIns="109728" bIns="45720" anchor="ctr">
            <a:normAutofit/>
          </a:bodyPr>
          <a:lstStyle/>
          <a:p>
            <a:pPr algn="l"/>
            <a:r>
              <a:rPr lang="en-US" sz="1250" b="1" dirty="0">
                <a:solidFill>
                  <a:srgbClr val="4B2E83"/>
                </a:solidFill>
                <a:latin typeface="Calibri"/>
              </a:rPr>
              <a:t>Why this matters:  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the component formula </a:t>
            </a:r>
            <a:r>
              <a:rPr lang="en-US" sz="1250" b="1" dirty="0">
                <a:solidFill>
                  <a:srgbClr val="333333"/>
                </a:solidFill>
                <a:latin typeface="Calibri"/>
              </a:rPr>
              <a:t>a·b = a₁b₁ + a₂b₂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 and the geometric form </a:t>
            </a:r>
            <a:r>
              <a:rPr lang="en-US" sz="1250" b="1" dirty="0">
                <a:solidFill>
                  <a:srgbClr val="333333"/>
                </a:solidFill>
                <a:latin typeface="Calibri"/>
              </a:rPr>
              <a:t>‖a‖‖b‖cos θ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 are the SAME number — so the dot product measures both coordinates and angle at once.</a:t>
            </a:r>
          </a:p>
        </p:txBody>
      </p:sp>
    </p:spTree>
    <p:extLst>
      <p:ext uri="{BB962C8B-B14F-4D97-AF65-F5344CB8AC3E}">
        <p14:creationId xmlns:p14="http://schemas.microsoft.com/office/powerpoint/2010/main" val="8921199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5DDEA07F-DDBE-5C48-9EDE-94750FD32BF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EF999C0-0221-2145-8CCC-FBD15FE642A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Dot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03DF1E6-F1F2-3043-8472-31838EC0246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Straight computation:  u · v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83DCFC72-AB8D-FE4F-BCAD-4075A58FC8B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79F21351-4711-C343-B471-9B999C28A7AE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CBF00C0-C249-DC47-8FC0-52668D0F430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A328E16D-A4BB-5848-B18B-FF22E6036741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· v   where   u = (2, 3, -1)   and   v = (4, 0, 5)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BCB682C2-2882-4442-BDE8-2A543A2B49AE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F075EFC6-53D9-C747-AE4F-89B6CEFB764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1CFC3A09-C9DB-EE47-8171-C2E41615BCD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34D1829A-66F3-8D40-BF0A-298D74CC95FF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paired entries:  (2·4), (3·0), (-1·5)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6C8155A8-F82C-6A49-85B2-BCC06055B050}"/>
              </a:ext>
            </a:extLst>
          </p:cNvPr>
          <p:cNvSpPr txBox="1"/>
          <p:nvPr/>
        </p:nvSpPr>
        <p:spPr>
          <a:xfrm>
            <a:off x="558800" y="3835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                 =     8,         0,         -5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00B0B021-89BB-EC43-96C5-3C2D385B2038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Sum the products:   8 + 0 + (-5)  =  3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93FA5F00-EC15-044E-BD81-D6FD89A3C3DC}"/>
              </a:ext>
            </a:extLst>
          </p:cNvPr>
          <p:cNvSpPr txBox="1"/>
          <p:nvPr/>
        </p:nvSpPr>
        <p:spPr>
          <a:xfrm>
            <a:off x="558800" y="45466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Sanity: ‖u‖ ≈ 3.74,  ‖v‖ ≈ 6.40,  so cos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θ = 3 / (3.74·6.40) ≈ 0.125 (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mostly orthogonal).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152FD8B-9B11-054A-9F13-E9B6930F4EF2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Answer:   u · v  =  3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665CF376-55AD-2145-9EEC-B23A8C5F634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4EC4921D-76F3-DF4A-899C-C25D2A18BDB4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Dot product = pair-multiply, then sum — three multiplications and two additions for ℝ³</a:t>
            </a:r>
          </a:p>
        </p:txBody>
      </p:sp>
    </p:spTree>
    <p:extLst>
      <p:ext uri="{BB962C8B-B14F-4D97-AF65-F5344CB8AC3E}">
        <p14:creationId xmlns:p14="http://schemas.microsoft.com/office/powerpoint/2010/main" val="30363083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11D16286-D5FF-834E-BF02-E8BDEB4C564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20243115-DF5C-4C43-A32C-9EFC77E4B73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Orthogonality Check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9BF75DC-8921-B742-BDE3-7B33DC458AF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Use the dot product to test if two vectors are perpendicular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F305FC8B-C049-2F4B-9E26-E45EEEEBBF5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63FD4FE5-A34D-1144-9226-2BD2DCC01C4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8EF3B00E-954A-7845-B6D1-7B7AE733BCB5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122F5195-EF6A-C846-ACDE-2B97D56E8053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Are  u = (1, 2, -2)  and  v = (4, -1, 1)  orthogonal?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DCA6153C-FA95-3548-8ECC-931C6C12C739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E1A7293F-6D60-4748-84D3-F933228A78A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0058D5F6-EA6D-3746-B1D5-37A42C2EBCD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Step1">
            <a:extLst>
              <a:ext uri="{FF2B5EF4-FFF2-40B4-BE49-F238E27FC236}">
                <a16:creationId xmlns:a16="http://schemas.microsoft.com/office/drawing/2014/main" id="{A8369A7A-7586-E24A-A274-911FF44B7C8E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Two vectors are orthogonal iff their dot product = 0.</a:t>
            </a:r>
          </a:p>
        </p:txBody>
      </p:sp>
      <p:sp>
        <p:nvSpPr>
          <p:cNvPr id="30" name="SStep2">
            <a:extLst>
              <a:ext uri="{FF2B5EF4-FFF2-40B4-BE49-F238E27FC236}">
                <a16:creationId xmlns:a16="http://schemas.microsoft.com/office/drawing/2014/main" id="{6D030CD7-BB9E-0B45-8B64-0EF2D755CAB6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u · v  =  (1)(4) + (2)(-1) + (-2)(1)  =  4 − 2 − 2  =  0</a:t>
            </a:r>
          </a:p>
        </p:txBody>
      </p:sp>
      <p:sp>
        <p:nvSpPr>
          <p:cNvPr id="31" name="SStep3">
            <a:extLst>
              <a:ext uri="{FF2B5EF4-FFF2-40B4-BE49-F238E27FC236}">
                <a16:creationId xmlns:a16="http://schemas.microsoft.com/office/drawing/2014/main" id="{C3ABE5F5-6526-624E-AF60-47502F4083BA}"/>
              </a:ext>
            </a:extLst>
          </p:cNvPr>
          <p:cNvSpPr txBox="1"/>
          <p:nvPr/>
        </p:nvSpPr>
        <p:spPr>
          <a:xfrm>
            <a:off x="558800" y="4241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2.  Conclusion: u · v = 0, so the vectors are orthogonal (perpendicular).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BFD1BC2B-1399-5F4D-93A1-68D23FC0DAB4}"/>
              </a:ext>
            </a:extLst>
          </p:cNvPr>
          <p:cNvSpPr txBox="1"/>
          <p:nvPr/>
        </p:nvSpPr>
        <p:spPr>
          <a:xfrm>
            <a:off x="558800" y="4622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meaning: the angle between them is exactly 90°.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CFA1C2C8-345A-D446-8F41-620CF8162AF7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Answer:   Yes — u ⊥ v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C2324813-FB06-4A45-8B17-FD9E7B0DC48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48E0AE6-10BF-C341-9D90-4D384E5BC71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Orthogonality is decided by one scalar: if u · v = 0, the vectors meet at a right angle</a:t>
            </a:r>
          </a:p>
        </p:txBody>
      </p:sp>
    </p:spTree>
    <p:extLst>
      <p:ext uri="{BB962C8B-B14F-4D97-AF65-F5344CB8AC3E}">
        <p14:creationId xmlns:p14="http://schemas.microsoft.com/office/powerpoint/2010/main" val="21619803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1)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2)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=(3)(1)+(1)(2)=5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705100" y="4546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45466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1739900" y="39370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39370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rojHdr"/>
          <p:cNvSpPr/>
          <p:nvPr/>
        </p:nvSpPr>
        <p:spPr>
          <a:xfrm>
            <a:off x="7175500" y="24892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4B2E83"/>
                </a:solidFill>
                <a:latin typeface="Calibri"/>
              </a:rPr>
              <a:t>Projection of v onto u</a:t>
            </a:r>
          </a:p>
        </p:txBody>
      </p:sp>
      <p:sp>
        <p:nvSpPr>
          <p:cNvPr id="910" name="PG"/>
          <p:cNvSpPr/>
          <p:nvPr/>
        </p:nvSpPr>
        <p:spPr>
          <a:xfrm>
            <a:off x="71755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G"/>
          <p:cNvSpPr/>
          <p:nvPr/>
        </p:nvSpPr>
        <p:spPr>
          <a:xfrm>
            <a:off x="75184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G"/>
          <p:cNvSpPr/>
          <p:nvPr/>
        </p:nvSpPr>
        <p:spPr>
          <a:xfrm>
            <a:off x="78613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G"/>
          <p:cNvSpPr/>
          <p:nvPr/>
        </p:nvSpPr>
        <p:spPr>
          <a:xfrm>
            <a:off x="82042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PG"/>
          <p:cNvSpPr/>
          <p:nvPr/>
        </p:nvSpPr>
        <p:spPr>
          <a:xfrm>
            <a:off x="85471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PG"/>
          <p:cNvSpPr/>
          <p:nvPr/>
        </p:nvSpPr>
        <p:spPr>
          <a:xfrm>
            <a:off x="88900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PG"/>
          <p:cNvSpPr/>
          <p:nvPr/>
        </p:nvSpPr>
        <p:spPr>
          <a:xfrm>
            <a:off x="7175500" y="51816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PG"/>
          <p:cNvSpPr/>
          <p:nvPr/>
        </p:nvSpPr>
        <p:spPr>
          <a:xfrm>
            <a:off x="7175500" y="48387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PG"/>
          <p:cNvSpPr/>
          <p:nvPr/>
        </p:nvSpPr>
        <p:spPr>
          <a:xfrm>
            <a:off x="7175500" y="44958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PG"/>
          <p:cNvSpPr/>
          <p:nvPr/>
        </p:nvSpPr>
        <p:spPr>
          <a:xfrm>
            <a:off x="7175500" y="41529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PG"/>
          <p:cNvSpPr/>
          <p:nvPr/>
        </p:nvSpPr>
        <p:spPr>
          <a:xfrm>
            <a:off x="7175500" y="38100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PG"/>
          <p:cNvSpPr/>
          <p:nvPr/>
        </p:nvSpPr>
        <p:spPr>
          <a:xfrm>
            <a:off x="7175500" y="34671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PAx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PAx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40" name="ProjSeg"/>
          <p:cNvCxnSpPr/>
          <p:nvPr/>
        </p:nvCxnSpPr>
        <p:spPr>
          <a:xfrm flipV="1">
            <a:off x="7175500" y="5010150"/>
            <a:ext cx="514350" cy="171450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uArr"/>
          <p:cNvCxnSpPr/>
          <p:nvPr/>
        </p:nvCxnSpPr>
        <p:spPr>
          <a:xfrm flipV="1">
            <a:off x="7175500" y="4838700"/>
            <a:ext cx="1028700" cy="3429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vArr"/>
          <p:cNvCxnSpPr/>
          <p:nvPr/>
        </p:nvCxnSpPr>
        <p:spPr>
          <a:xfrm flipV="1">
            <a:off x="7175500" y="4495800"/>
            <a:ext cx="342900" cy="6858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PerpDrop"/>
          <p:cNvCxnSpPr/>
          <p:nvPr/>
        </p:nvCxnSpPr>
        <p:spPr>
          <a:xfrm>
            <a:off x="7518400" y="4495800"/>
            <a:ext cx="171450" cy="514350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0" name="uLbl"/>
              <p:cNvSpPr/>
              <p:nvPr/>
            </p:nvSpPr>
            <p:spPr>
              <a:xfrm>
                <a:off x="8242300" y="4787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0" name="u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300" y="4787900"/>
                <a:ext cx="254000" cy="190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1" name="vLbl"/>
              <p:cNvSpPr/>
              <p:nvPr/>
            </p:nvSpPr>
            <p:spPr>
              <a:xfrm>
                <a:off x="7493000" y="4279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1" name="v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0" y="4279900"/>
                <a:ext cx="254000" cy="190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0" name="PCap1"/>
          <p:cNvSpPr/>
          <p:nvPr/>
        </p:nvSpPr>
        <p:spPr>
          <a:xfrm>
            <a:off x="8953500" y="31750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Magenta = proj of v onto u</a:t>
            </a:r>
          </a:p>
        </p:txBody>
      </p:sp>
      <p:sp>
        <p:nvSpPr>
          <p:cNvPr id="961" name="PCap2"/>
          <p:cNvSpPr/>
          <p:nvPr/>
        </p:nvSpPr>
        <p:spPr>
          <a:xfrm>
            <a:off x="8953500" y="34544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8336238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=(2)(4)+(3)(1)=11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3657600"/>
            <a:ext cx="965200" cy="14478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622800"/>
            <a:ext cx="19304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222500" y="35814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35814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3187700" y="4419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44196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L"/>
          <p:cNvSpPr/>
          <p:nvPr/>
        </p:nvSpPr>
        <p:spPr>
          <a:xfrm>
            <a:off x="71755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PL"/>
          <p:cNvSpPr/>
          <p:nvPr/>
        </p:nvSpPr>
        <p:spPr>
          <a:xfrm>
            <a:off x="75184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PL"/>
          <p:cNvSpPr/>
          <p:nvPr/>
        </p:nvSpPr>
        <p:spPr>
          <a:xfrm>
            <a:off x="78613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PL"/>
          <p:cNvSpPr/>
          <p:nvPr/>
        </p:nvSpPr>
        <p:spPr>
          <a:xfrm>
            <a:off x="82042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" name="PL"/>
          <p:cNvSpPr/>
          <p:nvPr/>
        </p:nvSpPr>
        <p:spPr>
          <a:xfrm>
            <a:off x="85471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5" name="PL"/>
          <p:cNvSpPr/>
          <p:nvPr/>
        </p:nvSpPr>
        <p:spPr>
          <a:xfrm>
            <a:off x="88900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6" name="PL"/>
          <p:cNvSpPr/>
          <p:nvPr/>
        </p:nvSpPr>
        <p:spPr>
          <a:xfrm>
            <a:off x="7175500" y="51816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7" name="PL"/>
          <p:cNvSpPr/>
          <p:nvPr/>
        </p:nvSpPr>
        <p:spPr>
          <a:xfrm>
            <a:off x="7175500" y="48387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8" name="PL"/>
          <p:cNvSpPr/>
          <p:nvPr/>
        </p:nvSpPr>
        <p:spPr>
          <a:xfrm>
            <a:off x="7175500" y="44958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9" name="PL"/>
          <p:cNvSpPr/>
          <p:nvPr/>
        </p:nvSpPr>
        <p:spPr>
          <a:xfrm>
            <a:off x="7175500" y="41529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" name="PL"/>
          <p:cNvSpPr/>
          <p:nvPr/>
        </p:nvSpPr>
        <p:spPr>
          <a:xfrm>
            <a:off x="7175500" y="38100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L"/>
          <p:cNvSpPr/>
          <p:nvPr/>
        </p:nvSpPr>
        <p:spPr>
          <a:xfrm>
            <a:off x="7175500" y="34671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L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L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14" name="ProjSeg"/>
          <p:cNvCxnSpPr/>
          <p:nvPr/>
        </p:nvCxnSpPr>
        <p:spPr>
          <a:xfrm flipV="1">
            <a:off x="7175500" y="4311148"/>
            <a:ext cx="580290" cy="870452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uArr"/>
          <p:cNvCxnSpPr/>
          <p:nvPr/>
        </p:nvCxnSpPr>
        <p:spPr>
          <a:xfrm flipV="1">
            <a:off x="7175500" y="4152900"/>
            <a:ext cx="685800" cy="10287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vArr"/>
          <p:cNvCxnSpPr/>
          <p:nvPr/>
        </p:nvCxnSpPr>
        <p:spPr>
          <a:xfrm flipV="1">
            <a:off x="7175500" y="4838700"/>
            <a:ext cx="1371600" cy="3429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PerpDrop"/>
          <p:cNvCxnSpPr/>
          <p:nvPr/>
        </p:nvCxnSpPr>
        <p:spPr>
          <a:xfrm flipH="1" flipV="1">
            <a:off x="7755790" y="4311148"/>
            <a:ext cx="791310" cy="527552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8" name="PLbl"/>
              <p:cNvSpPr/>
              <p:nvPr/>
            </p:nvSpPr>
            <p:spPr>
              <a:xfrm>
                <a:off x="7835900" y="3949700"/>
                <a:ext cx="5080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18" name="P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900" y="3949700"/>
                <a:ext cx="508000" cy="203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PLbl"/>
              <p:cNvSpPr/>
              <p:nvPr/>
            </p:nvSpPr>
            <p:spPr>
              <a:xfrm>
                <a:off x="8585200" y="4787900"/>
                <a:ext cx="5080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19" name="P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5200" y="4787900"/>
                <a:ext cx="508000" cy="203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0" name="PCap"/>
          <p:cNvSpPr/>
          <p:nvPr/>
        </p:nvSpPr>
        <p:spPr>
          <a:xfrm>
            <a:off x="8953500" y="3175000"/>
            <a:ext cx="27305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proj of v onto u (highlighted)</a:t>
            </a:r>
          </a:p>
        </p:txBody>
      </p:sp>
      <p:sp>
        <p:nvSpPr>
          <p:cNvPr id="921" name="PCap"/>
          <p:cNvSpPr/>
          <p:nvPr/>
        </p:nvSpPr>
        <p:spPr>
          <a:xfrm>
            <a:off x="8953500" y="3429000"/>
            <a:ext cx="27305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1091159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=(1)(2)+(4)(1)=6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622800"/>
            <a:ext cx="9652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1739900" y="30988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30988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2222500" y="4419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44196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rojHdr"/>
          <p:cNvSpPr/>
          <p:nvPr/>
        </p:nvSpPr>
        <p:spPr>
          <a:xfrm>
            <a:off x="7175500" y="24892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4B2E83"/>
                </a:solidFill>
                <a:latin typeface="Calibri"/>
              </a:rPr>
              <a:t>Projection of v onto u</a:t>
            </a:r>
          </a:p>
        </p:txBody>
      </p:sp>
      <p:sp>
        <p:nvSpPr>
          <p:cNvPr id="910" name="PG"/>
          <p:cNvSpPr/>
          <p:nvPr/>
        </p:nvSpPr>
        <p:spPr>
          <a:xfrm>
            <a:off x="71755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G"/>
          <p:cNvSpPr/>
          <p:nvPr/>
        </p:nvSpPr>
        <p:spPr>
          <a:xfrm>
            <a:off x="75184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G"/>
          <p:cNvSpPr/>
          <p:nvPr/>
        </p:nvSpPr>
        <p:spPr>
          <a:xfrm>
            <a:off x="78613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G"/>
          <p:cNvSpPr/>
          <p:nvPr/>
        </p:nvSpPr>
        <p:spPr>
          <a:xfrm>
            <a:off x="82042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PG"/>
          <p:cNvSpPr/>
          <p:nvPr/>
        </p:nvSpPr>
        <p:spPr>
          <a:xfrm>
            <a:off x="85471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PG"/>
          <p:cNvSpPr/>
          <p:nvPr/>
        </p:nvSpPr>
        <p:spPr>
          <a:xfrm>
            <a:off x="88900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PG"/>
          <p:cNvSpPr/>
          <p:nvPr/>
        </p:nvSpPr>
        <p:spPr>
          <a:xfrm>
            <a:off x="7175500" y="51816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PG"/>
          <p:cNvSpPr/>
          <p:nvPr/>
        </p:nvSpPr>
        <p:spPr>
          <a:xfrm>
            <a:off x="7175500" y="48387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PG"/>
          <p:cNvSpPr/>
          <p:nvPr/>
        </p:nvSpPr>
        <p:spPr>
          <a:xfrm>
            <a:off x="7175500" y="44958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PG"/>
          <p:cNvSpPr/>
          <p:nvPr/>
        </p:nvSpPr>
        <p:spPr>
          <a:xfrm>
            <a:off x="7175500" y="41529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PG"/>
          <p:cNvSpPr/>
          <p:nvPr/>
        </p:nvSpPr>
        <p:spPr>
          <a:xfrm>
            <a:off x="7175500" y="38100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PG"/>
          <p:cNvSpPr/>
          <p:nvPr/>
        </p:nvSpPr>
        <p:spPr>
          <a:xfrm>
            <a:off x="7175500" y="34671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PAx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PAx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40" name="ProjSeg"/>
          <p:cNvCxnSpPr/>
          <p:nvPr/>
        </p:nvCxnSpPr>
        <p:spPr>
          <a:xfrm flipV="1">
            <a:off x="7175500" y="4697506"/>
            <a:ext cx="121024" cy="484094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uArr"/>
          <p:cNvCxnSpPr/>
          <p:nvPr/>
        </p:nvCxnSpPr>
        <p:spPr>
          <a:xfrm flipV="1">
            <a:off x="7175500" y="3810000"/>
            <a:ext cx="342900" cy="13716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vArr"/>
          <p:cNvCxnSpPr/>
          <p:nvPr/>
        </p:nvCxnSpPr>
        <p:spPr>
          <a:xfrm flipV="1">
            <a:off x="7175500" y="4838700"/>
            <a:ext cx="685800" cy="3429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PerpDrop"/>
          <p:cNvCxnSpPr/>
          <p:nvPr/>
        </p:nvCxnSpPr>
        <p:spPr>
          <a:xfrm flipH="1" flipV="1">
            <a:off x="7296524" y="4697506"/>
            <a:ext cx="564776" cy="141194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0" name="uLbl"/>
              <p:cNvSpPr/>
              <p:nvPr/>
            </p:nvSpPr>
            <p:spPr>
              <a:xfrm>
                <a:off x="7581900" y="37846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0" name="u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00" y="3784600"/>
                <a:ext cx="254000" cy="190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1" name="vLbl"/>
              <p:cNvSpPr/>
              <p:nvPr/>
            </p:nvSpPr>
            <p:spPr>
              <a:xfrm>
                <a:off x="7912100" y="4787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1" name="v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00" y="4787900"/>
                <a:ext cx="254000" cy="190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0" name="PCap1"/>
          <p:cNvSpPr/>
          <p:nvPr/>
        </p:nvSpPr>
        <p:spPr>
          <a:xfrm>
            <a:off x="8953500" y="31750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Magenta = proj of v onto u</a:t>
            </a:r>
          </a:p>
        </p:txBody>
      </p:sp>
      <p:sp>
        <p:nvSpPr>
          <p:cNvPr id="961" name="PCap2"/>
          <p:cNvSpPr/>
          <p:nvPr/>
        </p:nvSpPr>
        <p:spPr>
          <a:xfrm>
            <a:off x="8953500" y="34544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" name="Ex1_SolCover">
            <a:extLst>
              <a:ext uri="{FF2B5EF4-FFF2-40B4-BE49-F238E27FC236}">
                <a16:creationId xmlns:a16="http://schemas.microsoft.com/office/drawing/2014/main" id="{F226DDAA-778F-F786-568C-D8CC28561A13}"/>
              </a:ext>
            </a:extLst>
          </p:cNvPr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6635456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36B514B-F478-9F4D-A89B-AC170C0EA4F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155B8D3-8D32-6246-B337-7FC6A8083196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Norm of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3F90D59D-E723-A94E-8E76-775AB4FDB0D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Measuring the size or length of a vector</a:t>
            </a:r>
          </a:p>
        </p:txBody>
      </p:sp>
      <p:sp>
        <p:nvSpPr>
          <p:cNvPr id="5" name="DefBox">
            <a:extLst>
              <a:ext uri="{FF2B5EF4-FFF2-40B4-BE49-F238E27FC236}">
                <a16:creationId xmlns:a16="http://schemas.microsoft.com/office/drawing/2014/main" id="{21E45A18-19F8-7C49-895A-948CD59203D6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Lbl">
            <a:extLst>
              <a:ext uri="{FF2B5EF4-FFF2-40B4-BE49-F238E27FC236}">
                <a16:creationId xmlns:a16="http://schemas.microsoft.com/office/drawing/2014/main" id="{E9D9CC7E-A164-CD49-B71B-E2E439A9D796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(Euclidean / L² norm)</a:t>
            </a:r>
          </a:p>
        </p:txBody>
      </p:sp>
      <p:sp>
        <p:nvSpPr>
          <p:cNvPr id="7" name="DefEq">
            <a:extLst>
              <a:ext uri="{FF2B5EF4-FFF2-40B4-BE49-F238E27FC236}">
                <a16:creationId xmlns:a16="http://schemas.microsoft.com/office/drawing/2014/main" id="{F3DC4242-FC6A-4041-97B8-86778D33C43C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‖v‖  =  √(v₁² + v₂² + … + vₙ²)</a:t>
            </a:r>
          </a:p>
        </p:txBody>
      </p:sp>
      <p:sp>
        <p:nvSpPr>
          <p:cNvPr id="8" name="DefNote">
            <a:extLst>
              <a:ext uri="{FF2B5EF4-FFF2-40B4-BE49-F238E27FC236}">
                <a16:creationId xmlns:a16="http://schemas.microsoft.com/office/drawing/2014/main" id="{4E34752A-347C-C447-AF2E-DBF077C7F51D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A norm is a non-negative scalar that quantifies the magnitude of a vector — always ≥ 0, equals 0 only at the origin.</a:t>
            </a:r>
          </a:p>
        </p:txBody>
      </p:sp>
      <p:sp>
        <p:nvSpPr>
          <p:cNvPr id="9" name="Card30">
            <a:extLst>
              <a:ext uri="{FF2B5EF4-FFF2-40B4-BE49-F238E27FC236}">
                <a16:creationId xmlns:a16="http://schemas.microsoft.com/office/drawing/2014/main" id="{9CAB2447-E5A9-B742-9839-4C5A6C152BD0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Hdr30">
            <a:extLst>
              <a:ext uri="{FF2B5EF4-FFF2-40B4-BE49-F238E27FC236}">
                <a16:creationId xmlns:a16="http://schemas.microsoft.com/office/drawing/2014/main" id="{630475C2-AE1C-6A45-A52A-68A1CB1D3AEA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Title30">
            <a:extLst>
              <a:ext uri="{FF2B5EF4-FFF2-40B4-BE49-F238E27FC236}">
                <a16:creationId xmlns:a16="http://schemas.microsoft.com/office/drawing/2014/main" id="{82E73323-63E8-D644-B365-68FCCB3AF85E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measures</a:t>
            </a:r>
          </a:p>
        </p:txBody>
      </p:sp>
      <p:sp>
        <p:nvSpPr>
          <p:cNvPr id="12" name="CardBody30">
            <a:extLst>
              <a:ext uri="{FF2B5EF4-FFF2-40B4-BE49-F238E27FC236}">
                <a16:creationId xmlns:a16="http://schemas.microsoft.com/office/drawing/2014/main" id="{46024AB8-53ED-5E42-BA24-7C17562FE40A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The length (magnitude) of a
vector — how far it reaches
from the origin.
For v = (3, 4):
‖v‖ = √(9 + 16) = √25 = 5</a:t>
            </a:r>
          </a:p>
        </p:txBody>
      </p:sp>
      <p:sp>
        <p:nvSpPr>
          <p:cNvPr id="13" name="Card335">
            <a:extLst>
              <a:ext uri="{FF2B5EF4-FFF2-40B4-BE49-F238E27FC236}">
                <a16:creationId xmlns:a16="http://schemas.microsoft.com/office/drawing/2014/main" id="{4E020A3E-8E92-6C42-A7D9-EEC18CCE0188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ardHdr335">
            <a:extLst>
              <a:ext uri="{FF2B5EF4-FFF2-40B4-BE49-F238E27FC236}">
                <a16:creationId xmlns:a16="http://schemas.microsoft.com/office/drawing/2014/main" id="{41EF73F9-DFAF-8045-B984-D8CE917CEDAA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CardTitle335">
            <a:extLst>
              <a:ext uri="{FF2B5EF4-FFF2-40B4-BE49-F238E27FC236}">
                <a16:creationId xmlns:a16="http://schemas.microsoft.com/office/drawing/2014/main" id="{E3F38A79-B155-F449-B82C-9DFDFB34269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Three axioms</a:t>
            </a:r>
          </a:p>
        </p:txBody>
      </p:sp>
      <p:sp>
        <p:nvSpPr>
          <p:cNvPr id="16" name="CardBody335">
            <a:extLst>
              <a:ext uri="{FF2B5EF4-FFF2-40B4-BE49-F238E27FC236}">
                <a16:creationId xmlns:a16="http://schemas.microsoft.com/office/drawing/2014/main" id="{FE59A380-ACD9-0648-AE13-FC905B89BB8A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1. ‖v‖ ≥ 0;  ‖v‖=0 iff v=0
2. ‖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α·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 =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α|·‖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
     (absolute homogeneity)
3. ‖u + v‖ ≤ ‖u‖ + ‖v‖
     (triangle inequality)</a:t>
            </a:r>
          </a:p>
        </p:txBody>
      </p:sp>
      <p:sp>
        <p:nvSpPr>
          <p:cNvPr id="17" name="Card640">
            <a:extLst>
              <a:ext uri="{FF2B5EF4-FFF2-40B4-BE49-F238E27FC236}">
                <a16:creationId xmlns:a16="http://schemas.microsoft.com/office/drawing/2014/main" id="{3F19C14E-2A7F-9046-8F5B-CCC721682567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CardHdr640">
            <a:extLst>
              <a:ext uri="{FF2B5EF4-FFF2-40B4-BE49-F238E27FC236}">
                <a16:creationId xmlns:a16="http://schemas.microsoft.com/office/drawing/2014/main" id="{12458A67-07F4-4843-82EE-502F945C4F8C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6B7462B0-E15D-8341-8EF9-EDF9D4CCAA8F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30F73163-D3C8-8446-B53C-9CD8045A95C0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Distance: d(u,v) = ‖u − v‖
• Normalization: v̂ = v / ‖v‖
• Loss functions (MSE, L1)
• Regularization (ridge, lasso)
• Convergence criteria in ML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D702EE3D-EF8D-C047-98FC-EE7CCF711DD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B27843DF-4467-BA4E-845C-EDE8E086B801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Key insight:   ‖v‖² = v · v   —   the norm squared is the dot product of v with itself.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A4651B2F-D46E-A544-A554-FCADDEE7650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077E258-AF72-6D45-98FE-09841E38CCDB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The norm turns a vector into a single number — its length — and underlies every notion of distance</a:t>
            </a:r>
          </a:p>
        </p:txBody>
      </p:sp>
    </p:spTree>
    <p:extLst>
      <p:ext uri="{BB962C8B-B14F-4D97-AF65-F5344CB8AC3E}">
        <p14:creationId xmlns:p14="http://schemas.microsoft.com/office/powerpoint/2010/main" val="2698591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D07D76FB-EE30-CD4B-95BA-B131425ECBE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2128440-74DF-C34A-ACE0-0EF4E983DAF2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Norm — 2D Visual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5CE26914-3B85-7443-87D3-484FBF9638F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The norm is the hypotenuse of a right triangle made of v's components</a:t>
            </a:r>
          </a:p>
        </p:txBody>
      </p:sp>
      <p:sp>
        <p:nvSpPr>
          <p:cNvPr id="22" name="PlotBg">
            <a:extLst>
              <a:ext uri="{FF2B5EF4-FFF2-40B4-BE49-F238E27FC236}">
                <a16:creationId xmlns:a16="http://schemas.microsoft.com/office/drawing/2014/main" id="{292174D3-EB31-DB4B-937C-2CB665D9E0E8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Ax">
            <a:extLst>
              <a:ext uri="{FF2B5EF4-FFF2-40B4-BE49-F238E27FC236}">
                <a16:creationId xmlns:a16="http://schemas.microsoft.com/office/drawing/2014/main" id="{A1949E99-B76D-4848-996E-EA59E3A56108}"/>
              </a:ext>
            </a:extLst>
          </p:cNvPr>
          <p:cNvSpPr/>
          <p:nvPr/>
        </p:nvSpPr>
        <p:spPr>
          <a:xfrm>
            <a:off x="825500" y="4953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Ay">
            <a:extLst>
              <a:ext uri="{FF2B5EF4-FFF2-40B4-BE49-F238E27FC236}">
                <a16:creationId xmlns:a16="http://schemas.microsoft.com/office/drawing/2014/main" id="{A8B9CE1D-E636-ED48-9A39-B57527EE821F}"/>
              </a:ext>
            </a:extLst>
          </p:cNvPr>
          <p:cNvSpPr/>
          <p:nvPr/>
        </p:nvSpPr>
        <p:spPr>
          <a:xfrm>
            <a:off x="177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X1">
            <a:extLst>
              <a:ext uri="{FF2B5EF4-FFF2-40B4-BE49-F238E27FC236}">
                <a16:creationId xmlns:a16="http://schemas.microsoft.com/office/drawing/2014/main" id="{96C4DD75-E907-734E-B716-C123F08BEDB9}"/>
              </a:ext>
            </a:extLst>
          </p:cNvPr>
          <p:cNvSpPr txBox="1"/>
          <p:nvPr/>
        </p:nvSpPr>
        <p:spPr>
          <a:xfrm>
            <a:off x="233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6" name="TY1">
            <a:extLst>
              <a:ext uri="{FF2B5EF4-FFF2-40B4-BE49-F238E27FC236}">
                <a16:creationId xmlns:a16="http://schemas.microsoft.com/office/drawing/2014/main" id="{81554119-9A6B-D644-BD0F-62A7B95565C2}"/>
              </a:ext>
            </a:extLst>
          </p:cNvPr>
          <p:cNvSpPr txBox="1"/>
          <p:nvPr/>
        </p:nvSpPr>
        <p:spPr>
          <a:xfrm>
            <a:off x="1574800" y="424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7" name="TX2">
            <a:extLst>
              <a:ext uri="{FF2B5EF4-FFF2-40B4-BE49-F238E27FC236}">
                <a16:creationId xmlns:a16="http://schemas.microsoft.com/office/drawing/2014/main" id="{A1FC99D2-1D88-DE45-A10F-342D3815AC1D}"/>
              </a:ext>
            </a:extLst>
          </p:cNvPr>
          <p:cNvSpPr txBox="1"/>
          <p:nvPr/>
        </p:nvSpPr>
        <p:spPr>
          <a:xfrm>
            <a:off x="2971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" name="TY2">
            <a:extLst>
              <a:ext uri="{FF2B5EF4-FFF2-40B4-BE49-F238E27FC236}">
                <a16:creationId xmlns:a16="http://schemas.microsoft.com/office/drawing/2014/main" id="{6653CEF8-4D4B-7E4C-B693-BFA4EA354B7A}"/>
              </a:ext>
            </a:extLst>
          </p:cNvPr>
          <p:cNvSpPr txBox="1"/>
          <p:nvPr/>
        </p:nvSpPr>
        <p:spPr>
          <a:xfrm>
            <a:off x="1574800" y="3606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9" name="TX3">
            <a:extLst>
              <a:ext uri="{FF2B5EF4-FFF2-40B4-BE49-F238E27FC236}">
                <a16:creationId xmlns:a16="http://schemas.microsoft.com/office/drawing/2014/main" id="{9576EA1F-3CA3-E340-A167-715E384D5CF9}"/>
              </a:ext>
            </a:extLst>
          </p:cNvPr>
          <p:cNvSpPr txBox="1"/>
          <p:nvPr/>
        </p:nvSpPr>
        <p:spPr>
          <a:xfrm>
            <a:off x="360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Y3">
            <a:extLst>
              <a:ext uri="{FF2B5EF4-FFF2-40B4-BE49-F238E27FC236}">
                <a16:creationId xmlns:a16="http://schemas.microsoft.com/office/drawing/2014/main" id="{6D018560-2836-2443-9803-195DD91FD7FF}"/>
              </a:ext>
            </a:extLst>
          </p:cNvPr>
          <p:cNvSpPr txBox="1"/>
          <p:nvPr/>
        </p:nvSpPr>
        <p:spPr>
          <a:xfrm>
            <a:off x="1574800" y="297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1" name="TX4">
            <a:extLst>
              <a:ext uri="{FF2B5EF4-FFF2-40B4-BE49-F238E27FC236}">
                <a16:creationId xmlns:a16="http://schemas.microsoft.com/office/drawing/2014/main" id="{B16D4C9F-0AEB-944A-B620-5FA47EA6D0F1}"/>
              </a:ext>
            </a:extLst>
          </p:cNvPr>
          <p:cNvSpPr txBox="1"/>
          <p:nvPr/>
        </p:nvSpPr>
        <p:spPr>
          <a:xfrm>
            <a:off x="4241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TY4">
            <a:extLst>
              <a:ext uri="{FF2B5EF4-FFF2-40B4-BE49-F238E27FC236}">
                <a16:creationId xmlns:a16="http://schemas.microsoft.com/office/drawing/2014/main" id="{76E84613-5857-7840-81FC-C692256BC036}"/>
              </a:ext>
            </a:extLst>
          </p:cNvPr>
          <p:cNvSpPr txBox="1"/>
          <p:nvPr/>
        </p:nvSpPr>
        <p:spPr>
          <a:xfrm>
            <a:off x="1574800" y="2336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TX5">
            <a:extLst>
              <a:ext uri="{FF2B5EF4-FFF2-40B4-BE49-F238E27FC236}">
                <a16:creationId xmlns:a16="http://schemas.microsoft.com/office/drawing/2014/main" id="{0573F80E-F3EE-A14B-AED3-125904AFEA6A}"/>
              </a:ext>
            </a:extLst>
          </p:cNvPr>
          <p:cNvSpPr txBox="1"/>
          <p:nvPr/>
        </p:nvSpPr>
        <p:spPr>
          <a:xfrm>
            <a:off x="487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4" name="TY5">
            <a:extLst>
              <a:ext uri="{FF2B5EF4-FFF2-40B4-BE49-F238E27FC236}">
                <a16:creationId xmlns:a16="http://schemas.microsoft.com/office/drawing/2014/main" id="{0B7390C8-E3D1-8C42-A208-D340F1B24EA0}"/>
              </a:ext>
            </a:extLst>
          </p:cNvPr>
          <p:cNvSpPr txBox="1"/>
          <p:nvPr/>
        </p:nvSpPr>
        <p:spPr>
          <a:xfrm>
            <a:off x="1574800" y="170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5" name="XL">
            <a:extLst>
              <a:ext uri="{FF2B5EF4-FFF2-40B4-BE49-F238E27FC236}">
                <a16:creationId xmlns:a16="http://schemas.microsoft.com/office/drawing/2014/main" id="{E32C1BFB-2EAD-6449-BCB8-C375D9B2EFD1}"/>
              </a:ext>
            </a:extLst>
          </p:cNvPr>
          <p:cNvSpPr txBox="1"/>
          <p:nvPr/>
        </p:nvSpPr>
        <p:spPr>
          <a:xfrm>
            <a:off x="7645400" y="4724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42" name="YL">
            <a:extLst>
              <a:ext uri="{FF2B5EF4-FFF2-40B4-BE49-F238E27FC236}">
                <a16:creationId xmlns:a16="http://schemas.microsoft.com/office/drawing/2014/main" id="{3768B647-4660-D44C-8869-D0A2B1DC1AC8}"/>
              </a:ext>
            </a:extLst>
          </p:cNvPr>
          <p:cNvSpPr txBox="1"/>
          <p:nvPr/>
        </p:nvSpPr>
        <p:spPr>
          <a:xfrm>
            <a:off x="1854200" y="13208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43" name="HLeg">
            <a:extLst>
              <a:ext uri="{FF2B5EF4-FFF2-40B4-BE49-F238E27FC236}">
                <a16:creationId xmlns:a16="http://schemas.microsoft.com/office/drawing/2014/main" id="{4E240A40-6822-AC4C-8AFE-A069A3C06150}"/>
              </a:ext>
            </a:extLst>
          </p:cNvPr>
          <p:cNvSpPr/>
          <p:nvPr/>
        </p:nvSpPr>
        <p:spPr>
          <a:xfrm>
            <a:off x="1778000" y="4940300"/>
            <a:ext cx="1905000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HLegLbl">
            <a:extLst>
              <a:ext uri="{FF2B5EF4-FFF2-40B4-BE49-F238E27FC236}">
                <a16:creationId xmlns:a16="http://schemas.microsoft.com/office/drawing/2014/main" id="{6F5F82CB-C5A7-134C-8C33-F759A38CEE35}"/>
              </a:ext>
            </a:extLst>
          </p:cNvPr>
          <p:cNvSpPr txBox="1"/>
          <p:nvPr/>
        </p:nvSpPr>
        <p:spPr>
          <a:xfrm>
            <a:off x="2908300" y="50546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v₁ = 3</a:t>
            </a:r>
          </a:p>
        </p:txBody>
      </p:sp>
      <p:sp>
        <p:nvSpPr>
          <p:cNvPr id="45" name="VLeg">
            <a:extLst>
              <a:ext uri="{FF2B5EF4-FFF2-40B4-BE49-F238E27FC236}">
                <a16:creationId xmlns:a16="http://schemas.microsoft.com/office/drawing/2014/main" id="{AE16ED4F-56A4-8A43-820E-9C001578598A}"/>
              </a:ext>
            </a:extLst>
          </p:cNvPr>
          <p:cNvSpPr/>
          <p:nvPr/>
        </p:nvSpPr>
        <p:spPr>
          <a:xfrm>
            <a:off x="3670300" y="2413000"/>
            <a:ext cx="25400" cy="2540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VLegLbl">
            <a:extLst>
              <a:ext uri="{FF2B5EF4-FFF2-40B4-BE49-F238E27FC236}">
                <a16:creationId xmlns:a16="http://schemas.microsoft.com/office/drawing/2014/main" id="{AB6F2F32-9EFF-CE46-B5FC-905CD595CE76}"/>
              </a:ext>
            </a:extLst>
          </p:cNvPr>
          <p:cNvSpPr txBox="1"/>
          <p:nvPr/>
        </p:nvSpPr>
        <p:spPr>
          <a:xfrm>
            <a:off x="3784600" y="35814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v₂ = 4</a:t>
            </a:r>
          </a:p>
        </p:txBody>
      </p:sp>
      <p:sp>
        <p:nvSpPr>
          <p:cNvPr id="47" name="VecV">
            <a:extLst>
              <a:ext uri="{FF2B5EF4-FFF2-40B4-BE49-F238E27FC236}">
                <a16:creationId xmlns:a16="http://schemas.microsoft.com/office/drawing/2014/main" id="{DC0D8B0D-0377-C443-8782-247C4D9EE79D}"/>
              </a:ext>
            </a:extLst>
          </p:cNvPr>
          <p:cNvSpPr/>
          <p:nvPr/>
        </p:nvSpPr>
        <p:spPr>
          <a:xfrm rot="-3187806">
            <a:off x="1143000" y="3644900"/>
            <a:ext cx="3175000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Lbl">
            <a:extLst>
              <a:ext uri="{FF2B5EF4-FFF2-40B4-BE49-F238E27FC236}">
                <a16:creationId xmlns:a16="http://schemas.microsoft.com/office/drawing/2014/main" id="{4F2953FA-51DA-2740-8BCD-CA2710B23A8D}"/>
              </a:ext>
            </a:extLst>
          </p:cNvPr>
          <p:cNvSpPr txBox="1"/>
          <p:nvPr/>
        </p:nvSpPr>
        <p:spPr>
          <a:xfrm>
            <a:off x="1206500" y="3302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‖v‖ = 5</a:t>
            </a:r>
          </a:p>
        </p:txBody>
      </p:sp>
      <p:sp>
        <p:nvSpPr>
          <p:cNvPr id="49" name="RAngle1">
            <a:extLst>
              <a:ext uri="{FF2B5EF4-FFF2-40B4-BE49-F238E27FC236}">
                <a16:creationId xmlns:a16="http://schemas.microsoft.com/office/drawing/2014/main" id="{FCD2C2FD-A246-6146-B457-BB71C757F054}"/>
              </a:ext>
            </a:extLst>
          </p:cNvPr>
          <p:cNvSpPr/>
          <p:nvPr/>
        </p:nvSpPr>
        <p:spPr>
          <a:xfrm>
            <a:off x="3530600" y="4800600"/>
            <a:ext cx="1524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Angle2">
            <a:extLst>
              <a:ext uri="{FF2B5EF4-FFF2-40B4-BE49-F238E27FC236}">
                <a16:creationId xmlns:a16="http://schemas.microsoft.com/office/drawing/2014/main" id="{5A437FCA-4A3D-9B4D-8FAE-40164CE2E883}"/>
              </a:ext>
            </a:extLst>
          </p:cNvPr>
          <p:cNvSpPr/>
          <p:nvPr/>
        </p:nvSpPr>
        <p:spPr>
          <a:xfrm>
            <a:off x="3530600" y="4800600"/>
            <a:ext cx="12700" cy="1524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rigLbl">
            <a:extLst>
              <a:ext uri="{FF2B5EF4-FFF2-40B4-BE49-F238E27FC236}">
                <a16:creationId xmlns:a16="http://schemas.microsoft.com/office/drawing/2014/main" id="{EDF04951-7CA9-C642-AE29-AEE5BAF3325E}"/>
              </a:ext>
            </a:extLst>
          </p:cNvPr>
          <p:cNvSpPr txBox="1"/>
          <p:nvPr/>
        </p:nvSpPr>
        <p:spPr>
          <a:xfrm>
            <a:off x="1625600" y="5003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2" name="ECard">
            <a:extLst>
              <a:ext uri="{FF2B5EF4-FFF2-40B4-BE49-F238E27FC236}">
                <a16:creationId xmlns:a16="http://schemas.microsoft.com/office/drawing/2014/main" id="{AA5AC864-15CF-F24A-A099-147E121EEBF9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EHdr">
            <a:extLst>
              <a:ext uri="{FF2B5EF4-FFF2-40B4-BE49-F238E27FC236}">
                <a16:creationId xmlns:a16="http://schemas.microsoft.com/office/drawing/2014/main" id="{845FF739-0B23-C145-ACFB-43B8C8705B03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EHdrT">
            <a:extLst>
              <a:ext uri="{FF2B5EF4-FFF2-40B4-BE49-F238E27FC236}">
                <a16:creationId xmlns:a16="http://schemas.microsoft.com/office/drawing/2014/main" id="{081F79F4-B76B-284E-B776-0204B6F18426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Geometry of the norm</a:t>
            </a:r>
          </a:p>
        </p:txBody>
      </p:sp>
      <p:sp>
        <p:nvSpPr>
          <p:cNvPr id="55" name="E1">
            <a:extLst>
              <a:ext uri="{FF2B5EF4-FFF2-40B4-BE49-F238E27FC236}">
                <a16:creationId xmlns:a16="http://schemas.microsoft.com/office/drawing/2014/main" id="{DCD67B5C-3A36-6E44-BB2D-B223242A55D6}"/>
              </a:ext>
            </a:extLst>
          </p:cNvPr>
          <p:cNvSpPr txBox="1"/>
          <p:nvPr/>
        </p:nvSpPr>
        <p:spPr>
          <a:xfrm>
            <a:off x="8382000" y="184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Vector</a:t>
            </a:r>
          </a:p>
        </p:txBody>
      </p:sp>
      <p:sp>
        <p:nvSpPr>
          <p:cNvPr id="56" name="E1V">
            <a:extLst>
              <a:ext uri="{FF2B5EF4-FFF2-40B4-BE49-F238E27FC236}">
                <a16:creationId xmlns:a16="http://schemas.microsoft.com/office/drawing/2014/main" id="{B4395B7B-AD78-6947-A7E2-392559DA2BAF}"/>
              </a:ext>
            </a:extLst>
          </p:cNvPr>
          <p:cNvSpPr txBox="1"/>
          <p:nvPr/>
        </p:nvSpPr>
        <p:spPr>
          <a:xfrm>
            <a:off x="8382000" y="205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v = (3, 4)</a:t>
            </a:r>
          </a:p>
        </p:txBody>
      </p:sp>
      <p:sp>
        <p:nvSpPr>
          <p:cNvPr id="57" name="E2">
            <a:extLst>
              <a:ext uri="{FF2B5EF4-FFF2-40B4-BE49-F238E27FC236}">
                <a16:creationId xmlns:a16="http://schemas.microsoft.com/office/drawing/2014/main" id="{82F929FA-83AD-204D-8080-1623ABAA7720}"/>
              </a:ext>
            </a:extLst>
          </p:cNvPr>
          <p:cNvSpPr txBox="1"/>
          <p:nvPr/>
        </p:nvSpPr>
        <p:spPr>
          <a:xfrm>
            <a:off x="8382000" y="24765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Components form the legs</a:t>
            </a:r>
          </a:p>
        </p:txBody>
      </p:sp>
      <p:sp>
        <p:nvSpPr>
          <p:cNvPr id="58" name="E2V">
            <a:extLst>
              <a:ext uri="{FF2B5EF4-FFF2-40B4-BE49-F238E27FC236}">
                <a16:creationId xmlns:a16="http://schemas.microsoft.com/office/drawing/2014/main" id="{C76322F2-CE6A-D948-91F0-88E1AB386267}"/>
              </a:ext>
            </a:extLst>
          </p:cNvPr>
          <p:cNvSpPr txBox="1"/>
          <p:nvPr/>
        </p:nvSpPr>
        <p:spPr>
          <a:xfrm>
            <a:off x="8382000" y="2692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  <a:latin typeface="Arial"/>
                <a:cs typeface="Arial"/>
              </a:rPr>
              <a:t>v₁ = 3,  v₂ = 4</a:t>
            </a:r>
          </a:p>
        </p:txBody>
      </p:sp>
      <p:sp>
        <p:nvSpPr>
          <p:cNvPr id="59" name="E3">
            <a:extLst>
              <a:ext uri="{FF2B5EF4-FFF2-40B4-BE49-F238E27FC236}">
                <a16:creationId xmlns:a16="http://schemas.microsoft.com/office/drawing/2014/main" id="{4EBFB7CE-BA3B-0D45-A167-2110622B6CE8}"/>
              </a:ext>
            </a:extLst>
          </p:cNvPr>
          <p:cNvSpPr txBox="1"/>
          <p:nvPr/>
        </p:nvSpPr>
        <p:spPr>
          <a:xfrm>
            <a:off x="8382000" y="311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Apply Pythagoras</a:t>
            </a:r>
          </a:p>
        </p:txBody>
      </p:sp>
      <p:sp>
        <p:nvSpPr>
          <p:cNvPr id="60" name="E3V">
            <a:extLst>
              <a:ext uri="{FF2B5EF4-FFF2-40B4-BE49-F238E27FC236}">
                <a16:creationId xmlns:a16="http://schemas.microsoft.com/office/drawing/2014/main" id="{BC6BC213-8850-5A4B-917B-B3E49EA72EE5}"/>
              </a:ext>
            </a:extLst>
          </p:cNvPr>
          <p:cNvSpPr txBox="1"/>
          <p:nvPr/>
        </p:nvSpPr>
        <p:spPr>
          <a:xfrm>
            <a:off x="8382000" y="332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‖v‖² = 3² + 4²</a:t>
            </a:r>
          </a:p>
        </p:txBody>
      </p:sp>
      <p:sp>
        <p:nvSpPr>
          <p:cNvPr id="61" name="E3W">
            <a:extLst>
              <a:ext uri="{FF2B5EF4-FFF2-40B4-BE49-F238E27FC236}">
                <a16:creationId xmlns:a16="http://schemas.microsoft.com/office/drawing/2014/main" id="{EABD64CA-56B0-024B-9340-F9A87E4BEDD5}"/>
              </a:ext>
            </a:extLst>
          </p:cNvPr>
          <p:cNvSpPr txBox="1"/>
          <p:nvPr/>
        </p:nvSpPr>
        <p:spPr>
          <a:xfrm>
            <a:off x="8382000" y="3581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 = √25 = 5</a:t>
            </a:r>
          </a:p>
        </p:txBody>
      </p:sp>
      <p:sp>
        <p:nvSpPr>
          <p:cNvPr id="62" name="EInsight">
            <a:extLst>
              <a:ext uri="{FF2B5EF4-FFF2-40B4-BE49-F238E27FC236}">
                <a16:creationId xmlns:a16="http://schemas.microsoft.com/office/drawing/2014/main" id="{07E4A93B-C390-5C4B-8BEB-68F1558C8D56}"/>
              </a:ext>
            </a:extLst>
          </p:cNvPr>
          <p:cNvSpPr/>
          <p:nvPr/>
        </p:nvSpPr>
        <p:spPr>
          <a:xfrm>
            <a:off x="8382000" y="3962400"/>
            <a:ext cx="3175000" cy="1460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EInsightT">
            <a:extLst>
              <a:ext uri="{FF2B5EF4-FFF2-40B4-BE49-F238E27FC236}">
                <a16:creationId xmlns:a16="http://schemas.microsoft.com/office/drawing/2014/main" id="{B0DEFA95-EECE-9C4A-AE05-3BA9BC71C157}"/>
              </a:ext>
            </a:extLst>
          </p:cNvPr>
          <p:cNvSpPr txBox="1"/>
          <p:nvPr/>
        </p:nvSpPr>
        <p:spPr>
          <a:xfrm>
            <a:off x="8509000" y="4038600"/>
            <a:ext cx="2971800" cy="1333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Key intuition
The norm IS the hypotenuse —
the straight-line length from the
origin to the tip of v.
In ℝⁿ: same idea, more legs.</a:t>
            </a:r>
          </a:p>
        </p:txBody>
      </p:sp>
      <p:sp>
        <p:nvSpPr>
          <p:cNvPr id="64" name="TkBar">
            <a:extLst>
              <a:ext uri="{FF2B5EF4-FFF2-40B4-BE49-F238E27FC236}">
                <a16:creationId xmlns:a16="http://schemas.microsoft.com/office/drawing/2014/main" id="{6F3EE6A4-6ABC-5F4A-BC34-085350FAB29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kText">
            <a:extLst>
              <a:ext uri="{FF2B5EF4-FFF2-40B4-BE49-F238E27FC236}">
                <a16:creationId xmlns:a16="http://schemas.microsoft.com/office/drawing/2014/main" id="{AB38077D-000F-364D-B4B6-0C09959147D8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‖v‖ = √(v₁² + v₂²) — the Pythagorean theorem applied to a vector's coordinates</a:t>
            </a:r>
          </a:p>
        </p:txBody>
      </p:sp>
    </p:spTree>
    <p:extLst>
      <p:ext uri="{BB962C8B-B14F-4D97-AF65-F5344CB8AC3E}">
        <p14:creationId xmlns:p14="http://schemas.microsoft.com/office/powerpoint/2010/main" val="3014524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8CFA86AC-1E69-0647-8389-67C65B3ACA7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9B1290-571A-6F46-9945-0FDFDE05B43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Compute the Norm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C5EB7AE-4718-1D47-B33E-0E76BB846A3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 simple 2-vector — verify by Pythagoras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49E6BBD-6275-6C4C-8938-2DA79273454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F76E4A6-258D-EC42-9FA6-64EAD4B5FBB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DDFD01A0-1B27-4342-9913-01A6441C80C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D144A5E0-4E05-9B4E-AB8B-FE124C9C45ED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>
                <a:solidFill>
                  <a:srgbClr val="333333"/>
                </a:solidFill>
                <a:latin typeface="Cambria Math"/>
                <a:ea typeface="Cambria Math"/>
              </a:rPr>
              <a:t>Compute  ‖v‖   for   v = (5, 12)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07C80572-B2DF-D74C-9AA3-B3E5C9060A95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D2261A87-D806-CD4B-988D-78F97A27B1D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7AD023F1-00BA-B14D-98B5-63EADA48CE5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4D6D35D2-0BF8-F941-88BB-86F25BBAB82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1.  Square each component:   5² = 25,   12² = 144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274316AD-82FF-644C-AFF1-89FEA3377C7C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Sum:   25 + 144 = 169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0750A34-2357-7C42-A2EC-C8B897885A91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Take the square root:   ‖v‖ = √169 = 13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17DF0EC7-D187-BF45-9852-FC9BA64310C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check:  (5, 12, 13) is a classic Pythagorean triple.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3E2BAE80-ECC0-E946-A8E1-601879573503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‖v‖ = 13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80954925-1DC7-7944-9635-591E4D1707E0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36F6752-3CC7-B241-922C-90602D6E36D8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Square, sum, root — the L² norm in three steps</a:t>
            </a:r>
          </a:p>
        </p:txBody>
      </p:sp>
    </p:spTree>
    <p:extLst>
      <p:ext uri="{BB962C8B-B14F-4D97-AF65-F5344CB8AC3E}">
        <p14:creationId xmlns:p14="http://schemas.microsoft.com/office/powerpoint/2010/main" val="36375284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B6427D20-873F-9A44-9FF6-1189B9B86B9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947D6F66-FC0F-8C4F-9BFA-769535F8F7F7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Compute the Norm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5FE90836-B2F7-9945-BF71-B00E12790B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Same recipe in higher dimensions — and normalize to a unit vector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05D7F9B7-226F-DD41-9D5C-5B98AA4BD571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77377127-4E50-2946-BE9F-BDEA2A923FF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13FA5010-ABE1-F349-BA7C-6F610463DC47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8E452BD4-29B2-5041-8F89-22C31AE3549A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‖u‖  and the unit vector  û = u / ‖u‖   for   u = (2, −2, 1)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A379BAAE-6304-BB4B-A2C1-E601BF452FDB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7B9CF388-B598-6F41-8C74-C261DA18C7F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9D71E8E3-90A0-D744-8E16-1495522A167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4CD1F519-90FC-E84F-9AF7-F2A2D33A7BB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1.  Square components:   2² = 4,   (−2)² = 4,   1² = 1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2B69C2DF-74F3-AB45-9B72-914538D5E776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Sum and root:   ‖u‖ = √(4 + 4 + 1) = √9 = 3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F92742EA-8F72-134C-968A-8C4B07123C66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Divide each component by ‖u‖:   û = (2/3, −2/3, 1/3)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36A2803C-1BB2-4343-986B-5562AD5B31B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Check:  ‖û‖ = √(4/9 + 4/9 + 1/9) = √1 = 1  ✓  (unit length, as required)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91DE197B-3BF9-E641-98BC-7C6C38E2868A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  <a:latin typeface="Cambria Math"/>
                <a:ea typeface="Cambria Math"/>
              </a:rPr>
              <a:t>Answer:   ‖u‖ = 3,   û = (2/3, −2/3, 1/3)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79478BF8-CDBB-8842-9D87-8D190DB189E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873261F0-14B9-FF41-9EF7-7F5F23F6550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Dividing by ‖v‖ produces a unit vector — same direction, length 1</a:t>
            </a:r>
          </a:p>
        </p:txBody>
      </p:sp>
    </p:spTree>
    <p:extLst>
      <p:ext uri="{BB962C8B-B14F-4D97-AF65-F5344CB8AC3E}">
        <p14:creationId xmlns:p14="http://schemas.microsoft.com/office/powerpoint/2010/main" val="4690034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C174CD9-9CE7-6544-A714-7B506FD408D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C0C6336-20C2-4C49-B701-060CDD8037E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Norm as Distance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7537893-4D74-7240-9336-9C9DA553B38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Use the norm of a difference to measure the distance between two points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E3D79DA-D074-1D4F-9AE2-E48BAFF69A2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8B556B4-41EB-BA4F-84E8-4413A5A7930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6CD07F74-8CDF-174B-9B9C-4FAF1FC77D9D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ECFE7AF6-934E-704E-9A1F-A0768B75527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the distance  d(p, q) = ‖p − q‖   for   p = (1, 7, 3, 2)   and   q = (4, 3, 0, 4)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A1A0F87-5B0A-0C41-BAA2-9422B5B326B4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8C3FD87A-6048-5C41-95FC-98849986E13F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DB23EFF-55F9-A543-AC66-91949636929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BBC27940-FC49-974C-8550-3E010E9C9F1F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1.  Subtract componentwise:   p − q = (1−4, 7−3, 3−0, 2−4) = (−3, 4, 3, −2)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B308A530-6124-6D45-96F0-DC9DE7249AF4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Square each:   (−3)² = 9,   4² = 16,   3² = 9,   (−2)² = 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203636E5-FC72-4B4F-8BE3-49CC5598DC05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3.  Sum and root:   ‖p − q‖ = √(9 + 16 + 9 + 4) = √38 ≈ 6.16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01C6BE67-F5CC-1D40-8281-66887221CA5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Note:  the result is symmetric — ‖p − q‖ = ‖q − p‖, since squaring kills the sign.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DCF9F97-F23F-C245-BAFD-E4B5DDA6BB6F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d(p, q) = √38 ≈ 6.16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46E05C6-049C-7746-85E9-2A760905E36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CCD6D63B-5DEB-7A44-82CF-0674A7AB066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d(p, q) = ‖p − q‖  —  the norm of the difference IS the Euclidean distance</a:t>
            </a:r>
          </a:p>
        </p:txBody>
      </p:sp>
    </p:spTree>
    <p:extLst>
      <p:ext uri="{BB962C8B-B14F-4D97-AF65-F5344CB8AC3E}">
        <p14:creationId xmlns:p14="http://schemas.microsoft.com/office/powerpoint/2010/main" val="6934306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341C490-AD07-0A4A-A1A2-DC90D316E11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3951139-1D44-614E-A9E1-CDCF201F9D4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Cosine Similarity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7ED4DBF-972C-EB40-AC19-E076C9D408D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Measuring similarity by direction, not magnitude — the workhorse of NLP and recommendation systems</a:t>
            </a:r>
          </a:p>
        </p:txBody>
      </p:sp>
      <p:sp>
        <p:nvSpPr>
          <p:cNvPr id="5" name="DefBox">
            <a:extLst>
              <a:ext uri="{FF2B5EF4-FFF2-40B4-BE49-F238E27FC236}">
                <a16:creationId xmlns:a16="http://schemas.microsoft.com/office/drawing/2014/main" id="{A8389C4D-E98C-6043-AFB4-24B704F92373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Lbl">
            <a:extLst>
              <a:ext uri="{FF2B5EF4-FFF2-40B4-BE49-F238E27FC236}">
                <a16:creationId xmlns:a16="http://schemas.microsoft.com/office/drawing/2014/main" id="{58AB15DA-7E51-A14B-A572-FD0D8FCD093E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7" name="DefEq">
            <a:extLst>
              <a:ext uri="{FF2B5EF4-FFF2-40B4-BE49-F238E27FC236}">
                <a16:creationId xmlns:a16="http://schemas.microsoft.com/office/drawing/2014/main" id="{18C390A3-0FCB-B245-B641-669F13807124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cos(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θ)  =  (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u · v) / (‖u‖ · ‖v‖)</a:t>
            </a:r>
          </a:p>
        </p:txBody>
      </p:sp>
      <p:sp>
        <p:nvSpPr>
          <p:cNvPr id="8" name="DefNote">
            <a:extLst>
              <a:ext uri="{FF2B5EF4-FFF2-40B4-BE49-F238E27FC236}">
                <a16:creationId xmlns:a16="http://schemas.microsoft.com/office/drawing/2014/main" id="{B5230F30-AE92-8345-8F32-7CA70641BC0F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Take the dot product, divide by the product of magnitudes. Result lives in [−1, 1].</a:t>
            </a:r>
          </a:p>
        </p:txBody>
      </p:sp>
      <p:sp>
        <p:nvSpPr>
          <p:cNvPr id="9" name="Card30">
            <a:extLst>
              <a:ext uri="{FF2B5EF4-FFF2-40B4-BE49-F238E27FC236}">
                <a16:creationId xmlns:a16="http://schemas.microsoft.com/office/drawing/2014/main" id="{F295CED4-5B47-E04C-B2C2-E620283D70B7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Hdr30">
            <a:extLst>
              <a:ext uri="{FF2B5EF4-FFF2-40B4-BE49-F238E27FC236}">
                <a16:creationId xmlns:a16="http://schemas.microsoft.com/office/drawing/2014/main" id="{E20E10CA-89FE-BA49-A98B-4FA69EFB5324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Title30">
            <a:extLst>
              <a:ext uri="{FF2B5EF4-FFF2-40B4-BE49-F238E27FC236}">
                <a16:creationId xmlns:a16="http://schemas.microsoft.com/office/drawing/2014/main" id="{9C14B82C-51FC-C24B-9BC0-2CC0B56ECB18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captures</a:t>
            </a:r>
          </a:p>
        </p:txBody>
      </p:sp>
      <p:sp>
        <p:nvSpPr>
          <p:cNvPr id="12" name="CardBody30">
            <a:extLst>
              <a:ext uri="{FF2B5EF4-FFF2-40B4-BE49-F238E27FC236}">
                <a16:creationId xmlns:a16="http://schemas.microsoft.com/office/drawing/2014/main" id="{71CBF220-156F-E449-A17B-E1F322B6D51E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The cosine of the angle between
two vectors.
• +1 → same direction
• 0 → perpendicular (unrelated)
• −1 → opposite direction
Magnitude is normalized away.</a:t>
            </a:r>
          </a:p>
        </p:txBody>
      </p:sp>
      <p:sp>
        <p:nvSpPr>
          <p:cNvPr id="13" name="Card335">
            <a:extLst>
              <a:ext uri="{FF2B5EF4-FFF2-40B4-BE49-F238E27FC236}">
                <a16:creationId xmlns:a16="http://schemas.microsoft.com/office/drawing/2014/main" id="{CA37452D-C04B-5341-BFDE-068298D10AC7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ardHdr335">
            <a:extLst>
              <a:ext uri="{FF2B5EF4-FFF2-40B4-BE49-F238E27FC236}">
                <a16:creationId xmlns:a16="http://schemas.microsoft.com/office/drawing/2014/main" id="{5E3ED804-32FB-9647-BF3D-3C84BCF8BBDA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CardTitle335">
            <a:extLst>
              <a:ext uri="{FF2B5EF4-FFF2-40B4-BE49-F238E27FC236}">
                <a16:creationId xmlns:a16="http://schemas.microsoft.com/office/drawing/2014/main" id="{CBDBC158-0B1D-A540-A3EB-0B8638DA221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16" name="CardBody335">
            <a:extLst>
              <a:ext uri="{FF2B5EF4-FFF2-40B4-BE49-F238E27FC236}">
                <a16:creationId xmlns:a16="http://schemas.microsoft.com/office/drawing/2014/main" id="{0C4DFDC9-34E4-134C-9312-5DDC22734D09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Project u onto v and measure
how much they align.
Long &amp; short vectors with the
same direction get score 1 —
only angle matters, not length.
Scale-invariant similarity.</a:t>
            </a:r>
          </a:p>
        </p:txBody>
      </p:sp>
      <p:sp>
        <p:nvSpPr>
          <p:cNvPr id="17" name="Card640">
            <a:extLst>
              <a:ext uri="{FF2B5EF4-FFF2-40B4-BE49-F238E27FC236}">
                <a16:creationId xmlns:a16="http://schemas.microsoft.com/office/drawing/2014/main" id="{B62F9409-3938-BD48-9944-A23A3C8ECBE9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CardHdr640">
            <a:extLst>
              <a:ext uri="{FF2B5EF4-FFF2-40B4-BE49-F238E27FC236}">
                <a16:creationId xmlns:a16="http://schemas.microsoft.com/office/drawing/2014/main" id="{F31C3F2C-816B-ED41-8532-61E294A0EF51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A0F02849-C765-EA4D-9E7D-6B9AEF8B07AC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18DD293E-246B-5E4F-B0DA-201409951F2D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Used everywhere similarity
matters but length doesn't:
• Document similarity (TF-IDF)
• Word &amp; sentence embeddings
• Recommender systems
• Face/image retrieval
• Nearest-neighbor in ML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A9F40E6A-A2CE-CE49-8010-E30D433AEEE6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B99FADAB-61DA-1D47-B9D8-887EB97F7295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Key insight:   cos(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θ) 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ignores ‖u‖ and ‖v‖ — only the angle between u and v decides similarity.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1021AFA2-11A8-E945-B24D-F964B8038E7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09D41E2F-C17C-F241-BEC2-8BCD65FF46C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Cosine similarity = angle-based similarity, scale-invariant, bounded in [−1, 1]</a:t>
            </a:r>
          </a:p>
        </p:txBody>
      </p:sp>
    </p:spTree>
    <p:extLst>
      <p:ext uri="{BB962C8B-B14F-4D97-AF65-F5344CB8AC3E}">
        <p14:creationId xmlns:p14="http://schemas.microsoft.com/office/powerpoint/2010/main" val="40860750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8E12361-CE42-354A-B987-1CB8620075C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1B2F753-997B-5240-BAC6-F9820089085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Cosine Similarity — 2D Geometric Intuition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EEC257F0-B3DE-8F43-BF75-0F85C7D1EA2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Three pairs of vectors at different angles → three similarity scores</a:t>
            </a:r>
          </a:p>
        </p:txBody>
      </p:sp>
      <p:sp>
        <p:nvSpPr>
          <p:cNvPr id="22" name="Plot30">
            <a:extLst>
              <a:ext uri="{FF2B5EF4-FFF2-40B4-BE49-F238E27FC236}">
                <a16:creationId xmlns:a16="http://schemas.microsoft.com/office/drawing/2014/main" id="{0F6382D0-ACBB-E941-A774-A01B41FDBEF7}"/>
              </a:ext>
            </a:extLst>
          </p:cNvPr>
          <p:cNvSpPr/>
          <p:nvPr/>
        </p:nvSpPr>
        <p:spPr>
          <a:xfrm>
            <a:off x="38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PlotTitle30">
            <a:extLst>
              <a:ext uri="{FF2B5EF4-FFF2-40B4-BE49-F238E27FC236}">
                <a16:creationId xmlns:a16="http://schemas.microsoft.com/office/drawing/2014/main" id="{C961529E-92FA-CF40-85A3-79D0AF82941A}"/>
              </a:ext>
            </a:extLst>
          </p:cNvPr>
          <p:cNvSpPr txBox="1"/>
          <p:nvPr/>
        </p:nvSpPr>
        <p:spPr>
          <a:xfrm>
            <a:off x="38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Aligned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≈ 25°)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24" name="Ax30">
            <a:extLst>
              <a:ext uri="{FF2B5EF4-FFF2-40B4-BE49-F238E27FC236}">
                <a16:creationId xmlns:a16="http://schemas.microsoft.com/office/drawing/2014/main" id="{5C035EE0-E30E-E842-9901-6A487712A673}"/>
              </a:ext>
            </a:extLst>
          </p:cNvPr>
          <p:cNvSpPr/>
          <p:nvPr/>
        </p:nvSpPr>
        <p:spPr>
          <a:xfrm>
            <a:off x="50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Ay30">
            <a:extLst>
              <a:ext uri="{FF2B5EF4-FFF2-40B4-BE49-F238E27FC236}">
                <a16:creationId xmlns:a16="http://schemas.microsoft.com/office/drawing/2014/main" id="{555A5C98-2474-9C40-A20D-CB92CB9D8443}"/>
              </a:ext>
            </a:extLst>
          </p:cNvPr>
          <p:cNvSpPr/>
          <p:nvPr/>
        </p:nvSpPr>
        <p:spPr>
          <a:xfrm>
            <a:off x="228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U30">
            <a:extLst>
              <a:ext uri="{FF2B5EF4-FFF2-40B4-BE49-F238E27FC236}">
                <a16:creationId xmlns:a16="http://schemas.microsoft.com/office/drawing/2014/main" id="{1389F91B-71B6-4341-9658-60C46F89A9B4}"/>
              </a:ext>
            </a:extLst>
          </p:cNvPr>
          <p:cNvSpPr/>
          <p:nvPr/>
        </p:nvSpPr>
        <p:spPr>
          <a:xfrm rot="-1800000">
            <a:off x="2217940" y="2635250"/>
            <a:ext cx="1016000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V30">
            <a:extLst>
              <a:ext uri="{FF2B5EF4-FFF2-40B4-BE49-F238E27FC236}">
                <a16:creationId xmlns:a16="http://schemas.microsoft.com/office/drawing/2014/main" id="{F1C3D72A-D41A-424A-8B90-02F7E3480E35}"/>
              </a:ext>
            </a:extLst>
          </p:cNvPr>
          <p:cNvSpPr/>
          <p:nvPr/>
        </p:nvSpPr>
        <p:spPr>
          <a:xfrm rot="-3300000">
            <a:off x="2069376" y="2473120"/>
            <a:ext cx="1016000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Ulbl30">
            <a:extLst>
              <a:ext uri="{FF2B5EF4-FFF2-40B4-BE49-F238E27FC236}">
                <a16:creationId xmlns:a16="http://schemas.microsoft.com/office/drawing/2014/main" id="{0AEE3890-2C91-3942-925E-1901E930F9B2}"/>
              </a:ext>
            </a:extLst>
          </p:cNvPr>
          <p:cNvSpPr txBox="1"/>
          <p:nvPr/>
        </p:nvSpPr>
        <p:spPr>
          <a:xfrm>
            <a:off x="321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29" name="Vlbl30">
            <a:extLst>
              <a:ext uri="{FF2B5EF4-FFF2-40B4-BE49-F238E27FC236}">
                <a16:creationId xmlns:a16="http://schemas.microsoft.com/office/drawing/2014/main" id="{7D4863EB-29FA-0743-A052-8072D926EA82}"/>
              </a:ext>
            </a:extLst>
          </p:cNvPr>
          <p:cNvSpPr txBox="1"/>
          <p:nvPr/>
        </p:nvSpPr>
        <p:spPr>
          <a:xfrm>
            <a:off x="2919553" y="1987141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30" name="Tlbl30">
            <a:extLst>
              <a:ext uri="{FF2B5EF4-FFF2-40B4-BE49-F238E27FC236}">
                <a16:creationId xmlns:a16="http://schemas.microsoft.com/office/drawing/2014/main" id="{875BB65F-8108-084E-A8D4-E70074E2AF89}"/>
              </a:ext>
            </a:extLst>
          </p:cNvPr>
          <p:cNvSpPr txBox="1"/>
          <p:nvPr/>
        </p:nvSpPr>
        <p:spPr>
          <a:xfrm>
            <a:off x="238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1" name="Sbar30">
            <a:extLst>
              <a:ext uri="{FF2B5EF4-FFF2-40B4-BE49-F238E27FC236}">
                <a16:creationId xmlns:a16="http://schemas.microsoft.com/office/drawing/2014/main" id="{407FB93E-BA1A-5B40-9F87-B15BE13AD328}"/>
              </a:ext>
            </a:extLst>
          </p:cNvPr>
          <p:cNvSpPr/>
          <p:nvPr/>
        </p:nvSpPr>
        <p:spPr>
          <a:xfrm>
            <a:off x="381000" y="3784600"/>
            <a:ext cx="3810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Slbl30">
            <a:extLst>
              <a:ext uri="{FF2B5EF4-FFF2-40B4-BE49-F238E27FC236}">
                <a16:creationId xmlns:a16="http://schemas.microsoft.com/office/drawing/2014/main" id="{322356B7-9729-8342-ADDD-E69D1C9A963B}"/>
              </a:ext>
            </a:extLst>
          </p:cNvPr>
          <p:cNvSpPr txBox="1"/>
          <p:nvPr/>
        </p:nvSpPr>
        <p:spPr>
          <a:xfrm>
            <a:off x="38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≈ 0.91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33" name="Plot330">
            <a:extLst>
              <a:ext uri="{FF2B5EF4-FFF2-40B4-BE49-F238E27FC236}">
                <a16:creationId xmlns:a16="http://schemas.microsoft.com/office/drawing/2014/main" id="{2E29681F-F737-E749-8D76-2E55899C340B}"/>
              </a:ext>
            </a:extLst>
          </p:cNvPr>
          <p:cNvSpPr/>
          <p:nvPr/>
        </p:nvSpPr>
        <p:spPr>
          <a:xfrm>
            <a:off x="419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lotTitle330">
            <a:extLst>
              <a:ext uri="{FF2B5EF4-FFF2-40B4-BE49-F238E27FC236}">
                <a16:creationId xmlns:a16="http://schemas.microsoft.com/office/drawing/2014/main" id="{1290AC0A-EF63-814E-B01D-237F4696475E}"/>
              </a:ext>
            </a:extLst>
          </p:cNvPr>
          <p:cNvSpPr txBox="1"/>
          <p:nvPr/>
        </p:nvSpPr>
        <p:spPr>
          <a:xfrm>
            <a:off x="419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Orthogonal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= 90°)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5" name="Ax330">
            <a:extLst>
              <a:ext uri="{FF2B5EF4-FFF2-40B4-BE49-F238E27FC236}">
                <a16:creationId xmlns:a16="http://schemas.microsoft.com/office/drawing/2014/main" id="{0D0F47A5-7F69-9247-966F-853651077330}"/>
              </a:ext>
            </a:extLst>
          </p:cNvPr>
          <p:cNvSpPr/>
          <p:nvPr/>
        </p:nvSpPr>
        <p:spPr>
          <a:xfrm>
            <a:off x="431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Ay330">
            <a:extLst>
              <a:ext uri="{FF2B5EF4-FFF2-40B4-BE49-F238E27FC236}">
                <a16:creationId xmlns:a16="http://schemas.microsoft.com/office/drawing/2014/main" id="{5E71E820-50DE-F74B-B992-1EF561A631A5}"/>
              </a:ext>
            </a:extLst>
          </p:cNvPr>
          <p:cNvSpPr/>
          <p:nvPr/>
        </p:nvSpPr>
        <p:spPr>
          <a:xfrm>
            <a:off x="609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U330">
            <a:extLst>
              <a:ext uri="{FF2B5EF4-FFF2-40B4-BE49-F238E27FC236}">
                <a16:creationId xmlns:a16="http://schemas.microsoft.com/office/drawing/2014/main" id="{21B1E03F-4F21-344C-BAB2-60BABD8DA9D8}"/>
              </a:ext>
            </a:extLst>
          </p:cNvPr>
          <p:cNvSpPr/>
          <p:nvPr/>
        </p:nvSpPr>
        <p:spPr>
          <a:xfrm rot="-1800000">
            <a:off x="6027940" y="2635250"/>
            <a:ext cx="1015999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330">
            <a:extLst>
              <a:ext uri="{FF2B5EF4-FFF2-40B4-BE49-F238E27FC236}">
                <a16:creationId xmlns:a16="http://schemas.microsoft.com/office/drawing/2014/main" id="{775D5D23-1F2F-CB41-9025-F6F2C33704DD}"/>
              </a:ext>
            </a:extLst>
          </p:cNvPr>
          <p:cNvSpPr/>
          <p:nvPr/>
        </p:nvSpPr>
        <p:spPr>
          <a:xfrm rot="-7200000">
            <a:off x="5334000" y="2449309"/>
            <a:ext cx="1016000" cy="63500"/>
          </a:xfrm>
          <a:prstGeom prst="rightArrow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Ulbl330">
            <a:extLst>
              <a:ext uri="{FF2B5EF4-FFF2-40B4-BE49-F238E27FC236}">
                <a16:creationId xmlns:a16="http://schemas.microsoft.com/office/drawing/2014/main" id="{8B76B8BF-04CB-DC44-8160-84D7407E84FE}"/>
              </a:ext>
            </a:extLst>
          </p:cNvPr>
          <p:cNvSpPr txBox="1"/>
          <p:nvPr/>
        </p:nvSpPr>
        <p:spPr>
          <a:xfrm>
            <a:off x="702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46" name="Vlbl330">
            <a:extLst>
              <a:ext uri="{FF2B5EF4-FFF2-40B4-BE49-F238E27FC236}">
                <a16:creationId xmlns:a16="http://schemas.microsoft.com/office/drawing/2014/main" id="{9CDCEF98-5C94-674B-A817-E50AB80CED2D}"/>
              </a:ext>
            </a:extLst>
          </p:cNvPr>
          <p:cNvSpPr txBox="1"/>
          <p:nvPr/>
        </p:nvSpPr>
        <p:spPr>
          <a:xfrm>
            <a:off x="5638800" y="1939518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47" name="Tlbl330">
            <a:extLst>
              <a:ext uri="{FF2B5EF4-FFF2-40B4-BE49-F238E27FC236}">
                <a16:creationId xmlns:a16="http://schemas.microsoft.com/office/drawing/2014/main" id="{55A9DB4D-2182-5C40-8674-4DB2790E2811}"/>
              </a:ext>
            </a:extLst>
          </p:cNvPr>
          <p:cNvSpPr txBox="1"/>
          <p:nvPr/>
        </p:nvSpPr>
        <p:spPr>
          <a:xfrm>
            <a:off x="619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48" name="Sbar330">
            <a:extLst>
              <a:ext uri="{FF2B5EF4-FFF2-40B4-BE49-F238E27FC236}">
                <a16:creationId xmlns:a16="http://schemas.microsoft.com/office/drawing/2014/main" id="{03579FD0-6BFB-914D-8FA3-9D07B6D084D3}"/>
              </a:ext>
            </a:extLst>
          </p:cNvPr>
          <p:cNvSpPr/>
          <p:nvPr/>
        </p:nvSpPr>
        <p:spPr>
          <a:xfrm>
            <a:off x="4191000" y="3784600"/>
            <a:ext cx="3810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Slbl330">
            <a:extLst>
              <a:ext uri="{FF2B5EF4-FFF2-40B4-BE49-F238E27FC236}">
                <a16:creationId xmlns:a16="http://schemas.microsoft.com/office/drawing/2014/main" id="{C4D3F594-48D2-924A-870F-408A27AC6132}"/>
              </a:ext>
            </a:extLst>
          </p:cNvPr>
          <p:cNvSpPr txBox="1"/>
          <p:nvPr/>
        </p:nvSpPr>
        <p:spPr>
          <a:xfrm>
            <a:off x="419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= 0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50" name="Plot630">
            <a:extLst>
              <a:ext uri="{FF2B5EF4-FFF2-40B4-BE49-F238E27FC236}">
                <a16:creationId xmlns:a16="http://schemas.microsoft.com/office/drawing/2014/main" id="{32C18911-BF10-CE4D-A352-D40CC4C9E61B}"/>
              </a:ext>
            </a:extLst>
          </p:cNvPr>
          <p:cNvSpPr/>
          <p:nvPr/>
        </p:nvSpPr>
        <p:spPr>
          <a:xfrm>
            <a:off x="800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PlotTitle630">
            <a:extLst>
              <a:ext uri="{FF2B5EF4-FFF2-40B4-BE49-F238E27FC236}">
                <a16:creationId xmlns:a16="http://schemas.microsoft.com/office/drawing/2014/main" id="{9DF98ED4-799D-F342-AB87-3BB7FC04C38D}"/>
              </a:ext>
            </a:extLst>
          </p:cNvPr>
          <p:cNvSpPr txBox="1"/>
          <p:nvPr/>
        </p:nvSpPr>
        <p:spPr>
          <a:xfrm>
            <a:off x="800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Opposite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≈ 155°)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2" name="Ax630">
            <a:extLst>
              <a:ext uri="{FF2B5EF4-FFF2-40B4-BE49-F238E27FC236}">
                <a16:creationId xmlns:a16="http://schemas.microsoft.com/office/drawing/2014/main" id="{E4C74467-9578-B44A-B601-F94E7C44A86E}"/>
              </a:ext>
            </a:extLst>
          </p:cNvPr>
          <p:cNvSpPr/>
          <p:nvPr/>
        </p:nvSpPr>
        <p:spPr>
          <a:xfrm>
            <a:off x="812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Ay630">
            <a:extLst>
              <a:ext uri="{FF2B5EF4-FFF2-40B4-BE49-F238E27FC236}">
                <a16:creationId xmlns:a16="http://schemas.microsoft.com/office/drawing/2014/main" id="{601E0A08-79F2-DF41-B255-51AB8BC8BFF5}"/>
              </a:ext>
            </a:extLst>
          </p:cNvPr>
          <p:cNvSpPr/>
          <p:nvPr/>
        </p:nvSpPr>
        <p:spPr>
          <a:xfrm>
            <a:off x="990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U630">
            <a:extLst>
              <a:ext uri="{FF2B5EF4-FFF2-40B4-BE49-F238E27FC236}">
                <a16:creationId xmlns:a16="http://schemas.microsoft.com/office/drawing/2014/main" id="{3BCED691-C5E1-6740-AAB9-A0BDACF2051D}"/>
              </a:ext>
            </a:extLst>
          </p:cNvPr>
          <p:cNvSpPr/>
          <p:nvPr/>
        </p:nvSpPr>
        <p:spPr>
          <a:xfrm rot="-1800000">
            <a:off x="9837940" y="2635250"/>
            <a:ext cx="1015999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V630">
            <a:extLst>
              <a:ext uri="{FF2B5EF4-FFF2-40B4-BE49-F238E27FC236}">
                <a16:creationId xmlns:a16="http://schemas.microsoft.com/office/drawing/2014/main" id="{0CF03C3A-4F2B-D14C-8C4D-1095ECFEB9AA}"/>
              </a:ext>
            </a:extLst>
          </p:cNvPr>
          <p:cNvSpPr/>
          <p:nvPr/>
        </p:nvSpPr>
        <p:spPr>
          <a:xfrm rot="10500000">
            <a:off x="8891933" y="2933525"/>
            <a:ext cx="1016000" cy="635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Ulbl630">
            <a:extLst>
              <a:ext uri="{FF2B5EF4-FFF2-40B4-BE49-F238E27FC236}">
                <a16:creationId xmlns:a16="http://schemas.microsoft.com/office/drawing/2014/main" id="{57C9E39E-365E-4D46-B5D4-DA9AAC6B94DB}"/>
              </a:ext>
            </a:extLst>
          </p:cNvPr>
          <p:cNvSpPr txBox="1"/>
          <p:nvPr/>
        </p:nvSpPr>
        <p:spPr>
          <a:xfrm>
            <a:off x="1083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57" name="Vlbl630">
            <a:extLst>
              <a:ext uri="{FF2B5EF4-FFF2-40B4-BE49-F238E27FC236}">
                <a16:creationId xmlns:a16="http://schemas.microsoft.com/office/drawing/2014/main" id="{25F791EF-43E4-0C41-982C-6294369CB671}"/>
              </a:ext>
            </a:extLst>
          </p:cNvPr>
          <p:cNvSpPr txBox="1"/>
          <p:nvPr/>
        </p:nvSpPr>
        <p:spPr>
          <a:xfrm>
            <a:off x="8944666" y="290795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58" name="Tlbl630">
            <a:extLst>
              <a:ext uri="{FF2B5EF4-FFF2-40B4-BE49-F238E27FC236}">
                <a16:creationId xmlns:a16="http://schemas.microsoft.com/office/drawing/2014/main" id="{798FA7EF-B5EB-9D4F-B7D6-D8BD2E4C9B45}"/>
              </a:ext>
            </a:extLst>
          </p:cNvPr>
          <p:cNvSpPr txBox="1"/>
          <p:nvPr/>
        </p:nvSpPr>
        <p:spPr>
          <a:xfrm>
            <a:off x="1000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9" name="Sbar630">
            <a:extLst>
              <a:ext uri="{FF2B5EF4-FFF2-40B4-BE49-F238E27FC236}">
                <a16:creationId xmlns:a16="http://schemas.microsoft.com/office/drawing/2014/main" id="{1BB2A23D-AAFB-E54E-A004-A867CDCB4BF3}"/>
              </a:ext>
            </a:extLst>
          </p:cNvPr>
          <p:cNvSpPr/>
          <p:nvPr/>
        </p:nvSpPr>
        <p:spPr>
          <a:xfrm>
            <a:off x="8001000" y="3784600"/>
            <a:ext cx="3810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Slbl630">
            <a:extLst>
              <a:ext uri="{FF2B5EF4-FFF2-40B4-BE49-F238E27FC236}">
                <a16:creationId xmlns:a16="http://schemas.microsoft.com/office/drawing/2014/main" id="{0FB67740-6E37-0943-94DA-97994F177D95}"/>
              </a:ext>
            </a:extLst>
          </p:cNvPr>
          <p:cNvSpPr txBox="1"/>
          <p:nvPr/>
        </p:nvSpPr>
        <p:spPr>
          <a:xfrm>
            <a:off x="800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≈ −0.91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61" name="Insight">
            <a:extLst>
              <a:ext uri="{FF2B5EF4-FFF2-40B4-BE49-F238E27FC236}">
                <a16:creationId xmlns:a16="http://schemas.microsoft.com/office/drawing/2014/main" id="{B667AFE5-C8BA-8040-9C08-5C3E6AF6BF49}"/>
              </a:ext>
            </a:extLst>
          </p:cNvPr>
          <p:cNvSpPr/>
          <p:nvPr/>
        </p:nvSpPr>
        <p:spPr>
          <a:xfrm>
            <a:off x="381000" y="4419600"/>
            <a:ext cx="11430000" cy="825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InsightHdr">
            <a:extLst>
              <a:ext uri="{FF2B5EF4-FFF2-40B4-BE49-F238E27FC236}">
                <a16:creationId xmlns:a16="http://schemas.microsoft.com/office/drawing/2014/main" id="{AA5DE811-58C0-DC48-A123-697BA1ADDE7D}"/>
              </a:ext>
            </a:extLst>
          </p:cNvPr>
          <p:cNvSpPr txBox="1"/>
          <p:nvPr/>
        </p:nvSpPr>
        <p:spPr>
          <a:xfrm>
            <a:off x="558800" y="4495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Read the picture:</a:t>
            </a:r>
          </a:p>
        </p:txBody>
      </p:sp>
      <p:sp>
        <p:nvSpPr>
          <p:cNvPr id="63" name="InsightBody">
            <a:extLst>
              <a:ext uri="{FF2B5EF4-FFF2-40B4-BE49-F238E27FC236}">
                <a16:creationId xmlns:a16="http://schemas.microsoft.com/office/drawing/2014/main" id="{FD55CDA3-47B6-DA45-A5B1-8C52B94F83C5}"/>
              </a:ext>
            </a:extLst>
          </p:cNvPr>
          <p:cNvSpPr txBox="1"/>
          <p:nvPr/>
        </p:nvSpPr>
        <p:spPr>
          <a:xfrm>
            <a:off x="558800" y="47244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 i="1">
                <a:solidFill>
                  <a:srgbClr val="333333"/>
                </a:solidFill>
                <a:latin typeface="Arial"/>
                <a:cs typeface="Arial"/>
              </a:rPr>
              <a:t>Vectors u and v have the same length in all three plots — only the angle changes. Cosine similarity tracks that angle alone:  small angle ⇒ high score, perpendicular ⇒ zero, pointing apart ⇒ negative. Lengths could be 1 or 100 — the score stays the same.</a:t>
            </a:r>
          </a:p>
        </p:txBody>
      </p:sp>
      <p:sp>
        <p:nvSpPr>
          <p:cNvPr id="64" name="TkBar">
            <a:extLst>
              <a:ext uri="{FF2B5EF4-FFF2-40B4-BE49-F238E27FC236}">
                <a16:creationId xmlns:a16="http://schemas.microsoft.com/office/drawing/2014/main" id="{BA4FF9C3-F43A-6E4C-B026-236F4D7AE8B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kText">
            <a:extLst>
              <a:ext uri="{FF2B5EF4-FFF2-40B4-BE49-F238E27FC236}">
                <a16:creationId xmlns:a16="http://schemas.microsoft.com/office/drawing/2014/main" id="{3C9AC6AA-69FC-6E47-8AD4-1FF6E22EF68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Same angle, same cosine similarity — magnitudes cancel out of the formula</a:t>
            </a:r>
          </a:p>
        </p:txBody>
      </p:sp>
    </p:spTree>
    <p:extLst>
      <p:ext uri="{BB962C8B-B14F-4D97-AF65-F5344CB8AC3E}">
        <p14:creationId xmlns:p14="http://schemas.microsoft.com/office/powerpoint/2010/main" val="28218737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41F37F9-E491-2F47-BB40-99689BCF6C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E4D85B-74DD-1C45-B40D-BD71489A888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Cosine Similarity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E375792D-53FE-494C-B51E-59708EA0D7ED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Two document term-count vectors — how similar are they?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835F771B-3013-8F41-9ABB-9732A1C8E43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B8A7B6DF-4651-9641-88AF-A277127CAB6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F60533C2-AB41-2C48-93D5-EA90AFFFEAA7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82299A7-6FB4-F44E-B259-F179699B087F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cosine similarity between  u = (3, 4)  and  v = (4, 3).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2908ABA-7B07-A44E-B8AF-66F2C99973E3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3E14B10D-0735-C647-A233-21F4FB071C8C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795B19E-E11F-AF45-996A-D153A366647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C5B316F4-BB36-A14A-8311-B963C1F59351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1.  Dot product:   u · v = (3)(4) + (4)(3) = 12 + 12 = 24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CBEB428A-7CC3-2544-AB79-931F61426334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Norms:   ‖u‖ = √(9+16) = 5     ‖v‖ = √(16+9) = 5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7609B09E-5A2F-7E4C-9D36-CE4972C15EE5}"/>
              </a:ext>
            </a:extLst>
          </p:cNvPr>
          <p:cNvSpPr txBox="1"/>
          <p:nvPr/>
        </p:nvSpPr>
        <p:spPr>
          <a:xfrm>
            <a:off x="558800" y="4216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cos</a:t>
            </a:r>
            <a:r>
              <a:rPr lang="el-GR" sz="1400">
                <a:solidFill>
                  <a:srgbClr val="B0B0B0"/>
                </a:solidFill>
                <a:latin typeface="Cambria Math"/>
                <a:ea typeface="Cambria Math"/>
              </a:rPr>
              <a:t>θ = (</a:t>
            </a:r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u · v) / (‖u‖·‖v‖)  =  24 / (5·5)  =  24/25  =  0.96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74D99AA7-764A-604D-8B67-16179C31D034}"/>
              </a:ext>
            </a:extLst>
          </p:cNvPr>
          <p:cNvSpPr txBox="1"/>
          <p:nvPr/>
        </p:nvSpPr>
        <p:spPr>
          <a:xfrm>
            <a:off x="558800" y="4597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0.96 is very close to 1 → vectors point in nearly the same direction (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θ ≈ 16°).</a:t>
            </a:r>
            <a:endParaRPr lang="en-US" sz="1100" i="1">
              <a:solidFill>
                <a:srgbClr val="B0B0B0"/>
              </a:solidFill>
              <a:latin typeface="Arial"/>
              <a:cs typeface="Arial"/>
            </a:endParaRP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44021A4-FAA3-BB44-8EE7-3F33112F81C9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Answer:   cos </a:t>
            </a:r>
            <a:r>
              <a:rPr lang="el-GR" b="1">
                <a:solidFill>
                  <a:srgbClr val="4B2E83"/>
                </a:solidFill>
                <a:latin typeface="Cambria Math"/>
                <a:ea typeface="Cambria Math"/>
              </a:rPr>
              <a:t>θ  ≈  0.96    (</a:t>
            </a:r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highly similar)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3A17542D-5E70-D647-A80F-B7612740BD4D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AE8F31F8-EB59-4443-B6CA-29515A563ACA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Cosine similarity = normalized dot product — the workhorse metric for text, embeddings, and recs</a:t>
            </a:r>
          </a:p>
        </p:txBody>
      </p:sp>
    </p:spTree>
    <p:extLst>
      <p:ext uri="{BB962C8B-B14F-4D97-AF65-F5344CB8AC3E}">
        <p14:creationId xmlns:p14="http://schemas.microsoft.com/office/powerpoint/2010/main" val="8929932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3975611B-FD13-0A49-8803-14AEC1B482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17FFC3FD-E245-7A41-BAD1-FC7D09FFF41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Hadamard (Element-wise) Product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9F1BAA7D-8C11-E548-90BC-85251729F51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Multiply vectors entry-by-entry — same dimension, same shape result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1457E427-5375-DC4F-A829-CF08F0FE3601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7E246124-2F50-6C48-9026-901C950AB79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123D3213-315D-A941-9568-E874AC56E07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⊙ v  =  (u₁·v₁,  u₂·v₂,  ...,  uₙ·vₙ)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604D6162-0C28-7E4A-8925-502681E1D2D3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u, v ∈ ℝⁿ — result is a vector in ℝⁿ (not a scalar like the dot product).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6B4893D2-C2BF-B344-941A-AABB4BD75338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380F42F5-1EC9-1346-A6EA-F6CC302A2138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B0AE5A7B-B6BD-DF47-92F5-EB1747C1612C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925F767E-1B1F-DD4E-9315-BFE2D6846A6F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Independent gating per dimension.
• Each entry scaled separately
• Result stays in ℝⁿ
• Dimensions must match
• Commutes: u ⊙ v = v ⊙ u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771ED4AA-5F8F-5748-B524-0AE0730894FA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23E05DF1-1C3E-8C40-A2FB-C1153116395D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BD844ED1-B191-854D-B606-48A599038A15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vs. Dot product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83F658A7-FD4D-A74B-8CF6-F6221F81E1C9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Dot: scalar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Σ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uᵢvᵢ
Hadamard: vector (uᵢvᵢ)
Dot collapses; Hadamard keeps structure.
Notation: u ⊙ v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40DAEE10-90B3-5F43-932E-13BB3A64AE75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73FE518-35A0-9149-9302-261A40050526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28F764B4-6207-F74A-BA71-D5B3EB5942A9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D97B3663-F310-D24C-B1CF-609557E6B35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Neural networks:
• Element-wise activations
• Gating in LSTM/GRU/GLU
• Masked attention
• Dropout masks
• Feature-wise modulation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792EA097-A3F9-864D-8E5A-C682867A4EA5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F92C1B22-83A2-BD4A-86C5-865A9A4D10FB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Key idea:   element-wise — no sum, no projection, just pairwise products.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DEDADD26-8310-EB42-9E7A-6FAC2C812910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E7791C19-5D6F-7345-815B-B4D07FD7BF0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product = a vector where each entry multiplies its counterpart</a:t>
            </a:r>
          </a:p>
        </p:txBody>
      </p:sp>
    </p:spTree>
    <p:extLst>
      <p:ext uri="{BB962C8B-B14F-4D97-AF65-F5344CB8AC3E}">
        <p14:creationId xmlns:p14="http://schemas.microsoft.com/office/powerpoint/2010/main" val="28322114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C7DD207-0ADA-F948-A39E-303C512A50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B0A66DD-7288-EF4D-9039-1FAEFC93BDF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Hadamard (Element-wise) Product — 2D Visual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E0DBDF80-465C-094F-B2BB-C122E6FB19F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⊙ v multiplies coordinates one-by-one — anisotropic scaling along each axis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58BDA777-CDEC-DE44-87F0-49206BD88A43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CD72D05C-EEB0-4B4B-BE9D-47DB3615DCEB}"/>
              </a:ext>
            </a:extLst>
          </p:cNvPr>
          <p:cNvSpPr/>
          <p:nvPr/>
        </p:nvSpPr>
        <p:spPr>
          <a:xfrm>
            <a:off x="825500" y="4953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C4C4F7EE-6A4F-5346-AD61-D53F990F2AF4}"/>
              </a:ext>
            </a:extLst>
          </p:cNvPr>
          <p:cNvSpPr/>
          <p:nvPr/>
        </p:nvSpPr>
        <p:spPr>
          <a:xfrm>
            <a:off x="177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1">
            <a:extLst>
              <a:ext uri="{FF2B5EF4-FFF2-40B4-BE49-F238E27FC236}">
                <a16:creationId xmlns:a16="http://schemas.microsoft.com/office/drawing/2014/main" id="{C5E1E3F3-F593-454D-BF42-FC112C2B719A}"/>
              </a:ext>
            </a:extLst>
          </p:cNvPr>
          <p:cNvSpPr/>
          <p:nvPr/>
        </p:nvSpPr>
        <p:spPr>
          <a:xfrm>
            <a:off x="241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2">
            <a:extLst>
              <a:ext uri="{FF2B5EF4-FFF2-40B4-BE49-F238E27FC236}">
                <a16:creationId xmlns:a16="http://schemas.microsoft.com/office/drawing/2014/main" id="{02FF76F6-2422-5542-B56B-5308C5591C48}"/>
              </a:ext>
            </a:extLst>
          </p:cNvPr>
          <p:cNvSpPr/>
          <p:nvPr/>
        </p:nvSpPr>
        <p:spPr>
          <a:xfrm>
            <a:off x="304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3">
            <a:extLst>
              <a:ext uri="{FF2B5EF4-FFF2-40B4-BE49-F238E27FC236}">
                <a16:creationId xmlns:a16="http://schemas.microsoft.com/office/drawing/2014/main" id="{83216E52-71CE-564C-908C-EAABF554F623}"/>
              </a:ext>
            </a:extLst>
          </p:cNvPr>
          <p:cNvSpPr/>
          <p:nvPr/>
        </p:nvSpPr>
        <p:spPr>
          <a:xfrm>
            <a:off x="368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4">
            <a:extLst>
              <a:ext uri="{FF2B5EF4-FFF2-40B4-BE49-F238E27FC236}">
                <a16:creationId xmlns:a16="http://schemas.microsoft.com/office/drawing/2014/main" id="{93E6B132-2D72-FA46-9CDF-675614404CE4}"/>
              </a:ext>
            </a:extLst>
          </p:cNvPr>
          <p:cNvSpPr/>
          <p:nvPr/>
        </p:nvSpPr>
        <p:spPr>
          <a:xfrm>
            <a:off x="431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5">
            <a:extLst>
              <a:ext uri="{FF2B5EF4-FFF2-40B4-BE49-F238E27FC236}">
                <a16:creationId xmlns:a16="http://schemas.microsoft.com/office/drawing/2014/main" id="{4B267F4F-00CB-7D4B-9712-E4F8396206FA}"/>
              </a:ext>
            </a:extLst>
          </p:cNvPr>
          <p:cNvSpPr/>
          <p:nvPr/>
        </p:nvSpPr>
        <p:spPr>
          <a:xfrm>
            <a:off x="495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6">
            <a:extLst>
              <a:ext uri="{FF2B5EF4-FFF2-40B4-BE49-F238E27FC236}">
                <a16:creationId xmlns:a16="http://schemas.microsoft.com/office/drawing/2014/main" id="{89DC2CCC-4D9C-8F46-A6BF-5DE2C4668E64}"/>
              </a:ext>
            </a:extLst>
          </p:cNvPr>
          <p:cNvSpPr/>
          <p:nvPr/>
        </p:nvSpPr>
        <p:spPr>
          <a:xfrm>
            <a:off x="558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7">
            <a:extLst>
              <a:ext uri="{FF2B5EF4-FFF2-40B4-BE49-F238E27FC236}">
                <a16:creationId xmlns:a16="http://schemas.microsoft.com/office/drawing/2014/main" id="{EABF796F-1E16-EE4D-B158-EF84E7A2534D}"/>
              </a:ext>
            </a:extLst>
          </p:cNvPr>
          <p:cNvSpPr/>
          <p:nvPr/>
        </p:nvSpPr>
        <p:spPr>
          <a:xfrm>
            <a:off x="622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X8">
            <a:extLst>
              <a:ext uri="{FF2B5EF4-FFF2-40B4-BE49-F238E27FC236}">
                <a16:creationId xmlns:a16="http://schemas.microsoft.com/office/drawing/2014/main" id="{F672CDEE-0A57-3E43-9B73-ABB44694560F}"/>
              </a:ext>
            </a:extLst>
          </p:cNvPr>
          <p:cNvSpPr/>
          <p:nvPr/>
        </p:nvSpPr>
        <p:spPr>
          <a:xfrm>
            <a:off x="685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1">
            <a:extLst>
              <a:ext uri="{FF2B5EF4-FFF2-40B4-BE49-F238E27FC236}">
                <a16:creationId xmlns:a16="http://schemas.microsoft.com/office/drawing/2014/main" id="{17AE4642-FCB8-7845-81E3-DCADCF9FFA3F}"/>
              </a:ext>
            </a:extLst>
          </p:cNvPr>
          <p:cNvSpPr/>
          <p:nvPr/>
        </p:nvSpPr>
        <p:spPr>
          <a:xfrm>
            <a:off x="1739900" y="431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2">
            <a:extLst>
              <a:ext uri="{FF2B5EF4-FFF2-40B4-BE49-F238E27FC236}">
                <a16:creationId xmlns:a16="http://schemas.microsoft.com/office/drawing/2014/main" id="{D7EC4178-6A8E-0841-AF2B-8FC3D670D3EB}"/>
              </a:ext>
            </a:extLst>
          </p:cNvPr>
          <p:cNvSpPr/>
          <p:nvPr/>
        </p:nvSpPr>
        <p:spPr>
          <a:xfrm>
            <a:off x="1739900" y="368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3">
            <a:extLst>
              <a:ext uri="{FF2B5EF4-FFF2-40B4-BE49-F238E27FC236}">
                <a16:creationId xmlns:a16="http://schemas.microsoft.com/office/drawing/2014/main" id="{59C5C9D8-0C81-B34C-87DA-4DC92713840E}"/>
              </a:ext>
            </a:extLst>
          </p:cNvPr>
          <p:cNvSpPr/>
          <p:nvPr/>
        </p:nvSpPr>
        <p:spPr>
          <a:xfrm>
            <a:off x="1739900" y="304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4">
            <a:extLst>
              <a:ext uri="{FF2B5EF4-FFF2-40B4-BE49-F238E27FC236}">
                <a16:creationId xmlns:a16="http://schemas.microsoft.com/office/drawing/2014/main" id="{E424D0AE-1C0F-5B42-94FA-2B01A3752975}"/>
              </a:ext>
            </a:extLst>
          </p:cNvPr>
          <p:cNvSpPr/>
          <p:nvPr/>
        </p:nvSpPr>
        <p:spPr>
          <a:xfrm>
            <a:off x="1739900" y="241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Y5">
            <a:extLst>
              <a:ext uri="{FF2B5EF4-FFF2-40B4-BE49-F238E27FC236}">
                <a16:creationId xmlns:a16="http://schemas.microsoft.com/office/drawing/2014/main" id="{55955475-82B0-5B46-AB1E-C6023038DC8D}"/>
              </a:ext>
            </a:extLst>
          </p:cNvPr>
          <p:cNvSpPr/>
          <p:nvPr/>
        </p:nvSpPr>
        <p:spPr>
          <a:xfrm>
            <a:off x="1739900" y="177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ec_u">
            <a:extLst>
              <a:ext uri="{FF2B5EF4-FFF2-40B4-BE49-F238E27FC236}">
                <a16:creationId xmlns:a16="http://schemas.microsoft.com/office/drawing/2014/main" id="{D44FE87F-06C2-0C44-9166-B635826EAE2A}"/>
              </a:ext>
            </a:extLst>
          </p:cNvPr>
          <p:cNvSpPr/>
          <p:nvPr/>
        </p:nvSpPr>
        <p:spPr>
          <a:xfrm rot="-3378596">
            <a:off x="1268237" y="3968750"/>
            <a:ext cx="2289525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Vec_uLbl">
            <a:extLst>
              <a:ext uri="{FF2B5EF4-FFF2-40B4-BE49-F238E27FC236}">
                <a16:creationId xmlns:a16="http://schemas.microsoft.com/office/drawing/2014/main" id="{CB777887-74F6-DE45-B5D6-FBFE3C19306C}"/>
              </a:ext>
            </a:extLst>
          </p:cNvPr>
          <p:cNvSpPr txBox="1"/>
          <p:nvPr/>
        </p:nvSpPr>
        <p:spPr>
          <a:xfrm>
            <a:off x="21590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u = (2, 3)</a:t>
            </a:r>
          </a:p>
        </p:txBody>
      </p:sp>
      <p:sp>
        <p:nvSpPr>
          <p:cNvPr id="46" name="Vec_v">
            <a:extLst>
              <a:ext uri="{FF2B5EF4-FFF2-40B4-BE49-F238E27FC236}">
                <a16:creationId xmlns:a16="http://schemas.microsoft.com/office/drawing/2014/main" id="{3DA939DD-A2AB-1E45-B6DF-522389A96C42}"/>
              </a:ext>
            </a:extLst>
          </p:cNvPr>
          <p:cNvSpPr/>
          <p:nvPr/>
        </p:nvSpPr>
        <p:spPr>
          <a:xfrm rot="-1106097">
            <a:off x="1726476" y="4603750"/>
            <a:ext cx="2008046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Vec_vLbl">
            <a:extLst>
              <a:ext uri="{FF2B5EF4-FFF2-40B4-BE49-F238E27FC236}">
                <a16:creationId xmlns:a16="http://schemas.microsoft.com/office/drawing/2014/main" id="{A5B5FD1C-461B-5444-9E17-F3596EAF539A}"/>
              </a:ext>
            </a:extLst>
          </p:cNvPr>
          <p:cNvSpPr txBox="1"/>
          <p:nvPr/>
        </p:nvSpPr>
        <p:spPr>
          <a:xfrm>
            <a:off x="3784600" y="43688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= (3, 1)</a:t>
            </a:r>
          </a:p>
        </p:txBody>
      </p:sp>
      <p:sp>
        <p:nvSpPr>
          <p:cNvPr id="48" name="Vec_h">
            <a:extLst>
              <a:ext uri="{FF2B5EF4-FFF2-40B4-BE49-F238E27FC236}">
                <a16:creationId xmlns:a16="http://schemas.microsoft.com/office/drawing/2014/main" id="{7A74A876-A74A-7D49-9F92-AE27DD923E91}"/>
              </a:ext>
            </a:extLst>
          </p:cNvPr>
          <p:cNvSpPr/>
          <p:nvPr/>
        </p:nvSpPr>
        <p:spPr>
          <a:xfrm rot="-1593903">
            <a:off x="1553145" y="3962400"/>
            <a:ext cx="4259709" cy="762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Vec_hLbl">
            <a:extLst>
              <a:ext uri="{FF2B5EF4-FFF2-40B4-BE49-F238E27FC236}">
                <a16:creationId xmlns:a16="http://schemas.microsoft.com/office/drawing/2014/main" id="{106949E8-607F-1A4D-B9B6-2BDA411EA854}"/>
              </a:ext>
            </a:extLst>
          </p:cNvPr>
          <p:cNvSpPr txBox="1"/>
          <p:nvPr/>
        </p:nvSpPr>
        <p:spPr>
          <a:xfrm>
            <a:off x="5689600" y="29210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u ⊙ v = (6, 3)</a:t>
            </a:r>
          </a:p>
        </p:txBody>
      </p:sp>
      <p:sp>
        <p:nvSpPr>
          <p:cNvPr id="50" name="XScale">
            <a:extLst>
              <a:ext uri="{FF2B5EF4-FFF2-40B4-BE49-F238E27FC236}">
                <a16:creationId xmlns:a16="http://schemas.microsoft.com/office/drawing/2014/main" id="{4CE36F21-8CE7-3744-903C-4E3508424F00}"/>
              </a:ext>
            </a:extLst>
          </p:cNvPr>
          <p:cNvSpPr txBox="1"/>
          <p:nvPr/>
        </p:nvSpPr>
        <p:spPr>
          <a:xfrm>
            <a:off x="3048000" y="51435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x:  2 × 3 = 6</a:t>
            </a:r>
          </a:p>
        </p:txBody>
      </p:sp>
      <p:sp>
        <p:nvSpPr>
          <p:cNvPr id="51" name="YScale">
            <a:extLst>
              <a:ext uri="{FF2B5EF4-FFF2-40B4-BE49-F238E27FC236}">
                <a16:creationId xmlns:a16="http://schemas.microsoft.com/office/drawing/2014/main" id="{FA372C78-0D25-0846-99CE-8913831CE611}"/>
              </a:ext>
            </a:extLst>
          </p:cNvPr>
          <p:cNvSpPr txBox="1"/>
          <p:nvPr/>
        </p:nvSpPr>
        <p:spPr>
          <a:xfrm>
            <a:off x="508000" y="30480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y:  3 × 1 = 3</a:t>
            </a:r>
          </a:p>
        </p:txBody>
      </p:sp>
      <p:sp>
        <p:nvSpPr>
          <p:cNvPr id="52" name="OriginDot">
            <a:extLst>
              <a:ext uri="{FF2B5EF4-FFF2-40B4-BE49-F238E27FC236}">
                <a16:creationId xmlns:a16="http://schemas.microsoft.com/office/drawing/2014/main" id="{F4AED083-A61B-364F-B6C1-3F62B0B1FBA6}"/>
              </a:ext>
            </a:extLst>
          </p:cNvPr>
          <p:cNvSpPr/>
          <p:nvPr/>
        </p:nvSpPr>
        <p:spPr>
          <a:xfrm>
            <a:off x="1727200" y="4902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riginLbl">
            <a:extLst>
              <a:ext uri="{FF2B5EF4-FFF2-40B4-BE49-F238E27FC236}">
                <a16:creationId xmlns:a16="http://schemas.microsoft.com/office/drawing/2014/main" id="{45330945-CB62-2D42-80B5-1E75A32233C9}"/>
              </a:ext>
            </a:extLst>
          </p:cNvPr>
          <p:cNvSpPr txBox="1"/>
          <p:nvPr/>
        </p:nvSpPr>
        <p:spPr>
          <a:xfrm>
            <a:off x="1587500" y="4978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97882DCE-054D-D643-867A-05FDE9AC9289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95CFA7D5-E8F7-8B4F-822C-C5826F367673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8F674023-5C10-FB43-B77D-FFEB8519ED8F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Element-by-element</a:t>
            </a:r>
          </a:p>
        </p:txBody>
      </p:sp>
      <p:sp>
        <p:nvSpPr>
          <p:cNvPr id="57" name="R1">
            <a:extLst>
              <a:ext uri="{FF2B5EF4-FFF2-40B4-BE49-F238E27FC236}">
                <a16:creationId xmlns:a16="http://schemas.microsoft.com/office/drawing/2014/main" id="{09136B9B-13E2-2D49-A3B0-A5E3D83E0C5F}"/>
              </a:ext>
            </a:extLst>
          </p:cNvPr>
          <p:cNvSpPr txBox="1"/>
          <p:nvPr/>
        </p:nvSpPr>
        <p:spPr>
          <a:xfrm>
            <a:off x="8356600" y="1841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333333"/>
                </a:solidFill>
                <a:latin typeface="Cambria Math"/>
                <a:ea typeface="Cambria Math"/>
              </a:rPr>
              <a:t>(u ⊙ v)ᵢ  =  uᵢ · vᵢ</a:t>
            </a:r>
          </a:p>
        </p:txBody>
      </p:sp>
      <p:sp>
        <p:nvSpPr>
          <p:cNvPr id="58" name="R1b">
            <a:extLst>
              <a:ext uri="{FF2B5EF4-FFF2-40B4-BE49-F238E27FC236}">
                <a16:creationId xmlns:a16="http://schemas.microsoft.com/office/drawing/2014/main" id="{763063C2-263B-AB4D-B2F2-468A6EFF45FB}"/>
              </a:ext>
            </a:extLst>
          </p:cNvPr>
          <p:cNvSpPr txBox="1"/>
          <p:nvPr/>
        </p:nvSpPr>
        <p:spPr>
          <a:xfrm>
            <a:off x="8356600" y="21844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Multiply coordinate-by-coordinate.
Result has same dimension as inputs.</a:t>
            </a:r>
          </a:p>
        </p:txBody>
      </p:sp>
      <p:sp>
        <p:nvSpPr>
          <p:cNvPr id="59" name="CalcBox">
            <a:extLst>
              <a:ext uri="{FF2B5EF4-FFF2-40B4-BE49-F238E27FC236}">
                <a16:creationId xmlns:a16="http://schemas.microsoft.com/office/drawing/2014/main" id="{4D174B3A-9128-4645-AA1C-F993487A1CB5}"/>
              </a:ext>
            </a:extLst>
          </p:cNvPr>
          <p:cNvSpPr/>
          <p:nvPr/>
        </p:nvSpPr>
        <p:spPr>
          <a:xfrm>
            <a:off x="8356600" y="2730500"/>
            <a:ext cx="3225800" cy="1397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CalcT">
            <a:extLst>
              <a:ext uri="{FF2B5EF4-FFF2-40B4-BE49-F238E27FC236}">
                <a16:creationId xmlns:a16="http://schemas.microsoft.com/office/drawing/2014/main" id="{8F3C87BF-FC8F-7B43-ABDB-8BDB2041D66E}"/>
              </a:ext>
            </a:extLst>
          </p:cNvPr>
          <p:cNvSpPr txBox="1"/>
          <p:nvPr/>
        </p:nvSpPr>
        <p:spPr>
          <a:xfrm>
            <a:off x="8432800" y="2794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u=(2,3), v=(3,1):</a:t>
            </a:r>
          </a:p>
        </p:txBody>
      </p:sp>
      <p:sp>
        <p:nvSpPr>
          <p:cNvPr id="61" name="CalcEq1">
            <a:extLst>
              <a:ext uri="{FF2B5EF4-FFF2-40B4-BE49-F238E27FC236}">
                <a16:creationId xmlns:a16="http://schemas.microsoft.com/office/drawing/2014/main" id="{D8B9C81E-BEB8-C14B-A7BA-235877804B6D}"/>
              </a:ext>
            </a:extLst>
          </p:cNvPr>
          <p:cNvSpPr txBox="1"/>
          <p:nvPr/>
        </p:nvSpPr>
        <p:spPr>
          <a:xfrm>
            <a:off x="8432800" y="30480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(u ⊙ v)₁ = 2 · 3 = 6</a:t>
            </a:r>
          </a:p>
        </p:txBody>
      </p:sp>
      <p:sp>
        <p:nvSpPr>
          <p:cNvPr id="62" name="CalcEq2">
            <a:extLst>
              <a:ext uri="{FF2B5EF4-FFF2-40B4-BE49-F238E27FC236}">
                <a16:creationId xmlns:a16="http://schemas.microsoft.com/office/drawing/2014/main" id="{1BC08CB5-B90C-0A4A-870B-38C6A3142727}"/>
              </a:ext>
            </a:extLst>
          </p:cNvPr>
          <p:cNvSpPr txBox="1"/>
          <p:nvPr/>
        </p:nvSpPr>
        <p:spPr>
          <a:xfrm>
            <a:off x="8432800" y="33274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(u ⊙ v)₂ = 3 · 1 = 3</a:t>
            </a:r>
          </a:p>
        </p:txBody>
      </p:sp>
      <p:sp>
        <p:nvSpPr>
          <p:cNvPr id="63" name="CalcEq3">
            <a:extLst>
              <a:ext uri="{FF2B5EF4-FFF2-40B4-BE49-F238E27FC236}">
                <a16:creationId xmlns:a16="http://schemas.microsoft.com/office/drawing/2014/main" id="{66010957-2F92-6B41-A20A-88671DB93E84}"/>
              </a:ext>
            </a:extLst>
          </p:cNvPr>
          <p:cNvSpPr txBox="1"/>
          <p:nvPr/>
        </p:nvSpPr>
        <p:spPr>
          <a:xfrm>
            <a:off x="8432800" y="3683000"/>
            <a:ext cx="3098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  <a:latin typeface="Cambria Math"/>
                <a:ea typeface="Cambria Math"/>
              </a:rPr>
              <a:t>u ⊙ v = (6, 3)</a:t>
            </a:r>
          </a:p>
        </p:txBody>
      </p:sp>
      <p:sp>
        <p:nvSpPr>
          <p:cNvPr id="64" name="Note">
            <a:extLst>
              <a:ext uri="{FF2B5EF4-FFF2-40B4-BE49-F238E27FC236}">
                <a16:creationId xmlns:a16="http://schemas.microsoft.com/office/drawing/2014/main" id="{7EF16EFB-7B17-AA4D-A2E0-DA5FA2C3D140}"/>
              </a:ext>
            </a:extLst>
          </p:cNvPr>
          <p:cNvSpPr txBox="1"/>
          <p:nvPr/>
        </p:nvSpPr>
        <p:spPr>
          <a:xfrm>
            <a:off x="8356600" y="4191000"/>
            <a:ext cx="3429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Geometry: v acts as a per-axis
scaling factor on u.
• x-axis stretched by vₓ = 3
• y-axis stretched by v</a:t>
            </a:r>
            <a:r>
              <a:rPr lang="el-GR" sz="1000" i="1">
                <a:solidFill>
                  <a:srgbClr val="777777"/>
                </a:solidFill>
                <a:latin typeface="Arial"/>
                <a:cs typeface="Arial"/>
              </a:rPr>
              <a:t>ᵧ = 1
</a:t>
            </a:r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Not the same as dot product —
result is a vector, not a scalar.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A043B180-605B-804F-873A-F715EB1B5A31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CDE0B475-8DF2-3441-9315-353FBD319BCF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= independent scaling on each axis — the diagonal version of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6757850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98EBF6D-895B-9B4D-A483-11D7D33974E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022DDDB-4D16-C548-8544-883DF8C0E17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Hadamard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C4593AA-D7A3-E249-85D8-0642BBE411F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Basic element-wise multiplication of two 3-D vectors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E7D6C0C0-FA5E-3A4C-97FD-AAADC9BFDD8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6EAB43DE-9AC4-F945-A03F-2F166DB6FA70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1A5E6292-E014-BF48-B594-ED482A2BF06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1A766135-4092-F847-91AD-039264A8CFEF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⊙ v   where   u = (2, 5, -1)   and   v = (3, 4, 6)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3A1446A-E970-624C-85BC-F2D58BE5028F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2619BDAF-E8A1-A447-9B90-F136F8E7B6E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2E8FFB3-CAAB-AD41-9BF7-CFCADF3137F9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1D4B1D21-A3F8-6240-83E5-31A6D33D6BC2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Pair entries by index:   (u₁,v₁), (u₂,v₂), (u₃,v₃) = (2,3), (5,4), (-1,6)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062BC118-6C19-8846-8434-B8ACEE2824F1}"/>
              </a:ext>
            </a:extLst>
          </p:cNvPr>
          <p:cNvSpPr txBox="1"/>
          <p:nvPr/>
        </p:nvSpPr>
        <p:spPr>
          <a:xfrm>
            <a:off x="558800" y="3860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Multiply each pair:   2·3 = 6,    5·4 = 20,    (-1)·6 = -6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4ED4B6EC-289C-444F-ACD4-092F1AD5B067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Assemble as a vector:   u ⊙ v  =  (6, 20, -6)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323F815B-874F-E04D-BE78-EEEA53703C03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shape: u, v ∈ ℝ³  →  u ⊙ v ∈ ℝ³.  ✓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E2088D00-C5CD-C843-81A6-537310704A70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⊙ v = (6, 20, -6)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0A3F8CAC-0EC8-E747-AC63-76054EFA94E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544646A2-18EB-4C41-9D07-FB003AA39945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Hadamard: pair, multiply, assemble — same dimension out</a:t>
            </a:r>
          </a:p>
        </p:txBody>
      </p:sp>
    </p:spTree>
    <p:extLst>
      <p:ext uri="{BB962C8B-B14F-4D97-AF65-F5344CB8AC3E}">
        <p14:creationId xmlns:p14="http://schemas.microsoft.com/office/powerpoint/2010/main" val="5571987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EC43A861-D69B-3645-A88D-5F20474A1AF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681DE74-8E58-0046-9377-A51A962660D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Hadamard Product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05A15F7-61AD-A94E-9F47-9648EE2453E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Applying a dropout mask — gating an activation vector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607B9BB1-294E-9841-9F88-4A0A79CB6F3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8C91EF36-2A30-CF43-87A1-41A4C0D7FF5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4E53F011-6B43-D14D-A97F-F30D7999E9E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D2CF0F25-5FD1-9047-A1FA-64C1FA84E679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Apply mask  m = (1, 0, 1, 1, 0)  to activations  a = (0.8, 0.4, 0.9, 0.2, 0.7).   Compute a ⊙ m.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B89BC3E6-5419-454E-BABB-F7E34624C7D4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0648F19A-092D-ED47-8FBC-DE776BFA7087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B2CC9588-BED5-6744-974C-672C88F06E8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59D648DA-BA50-4E49-B39F-1EDF5C18897B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entry-by-entry — entries where mᵢ = 0 are killed: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B6A53C03-3F16-1543-8062-A734C1FE6324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0.8·1 = 0.8,    0.4·0 = 0,    0.9·1 = 0.9,    0.2·1 = 0.2,    0.7·0 = 0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4FC36593-D926-E240-9F6D-8A3EC8A4B2C0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Assemble:   a ⊙ m  =  (0.8, 0, 0.9, 0.2, 0)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D82B7C0B-A9ED-5347-9620-0A03A5585C92}"/>
              </a:ext>
            </a:extLst>
          </p:cNvPr>
          <p:cNvSpPr txBox="1"/>
          <p:nvPr/>
        </p:nvSpPr>
        <p:spPr>
          <a:xfrm>
            <a:off x="558800" y="4521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positions 2 and 5 were 'dropped' — the rest pass through unchanged.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951B6E4D-BF0E-B548-BE84-261F61723B67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 ⊙ m = (0.8, 0, 0.9, 0.2, 0)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6A5BCDCE-F125-A64F-A58B-BCF55C4021E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8AE219F6-9088-AE4C-8DC0-6AE68681540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with a 0/1 mask = gating: keep or kill each coordinate</a:t>
            </a:r>
          </a:p>
        </p:txBody>
      </p:sp>
    </p:spTree>
    <p:extLst>
      <p:ext uri="{BB962C8B-B14F-4D97-AF65-F5344CB8AC3E}">
        <p14:creationId xmlns:p14="http://schemas.microsoft.com/office/powerpoint/2010/main" val="8251241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4043AA06-AC73-0E44-8C15-C12D47C9E0C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37E3BA-24FD-6946-B7B9-CAE98E7B742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Hadamard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102FC884-E01D-8A46-9B64-0FACC0A6E71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Per-feature scaling — different gain per dimension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2FC7AB0-685F-3B4B-AF57-ECAAC977C78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806529F-36A4-BA4F-828B-DA795E98B043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925D610C-B963-7F46-9432-359C3472DDF9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113CB21F-B75E-DE4C-AB09-F00520FD2F4D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Scale features  x = (10, 5, 2, 8)  by per-feature gains  g = (0.1, 2, 5, 0.5).   Compute x ⊙ g.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E3634C91-1B48-924A-B4CB-B6BCBE86E4C2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FBE33837-DFA2-264A-B1AE-9D6DF6A46465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188C38C-5BFB-764F-B7EE-E37BAF473FC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3420374D-A2C5-534E-A01A-653191771824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entry-by-entry — each feature gets its own scale: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0394DAE8-80E2-1A4E-B726-AB04EB8A1267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10·0.1 = 1,    5·2 = 10,    2·5 = 10,    8·0.5 = 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A77E042A-8F6C-7C47-A289-EC2690A18C3D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Assemble:   x ⊙ g  =  (1, 10, 10, 4)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126455C1-7E7E-2B49-B328-0426AAA01FFD}"/>
              </a:ext>
            </a:extLst>
          </p:cNvPr>
          <p:cNvSpPr txBox="1"/>
          <p:nvPr/>
        </p:nvSpPr>
        <p:spPr>
          <a:xfrm>
            <a:off x="558800" y="4521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Note: feature 1 was shrunk 10×, features 2 and 3 amplified, feature 4 halved — independent per dim.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5527357A-BA62-A647-91DD-0908D96D6066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x ⊙ g = (1, 10, 10, 4)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DF2505A-F759-0A41-BCC8-8A9132BB801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AD99C8B5-6D26-4148-B9C8-DA4E4DE405A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lets each coordinate carry its own multiplier — perfect for feature-wise gain</a:t>
            </a:r>
          </a:p>
        </p:txBody>
      </p:sp>
    </p:spTree>
    <p:extLst>
      <p:ext uri="{BB962C8B-B14F-4D97-AF65-F5344CB8AC3E}">
        <p14:creationId xmlns:p14="http://schemas.microsoft.com/office/powerpoint/2010/main" val="18770929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Hadamard product: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⊙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and b are drawn on the BEFORE grid. Multiply them element-by-element and plot the result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The Hadamard product multiplies matching components: each axis is scaled independently — it is NOT the dot product and stays a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a, b drawn from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AFTER — plot a ⊙ b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657600"/>
            <a:ext cx="2895600" cy="14478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10115550" y="3575050"/>
            <a:ext cx="165100" cy="165100"/>
          </a:xfrm>
          <a:prstGeom prst="ellipse">
            <a:avLst/>
          </a:prstGeom>
          <a:solidFill>
            <a:srgbClr val="D1578A"/>
          </a:solidFill>
          <a:ln w="158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10274300" y="3403600"/>
                <a:ext cx="762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300" y="3403600"/>
                <a:ext cx="762000" cy="228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aArr"/>
          <p:cNvCxnSpPr/>
          <p:nvPr/>
        </p:nvCxnSpPr>
        <p:spPr>
          <a:xfrm flipV="1">
            <a:off x="1206500" y="3657600"/>
            <a:ext cx="965200" cy="14478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bArr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aLbl"/>
              <p:cNvSpPr/>
              <p:nvPr/>
            </p:nvSpPr>
            <p:spPr>
              <a:xfrm>
                <a:off x="2222500" y="34544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a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3454400"/>
                <a:ext cx="254000" cy="190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bLbl"/>
              <p:cNvSpPr/>
              <p:nvPr/>
            </p:nvSpPr>
            <p:spPr>
              <a:xfrm>
                <a:off x="2705100" y="45466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b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4546600"/>
                <a:ext cx="254000" cy="19050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a ⊙ b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7783863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Hadamard product: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⊙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and b are drawn on the BEFORE grid. Multiply them element-by-element and plot the result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The Hadamard product multiplies matching components: each axis is scaled independently — it is NOT the dot product and stays a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a, b drawn from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AFTER — plot a ⊙ b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175000"/>
            <a:ext cx="1930400" cy="19304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9150350" y="3092450"/>
            <a:ext cx="165100" cy="165100"/>
          </a:xfrm>
          <a:prstGeom prst="ellipse">
            <a:avLst/>
          </a:prstGeom>
          <a:solidFill>
            <a:srgbClr val="D1578A"/>
          </a:solidFill>
          <a:ln w="158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9328150" y="2914650"/>
                <a:ext cx="762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150" y="2914650"/>
                <a:ext cx="762000" cy="228600"/>
              </a:xfrm>
              <a:prstGeom prst="rect">
                <a:avLst/>
              </a:prstGeom>
              <a:blipFill>
                <a:blip r:embed="rId6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aArr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bArr"/>
          <p:cNvCxnSpPr/>
          <p:nvPr/>
        </p:nvCxnSpPr>
        <p:spPr>
          <a:xfrm flipV="1">
            <a:off x="1206500" y="4622800"/>
            <a:ext cx="19304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aLbl"/>
              <p:cNvSpPr/>
              <p:nvPr/>
            </p:nvSpPr>
            <p:spPr>
              <a:xfrm>
                <a:off x="1739900" y="29718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a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2971800"/>
                <a:ext cx="254000" cy="190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bLbl"/>
              <p:cNvSpPr/>
              <p:nvPr/>
            </p:nvSpPr>
            <p:spPr>
              <a:xfrm>
                <a:off x="3187700" y="45720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b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4572000"/>
                <a:ext cx="254000" cy="19050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a ⊙ b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1795948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AF84FD1-0BDA-E74B-A89B-6E01406095A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FE886FB-8984-6548-A87F-7482F2296F2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Cross Product (3D only)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92C8C71A-8FC7-FA48-811D-DA476AA029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Two 3D vectors → a third vector perpendicular to both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79F791DD-0620-DA4F-B32F-1562CA1F5FEC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59DDEC7E-D472-A548-B4E1-5C8365C59BAA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FC24BA15-E3B1-BB49-B72E-1D0386170AC6}"/>
              </a:ext>
            </a:extLst>
          </p:cNvPr>
          <p:cNvSpPr txBox="1"/>
          <p:nvPr/>
        </p:nvSpPr>
        <p:spPr>
          <a:xfrm>
            <a:off x="558800" y="1625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u × v  =  (u₂v₃ − u₃v₂,   u₃v₁ − u₁v₃,   u₁v₂ − u₂v₁)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14F90EB5-C665-4E43-AF9A-A53250455C7C}"/>
              </a:ext>
            </a:extLst>
          </p:cNvPr>
          <p:cNvSpPr txBox="1"/>
          <p:nvPr/>
        </p:nvSpPr>
        <p:spPr>
          <a:xfrm>
            <a:off x="558800" y="195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Defined only for u, v ∈ ℝ³.   Result is a vector (unlike the dot product, which is a scalar).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E4925864-A921-8349-BF80-6EFB6C6CF5DE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A66200F9-33CF-9942-9539-D86B78181C7D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F42A2087-6347-8E49-9FD4-8B5739D4C8AD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6735B67A-B155-9342-A261-237850A077C1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Produces a vector u × v that is
perpendicular to both u and v.
‖u × v‖ = ‖u‖·‖v‖·|sin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θ|
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Magnitude = area of the
parallelogram formed by u and v.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7B1159CD-CCD7-594B-BE41-07D556C483A3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4282A0C1-C352-B741-91CE-FD7019CBC8A2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13D7EC48-4B6C-624F-A201-ADF4BA2CB752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Direction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A97B7F7C-BC16-4045-BDA9-AFD392DBE65E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Right-hand rule.
u × v = −(v × u)
(it is anti-commutative).
u × u = 0
u × v = 0  ⇔  u ∥ v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6FDABDA1-3545-9248-BFF9-CB1136720147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5CD65C6-87C7-0340-A693-E721BF61CBFD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9E027BD3-A82F-7C45-8677-03AD2F36A8E5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02B456B2-36B8-534E-9880-BC2183871CD0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Surface normals in 3D graphics
• Torque 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τ =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 × F
• Angular momentum L = r × p
• Plane orientation in geometry
• Building orthonormal frames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623DAC3D-D694-8442-BC77-EEAC3C4B79B6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85C135A2-2742-A041-8F49-E5B0D1A95A8C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‖u × v‖ = ‖u‖·‖v‖·sin 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θ     —     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measures how 'non-parallel' two vectors are.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B56B2AD8-7F5A-5941-8F60-437FC3F1587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7CDD434-1B3C-4741-935F-CA9B00C389B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Cross product = perpendicular vector whose length = parallelogram area</a:t>
            </a:r>
          </a:p>
        </p:txBody>
      </p:sp>
    </p:spTree>
    <p:extLst>
      <p:ext uri="{BB962C8B-B14F-4D97-AF65-F5344CB8AC3E}">
        <p14:creationId xmlns:p14="http://schemas.microsoft.com/office/powerpoint/2010/main" val="9238990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559BB29-1B85-C34C-8FA0-B224E6C3725E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38144E5-49ED-2240-8323-1EE14F8507E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Cross Product — Right-Hand Rule (pseudo-3D)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7751A07-0F3C-6041-AB2F-9BB3BD5F297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× v produces a vector perpendicular to both — pointing out of the (u, v) plane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599AFEEA-D3A8-1342-86C4-97A2A8EF1776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Edge1">
            <a:extLst>
              <a:ext uri="{FF2B5EF4-FFF2-40B4-BE49-F238E27FC236}">
                <a16:creationId xmlns:a16="http://schemas.microsoft.com/office/drawing/2014/main" id="{D109B9FC-2AA0-DF49-8085-15D0DA5E66F8}"/>
              </a:ext>
            </a:extLst>
          </p:cNvPr>
          <p:cNvSpPr/>
          <p:nvPr/>
        </p:nvSpPr>
        <p:spPr>
          <a:xfrm>
            <a:off x="3683000" y="3800475"/>
            <a:ext cx="1524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Edge2">
            <a:extLst>
              <a:ext uri="{FF2B5EF4-FFF2-40B4-BE49-F238E27FC236}">
                <a16:creationId xmlns:a16="http://schemas.microsoft.com/office/drawing/2014/main" id="{E8D6C26E-EF9F-0C46-8663-58986F046581}"/>
              </a:ext>
            </a:extLst>
          </p:cNvPr>
          <p:cNvSpPr/>
          <p:nvPr/>
        </p:nvSpPr>
        <p:spPr>
          <a:xfrm rot="-1800000">
            <a:off x="5130433" y="3514725"/>
            <a:ext cx="1143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Edge3">
            <a:extLst>
              <a:ext uri="{FF2B5EF4-FFF2-40B4-BE49-F238E27FC236}">
                <a16:creationId xmlns:a16="http://schemas.microsoft.com/office/drawing/2014/main" id="{11CC9F94-1357-DB41-A66F-5E5EC7BD4A34}"/>
              </a:ext>
            </a:extLst>
          </p:cNvPr>
          <p:cNvSpPr/>
          <p:nvPr/>
        </p:nvSpPr>
        <p:spPr>
          <a:xfrm rot="10800000">
            <a:off x="4672867" y="3228975"/>
            <a:ext cx="1524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Edge4">
            <a:extLst>
              <a:ext uri="{FF2B5EF4-FFF2-40B4-BE49-F238E27FC236}">
                <a16:creationId xmlns:a16="http://schemas.microsoft.com/office/drawing/2014/main" id="{FF1198B4-BBA7-3946-9F0F-87928397DE8F}"/>
              </a:ext>
            </a:extLst>
          </p:cNvPr>
          <p:cNvSpPr/>
          <p:nvPr/>
        </p:nvSpPr>
        <p:spPr>
          <a:xfrm rot="9000000">
            <a:off x="3606433" y="3514725"/>
            <a:ext cx="1143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PlaneLbl">
            <a:extLst>
              <a:ext uri="{FF2B5EF4-FFF2-40B4-BE49-F238E27FC236}">
                <a16:creationId xmlns:a16="http://schemas.microsoft.com/office/drawing/2014/main" id="{14815408-B9C3-024B-BDD5-210A460CFFAA}"/>
              </a:ext>
            </a:extLst>
          </p:cNvPr>
          <p:cNvSpPr txBox="1"/>
          <p:nvPr/>
        </p:nvSpPr>
        <p:spPr>
          <a:xfrm>
            <a:off x="4127500" y="3556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(u, v) plane</a:t>
            </a:r>
          </a:p>
        </p:txBody>
      </p:sp>
      <p:sp>
        <p:nvSpPr>
          <p:cNvPr id="11" name="Vec_u">
            <a:extLst>
              <a:ext uri="{FF2B5EF4-FFF2-40B4-BE49-F238E27FC236}">
                <a16:creationId xmlns:a16="http://schemas.microsoft.com/office/drawing/2014/main" id="{66B5D9CE-38A2-8647-B569-B6654A14E4D3}"/>
              </a:ext>
            </a:extLst>
          </p:cNvPr>
          <p:cNvSpPr/>
          <p:nvPr/>
        </p:nvSpPr>
        <p:spPr>
          <a:xfrm>
            <a:off x="3683000" y="3771900"/>
            <a:ext cx="1524000" cy="76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ec_uLbl">
            <a:extLst>
              <a:ext uri="{FF2B5EF4-FFF2-40B4-BE49-F238E27FC236}">
                <a16:creationId xmlns:a16="http://schemas.microsoft.com/office/drawing/2014/main" id="{42D2B584-06C3-7747-BFB5-B71D036C674F}"/>
              </a:ext>
            </a:extLst>
          </p:cNvPr>
          <p:cNvSpPr txBox="1"/>
          <p:nvPr/>
        </p:nvSpPr>
        <p:spPr>
          <a:xfrm>
            <a:off x="5308600" y="3683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00A7B5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13" name="Vec_v">
            <a:extLst>
              <a:ext uri="{FF2B5EF4-FFF2-40B4-BE49-F238E27FC236}">
                <a16:creationId xmlns:a16="http://schemas.microsoft.com/office/drawing/2014/main" id="{BB19F7AC-EA49-BD4A-B67B-D005FE7B75B6}"/>
              </a:ext>
            </a:extLst>
          </p:cNvPr>
          <p:cNvSpPr/>
          <p:nvPr/>
        </p:nvSpPr>
        <p:spPr>
          <a:xfrm rot="-1800000">
            <a:off x="3606433" y="3486150"/>
            <a:ext cx="1143000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_vLbl">
            <a:extLst>
              <a:ext uri="{FF2B5EF4-FFF2-40B4-BE49-F238E27FC236}">
                <a16:creationId xmlns:a16="http://schemas.microsoft.com/office/drawing/2014/main" id="{855835BB-8845-9D48-8EF3-A160C88BD782}"/>
              </a:ext>
            </a:extLst>
          </p:cNvPr>
          <p:cNvSpPr txBox="1"/>
          <p:nvPr/>
        </p:nvSpPr>
        <p:spPr>
          <a:xfrm>
            <a:off x="4393467" y="3289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4B2E83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15" name="Vec_uv">
            <a:extLst>
              <a:ext uri="{FF2B5EF4-FFF2-40B4-BE49-F238E27FC236}">
                <a16:creationId xmlns:a16="http://schemas.microsoft.com/office/drawing/2014/main" id="{CBF2F71E-820E-FD4F-B448-33201E7B3822}"/>
              </a:ext>
            </a:extLst>
          </p:cNvPr>
          <p:cNvSpPr/>
          <p:nvPr/>
        </p:nvSpPr>
        <p:spPr>
          <a:xfrm rot="-5400000">
            <a:off x="2857500" y="2940050"/>
            <a:ext cx="1651000" cy="889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c_uvLbl">
            <a:extLst>
              <a:ext uri="{FF2B5EF4-FFF2-40B4-BE49-F238E27FC236}">
                <a16:creationId xmlns:a16="http://schemas.microsoft.com/office/drawing/2014/main" id="{EC148424-6B42-8F46-9D59-B4949B233EB4}"/>
              </a:ext>
            </a:extLst>
          </p:cNvPr>
          <p:cNvSpPr txBox="1"/>
          <p:nvPr/>
        </p:nvSpPr>
        <p:spPr>
          <a:xfrm>
            <a:off x="3746500" y="1968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D1578A"/>
                </a:solidFill>
                <a:latin typeface="Arial"/>
                <a:cs typeface="Arial"/>
              </a:rPr>
              <a:t>u × v</a:t>
            </a:r>
          </a:p>
        </p:txBody>
      </p:sp>
      <p:sp>
        <p:nvSpPr>
          <p:cNvPr id="17" name="OriginDot">
            <a:extLst>
              <a:ext uri="{FF2B5EF4-FFF2-40B4-BE49-F238E27FC236}">
                <a16:creationId xmlns:a16="http://schemas.microsoft.com/office/drawing/2014/main" id="{EB5994C5-119A-A94D-8D3B-D5C95E44F880}"/>
              </a:ext>
            </a:extLst>
          </p:cNvPr>
          <p:cNvSpPr/>
          <p:nvPr/>
        </p:nvSpPr>
        <p:spPr>
          <a:xfrm>
            <a:off x="3619500" y="37465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LegCard">
            <a:extLst>
              <a:ext uri="{FF2B5EF4-FFF2-40B4-BE49-F238E27FC236}">
                <a16:creationId xmlns:a16="http://schemas.microsoft.com/office/drawing/2014/main" id="{FC7E1F2F-6050-A243-82F3-0278D1367BCB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LegHdr">
            <a:extLst>
              <a:ext uri="{FF2B5EF4-FFF2-40B4-BE49-F238E27FC236}">
                <a16:creationId xmlns:a16="http://schemas.microsoft.com/office/drawing/2014/main" id="{941F1C97-CE13-9E47-BA21-97461C620D01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LegHdrT">
            <a:extLst>
              <a:ext uri="{FF2B5EF4-FFF2-40B4-BE49-F238E27FC236}">
                <a16:creationId xmlns:a16="http://schemas.microsoft.com/office/drawing/2014/main" id="{46C67F55-9F0F-E848-86B6-E780BE31CEAB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Right-hand rule</a:t>
            </a:r>
          </a:p>
        </p:txBody>
      </p:sp>
      <p:sp>
        <p:nvSpPr>
          <p:cNvPr id="44" name="R1">
            <a:extLst>
              <a:ext uri="{FF2B5EF4-FFF2-40B4-BE49-F238E27FC236}">
                <a16:creationId xmlns:a16="http://schemas.microsoft.com/office/drawing/2014/main" id="{6443C810-E9B7-3A4F-B67D-C2CB0696779A}"/>
              </a:ext>
            </a:extLst>
          </p:cNvPr>
          <p:cNvSpPr txBox="1"/>
          <p:nvPr/>
        </p:nvSpPr>
        <p:spPr>
          <a:xfrm>
            <a:off x="8356600" y="1841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Direction:</a:t>
            </a:r>
          </a:p>
        </p:txBody>
      </p:sp>
      <p:sp>
        <p:nvSpPr>
          <p:cNvPr id="45" name="R1b">
            <a:extLst>
              <a:ext uri="{FF2B5EF4-FFF2-40B4-BE49-F238E27FC236}">
                <a16:creationId xmlns:a16="http://schemas.microsoft.com/office/drawing/2014/main" id="{A4EF1D8B-FB6C-2143-9314-F8774B4E212A}"/>
              </a:ext>
            </a:extLst>
          </p:cNvPr>
          <p:cNvSpPr txBox="1"/>
          <p:nvPr/>
        </p:nvSpPr>
        <p:spPr>
          <a:xfrm>
            <a:off x="8356600" y="20701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Curl right-hand fingers from u
toward v — thumb points along u×v.</a:t>
            </a:r>
          </a:p>
        </p:txBody>
      </p:sp>
      <p:sp>
        <p:nvSpPr>
          <p:cNvPr id="46" name="R2">
            <a:extLst>
              <a:ext uri="{FF2B5EF4-FFF2-40B4-BE49-F238E27FC236}">
                <a16:creationId xmlns:a16="http://schemas.microsoft.com/office/drawing/2014/main" id="{887E1938-F444-534C-82B8-1D86DF27271B}"/>
              </a:ext>
            </a:extLst>
          </p:cNvPr>
          <p:cNvSpPr txBox="1"/>
          <p:nvPr/>
        </p:nvSpPr>
        <p:spPr>
          <a:xfrm>
            <a:off x="8356600" y="2603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Magnitude:</a:t>
            </a:r>
          </a:p>
        </p:txBody>
      </p:sp>
      <p:sp>
        <p:nvSpPr>
          <p:cNvPr id="47" name="R2b">
            <a:extLst>
              <a:ext uri="{FF2B5EF4-FFF2-40B4-BE49-F238E27FC236}">
                <a16:creationId xmlns:a16="http://schemas.microsoft.com/office/drawing/2014/main" id="{25F9ABA0-0020-3B4B-AE81-D5405D51B797}"/>
              </a:ext>
            </a:extLst>
          </p:cNvPr>
          <p:cNvSpPr txBox="1"/>
          <p:nvPr/>
        </p:nvSpPr>
        <p:spPr>
          <a:xfrm>
            <a:off x="8356600" y="28321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777777"/>
                </a:solidFill>
                <a:latin typeface="Cambria Math"/>
                <a:ea typeface="Cambria Math"/>
              </a:rPr>
              <a:t>‖u × v‖ = ‖u‖ · ‖v‖ · sin </a:t>
            </a:r>
            <a:r>
              <a:rPr lang="el-GR" sz="1200">
                <a:solidFill>
                  <a:srgbClr val="777777"/>
                </a:solidFill>
                <a:latin typeface="Cambria Math"/>
                <a:ea typeface="Cambria Math"/>
              </a:rPr>
              <a:t>θ
= </a:t>
            </a:r>
            <a:r>
              <a:rPr lang="en-US" sz="1200">
                <a:solidFill>
                  <a:srgbClr val="777777"/>
                </a:solidFill>
                <a:latin typeface="Cambria Math"/>
                <a:ea typeface="Cambria Math"/>
              </a:rPr>
              <a:t>area of the parallelogram</a:t>
            </a:r>
          </a:p>
        </p:txBody>
      </p:sp>
      <p:sp>
        <p:nvSpPr>
          <p:cNvPr id="48" name="PropBox">
            <a:extLst>
              <a:ext uri="{FF2B5EF4-FFF2-40B4-BE49-F238E27FC236}">
                <a16:creationId xmlns:a16="http://schemas.microsoft.com/office/drawing/2014/main" id="{E98A0C52-83D0-9545-872C-BDF1F9A0490A}"/>
              </a:ext>
            </a:extLst>
          </p:cNvPr>
          <p:cNvSpPr/>
          <p:nvPr/>
        </p:nvSpPr>
        <p:spPr>
          <a:xfrm>
            <a:off x="8356600" y="3365500"/>
            <a:ext cx="3225800" cy="1270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ropT">
            <a:extLst>
              <a:ext uri="{FF2B5EF4-FFF2-40B4-BE49-F238E27FC236}">
                <a16:creationId xmlns:a16="http://schemas.microsoft.com/office/drawing/2014/main" id="{8D551A16-09C8-4A48-8179-0EB22D34B879}"/>
              </a:ext>
            </a:extLst>
          </p:cNvPr>
          <p:cNvSpPr txBox="1"/>
          <p:nvPr/>
        </p:nvSpPr>
        <p:spPr>
          <a:xfrm>
            <a:off x="8432800" y="3429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333333"/>
                </a:solidFill>
                <a:latin typeface="Arial"/>
                <a:cs typeface="Arial"/>
              </a:rPr>
              <a:t>Key properties:</a:t>
            </a:r>
          </a:p>
        </p:txBody>
      </p:sp>
      <p:sp>
        <p:nvSpPr>
          <p:cNvPr id="50" name="PropL1">
            <a:extLst>
              <a:ext uri="{FF2B5EF4-FFF2-40B4-BE49-F238E27FC236}">
                <a16:creationId xmlns:a16="http://schemas.microsoft.com/office/drawing/2014/main" id="{16AE0521-2D71-E149-A239-4327CE92E556}"/>
              </a:ext>
            </a:extLst>
          </p:cNvPr>
          <p:cNvSpPr txBox="1"/>
          <p:nvPr/>
        </p:nvSpPr>
        <p:spPr>
          <a:xfrm>
            <a:off x="8432800" y="3683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u × v = − (v × u)   (anti-commutative)</a:t>
            </a:r>
          </a:p>
        </p:txBody>
      </p:sp>
      <p:sp>
        <p:nvSpPr>
          <p:cNvPr id="51" name="PropL2">
            <a:extLst>
              <a:ext uri="{FF2B5EF4-FFF2-40B4-BE49-F238E27FC236}">
                <a16:creationId xmlns:a16="http://schemas.microsoft.com/office/drawing/2014/main" id="{AC8B47BF-8809-6C4C-B029-E4BB4F54CC9F}"/>
              </a:ext>
            </a:extLst>
          </p:cNvPr>
          <p:cNvSpPr txBox="1"/>
          <p:nvPr/>
        </p:nvSpPr>
        <p:spPr>
          <a:xfrm>
            <a:off x="8432800" y="39116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u × u = 0   (parallel → zero)</a:t>
            </a:r>
          </a:p>
        </p:txBody>
      </p:sp>
      <p:sp>
        <p:nvSpPr>
          <p:cNvPr id="52" name="PropL3">
            <a:extLst>
              <a:ext uri="{FF2B5EF4-FFF2-40B4-BE49-F238E27FC236}">
                <a16:creationId xmlns:a16="http://schemas.microsoft.com/office/drawing/2014/main" id="{BBCD8F45-6500-4842-9595-E586BB54F4F6}"/>
              </a:ext>
            </a:extLst>
          </p:cNvPr>
          <p:cNvSpPr txBox="1"/>
          <p:nvPr/>
        </p:nvSpPr>
        <p:spPr>
          <a:xfrm>
            <a:off x="8432800" y="41402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Only defined in 3D (and 7D)</a:t>
            </a:r>
          </a:p>
        </p:txBody>
      </p:sp>
      <p:sp>
        <p:nvSpPr>
          <p:cNvPr id="53" name="PropL4">
            <a:extLst>
              <a:ext uri="{FF2B5EF4-FFF2-40B4-BE49-F238E27FC236}">
                <a16:creationId xmlns:a16="http://schemas.microsoft.com/office/drawing/2014/main" id="{331065A5-B2DE-5743-9E6D-FD9EFE4B5F18}"/>
              </a:ext>
            </a:extLst>
          </p:cNvPr>
          <p:cNvSpPr txBox="1"/>
          <p:nvPr/>
        </p:nvSpPr>
        <p:spPr>
          <a:xfrm>
            <a:off x="8432800" y="43688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Distributive: u × (v + w) = u×v + u×w</a:t>
            </a:r>
          </a:p>
        </p:txBody>
      </p:sp>
      <p:sp>
        <p:nvSpPr>
          <p:cNvPr id="54" name="Use">
            <a:extLst>
              <a:ext uri="{FF2B5EF4-FFF2-40B4-BE49-F238E27FC236}">
                <a16:creationId xmlns:a16="http://schemas.microsoft.com/office/drawing/2014/main" id="{B25E6ABF-81BE-8B4C-9149-77A732379CC9}"/>
              </a:ext>
            </a:extLst>
          </p:cNvPr>
          <p:cNvSpPr txBox="1"/>
          <p:nvPr/>
        </p:nvSpPr>
        <p:spPr>
          <a:xfrm>
            <a:off x="8356600" y="4826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Uses: torque, angular momentum,
normals to surfaces, 3D rotation axes.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E91F45DF-FA76-2641-AC47-DA3B5705BA0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50CBC923-652C-154F-8F2C-92C479C5583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Cross product = vector perpendicular to both inputs, with magnitude = parallelogram area</a:t>
            </a:r>
          </a:p>
        </p:txBody>
      </p:sp>
    </p:spTree>
    <p:extLst>
      <p:ext uri="{BB962C8B-B14F-4D97-AF65-F5344CB8AC3E}">
        <p14:creationId xmlns:p14="http://schemas.microsoft.com/office/powerpoint/2010/main" val="1769168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CDB6ECB-6660-D944-B515-E656DD89534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7B55653-B299-B84E-A83F-748A900672B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Cross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E7997A6-6A69-4043-BDA7-D00FE36F72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Standard basis vectors in 3D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46FBBF04-6642-5943-8F5E-2C2AE4273E2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D2F1EA0-6E3D-274F-8962-F1694290BF95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CFCCA8E0-DD15-584D-9014-C62E71AC5425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C836D473-9F23-BD41-8C3C-335DFD048EB0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× v   where   u = (1, 2, 3)   and   v = (4, 5, 6)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8BD5F89-0BA7-0348-9CBE-0BE5EF48EF2F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C5B78FD-7280-254A-8864-CFF46A06C5E4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9E1DBAA0-69FE-7F4F-BE52-AE254BCC60A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D67F1E7-E1CC-9645-A5B9-B4917907A637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Apply the formula  u × v = (u₂v₃−u₃v₂, u₃v₁−u₁v₃, u₁v₂−u₂v₁)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67F1821-8B9B-0E41-91A9-CF02C94E46AD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v)₁ = 2·6 − 3·5 = 12 − 15 = −3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7187640-98E4-5B42-A38E-4BBA7EB98404}"/>
              </a:ext>
            </a:extLst>
          </p:cNvPr>
          <p:cNvSpPr txBox="1"/>
          <p:nvPr/>
        </p:nvSpPr>
        <p:spPr>
          <a:xfrm>
            <a:off x="558800" y="4089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v)₂ = 3·4 − 1·6 = 12 − 6 = 6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61D3EE5-ABA2-2D45-994F-C701F252B9BF}"/>
              </a:ext>
            </a:extLst>
          </p:cNvPr>
          <p:cNvSpPr txBox="1"/>
          <p:nvPr/>
        </p:nvSpPr>
        <p:spPr>
          <a:xfrm>
            <a:off x="558800" y="4343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v)₃ = 1·5 − 2·4 = 5 − 8 = −3</a:t>
            </a:r>
          </a:p>
        </p:txBody>
      </p:sp>
      <p:sp>
        <p:nvSpPr>
          <p:cNvPr id="16" name="SCheck">
            <a:extLst>
              <a:ext uri="{FF2B5EF4-FFF2-40B4-BE49-F238E27FC236}">
                <a16:creationId xmlns:a16="http://schemas.microsoft.com/office/drawing/2014/main" id="{21C8B6C5-FF34-4B4B-AEDA-B8FAD270FA27}"/>
              </a:ext>
            </a:extLst>
          </p:cNvPr>
          <p:cNvSpPr txBox="1"/>
          <p:nvPr/>
        </p:nvSpPr>
        <p:spPr>
          <a:xfrm>
            <a:off x="558800" y="4622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perpendicularity:  u·(u×v) = 1(−3)+2(6)+3(−3) = 0   ✓</a:t>
            </a:r>
          </a:p>
        </p:txBody>
      </p:sp>
      <p:sp>
        <p:nvSpPr>
          <p:cNvPr id="17" name="SAns">
            <a:extLst>
              <a:ext uri="{FF2B5EF4-FFF2-40B4-BE49-F238E27FC236}">
                <a16:creationId xmlns:a16="http://schemas.microsoft.com/office/drawing/2014/main" id="{BE2C7230-584E-0243-A1E0-3609DBA1F3DB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× v = (−3, 6, −3)</a:t>
            </a:r>
          </a:p>
        </p:txBody>
      </p:sp>
      <p:sp>
        <p:nvSpPr>
          <p:cNvPr id="18" name="TkBar">
            <a:extLst>
              <a:ext uri="{FF2B5EF4-FFF2-40B4-BE49-F238E27FC236}">
                <a16:creationId xmlns:a16="http://schemas.microsoft.com/office/drawing/2014/main" id="{CCE67EBC-5FF3-954F-A726-81E9B086EE10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Text">
            <a:extLst>
              <a:ext uri="{FF2B5EF4-FFF2-40B4-BE49-F238E27FC236}">
                <a16:creationId xmlns:a16="http://schemas.microsoft.com/office/drawing/2014/main" id="{BE1CA40F-8A81-214F-A03E-936EB22BDA6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Result is perpendicular to both inputs — verified by dot products being 0</a:t>
            </a:r>
          </a:p>
        </p:txBody>
      </p:sp>
    </p:spTree>
    <p:extLst>
      <p:ext uri="{BB962C8B-B14F-4D97-AF65-F5344CB8AC3E}">
        <p14:creationId xmlns:p14="http://schemas.microsoft.com/office/powerpoint/2010/main" val="21661676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42B40E9C-B917-6A42-8771-4A891DA08E5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69C6F2EE-97A7-604E-AF62-65FB67513CA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Cross Product (Standard Basis)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7CC64BC6-159B-0F46-A384-13C6E8BCB2B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i × j: foundation of the right-hand rule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39CA5250-C205-9644-B539-1A245CBACC67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4DA1F7E1-1C3E-674D-B277-67A83A1586F2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02C93A05-08A9-304F-9A22-5F4F3DD3FF66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B457D6C4-0CAB-5C4F-8CE5-824B1759C96C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i × j   where   i = (1, 0, 0)   and   j = (0, 1, 0).   What about j × i?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1C8FA933-3D9C-E34C-A231-2C70C1864847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1392DEB8-670E-F040-A6D1-3A29D2BE030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05C3F59B-93D8-5640-9DCD-FB969B375C24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3F7BDF9D-1DB7-C542-AF59-1DEF12EB2799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Components of i × j: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C400598F-716D-5D4B-B5DB-C179BCC0445B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(i × j)₁ = 0·0 − 0·1 = 0     (i × j)₂ = 0·0 − 1·0 = 0     (i × j)₃ = 1·1 − 0·0 = 1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0400E946-5269-AA4F-B7F6-8D24D9FD6E8F}"/>
              </a:ext>
            </a:extLst>
          </p:cNvPr>
          <p:cNvSpPr txBox="1"/>
          <p:nvPr/>
        </p:nvSpPr>
        <p:spPr>
          <a:xfrm>
            <a:off x="558800" y="4140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So  i × j = (0, 0, 1) = k   — the third standard basis vector (z-axis).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4BA60F52-D4CC-1D49-9360-FEAD7EA93C41}"/>
              </a:ext>
            </a:extLst>
          </p:cNvPr>
          <p:cNvSpPr txBox="1"/>
          <p:nvPr/>
        </p:nvSpPr>
        <p:spPr>
          <a:xfrm>
            <a:off x="558800" y="4445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By anti-commutativity:  j × i = −(i × j) = (0, 0, −1) = −k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3589F256-B0B9-3044-B26C-9FDF29CD62DA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i × j = k     and     j × i = −k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09388969-E2BB-4143-B668-19C7A6238CA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3293BA96-40C5-CF42-A0AF-69D26E80090B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Swapping the order of a cross product flips its direction</a:t>
            </a:r>
          </a:p>
        </p:txBody>
      </p:sp>
    </p:spTree>
    <p:extLst>
      <p:ext uri="{BB962C8B-B14F-4D97-AF65-F5344CB8AC3E}">
        <p14:creationId xmlns:p14="http://schemas.microsoft.com/office/powerpoint/2010/main" val="3923922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B4DE717-F6C6-B14C-8255-58023632C67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688F3B-509E-EE43-80B4-D623FBC52A4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Parallelogram Area via Cross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64C255C9-343D-B34A-85F5-5F6D8EB5C32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 interpretation of ‖u × v‖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F991570-AE69-D34C-A561-6439529A78B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B3DEDA31-4382-FC4E-863C-F7F27DEACF8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E4AC903D-C076-E342-AE6E-F5B9A8A3380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0704A9C9-BC4A-2147-837A-283793125A5C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dirty="0">
                <a:solidFill>
                  <a:srgbClr val="333333"/>
                </a:solidFill>
                <a:latin typeface="Cambria Math"/>
                <a:ea typeface="Cambria Math"/>
              </a:rPr>
              <a:t>Find the area of the parallelogram spanned by u = (2, 0, 0) and v = (0, 3, 4).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B6389C84-15BD-7B45-8AB6-2360B8E3EC5C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C43C351-8897-8449-BDF5-D8163065EEE1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8806F6A-D6D0-4343-806B-B373C0559DFE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18DB3B3-0D94-2545-A489-686F7C309142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Compute u × v.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B4B3A4B8-E753-1444-993F-108577E445F1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u × v = (0·4 − 0·3,   0·0 − 2·4,   2·3 − 0·0)  =  (0, −8, 6)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ACF85B5E-22B1-4A4D-B695-5BECC0719103}"/>
              </a:ext>
            </a:extLst>
          </p:cNvPr>
          <p:cNvSpPr txBox="1"/>
          <p:nvPr/>
        </p:nvSpPr>
        <p:spPr>
          <a:xfrm>
            <a:off x="558800" y="4140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Area = ‖u × v‖ = √(0² + 64 + 36) = √100 = 10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B5832EF3-4A6A-E445-B30F-C37A79482741}"/>
              </a:ext>
            </a:extLst>
          </p:cNvPr>
          <p:cNvSpPr txBox="1"/>
          <p:nvPr/>
        </p:nvSpPr>
        <p:spPr>
          <a:xfrm>
            <a:off x="558800" y="4445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Cross-check:  ‖u‖·‖v‖·sin </a:t>
            </a:r>
            <a:r>
              <a:rPr lang="el-GR" sz="1300" i="1">
                <a:solidFill>
                  <a:srgbClr val="B0B0B0"/>
                </a:solidFill>
                <a:latin typeface="Arial"/>
                <a:cs typeface="Arial"/>
              </a:rPr>
              <a:t>θ = 2·5·1 = 10  (</a:t>
            </a:r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since u ⊥ v, sin </a:t>
            </a:r>
            <a:r>
              <a:rPr lang="el-GR" sz="1300" i="1">
                <a:solidFill>
                  <a:srgbClr val="B0B0B0"/>
                </a:solidFill>
                <a:latin typeface="Arial"/>
                <a:cs typeface="Arial"/>
              </a:rPr>
              <a:t>θ = 1).</a:t>
            </a:r>
            <a:endParaRPr lang="en-US" sz="1300" i="1">
              <a:solidFill>
                <a:srgbClr val="B0B0B0"/>
              </a:solidFill>
              <a:latin typeface="Arial"/>
              <a:cs typeface="Arial"/>
            </a:endParaRP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7CB0364D-6D58-2F44-B642-5286289330F1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Area = 10 square units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6ACC36EF-0501-2D4E-AB95-BF37D4D171B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FECAEB8F-DBD3-2243-95C7-B73716E4B33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‖u × v‖ literally equals the area of the parallelogram formed by u and v</a:t>
            </a:r>
          </a:p>
        </p:txBody>
      </p:sp>
    </p:spTree>
    <p:extLst>
      <p:ext uri="{BB962C8B-B14F-4D97-AF65-F5344CB8AC3E}">
        <p14:creationId xmlns:p14="http://schemas.microsoft.com/office/powerpoint/2010/main" val="40608153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102"/>
          <p:cNvSpPr txBox="1"/>
          <p:nvPr/>
        </p:nvSpPr>
        <p:spPr>
          <a:xfrm>
            <a:off x="381000" y="355600"/>
            <a:ext cx="9652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Visualizing the Parallelogram Spanned by u and v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i="1" dirty="0">
                <a:solidFill>
                  <a:srgbClr val="4B2E83"/>
                </a:solidFill>
                <a:latin typeface="Arial"/>
                <a:cs typeface="Arial"/>
              </a:rPr>
              <a:t>Geometric view of u = (2, 0, 0) and v = (0, 3, 4) — the area equals ‖u × v‖</a:t>
            </a:r>
          </a:p>
        </p:txBody>
      </p:sp>
      <p:cxnSp>
        <p:nvCxnSpPr>
          <p:cNvPr id="104" name="ln104"/>
          <p:cNvCxnSpPr/>
          <p:nvPr/>
        </p:nvCxnSpPr>
        <p:spPr>
          <a:xfrm>
            <a:off x="3810000" y="4635500"/>
            <a:ext cx="1986280" cy="112268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cxnSp>
        <p:nvCxnSpPr>
          <p:cNvPr id="105" name="ln105"/>
          <p:cNvCxnSpPr/>
          <p:nvPr/>
        </p:nvCxnSpPr>
        <p:spPr>
          <a:xfrm>
            <a:off x="3810000" y="4635500"/>
            <a:ext cx="3464560" cy="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cxnSp>
        <p:nvCxnSpPr>
          <p:cNvPr id="106" name="ln106"/>
          <p:cNvCxnSpPr/>
          <p:nvPr/>
        </p:nvCxnSpPr>
        <p:spPr>
          <a:xfrm flipV="1">
            <a:off x="3810000" y="1422400"/>
            <a:ext cx="0" cy="321310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sp>
        <p:nvSpPr>
          <p:cNvPr id="107" name="t107"/>
          <p:cNvSpPr txBox="1"/>
          <p:nvPr/>
        </p:nvSpPr>
        <p:spPr>
          <a:xfrm>
            <a:off x="5847080" y="583438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7350760" y="45847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3530600" y="12192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110" name="poly110"/>
          <p:cNvSpPr/>
          <p:nvPr/>
        </p:nvSpPr>
        <p:spPr>
          <a:xfrm>
            <a:off x="3810000" y="1993900"/>
            <a:ext cx="3530600" cy="3302000"/>
          </a:xfrm>
          <a:custGeom>
            <a:avLst/>
            <a:gdLst/>
            <a:ahLst/>
            <a:cxnLst/>
            <a:rect l="0" t="0" r="0" b="0"/>
            <a:pathLst>
              <a:path w="3530600" h="3302000">
                <a:moveTo>
                  <a:pt x="0" y="2641600"/>
                </a:moveTo>
                <a:lnTo>
                  <a:pt x="1168400" y="3302000"/>
                </a:lnTo>
                <a:lnTo>
                  <a:pt x="3530600" y="660400"/>
                </a:lnTo>
                <a:lnTo>
                  <a:pt x="2362200" y="0"/>
                </a:lnTo>
                <a:close/>
              </a:path>
            </a:pathLst>
          </a:custGeom>
          <a:solidFill>
            <a:srgbClr val="00A7B5">
              <a:alpha val="28000"/>
            </a:srgbClr>
          </a:solidFill>
          <a:ln w="254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11" name="ln111"/>
          <p:cNvCxnSpPr/>
          <p:nvPr/>
        </p:nvCxnSpPr>
        <p:spPr>
          <a:xfrm>
            <a:off x="3810000" y="4635500"/>
            <a:ext cx="1168400" cy="660400"/>
          </a:xfrm>
          <a:prstGeom prst="line">
            <a:avLst/>
          </a:prstGeom>
          <a:ln w="38100" cap="rnd">
            <a:solidFill>
              <a:srgbClr val="D1578A"/>
            </a:solidFill>
            <a:tailEnd type="triangle" w="med" len="med"/>
          </a:ln>
        </p:spPr>
      </p:cxnSp>
      <p:cxnSp>
        <p:nvCxnSpPr>
          <p:cNvPr id="112" name="ln112"/>
          <p:cNvCxnSpPr/>
          <p:nvPr/>
        </p:nvCxnSpPr>
        <p:spPr>
          <a:xfrm flipV="1">
            <a:off x="3810000" y="1993900"/>
            <a:ext cx="2362200" cy="26416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113" name="ln113"/>
          <p:cNvCxnSpPr/>
          <p:nvPr/>
        </p:nvCxnSpPr>
        <p:spPr>
          <a:xfrm flipH="1" flipV="1">
            <a:off x="2550160" y="3843020"/>
            <a:ext cx="1259840" cy="79248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114" name="r114"/>
          <p:cNvSpPr/>
          <p:nvPr/>
        </p:nvSpPr>
        <p:spPr>
          <a:xfrm>
            <a:off x="3771900" y="4597400"/>
            <a:ext cx="76200" cy="76200"/>
          </a:xfrm>
          <a:prstGeom prst="ellipse">
            <a:avLst/>
          </a:prstGeom>
          <a:solidFill>
            <a:srgbClr val="33333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t115"/>
          <p:cNvSpPr txBox="1"/>
          <p:nvPr/>
        </p:nvSpPr>
        <p:spPr>
          <a:xfrm>
            <a:off x="4445000" y="5359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  <a:latin typeface="Arial"/>
                <a:cs typeface="Arial"/>
              </a:rPr>
              <a:t>u = (2, 0, 0)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273800" y="19177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  <a:cs typeface="Arial"/>
              </a:rPr>
              <a:t>v = (0, 3, 4)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051560" y="376682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b="1" dirty="0">
                <a:solidFill>
                  <a:srgbClr val="5E8E38"/>
                </a:solidFill>
                <a:latin typeface="Arial"/>
                <a:cs typeface="Arial"/>
              </a:rPr>
              <a:t>u × v = (0, –8, 6)</a:t>
            </a:r>
          </a:p>
        </p:txBody>
      </p:sp>
      <p:sp>
        <p:nvSpPr>
          <p:cNvPr id="118" name="r118"/>
          <p:cNvSpPr/>
          <p:nvPr/>
        </p:nvSpPr>
        <p:spPr>
          <a:xfrm>
            <a:off x="8382000" y="1905000"/>
            <a:ext cx="3454400" cy="3175000"/>
          </a:xfrm>
          <a:prstGeom prst="rect">
            <a:avLst/>
          </a:prstGeom>
          <a:solidFill>
            <a:srgbClr val="F5F0EB">
              <a:alpha val="100000"/>
            </a:srgbClr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r119"/>
          <p:cNvSpPr/>
          <p:nvPr/>
        </p:nvSpPr>
        <p:spPr>
          <a:xfrm>
            <a:off x="8382000" y="1905000"/>
            <a:ext cx="3454400" cy="431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120"/>
          <p:cNvSpPr txBox="1"/>
          <p:nvPr/>
        </p:nvSpPr>
        <p:spPr>
          <a:xfrm>
            <a:off x="8585200" y="19939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Area = ‖u × v‖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8585200" y="2514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u × v = (0, –8, 6)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8585200" y="2895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‖u × v‖ = √(0² + 8² + 6²)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8585200" y="3276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= √(64 + 36) = √100</a:t>
            </a:r>
          </a:p>
        </p:txBody>
      </p:sp>
      <p:sp>
        <p:nvSpPr>
          <p:cNvPr id="124" name="r124"/>
          <p:cNvSpPr/>
          <p:nvPr/>
        </p:nvSpPr>
        <p:spPr>
          <a:xfrm>
            <a:off x="8585200" y="3708400"/>
            <a:ext cx="3048000" cy="12700"/>
          </a:xfrm>
          <a:prstGeom prst="rect">
            <a:avLst/>
          </a:prstGeom>
          <a:solidFill>
            <a:srgbClr val="B7A57A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t125"/>
          <p:cNvSpPr txBox="1"/>
          <p:nvPr/>
        </p:nvSpPr>
        <p:spPr>
          <a:xfrm>
            <a:off x="8585200" y="38608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Cambria Math"/>
                <a:cs typeface="Cambria Math"/>
              </a:rPr>
              <a:t>Area = 10 square units</a:t>
            </a:r>
          </a:p>
        </p:txBody>
      </p:sp>
      <p:sp>
        <p:nvSpPr>
          <p:cNvPr id="126" name="r126"/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t127"/>
          <p:cNvSpPr txBox="1"/>
          <p:nvPr/>
        </p:nvSpPr>
        <p:spPr>
          <a:xfrm>
            <a:off x="381000" y="5969000"/>
            <a:ext cx="1143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The magnitude of the cross product ‖u × v‖ IS the area of the parallelogram the two vectors span.</a:t>
            </a:r>
          </a:p>
        </p:txBody>
      </p:sp>
    </p:spTree>
    <p:extLst>
      <p:ext uri="{BB962C8B-B14F-4D97-AF65-F5344CB8AC3E}">
        <p14:creationId xmlns:p14="http://schemas.microsoft.com/office/powerpoint/2010/main" val="1983467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 dirty="0">
                    <a:solidFill>
                      <a:srgbClr val="FFFFFF"/>
                    </a:solidFill>
                    <a:latin typeface="Calibri"/>
                  </a:rPr>
                  <a:t>Exercise — Area of the parallelogram spanned by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6250"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parallelogram spanned by u and v is shaded on the grid. Find its area.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In 2D the area equals the absolute value of the 2×2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Area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=|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₂−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₁|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0)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2)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area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of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shaded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parallelogram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Parallelogram spanned by u, v</a:t>
            </a:r>
          </a:p>
        </p:txBody>
      </p:sp>
      <p:sp>
        <p:nvSpPr>
          <p:cNvPr id="700" name="SpanFill"/>
          <p:cNvSpPr/>
          <p:nvPr/>
        </p:nvSpPr>
        <p:spPr>
          <a:xfrm>
            <a:off x="1206500" y="4140200"/>
            <a:ext cx="1930400" cy="9652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100000"/>
                </a:moveTo>
                <a:lnTo>
                  <a:pt x="75000" y="100000"/>
                </a:lnTo>
                <a:lnTo>
                  <a:pt x="100000" y="0"/>
                </a:lnTo>
                <a:lnTo>
                  <a:pt x="25000" y="0"/>
                </a:lnTo>
                <a:close/>
              </a:path>
            </a:pathLst>
          </a:custGeom>
          <a:solidFill>
            <a:srgbClr val="4B2E83">
              <a:alpha val="18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820" name="EdgeTop"/>
          <p:cNvCxnSpPr/>
          <p:nvPr/>
        </p:nvCxnSpPr>
        <p:spPr>
          <a:xfrm>
            <a:off x="1689100" y="4140200"/>
            <a:ext cx="1447800" cy="12700"/>
          </a:xfrm>
          <a:prstGeom prst="line">
            <a:avLst/>
          </a:prstGeom>
          <a:ln w="19050">
            <a:solidFill>
              <a:srgbClr val="4B2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EdgeRight"/>
          <p:cNvCxnSpPr/>
          <p:nvPr/>
        </p:nvCxnSpPr>
        <p:spPr>
          <a:xfrm flipV="1">
            <a:off x="2654300" y="4140200"/>
            <a:ext cx="482600" cy="965200"/>
          </a:xfrm>
          <a:prstGeom prst="line">
            <a:avLst/>
          </a:prstGeom>
          <a:ln w="19050">
            <a:solidFill>
              <a:srgbClr val="00A7B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10" name="DotArr810"/>
          <p:cNvCxnSpPr/>
          <p:nvPr/>
        </p:nvCxnSpPr>
        <p:spPr>
          <a:xfrm flipV="1">
            <a:off x="1206500" y="5105400"/>
            <a:ext cx="1447800" cy="12700"/>
          </a:xfrm>
          <a:prstGeom prst="line">
            <a:avLst/>
          </a:prstGeom>
          <a:ln w="3492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492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628900" y="5181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5181600"/>
                <a:ext cx="2794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1435100" y="4038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" y="40386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AreaSolBox"/>
          <p:cNvSpPr/>
          <p:nvPr/>
        </p:nvSpPr>
        <p:spPr>
          <a:xfrm>
            <a:off x="6667500" y="2235200"/>
            <a:ext cx="4953000" cy="2997200"/>
          </a:xfrm>
          <a:prstGeom prst="roundRect">
            <a:avLst>
              <a:gd name="adj" fmla="val 5000"/>
            </a:avLst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AreaSolTxt"/>
              <p:cNvSpPr/>
              <p:nvPr/>
            </p:nvSpPr>
            <p:spPr>
              <a:xfrm>
                <a:off x="6832600" y="2362200"/>
                <a:ext cx="4648200" cy="2794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b="1" dirty="0">
                    <a:solidFill>
                      <a:srgbClr val="4B2E83"/>
                    </a:solidFill>
                    <a:latin typeface="Calibri"/>
                  </a:rPr>
                  <a:t>Use the 2×2 determinant: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Area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</m:t>
                      </m:r>
                      <m:r>
                        <a:rPr lang="en-US" sz="14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₂−</m:t>
                      </m:r>
                      <m:r>
                        <a:rPr lang="en-US" sz="14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₁|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=|(3)(2)−(0)(1)|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=|6−0|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:endParaRPr lang="en-US" sz="30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𝑨𝒓𝒆𝒂</m:t>
                      </m:r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sz="300"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square units (base 3 × height 2).</a:t>
                </a:r>
              </a:p>
            </p:txBody>
          </p:sp>
        </mc:Choice>
        <mc:Fallback xmlns="">
          <p:sp>
            <p:nvSpPr>
              <p:cNvPr id="221" name="Area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362200"/>
                <a:ext cx="4648200" cy="2794000"/>
              </a:xfrm>
              <a:prstGeom prst="rect">
                <a:avLst/>
              </a:prstGeom>
              <a:blipFill>
                <a:blip r:embed="rId8"/>
                <a:stretch>
                  <a:fillRect t="-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  <a:latin typeface="Calibri"/>
              </a:rPr>
              <a:t>Compute the area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844154771"/>
      </p:ext>
    </p:extLst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Curse of Dimensionality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Linear Algebra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Curse of Dimensionality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Linear Algebra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8089</TotalTime>
  <Words>30884</Words>
  <Application>Microsoft Macintosh PowerPoint</Application>
  <PresentationFormat>Widescreen</PresentationFormat>
  <Paragraphs>4439</Paragraphs>
  <Slides>190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6" baseType="lpstr">
      <vt:lpstr>Aptos</vt:lpstr>
      <vt:lpstr>Arial</vt:lpstr>
      <vt:lpstr>Calibri</vt:lpstr>
      <vt:lpstr>Cambria Math</vt:lpstr>
      <vt:lpstr>Consolas</vt:lpstr>
      <vt:lpstr>Office Theme [1775876968803]</vt:lpstr>
      <vt:lpstr>Curse of dimensionality and Linear Algebra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K-Nearest Neighbors (KNN) Algorithm</vt:lpstr>
      <vt:lpstr>KNN Visual Example: K=5 with Two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represent data as matrices and vectors?</vt:lpstr>
      <vt:lpstr>Vectors — Example 1: a student's exam scores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150</cp:revision>
  <dcterms:created xsi:type="dcterms:W3CDTF">2018-06-07T21:39:02Z</dcterms:created>
  <dcterms:modified xsi:type="dcterms:W3CDTF">2026-06-10T21:13:20Z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